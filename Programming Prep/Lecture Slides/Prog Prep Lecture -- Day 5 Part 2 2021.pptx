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sldIdLst>
    <p:sldId id="257" r:id="rId2"/>
    <p:sldId id="616" r:id="rId3"/>
    <p:sldId id="631" r:id="rId4"/>
    <p:sldId id="635" r:id="rId5"/>
    <p:sldId id="636" r:id="rId6"/>
    <p:sldId id="637" r:id="rId7"/>
    <p:sldId id="639" r:id="rId8"/>
    <p:sldId id="640" r:id="rId9"/>
    <p:sldId id="641" r:id="rId10"/>
    <p:sldId id="632" r:id="rId11"/>
    <p:sldId id="644" r:id="rId12"/>
    <p:sldId id="731" r:id="rId13"/>
    <p:sldId id="732" r:id="rId14"/>
    <p:sldId id="733" r:id="rId15"/>
    <p:sldId id="734" r:id="rId1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827242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44338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914690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27598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0640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29463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3499829-1009-49B7-BAF2-1C341B17816C}" type="datetime1">
              <a:rPr lang="en-US" smtClean="0"/>
              <a:t>8/9/2021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146D3-0D47-4337-B046-A3F04F0373BC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5E298-2680-4AD0-A318-AC331BD22474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33EA3-D2CD-4401-8A9E-0B648BDB2697}" type="datetime1">
              <a:rPr lang="en-US" smtClean="0"/>
              <a:t>8/9/2021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34132-B15C-41C3-AC04-0169DF663F02}" type="datetime1">
              <a:rPr lang="en-US" smtClean="0"/>
              <a:t>8/9/2021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407FF-A73F-45B5-98FB-506341A0846B}" type="datetime1">
              <a:rPr lang="en-US" smtClean="0"/>
              <a:t>8/9/2021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1041D-8F40-4C44-A995-9315A0083B12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3394F-2EB5-432E-916E-D04A6BE1DB28}" type="datetime1">
              <a:rPr lang="en-US" smtClean="0"/>
              <a:t>8/9/2021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4B924-EFEB-499A-83BF-36A9341852CC}" type="datetime1">
              <a:rPr lang="en-US" smtClean="0"/>
              <a:t>8/9/2021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A5203-FDED-43B7-9E0C-A4370F09B04B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2A2D7-751C-49B2-96FC-2EA61A53A299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293D893C-FD0B-4234-882C-67E3F94277EA}" type="datetime1">
              <a:rPr lang="en-US" smtClean="0"/>
              <a:t>8/9/2021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/>
              <a:t>Day 5, </a:t>
            </a:r>
            <a:r>
              <a:rPr lang="en-US" altLang="en-US" dirty="0"/>
              <a:t>Part 2: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Depth-First Search,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Fibonacci Numbers Again!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26EF7E-9AE8-4BE0-9357-0D4CCBB334A0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2020, John K. </a:t>
            </a:r>
            <a:r>
              <a:rPr lang="en-US" dirty="0" err="1"/>
              <a:t>Ostlund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Graph of Friends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EDD336-5EE9-4EEA-8C4B-D416953A3610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8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Depth-First Search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Depth-First Search is what we are familiar with from an in-order traversal of a BST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Has a natural recursive definition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Can be defined iteratively similarly to BFS, using a </a:t>
            </a:r>
            <a:r>
              <a:rPr lang="en-US" altLang="en-US" sz="2000" i="1" dirty="0"/>
              <a:t>stack</a:t>
            </a:r>
            <a:r>
              <a:rPr lang="en-US" altLang="en-US" sz="2000" dirty="0"/>
              <a:t> rather than a </a:t>
            </a:r>
            <a:r>
              <a:rPr lang="en-US" altLang="en-US" sz="2000" i="1" dirty="0"/>
              <a:t>queue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Useful for identifying connected components, solving mazes, compiler optimization logic, task scheduling (</a:t>
            </a:r>
            <a:r>
              <a:rPr lang="en-US" altLang="en-US" sz="2800" i="1" dirty="0"/>
              <a:t>topological sort</a:t>
            </a:r>
            <a:r>
              <a:rPr lang="en-US" altLang="en-US" sz="2800" dirty="0"/>
              <a:t>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Algorithms requiring </a:t>
            </a:r>
            <a:r>
              <a:rPr lang="en-US" altLang="en-US" sz="2400" i="1" dirty="0"/>
              <a:t>backtracking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Not</a:t>
            </a:r>
            <a:r>
              <a:rPr lang="en-US" altLang="en-US" sz="2400" dirty="0"/>
              <a:t> useful for shortest path analysis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4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276579-6727-43F8-B9A5-3D017A8A4D52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314702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Depth-First Search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S is the set of all visited nodes,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    initially empty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 is the tree of visited nodes, from some root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DFS(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cur, parent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 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Pythonish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pseudocode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not in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      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else </a:t>
            </a:r>
            <a:r>
              <a:rPr lang="en-US" altLang="en-US" sz="20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backtrack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for v in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DFS(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v,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FFC6A4-B9FF-4412-A13F-1B1CDF4E8377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351363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DFS Branch 1, Level 1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DFS(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'me', None)           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S == {'Me'}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8E2998-86A9-4861-9922-CC730B4D7FB2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172200" y="2478833"/>
            <a:ext cx="762000" cy="762000"/>
            <a:chOff x="2133600" y="2133600"/>
            <a:chExt cx="762000" cy="762000"/>
          </a:xfrm>
        </p:grpSpPr>
        <p:sp>
          <p:nvSpPr>
            <p:cNvPr id="9" name="Oval 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64702" y="2336546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'Me'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820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DFS Branch 1, To 1</a:t>
            </a:r>
            <a:r>
              <a:rPr lang="en-US" altLang="en-US" baseline="30000" dirty="0"/>
              <a:t>st</a:t>
            </a:r>
            <a:r>
              <a:rPr lang="en-US" altLang="en-US" dirty="0"/>
              <a:t> Backtrack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== {'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Me',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</a:t>
            </a:r>
            <a:r>
              <a:rPr lang="en-US" alt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CE57CA-414E-4360-9951-BDFE770EB1BC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172200" y="2478833"/>
            <a:ext cx="762000" cy="762000"/>
            <a:chOff x="2133600" y="2133600"/>
            <a:chExt cx="762000" cy="762000"/>
          </a:xfrm>
        </p:grpSpPr>
        <p:sp>
          <p:nvSpPr>
            <p:cNvPr id="9" name="Oval 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64702" y="2336546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'Me'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572000" y="3657600"/>
            <a:ext cx="762000" cy="762000"/>
            <a:chOff x="2133600" y="2133600"/>
            <a:chExt cx="762000" cy="762000"/>
          </a:xfrm>
        </p:grpSpPr>
        <p:sp>
          <p:nvSpPr>
            <p:cNvPr id="12" name="Oval 1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A</a:t>
              </a:r>
            </a:p>
          </p:txBody>
        </p:sp>
      </p:grpSp>
      <p:cxnSp>
        <p:nvCxnSpPr>
          <p:cNvPr id="17" name="Straight Connector 16"/>
          <p:cNvCxnSpPr>
            <a:endCxn id="12" idx="7"/>
          </p:cNvCxnSpPr>
          <p:nvPr/>
        </p:nvCxnSpPr>
        <p:spPr bwMode="auto">
          <a:xfrm flipH="1">
            <a:off x="5222408" y="3127311"/>
            <a:ext cx="1057094" cy="641881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lg" len="med"/>
            <a:tailEnd type="none" w="sm" len="sm"/>
          </a:ln>
          <a:effectLst/>
        </p:spPr>
      </p:cxnSp>
      <p:grpSp>
        <p:nvGrpSpPr>
          <p:cNvPr id="18" name="Group 17"/>
          <p:cNvGrpSpPr/>
          <p:nvPr/>
        </p:nvGrpSpPr>
        <p:grpSpPr>
          <a:xfrm>
            <a:off x="4038600" y="4800600"/>
            <a:ext cx="762000" cy="762000"/>
            <a:chOff x="2133600" y="2133600"/>
            <a:chExt cx="762000" cy="762000"/>
          </a:xfrm>
        </p:grpSpPr>
        <p:sp>
          <p:nvSpPr>
            <p:cNvPr id="19" name="Oval 1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B</a:t>
              </a:r>
            </a:p>
          </p:txBody>
        </p:sp>
      </p:grpSp>
      <p:cxnSp>
        <p:nvCxnSpPr>
          <p:cNvPr id="24" name="Straight Connector 23"/>
          <p:cNvCxnSpPr/>
          <p:nvPr/>
        </p:nvCxnSpPr>
        <p:spPr bwMode="auto">
          <a:xfrm flipH="1">
            <a:off x="4419600" y="4343400"/>
            <a:ext cx="295094" cy="45720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tx1"/>
            </a:solidFill>
            <a:prstDash val="solid"/>
            <a:round/>
            <a:headEnd type="triangle" w="lg" len="med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11147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DFS Branch 1, To 2</a:t>
            </a:r>
            <a:r>
              <a:rPr lang="en-US" altLang="en-US" baseline="30000" dirty="0"/>
              <a:t>nd</a:t>
            </a:r>
            <a:r>
              <a:rPr lang="en-US" altLang="en-US" dirty="0"/>
              <a:t> Backtrack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12700" cap="sq" cmpd="sng" algn="ctr">
            <a:noFill/>
            <a:prstDash val="solid"/>
            <a:round/>
            <a:headEnd type="triangle" w="med" len="lg"/>
            <a:tailEnd type="none" w="sm" len="sm"/>
          </a:ln>
          <a:effectLst/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Me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A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           J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F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M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8074CA-21C5-4766-AB85-BEECDA46BC00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 flipH="1">
            <a:off x="3962400" y="2215243"/>
            <a:ext cx="740617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 flipH="1">
            <a:off x="2971800" y="2690327"/>
            <a:ext cx="8382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H="1" flipV="1">
            <a:off x="4038601" y="2690327"/>
            <a:ext cx="838199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lg"/>
            <a:tailEnd type="triangle" w="med" len="lg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flipH="1">
            <a:off x="4686300" y="3048000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 flipH="1">
            <a:off x="4343400" y="34674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3962400" y="38484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3581400" y="4153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 flipH="1">
            <a:off x="3276600" y="4534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 flipH="1">
            <a:off x="2933700" y="4915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 flipH="1">
            <a:off x="2514600" y="5296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triangle" w="med" len="lg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782906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DFS Connected Component, Root == 'Me'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Me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A           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           J   V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E   L              Z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F   W              Y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M                  Q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  T              I   X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  K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739CD2-2157-4FC7-A713-2315CA96305D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 flipH="1">
            <a:off x="3200400" y="2215243"/>
            <a:ext cx="740617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 flipH="1">
            <a:off x="2209800" y="2690327"/>
            <a:ext cx="838200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H="1" flipV="1">
            <a:off x="3276601" y="2690327"/>
            <a:ext cx="838199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flipH="1">
            <a:off x="3924300" y="3048000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 flipH="1">
            <a:off x="3581400" y="34674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3200400" y="38484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2819400" y="4153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 flipH="1">
            <a:off x="2514600" y="4534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 flipH="1">
            <a:off x="2171700" y="4915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 flipH="1">
            <a:off x="1752600" y="5296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 flipH="1" flipV="1">
            <a:off x="4419600" y="2286000"/>
            <a:ext cx="838199" cy="228600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flipH="1">
            <a:off x="5105400" y="27054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4419600" y="30864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flipH="1">
            <a:off x="4419600" y="34674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3314700" y="4191000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2590800" y="4915289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7086600" y="3429000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 flipH="1">
            <a:off x="6705600" y="3810000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6324600" y="4114800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>
            <a:off x="6819900" y="4152511"/>
            <a:ext cx="190500" cy="113911"/>
          </a:xfrm>
          <a:prstGeom prst="lin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" name="Freeform 6"/>
          <p:cNvSpPr/>
          <p:nvPr/>
        </p:nvSpPr>
        <p:spPr bwMode="auto">
          <a:xfrm>
            <a:off x="2362200" y="2738213"/>
            <a:ext cx="5066688" cy="2938324"/>
          </a:xfrm>
          <a:custGeom>
            <a:avLst/>
            <a:gdLst>
              <a:gd name="connsiteX0" fmla="*/ 0 w 5066688"/>
              <a:gd name="connsiteY0" fmla="*/ 2561575 h 2938324"/>
              <a:gd name="connsiteX1" fmla="*/ 186612 w 5066688"/>
              <a:gd name="connsiteY1" fmla="*/ 2850824 h 2938324"/>
              <a:gd name="connsiteX2" fmla="*/ 522514 w 5066688"/>
              <a:gd name="connsiteY2" fmla="*/ 2934799 h 2938324"/>
              <a:gd name="connsiteX3" fmla="*/ 1035698 w 5066688"/>
              <a:gd name="connsiteY3" fmla="*/ 2757518 h 2938324"/>
              <a:gd name="connsiteX4" fmla="*/ 2659224 w 5066688"/>
              <a:gd name="connsiteY4" fmla="*/ 1861779 h 2938324"/>
              <a:gd name="connsiteX5" fmla="*/ 3900196 w 5066688"/>
              <a:gd name="connsiteY5" fmla="*/ 723444 h 2938324"/>
              <a:gd name="connsiteX6" fmla="*/ 4301412 w 5066688"/>
              <a:gd name="connsiteY6" fmla="*/ 228922 h 2938324"/>
              <a:gd name="connsiteX7" fmla="*/ 4665306 w 5066688"/>
              <a:gd name="connsiteY7" fmla="*/ 4987 h 2938324"/>
              <a:gd name="connsiteX8" fmla="*/ 5001208 w 5066688"/>
              <a:gd name="connsiteY8" fmla="*/ 98293 h 2938324"/>
              <a:gd name="connsiteX9" fmla="*/ 5066522 w 5066688"/>
              <a:gd name="connsiteY9" fmla="*/ 378211 h 293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66688" h="2938324">
                <a:moveTo>
                  <a:pt x="0" y="2561575"/>
                </a:moveTo>
                <a:cubicBezTo>
                  <a:pt x="49763" y="2675097"/>
                  <a:pt x="99526" y="2788620"/>
                  <a:pt x="186612" y="2850824"/>
                </a:cubicBezTo>
                <a:cubicBezTo>
                  <a:pt x="273698" y="2913028"/>
                  <a:pt x="381000" y="2950350"/>
                  <a:pt x="522514" y="2934799"/>
                </a:cubicBezTo>
                <a:cubicBezTo>
                  <a:pt x="664028" y="2919248"/>
                  <a:pt x="679580" y="2936355"/>
                  <a:pt x="1035698" y="2757518"/>
                </a:cubicBezTo>
                <a:cubicBezTo>
                  <a:pt x="1391816" y="2578681"/>
                  <a:pt x="2181808" y="2200791"/>
                  <a:pt x="2659224" y="1861779"/>
                </a:cubicBezTo>
                <a:cubicBezTo>
                  <a:pt x="3136640" y="1522767"/>
                  <a:pt x="3626498" y="995587"/>
                  <a:pt x="3900196" y="723444"/>
                </a:cubicBezTo>
                <a:cubicBezTo>
                  <a:pt x="4173894" y="451301"/>
                  <a:pt x="4173894" y="348665"/>
                  <a:pt x="4301412" y="228922"/>
                </a:cubicBezTo>
                <a:cubicBezTo>
                  <a:pt x="4428930" y="109179"/>
                  <a:pt x="4548673" y="26758"/>
                  <a:pt x="4665306" y="4987"/>
                </a:cubicBezTo>
                <a:cubicBezTo>
                  <a:pt x="4781939" y="-16784"/>
                  <a:pt x="4934339" y="36089"/>
                  <a:pt x="5001208" y="98293"/>
                </a:cubicBezTo>
                <a:cubicBezTo>
                  <a:pt x="5068077" y="160497"/>
                  <a:pt x="5067299" y="269354"/>
                  <a:pt x="5066522" y="378211"/>
                </a:cubicBezTo>
              </a:path>
            </a:pathLst>
          </a:cu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763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Depth-First Search Trees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Depth-First Search trees tend to be tall and thin, BFS trees short and thick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Iterating to find connected components: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A and B are already in </a:t>
            </a:r>
            <a:r>
              <a:rPr lang="en-US" altLang="en-US" sz="2400" b="1" dirty="0"/>
              <a:t>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C is </a:t>
            </a:r>
            <a:r>
              <a:rPr lang="en-US" altLang="en-US" sz="2400" i="1" dirty="0"/>
              <a:t>not</a:t>
            </a:r>
            <a:r>
              <a:rPr lang="en-US" altLang="en-US" sz="2400" dirty="0"/>
              <a:t> in </a:t>
            </a:r>
            <a:r>
              <a:rPr lang="en-US" altLang="en-US" sz="2400" b="1" dirty="0"/>
              <a:t>S</a:t>
            </a:r>
            <a:r>
              <a:rPr lang="en-US" altLang="en-US" sz="2400" dirty="0"/>
              <a:t>, so build a new DFS Tree with C as root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Now all values in </a:t>
            </a:r>
            <a:r>
              <a:rPr lang="en-US" altLang="en-US" sz="2800" b="1" dirty="0"/>
              <a:t>G</a:t>
            </a:r>
            <a:r>
              <a:rPr lang="en-US" altLang="en-US" sz="2800" dirty="0"/>
              <a:t> are in </a:t>
            </a:r>
            <a:r>
              <a:rPr lang="en-US" altLang="en-US" sz="2800" b="1" dirty="0"/>
              <a:t>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2 connected components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No more DFS Trees to build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F1467-50AA-45FB-8DBD-2EBCF5204EFE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134745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Connected Components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0DDBD0-3A4F-45BA-ABB9-8B9EDC5FF0B8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295400" y="2133600"/>
            <a:ext cx="762000" cy="762000"/>
            <a:chOff x="2133600" y="2133600"/>
            <a:chExt cx="762000" cy="762000"/>
          </a:xfrm>
        </p:grpSpPr>
        <p:sp>
          <p:nvSpPr>
            <p:cNvPr id="8" name="Oval 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20000" y="2133600"/>
            <a:ext cx="762000" cy="762000"/>
            <a:chOff x="2133600" y="2133600"/>
            <a:chExt cx="762000" cy="762000"/>
          </a:xfrm>
        </p:grpSpPr>
        <p:sp>
          <p:nvSpPr>
            <p:cNvPr id="11" name="Oval 1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53338" y="2329934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86400" y="2133600"/>
            <a:ext cx="762000" cy="762000"/>
            <a:chOff x="2133600" y="2133600"/>
            <a:chExt cx="762000" cy="762000"/>
          </a:xfrm>
        </p:grpSpPr>
        <p:sp>
          <p:nvSpPr>
            <p:cNvPr id="14" name="Oval 1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3338" y="2329934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53200" y="2133600"/>
            <a:ext cx="762000" cy="762000"/>
            <a:chOff x="2133600" y="2133600"/>
            <a:chExt cx="762000" cy="762000"/>
          </a:xfrm>
        </p:grpSpPr>
        <p:sp>
          <p:nvSpPr>
            <p:cNvPr id="17" name="Oval 1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8" y="232993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21336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20" name="Oval 1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53338" y="2329934"/>
              <a:ext cx="35939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21336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23" name="Oval 2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62200" y="2133600"/>
            <a:ext cx="762000" cy="762000"/>
            <a:chOff x="2133600" y="2133600"/>
            <a:chExt cx="762000" cy="762000"/>
          </a:xfrm>
        </p:grpSpPr>
        <p:sp>
          <p:nvSpPr>
            <p:cNvPr id="26" name="Oval 2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95400" y="31242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29" name="Oval 2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53338" y="2329934"/>
              <a:ext cx="36099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20000" y="3124200"/>
            <a:ext cx="762000" cy="762000"/>
            <a:chOff x="2133600" y="2133600"/>
            <a:chExt cx="762000" cy="762000"/>
          </a:xfrm>
        </p:grpSpPr>
        <p:sp>
          <p:nvSpPr>
            <p:cNvPr id="32" name="Oval 3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53338" y="23299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6400" y="3124200"/>
            <a:ext cx="762000" cy="762000"/>
            <a:chOff x="2133600" y="2133600"/>
            <a:chExt cx="762000" cy="762000"/>
          </a:xfrm>
        </p:grpSpPr>
        <p:sp>
          <p:nvSpPr>
            <p:cNvPr id="35" name="Oval 3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53338" y="232993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K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3200" y="3124200"/>
            <a:ext cx="762000" cy="762000"/>
            <a:chOff x="2133600" y="2133600"/>
            <a:chExt cx="762000" cy="762000"/>
          </a:xfrm>
        </p:grpSpPr>
        <p:sp>
          <p:nvSpPr>
            <p:cNvPr id="38" name="Oval 3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53338" y="2329934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3124200"/>
            <a:ext cx="762000" cy="762000"/>
            <a:chOff x="2133600" y="2133600"/>
            <a:chExt cx="762000" cy="762000"/>
          </a:xfrm>
        </p:grpSpPr>
        <p:sp>
          <p:nvSpPr>
            <p:cNvPr id="41" name="Oval 4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53338" y="23299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J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29000" y="3124200"/>
            <a:ext cx="762000" cy="762000"/>
            <a:chOff x="2133600" y="2133600"/>
            <a:chExt cx="762000" cy="762000"/>
          </a:xfrm>
        </p:grpSpPr>
        <p:sp>
          <p:nvSpPr>
            <p:cNvPr id="44" name="Oval 4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53338" y="2329934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62200" y="3124200"/>
            <a:ext cx="762000" cy="762000"/>
            <a:chOff x="2133600" y="2133600"/>
            <a:chExt cx="762000" cy="762000"/>
          </a:xfrm>
        </p:grpSpPr>
        <p:sp>
          <p:nvSpPr>
            <p:cNvPr id="47" name="Oval 4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57959" y="2338101"/>
              <a:ext cx="534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Me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295400" y="4114800"/>
            <a:ext cx="762000" cy="762000"/>
            <a:chOff x="2133600" y="2133600"/>
            <a:chExt cx="762000" cy="762000"/>
          </a:xfrm>
        </p:grpSpPr>
        <p:sp>
          <p:nvSpPr>
            <p:cNvPr id="50" name="Oval 4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620000" y="4114800"/>
            <a:ext cx="762000" cy="762000"/>
            <a:chOff x="2133600" y="2133600"/>
            <a:chExt cx="762000" cy="762000"/>
          </a:xfrm>
        </p:grpSpPr>
        <p:sp>
          <p:nvSpPr>
            <p:cNvPr id="53" name="Oval 5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3338" y="232993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86400" y="4114800"/>
            <a:ext cx="762000" cy="762000"/>
            <a:chOff x="2133600" y="2133600"/>
            <a:chExt cx="762000" cy="762000"/>
          </a:xfrm>
        </p:grpSpPr>
        <p:sp>
          <p:nvSpPr>
            <p:cNvPr id="56" name="Oval 5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53338" y="232993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3200" y="4114800"/>
            <a:ext cx="762000" cy="762000"/>
            <a:chOff x="2133600" y="2133600"/>
            <a:chExt cx="762000" cy="762000"/>
          </a:xfrm>
        </p:grpSpPr>
        <p:sp>
          <p:nvSpPr>
            <p:cNvPr id="59" name="Oval 5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4114800"/>
            <a:ext cx="762000" cy="762000"/>
            <a:chOff x="2133600" y="2133600"/>
            <a:chExt cx="762000" cy="762000"/>
          </a:xfrm>
        </p:grpSpPr>
        <p:sp>
          <p:nvSpPr>
            <p:cNvPr id="62" name="Oval 61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29000" y="41148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65" name="Oval 64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362200" y="41148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68" name="Oval 67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53338" y="2329934"/>
              <a:ext cx="36260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295400" y="5105400"/>
            <a:ext cx="762000" cy="762000"/>
            <a:chOff x="2133600" y="2133600"/>
            <a:chExt cx="762000" cy="762000"/>
          </a:xfrm>
          <a:solidFill>
            <a:srgbClr val="FFFF00"/>
          </a:solidFill>
        </p:grpSpPr>
        <p:sp>
          <p:nvSpPr>
            <p:cNvPr id="71" name="Oval 70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grp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353338" y="2329934"/>
              <a:ext cx="35458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620000" y="5105400"/>
            <a:ext cx="762000" cy="762000"/>
            <a:chOff x="2133600" y="2133600"/>
            <a:chExt cx="762000" cy="762000"/>
          </a:xfrm>
        </p:grpSpPr>
        <p:sp>
          <p:nvSpPr>
            <p:cNvPr id="74" name="Oval 73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53338" y="2329934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Z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86400" y="5105400"/>
            <a:ext cx="762000" cy="762000"/>
            <a:chOff x="2133600" y="2133600"/>
            <a:chExt cx="762000" cy="762000"/>
          </a:xfrm>
        </p:grpSpPr>
        <p:sp>
          <p:nvSpPr>
            <p:cNvPr id="77" name="Oval 76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553200" y="5105400"/>
            <a:ext cx="762000" cy="762000"/>
            <a:chOff x="2133600" y="2133600"/>
            <a:chExt cx="762000" cy="762000"/>
          </a:xfrm>
        </p:grpSpPr>
        <p:sp>
          <p:nvSpPr>
            <p:cNvPr id="80" name="Oval 79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267111" y="2329934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Ed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19600" y="5105400"/>
            <a:ext cx="762000" cy="762000"/>
            <a:chOff x="2133600" y="2133600"/>
            <a:chExt cx="762000" cy="762000"/>
          </a:xfrm>
        </p:grpSpPr>
        <p:sp>
          <p:nvSpPr>
            <p:cNvPr id="83" name="Oval 82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429000" y="5105400"/>
            <a:ext cx="762000" cy="762000"/>
            <a:chOff x="2133600" y="2133600"/>
            <a:chExt cx="762000" cy="762000"/>
          </a:xfrm>
        </p:grpSpPr>
        <p:sp>
          <p:nvSpPr>
            <p:cNvPr id="86" name="Oval 85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353338" y="2329934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2362200" y="5105400"/>
            <a:ext cx="762000" cy="762000"/>
            <a:chOff x="2133600" y="2133600"/>
            <a:chExt cx="762000" cy="762000"/>
          </a:xfrm>
        </p:grpSpPr>
        <p:sp>
          <p:nvSpPr>
            <p:cNvPr id="89" name="Oval 88"/>
            <p:cNvSpPr/>
            <p:nvPr/>
          </p:nvSpPr>
          <p:spPr bwMode="auto">
            <a:xfrm>
              <a:off x="2133600" y="2133600"/>
              <a:ext cx="762000" cy="762000"/>
            </a:xfrm>
            <a:prstGeom prst="ellipse">
              <a:avLst/>
            </a:prstGeom>
            <a:noFill/>
            <a:ln w="381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353338" y="232993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2071396" y="2509935"/>
            <a:ext cx="289249" cy="9330"/>
          </a:xfrm>
          <a:custGeom>
            <a:avLst/>
            <a:gdLst>
              <a:gd name="connsiteX0" fmla="*/ 0 w 289249"/>
              <a:gd name="connsiteY0" fmla="*/ 0 h 9330"/>
              <a:gd name="connsiteX1" fmla="*/ 289249 w 289249"/>
              <a:gd name="connsiteY1" fmla="*/ 9330 h 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249" h="9330">
                <a:moveTo>
                  <a:pt x="0" y="0"/>
                </a:moveTo>
                <a:lnTo>
                  <a:pt x="289249" y="93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 bwMode="auto">
          <a:xfrm>
            <a:off x="1959429" y="2771192"/>
            <a:ext cx="2612571" cy="429208"/>
          </a:xfrm>
          <a:custGeom>
            <a:avLst/>
            <a:gdLst>
              <a:gd name="connsiteX0" fmla="*/ 0 w 2612571"/>
              <a:gd name="connsiteY0" fmla="*/ 0 h 429208"/>
              <a:gd name="connsiteX1" fmla="*/ 513183 w 2612571"/>
              <a:gd name="connsiteY1" fmla="*/ 205273 h 429208"/>
              <a:gd name="connsiteX2" fmla="*/ 1828800 w 2612571"/>
              <a:gd name="connsiteY2" fmla="*/ 242596 h 429208"/>
              <a:gd name="connsiteX3" fmla="*/ 2612571 w 2612571"/>
              <a:gd name="connsiteY3" fmla="*/ 429208 h 429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2571" h="429208">
                <a:moveTo>
                  <a:pt x="0" y="0"/>
                </a:moveTo>
                <a:cubicBezTo>
                  <a:pt x="104191" y="82420"/>
                  <a:pt x="208383" y="164840"/>
                  <a:pt x="513183" y="205273"/>
                </a:cubicBezTo>
                <a:cubicBezTo>
                  <a:pt x="817983" y="245706"/>
                  <a:pt x="1478902" y="205274"/>
                  <a:pt x="1828800" y="242596"/>
                </a:cubicBezTo>
                <a:cubicBezTo>
                  <a:pt x="2178698" y="279918"/>
                  <a:pt x="2395634" y="354563"/>
                  <a:pt x="2612571" y="429208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90"/>
          <p:cNvSpPr/>
          <p:nvPr/>
        </p:nvSpPr>
        <p:spPr bwMode="auto">
          <a:xfrm>
            <a:off x="4114800" y="3732245"/>
            <a:ext cx="363894" cy="1520890"/>
          </a:xfrm>
          <a:custGeom>
            <a:avLst/>
            <a:gdLst>
              <a:gd name="connsiteX0" fmla="*/ 363894 w 363894"/>
              <a:gd name="connsiteY0" fmla="*/ 0 h 1520890"/>
              <a:gd name="connsiteX1" fmla="*/ 0 w 363894"/>
              <a:gd name="connsiteY1" fmla="*/ 152089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94" h="1520890">
                <a:moveTo>
                  <a:pt x="363894" y="0"/>
                </a:moveTo>
                <a:lnTo>
                  <a:pt x="0" y="152089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1"/>
          <p:cNvSpPr/>
          <p:nvPr/>
        </p:nvSpPr>
        <p:spPr bwMode="auto">
          <a:xfrm>
            <a:off x="4161453" y="3797559"/>
            <a:ext cx="2509935" cy="1567543"/>
          </a:xfrm>
          <a:custGeom>
            <a:avLst/>
            <a:gdLst>
              <a:gd name="connsiteX0" fmla="*/ 0 w 2509935"/>
              <a:gd name="connsiteY0" fmla="*/ 1567543 h 1567543"/>
              <a:gd name="connsiteX1" fmla="*/ 475861 w 2509935"/>
              <a:gd name="connsiteY1" fmla="*/ 1203649 h 1567543"/>
              <a:gd name="connsiteX2" fmla="*/ 933061 w 2509935"/>
              <a:gd name="connsiteY2" fmla="*/ 1166327 h 1567543"/>
              <a:gd name="connsiteX3" fmla="*/ 1772816 w 2509935"/>
              <a:gd name="connsiteY3" fmla="*/ 1184988 h 1567543"/>
              <a:gd name="connsiteX4" fmla="*/ 2211355 w 2509935"/>
              <a:gd name="connsiteY4" fmla="*/ 905070 h 1567543"/>
              <a:gd name="connsiteX5" fmla="*/ 2313992 w 2509935"/>
              <a:gd name="connsiteY5" fmla="*/ 373225 h 1567543"/>
              <a:gd name="connsiteX6" fmla="*/ 2509935 w 2509935"/>
              <a:gd name="connsiteY6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9935" h="1567543">
                <a:moveTo>
                  <a:pt x="0" y="1567543"/>
                </a:moveTo>
                <a:cubicBezTo>
                  <a:pt x="160175" y="1419030"/>
                  <a:pt x="320351" y="1270518"/>
                  <a:pt x="475861" y="1203649"/>
                </a:cubicBezTo>
                <a:cubicBezTo>
                  <a:pt x="631371" y="1136780"/>
                  <a:pt x="933061" y="1166327"/>
                  <a:pt x="933061" y="1166327"/>
                </a:cubicBezTo>
                <a:cubicBezTo>
                  <a:pt x="1149220" y="1163217"/>
                  <a:pt x="1559767" y="1228531"/>
                  <a:pt x="1772816" y="1184988"/>
                </a:cubicBezTo>
                <a:cubicBezTo>
                  <a:pt x="1985865" y="1141445"/>
                  <a:pt x="2121159" y="1040364"/>
                  <a:pt x="2211355" y="905070"/>
                </a:cubicBezTo>
                <a:cubicBezTo>
                  <a:pt x="2301551" y="769776"/>
                  <a:pt x="2264229" y="524070"/>
                  <a:pt x="2313992" y="373225"/>
                </a:cubicBezTo>
                <a:cubicBezTo>
                  <a:pt x="2363755" y="222380"/>
                  <a:pt x="2436845" y="111190"/>
                  <a:pt x="2509935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2"/>
          <p:cNvSpPr/>
          <p:nvPr/>
        </p:nvSpPr>
        <p:spPr bwMode="auto">
          <a:xfrm>
            <a:off x="7305869" y="5477069"/>
            <a:ext cx="317241" cy="18662"/>
          </a:xfrm>
          <a:custGeom>
            <a:avLst/>
            <a:gdLst>
              <a:gd name="connsiteX0" fmla="*/ 0 w 317241"/>
              <a:gd name="connsiteY0" fmla="*/ 0 h 18662"/>
              <a:gd name="connsiteX1" fmla="*/ 317241 w 317241"/>
              <a:gd name="connsiteY1" fmla="*/ 18662 h 18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241" h="18662">
                <a:moveTo>
                  <a:pt x="0" y="0"/>
                </a:moveTo>
                <a:lnTo>
                  <a:pt x="317241" y="18662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3"/>
          <p:cNvSpPr/>
          <p:nvPr/>
        </p:nvSpPr>
        <p:spPr bwMode="auto">
          <a:xfrm>
            <a:off x="6111551" y="4786604"/>
            <a:ext cx="513184" cy="447869"/>
          </a:xfrm>
          <a:custGeom>
            <a:avLst/>
            <a:gdLst>
              <a:gd name="connsiteX0" fmla="*/ 513184 w 513184"/>
              <a:gd name="connsiteY0" fmla="*/ 447869 h 447869"/>
              <a:gd name="connsiteX1" fmla="*/ 0 w 513184"/>
              <a:gd name="connsiteY1" fmla="*/ 0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447869">
                <a:moveTo>
                  <a:pt x="513184" y="447869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4"/>
          <p:cNvSpPr/>
          <p:nvPr/>
        </p:nvSpPr>
        <p:spPr bwMode="auto">
          <a:xfrm>
            <a:off x="7137918" y="2456061"/>
            <a:ext cx="1425088" cy="3603527"/>
          </a:xfrm>
          <a:custGeom>
            <a:avLst/>
            <a:gdLst>
              <a:gd name="connsiteX0" fmla="*/ 0 w 1425088"/>
              <a:gd name="connsiteY0" fmla="*/ 3356910 h 3603527"/>
              <a:gd name="connsiteX1" fmla="*/ 783772 w 1425088"/>
              <a:gd name="connsiteY1" fmla="*/ 3599506 h 3603527"/>
              <a:gd name="connsiteX2" fmla="*/ 1287625 w 1425088"/>
              <a:gd name="connsiteY2" fmla="*/ 3459547 h 3603527"/>
              <a:gd name="connsiteX3" fmla="*/ 1418253 w 1425088"/>
              <a:gd name="connsiteY3" fmla="*/ 2871719 h 3603527"/>
              <a:gd name="connsiteX4" fmla="*/ 1390262 w 1425088"/>
              <a:gd name="connsiteY4" fmla="*/ 427098 h 3603527"/>
              <a:gd name="connsiteX5" fmla="*/ 1250302 w 1425088"/>
              <a:gd name="connsiteY5" fmla="*/ 16551 h 3603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5088" h="3603527">
                <a:moveTo>
                  <a:pt x="0" y="3356910"/>
                </a:moveTo>
                <a:cubicBezTo>
                  <a:pt x="284584" y="3469655"/>
                  <a:pt x="569168" y="3582400"/>
                  <a:pt x="783772" y="3599506"/>
                </a:cubicBezTo>
                <a:cubicBezTo>
                  <a:pt x="998376" y="3616612"/>
                  <a:pt x="1181878" y="3580845"/>
                  <a:pt x="1287625" y="3459547"/>
                </a:cubicBezTo>
                <a:cubicBezTo>
                  <a:pt x="1393372" y="3338249"/>
                  <a:pt x="1401147" y="3377127"/>
                  <a:pt x="1418253" y="2871719"/>
                </a:cubicBezTo>
                <a:cubicBezTo>
                  <a:pt x="1435359" y="2366311"/>
                  <a:pt x="1418254" y="902959"/>
                  <a:pt x="1390262" y="427098"/>
                </a:cubicBezTo>
                <a:cubicBezTo>
                  <a:pt x="1362270" y="-48763"/>
                  <a:pt x="1306286" y="-16106"/>
                  <a:pt x="1250302" y="1655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6" name="Freeform 24575"/>
          <p:cNvSpPr/>
          <p:nvPr/>
        </p:nvSpPr>
        <p:spPr bwMode="auto">
          <a:xfrm>
            <a:off x="1950098" y="3778898"/>
            <a:ext cx="503853" cy="447869"/>
          </a:xfrm>
          <a:custGeom>
            <a:avLst/>
            <a:gdLst>
              <a:gd name="connsiteX0" fmla="*/ 503853 w 503853"/>
              <a:gd name="connsiteY0" fmla="*/ 0 h 447869"/>
              <a:gd name="connsiteX1" fmla="*/ 0 w 503853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47869">
                <a:moveTo>
                  <a:pt x="503853" y="0"/>
                </a:moveTo>
                <a:lnTo>
                  <a:pt x="0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7" name="Freeform 24576"/>
          <p:cNvSpPr/>
          <p:nvPr/>
        </p:nvSpPr>
        <p:spPr bwMode="auto">
          <a:xfrm>
            <a:off x="3125755" y="3517641"/>
            <a:ext cx="298580" cy="0"/>
          </a:xfrm>
          <a:custGeom>
            <a:avLst/>
            <a:gdLst>
              <a:gd name="connsiteX0" fmla="*/ 0 w 298580"/>
              <a:gd name="connsiteY0" fmla="*/ 0 h 0"/>
              <a:gd name="connsiteX1" fmla="*/ 298580 w 2985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>
                <a:moveTo>
                  <a:pt x="0" y="0"/>
                </a:moveTo>
                <a:lnTo>
                  <a:pt x="29858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Freeform 24579"/>
          <p:cNvSpPr/>
          <p:nvPr/>
        </p:nvSpPr>
        <p:spPr bwMode="auto">
          <a:xfrm>
            <a:off x="2957804" y="3825551"/>
            <a:ext cx="345276" cy="1352939"/>
          </a:xfrm>
          <a:custGeom>
            <a:avLst/>
            <a:gdLst>
              <a:gd name="connsiteX0" fmla="*/ 0 w 345276"/>
              <a:gd name="connsiteY0" fmla="*/ 0 h 1352939"/>
              <a:gd name="connsiteX1" fmla="*/ 345233 w 345276"/>
              <a:gd name="connsiteY1" fmla="*/ 569167 h 1352939"/>
              <a:gd name="connsiteX2" fmla="*/ 18661 w 345276"/>
              <a:gd name="connsiteY2" fmla="*/ 1352939 h 13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276" h="1352939">
                <a:moveTo>
                  <a:pt x="0" y="0"/>
                </a:moveTo>
                <a:cubicBezTo>
                  <a:pt x="171061" y="171838"/>
                  <a:pt x="342123" y="343677"/>
                  <a:pt x="345233" y="569167"/>
                </a:cubicBezTo>
                <a:cubicBezTo>
                  <a:pt x="348343" y="794657"/>
                  <a:pt x="183502" y="1073798"/>
                  <a:pt x="18661" y="1352939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1" name="Freeform 24580"/>
          <p:cNvSpPr/>
          <p:nvPr/>
        </p:nvSpPr>
        <p:spPr bwMode="auto">
          <a:xfrm>
            <a:off x="1100804" y="3741576"/>
            <a:ext cx="298788" cy="1474236"/>
          </a:xfrm>
          <a:custGeom>
            <a:avLst/>
            <a:gdLst>
              <a:gd name="connsiteX0" fmla="*/ 261465 w 298788"/>
              <a:gd name="connsiteY0" fmla="*/ 0 h 1474236"/>
              <a:gd name="connsiteX1" fmla="*/ 208 w 298788"/>
              <a:gd name="connsiteY1" fmla="*/ 746448 h 1474236"/>
              <a:gd name="connsiteX2" fmla="*/ 298788 w 298788"/>
              <a:gd name="connsiteY2" fmla="*/ 1474236 h 1474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788" h="1474236">
                <a:moveTo>
                  <a:pt x="261465" y="0"/>
                </a:moveTo>
                <a:cubicBezTo>
                  <a:pt x="127726" y="250371"/>
                  <a:pt x="-6013" y="500742"/>
                  <a:pt x="208" y="746448"/>
                </a:cubicBezTo>
                <a:cubicBezTo>
                  <a:pt x="6429" y="992154"/>
                  <a:pt x="152608" y="1233195"/>
                  <a:pt x="298788" y="1474236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582" name="Freeform 24581"/>
          <p:cNvSpPr/>
          <p:nvPr/>
        </p:nvSpPr>
        <p:spPr bwMode="auto">
          <a:xfrm>
            <a:off x="4189445" y="2500604"/>
            <a:ext cx="233265" cy="9331"/>
          </a:xfrm>
          <a:custGeom>
            <a:avLst/>
            <a:gdLst>
              <a:gd name="connsiteX0" fmla="*/ 0 w 233265"/>
              <a:gd name="connsiteY0" fmla="*/ 0 h 9331"/>
              <a:gd name="connsiteX1" fmla="*/ 233265 w 233265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265" h="9331">
                <a:moveTo>
                  <a:pt x="0" y="0"/>
                </a:moveTo>
                <a:lnTo>
                  <a:pt x="233265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Freeform 24583"/>
          <p:cNvSpPr/>
          <p:nvPr/>
        </p:nvSpPr>
        <p:spPr bwMode="auto">
          <a:xfrm>
            <a:off x="3284314" y="2743200"/>
            <a:ext cx="242657" cy="1483567"/>
          </a:xfrm>
          <a:custGeom>
            <a:avLst/>
            <a:gdLst>
              <a:gd name="connsiteX0" fmla="*/ 223996 w 242657"/>
              <a:gd name="connsiteY0" fmla="*/ 0 h 1483567"/>
              <a:gd name="connsiteX1" fmla="*/ 62 w 242657"/>
              <a:gd name="connsiteY1" fmla="*/ 737118 h 1483567"/>
              <a:gd name="connsiteX2" fmla="*/ 242657 w 242657"/>
              <a:gd name="connsiteY2" fmla="*/ 1483567 h 14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57" h="1483567">
                <a:moveTo>
                  <a:pt x="223996" y="0"/>
                </a:moveTo>
                <a:cubicBezTo>
                  <a:pt x="110474" y="244928"/>
                  <a:pt x="-3048" y="489857"/>
                  <a:pt x="62" y="737118"/>
                </a:cubicBezTo>
                <a:cubicBezTo>
                  <a:pt x="3172" y="984379"/>
                  <a:pt x="122914" y="1233973"/>
                  <a:pt x="242657" y="1483567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5" name="Freeform 24584"/>
          <p:cNvSpPr/>
          <p:nvPr/>
        </p:nvSpPr>
        <p:spPr bwMode="auto">
          <a:xfrm>
            <a:off x="1894114" y="4781421"/>
            <a:ext cx="1651519" cy="378408"/>
          </a:xfrm>
          <a:custGeom>
            <a:avLst/>
            <a:gdLst>
              <a:gd name="connsiteX0" fmla="*/ 0 w 1651519"/>
              <a:gd name="connsiteY0" fmla="*/ 378408 h 378408"/>
              <a:gd name="connsiteX1" fmla="*/ 1371600 w 1651519"/>
              <a:gd name="connsiteY1" fmla="*/ 51836 h 378408"/>
              <a:gd name="connsiteX2" fmla="*/ 1651519 w 1651519"/>
              <a:gd name="connsiteY2" fmla="*/ 5183 h 3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519" h="378408">
                <a:moveTo>
                  <a:pt x="0" y="378408"/>
                </a:moveTo>
                <a:lnTo>
                  <a:pt x="1371600" y="51836"/>
                </a:lnTo>
                <a:cubicBezTo>
                  <a:pt x="1646853" y="-10368"/>
                  <a:pt x="1649186" y="-2593"/>
                  <a:pt x="1651519" y="5183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6" name="Freeform 24585"/>
          <p:cNvSpPr/>
          <p:nvPr/>
        </p:nvSpPr>
        <p:spPr bwMode="auto">
          <a:xfrm>
            <a:off x="1894114" y="3834882"/>
            <a:ext cx="531845" cy="438538"/>
          </a:xfrm>
          <a:custGeom>
            <a:avLst/>
            <a:gdLst>
              <a:gd name="connsiteX0" fmla="*/ 0 w 531845"/>
              <a:gd name="connsiteY0" fmla="*/ 0 h 438538"/>
              <a:gd name="connsiteX1" fmla="*/ 531845 w 531845"/>
              <a:gd name="connsiteY1" fmla="*/ 438538 h 43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38538">
                <a:moveTo>
                  <a:pt x="0" y="0"/>
                </a:moveTo>
                <a:lnTo>
                  <a:pt x="531845" y="43853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7" name="Freeform 24586"/>
          <p:cNvSpPr/>
          <p:nvPr/>
        </p:nvSpPr>
        <p:spPr bwMode="auto">
          <a:xfrm>
            <a:off x="3051110" y="2743200"/>
            <a:ext cx="1436914" cy="1530220"/>
          </a:xfrm>
          <a:custGeom>
            <a:avLst/>
            <a:gdLst>
              <a:gd name="connsiteX0" fmla="*/ 0 w 1436914"/>
              <a:gd name="connsiteY0" fmla="*/ 1530220 h 1530220"/>
              <a:gd name="connsiteX1" fmla="*/ 587829 w 1436914"/>
              <a:gd name="connsiteY1" fmla="*/ 1259633 h 1530220"/>
              <a:gd name="connsiteX2" fmla="*/ 970384 w 1436914"/>
              <a:gd name="connsiteY2" fmla="*/ 1212980 h 1530220"/>
              <a:gd name="connsiteX3" fmla="*/ 1156996 w 1436914"/>
              <a:gd name="connsiteY3" fmla="*/ 1101012 h 1530220"/>
              <a:gd name="connsiteX4" fmla="*/ 1250302 w 1436914"/>
              <a:gd name="connsiteY4" fmla="*/ 914400 h 1530220"/>
              <a:gd name="connsiteX5" fmla="*/ 1306286 w 1436914"/>
              <a:gd name="connsiteY5" fmla="*/ 279918 h 1530220"/>
              <a:gd name="connsiteX6" fmla="*/ 1436914 w 1436914"/>
              <a:gd name="connsiteY6" fmla="*/ 0 h 153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14" h="1530220">
                <a:moveTo>
                  <a:pt x="0" y="1530220"/>
                </a:moveTo>
                <a:cubicBezTo>
                  <a:pt x="213049" y="1421363"/>
                  <a:pt x="426098" y="1312506"/>
                  <a:pt x="587829" y="1259633"/>
                </a:cubicBezTo>
                <a:cubicBezTo>
                  <a:pt x="749560" y="1206760"/>
                  <a:pt x="875523" y="1239417"/>
                  <a:pt x="970384" y="1212980"/>
                </a:cubicBezTo>
                <a:cubicBezTo>
                  <a:pt x="1065245" y="1186543"/>
                  <a:pt x="1110343" y="1150775"/>
                  <a:pt x="1156996" y="1101012"/>
                </a:cubicBezTo>
                <a:cubicBezTo>
                  <a:pt x="1203649" y="1051249"/>
                  <a:pt x="1225420" y="1051249"/>
                  <a:pt x="1250302" y="914400"/>
                </a:cubicBezTo>
                <a:cubicBezTo>
                  <a:pt x="1275184" y="777551"/>
                  <a:pt x="1275184" y="432318"/>
                  <a:pt x="1306286" y="279918"/>
                </a:cubicBezTo>
                <a:cubicBezTo>
                  <a:pt x="1337388" y="127518"/>
                  <a:pt x="1387151" y="63759"/>
                  <a:pt x="1436914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Freeform 24587"/>
          <p:cNvSpPr/>
          <p:nvPr/>
        </p:nvSpPr>
        <p:spPr bwMode="auto">
          <a:xfrm>
            <a:off x="4077478" y="3778898"/>
            <a:ext cx="485191" cy="419878"/>
          </a:xfrm>
          <a:custGeom>
            <a:avLst/>
            <a:gdLst>
              <a:gd name="connsiteX0" fmla="*/ 0 w 485191"/>
              <a:gd name="connsiteY0" fmla="*/ 0 h 419878"/>
              <a:gd name="connsiteX1" fmla="*/ 485191 w 485191"/>
              <a:gd name="connsiteY1" fmla="*/ 419878 h 419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5191" h="419878">
                <a:moveTo>
                  <a:pt x="0" y="0"/>
                </a:moveTo>
                <a:lnTo>
                  <a:pt x="485191" y="419878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9" name="Freeform 24588"/>
          <p:cNvSpPr/>
          <p:nvPr/>
        </p:nvSpPr>
        <p:spPr bwMode="auto">
          <a:xfrm>
            <a:off x="4786604" y="4870580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Freeform 24589"/>
          <p:cNvSpPr/>
          <p:nvPr/>
        </p:nvSpPr>
        <p:spPr bwMode="auto">
          <a:xfrm>
            <a:off x="5057192" y="4786604"/>
            <a:ext cx="522514" cy="447869"/>
          </a:xfrm>
          <a:custGeom>
            <a:avLst/>
            <a:gdLst>
              <a:gd name="connsiteX0" fmla="*/ 0 w 522514"/>
              <a:gd name="connsiteY0" fmla="*/ 0 h 447869"/>
              <a:gd name="connsiteX1" fmla="*/ 522514 w 522514"/>
              <a:gd name="connsiteY1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47869">
                <a:moveTo>
                  <a:pt x="0" y="0"/>
                </a:moveTo>
                <a:lnTo>
                  <a:pt x="522514" y="447869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1" name="Freeform 24590"/>
          <p:cNvSpPr/>
          <p:nvPr/>
        </p:nvSpPr>
        <p:spPr bwMode="auto">
          <a:xfrm>
            <a:off x="5169159" y="5477069"/>
            <a:ext cx="307910" cy="9331"/>
          </a:xfrm>
          <a:custGeom>
            <a:avLst/>
            <a:gdLst>
              <a:gd name="connsiteX0" fmla="*/ 0 w 307910"/>
              <a:gd name="connsiteY0" fmla="*/ 0 h 9331"/>
              <a:gd name="connsiteX1" fmla="*/ 307910 w 30791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7910" h="9331">
                <a:moveTo>
                  <a:pt x="0" y="0"/>
                </a:moveTo>
                <a:lnTo>
                  <a:pt x="30791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Freeform 24591"/>
          <p:cNvSpPr/>
          <p:nvPr/>
        </p:nvSpPr>
        <p:spPr bwMode="auto">
          <a:xfrm>
            <a:off x="6195527" y="5682343"/>
            <a:ext cx="1660849" cy="482957"/>
          </a:xfrm>
          <a:custGeom>
            <a:avLst/>
            <a:gdLst>
              <a:gd name="connsiteX0" fmla="*/ 0 w 1660849"/>
              <a:gd name="connsiteY0" fmla="*/ 0 h 482957"/>
              <a:gd name="connsiteX1" fmla="*/ 699795 w 1660849"/>
              <a:gd name="connsiteY1" fmla="*/ 438539 h 482957"/>
              <a:gd name="connsiteX2" fmla="*/ 1343608 w 1660849"/>
              <a:gd name="connsiteY2" fmla="*/ 438539 h 482957"/>
              <a:gd name="connsiteX3" fmla="*/ 1660849 w 1660849"/>
              <a:gd name="connsiteY3" fmla="*/ 177281 h 4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849" h="482957">
                <a:moveTo>
                  <a:pt x="0" y="0"/>
                </a:moveTo>
                <a:cubicBezTo>
                  <a:pt x="237930" y="182724"/>
                  <a:pt x="475860" y="365449"/>
                  <a:pt x="699795" y="438539"/>
                </a:cubicBezTo>
                <a:cubicBezTo>
                  <a:pt x="923730" y="511629"/>
                  <a:pt x="1183432" y="482082"/>
                  <a:pt x="1343608" y="438539"/>
                </a:cubicBezTo>
                <a:cubicBezTo>
                  <a:pt x="1503784" y="394996"/>
                  <a:pt x="1582316" y="286138"/>
                  <a:pt x="1660849" y="177281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3" name="Freeform 24592"/>
          <p:cNvSpPr/>
          <p:nvPr/>
        </p:nvSpPr>
        <p:spPr bwMode="auto">
          <a:xfrm>
            <a:off x="6167535" y="4758612"/>
            <a:ext cx="475861" cy="503853"/>
          </a:xfrm>
          <a:custGeom>
            <a:avLst/>
            <a:gdLst>
              <a:gd name="connsiteX0" fmla="*/ 0 w 475861"/>
              <a:gd name="connsiteY0" fmla="*/ 503853 h 503853"/>
              <a:gd name="connsiteX1" fmla="*/ 475861 w 475861"/>
              <a:gd name="connsiteY1" fmla="*/ 0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861" h="503853">
                <a:moveTo>
                  <a:pt x="0" y="503853"/>
                </a:moveTo>
                <a:lnTo>
                  <a:pt x="475861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Freeform 24593"/>
          <p:cNvSpPr/>
          <p:nvPr/>
        </p:nvSpPr>
        <p:spPr bwMode="auto">
          <a:xfrm>
            <a:off x="6111551" y="2789853"/>
            <a:ext cx="1623527" cy="438539"/>
          </a:xfrm>
          <a:custGeom>
            <a:avLst/>
            <a:gdLst>
              <a:gd name="connsiteX0" fmla="*/ 0 w 1623527"/>
              <a:gd name="connsiteY0" fmla="*/ 438539 h 438539"/>
              <a:gd name="connsiteX1" fmla="*/ 1623527 w 1623527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3527" h="438539">
                <a:moveTo>
                  <a:pt x="0" y="438539"/>
                </a:moveTo>
                <a:lnTo>
                  <a:pt x="1623527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5" name="Freeform 24594"/>
          <p:cNvSpPr/>
          <p:nvPr/>
        </p:nvSpPr>
        <p:spPr bwMode="auto">
          <a:xfrm>
            <a:off x="1912776" y="4795935"/>
            <a:ext cx="522514" cy="466530"/>
          </a:xfrm>
          <a:custGeom>
            <a:avLst/>
            <a:gdLst>
              <a:gd name="connsiteX0" fmla="*/ 0 w 522514"/>
              <a:gd name="connsiteY0" fmla="*/ 0 h 466530"/>
              <a:gd name="connsiteX1" fmla="*/ 522514 w 522514"/>
              <a:gd name="connsiteY1" fmla="*/ 466530 h 46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14" h="466530">
                <a:moveTo>
                  <a:pt x="0" y="0"/>
                </a:moveTo>
                <a:lnTo>
                  <a:pt x="522514" y="46653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Freeform 24595"/>
          <p:cNvSpPr/>
          <p:nvPr/>
        </p:nvSpPr>
        <p:spPr bwMode="auto">
          <a:xfrm>
            <a:off x="6251510" y="2491273"/>
            <a:ext cx="298580" cy="9331"/>
          </a:xfrm>
          <a:custGeom>
            <a:avLst/>
            <a:gdLst>
              <a:gd name="connsiteX0" fmla="*/ 0 w 298580"/>
              <a:gd name="connsiteY0" fmla="*/ 0 h 9331"/>
              <a:gd name="connsiteX1" fmla="*/ 298580 w 298580"/>
              <a:gd name="connsiteY1" fmla="*/ 9331 h 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8580" h="9331">
                <a:moveTo>
                  <a:pt x="0" y="0"/>
                </a:moveTo>
                <a:lnTo>
                  <a:pt x="298580" y="9331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7" name="Freeform 24596"/>
          <p:cNvSpPr/>
          <p:nvPr/>
        </p:nvSpPr>
        <p:spPr bwMode="auto">
          <a:xfrm>
            <a:off x="7268547" y="2687216"/>
            <a:ext cx="513184" cy="503853"/>
          </a:xfrm>
          <a:custGeom>
            <a:avLst/>
            <a:gdLst>
              <a:gd name="connsiteX0" fmla="*/ 0 w 513184"/>
              <a:gd name="connsiteY0" fmla="*/ 0 h 503853"/>
              <a:gd name="connsiteX1" fmla="*/ 513184 w 513184"/>
              <a:gd name="connsiteY1" fmla="*/ 503853 h 50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3184" h="503853">
                <a:moveTo>
                  <a:pt x="0" y="0"/>
                </a:moveTo>
                <a:lnTo>
                  <a:pt x="513184" y="503853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8" name="Freeform 24597"/>
          <p:cNvSpPr/>
          <p:nvPr/>
        </p:nvSpPr>
        <p:spPr bwMode="auto">
          <a:xfrm>
            <a:off x="7977673" y="3881535"/>
            <a:ext cx="9331" cy="223934"/>
          </a:xfrm>
          <a:custGeom>
            <a:avLst/>
            <a:gdLst>
              <a:gd name="connsiteX0" fmla="*/ 0 w 9331"/>
              <a:gd name="connsiteY0" fmla="*/ 0 h 223934"/>
              <a:gd name="connsiteX1" fmla="*/ 9331 w 9331"/>
              <a:gd name="connsiteY1" fmla="*/ 223934 h 2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23934">
                <a:moveTo>
                  <a:pt x="0" y="0"/>
                </a:moveTo>
                <a:lnTo>
                  <a:pt x="9331" y="223934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9" name="Freeform 24598"/>
          <p:cNvSpPr/>
          <p:nvPr/>
        </p:nvSpPr>
        <p:spPr bwMode="auto">
          <a:xfrm>
            <a:off x="4777273" y="3881535"/>
            <a:ext cx="9331" cy="233265"/>
          </a:xfrm>
          <a:custGeom>
            <a:avLst/>
            <a:gdLst>
              <a:gd name="connsiteX0" fmla="*/ 0 w 9331"/>
              <a:gd name="connsiteY0" fmla="*/ 0 h 233265"/>
              <a:gd name="connsiteX1" fmla="*/ 9331 w 9331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31" h="233265">
                <a:moveTo>
                  <a:pt x="0" y="0"/>
                </a:moveTo>
                <a:lnTo>
                  <a:pt x="9331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0" name="Freeform 24599"/>
          <p:cNvSpPr/>
          <p:nvPr/>
        </p:nvSpPr>
        <p:spPr bwMode="auto">
          <a:xfrm>
            <a:off x="4945224" y="2724539"/>
            <a:ext cx="587829" cy="438539"/>
          </a:xfrm>
          <a:custGeom>
            <a:avLst/>
            <a:gdLst>
              <a:gd name="connsiteX0" fmla="*/ 0 w 587829"/>
              <a:gd name="connsiteY0" fmla="*/ 438539 h 438539"/>
              <a:gd name="connsiteX1" fmla="*/ 587829 w 587829"/>
              <a:gd name="connsiteY1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829" h="438539">
                <a:moveTo>
                  <a:pt x="0" y="438539"/>
                </a:moveTo>
                <a:lnTo>
                  <a:pt x="587829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1" name="Freeform 24600"/>
          <p:cNvSpPr/>
          <p:nvPr/>
        </p:nvSpPr>
        <p:spPr bwMode="auto">
          <a:xfrm>
            <a:off x="5859624" y="2892490"/>
            <a:ext cx="0" cy="233265"/>
          </a:xfrm>
          <a:custGeom>
            <a:avLst/>
            <a:gdLst>
              <a:gd name="connsiteX0" fmla="*/ 0 w 0"/>
              <a:gd name="connsiteY0" fmla="*/ 0 h 233265"/>
              <a:gd name="connsiteX1" fmla="*/ 0 w 0"/>
              <a:gd name="connsiteY1" fmla="*/ 233265 h 233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3265">
                <a:moveTo>
                  <a:pt x="0" y="0"/>
                </a:moveTo>
                <a:lnTo>
                  <a:pt x="0" y="233265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2" name="Freeform 24601"/>
          <p:cNvSpPr/>
          <p:nvPr/>
        </p:nvSpPr>
        <p:spPr bwMode="auto">
          <a:xfrm>
            <a:off x="5094514" y="3713584"/>
            <a:ext cx="1502229" cy="280141"/>
          </a:xfrm>
          <a:custGeom>
            <a:avLst/>
            <a:gdLst>
              <a:gd name="connsiteX0" fmla="*/ 0 w 1502229"/>
              <a:gd name="connsiteY0" fmla="*/ 37322 h 280141"/>
              <a:gd name="connsiteX1" fmla="*/ 727788 w 1502229"/>
              <a:gd name="connsiteY1" fmla="*/ 279918 h 280141"/>
              <a:gd name="connsiteX2" fmla="*/ 1502229 w 1502229"/>
              <a:gd name="connsiteY2" fmla="*/ 0 h 28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2229" h="280141">
                <a:moveTo>
                  <a:pt x="0" y="37322"/>
                </a:moveTo>
                <a:cubicBezTo>
                  <a:pt x="238708" y="161730"/>
                  <a:pt x="477417" y="286138"/>
                  <a:pt x="727788" y="279918"/>
                </a:cubicBezTo>
                <a:cubicBezTo>
                  <a:pt x="978159" y="273698"/>
                  <a:pt x="1240194" y="136849"/>
                  <a:pt x="1502229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3" name="Freeform 24602"/>
          <p:cNvSpPr/>
          <p:nvPr/>
        </p:nvSpPr>
        <p:spPr bwMode="auto">
          <a:xfrm>
            <a:off x="7212563" y="4767943"/>
            <a:ext cx="503853" cy="457200"/>
          </a:xfrm>
          <a:custGeom>
            <a:avLst/>
            <a:gdLst>
              <a:gd name="connsiteX0" fmla="*/ 0 w 503853"/>
              <a:gd name="connsiteY0" fmla="*/ 0 h 457200"/>
              <a:gd name="connsiteX1" fmla="*/ 503853 w 503853"/>
              <a:gd name="connsiteY1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853" h="457200">
                <a:moveTo>
                  <a:pt x="0" y="0"/>
                </a:moveTo>
                <a:lnTo>
                  <a:pt x="503853" y="45720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4" name="Freeform 24603"/>
          <p:cNvSpPr/>
          <p:nvPr/>
        </p:nvSpPr>
        <p:spPr bwMode="auto">
          <a:xfrm>
            <a:off x="1847461" y="2864498"/>
            <a:ext cx="559837" cy="457200"/>
          </a:xfrm>
          <a:custGeom>
            <a:avLst/>
            <a:gdLst>
              <a:gd name="connsiteX0" fmla="*/ 559837 w 559837"/>
              <a:gd name="connsiteY0" fmla="*/ 457200 h 457200"/>
              <a:gd name="connsiteX1" fmla="*/ 0 w 559837"/>
              <a:gd name="connsiteY1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9837" h="457200">
                <a:moveTo>
                  <a:pt x="559837" y="457200"/>
                </a:moveTo>
                <a:lnTo>
                  <a:pt x="0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5" name="Freeform 24604"/>
          <p:cNvSpPr/>
          <p:nvPr/>
        </p:nvSpPr>
        <p:spPr bwMode="auto">
          <a:xfrm>
            <a:off x="7287208" y="3853543"/>
            <a:ext cx="531845" cy="494522"/>
          </a:xfrm>
          <a:custGeom>
            <a:avLst/>
            <a:gdLst>
              <a:gd name="connsiteX0" fmla="*/ 0 w 531845"/>
              <a:gd name="connsiteY0" fmla="*/ 494522 h 494522"/>
              <a:gd name="connsiteX1" fmla="*/ 531845 w 531845"/>
              <a:gd name="connsiteY1" fmla="*/ 0 h 49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1845" h="494522">
                <a:moveTo>
                  <a:pt x="0" y="494522"/>
                </a:moveTo>
                <a:lnTo>
                  <a:pt x="531845" y="0"/>
                </a:ln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6" name="Freeform 24605"/>
          <p:cNvSpPr/>
          <p:nvPr/>
        </p:nvSpPr>
        <p:spPr bwMode="auto">
          <a:xfrm>
            <a:off x="7203233" y="2873829"/>
            <a:ext cx="662473" cy="1352938"/>
          </a:xfrm>
          <a:custGeom>
            <a:avLst/>
            <a:gdLst>
              <a:gd name="connsiteX0" fmla="*/ 0 w 662473"/>
              <a:gd name="connsiteY0" fmla="*/ 1352938 h 1352938"/>
              <a:gd name="connsiteX1" fmla="*/ 354563 w 662473"/>
              <a:gd name="connsiteY1" fmla="*/ 363893 h 1352938"/>
              <a:gd name="connsiteX2" fmla="*/ 662473 w 662473"/>
              <a:gd name="connsiteY2" fmla="*/ 0 h 135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473" h="1352938">
                <a:moveTo>
                  <a:pt x="0" y="1352938"/>
                </a:moveTo>
                <a:cubicBezTo>
                  <a:pt x="122075" y="971160"/>
                  <a:pt x="244151" y="589383"/>
                  <a:pt x="354563" y="363893"/>
                </a:cubicBezTo>
                <a:cubicBezTo>
                  <a:pt x="464975" y="138403"/>
                  <a:pt x="563724" y="69201"/>
                  <a:pt x="662473" y="0"/>
                </a:cubicBezTo>
              </a:path>
            </a:pathLst>
          </a:custGeom>
          <a:noFill/>
          <a:ln w="28575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4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Breadth-First vs. Depth-First Search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Use Breadth-First Search for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Shortest path</a:t>
            </a:r>
            <a:r>
              <a:rPr lang="en-US" altLang="en-US" sz="2400" dirty="0"/>
              <a:t> from a source to a target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Slow, but guaranteed shortest path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Our example: 20-node tree, 6-node shortest path from </a:t>
            </a:r>
            <a:r>
              <a:rPr lang="en-US" altLang="en-US" sz="2000" dirty="0">
                <a:solidFill>
                  <a:srgbClr val="FF0000"/>
                </a:solidFill>
              </a:rPr>
              <a:t>Me</a:t>
            </a:r>
            <a:r>
              <a:rPr lang="en-US" altLang="en-US" sz="2000" dirty="0"/>
              <a:t> to </a:t>
            </a:r>
            <a:r>
              <a:rPr lang="en-US" altLang="en-US" sz="2000" dirty="0">
                <a:solidFill>
                  <a:srgbClr val="FF0000"/>
                </a:solidFill>
              </a:rPr>
              <a:t>Ed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Use Depth-First Search for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Rapid search</a:t>
            </a:r>
            <a:r>
              <a:rPr lang="en-US" altLang="en-US" sz="2400" dirty="0"/>
              <a:t> from a source to a target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Likely </a:t>
            </a:r>
            <a:r>
              <a:rPr lang="en-US" altLang="en-US" sz="2000" i="1" dirty="0"/>
              <a:t>not</a:t>
            </a:r>
            <a:r>
              <a:rPr lang="en-US" altLang="en-US" sz="2000" dirty="0"/>
              <a:t> to be the shortest path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i="1" dirty="0"/>
              <a:t>On average</a:t>
            </a:r>
            <a:r>
              <a:rPr lang="en-US" altLang="en-US" sz="2000" dirty="0"/>
              <a:t>, visits fewer nodes than BFS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Our example: 9-node tree to find a path from </a:t>
            </a:r>
            <a:r>
              <a:rPr lang="en-US" altLang="en-US" sz="2000" dirty="0">
                <a:solidFill>
                  <a:srgbClr val="FF0000"/>
                </a:solidFill>
              </a:rPr>
              <a:t>Me</a:t>
            </a:r>
            <a:r>
              <a:rPr lang="en-US" altLang="en-US" sz="2000" dirty="0"/>
              <a:t> to </a:t>
            </a:r>
            <a:r>
              <a:rPr lang="en-US" altLang="en-US" sz="2000" dirty="0">
                <a:solidFill>
                  <a:srgbClr val="FF0000"/>
                </a:solidFill>
              </a:rPr>
              <a:t>Ed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Either okay for connected components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C1B4E1-0867-44C5-BF65-9B88F74101A8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64492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Fibonacci Numbers Again!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We have seen three ways to compute the Nth Fibonacci number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Iterative: O(N)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Recursive: O(exponential)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Recursive with </a:t>
            </a:r>
            <a:r>
              <a:rPr lang="en-US" altLang="en-US" sz="2400" i="1" dirty="0" err="1"/>
              <a:t>memoization</a:t>
            </a:r>
            <a:r>
              <a:rPr lang="en-US" altLang="en-US" sz="2400" dirty="0"/>
              <a:t>: O(N)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Can we do better?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A </a:t>
            </a:r>
            <a:r>
              <a:rPr lang="en-US" altLang="en-US" sz="2400" i="1" dirty="0"/>
              <a:t>closed-form</a:t>
            </a:r>
            <a:r>
              <a:rPr lang="en-US" altLang="en-US" sz="2400" dirty="0"/>
              <a:t> solution?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Recall:  </a:t>
            </a:r>
            <a:r>
              <a:rPr lang="en-US" altLang="en-US" sz="2400" dirty="0">
                <a:solidFill>
                  <a:srgbClr val="FF0000"/>
                </a:solidFill>
              </a:rPr>
              <a:t>1 + 2 + 3 + … + n = n(n + 1)/2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E5FAEB-6547-462C-9AE5-6F4E058BAAAC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45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Fibonacci Numbers Again!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800" dirty="0"/>
                  <a:t>The definition is:</a:t>
                </a: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endParaRPr lang="en-US" altLang="en-US" sz="1000" dirty="0"/>
              </a:p>
              <a:p>
                <a:pPr marL="457200" lvl="1" indent="0" eaLnBrk="1" hangingPunct="1">
                  <a:spcBef>
                    <a:spcPts val="0"/>
                  </a:spcBef>
                  <a:buNone/>
                </a:pPr>
                <a:r>
                  <a:rPr lang="en-US" altLang="en-US" sz="2400" dirty="0"/>
                  <a:t>F</a:t>
                </a:r>
                <a:r>
                  <a:rPr lang="en-US" altLang="en-US" sz="2400" baseline="-25000" dirty="0"/>
                  <a:t>0</a:t>
                </a:r>
                <a:r>
                  <a:rPr lang="en-US" altLang="en-US" sz="2400" dirty="0"/>
                  <a:t> = 0</a:t>
                </a:r>
              </a:p>
              <a:p>
                <a:pPr marL="457200" lvl="1" indent="0" eaLnBrk="1" hangingPunct="1">
                  <a:spcBef>
                    <a:spcPts val="0"/>
                  </a:spcBef>
                  <a:buNone/>
                </a:pPr>
                <a:r>
                  <a:rPr lang="en-US" altLang="en-US" sz="2400" dirty="0"/>
                  <a:t>F</a:t>
                </a:r>
                <a:r>
                  <a:rPr lang="en-US" altLang="en-US" sz="2400" baseline="-25000" dirty="0"/>
                  <a:t>1</a:t>
                </a:r>
                <a:r>
                  <a:rPr lang="en-US" altLang="en-US" sz="2400" dirty="0"/>
                  <a:t> = 1</a:t>
                </a:r>
              </a:p>
              <a:p>
                <a:pPr marL="457200" lvl="1" indent="0" eaLnBrk="1" hangingPunct="1">
                  <a:spcBef>
                    <a:spcPts val="0"/>
                  </a:spcBef>
                  <a:buNone/>
                </a:pPr>
                <a:r>
                  <a:rPr lang="en-US" altLang="en-US" sz="2400" dirty="0"/>
                  <a:t>F</a:t>
                </a:r>
                <a:r>
                  <a:rPr lang="en-US" altLang="en-US" sz="2400" baseline="-25000" dirty="0"/>
                  <a:t>n+1</a:t>
                </a:r>
                <a:r>
                  <a:rPr lang="en-US" altLang="en-US" sz="2400" dirty="0"/>
                  <a:t> = </a:t>
                </a:r>
                <a:r>
                  <a:rPr lang="en-US" altLang="en-US" sz="2400" dirty="0" err="1"/>
                  <a:t>F</a:t>
                </a:r>
                <a:r>
                  <a:rPr lang="en-US" altLang="en-US" sz="2400" baseline="-25000" dirty="0" err="1"/>
                  <a:t>n</a:t>
                </a:r>
                <a:r>
                  <a:rPr lang="en-US" altLang="en-US" sz="2400" dirty="0"/>
                  <a:t> + F</a:t>
                </a:r>
                <a:r>
                  <a:rPr lang="en-US" altLang="en-US" sz="2400" baseline="-25000" dirty="0"/>
                  <a:t>n-1		</a:t>
                </a:r>
                <a:r>
                  <a:rPr lang="en-US" altLang="en-US" sz="2400" dirty="0"/>
                  <a:t>for n &gt;= 1</a:t>
                </a: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endParaRPr lang="en-US" altLang="en-US" sz="1200" dirty="0"/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800" dirty="0"/>
                  <a:t>In matrix form, we can write: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1200" dirty="0"/>
              </a:p>
              <a:p>
                <a:pPr marL="0" indent="0" eaLnBrk="1" hangingPunct="1">
                  <a:lnSpc>
                    <a:spcPts val="2200"/>
                  </a:lnSpc>
                  <a:spcBef>
                    <a:spcPts val="0"/>
                  </a:spcBef>
                  <a:buNone/>
                </a:pPr>
                <a:endParaRPr lang="en-US" altLang="en-US" sz="2000" baseline="-25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eaLnBrk="1" hangingPunct="1">
                  <a:lnSpc>
                    <a:spcPts val="22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𝐹</m:t>
                                </m:r>
                                <m:r>
                                  <a:rPr lang="en-US" altLang="en-US" sz="2000" i="1" baseline="-25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𝑛</m:t>
                                </m:r>
                                <m:r>
                                  <a:rPr lang="en-US" altLang="en-US" sz="2000" b="0" i="1" baseline="-25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+1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𝐹</m:t>
                                      </m:r>
                                      <m:r>
                                        <a:rPr lang="en-US" altLang="en-US" sz="2000" i="1" baseline="-25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𝑛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𝐹</m:t>
                                </m:r>
                                <m:r>
                                  <a:rPr lang="en-US" altLang="en-US" sz="2000" b="0" i="1" baseline="-25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𝐹</m:t>
                                      </m:r>
                                      <m:r>
                                        <a:rPr lang="en-US" altLang="en-US" sz="2000" i="1" baseline="-25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𝑛</m:t>
                                      </m:r>
                                      <m:r>
                                        <a:rPr lang="en-US" altLang="en-US" sz="2000" b="0" i="1" baseline="-25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eaLnBrk="1" hangingPunct="1">
                  <a:lnSpc>
                    <a:spcPts val="2200"/>
                  </a:lnSpc>
                  <a:spcBef>
                    <a:spcPts val="0"/>
                  </a:spcBef>
                  <a:buNone/>
                </a:pPr>
                <a:endParaRPr lang="en-US" altLang="en-US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eaLnBrk="1" hangingPunct="1">
                  <a:lnSpc>
                    <a:spcPts val="2200"/>
                  </a:lnSpc>
                  <a:spcBef>
                    <a:spcPts val="0"/>
                  </a:spcBef>
                  <a:buNone/>
                </a:pPr>
                <a:endParaRPr lang="en-US" altLang="en-US" sz="2000" i="1" dirty="0">
                  <a:latin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0" indent="0" eaLnBrk="1" hangingPunct="1">
                  <a:lnSpc>
                    <a:spcPts val="22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0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𝐹</m:t>
                                </m:r>
                                <m:r>
                                  <a:rPr lang="en-US" altLang="en-US" sz="2000" i="1" baseline="-25000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𝑛</m:t>
                                </m:r>
                                <m:r>
                                  <a:rPr lang="en-US" altLang="en-US" sz="2000" i="1" baseline="-25000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+1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𝐹</m:t>
                                      </m:r>
                                      <m:r>
                                        <a:rPr lang="en-US" altLang="en-US" sz="2000" i="1" baseline="-25000"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𝑛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en-US" sz="2000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0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000" b="0" i="1" baseline="90000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en-US" sz="2000" i="1" smtClean="0"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en-US" sz="2000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altLang="en-US" sz="2000" b="1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𝑨</m:t>
                      </m:r>
                      <m:r>
                        <a:rPr lang="en-US" altLang="en-US" sz="2000" i="1" baseline="7000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0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 eaLnBrk="1" hangingPunct="1">
                  <a:lnSpc>
                    <a:spcPts val="2200"/>
                  </a:lnSpc>
                  <a:spcBef>
                    <a:spcPts val="0"/>
                  </a:spcBef>
                  <a:buNone/>
                </a:pPr>
                <a:endParaRPr lang="en-US" altLang="en-US" sz="20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4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314" t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E5FAEB-6547-462C-9AE5-6F4E058BAAAC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9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Fibonacci Numbers Again!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800" dirty="0"/>
                  <a:t>Solving for the eigenvalues and eigenvectors of </a:t>
                </a:r>
                <a:r>
                  <a:rPr lang="en-US" altLang="en-US" sz="2800" b="1" dirty="0"/>
                  <a:t>A</a:t>
                </a:r>
                <a:r>
                  <a:rPr lang="en-US" altLang="en-US" sz="2800" dirty="0"/>
                  <a:t>, this ultimately leads to the closed-form solution: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1200" dirty="0"/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r>
                  <a:rPr lang="en-US" altLang="en-US" sz="28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sz="2800" i="1" baseline="-250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28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en-US" sz="2800" i="1" baseline="90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nor/>
                      </m:rPr>
                      <a:rPr lang="en-US" altLang="en-US" sz="2800" dirty="0"/>
                      <m:t> </m:t>
                    </m:r>
                    <m:d>
                      <m:dPr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28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en-US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en-US" sz="2800" i="1" baseline="90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en-US" sz="2800" dirty="0"/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2800" dirty="0"/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800" dirty="0"/>
                  <a:t>This is an O(1) "algorithm"!</a:t>
                </a:r>
              </a:p>
              <a:p>
                <a:pPr lvl="1" eaLnBrk="1" hangingPunct="1">
                  <a:spcBef>
                    <a:spcPts val="0"/>
                  </a:spcBef>
                </a:pPr>
                <a:r>
                  <a:rPr lang="en-US" altLang="en-US" sz="2400" i="1" dirty="0">
                    <a:solidFill>
                      <a:srgbClr val="FF0000"/>
                    </a:solidFill>
                  </a:rPr>
                  <a:t>Can we do better?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2800" dirty="0"/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endParaRPr lang="en-US" altLang="en-US" sz="1200" dirty="0"/>
              </a:p>
            </p:txBody>
          </p:sp>
        </mc:Choice>
        <mc:Fallback xmlns="">
          <p:sp>
            <p:nvSpPr>
              <p:cNvPr id="24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314" t="-1630" r="-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E5FAEB-6547-462C-9AE5-6F4E058BAAAC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3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Fibonacci Numbers Again!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Sometimes, even an analytical formula is too slow, or not precise enough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Our </a:t>
            </a:r>
            <a:r>
              <a:rPr lang="en-US" altLang="en-US" sz="2400" dirty="0" err="1"/>
              <a:t>F</a:t>
            </a:r>
            <a:r>
              <a:rPr lang="en-US" altLang="en-US" sz="2400" baseline="-25000" dirty="0" err="1"/>
              <a:t>n</a:t>
            </a:r>
            <a:r>
              <a:rPr lang="en-US" altLang="en-US" sz="2400" dirty="0"/>
              <a:t> formula is computed as a </a:t>
            </a:r>
            <a:r>
              <a:rPr lang="en-US" altLang="en-US" sz="2400" b="1" dirty="0"/>
              <a:t>float</a:t>
            </a:r>
            <a:r>
              <a:rPr lang="en-US" altLang="en-US" sz="2400" dirty="0"/>
              <a:t> in Python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Restricted range of values</a:t>
            </a: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In that case, use a </a:t>
            </a:r>
            <a:r>
              <a:rPr lang="en-US" altLang="en-US" sz="2800" i="1" dirty="0"/>
              <a:t>lookup table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Need Fibonacci numbers up to N = 10,000?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Compute in advance and store in memory!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An even faster O(1) "algorithm"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E5FAEB-6547-462C-9AE5-6F4E058BAAAC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8664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49350</TotalTime>
  <Words>1425</Words>
  <Application>Microsoft Office PowerPoint</Application>
  <PresentationFormat>On-screen Show (4:3)</PresentationFormat>
  <Paragraphs>267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Cambria Math</vt:lpstr>
      <vt:lpstr>Courier New</vt:lpstr>
      <vt:lpstr>Tahoma</vt:lpstr>
      <vt:lpstr>Times New Roman</vt:lpstr>
      <vt:lpstr>Wingdings</vt:lpstr>
      <vt:lpstr>Blends</vt:lpstr>
      <vt:lpstr>MSCF Programming Prep 46-900</vt:lpstr>
      <vt:lpstr>The Graph of Friends</vt:lpstr>
      <vt:lpstr>Depth-First Search</vt:lpstr>
      <vt:lpstr>Depth-First Search Algorithm</vt:lpstr>
      <vt:lpstr>DFS Branch 1, Level 1</vt:lpstr>
      <vt:lpstr>DFS Branch 1, To 1st Backtrack</vt:lpstr>
      <vt:lpstr>DFS Branch 1, To 2nd Backtrack</vt:lpstr>
      <vt:lpstr>DFS Connected Component, Root == 'Me'</vt:lpstr>
      <vt:lpstr>Depth-First Search Trees</vt:lpstr>
      <vt:lpstr>Connected Components</vt:lpstr>
      <vt:lpstr>Breadth-First vs. Depth-First Search</vt:lpstr>
      <vt:lpstr>Fibonacci Numbers Again!</vt:lpstr>
      <vt:lpstr>Fibonacci Numbers Again! (cont.)</vt:lpstr>
      <vt:lpstr>Fibonacci Numbers Again! (cont.)</vt:lpstr>
      <vt:lpstr>Fibonacci Numbers Again! (cont.)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767</cp:revision>
  <cp:lastPrinted>2020-08-20T19:44:40Z</cp:lastPrinted>
  <dcterms:created xsi:type="dcterms:W3CDTF">2003-08-31T19:53:38Z</dcterms:created>
  <dcterms:modified xsi:type="dcterms:W3CDTF">2021-08-09T13:22:04Z</dcterms:modified>
</cp:coreProperties>
</file>
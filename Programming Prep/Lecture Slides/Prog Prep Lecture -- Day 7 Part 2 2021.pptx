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7"/>
  </p:notesMasterIdLst>
  <p:sldIdLst>
    <p:sldId id="257" r:id="rId2"/>
    <p:sldId id="341" r:id="rId3"/>
    <p:sldId id="342" r:id="rId4"/>
    <p:sldId id="343" r:id="rId5"/>
    <p:sldId id="344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54" r:id="rId1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1" autoAdjust="0"/>
    <p:restoredTop sz="95638" autoAdjust="0"/>
  </p:normalViewPr>
  <p:slideViewPr>
    <p:cSldViewPr>
      <p:cViewPr varScale="1">
        <p:scale>
          <a:sx n="168" d="100"/>
          <a:sy n="168" d="100"/>
        </p:scale>
        <p:origin x="1620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9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406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5" tIns="48317" rIns="96635" bIns="483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8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5" tIns="48317" rIns="96635" bIns="483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5" tIns="48317" rIns="96635" bIns="483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5" tIns="48317" rIns="96635" bIns="4831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8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5" tIns="48317" rIns="96635" bIns="4831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C3966094-34ED-42CC-B0A0-81B4FC9F4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00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155" indent="-301983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7931" indent="-241588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103" indent="-241588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276" indent="-241588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449" indent="-24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621" indent="-24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3793" indent="-24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6965" indent="-24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C77F19E-6305-42C9-846D-8F6E264C89DD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606314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843764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280954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761976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126441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247760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449695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017994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3505518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806959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580482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621166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4230198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282398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8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8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28494AD-077F-403E-B6ED-FFDE3DD5150F}" type="datetime1">
              <a:rPr lang="en-US" smtClean="0"/>
              <a:t>8/16/2021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239B93A-74DE-4B25-B352-2D94A7B0E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7C0555-545D-4D94-9755-26C3A771C180}" type="datetime1">
              <a:rPr lang="en-US" smtClean="0"/>
              <a:t>8/16/2021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676BE-5AF2-4172-BD19-31A2F83EF2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3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198EE-4050-425E-B1CC-FD6001605AB7}" type="datetime1">
              <a:rPr lang="en-US" smtClean="0"/>
              <a:t>8/16/2021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41145-DF2F-4F5F-87FB-6F34B812B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7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F0234-C13D-4F58-B8C6-FCE5CC4B4254}" type="datetime1">
              <a:rPr lang="en-US" smtClean="0"/>
              <a:t>8/16/2021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359A0-D876-470E-A03B-B54B4EF9A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3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2A50A0-95D4-410C-866B-D500A5F625AA}" type="datetime1">
              <a:rPr lang="en-US" smtClean="0"/>
              <a:t>8/16/2021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5BDD2-431D-4473-B6F1-AD9C47ED04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2EBAB2-AD3A-4343-8DC6-7F3336536B52}" type="datetime1">
              <a:rPr lang="en-US" smtClean="0"/>
              <a:t>8/16/2021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0419-96C4-40C9-AA2D-27D42EB4E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377A9E-EA30-4913-A62D-FC98A75ADE71}" type="datetime1">
              <a:rPr lang="en-US" smtClean="0"/>
              <a:t>8/16/2021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62B98-9A01-4C44-BDC6-515C05E58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4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87510-EEF8-43BF-80E5-C102E8BE6E83}" type="datetime1">
              <a:rPr lang="en-US" smtClean="0"/>
              <a:t>8/16/2021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D8208-D527-49A2-9034-D654B1EF2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586366-5996-40FA-AE27-C1863AFF8876}" type="datetime1">
              <a:rPr lang="en-US" smtClean="0"/>
              <a:t>8/16/2021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69637-7F5D-47B5-84F3-031C50CD8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02965-1238-437F-9FE0-70BB7C918DF0}" type="datetime1">
              <a:rPr lang="en-US" smtClean="0"/>
              <a:t>8/16/2021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F3A7A-80FC-4CCB-802A-CD06628E14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6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589C11-A7B8-4715-9D02-56F4C0A74966}" type="datetime1">
              <a:rPr lang="en-US" smtClean="0"/>
              <a:t>8/16/2021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F157A-85D2-470A-87E4-A935A04F8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7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E974907A-014B-4227-B6F4-19C903592FA2}" type="datetime1">
              <a:rPr lang="en-US" smtClean="0"/>
              <a:t>8/16/2021</a:t>
            </a:fld>
            <a:endParaRPr lang="en-US"/>
          </a:p>
        </p:txBody>
      </p:sp>
      <p:sp>
        <p:nvSpPr>
          <p:cNvPr id="137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137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6BFBACB-D4B5-4FCB-958C-A311D48A1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MSCF Programming Prep</a:t>
            </a:r>
            <a:br>
              <a:rPr lang="en-US" altLang="en-US" dirty="0"/>
            </a:br>
            <a:r>
              <a:rPr lang="en-US" altLang="en-US" dirty="0"/>
              <a:t>46-900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209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dirty="0"/>
              <a:t>MSCF, Carnegie Mellon University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Day 7, Part 2: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Heaps,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Priority Queues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6DDA00-F93B-453B-86A8-328F05597EF6}" type="datetime1">
              <a:rPr lang="en-US" smtClean="0"/>
              <a:t>8/16/2021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Copyright (c) John K. Ostlund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6CEA7-82DF-4E8D-A6C5-BE060327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39B93A-74DE-4B25-B352-2D94A7B0ECE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Heaps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A </a:t>
            </a:r>
            <a:r>
              <a:rPr lang="en-US" altLang="en-US" sz="2400" b="1" i="1" dirty="0">
                <a:solidFill>
                  <a:srgbClr val="FF0000"/>
                </a:solidFill>
              </a:rPr>
              <a:t>heap</a:t>
            </a:r>
            <a:r>
              <a:rPr lang="en-US" altLang="en-US" sz="2400" dirty="0"/>
              <a:t> stores values in order, but </a:t>
            </a:r>
            <a:r>
              <a:rPr lang="en-US" altLang="en-US" sz="2400" b="1" i="1" dirty="0"/>
              <a:t>not</a:t>
            </a:r>
            <a:r>
              <a:rPr lang="en-US" altLang="en-US" sz="2400" dirty="0"/>
              <a:t> in the same way as in a binary search tree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Ordering is from </a:t>
            </a:r>
            <a:r>
              <a:rPr lang="en-US" altLang="en-US" sz="2000" i="1" dirty="0">
                <a:solidFill>
                  <a:srgbClr val="FF0000"/>
                </a:solidFill>
              </a:rPr>
              <a:t>top to bottom</a:t>
            </a:r>
            <a:r>
              <a:rPr lang="en-US" altLang="en-US" sz="2000" dirty="0"/>
              <a:t>, not left to right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At a given node, the node's direct children are ordered the same way with respect to the node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But have no ordering relative to each other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In a </a:t>
            </a:r>
            <a:r>
              <a:rPr lang="en-US" altLang="en-US" sz="2400" b="1" i="1" dirty="0">
                <a:solidFill>
                  <a:srgbClr val="FF0000"/>
                </a:solidFill>
              </a:rPr>
              <a:t>min heap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/>
              <a:t>a given node's direct children are both </a:t>
            </a:r>
            <a:r>
              <a:rPr lang="en-US" altLang="en-US" sz="2400" b="1" dirty="0"/>
              <a:t>&gt;=</a:t>
            </a:r>
            <a:r>
              <a:rPr lang="en-US" altLang="en-US" sz="2400" dirty="0"/>
              <a:t> the node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In a </a:t>
            </a:r>
            <a:r>
              <a:rPr lang="en-US" altLang="en-US" sz="2000" b="1" i="1" dirty="0">
                <a:solidFill>
                  <a:srgbClr val="FF0000"/>
                </a:solidFill>
              </a:rPr>
              <a:t>max heap</a:t>
            </a:r>
            <a:r>
              <a:rPr lang="en-US" altLang="en-US" sz="2000" dirty="0"/>
              <a:t>, children are </a:t>
            </a:r>
            <a:r>
              <a:rPr lang="en-US" altLang="en-US" sz="2000" b="1" dirty="0"/>
              <a:t>&lt;=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45DDCF-BA4F-4DA5-B4E7-F3305DC550E1}" type="datetime1">
              <a:rPr lang="en-US" smtClean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</p:spTree>
    <p:extLst>
      <p:ext uri="{BB962C8B-B14F-4D97-AF65-F5344CB8AC3E}">
        <p14:creationId xmlns:p14="http://schemas.microsoft.com/office/powerpoint/2010/main" val="1264591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Heap Examples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en-US" sz="2400" dirty="0"/>
              <a:t>     min heap			         max heap</a:t>
            </a:r>
          </a:p>
          <a:p>
            <a:pPr marL="0" indent="0" eaLnBrk="1" hangingPunct="1">
              <a:lnSpc>
                <a:spcPct val="90000"/>
              </a:lnSpc>
              <a:spcBef>
                <a:spcPts val="3600"/>
              </a:spcBef>
              <a:buNone/>
              <a:defRPr/>
            </a:pPr>
            <a:r>
              <a:rPr lang="en-US" altLang="en-US" sz="1800" dirty="0"/>
              <a:t>             5                                                         93</a:t>
            </a:r>
          </a:p>
          <a:p>
            <a:pPr marL="0" indent="0" eaLnBrk="1" hangingPunct="1">
              <a:lnSpc>
                <a:spcPct val="90000"/>
              </a:lnSpc>
              <a:spcBef>
                <a:spcPts val="3600"/>
              </a:spcBef>
              <a:buNone/>
              <a:defRPr/>
            </a:pPr>
            <a:r>
              <a:rPr lang="en-US" altLang="en-US" sz="1800" dirty="0"/>
              <a:t>       9           7                               80                37                      7</a:t>
            </a:r>
          </a:p>
          <a:p>
            <a:pPr marL="0" indent="0" eaLnBrk="1" hangingPunct="1">
              <a:lnSpc>
                <a:spcPct val="90000"/>
              </a:lnSpc>
              <a:spcBef>
                <a:spcPts val="3600"/>
              </a:spcBef>
              <a:buNone/>
              <a:defRPr/>
            </a:pPr>
            <a:r>
              <a:rPr lang="en-US" altLang="en-US" sz="1800" dirty="0"/>
              <a:t>   10   12                                60             21       34         -7       5      -5</a:t>
            </a:r>
          </a:p>
          <a:p>
            <a:pPr marL="0" indent="0" eaLnBrk="1" hangingPunct="1">
              <a:lnSpc>
                <a:spcPct val="90000"/>
              </a:lnSpc>
              <a:spcBef>
                <a:spcPts val="3600"/>
              </a:spcBef>
              <a:buNone/>
              <a:defRPr/>
            </a:pPr>
            <a:r>
              <a:rPr lang="en-US" altLang="en-US" sz="1800" dirty="0"/>
              <a:t>                                                              9    21  -1  18   -9  -13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6" name="Date Placeholder 5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613DFF-54D1-4424-9617-8987CF1040CF}" type="datetime1">
              <a:rPr lang="en-US" smtClean="0"/>
              <a:t>8/16/2021</a:t>
            </a:fld>
            <a:endParaRPr lang="en-US"/>
          </a:p>
        </p:txBody>
      </p:sp>
      <p:sp>
        <p:nvSpPr>
          <p:cNvPr id="57" name="Footer Placeholder 5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0FE7171E-F0C0-499F-BC9E-F4E8B992F30E}"/>
              </a:ext>
            </a:extLst>
          </p:cNvPr>
          <p:cNvSpPr/>
          <p:nvPr/>
        </p:nvSpPr>
        <p:spPr bwMode="auto">
          <a:xfrm>
            <a:off x="2071024" y="2768939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BFE1FF0F-CDF0-4986-914D-003B3879DB38}"/>
              </a:ext>
            </a:extLst>
          </p:cNvPr>
          <p:cNvSpPr/>
          <p:nvPr/>
        </p:nvSpPr>
        <p:spPr bwMode="auto">
          <a:xfrm>
            <a:off x="1648140" y="3447168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3E6553B2-CD6D-4FED-84ED-6477B2AF1399}"/>
              </a:ext>
            </a:extLst>
          </p:cNvPr>
          <p:cNvSpPr/>
          <p:nvPr/>
        </p:nvSpPr>
        <p:spPr bwMode="auto">
          <a:xfrm>
            <a:off x="2569607" y="3448173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48FA1824-BEB1-4154-8ABF-F2094EA6A987}"/>
              </a:ext>
            </a:extLst>
          </p:cNvPr>
          <p:cNvSpPr/>
          <p:nvPr/>
        </p:nvSpPr>
        <p:spPr bwMode="auto">
          <a:xfrm>
            <a:off x="4962587" y="3449178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B1747B78-01F9-44E9-A23E-4C0C115DD71E}"/>
              </a:ext>
            </a:extLst>
          </p:cNvPr>
          <p:cNvSpPr/>
          <p:nvPr/>
        </p:nvSpPr>
        <p:spPr bwMode="auto">
          <a:xfrm>
            <a:off x="6347292" y="2769947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D7A7496F-305C-4A7C-AD2B-0A67752ABD8F}"/>
              </a:ext>
            </a:extLst>
          </p:cNvPr>
          <p:cNvSpPr/>
          <p:nvPr/>
        </p:nvSpPr>
        <p:spPr bwMode="auto">
          <a:xfrm>
            <a:off x="6350331" y="3456242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E09CCB31-4286-438D-8D22-27969D8DD66F}"/>
              </a:ext>
            </a:extLst>
          </p:cNvPr>
          <p:cNvSpPr/>
          <p:nvPr/>
        </p:nvSpPr>
        <p:spPr bwMode="auto">
          <a:xfrm>
            <a:off x="8119589" y="3451193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CE1D2D77-6451-41AE-8921-97FDAFC683D9}"/>
              </a:ext>
            </a:extLst>
          </p:cNvPr>
          <p:cNvSpPr/>
          <p:nvPr/>
        </p:nvSpPr>
        <p:spPr bwMode="auto">
          <a:xfrm>
            <a:off x="1433165" y="4144582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D8194F2C-D2A6-4DDA-A06F-DB958B45FB06}"/>
              </a:ext>
            </a:extLst>
          </p:cNvPr>
          <p:cNvSpPr/>
          <p:nvPr/>
        </p:nvSpPr>
        <p:spPr bwMode="auto">
          <a:xfrm>
            <a:off x="1900456" y="4139534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09CE2463-F97D-426D-9F91-CA0A56C11179}"/>
              </a:ext>
            </a:extLst>
          </p:cNvPr>
          <p:cNvSpPr/>
          <p:nvPr/>
        </p:nvSpPr>
        <p:spPr bwMode="auto">
          <a:xfrm>
            <a:off x="4420607" y="4140542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90DBD3A1-56C7-46FF-AB61-1071A1B43D46}"/>
              </a:ext>
            </a:extLst>
          </p:cNvPr>
          <p:cNvSpPr/>
          <p:nvPr/>
        </p:nvSpPr>
        <p:spPr bwMode="auto">
          <a:xfrm>
            <a:off x="5596407" y="4141543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D4689BC5-9FBF-4829-B623-D39A3F18B002}"/>
              </a:ext>
            </a:extLst>
          </p:cNvPr>
          <p:cNvSpPr/>
          <p:nvPr/>
        </p:nvSpPr>
        <p:spPr bwMode="auto">
          <a:xfrm>
            <a:off x="6360424" y="4142550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B2B946A9-6452-4061-8AC5-E80145755778}"/>
              </a:ext>
            </a:extLst>
          </p:cNvPr>
          <p:cNvSpPr/>
          <p:nvPr/>
        </p:nvSpPr>
        <p:spPr bwMode="auto">
          <a:xfrm>
            <a:off x="7233446" y="4143558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859EAB54-C54E-457A-AF2F-E9DC6FC3BA19}"/>
              </a:ext>
            </a:extLst>
          </p:cNvPr>
          <p:cNvSpPr/>
          <p:nvPr/>
        </p:nvSpPr>
        <p:spPr bwMode="auto">
          <a:xfrm>
            <a:off x="7900576" y="4144564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393F746B-08A0-4187-B156-75A2593EEA69}"/>
              </a:ext>
            </a:extLst>
          </p:cNvPr>
          <p:cNvSpPr/>
          <p:nvPr/>
        </p:nvSpPr>
        <p:spPr bwMode="auto">
          <a:xfrm>
            <a:off x="8513205" y="4139516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EE5A30A1-DA0A-48FD-A89B-0B0221371DBB}"/>
              </a:ext>
            </a:extLst>
          </p:cNvPr>
          <p:cNvSpPr/>
          <p:nvPr/>
        </p:nvSpPr>
        <p:spPr bwMode="auto">
          <a:xfrm>
            <a:off x="5592281" y="4867200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4AF34DBB-E3AD-4144-BA58-B62A61E10E21}"/>
              </a:ext>
            </a:extLst>
          </p:cNvPr>
          <p:cNvSpPr/>
          <p:nvPr/>
        </p:nvSpPr>
        <p:spPr bwMode="auto">
          <a:xfrm>
            <a:off x="6041408" y="4868207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A67F6E60-98C7-4915-BC3A-1DB7050EAB7E}"/>
              </a:ext>
            </a:extLst>
          </p:cNvPr>
          <p:cNvSpPr/>
          <p:nvPr/>
        </p:nvSpPr>
        <p:spPr bwMode="auto">
          <a:xfrm>
            <a:off x="6442094" y="4869213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401C6B07-B97D-46CA-9387-EF7A37D6E26E}"/>
              </a:ext>
            </a:extLst>
          </p:cNvPr>
          <p:cNvSpPr/>
          <p:nvPr/>
        </p:nvSpPr>
        <p:spPr bwMode="auto">
          <a:xfrm>
            <a:off x="6830665" y="4876276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8D49CF73-2D6F-4761-AC64-1313F43B95EF}"/>
              </a:ext>
            </a:extLst>
          </p:cNvPr>
          <p:cNvSpPr/>
          <p:nvPr/>
        </p:nvSpPr>
        <p:spPr bwMode="auto">
          <a:xfrm>
            <a:off x="7267684" y="4871226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D01EAC88-B229-4878-B5B0-E4EFD42A5DB2}"/>
              </a:ext>
            </a:extLst>
          </p:cNvPr>
          <p:cNvSpPr/>
          <p:nvPr/>
        </p:nvSpPr>
        <p:spPr bwMode="auto">
          <a:xfrm>
            <a:off x="7656257" y="4866176"/>
            <a:ext cx="369394" cy="361824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A834FC-3B04-4DCD-BD41-D5E801C1B30F}"/>
              </a:ext>
            </a:extLst>
          </p:cNvPr>
          <p:cNvCxnSpPr/>
          <p:nvPr/>
        </p:nvCxnSpPr>
        <p:spPr bwMode="auto">
          <a:xfrm flipH="1">
            <a:off x="1943941" y="3130763"/>
            <a:ext cx="170609" cy="298237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ED04B22-1BB5-4787-934E-7CF923C32D27}"/>
              </a:ext>
            </a:extLst>
          </p:cNvPr>
          <p:cNvCxnSpPr>
            <a:cxnSpLocks/>
          </p:cNvCxnSpPr>
          <p:nvPr/>
        </p:nvCxnSpPr>
        <p:spPr bwMode="auto">
          <a:xfrm>
            <a:off x="2373807" y="3112341"/>
            <a:ext cx="266447" cy="334827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543DAF89-1819-40B5-AFE1-01A2034B41EC}"/>
              </a:ext>
            </a:extLst>
          </p:cNvPr>
          <p:cNvCxnSpPr/>
          <p:nvPr/>
        </p:nvCxnSpPr>
        <p:spPr bwMode="auto">
          <a:xfrm flipH="1">
            <a:off x="1603712" y="3815939"/>
            <a:ext cx="170609" cy="298237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7278FEB4-F46D-4AC5-85B5-98348E56D4E1}"/>
              </a:ext>
            </a:extLst>
          </p:cNvPr>
          <p:cNvCxnSpPr>
            <a:cxnSpLocks/>
          </p:cNvCxnSpPr>
          <p:nvPr/>
        </p:nvCxnSpPr>
        <p:spPr bwMode="auto">
          <a:xfrm>
            <a:off x="1884489" y="3804689"/>
            <a:ext cx="266447" cy="334827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2F55245-8A18-4699-B15B-C2D6528568CE}"/>
              </a:ext>
            </a:extLst>
          </p:cNvPr>
          <p:cNvCxnSpPr/>
          <p:nvPr/>
        </p:nvCxnSpPr>
        <p:spPr bwMode="auto">
          <a:xfrm>
            <a:off x="6531989" y="3130763"/>
            <a:ext cx="0" cy="298237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A56CE22-C198-4BD5-A5F6-8F54D5EEB990}"/>
              </a:ext>
            </a:extLst>
          </p:cNvPr>
          <p:cNvCxnSpPr/>
          <p:nvPr/>
        </p:nvCxnSpPr>
        <p:spPr bwMode="auto">
          <a:xfrm>
            <a:off x="6531989" y="3841279"/>
            <a:ext cx="0" cy="298237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CC882460-BCC0-46B2-BF80-09061E544EBC}"/>
              </a:ext>
            </a:extLst>
          </p:cNvPr>
          <p:cNvCxnSpPr/>
          <p:nvPr/>
        </p:nvCxnSpPr>
        <p:spPr bwMode="auto">
          <a:xfrm>
            <a:off x="7418143" y="4543715"/>
            <a:ext cx="0" cy="298237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A2157ACB-383E-48FA-962A-A46A505E4C31}"/>
              </a:ext>
            </a:extLst>
          </p:cNvPr>
          <p:cNvCxnSpPr/>
          <p:nvPr/>
        </p:nvCxnSpPr>
        <p:spPr bwMode="auto">
          <a:xfrm>
            <a:off x="5765873" y="4543714"/>
            <a:ext cx="0" cy="298237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6A8AD621-3649-427C-9832-D3BA0B40D9B3}"/>
              </a:ext>
            </a:extLst>
          </p:cNvPr>
          <p:cNvCxnSpPr>
            <a:cxnSpLocks/>
          </p:cNvCxnSpPr>
          <p:nvPr/>
        </p:nvCxnSpPr>
        <p:spPr bwMode="auto">
          <a:xfrm>
            <a:off x="6553200" y="4543713"/>
            <a:ext cx="0" cy="32246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C51AA896-014B-4AD1-805E-D67114552F3F}"/>
              </a:ext>
            </a:extLst>
          </p:cNvPr>
          <p:cNvCxnSpPr>
            <a:cxnSpLocks/>
          </p:cNvCxnSpPr>
          <p:nvPr/>
        </p:nvCxnSpPr>
        <p:spPr bwMode="auto">
          <a:xfrm flipH="1">
            <a:off x="6226105" y="4501340"/>
            <a:ext cx="215989" cy="34061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977314A5-0E20-49A3-A2FF-B3BC365E97E0}"/>
              </a:ext>
            </a:extLst>
          </p:cNvPr>
          <p:cNvCxnSpPr>
            <a:cxnSpLocks/>
          </p:cNvCxnSpPr>
          <p:nvPr/>
        </p:nvCxnSpPr>
        <p:spPr bwMode="auto">
          <a:xfrm flipH="1">
            <a:off x="8085273" y="3820091"/>
            <a:ext cx="156368" cy="294085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384739DB-DF1A-4346-8B68-D7FC51FA2B82}"/>
              </a:ext>
            </a:extLst>
          </p:cNvPr>
          <p:cNvCxnSpPr>
            <a:cxnSpLocks/>
          </p:cNvCxnSpPr>
          <p:nvPr/>
        </p:nvCxnSpPr>
        <p:spPr bwMode="auto">
          <a:xfrm>
            <a:off x="8444670" y="3804689"/>
            <a:ext cx="199181" cy="309487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7303E17B-E32E-4594-93A6-2D8F411EC4B7}"/>
              </a:ext>
            </a:extLst>
          </p:cNvPr>
          <p:cNvCxnSpPr>
            <a:cxnSpLocks/>
          </p:cNvCxnSpPr>
          <p:nvPr/>
        </p:nvCxnSpPr>
        <p:spPr bwMode="auto">
          <a:xfrm>
            <a:off x="7537487" y="4516901"/>
            <a:ext cx="231885" cy="325050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D35DBB2C-85FE-4277-BF3A-5EC69D227B70}"/>
              </a:ext>
            </a:extLst>
          </p:cNvPr>
          <p:cNvCxnSpPr>
            <a:cxnSpLocks/>
          </p:cNvCxnSpPr>
          <p:nvPr/>
        </p:nvCxnSpPr>
        <p:spPr bwMode="auto">
          <a:xfrm>
            <a:off x="6685162" y="4489228"/>
            <a:ext cx="310724" cy="376948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C359CB18-831A-4FF9-89F0-5C12527E0791}"/>
              </a:ext>
            </a:extLst>
          </p:cNvPr>
          <p:cNvCxnSpPr>
            <a:cxnSpLocks/>
          </p:cNvCxnSpPr>
          <p:nvPr/>
        </p:nvCxnSpPr>
        <p:spPr bwMode="auto">
          <a:xfrm flipH="1">
            <a:off x="4702283" y="3813017"/>
            <a:ext cx="303726" cy="326499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A45D7CB2-38DB-4763-9CF3-D803908A81F7}"/>
              </a:ext>
            </a:extLst>
          </p:cNvPr>
          <p:cNvCxnSpPr>
            <a:cxnSpLocks/>
          </p:cNvCxnSpPr>
          <p:nvPr/>
        </p:nvCxnSpPr>
        <p:spPr bwMode="auto">
          <a:xfrm flipH="1">
            <a:off x="5776978" y="3771013"/>
            <a:ext cx="594386" cy="34316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5923BDF0-89C9-4230-9EA3-EE67D64AE4BA}"/>
              </a:ext>
            </a:extLst>
          </p:cNvPr>
          <p:cNvCxnSpPr>
            <a:cxnSpLocks/>
          </p:cNvCxnSpPr>
          <p:nvPr/>
        </p:nvCxnSpPr>
        <p:spPr bwMode="auto">
          <a:xfrm flipH="1">
            <a:off x="5244175" y="3075709"/>
            <a:ext cx="1116084" cy="37083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FA01D74B-5625-4971-B718-31685E9BFE8D}"/>
              </a:ext>
            </a:extLst>
          </p:cNvPr>
          <p:cNvCxnSpPr>
            <a:cxnSpLocks/>
          </p:cNvCxnSpPr>
          <p:nvPr/>
        </p:nvCxnSpPr>
        <p:spPr bwMode="auto">
          <a:xfrm>
            <a:off x="6716686" y="3052522"/>
            <a:ext cx="1524955" cy="390520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23D8FD28-9125-4740-B321-BD87B40CCC18}"/>
              </a:ext>
            </a:extLst>
          </p:cNvPr>
          <p:cNvCxnSpPr>
            <a:cxnSpLocks/>
          </p:cNvCxnSpPr>
          <p:nvPr/>
        </p:nvCxnSpPr>
        <p:spPr bwMode="auto">
          <a:xfrm>
            <a:off x="6704638" y="3770958"/>
            <a:ext cx="646459" cy="351908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38645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Nearly Complete Binary Min Heap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In a </a:t>
            </a:r>
            <a:r>
              <a:rPr lang="en-US" altLang="en-US" sz="2400" b="1" i="1" dirty="0">
                <a:solidFill>
                  <a:srgbClr val="FF0000"/>
                </a:solidFill>
              </a:rPr>
              <a:t>binary heap</a:t>
            </a:r>
            <a:r>
              <a:rPr lang="en-US" altLang="en-US" sz="2400" dirty="0"/>
              <a:t>, each node has at most 2 direct children</a:t>
            </a:r>
            <a:endParaRPr lang="en-US" altLang="en-US" sz="2400" i="1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As we have seen, a </a:t>
            </a:r>
            <a:r>
              <a:rPr lang="en-US" altLang="en-US" sz="2400" b="1" i="1" dirty="0"/>
              <a:t>complete binary tree</a:t>
            </a:r>
            <a:r>
              <a:rPr lang="en-US" altLang="en-US" sz="2400" dirty="0"/>
              <a:t> of depth </a:t>
            </a:r>
            <a:r>
              <a:rPr lang="en-US" altLang="en-US" sz="2400" b="1" dirty="0"/>
              <a:t>D</a:t>
            </a:r>
            <a:r>
              <a:rPr lang="en-US" altLang="en-US" sz="2400" dirty="0"/>
              <a:t> has </a:t>
            </a:r>
            <a:r>
              <a:rPr lang="en-US" altLang="en-US" sz="2400" b="1" dirty="0"/>
              <a:t>2</a:t>
            </a:r>
            <a:r>
              <a:rPr lang="en-US" altLang="en-US" sz="2400" b="1" baseline="30000" dirty="0"/>
              <a:t>D</a:t>
            </a:r>
            <a:r>
              <a:rPr lang="en-US" altLang="en-US" sz="2400" b="1" dirty="0"/>
              <a:t> - 1</a:t>
            </a:r>
            <a:r>
              <a:rPr lang="en-US" altLang="en-US" sz="2400" dirty="0"/>
              <a:t> nodes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A </a:t>
            </a:r>
            <a:r>
              <a:rPr lang="en-US" altLang="en-US" sz="2400" b="1" i="1" dirty="0">
                <a:solidFill>
                  <a:srgbClr val="FF0000"/>
                </a:solidFill>
              </a:rPr>
              <a:t>nearly complete binary tree</a:t>
            </a:r>
            <a:r>
              <a:rPr lang="en-US" altLang="en-US" sz="2400" dirty="0"/>
              <a:t> of depth </a:t>
            </a:r>
            <a:r>
              <a:rPr lang="en-US" altLang="en-US" sz="2400" b="1" dirty="0"/>
              <a:t>D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Is complete at depth </a:t>
            </a:r>
            <a:r>
              <a:rPr lang="en-US" altLang="en-US" sz="2000" b="1" dirty="0"/>
              <a:t>D - 1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Has nodes filled in </a:t>
            </a:r>
            <a:r>
              <a:rPr lang="en-US" altLang="en-US" sz="2000" i="1" dirty="0">
                <a:solidFill>
                  <a:srgbClr val="FF0000"/>
                </a:solidFill>
              </a:rPr>
              <a:t>from the left</a:t>
            </a:r>
            <a:r>
              <a:rPr lang="en-US" altLang="en-US" sz="2000" dirty="0"/>
              <a:t> at depth </a:t>
            </a:r>
            <a:r>
              <a:rPr lang="en-US" altLang="en-US" sz="2000" b="1" dirty="0"/>
              <a:t>D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1400" b="1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/>
              <a:t>           </a:t>
            </a:r>
            <a:r>
              <a:rPr lang="en-US" altLang="en-US" sz="2000" i="1" dirty="0"/>
              <a:t>This:</a:t>
            </a:r>
            <a:r>
              <a:rPr lang="en-US" altLang="en-US" sz="2000" b="1" dirty="0"/>
              <a:t>                           </a:t>
            </a:r>
            <a:r>
              <a:rPr lang="en-US" altLang="en-US" sz="2000" i="1" dirty="0"/>
              <a:t>Not this: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ECBD7A-BCFD-4F53-9F64-4021D80C5C83}" type="datetime1">
              <a:rPr lang="en-US" smtClean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F7A820E-9AA6-410B-82F4-D6C200B0EA22}"/>
              </a:ext>
            </a:extLst>
          </p:cNvPr>
          <p:cNvGrpSpPr/>
          <p:nvPr/>
        </p:nvGrpSpPr>
        <p:grpSpPr>
          <a:xfrm>
            <a:off x="2797704" y="4796058"/>
            <a:ext cx="1322151" cy="1411983"/>
            <a:chOff x="1620892" y="4567464"/>
            <a:chExt cx="1505836" cy="173746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ABE3C60-B1DD-40DE-A2AA-4BA781B3EB30}"/>
                </a:ext>
              </a:extLst>
            </p:cNvPr>
            <p:cNvSpPr/>
            <p:nvPr/>
          </p:nvSpPr>
          <p:spPr bwMode="auto">
            <a:xfrm>
              <a:off x="2258751" y="4567464"/>
              <a:ext cx="369394" cy="361824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3E0F42F-859B-4073-9AD9-C9FD06E789FA}"/>
                </a:ext>
              </a:extLst>
            </p:cNvPr>
            <p:cNvSpPr/>
            <p:nvPr/>
          </p:nvSpPr>
          <p:spPr bwMode="auto">
            <a:xfrm>
              <a:off x="1835867" y="5245693"/>
              <a:ext cx="369394" cy="361824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3B31430-92F8-4DCC-91F8-EA7EAF76BBAA}"/>
                </a:ext>
              </a:extLst>
            </p:cNvPr>
            <p:cNvSpPr/>
            <p:nvPr/>
          </p:nvSpPr>
          <p:spPr bwMode="auto">
            <a:xfrm>
              <a:off x="2757334" y="5246698"/>
              <a:ext cx="369394" cy="361824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AA0F972-1BC6-45E8-9AC7-88A362EFB38E}"/>
                </a:ext>
              </a:extLst>
            </p:cNvPr>
            <p:cNvSpPr/>
            <p:nvPr/>
          </p:nvSpPr>
          <p:spPr bwMode="auto">
            <a:xfrm>
              <a:off x="1620892" y="5943107"/>
              <a:ext cx="369394" cy="361824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1DDE2C2-3403-4B7C-9633-6C29C524CE59}"/>
                </a:ext>
              </a:extLst>
            </p:cNvPr>
            <p:cNvSpPr/>
            <p:nvPr/>
          </p:nvSpPr>
          <p:spPr bwMode="auto">
            <a:xfrm>
              <a:off x="2088183" y="5938059"/>
              <a:ext cx="369394" cy="361824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2DAC56-90AD-41A6-87F6-ABD88A76860F}"/>
                </a:ext>
              </a:extLst>
            </p:cNvPr>
            <p:cNvCxnSpPr/>
            <p:nvPr/>
          </p:nvCxnSpPr>
          <p:spPr bwMode="auto">
            <a:xfrm flipH="1">
              <a:off x="2131668" y="4929288"/>
              <a:ext cx="170609" cy="298237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577312E-B422-4C1E-B77C-55206557A01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61534" y="4910866"/>
              <a:ext cx="266447" cy="334827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22CFBA3-03A6-4B5C-91A5-36D8FC438CF1}"/>
                </a:ext>
              </a:extLst>
            </p:cNvPr>
            <p:cNvCxnSpPr/>
            <p:nvPr/>
          </p:nvCxnSpPr>
          <p:spPr bwMode="auto">
            <a:xfrm flipH="1">
              <a:off x="1791439" y="5614464"/>
              <a:ext cx="170609" cy="298237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D9C517-3954-4009-A9EF-F0BA34E6444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72216" y="5603214"/>
              <a:ext cx="266447" cy="334827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673AA3-6688-4C25-B8DA-E3F3C5E692D2}"/>
                </a:ext>
              </a:extLst>
            </p:cNvPr>
            <p:cNvSpPr/>
            <p:nvPr/>
          </p:nvSpPr>
          <p:spPr bwMode="auto">
            <a:xfrm>
              <a:off x="2524191" y="5938060"/>
              <a:ext cx="369394" cy="361824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1E46862-EBDB-4ED0-AD70-DE8F70C60C95}"/>
                </a:ext>
              </a:extLst>
            </p:cNvPr>
            <p:cNvCxnSpPr/>
            <p:nvPr/>
          </p:nvCxnSpPr>
          <p:spPr bwMode="auto">
            <a:xfrm flipH="1">
              <a:off x="2694738" y="5609417"/>
              <a:ext cx="170609" cy="298237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134F35D0-8C5C-4BCB-A783-40E6BD5A60BB}"/>
              </a:ext>
            </a:extLst>
          </p:cNvPr>
          <p:cNvSpPr/>
          <p:nvPr/>
        </p:nvSpPr>
        <p:spPr bwMode="auto">
          <a:xfrm>
            <a:off x="6326021" y="4797067"/>
            <a:ext cx="324335" cy="294043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877D27-EFD2-4AA1-93C7-12020A866B31}"/>
              </a:ext>
            </a:extLst>
          </p:cNvPr>
          <p:cNvSpPr/>
          <p:nvPr/>
        </p:nvSpPr>
        <p:spPr bwMode="auto">
          <a:xfrm>
            <a:off x="5954721" y="5348242"/>
            <a:ext cx="324335" cy="294043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975F46C-47DD-42CC-9AD8-D1B5D3421343}"/>
              </a:ext>
            </a:extLst>
          </p:cNvPr>
          <p:cNvSpPr/>
          <p:nvPr/>
        </p:nvSpPr>
        <p:spPr bwMode="auto">
          <a:xfrm>
            <a:off x="6763785" y="5349058"/>
            <a:ext cx="324335" cy="294043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8E75E90-E854-421D-B684-EC84E844B4D1}"/>
              </a:ext>
            </a:extLst>
          </p:cNvPr>
          <p:cNvSpPr/>
          <p:nvPr/>
        </p:nvSpPr>
        <p:spPr bwMode="auto">
          <a:xfrm>
            <a:off x="5765969" y="5915007"/>
            <a:ext cx="324335" cy="294043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92486F3-6E5A-4DF0-9A35-894F64C65D62}"/>
              </a:ext>
            </a:extLst>
          </p:cNvPr>
          <p:cNvSpPr/>
          <p:nvPr/>
        </p:nvSpPr>
        <p:spPr bwMode="auto">
          <a:xfrm>
            <a:off x="7036162" y="5910905"/>
            <a:ext cx="324335" cy="294043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A7E48F9-2EF2-4CAF-A1BD-DE6223DA5AB2}"/>
              </a:ext>
            </a:extLst>
          </p:cNvPr>
          <p:cNvCxnSpPr/>
          <p:nvPr/>
        </p:nvCxnSpPr>
        <p:spPr bwMode="auto">
          <a:xfrm flipH="1">
            <a:off x="6214439" y="5091110"/>
            <a:ext cx="149798" cy="242368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E19408B-8265-4CBD-8417-E9D59F0A39F1}"/>
              </a:ext>
            </a:extLst>
          </p:cNvPr>
          <p:cNvCxnSpPr>
            <a:cxnSpLocks/>
          </p:cNvCxnSpPr>
          <p:nvPr/>
        </p:nvCxnSpPr>
        <p:spPr bwMode="auto">
          <a:xfrm>
            <a:off x="6591870" y="5076139"/>
            <a:ext cx="233945" cy="27210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EC9CB20-393B-4EDA-8DFB-B07826DAD826}"/>
              </a:ext>
            </a:extLst>
          </p:cNvPr>
          <p:cNvCxnSpPr/>
          <p:nvPr/>
        </p:nvCxnSpPr>
        <p:spPr bwMode="auto">
          <a:xfrm flipH="1">
            <a:off x="5915712" y="5647930"/>
            <a:ext cx="149798" cy="242368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BA2D8E1-DB40-4A7C-9668-8E36F663E890}"/>
              </a:ext>
            </a:extLst>
          </p:cNvPr>
          <p:cNvCxnSpPr>
            <a:cxnSpLocks/>
          </p:cNvCxnSpPr>
          <p:nvPr/>
        </p:nvCxnSpPr>
        <p:spPr bwMode="auto">
          <a:xfrm>
            <a:off x="7022143" y="5638787"/>
            <a:ext cx="233945" cy="27210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E3FB3D2C-516C-4B92-B19C-168A9237DD54}"/>
              </a:ext>
            </a:extLst>
          </p:cNvPr>
          <p:cNvSpPr/>
          <p:nvPr/>
        </p:nvSpPr>
        <p:spPr bwMode="auto">
          <a:xfrm>
            <a:off x="6559082" y="5910906"/>
            <a:ext cx="324335" cy="294043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8ADFE7-864E-4594-AA21-755F96826C5F}"/>
              </a:ext>
            </a:extLst>
          </p:cNvPr>
          <p:cNvCxnSpPr/>
          <p:nvPr/>
        </p:nvCxnSpPr>
        <p:spPr bwMode="auto">
          <a:xfrm flipH="1">
            <a:off x="6708825" y="5643828"/>
            <a:ext cx="149798" cy="242368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59625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Nearly Complete Binary Min Heap (cont.)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A </a:t>
            </a:r>
            <a:r>
              <a:rPr lang="en-US" altLang="en-US" sz="2400" b="1" i="1" dirty="0">
                <a:solidFill>
                  <a:srgbClr val="FF0000"/>
                </a:solidFill>
              </a:rPr>
              <a:t>nearly complete binary min heap</a:t>
            </a:r>
            <a:r>
              <a:rPr lang="en-US" altLang="en-US" sz="2400" dirty="0"/>
              <a:t> is a nearly complete binary tree, satisfying the min heap property</a:t>
            </a:r>
            <a:endParaRPr lang="en-US" altLang="en-US" sz="2400" b="1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The most compact (shallowest) tree possible</a:t>
            </a:r>
            <a:endParaRPr lang="en-US" altLang="en-US" sz="2000" b="1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1400" b="1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endParaRPr lang="en-US" altLang="en-US" sz="1400" b="1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400" b="1" dirty="0"/>
              <a:t>                                                    </a:t>
            </a:r>
            <a:r>
              <a:rPr lang="en-US" altLang="en-US" sz="1400" dirty="0"/>
              <a:t>2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7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700"/>
              </a:spcBef>
              <a:buNone/>
              <a:defRPr/>
            </a:pPr>
            <a:r>
              <a:rPr lang="en-US" altLang="en-US" sz="1400" dirty="0"/>
              <a:t>                                           4            7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7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700"/>
              </a:spcBef>
              <a:buNone/>
              <a:defRPr/>
            </a:pPr>
            <a:r>
              <a:rPr lang="en-US" altLang="en-US" sz="1400" dirty="0"/>
              <a:t>                                      12     6     9</a:t>
            </a: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/>
              <a:t>       </a:t>
            </a:r>
            <a:endParaRPr lang="en-US" altLang="en-US" sz="2000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630B86-00C9-4EBA-8C0B-4A13D6A36BC5}" type="datetime1">
              <a:rPr lang="en-US" smtClean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F7A820E-9AA6-410B-82F4-D6C200B0EA22}"/>
              </a:ext>
            </a:extLst>
          </p:cNvPr>
          <p:cNvGrpSpPr/>
          <p:nvPr/>
        </p:nvGrpSpPr>
        <p:grpSpPr>
          <a:xfrm>
            <a:off x="3730272" y="3815046"/>
            <a:ext cx="1322151" cy="1411983"/>
            <a:chOff x="1620892" y="4567464"/>
            <a:chExt cx="1505836" cy="173746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ABE3C60-B1DD-40DE-A2AA-4BA781B3EB30}"/>
                </a:ext>
              </a:extLst>
            </p:cNvPr>
            <p:cNvSpPr/>
            <p:nvPr/>
          </p:nvSpPr>
          <p:spPr bwMode="auto">
            <a:xfrm>
              <a:off x="2258751" y="4567464"/>
              <a:ext cx="369394" cy="361824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3E0F42F-859B-4073-9AD9-C9FD06E789FA}"/>
                </a:ext>
              </a:extLst>
            </p:cNvPr>
            <p:cNvSpPr/>
            <p:nvPr/>
          </p:nvSpPr>
          <p:spPr bwMode="auto">
            <a:xfrm>
              <a:off x="1835867" y="5245693"/>
              <a:ext cx="369394" cy="361824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3B31430-92F8-4DCC-91F8-EA7EAF76BBAA}"/>
                </a:ext>
              </a:extLst>
            </p:cNvPr>
            <p:cNvSpPr/>
            <p:nvPr/>
          </p:nvSpPr>
          <p:spPr bwMode="auto">
            <a:xfrm>
              <a:off x="2757334" y="5246698"/>
              <a:ext cx="369394" cy="361824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AA0F972-1BC6-45E8-9AC7-88A362EFB38E}"/>
                </a:ext>
              </a:extLst>
            </p:cNvPr>
            <p:cNvSpPr/>
            <p:nvPr/>
          </p:nvSpPr>
          <p:spPr bwMode="auto">
            <a:xfrm>
              <a:off x="1620892" y="5943107"/>
              <a:ext cx="369394" cy="361824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1DDE2C2-3403-4B7C-9633-6C29C524CE59}"/>
                </a:ext>
              </a:extLst>
            </p:cNvPr>
            <p:cNvSpPr/>
            <p:nvPr/>
          </p:nvSpPr>
          <p:spPr bwMode="auto">
            <a:xfrm>
              <a:off x="2088183" y="5938059"/>
              <a:ext cx="369394" cy="361824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2DAC56-90AD-41A6-87F6-ABD88A76860F}"/>
                </a:ext>
              </a:extLst>
            </p:cNvPr>
            <p:cNvCxnSpPr/>
            <p:nvPr/>
          </p:nvCxnSpPr>
          <p:spPr bwMode="auto">
            <a:xfrm flipH="1">
              <a:off x="2131668" y="4929288"/>
              <a:ext cx="170609" cy="298237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577312E-B422-4C1E-B77C-55206557A01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61534" y="4910866"/>
              <a:ext cx="266447" cy="334827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22CFBA3-03A6-4B5C-91A5-36D8FC438CF1}"/>
                </a:ext>
              </a:extLst>
            </p:cNvPr>
            <p:cNvCxnSpPr/>
            <p:nvPr/>
          </p:nvCxnSpPr>
          <p:spPr bwMode="auto">
            <a:xfrm flipH="1">
              <a:off x="1791439" y="5614464"/>
              <a:ext cx="170609" cy="298237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D9C517-3954-4009-A9EF-F0BA34E6444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72216" y="5603214"/>
              <a:ext cx="266447" cy="334827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673AA3-6688-4C25-B8DA-E3F3C5E692D2}"/>
                </a:ext>
              </a:extLst>
            </p:cNvPr>
            <p:cNvSpPr/>
            <p:nvPr/>
          </p:nvSpPr>
          <p:spPr bwMode="auto">
            <a:xfrm>
              <a:off x="2524191" y="5938060"/>
              <a:ext cx="369394" cy="361824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1E46862-EBDB-4ED0-AD70-DE8F70C60C95}"/>
                </a:ext>
              </a:extLst>
            </p:cNvPr>
            <p:cNvCxnSpPr/>
            <p:nvPr/>
          </p:nvCxnSpPr>
          <p:spPr bwMode="auto">
            <a:xfrm flipH="1">
              <a:off x="2694738" y="5609417"/>
              <a:ext cx="170609" cy="298237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760026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Node Labels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Since each nearly complete binary min heap with </a:t>
            </a:r>
            <a:r>
              <a:rPr lang="en-US" altLang="en-US" sz="2400" b="1" dirty="0"/>
              <a:t>N</a:t>
            </a:r>
            <a:r>
              <a:rPr lang="en-US" altLang="en-US" sz="2400" dirty="0"/>
              <a:t> nodes has the same shape, we can label the nodes </a:t>
            </a:r>
            <a:r>
              <a:rPr lang="en-US" altLang="en-US" sz="2400" b="1" dirty="0">
                <a:solidFill>
                  <a:srgbClr val="FF0000"/>
                </a:solidFill>
              </a:rPr>
              <a:t>1</a:t>
            </a:r>
            <a:r>
              <a:rPr lang="en-US" altLang="en-US" sz="2400" dirty="0"/>
              <a:t> through </a:t>
            </a:r>
            <a:r>
              <a:rPr lang="en-US" altLang="en-US" sz="2400" b="1" dirty="0">
                <a:solidFill>
                  <a:srgbClr val="FF0000"/>
                </a:solidFill>
              </a:rPr>
              <a:t>N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1400" b="1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400" b="1" dirty="0">
                <a:solidFill>
                  <a:srgbClr val="FF0000"/>
                </a:solidFill>
              </a:rPr>
              <a:t>                                                1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b="1" dirty="0">
              <a:solidFill>
                <a:srgbClr val="FF0000"/>
              </a:solidFill>
            </a:endParaRP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b="1" dirty="0">
                <a:solidFill>
                  <a:srgbClr val="FF0000"/>
                </a:solidFill>
              </a:rPr>
              <a:t>                           2                                           3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b="1" dirty="0">
              <a:solidFill>
                <a:srgbClr val="FF0000"/>
              </a:solidFill>
            </a:endParaRP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b="1" dirty="0">
                <a:solidFill>
                  <a:srgbClr val="FF0000"/>
                </a:solidFill>
              </a:rPr>
              <a:t>              4                         5                 6                     7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b="1" dirty="0">
              <a:solidFill>
                <a:srgbClr val="FF0000"/>
              </a:solidFill>
            </a:endParaRP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b="1" dirty="0">
                <a:solidFill>
                  <a:srgbClr val="FF0000"/>
                </a:solidFill>
              </a:rPr>
              <a:t>     8              9          10</a:t>
            </a: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/>
              <a:t>       </a:t>
            </a:r>
            <a:endParaRPr lang="en-US" altLang="en-US" sz="2000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AE5973-FF6A-4FC1-9295-2F70061B228D}" type="datetime1">
              <a:rPr lang="en-US" smtClean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grpSp>
        <p:nvGrpSpPr>
          <p:cNvPr id="16392" name="Group 16391">
            <a:extLst>
              <a:ext uri="{FF2B5EF4-FFF2-40B4-BE49-F238E27FC236}">
                <a16:creationId xmlns:a16="http://schemas.microsoft.com/office/drawing/2014/main" id="{89F9CD25-3BFB-4D5B-9EFE-6040FE719B89}"/>
              </a:ext>
            </a:extLst>
          </p:cNvPr>
          <p:cNvGrpSpPr/>
          <p:nvPr/>
        </p:nvGrpSpPr>
        <p:grpSpPr>
          <a:xfrm>
            <a:off x="2114550" y="3186769"/>
            <a:ext cx="4527439" cy="2535628"/>
            <a:chOff x="2114550" y="3186769"/>
            <a:chExt cx="4527439" cy="253562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ABE3C60-B1DD-40DE-A2AA-4BA781B3EB30}"/>
                </a:ext>
              </a:extLst>
            </p:cNvPr>
            <p:cNvSpPr/>
            <p:nvPr/>
          </p:nvSpPr>
          <p:spPr bwMode="auto">
            <a:xfrm>
              <a:off x="4415155" y="318676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3E0F42F-859B-4073-9AD9-C9FD06E789FA}"/>
                </a:ext>
              </a:extLst>
            </p:cNvPr>
            <p:cNvSpPr/>
            <p:nvPr/>
          </p:nvSpPr>
          <p:spPr bwMode="auto">
            <a:xfrm>
              <a:off x="3294967" y="388863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3B31430-92F8-4DCC-91F8-EA7EAF76BBAA}"/>
                </a:ext>
              </a:extLst>
            </p:cNvPr>
            <p:cNvSpPr/>
            <p:nvPr/>
          </p:nvSpPr>
          <p:spPr bwMode="auto">
            <a:xfrm>
              <a:off x="5640841" y="388967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AA0F972-1BC6-45E8-9AC7-88A362EFB38E}"/>
                </a:ext>
              </a:extLst>
            </p:cNvPr>
            <p:cNvSpPr/>
            <p:nvPr/>
          </p:nvSpPr>
          <p:spPr bwMode="auto">
            <a:xfrm>
              <a:off x="2585748" y="4610362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1DDE2C2-3403-4B7C-9633-6C29C524CE59}"/>
                </a:ext>
              </a:extLst>
            </p:cNvPr>
            <p:cNvSpPr/>
            <p:nvPr/>
          </p:nvSpPr>
          <p:spPr bwMode="auto">
            <a:xfrm>
              <a:off x="4032174" y="4605138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673AA3-6688-4C25-B8DA-E3F3C5E692D2}"/>
                </a:ext>
              </a:extLst>
            </p:cNvPr>
            <p:cNvSpPr/>
            <p:nvPr/>
          </p:nvSpPr>
          <p:spPr bwMode="auto">
            <a:xfrm>
              <a:off x="5057449" y="460513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0DE4EF1-675B-497D-9B1D-FD072ACD6B71}"/>
                </a:ext>
              </a:extLst>
            </p:cNvPr>
            <p:cNvSpPr/>
            <p:nvPr/>
          </p:nvSpPr>
          <p:spPr bwMode="auto">
            <a:xfrm>
              <a:off x="6245363" y="4600096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A4EFE5-5F8E-4214-A5A0-BECB847D9E78}"/>
                </a:ext>
              </a:extLst>
            </p:cNvPr>
            <p:cNvSpPr/>
            <p:nvPr/>
          </p:nvSpPr>
          <p:spPr bwMode="auto">
            <a:xfrm>
              <a:off x="2114550" y="5345946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2A4E695-86F0-4C8A-8F01-84244057381A}"/>
                </a:ext>
              </a:extLst>
            </p:cNvPr>
            <p:cNvSpPr/>
            <p:nvPr/>
          </p:nvSpPr>
          <p:spPr bwMode="auto">
            <a:xfrm>
              <a:off x="2981516" y="5346954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D05431B-A7D5-43DE-A6AF-D9151E8B4E28}"/>
                </a:ext>
              </a:extLst>
            </p:cNvPr>
            <p:cNvSpPr/>
            <p:nvPr/>
          </p:nvSpPr>
          <p:spPr bwMode="auto">
            <a:xfrm>
              <a:off x="3678926" y="5347961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27DB5E2-4D2A-49A1-A161-51B9589055F9}"/>
                </a:ext>
              </a:extLst>
            </p:cNvPr>
            <p:cNvCxnSpPr/>
            <p:nvPr/>
          </p:nvCxnSpPr>
          <p:spPr bwMode="auto">
            <a:xfrm flipH="1">
              <a:off x="3678926" y="3506209"/>
              <a:ext cx="749874" cy="418401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E688A26-A020-4999-BBED-823D647F07CD}"/>
                </a:ext>
              </a:extLst>
            </p:cNvPr>
            <p:cNvCxnSpPr/>
            <p:nvPr/>
          </p:nvCxnSpPr>
          <p:spPr bwMode="auto">
            <a:xfrm>
              <a:off x="4775466" y="3515036"/>
              <a:ext cx="922881" cy="395181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7652EE0-2EAB-4F4F-8165-95E4F04C9F40}"/>
                </a:ext>
              </a:extLst>
            </p:cNvPr>
            <p:cNvCxnSpPr/>
            <p:nvPr/>
          </p:nvCxnSpPr>
          <p:spPr bwMode="auto">
            <a:xfrm flipH="1">
              <a:off x="2911986" y="4255149"/>
              <a:ext cx="435708" cy="355213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9FB9C50-A724-45E4-A65D-CA1C2B5B01CD}"/>
                </a:ext>
              </a:extLst>
            </p:cNvPr>
            <p:cNvCxnSpPr/>
            <p:nvPr/>
          </p:nvCxnSpPr>
          <p:spPr bwMode="auto">
            <a:xfrm>
              <a:off x="3657600" y="4263075"/>
              <a:ext cx="478395" cy="337021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6B86A67-5B7E-4939-9F60-D807347B57F1}"/>
                </a:ext>
              </a:extLst>
            </p:cNvPr>
            <p:cNvCxnSpPr/>
            <p:nvPr/>
          </p:nvCxnSpPr>
          <p:spPr bwMode="auto">
            <a:xfrm flipH="1">
              <a:off x="5346152" y="4252434"/>
              <a:ext cx="352195" cy="347662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84" name="Straight Arrow Connector 16383">
              <a:extLst>
                <a:ext uri="{FF2B5EF4-FFF2-40B4-BE49-F238E27FC236}">
                  <a16:creationId xmlns:a16="http://schemas.microsoft.com/office/drawing/2014/main" id="{B9B5EB20-AB8E-4E80-ADC4-7E8FF5D875A0}"/>
                </a:ext>
              </a:extLst>
            </p:cNvPr>
            <p:cNvCxnSpPr/>
            <p:nvPr/>
          </p:nvCxnSpPr>
          <p:spPr bwMode="auto">
            <a:xfrm>
              <a:off x="6003209" y="4238484"/>
              <a:ext cx="366235" cy="361612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86" name="Straight Arrow Connector 16385">
              <a:extLst>
                <a:ext uri="{FF2B5EF4-FFF2-40B4-BE49-F238E27FC236}">
                  <a16:creationId xmlns:a16="http://schemas.microsoft.com/office/drawing/2014/main" id="{114D6AB6-E997-4B54-A0E6-54E6C6FAF28E}"/>
                </a:ext>
              </a:extLst>
            </p:cNvPr>
            <p:cNvCxnSpPr/>
            <p:nvPr/>
          </p:nvCxnSpPr>
          <p:spPr bwMode="auto">
            <a:xfrm flipH="1">
              <a:off x="2364970" y="4974532"/>
              <a:ext cx="254211" cy="371414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89" name="Straight Arrow Connector 16388">
              <a:extLst>
                <a:ext uri="{FF2B5EF4-FFF2-40B4-BE49-F238E27FC236}">
                  <a16:creationId xmlns:a16="http://schemas.microsoft.com/office/drawing/2014/main" id="{5897C140-98BA-4B44-94EB-31AB967EA4DF}"/>
                </a:ext>
              </a:extLst>
            </p:cNvPr>
            <p:cNvCxnSpPr/>
            <p:nvPr/>
          </p:nvCxnSpPr>
          <p:spPr bwMode="auto">
            <a:xfrm>
              <a:off x="2908970" y="4984798"/>
              <a:ext cx="205852" cy="355213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91" name="Straight Arrow Connector 16390">
              <a:extLst>
                <a:ext uri="{FF2B5EF4-FFF2-40B4-BE49-F238E27FC236}">
                  <a16:creationId xmlns:a16="http://schemas.microsoft.com/office/drawing/2014/main" id="{F179C6BF-658E-4467-980D-8B42AEA524ED}"/>
                </a:ext>
              </a:extLst>
            </p:cNvPr>
            <p:cNvCxnSpPr/>
            <p:nvPr/>
          </p:nvCxnSpPr>
          <p:spPr bwMode="auto">
            <a:xfrm flipH="1">
              <a:off x="3914236" y="4979574"/>
              <a:ext cx="221759" cy="360437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81104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Node Label Properties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Under this labelling scheme, node </a:t>
            </a:r>
            <a:r>
              <a:rPr lang="en-US" altLang="en-US" sz="2400" b="1" dirty="0"/>
              <a:t>j</a:t>
            </a:r>
            <a:r>
              <a:rPr lang="en-US" altLang="en-US" sz="2400" dirty="0"/>
              <a:t> has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Left child </a:t>
            </a:r>
            <a:r>
              <a:rPr lang="en-US" altLang="en-US" sz="2000" b="1" dirty="0"/>
              <a:t>2 * j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Right child </a:t>
            </a:r>
            <a:r>
              <a:rPr lang="en-US" altLang="en-US" sz="2000" b="1" dirty="0"/>
              <a:t>2 * j + 1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Parent </a:t>
            </a:r>
            <a:r>
              <a:rPr lang="en-US" altLang="en-US" sz="2000" b="1" dirty="0"/>
              <a:t>j / 2 </a:t>
            </a:r>
            <a:r>
              <a:rPr lang="en-US" altLang="en-US" sz="2000" dirty="0"/>
              <a:t>(</a:t>
            </a:r>
            <a:r>
              <a:rPr lang="en-US" altLang="en-US" sz="2000" b="1" dirty="0" err="1"/>
              <a:t>int</a:t>
            </a:r>
            <a:r>
              <a:rPr lang="en-US" altLang="en-US" sz="2000" dirty="0"/>
              <a:t> division)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D0A97B-3B60-4B4C-9899-9F330AC8C4E4}" type="datetime1">
              <a:rPr lang="en-US" smtClean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</p:spTree>
    <p:extLst>
      <p:ext uri="{BB962C8B-B14F-4D97-AF65-F5344CB8AC3E}">
        <p14:creationId xmlns:p14="http://schemas.microsoft.com/office/powerpoint/2010/main" val="320811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Adding A Value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Add the value as next leaf node, </a:t>
            </a:r>
            <a:r>
              <a:rPr lang="en-US" altLang="en-US" sz="2400" b="1" dirty="0"/>
              <a:t>N+1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For example, add </a:t>
            </a:r>
            <a:r>
              <a:rPr lang="en-US" altLang="en-US" sz="2000" dirty="0">
                <a:solidFill>
                  <a:srgbClr val="FF0000"/>
                </a:solidFill>
              </a:rPr>
              <a:t>6</a:t>
            </a:r>
            <a:r>
              <a:rPr lang="en-US" altLang="en-US" sz="2000" dirty="0"/>
              <a:t> as leaf node 10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20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1400" b="1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400" dirty="0"/>
              <a:t>                                                    8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                     11                                        7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        90                       40               22                  40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97            91          </a:t>
            </a:r>
            <a:r>
              <a:rPr lang="en-US" altLang="en-US" sz="1400" dirty="0">
                <a:solidFill>
                  <a:srgbClr val="FF0000"/>
                </a:solidFill>
              </a:rPr>
              <a:t>6</a:t>
            </a: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/>
              <a:t>       </a:t>
            </a:r>
            <a:endParaRPr lang="en-US" altLang="en-US" sz="2000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FC7B3C-9B31-46EC-A974-23F5B6E8B3CE}" type="datetime1">
              <a:rPr lang="en-US" smtClean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grpSp>
        <p:nvGrpSpPr>
          <p:cNvPr id="16392" name="Group 16391">
            <a:extLst>
              <a:ext uri="{FF2B5EF4-FFF2-40B4-BE49-F238E27FC236}">
                <a16:creationId xmlns:a16="http://schemas.microsoft.com/office/drawing/2014/main" id="{89F9CD25-3BFB-4D5B-9EFE-6040FE719B89}"/>
              </a:ext>
            </a:extLst>
          </p:cNvPr>
          <p:cNvGrpSpPr/>
          <p:nvPr/>
        </p:nvGrpSpPr>
        <p:grpSpPr>
          <a:xfrm>
            <a:off x="2114550" y="3186769"/>
            <a:ext cx="4527439" cy="2535628"/>
            <a:chOff x="2114550" y="3186769"/>
            <a:chExt cx="4527439" cy="253562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ABE3C60-B1DD-40DE-A2AA-4BA781B3EB30}"/>
                </a:ext>
              </a:extLst>
            </p:cNvPr>
            <p:cNvSpPr/>
            <p:nvPr/>
          </p:nvSpPr>
          <p:spPr bwMode="auto">
            <a:xfrm>
              <a:off x="4415155" y="318676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3E0F42F-859B-4073-9AD9-C9FD06E789FA}"/>
                </a:ext>
              </a:extLst>
            </p:cNvPr>
            <p:cNvSpPr/>
            <p:nvPr/>
          </p:nvSpPr>
          <p:spPr bwMode="auto">
            <a:xfrm>
              <a:off x="3294967" y="388863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3B31430-92F8-4DCC-91F8-EA7EAF76BBAA}"/>
                </a:ext>
              </a:extLst>
            </p:cNvPr>
            <p:cNvSpPr/>
            <p:nvPr/>
          </p:nvSpPr>
          <p:spPr bwMode="auto">
            <a:xfrm>
              <a:off x="5640841" y="388967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AA0F972-1BC6-45E8-9AC7-88A362EFB38E}"/>
                </a:ext>
              </a:extLst>
            </p:cNvPr>
            <p:cNvSpPr/>
            <p:nvPr/>
          </p:nvSpPr>
          <p:spPr bwMode="auto">
            <a:xfrm>
              <a:off x="2585748" y="4610362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1DDE2C2-3403-4B7C-9633-6C29C524CE59}"/>
                </a:ext>
              </a:extLst>
            </p:cNvPr>
            <p:cNvSpPr/>
            <p:nvPr/>
          </p:nvSpPr>
          <p:spPr bwMode="auto">
            <a:xfrm>
              <a:off x="4032174" y="4605138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673AA3-6688-4C25-B8DA-E3F3C5E692D2}"/>
                </a:ext>
              </a:extLst>
            </p:cNvPr>
            <p:cNvSpPr/>
            <p:nvPr/>
          </p:nvSpPr>
          <p:spPr bwMode="auto">
            <a:xfrm>
              <a:off x="5057449" y="460513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0DE4EF1-675B-497D-9B1D-FD072ACD6B71}"/>
                </a:ext>
              </a:extLst>
            </p:cNvPr>
            <p:cNvSpPr/>
            <p:nvPr/>
          </p:nvSpPr>
          <p:spPr bwMode="auto">
            <a:xfrm>
              <a:off x="6245363" y="4600096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A4EFE5-5F8E-4214-A5A0-BECB847D9E78}"/>
                </a:ext>
              </a:extLst>
            </p:cNvPr>
            <p:cNvSpPr/>
            <p:nvPr/>
          </p:nvSpPr>
          <p:spPr bwMode="auto">
            <a:xfrm>
              <a:off x="2114550" y="5345946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2A4E695-86F0-4C8A-8F01-84244057381A}"/>
                </a:ext>
              </a:extLst>
            </p:cNvPr>
            <p:cNvSpPr/>
            <p:nvPr/>
          </p:nvSpPr>
          <p:spPr bwMode="auto">
            <a:xfrm>
              <a:off x="2981516" y="5346954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D05431B-A7D5-43DE-A6AF-D9151E8B4E28}"/>
                </a:ext>
              </a:extLst>
            </p:cNvPr>
            <p:cNvSpPr/>
            <p:nvPr/>
          </p:nvSpPr>
          <p:spPr bwMode="auto">
            <a:xfrm>
              <a:off x="3678926" y="5347961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27DB5E2-4D2A-49A1-A161-51B9589055F9}"/>
                </a:ext>
              </a:extLst>
            </p:cNvPr>
            <p:cNvCxnSpPr/>
            <p:nvPr/>
          </p:nvCxnSpPr>
          <p:spPr bwMode="auto">
            <a:xfrm flipH="1">
              <a:off x="3678926" y="3506209"/>
              <a:ext cx="749874" cy="418401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E688A26-A020-4999-BBED-823D647F07CD}"/>
                </a:ext>
              </a:extLst>
            </p:cNvPr>
            <p:cNvCxnSpPr/>
            <p:nvPr/>
          </p:nvCxnSpPr>
          <p:spPr bwMode="auto">
            <a:xfrm>
              <a:off x="4775466" y="3515036"/>
              <a:ext cx="922881" cy="395181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7652EE0-2EAB-4F4F-8165-95E4F04C9F40}"/>
                </a:ext>
              </a:extLst>
            </p:cNvPr>
            <p:cNvCxnSpPr/>
            <p:nvPr/>
          </p:nvCxnSpPr>
          <p:spPr bwMode="auto">
            <a:xfrm flipH="1">
              <a:off x="2911986" y="4255149"/>
              <a:ext cx="435708" cy="355213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9FB9C50-A724-45E4-A65D-CA1C2B5B01CD}"/>
                </a:ext>
              </a:extLst>
            </p:cNvPr>
            <p:cNvCxnSpPr/>
            <p:nvPr/>
          </p:nvCxnSpPr>
          <p:spPr bwMode="auto">
            <a:xfrm>
              <a:off x="3657600" y="4263075"/>
              <a:ext cx="478395" cy="337021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6B86A67-5B7E-4939-9F60-D807347B57F1}"/>
                </a:ext>
              </a:extLst>
            </p:cNvPr>
            <p:cNvCxnSpPr/>
            <p:nvPr/>
          </p:nvCxnSpPr>
          <p:spPr bwMode="auto">
            <a:xfrm flipH="1">
              <a:off x="5346152" y="4252434"/>
              <a:ext cx="352195" cy="347662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84" name="Straight Arrow Connector 16383">
              <a:extLst>
                <a:ext uri="{FF2B5EF4-FFF2-40B4-BE49-F238E27FC236}">
                  <a16:creationId xmlns:a16="http://schemas.microsoft.com/office/drawing/2014/main" id="{B9B5EB20-AB8E-4E80-ADC4-7E8FF5D875A0}"/>
                </a:ext>
              </a:extLst>
            </p:cNvPr>
            <p:cNvCxnSpPr/>
            <p:nvPr/>
          </p:nvCxnSpPr>
          <p:spPr bwMode="auto">
            <a:xfrm>
              <a:off x="6003209" y="4238484"/>
              <a:ext cx="366235" cy="361612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86" name="Straight Arrow Connector 16385">
              <a:extLst>
                <a:ext uri="{FF2B5EF4-FFF2-40B4-BE49-F238E27FC236}">
                  <a16:creationId xmlns:a16="http://schemas.microsoft.com/office/drawing/2014/main" id="{114D6AB6-E997-4B54-A0E6-54E6C6FAF28E}"/>
                </a:ext>
              </a:extLst>
            </p:cNvPr>
            <p:cNvCxnSpPr/>
            <p:nvPr/>
          </p:nvCxnSpPr>
          <p:spPr bwMode="auto">
            <a:xfrm flipH="1">
              <a:off x="2364970" y="4974532"/>
              <a:ext cx="254211" cy="371414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89" name="Straight Arrow Connector 16388">
              <a:extLst>
                <a:ext uri="{FF2B5EF4-FFF2-40B4-BE49-F238E27FC236}">
                  <a16:creationId xmlns:a16="http://schemas.microsoft.com/office/drawing/2014/main" id="{5897C140-98BA-4B44-94EB-31AB967EA4DF}"/>
                </a:ext>
              </a:extLst>
            </p:cNvPr>
            <p:cNvCxnSpPr/>
            <p:nvPr/>
          </p:nvCxnSpPr>
          <p:spPr bwMode="auto">
            <a:xfrm>
              <a:off x="2908970" y="4984798"/>
              <a:ext cx="205852" cy="355213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91" name="Straight Arrow Connector 16390">
              <a:extLst>
                <a:ext uri="{FF2B5EF4-FFF2-40B4-BE49-F238E27FC236}">
                  <a16:creationId xmlns:a16="http://schemas.microsoft.com/office/drawing/2014/main" id="{F179C6BF-658E-4467-980D-8B42AEA524ED}"/>
                </a:ext>
              </a:extLst>
            </p:cNvPr>
            <p:cNvCxnSpPr/>
            <p:nvPr/>
          </p:nvCxnSpPr>
          <p:spPr bwMode="auto">
            <a:xfrm flipH="1">
              <a:off x="3914236" y="4979574"/>
              <a:ext cx="221759" cy="360437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FF00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526761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Adding A Value (cont.)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Then, </a:t>
            </a:r>
            <a:r>
              <a:rPr lang="en-US" altLang="en-US" sz="2400" i="1" dirty="0"/>
              <a:t>swap</a:t>
            </a:r>
            <a:r>
              <a:rPr lang="en-US" altLang="en-US" sz="2400" dirty="0"/>
              <a:t> the value up the tree into place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6</a:t>
            </a:r>
            <a:r>
              <a:rPr lang="en-US" altLang="en-US" sz="2000" dirty="0"/>
              <a:t> with 40, then with 11, then with 8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Min heap property restored: </a:t>
            </a:r>
            <a:r>
              <a:rPr lang="en-US" altLang="en-US" sz="2000" b="1" dirty="0"/>
              <a:t>log N</a:t>
            </a:r>
            <a:r>
              <a:rPr lang="en-US" altLang="en-US" sz="2000" dirty="0"/>
              <a:t> swaps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1400" b="1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400" dirty="0"/>
              <a:t>                                                    </a:t>
            </a:r>
            <a:r>
              <a:rPr lang="en-US" altLang="en-US" sz="1400" dirty="0">
                <a:solidFill>
                  <a:srgbClr val="FF0000"/>
                </a:solidFill>
              </a:rPr>
              <a:t>6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                      8                                         7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        90                       11               22                  40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97            91         40</a:t>
            </a:r>
            <a:endParaRPr lang="en-US" altLang="en-US" sz="1400" dirty="0">
              <a:solidFill>
                <a:srgbClr val="FF0000"/>
              </a:solidFill>
            </a:endParaRP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/>
              <a:t>       </a:t>
            </a:r>
            <a:endParaRPr lang="en-US" altLang="en-US" sz="2000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5A6394-F742-4710-8701-0D267C969E47}" type="datetime1">
              <a:rPr lang="en-US" smtClean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grpSp>
        <p:nvGrpSpPr>
          <p:cNvPr id="16392" name="Group 16391">
            <a:extLst>
              <a:ext uri="{FF2B5EF4-FFF2-40B4-BE49-F238E27FC236}">
                <a16:creationId xmlns:a16="http://schemas.microsoft.com/office/drawing/2014/main" id="{89F9CD25-3BFB-4D5B-9EFE-6040FE719B89}"/>
              </a:ext>
            </a:extLst>
          </p:cNvPr>
          <p:cNvGrpSpPr/>
          <p:nvPr/>
        </p:nvGrpSpPr>
        <p:grpSpPr>
          <a:xfrm>
            <a:off x="2114550" y="3186769"/>
            <a:ext cx="4527439" cy="2535628"/>
            <a:chOff x="2114550" y="3186769"/>
            <a:chExt cx="4527439" cy="253562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ABE3C60-B1DD-40DE-A2AA-4BA781B3EB30}"/>
                </a:ext>
              </a:extLst>
            </p:cNvPr>
            <p:cNvSpPr/>
            <p:nvPr/>
          </p:nvSpPr>
          <p:spPr bwMode="auto">
            <a:xfrm>
              <a:off x="4415155" y="318676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3E0F42F-859B-4073-9AD9-C9FD06E789FA}"/>
                </a:ext>
              </a:extLst>
            </p:cNvPr>
            <p:cNvSpPr/>
            <p:nvPr/>
          </p:nvSpPr>
          <p:spPr bwMode="auto">
            <a:xfrm>
              <a:off x="3294967" y="388863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3B31430-92F8-4DCC-91F8-EA7EAF76BBAA}"/>
                </a:ext>
              </a:extLst>
            </p:cNvPr>
            <p:cNvSpPr/>
            <p:nvPr/>
          </p:nvSpPr>
          <p:spPr bwMode="auto">
            <a:xfrm>
              <a:off x="5640841" y="388967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AA0F972-1BC6-45E8-9AC7-88A362EFB38E}"/>
                </a:ext>
              </a:extLst>
            </p:cNvPr>
            <p:cNvSpPr/>
            <p:nvPr/>
          </p:nvSpPr>
          <p:spPr bwMode="auto">
            <a:xfrm>
              <a:off x="2585748" y="4610362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1DDE2C2-3403-4B7C-9633-6C29C524CE59}"/>
                </a:ext>
              </a:extLst>
            </p:cNvPr>
            <p:cNvSpPr/>
            <p:nvPr/>
          </p:nvSpPr>
          <p:spPr bwMode="auto">
            <a:xfrm>
              <a:off x="4032174" y="4605138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673AA3-6688-4C25-B8DA-E3F3C5E692D2}"/>
                </a:ext>
              </a:extLst>
            </p:cNvPr>
            <p:cNvSpPr/>
            <p:nvPr/>
          </p:nvSpPr>
          <p:spPr bwMode="auto">
            <a:xfrm>
              <a:off x="5057449" y="460513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0DE4EF1-675B-497D-9B1D-FD072ACD6B71}"/>
                </a:ext>
              </a:extLst>
            </p:cNvPr>
            <p:cNvSpPr/>
            <p:nvPr/>
          </p:nvSpPr>
          <p:spPr bwMode="auto">
            <a:xfrm>
              <a:off x="6245363" y="4600096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A4EFE5-5F8E-4214-A5A0-BECB847D9E78}"/>
                </a:ext>
              </a:extLst>
            </p:cNvPr>
            <p:cNvSpPr/>
            <p:nvPr/>
          </p:nvSpPr>
          <p:spPr bwMode="auto">
            <a:xfrm>
              <a:off x="2114550" y="5345946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2A4E695-86F0-4C8A-8F01-84244057381A}"/>
                </a:ext>
              </a:extLst>
            </p:cNvPr>
            <p:cNvSpPr/>
            <p:nvPr/>
          </p:nvSpPr>
          <p:spPr bwMode="auto">
            <a:xfrm>
              <a:off x="2981516" y="5346954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D05431B-A7D5-43DE-A6AF-D9151E8B4E28}"/>
                </a:ext>
              </a:extLst>
            </p:cNvPr>
            <p:cNvSpPr/>
            <p:nvPr/>
          </p:nvSpPr>
          <p:spPr bwMode="auto">
            <a:xfrm>
              <a:off x="3678926" y="5347961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27DB5E2-4D2A-49A1-A161-51B9589055F9}"/>
                </a:ext>
              </a:extLst>
            </p:cNvPr>
            <p:cNvCxnSpPr/>
            <p:nvPr/>
          </p:nvCxnSpPr>
          <p:spPr bwMode="auto">
            <a:xfrm flipH="1">
              <a:off x="3678926" y="3506209"/>
              <a:ext cx="749874" cy="418401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E688A26-A020-4999-BBED-823D647F07CD}"/>
                </a:ext>
              </a:extLst>
            </p:cNvPr>
            <p:cNvCxnSpPr/>
            <p:nvPr/>
          </p:nvCxnSpPr>
          <p:spPr bwMode="auto">
            <a:xfrm>
              <a:off x="4775466" y="3515036"/>
              <a:ext cx="922881" cy="395181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7652EE0-2EAB-4F4F-8165-95E4F04C9F40}"/>
                </a:ext>
              </a:extLst>
            </p:cNvPr>
            <p:cNvCxnSpPr/>
            <p:nvPr/>
          </p:nvCxnSpPr>
          <p:spPr bwMode="auto">
            <a:xfrm flipH="1">
              <a:off x="2911986" y="4255149"/>
              <a:ext cx="435708" cy="355213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9FB9C50-A724-45E4-A65D-CA1C2B5B01CD}"/>
                </a:ext>
              </a:extLst>
            </p:cNvPr>
            <p:cNvCxnSpPr/>
            <p:nvPr/>
          </p:nvCxnSpPr>
          <p:spPr bwMode="auto">
            <a:xfrm>
              <a:off x="3657600" y="4263075"/>
              <a:ext cx="478395" cy="337021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6B86A67-5B7E-4939-9F60-D807347B57F1}"/>
                </a:ext>
              </a:extLst>
            </p:cNvPr>
            <p:cNvCxnSpPr/>
            <p:nvPr/>
          </p:nvCxnSpPr>
          <p:spPr bwMode="auto">
            <a:xfrm flipH="1">
              <a:off x="5346152" y="4252434"/>
              <a:ext cx="352195" cy="347662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84" name="Straight Arrow Connector 16383">
              <a:extLst>
                <a:ext uri="{FF2B5EF4-FFF2-40B4-BE49-F238E27FC236}">
                  <a16:creationId xmlns:a16="http://schemas.microsoft.com/office/drawing/2014/main" id="{B9B5EB20-AB8E-4E80-ADC4-7E8FF5D875A0}"/>
                </a:ext>
              </a:extLst>
            </p:cNvPr>
            <p:cNvCxnSpPr/>
            <p:nvPr/>
          </p:nvCxnSpPr>
          <p:spPr bwMode="auto">
            <a:xfrm>
              <a:off x="6003209" y="4238484"/>
              <a:ext cx="366235" cy="361612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86" name="Straight Arrow Connector 16385">
              <a:extLst>
                <a:ext uri="{FF2B5EF4-FFF2-40B4-BE49-F238E27FC236}">
                  <a16:creationId xmlns:a16="http://schemas.microsoft.com/office/drawing/2014/main" id="{114D6AB6-E997-4B54-A0E6-54E6C6FAF28E}"/>
                </a:ext>
              </a:extLst>
            </p:cNvPr>
            <p:cNvCxnSpPr/>
            <p:nvPr/>
          </p:nvCxnSpPr>
          <p:spPr bwMode="auto">
            <a:xfrm flipH="1">
              <a:off x="2364970" y="4974532"/>
              <a:ext cx="254211" cy="371414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89" name="Straight Arrow Connector 16388">
              <a:extLst>
                <a:ext uri="{FF2B5EF4-FFF2-40B4-BE49-F238E27FC236}">
                  <a16:creationId xmlns:a16="http://schemas.microsoft.com/office/drawing/2014/main" id="{5897C140-98BA-4B44-94EB-31AB967EA4DF}"/>
                </a:ext>
              </a:extLst>
            </p:cNvPr>
            <p:cNvCxnSpPr/>
            <p:nvPr/>
          </p:nvCxnSpPr>
          <p:spPr bwMode="auto">
            <a:xfrm>
              <a:off x="2908970" y="4984798"/>
              <a:ext cx="205852" cy="355213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91" name="Straight Arrow Connector 16390">
              <a:extLst>
                <a:ext uri="{FF2B5EF4-FFF2-40B4-BE49-F238E27FC236}">
                  <a16:creationId xmlns:a16="http://schemas.microsoft.com/office/drawing/2014/main" id="{F179C6BF-658E-4467-980D-8B42AEA524ED}"/>
                </a:ext>
              </a:extLst>
            </p:cNvPr>
            <p:cNvCxnSpPr/>
            <p:nvPr/>
          </p:nvCxnSpPr>
          <p:spPr bwMode="auto">
            <a:xfrm flipH="1">
              <a:off x="3914236" y="4979574"/>
              <a:ext cx="221759" cy="360437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sp>
        <p:nvSpPr>
          <p:cNvPr id="3" name="Arc 2">
            <a:extLst>
              <a:ext uri="{FF2B5EF4-FFF2-40B4-BE49-F238E27FC236}">
                <a16:creationId xmlns:a16="http://schemas.microsoft.com/office/drawing/2014/main" id="{E172FF6F-BC92-43E0-BB6C-08BC48E17933}"/>
              </a:ext>
            </a:extLst>
          </p:cNvPr>
          <p:cNvSpPr/>
          <p:nvPr/>
        </p:nvSpPr>
        <p:spPr bwMode="auto">
          <a:xfrm>
            <a:off x="3160026" y="4119193"/>
            <a:ext cx="1078583" cy="824409"/>
          </a:xfrm>
          <a:prstGeom prst="arc">
            <a:avLst>
              <a:gd name="adj1" fmla="val 16200000"/>
              <a:gd name="adj2" fmla="val 437453"/>
            </a:avLst>
          </a:prstGeom>
          <a:noFill/>
          <a:ln w="28575" cap="sq" cmpd="sng" algn="ctr">
            <a:solidFill>
              <a:srgbClr val="00B050"/>
            </a:solidFill>
            <a:prstDash val="solid"/>
            <a:round/>
            <a:headEnd type="triangle" w="lg" len="lg"/>
            <a:tailEnd type="triangle" w="lg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F152A15D-DE15-43AB-9338-1554B2286596}"/>
              </a:ext>
            </a:extLst>
          </p:cNvPr>
          <p:cNvSpPr/>
          <p:nvPr/>
        </p:nvSpPr>
        <p:spPr bwMode="auto">
          <a:xfrm rot="5400000">
            <a:off x="3596548" y="4757209"/>
            <a:ext cx="1106159" cy="396627"/>
          </a:xfrm>
          <a:prstGeom prst="arc">
            <a:avLst>
              <a:gd name="adj1" fmla="val 16482787"/>
              <a:gd name="adj2" fmla="val 437453"/>
            </a:avLst>
          </a:prstGeom>
          <a:noFill/>
          <a:ln w="28575" cap="sq" cmpd="sng" algn="ctr">
            <a:solidFill>
              <a:srgbClr val="00B050"/>
            </a:solidFill>
            <a:prstDash val="solid"/>
            <a:round/>
            <a:headEnd type="triangle" w="lg" len="lg"/>
            <a:tailEnd type="triangle" w="lg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102106CB-FD4D-42B7-8306-6268EE659176}"/>
              </a:ext>
            </a:extLst>
          </p:cNvPr>
          <p:cNvSpPr/>
          <p:nvPr/>
        </p:nvSpPr>
        <p:spPr bwMode="auto">
          <a:xfrm flipH="1">
            <a:off x="3520901" y="3376371"/>
            <a:ext cx="1572924" cy="739066"/>
          </a:xfrm>
          <a:prstGeom prst="arc">
            <a:avLst>
              <a:gd name="adj1" fmla="val 15719884"/>
              <a:gd name="adj2" fmla="val 386891"/>
            </a:avLst>
          </a:prstGeom>
          <a:noFill/>
          <a:ln w="28575" cap="sq" cmpd="sng" algn="ctr">
            <a:solidFill>
              <a:srgbClr val="00B050"/>
            </a:solidFill>
            <a:prstDash val="solid"/>
            <a:round/>
            <a:headEnd type="triangle" w="lg" len="lg"/>
            <a:tailEnd type="triangle" w="lg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489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Removing The Lowest (Top) Value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Save the 6 (for return); move the last node's value (40) to the top; delete the last node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20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1400" b="1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400" dirty="0"/>
              <a:t>                                                    6             </a:t>
            </a:r>
            <a:r>
              <a:rPr lang="en-US" altLang="en-US" sz="1400" dirty="0">
                <a:solidFill>
                  <a:srgbClr val="FF0000"/>
                </a:solidFill>
              </a:rPr>
              <a:t>save 6 for return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                      8                                         7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        90                       11               22                  40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97            91         40           </a:t>
            </a:r>
            <a:r>
              <a:rPr lang="en-US" altLang="en-US" sz="1400" dirty="0">
                <a:solidFill>
                  <a:srgbClr val="FF0000"/>
                </a:solidFill>
              </a:rPr>
              <a:t>move 40 to top, and delete this node</a:t>
            </a: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/>
              <a:t>       </a:t>
            </a:r>
            <a:endParaRPr lang="en-US" altLang="en-US" sz="2000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1F06F9-8642-4146-92EE-A9CFDA809D13}" type="datetime1">
              <a:rPr lang="en-US" smtClean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grpSp>
        <p:nvGrpSpPr>
          <p:cNvPr id="16392" name="Group 16391">
            <a:extLst>
              <a:ext uri="{FF2B5EF4-FFF2-40B4-BE49-F238E27FC236}">
                <a16:creationId xmlns:a16="http://schemas.microsoft.com/office/drawing/2014/main" id="{89F9CD25-3BFB-4D5B-9EFE-6040FE719B89}"/>
              </a:ext>
            </a:extLst>
          </p:cNvPr>
          <p:cNvGrpSpPr/>
          <p:nvPr/>
        </p:nvGrpSpPr>
        <p:grpSpPr>
          <a:xfrm>
            <a:off x="2114550" y="3186769"/>
            <a:ext cx="4527439" cy="2535628"/>
            <a:chOff x="2114550" y="3186769"/>
            <a:chExt cx="4527439" cy="253562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ABE3C60-B1DD-40DE-A2AA-4BA781B3EB30}"/>
                </a:ext>
              </a:extLst>
            </p:cNvPr>
            <p:cNvSpPr/>
            <p:nvPr/>
          </p:nvSpPr>
          <p:spPr bwMode="auto">
            <a:xfrm>
              <a:off x="4415155" y="318676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3E0F42F-859B-4073-9AD9-C9FD06E789FA}"/>
                </a:ext>
              </a:extLst>
            </p:cNvPr>
            <p:cNvSpPr/>
            <p:nvPr/>
          </p:nvSpPr>
          <p:spPr bwMode="auto">
            <a:xfrm>
              <a:off x="3294967" y="388863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3B31430-92F8-4DCC-91F8-EA7EAF76BBAA}"/>
                </a:ext>
              </a:extLst>
            </p:cNvPr>
            <p:cNvSpPr/>
            <p:nvPr/>
          </p:nvSpPr>
          <p:spPr bwMode="auto">
            <a:xfrm>
              <a:off x="5640841" y="388967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AA0F972-1BC6-45E8-9AC7-88A362EFB38E}"/>
                </a:ext>
              </a:extLst>
            </p:cNvPr>
            <p:cNvSpPr/>
            <p:nvPr/>
          </p:nvSpPr>
          <p:spPr bwMode="auto">
            <a:xfrm>
              <a:off x="2585748" y="4610362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1DDE2C2-3403-4B7C-9633-6C29C524CE59}"/>
                </a:ext>
              </a:extLst>
            </p:cNvPr>
            <p:cNvSpPr/>
            <p:nvPr/>
          </p:nvSpPr>
          <p:spPr bwMode="auto">
            <a:xfrm>
              <a:off x="4032174" y="4605138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673AA3-6688-4C25-B8DA-E3F3C5E692D2}"/>
                </a:ext>
              </a:extLst>
            </p:cNvPr>
            <p:cNvSpPr/>
            <p:nvPr/>
          </p:nvSpPr>
          <p:spPr bwMode="auto">
            <a:xfrm>
              <a:off x="5057449" y="460513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0DE4EF1-675B-497D-9B1D-FD072ACD6B71}"/>
                </a:ext>
              </a:extLst>
            </p:cNvPr>
            <p:cNvSpPr/>
            <p:nvPr/>
          </p:nvSpPr>
          <p:spPr bwMode="auto">
            <a:xfrm>
              <a:off x="6245363" y="4600096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A4EFE5-5F8E-4214-A5A0-BECB847D9E78}"/>
                </a:ext>
              </a:extLst>
            </p:cNvPr>
            <p:cNvSpPr/>
            <p:nvPr/>
          </p:nvSpPr>
          <p:spPr bwMode="auto">
            <a:xfrm>
              <a:off x="2114550" y="5345946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2A4E695-86F0-4C8A-8F01-84244057381A}"/>
                </a:ext>
              </a:extLst>
            </p:cNvPr>
            <p:cNvSpPr/>
            <p:nvPr/>
          </p:nvSpPr>
          <p:spPr bwMode="auto">
            <a:xfrm>
              <a:off x="2981516" y="5346954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D05431B-A7D5-43DE-A6AF-D9151E8B4E28}"/>
                </a:ext>
              </a:extLst>
            </p:cNvPr>
            <p:cNvSpPr/>
            <p:nvPr/>
          </p:nvSpPr>
          <p:spPr bwMode="auto">
            <a:xfrm>
              <a:off x="3678926" y="5347961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27DB5E2-4D2A-49A1-A161-51B9589055F9}"/>
                </a:ext>
              </a:extLst>
            </p:cNvPr>
            <p:cNvCxnSpPr/>
            <p:nvPr/>
          </p:nvCxnSpPr>
          <p:spPr bwMode="auto">
            <a:xfrm flipH="1">
              <a:off x="3678926" y="3506209"/>
              <a:ext cx="749874" cy="418401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E688A26-A020-4999-BBED-823D647F07CD}"/>
                </a:ext>
              </a:extLst>
            </p:cNvPr>
            <p:cNvCxnSpPr/>
            <p:nvPr/>
          </p:nvCxnSpPr>
          <p:spPr bwMode="auto">
            <a:xfrm>
              <a:off x="4775466" y="3515036"/>
              <a:ext cx="922881" cy="395181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7652EE0-2EAB-4F4F-8165-95E4F04C9F40}"/>
                </a:ext>
              </a:extLst>
            </p:cNvPr>
            <p:cNvCxnSpPr/>
            <p:nvPr/>
          </p:nvCxnSpPr>
          <p:spPr bwMode="auto">
            <a:xfrm flipH="1">
              <a:off x="2911986" y="4255149"/>
              <a:ext cx="435708" cy="355213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9FB9C50-A724-45E4-A65D-CA1C2B5B01CD}"/>
                </a:ext>
              </a:extLst>
            </p:cNvPr>
            <p:cNvCxnSpPr/>
            <p:nvPr/>
          </p:nvCxnSpPr>
          <p:spPr bwMode="auto">
            <a:xfrm>
              <a:off x="3657600" y="4263075"/>
              <a:ext cx="478395" cy="337021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6B86A67-5B7E-4939-9F60-D807347B57F1}"/>
                </a:ext>
              </a:extLst>
            </p:cNvPr>
            <p:cNvCxnSpPr/>
            <p:nvPr/>
          </p:nvCxnSpPr>
          <p:spPr bwMode="auto">
            <a:xfrm flipH="1">
              <a:off x="5346152" y="4252434"/>
              <a:ext cx="352195" cy="347662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84" name="Straight Arrow Connector 16383">
              <a:extLst>
                <a:ext uri="{FF2B5EF4-FFF2-40B4-BE49-F238E27FC236}">
                  <a16:creationId xmlns:a16="http://schemas.microsoft.com/office/drawing/2014/main" id="{B9B5EB20-AB8E-4E80-ADC4-7E8FF5D875A0}"/>
                </a:ext>
              </a:extLst>
            </p:cNvPr>
            <p:cNvCxnSpPr/>
            <p:nvPr/>
          </p:nvCxnSpPr>
          <p:spPr bwMode="auto">
            <a:xfrm>
              <a:off x="6003209" y="4238484"/>
              <a:ext cx="366235" cy="361612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86" name="Straight Arrow Connector 16385">
              <a:extLst>
                <a:ext uri="{FF2B5EF4-FFF2-40B4-BE49-F238E27FC236}">
                  <a16:creationId xmlns:a16="http://schemas.microsoft.com/office/drawing/2014/main" id="{114D6AB6-E997-4B54-A0E6-54E6C6FAF28E}"/>
                </a:ext>
              </a:extLst>
            </p:cNvPr>
            <p:cNvCxnSpPr/>
            <p:nvPr/>
          </p:nvCxnSpPr>
          <p:spPr bwMode="auto">
            <a:xfrm flipH="1">
              <a:off x="2364970" y="4974532"/>
              <a:ext cx="254211" cy="371414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89" name="Straight Arrow Connector 16388">
              <a:extLst>
                <a:ext uri="{FF2B5EF4-FFF2-40B4-BE49-F238E27FC236}">
                  <a16:creationId xmlns:a16="http://schemas.microsoft.com/office/drawing/2014/main" id="{5897C140-98BA-4B44-94EB-31AB967EA4DF}"/>
                </a:ext>
              </a:extLst>
            </p:cNvPr>
            <p:cNvCxnSpPr/>
            <p:nvPr/>
          </p:nvCxnSpPr>
          <p:spPr bwMode="auto">
            <a:xfrm>
              <a:off x="2908970" y="4984798"/>
              <a:ext cx="205852" cy="355213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91" name="Straight Arrow Connector 16390">
              <a:extLst>
                <a:ext uri="{FF2B5EF4-FFF2-40B4-BE49-F238E27FC236}">
                  <a16:creationId xmlns:a16="http://schemas.microsoft.com/office/drawing/2014/main" id="{F179C6BF-658E-4467-980D-8B42AEA524ED}"/>
                </a:ext>
              </a:extLst>
            </p:cNvPr>
            <p:cNvCxnSpPr/>
            <p:nvPr/>
          </p:nvCxnSpPr>
          <p:spPr bwMode="auto">
            <a:xfrm flipH="1">
              <a:off x="3914236" y="4979574"/>
              <a:ext cx="221759" cy="360437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F1C7A13-6F3A-47D1-8E49-9377A922D9F4}"/>
              </a:ext>
            </a:extLst>
          </p:cNvPr>
          <p:cNvCxnSpPr/>
          <p:nvPr/>
        </p:nvCxnSpPr>
        <p:spPr bwMode="auto">
          <a:xfrm flipH="1">
            <a:off x="4862670" y="3385097"/>
            <a:ext cx="423894" cy="0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9DA2519-A20F-478F-B379-2BB2759DAF31}"/>
              </a:ext>
            </a:extLst>
          </p:cNvPr>
          <p:cNvCxnSpPr/>
          <p:nvPr/>
        </p:nvCxnSpPr>
        <p:spPr bwMode="auto">
          <a:xfrm flipH="1">
            <a:off x="4111771" y="5535855"/>
            <a:ext cx="423894" cy="0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190496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Removing The Lowest (Top) Value (cont.)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Swap the top value down the tree, in exchange with the </a:t>
            </a:r>
            <a:r>
              <a:rPr lang="en-US" altLang="en-US" sz="2400" i="1" dirty="0"/>
              <a:t>lesser</a:t>
            </a:r>
            <a:r>
              <a:rPr lang="en-US" altLang="en-US" sz="2400" dirty="0"/>
              <a:t> child node value: 40 with 7, then 22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20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1400" b="1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400" dirty="0"/>
              <a:t>                                                   </a:t>
            </a:r>
            <a:r>
              <a:rPr lang="en-US" altLang="en-US" sz="400" dirty="0"/>
              <a:t> </a:t>
            </a:r>
            <a:r>
              <a:rPr lang="en-US" altLang="en-US" sz="1400" dirty="0">
                <a:solidFill>
                  <a:srgbClr val="FF0000"/>
                </a:solidFill>
              </a:rPr>
              <a:t>40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                      8                                         7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        90                       11               22                  40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97            91</a:t>
            </a:r>
            <a:endParaRPr lang="en-US" altLang="en-US" sz="1400" dirty="0">
              <a:solidFill>
                <a:srgbClr val="FF0000"/>
              </a:solidFill>
            </a:endParaRP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/>
              <a:t>       </a:t>
            </a:r>
            <a:endParaRPr lang="en-US" altLang="en-US" sz="2000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CED2DD-B2E7-49CD-87BC-44D58F2D7F3D}" type="datetime1">
              <a:rPr lang="en-US" smtClean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BE3C60-B1DD-40DE-A2AA-4BA781B3EB30}"/>
              </a:ext>
            </a:extLst>
          </p:cNvPr>
          <p:cNvSpPr/>
          <p:nvPr/>
        </p:nvSpPr>
        <p:spPr bwMode="auto">
          <a:xfrm>
            <a:off x="4415155" y="3186769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E0F42F-859B-4073-9AD9-C9FD06E789FA}"/>
              </a:ext>
            </a:extLst>
          </p:cNvPr>
          <p:cNvSpPr/>
          <p:nvPr/>
        </p:nvSpPr>
        <p:spPr bwMode="auto">
          <a:xfrm>
            <a:off x="3294967" y="3888639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B31430-92F8-4DCC-91F8-EA7EAF76BBAA}"/>
              </a:ext>
            </a:extLst>
          </p:cNvPr>
          <p:cNvSpPr/>
          <p:nvPr/>
        </p:nvSpPr>
        <p:spPr bwMode="auto">
          <a:xfrm>
            <a:off x="5640841" y="3889679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AA0F972-1BC6-45E8-9AC7-88A362EFB38E}"/>
              </a:ext>
            </a:extLst>
          </p:cNvPr>
          <p:cNvSpPr/>
          <p:nvPr/>
        </p:nvSpPr>
        <p:spPr bwMode="auto">
          <a:xfrm>
            <a:off x="2585748" y="4610362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1DDE2C2-3403-4B7C-9633-6C29C524CE59}"/>
              </a:ext>
            </a:extLst>
          </p:cNvPr>
          <p:cNvSpPr/>
          <p:nvPr/>
        </p:nvSpPr>
        <p:spPr bwMode="auto">
          <a:xfrm>
            <a:off x="4032174" y="4605138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D673AA3-6688-4C25-B8DA-E3F3C5E692D2}"/>
              </a:ext>
            </a:extLst>
          </p:cNvPr>
          <p:cNvSpPr/>
          <p:nvPr/>
        </p:nvSpPr>
        <p:spPr bwMode="auto">
          <a:xfrm>
            <a:off x="5057449" y="4605139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0DE4EF1-675B-497D-9B1D-FD072ACD6B71}"/>
              </a:ext>
            </a:extLst>
          </p:cNvPr>
          <p:cNvSpPr/>
          <p:nvPr/>
        </p:nvSpPr>
        <p:spPr bwMode="auto">
          <a:xfrm>
            <a:off x="6245363" y="4600096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5A4EFE5-5F8E-4214-A5A0-BECB847D9E78}"/>
              </a:ext>
            </a:extLst>
          </p:cNvPr>
          <p:cNvSpPr/>
          <p:nvPr/>
        </p:nvSpPr>
        <p:spPr bwMode="auto">
          <a:xfrm>
            <a:off x="2114550" y="5345946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2A4E695-86F0-4C8A-8F01-84244057381A}"/>
              </a:ext>
            </a:extLst>
          </p:cNvPr>
          <p:cNvSpPr/>
          <p:nvPr/>
        </p:nvSpPr>
        <p:spPr bwMode="auto">
          <a:xfrm>
            <a:off x="2981516" y="5346954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27DB5E2-4D2A-49A1-A161-51B9589055F9}"/>
              </a:ext>
            </a:extLst>
          </p:cNvPr>
          <p:cNvCxnSpPr/>
          <p:nvPr/>
        </p:nvCxnSpPr>
        <p:spPr bwMode="auto">
          <a:xfrm flipH="1">
            <a:off x="3678926" y="3506209"/>
            <a:ext cx="749874" cy="41840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E688A26-A020-4999-BBED-823D647F07CD}"/>
              </a:ext>
            </a:extLst>
          </p:cNvPr>
          <p:cNvCxnSpPr/>
          <p:nvPr/>
        </p:nvCxnSpPr>
        <p:spPr bwMode="auto">
          <a:xfrm>
            <a:off x="4775466" y="3515036"/>
            <a:ext cx="922881" cy="39518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7652EE0-2EAB-4F4F-8165-95E4F04C9F40}"/>
              </a:ext>
            </a:extLst>
          </p:cNvPr>
          <p:cNvCxnSpPr/>
          <p:nvPr/>
        </p:nvCxnSpPr>
        <p:spPr bwMode="auto">
          <a:xfrm flipH="1">
            <a:off x="2911986" y="4255149"/>
            <a:ext cx="435708" cy="35521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FB9C50-A724-45E4-A65D-CA1C2B5B01CD}"/>
              </a:ext>
            </a:extLst>
          </p:cNvPr>
          <p:cNvCxnSpPr/>
          <p:nvPr/>
        </p:nvCxnSpPr>
        <p:spPr bwMode="auto">
          <a:xfrm>
            <a:off x="3657600" y="4263075"/>
            <a:ext cx="478395" cy="33702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6B86A67-5B7E-4939-9F60-D807347B57F1}"/>
              </a:ext>
            </a:extLst>
          </p:cNvPr>
          <p:cNvCxnSpPr/>
          <p:nvPr/>
        </p:nvCxnSpPr>
        <p:spPr bwMode="auto">
          <a:xfrm flipH="1">
            <a:off x="5346152" y="4252434"/>
            <a:ext cx="352195" cy="347662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6384" name="Straight Arrow Connector 16383">
            <a:extLst>
              <a:ext uri="{FF2B5EF4-FFF2-40B4-BE49-F238E27FC236}">
                <a16:creationId xmlns:a16="http://schemas.microsoft.com/office/drawing/2014/main" id="{B9B5EB20-AB8E-4E80-ADC4-7E8FF5D875A0}"/>
              </a:ext>
            </a:extLst>
          </p:cNvPr>
          <p:cNvCxnSpPr/>
          <p:nvPr/>
        </p:nvCxnSpPr>
        <p:spPr bwMode="auto">
          <a:xfrm>
            <a:off x="6003209" y="4238484"/>
            <a:ext cx="366235" cy="361612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6386" name="Straight Arrow Connector 16385">
            <a:extLst>
              <a:ext uri="{FF2B5EF4-FFF2-40B4-BE49-F238E27FC236}">
                <a16:creationId xmlns:a16="http://schemas.microsoft.com/office/drawing/2014/main" id="{114D6AB6-E997-4B54-A0E6-54E6C6FAF28E}"/>
              </a:ext>
            </a:extLst>
          </p:cNvPr>
          <p:cNvCxnSpPr/>
          <p:nvPr/>
        </p:nvCxnSpPr>
        <p:spPr bwMode="auto">
          <a:xfrm flipH="1">
            <a:off x="2364970" y="4974532"/>
            <a:ext cx="254211" cy="371414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6389" name="Straight Arrow Connector 16388">
            <a:extLst>
              <a:ext uri="{FF2B5EF4-FFF2-40B4-BE49-F238E27FC236}">
                <a16:creationId xmlns:a16="http://schemas.microsoft.com/office/drawing/2014/main" id="{5897C140-98BA-4B44-94EB-31AB967EA4DF}"/>
              </a:ext>
            </a:extLst>
          </p:cNvPr>
          <p:cNvCxnSpPr/>
          <p:nvPr/>
        </p:nvCxnSpPr>
        <p:spPr bwMode="auto">
          <a:xfrm>
            <a:off x="2908970" y="4984798"/>
            <a:ext cx="205852" cy="35521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01095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Removing The Lowest (Top) Value (cont.)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After </a:t>
            </a:r>
            <a:r>
              <a:rPr lang="en-US" altLang="en-US" sz="2400" b="1" dirty="0"/>
              <a:t>log N</a:t>
            </a:r>
            <a:r>
              <a:rPr lang="en-US" altLang="en-US" sz="2400" dirty="0"/>
              <a:t> swaps, the min heap property is restored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20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1400" b="1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400" dirty="0"/>
              <a:t>                                                   </a:t>
            </a:r>
            <a:r>
              <a:rPr lang="en-US" altLang="en-US" sz="400" dirty="0"/>
              <a:t>    </a:t>
            </a:r>
            <a:r>
              <a:rPr lang="en-US" altLang="en-US" sz="1400" dirty="0"/>
              <a:t>7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                      8                                        22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        90                       11               40                  40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97            91</a:t>
            </a:r>
            <a:endParaRPr lang="en-US" altLang="en-US" sz="1400" dirty="0">
              <a:solidFill>
                <a:srgbClr val="FF0000"/>
              </a:solidFill>
            </a:endParaRPr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2000" b="1" dirty="0"/>
              <a:t>       </a:t>
            </a:r>
            <a:endParaRPr lang="en-US" altLang="en-US" sz="2000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4D4990-456A-488E-BF0B-CB9145AA8DD0}" type="datetime1">
              <a:rPr lang="en-US" smtClean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BE3C60-B1DD-40DE-A2AA-4BA781B3EB30}"/>
              </a:ext>
            </a:extLst>
          </p:cNvPr>
          <p:cNvSpPr/>
          <p:nvPr/>
        </p:nvSpPr>
        <p:spPr bwMode="auto">
          <a:xfrm>
            <a:off x="4415155" y="3186769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E0F42F-859B-4073-9AD9-C9FD06E789FA}"/>
              </a:ext>
            </a:extLst>
          </p:cNvPr>
          <p:cNvSpPr/>
          <p:nvPr/>
        </p:nvSpPr>
        <p:spPr bwMode="auto">
          <a:xfrm>
            <a:off x="3294967" y="3888639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B31430-92F8-4DCC-91F8-EA7EAF76BBAA}"/>
              </a:ext>
            </a:extLst>
          </p:cNvPr>
          <p:cNvSpPr/>
          <p:nvPr/>
        </p:nvSpPr>
        <p:spPr bwMode="auto">
          <a:xfrm>
            <a:off x="5640841" y="3889679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AA0F972-1BC6-45E8-9AC7-88A362EFB38E}"/>
              </a:ext>
            </a:extLst>
          </p:cNvPr>
          <p:cNvSpPr/>
          <p:nvPr/>
        </p:nvSpPr>
        <p:spPr bwMode="auto">
          <a:xfrm>
            <a:off x="2585748" y="4610362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1DDE2C2-3403-4B7C-9633-6C29C524CE59}"/>
              </a:ext>
            </a:extLst>
          </p:cNvPr>
          <p:cNvSpPr/>
          <p:nvPr/>
        </p:nvSpPr>
        <p:spPr bwMode="auto">
          <a:xfrm>
            <a:off x="4032174" y="4605138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D673AA3-6688-4C25-B8DA-E3F3C5E692D2}"/>
              </a:ext>
            </a:extLst>
          </p:cNvPr>
          <p:cNvSpPr/>
          <p:nvPr/>
        </p:nvSpPr>
        <p:spPr bwMode="auto">
          <a:xfrm>
            <a:off x="5057449" y="4605139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0DE4EF1-675B-497D-9B1D-FD072ACD6B71}"/>
              </a:ext>
            </a:extLst>
          </p:cNvPr>
          <p:cNvSpPr/>
          <p:nvPr/>
        </p:nvSpPr>
        <p:spPr bwMode="auto">
          <a:xfrm>
            <a:off x="6245363" y="4600096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5A4EFE5-5F8E-4214-A5A0-BECB847D9E78}"/>
              </a:ext>
            </a:extLst>
          </p:cNvPr>
          <p:cNvSpPr/>
          <p:nvPr/>
        </p:nvSpPr>
        <p:spPr bwMode="auto">
          <a:xfrm>
            <a:off x="2114550" y="5345946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2A4E695-86F0-4C8A-8F01-84244057381A}"/>
              </a:ext>
            </a:extLst>
          </p:cNvPr>
          <p:cNvSpPr/>
          <p:nvPr/>
        </p:nvSpPr>
        <p:spPr bwMode="auto">
          <a:xfrm>
            <a:off x="2981516" y="5346954"/>
            <a:ext cx="396626" cy="374436"/>
          </a:xfrm>
          <a:prstGeom prst="ellipse">
            <a:avLst/>
          </a:prstGeom>
          <a:noFill/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27DB5E2-4D2A-49A1-A161-51B9589055F9}"/>
              </a:ext>
            </a:extLst>
          </p:cNvPr>
          <p:cNvCxnSpPr/>
          <p:nvPr/>
        </p:nvCxnSpPr>
        <p:spPr bwMode="auto">
          <a:xfrm flipH="1">
            <a:off x="3678926" y="3506209"/>
            <a:ext cx="749874" cy="41840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E688A26-A020-4999-BBED-823D647F07CD}"/>
              </a:ext>
            </a:extLst>
          </p:cNvPr>
          <p:cNvCxnSpPr/>
          <p:nvPr/>
        </p:nvCxnSpPr>
        <p:spPr bwMode="auto">
          <a:xfrm>
            <a:off x="4775466" y="3515036"/>
            <a:ext cx="922881" cy="39518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7652EE0-2EAB-4F4F-8165-95E4F04C9F40}"/>
              </a:ext>
            </a:extLst>
          </p:cNvPr>
          <p:cNvCxnSpPr/>
          <p:nvPr/>
        </p:nvCxnSpPr>
        <p:spPr bwMode="auto">
          <a:xfrm flipH="1">
            <a:off x="2911986" y="4255149"/>
            <a:ext cx="435708" cy="35521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9FB9C50-A724-45E4-A65D-CA1C2B5B01CD}"/>
              </a:ext>
            </a:extLst>
          </p:cNvPr>
          <p:cNvCxnSpPr/>
          <p:nvPr/>
        </p:nvCxnSpPr>
        <p:spPr bwMode="auto">
          <a:xfrm>
            <a:off x="3657600" y="4263075"/>
            <a:ext cx="478395" cy="337021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6B86A67-5B7E-4939-9F60-D807347B57F1}"/>
              </a:ext>
            </a:extLst>
          </p:cNvPr>
          <p:cNvCxnSpPr/>
          <p:nvPr/>
        </p:nvCxnSpPr>
        <p:spPr bwMode="auto">
          <a:xfrm flipH="1">
            <a:off x="5346152" y="4252434"/>
            <a:ext cx="352195" cy="347662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6384" name="Straight Arrow Connector 16383">
            <a:extLst>
              <a:ext uri="{FF2B5EF4-FFF2-40B4-BE49-F238E27FC236}">
                <a16:creationId xmlns:a16="http://schemas.microsoft.com/office/drawing/2014/main" id="{B9B5EB20-AB8E-4E80-ADC4-7E8FF5D875A0}"/>
              </a:ext>
            </a:extLst>
          </p:cNvPr>
          <p:cNvCxnSpPr/>
          <p:nvPr/>
        </p:nvCxnSpPr>
        <p:spPr bwMode="auto">
          <a:xfrm>
            <a:off x="6003209" y="4238484"/>
            <a:ext cx="366235" cy="361612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6386" name="Straight Arrow Connector 16385">
            <a:extLst>
              <a:ext uri="{FF2B5EF4-FFF2-40B4-BE49-F238E27FC236}">
                <a16:creationId xmlns:a16="http://schemas.microsoft.com/office/drawing/2014/main" id="{114D6AB6-E997-4B54-A0E6-54E6C6FAF28E}"/>
              </a:ext>
            </a:extLst>
          </p:cNvPr>
          <p:cNvCxnSpPr/>
          <p:nvPr/>
        </p:nvCxnSpPr>
        <p:spPr bwMode="auto">
          <a:xfrm flipH="1">
            <a:off x="2364970" y="4974532"/>
            <a:ext cx="254211" cy="371414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6389" name="Straight Arrow Connector 16388">
            <a:extLst>
              <a:ext uri="{FF2B5EF4-FFF2-40B4-BE49-F238E27FC236}">
                <a16:creationId xmlns:a16="http://schemas.microsoft.com/office/drawing/2014/main" id="{5897C140-98BA-4B44-94EB-31AB967EA4DF}"/>
              </a:ext>
            </a:extLst>
          </p:cNvPr>
          <p:cNvCxnSpPr/>
          <p:nvPr/>
        </p:nvCxnSpPr>
        <p:spPr bwMode="auto">
          <a:xfrm>
            <a:off x="2908970" y="4984798"/>
            <a:ext cx="205852" cy="355213"/>
          </a:xfrm>
          <a:prstGeom prst="straightConnector1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5130518F-9A2A-4BE9-A8BE-06546E5D5942}"/>
              </a:ext>
            </a:extLst>
          </p:cNvPr>
          <p:cNvSpPr/>
          <p:nvPr/>
        </p:nvSpPr>
        <p:spPr bwMode="auto">
          <a:xfrm>
            <a:off x="3986282" y="3318373"/>
            <a:ext cx="1817590" cy="993235"/>
          </a:xfrm>
          <a:prstGeom prst="arc">
            <a:avLst>
              <a:gd name="adj1" fmla="val 16200000"/>
              <a:gd name="adj2" fmla="val 133772"/>
            </a:avLst>
          </a:prstGeom>
          <a:noFill/>
          <a:ln w="28575" cap="sq" cmpd="sng" algn="ctr">
            <a:solidFill>
              <a:srgbClr val="00B050"/>
            </a:solidFill>
            <a:prstDash val="solid"/>
            <a:round/>
            <a:headEnd type="triangle" w="lg" len="lg"/>
            <a:tailEnd type="triangle" w="lg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AF6D99E7-D699-410D-A487-8C52E3459FC9}"/>
              </a:ext>
            </a:extLst>
          </p:cNvPr>
          <p:cNvSpPr/>
          <p:nvPr/>
        </p:nvSpPr>
        <p:spPr bwMode="auto">
          <a:xfrm rot="16200000">
            <a:off x="5023835" y="4227802"/>
            <a:ext cx="1078583" cy="682223"/>
          </a:xfrm>
          <a:prstGeom prst="arc">
            <a:avLst>
              <a:gd name="adj1" fmla="val 16199995"/>
              <a:gd name="adj2" fmla="val 437453"/>
            </a:avLst>
          </a:prstGeom>
          <a:noFill/>
          <a:ln w="28575" cap="sq" cmpd="sng" algn="ctr">
            <a:solidFill>
              <a:srgbClr val="00B050"/>
            </a:solidFill>
            <a:prstDash val="solid"/>
            <a:round/>
            <a:headEnd type="triangle" w="lg" len="lg"/>
            <a:tailEnd type="triangle" w="lg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455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Heap Implementation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You can write tree code to implement a heap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i="1" dirty="0"/>
              <a:t>Messy</a:t>
            </a:r>
            <a:r>
              <a:rPr lang="en-US" altLang="en-US" sz="2000" dirty="0"/>
              <a:t>: to support swaps, each node must point to its parent as well as its children</a:t>
            </a:r>
            <a:endParaRPr lang="en-US" altLang="en-US" sz="2000" b="1" dirty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The trick:</a:t>
            </a:r>
            <a:endParaRPr lang="en-US" altLang="en-US" sz="2400" b="1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Nodes are labelled from 1 through N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i="1" dirty="0"/>
              <a:t>Just use a Python list!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One nuisance: in Python, lists are indexed from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36C8E0-333B-4304-811A-F2B328144401}" type="datetime1">
              <a:rPr lang="en-US" smtClean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</p:spTree>
    <p:extLst>
      <p:ext uri="{BB962C8B-B14F-4D97-AF65-F5344CB8AC3E}">
        <p14:creationId xmlns:p14="http://schemas.microsoft.com/office/powerpoint/2010/main" val="2401934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Heap Implementation (cont.)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933450" lvl="1" indent="-533400" eaLnBrk="1" hangingPunct="1">
              <a:lnSpc>
                <a:spcPct val="90000"/>
              </a:lnSpc>
              <a:defRPr/>
            </a:pPr>
            <a:endParaRPr lang="en-US" altLang="en-US" sz="1400" b="1" dirty="0"/>
          </a:p>
          <a:p>
            <a:pPr marL="400050" lvl="1" indent="0" eaLnBrk="1" hangingPunct="1">
              <a:lnSpc>
                <a:spcPct val="90000"/>
              </a:lnSpc>
              <a:buNone/>
              <a:defRPr/>
            </a:pPr>
            <a:r>
              <a:rPr lang="en-US" altLang="en-US" sz="1400" b="1" dirty="0"/>
              <a:t>Tree</a:t>
            </a:r>
            <a:r>
              <a:rPr lang="en-US" altLang="en-US" sz="1400" dirty="0"/>
              <a:t>                                      </a:t>
            </a:r>
            <a:r>
              <a:rPr lang="en-US" altLang="en-US" sz="1400" b="1" dirty="0">
                <a:solidFill>
                  <a:srgbClr val="FF0000"/>
                </a:solidFill>
              </a:rPr>
              <a:t>1</a:t>
            </a:r>
            <a:r>
              <a:rPr lang="en-US" altLang="en-US" sz="1400" dirty="0"/>
              <a:t>     6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               </a:t>
            </a:r>
            <a:r>
              <a:rPr lang="en-US" altLang="en-US" sz="1400" b="1" dirty="0">
                <a:solidFill>
                  <a:srgbClr val="FF0000"/>
                </a:solidFill>
              </a:rPr>
              <a:t>2</a:t>
            </a:r>
            <a:r>
              <a:rPr lang="en-US" altLang="en-US" sz="1400" dirty="0"/>
              <a:t>     8                                  </a:t>
            </a:r>
            <a:r>
              <a:rPr lang="en-US" altLang="en-US" sz="1400" b="1" dirty="0">
                <a:solidFill>
                  <a:srgbClr val="FF0000"/>
                </a:solidFill>
              </a:rPr>
              <a:t>3</a:t>
            </a:r>
            <a:r>
              <a:rPr lang="en-US" altLang="en-US" sz="1400" dirty="0"/>
              <a:t>     7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        </a:t>
            </a:r>
            <a:r>
              <a:rPr lang="en-US" altLang="en-US" sz="1400" b="1" dirty="0">
                <a:solidFill>
                  <a:srgbClr val="FF0000"/>
                </a:solidFill>
              </a:rPr>
              <a:t>4</a:t>
            </a:r>
            <a:r>
              <a:rPr lang="en-US" altLang="en-US" sz="1400" dirty="0"/>
              <a:t>    90                 </a:t>
            </a:r>
            <a:r>
              <a:rPr lang="en-US" altLang="en-US" sz="1400" b="1" dirty="0">
                <a:solidFill>
                  <a:srgbClr val="FF0000"/>
                </a:solidFill>
              </a:rPr>
              <a:t>5</a:t>
            </a:r>
            <a:r>
              <a:rPr lang="en-US" altLang="en-US" sz="1400" dirty="0"/>
              <a:t>   11          </a:t>
            </a:r>
            <a:r>
              <a:rPr lang="en-US" altLang="en-US" sz="1400" b="1" dirty="0">
                <a:solidFill>
                  <a:srgbClr val="FF0000"/>
                </a:solidFill>
              </a:rPr>
              <a:t>6</a:t>
            </a:r>
            <a:r>
              <a:rPr lang="en-US" altLang="en-US" sz="1400" dirty="0"/>
              <a:t>   22            </a:t>
            </a:r>
            <a:r>
              <a:rPr lang="en-US" altLang="en-US" sz="1400" b="1" dirty="0">
                <a:solidFill>
                  <a:srgbClr val="FF0000"/>
                </a:solidFill>
              </a:rPr>
              <a:t>7</a:t>
            </a:r>
            <a:r>
              <a:rPr lang="en-US" altLang="en-US" sz="1400" dirty="0"/>
              <a:t>   40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dirty="0"/>
              <a:t>     </a:t>
            </a:r>
            <a:r>
              <a:rPr lang="en-US" altLang="en-US" sz="1400" b="1" dirty="0">
                <a:solidFill>
                  <a:srgbClr val="FF0000"/>
                </a:solidFill>
              </a:rPr>
              <a:t>8</a:t>
            </a:r>
            <a:r>
              <a:rPr lang="en-US" altLang="en-US" sz="1400" dirty="0"/>
              <a:t>   97       </a:t>
            </a:r>
            <a:r>
              <a:rPr lang="en-US" altLang="en-US" sz="1400" b="1" dirty="0">
                <a:solidFill>
                  <a:srgbClr val="FF0000"/>
                </a:solidFill>
              </a:rPr>
              <a:t>9</a:t>
            </a:r>
            <a:r>
              <a:rPr lang="en-US" altLang="en-US" sz="1400" dirty="0"/>
              <a:t>   91  </a:t>
            </a:r>
            <a:r>
              <a:rPr lang="en-US" altLang="en-US" sz="400" dirty="0"/>
              <a:t> </a:t>
            </a:r>
            <a:r>
              <a:rPr lang="en-US" altLang="en-US" sz="1400" b="1" dirty="0">
                <a:solidFill>
                  <a:srgbClr val="FF0000"/>
                </a:solidFill>
              </a:rPr>
              <a:t>10</a:t>
            </a:r>
            <a:r>
              <a:rPr lang="en-US" altLang="en-US" sz="1400" dirty="0"/>
              <a:t>  40</a:t>
            </a:r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endParaRPr lang="en-US" altLang="en-US" sz="1400" i="1" dirty="0"/>
          </a:p>
          <a:p>
            <a:pPr marL="400050" lvl="1" indent="0" eaLnBrk="1" hangingPunct="1">
              <a:lnSpc>
                <a:spcPct val="90000"/>
              </a:lnSpc>
              <a:spcBef>
                <a:spcPts val="1300"/>
              </a:spcBef>
              <a:buNone/>
              <a:defRPr/>
            </a:pPr>
            <a:r>
              <a:rPr lang="en-US" altLang="en-US" sz="1400" b="1" dirty="0"/>
              <a:t>List</a:t>
            </a:r>
            <a:endParaRPr lang="en-US" altLang="en-US" sz="20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2CDABB7-5215-4698-B165-8DF7DBEFD045}" type="datetime1">
              <a:rPr lang="en-US" smtClean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grpSp>
        <p:nvGrpSpPr>
          <p:cNvPr id="16392" name="Group 16391">
            <a:extLst>
              <a:ext uri="{FF2B5EF4-FFF2-40B4-BE49-F238E27FC236}">
                <a16:creationId xmlns:a16="http://schemas.microsoft.com/office/drawing/2014/main" id="{89F9CD25-3BFB-4D5B-9EFE-6040FE719B89}"/>
              </a:ext>
            </a:extLst>
          </p:cNvPr>
          <p:cNvGrpSpPr/>
          <p:nvPr/>
        </p:nvGrpSpPr>
        <p:grpSpPr>
          <a:xfrm>
            <a:off x="2114550" y="2157313"/>
            <a:ext cx="4527439" cy="2535628"/>
            <a:chOff x="2114550" y="3186769"/>
            <a:chExt cx="4527439" cy="253562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ABE3C60-B1DD-40DE-A2AA-4BA781B3EB30}"/>
                </a:ext>
              </a:extLst>
            </p:cNvPr>
            <p:cNvSpPr/>
            <p:nvPr/>
          </p:nvSpPr>
          <p:spPr bwMode="auto">
            <a:xfrm>
              <a:off x="4415155" y="318676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3E0F42F-859B-4073-9AD9-C9FD06E789FA}"/>
                </a:ext>
              </a:extLst>
            </p:cNvPr>
            <p:cNvSpPr/>
            <p:nvPr/>
          </p:nvSpPr>
          <p:spPr bwMode="auto">
            <a:xfrm>
              <a:off x="3294967" y="388863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3B31430-92F8-4DCC-91F8-EA7EAF76BBAA}"/>
                </a:ext>
              </a:extLst>
            </p:cNvPr>
            <p:cNvSpPr/>
            <p:nvPr/>
          </p:nvSpPr>
          <p:spPr bwMode="auto">
            <a:xfrm>
              <a:off x="5640841" y="388967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AA0F972-1BC6-45E8-9AC7-88A362EFB38E}"/>
                </a:ext>
              </a:extLst>
            </p:cNvPr>
            <p:cNvSpPr/>
            <p:nvPr/>
          </p:nvSpPr>
          <p:spPr bwMode="auto">
            <a:xfrm>
              <a:off x="2585748" y="4610362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1DDE2C2-3403-4B7C-9633-6C29C524CE59}"/>
                </a:ext>
              </a:extLst>
            </p:cNvPr>
            <p:cNvSpPr/>
            <p:nvPr/>
          </p:nvSpPr>
          <p:spPr bwMode="auto">
            <a:xfrm>
              <a:off x="4032174" y="4605138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673AA3-6688-4C25-B8DA-E3F3C5E692D2}"/>
                </a:ext>
              </a:extLst>
            </p:cNvPr>
            <p:cNvSpPr/>
            <p:nvPr/>
          </p:nvSpPr>
          <p:spPr bwMode="auto">
            <a:xfrm>
              <a:off x="5057449" y="4605139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0DE4EF1-675B-497D-9B1D-FD072ACD6B71}"/>
                </a:ext>
              </a:extLst>
            </p:cNvPr>
            <p:cNvSpPr/>
            <p:nvPr/>
          </p:nvSpPr>
          <p:spPr bwMode="auto">
            <a:xfrm>
              <a:off x="6245363" y="4600096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A4EFE5-5F8E-4214-A5A0-BECB847D9E78}"/>
                </a:ext>
              </a:extLst>
            </p:cNvPr>
            <p:cNvSpPr/>
            <p:nvPr/>
          </p:nvSpPr>
          <p:spPr bwMode="auto">
            <a:xfrm>
              <a:off x="2114550" y="5345946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2A4E695-86F0-4C8A-8F01-84244057381A}"/>
                </a:ext>
              </a:extLst>
            </p:cNvPr>
            <p:cNvSpPr/>
            <p:nvPr/>
          </p:nvSpPr>
          <p:spPr bwMode="auto">
            <a:xfrm>
              <a:off x="2981516" y="5346954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D05431B-A7D5-43DE-A6AF-D9151E8B4E28}"/>
                </a:ext>
              </a:extLst>
            </p:cNvPr>
            <p:cNvSpPr/>
            <p:nvPr/>
          </p:nvSpPr>
          <p:spPr bwMode="auto">
            <a:xfrm>
              <a:off x="3678926" y="5347961"/>
              <a:ext cx="396626" cy="374436"/>
            </a:xfrm>
            <a:prstGeom prst="ellips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27DB5E2-4D2A-49A1-A161-51B9589055F9}"/>
                </a:ext>
              </a:extLst>
            </p:cNvPr>
            <p:cNvCxnSpPr/>
            <p:nvPr/>
          </p:nvCxnSpPr>
          <p:spPr bwMode="auto">
            <a:xfrm flipH="1">
              <a:off x="3678926" y="3506209"/>
              <a:ext cx="749874" cy="418401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E688A26-A020-4999-BBED-823D647F07CD}"/>
                </a:ext>
              </a:extLst>
            </p:cNvPr>
            <p:cNvCxnSpPr/>
            <p:nvPr/>
          </p:nvCxnSpPr>
          <p:spPr bwMode="auto">
            <a:xfrm>
              <a:off x="4775466" y="3515036"/>
              <a:ext cx="922881" cy="395181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7652EE0-2EAB-4F4F-8165-95E4F04C9F40}"/>
                </a:ext>
              </a:extLst>
            </p:cNvPr>
            <p:cNvCxnSpPr/>
            <p:nvPr/>
          </p:nvCxnSpPr>
          <p:spPr bwMode="auto">
            <a:xfrm flipH="1">
              <a:off x="2911986" y="4255149"/>
              <a:ext cx="435708" cy="355213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9FB9C50-A724-45E4-A65D-CA1C2B5B01CD}"/>
                </a:ext>
              </a:extLst>
            </p:cNvPr>
            <p:cNvCxnSpPr/>
            <p:nvPr/>
          </p:nvCxnSpPr>
          <p:spPr bwMode="auto">
            <a:xfrm>
              <a:off x="3657600" y="4263075"/>
              <a:ext cx="478395" cy="337021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6B86A67-5B7E-4939-9F60-D807347B57F1}"/>
                </a:ext>
              </a:extLst>
            </p:cNvPr>
            <p:cNvCxnSpPr/>
            <p:nvPr/>
          </p:nvCxnSpPr>
          <p:spPr bwMode="auto">
            <a:xfrm flipH="1">
              <a:off x="5346152" y="4252434"/>
              <a:ext cx="352195" cy="347662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84" name="Straight Arrow Connector 16383">
              <a:extLst>
                <a:ext uri="{FF2B5EF4-FFF2-40B4-BE49-F238E27FC236}">
                  <a16:creationId xmlns:a16="http://schemas.microsoft.com/office/drawing/2014/main" id="{B9B5EB20-AB8E-4E80-ADC4-7E8FF5D875A0}"/>
                </a:ext>
              </a:extLst>
            </p:cNvPr>
            <p:cNvCxnSpPr/>
            <p:nvPr/>
          </p:nvCxnSpPr>
          <p:spPr bwMode="auto">
            <a:xfrm>
              <a:off x="6003209" y="4238484"/>
              <a:ext cx="366235" cy="361612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86" name="Straight Arrow Connector 16385">
              <a:extLst>
                <a:ext uri="{FF2B5EF4-FFF2-40B4-BE49-F238E27FC236}">
                  <a16:creationId xmlns:a16="http://schemas.microsoft.com/office/drawing/2014/main" id="{114D6AB6-E997-4B54-A0E6-54E6C6FAF28E}"/>
                </a:ext>
              </a:extLst>
            </p:cNvPr>
            <p:cNvCxnSpPr/>
            <p:nvPr/>
          </p:nvCxnSpPr>
          <p:spPr bwMode="auto">
            <a:xfrm flipH="1">
              <a:off x="2364970" y="4974532"/>
              <a:ext cx="254211" cy="371414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89" name="Straight Arrow Connector 16388">
              <a:extLst>
                <a:ext uri="{FF2B5EF4-FFF2-40B4-BE49-F238E27FC236}">
                  <a16:creationId xmlns:a16="http://schemas.microsoft.com/office/drawing/2014/main" id="{5897C140-98BA-4B44-94EB-31AB967EA4DF}"/>
                </a:ext>
              </a:extLst>
            </p:cNvPr>
            <p:cNvCxnSpPr/>
            <p:nvPr/>
          </p:nvCxnSpPr>
          <p:spPr bwMode="auto">
            <a:xfrm>
              <a:off x="2908970" y="4984798"/>
              <a:ext cx="205852" cy="355213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6391" name="Straight Arrow Connector 16390">
              <a:extLst>
                <a:ext uri="{FF2B5EF4-FFF2-40B4-BE49-F238E27FC236}">
                  <a16:creationId xmlns:a16="http://schemas.microsoft.com/office/drawing/2014/main" id="{F179C6BF-658E-4467-980D-8B42AEA524ED}"/>
                </a:ext>
              </a:extLst>
            </p:cNvPr>
            <p:cNvCxnSpPr/>
            <p:nvPr/>
          </p:nvCxnSpPr>
          <p:spPr bwMode="auto">
            <a:xfrm flipH="1">
              <a:off x="3914236" y="4979574"/>
              <a:ext cx="221759" cy="360437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BD16FD3-77D8-42E7-B40F-D285D4E17D2C}"/>
              </a:ext>
            </a:extLst>
          </p:cNvPr>
          <p:cNvSpPr txBox="1"/>
          <p:nvPr/>
        </p:nvSpPr>
        <p:spPr>
          <a:xfrm>
            <a:off x="2332555" y="5020117"/>
            <a:ext cx="4711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F2A5FF-5A28-4287-9A05-53EF906EA187}"/>
              </a:ext>
            </a:extLst>
          </p:cNvPr>
          <p:cNvSpPr txBox="1"/>
          <p:nvPr/>
        </p:nvSpPr>
        <p:spPr>
          <a:xfrm>
            <a:off x="2805902" y="5018745"/>
            <a:ext cx="4711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2CF70C-55EA-44BD-98BD-4DD047F5492B}"/>
              </a:ext>
            </a:extLst>
          </p:cNvPr>
          <p:cNvSpPr txBox="1"/>
          <p:nvPr/>
        </p:nvSpPr>
        <p:spPr>
          <a:xfrm>
            <a:off x="3277921" y="5020111"/>
            <a:ext cx="4711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A6B1E6-AB05-4F60-BA9B-F5418918AACB}"/>
              </a:ext>
            </a:extLst>
          </p:cNvPr>
          <p:cNvSpPr txBox="1"/>
          <p:nvPr/>
        </p:nvSpPr>
        <p:spPr>
          <a:xfrm>
            <a:off x="3751268" y="5018739"/>
            <a:ext cx="4711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90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AB5165-0DF4-4C92-A2AC-C74AE5E816B8}"/>
              </a:ext>
            </a:extLst>
          </p:cNvPr>
          <p:cNvSpPr txBox="1"/>
          <p:nvPr/>
        </p:nvSpPr>
        <p:spPr>
          <a:xfrm>
            <a:off x="4223299" y="5020113"/>
            <a:ext cx="4711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0E9589-07FB-4DC6-95B6-BE1C37B9865E}"/>
              </a:ext>
            </a:extLst>
          </p:cNvPr>
          <p:cNvSpPr txBox="1"/>
          <p:nvPr/>
        </p:nvSpPr>
        <p:spPr>
          <a:xfrm>
            <a:off x="4696646" y="5018741"/>
            <a:ext cx="4711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591C2C-884F-4547-866F-808C86E0DD93}"/>
              </a:ext>
            </a:extLst>
          </p:cNvPr>
          <p:cNvSpPr txBox="1"/>
          <p:nvPr/>
        </p:nvSpPr>
        <p:spPr>
          <a:xfrm>
            <a:off x="5168673" y="5020111"/>
            <a:ext cx="4711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F4D597-A8A2-4850-AA8A-44850E326974}"/>
              </a:ext>
            </a:extLst>
          </p:cNvPr>
          <p:cNvSpPr txBox="1"/>
          <p:nvPr/>
        </p:nvSpPr>
        <p:spPr>
          <a:xfrm>
            <a:off x="5642020" y="5018739"/>
            <a:ext cx="4711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97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0053D8-4E0E-4F1D-BB14-668FA5EAEA79}"/>
              </a:ext>
            </a:extLst>
          </p:cNvPr>
          <p:cNvSpPr txBox="1"/>
          <p:nvPr/>
        </p:nvSpPr>
        <p:spPr>
          <a:xfrm>
            <a:off x="6114039" y="5020105"/>
            <a:ext cx="4711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91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863257-33D4-4FE3-9A5B-D0AD19B701FD}"/>
              </a:ext>
            </a:extLst>
          </p:cNvPr>
          <p:cNvSpPr txBox="1"/>
          <p:nvPr/>
        </p:nvSpPr>
        <p:spPr>
          <a:xfrm>
            <a:off x="6587386" y="5018733"/>
            <a:ext cx="4711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80F88C-1171-48A2-B242-7AD23138E921}"/>
              </a:ext>
            </a:extLst>
          </p:cNvPr>
          <p:cNvSpPr txBox="1"/>
          <p:nvPr/>
        </p:nvSpPr>
        <p:spPr>
          <a:xfrm>
            <a:off x="2333565" y="5372354"/>
            <a:ext cx="47119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BE8449-8892-40A7-AC99-846D589E7150}"/>
              </a:ext>
            </a:extLst>
          </p:cNvPr>
          <p:cNvSpPr txBox="1"/>
          <p:nvPr/>
        </p:nvSpPr>
        <p:spPr>
          <a:xfrm>
            <a:off x="2806912" y="5370982"/>
            <a:ext cx="47119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500871-463A-4E77-BC8B-004080664002}"/>
              </a:ext>
            </a:extLst>
          </p:cNvPr>
          <p:cNvSpPr txBox="1"/>
          <p:nvPr/>
        </p:nvSpPr>
        <p:spPr>
          <a:xfrm>
            <a:off x="3278931" y="5372348"/>
            <a:ext cx="47119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116236-A8EA-4587-8ABA-9AC4BA9ABE70}"/>
              </a:ext>
            </a:extLst>
          </p:cNvPr>
          <p:cNvSpPr txBox="1"/>
          <p:nvPr/>
        </p:nvSpPr>
        <p:spPr>
          <a:xfrm>
            <a:off x="3752278" y="5370976"/>
            <a:ext cx="47119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A63814-14B3-46A5-A1F6-81F2323B5D12}"/>
              </a:ext>
            </a:extLst>
          </p:cNvPr>
          <p:cNvSpPr txBox="1"/>
          <p:nvPr/>
        </p:nvSpPr>
        <p:spPr>
          <a:xfrm>
            <a:off x="4224309" y="5372350"/>
            <a:ext cx="47119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E98509-0290-4469-8BB1-54020A161CF6}"/>
              </a:ext>
            </a:extLst>
          </p:cNvPr>
          <p:cNvSpPr txBox="1"/>
          <p:nvPr/>
        </p:nvSpPr>
        <p:spPr>
          <a:xfrm>
            <a:off x="4697656" y="5370978"/>
            <a:ext cx="47119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F45E2C-FEE1-47C7-9268-FBC4BFD4BBE0}"/>
              </a:ext>
            </a:extLst>
          </p:cNvPr>
          <p:cNvSpPr txBox="1"/>
          <p:nvPr/>
        </p:nvSpPr>
        <p:spPr>
          <a:xfrm>
            <a:off x="5169683" y="5372348"/>
            <a:ext cx="47119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190676-0229-4274-A421-7AEA2E597218}"/>
              </a:ext>
            </a:extLst>
          </p:cNvPr>
          <p:cNvSpPr txBox="1"/>
          <p:nvPr/>
        </p:nvSpPr>
        <p:spPr>
          <a:xfrm>
            <a:off x="5643030" y="5370976"/>
            <a:ext cx="47119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1B9B51-F5AC-496B-BA13-6586BAD327E6}"/>
              </a:ext>
            </a:extLst>
          </p:cNvPr>
          <p:cNvSpPr txBox="1"/>
          <p:nvPr/>
        </p:nvSpPr>
        <p:spPr>
          <a:xfrm>
            <a:off x="6115049" y="5372342"/>
            <a:ext cx="47119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AD4869-100E-4D7C-B970-1CF330801B05}"/>
              </a:ext>
            </a:extLst>
          </p:cNvPr>
          <p:cNvSpPr txBox="1"/>
          <p:nvPr/>
        </p:nvSpPr>
        <p:spPr>
          <a:xfrm>
            <a:off x="6588396" y="5370970"/>
            <a:ext cx="47119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82527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Priority Queue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812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A </a:t>
            </a:r>
            <a:r>
              <a:rPr lang="en-US" altLang="en-US" sz="2400" b="1" i="1" dirty="0">
                <a:solidFill>
                  <a:srgbClr val="FF0000"/>
                </a:solidFill>
              </a:rPr>
              <a:t>priority queue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Enqueues items as they occur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Dequeues items in </a:t>
            </a:r>
            <a:r>
              <a:rPr lang="en-US" altLang="en-US" sz="2000" i="1" dirty="0"/>
              <a:t>priority order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Can be implemented as a max heap of (</a:t>
            </a:r>
            <a:r>
              <a:rPr lang="en-US" altLang="en-US" sz="2400" i="1" dirty="0"/>
              <a:t>key</a:t>
            </a:r>
            <a:r>
              <a:rPr lang="en-US" altLang="en-US" sz="2400" dirty="0"/>
              <a:t>, </a:t>
            </a:r>
            <a:r>
              <a:rPr lang="en-US" altLang="en-US" sz="2400" i="1" dirty="0"/>
              <a:t>value</a:t>
            </a:r>
            <a:r>
              <a:rPr lang="en-US" altLang="en-US" sz="2400" dirty="0"/>
              <a:t>) pairs</a:t>
            </a:r>
            <a:endParaRPr lang="en-US" altLang="en-US" sz="2400" b="1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Where </a:t>
            </a:r>
            <a:r>
              <a:rPr lang="en-US" altLang="en-US" sz="2000" i="1" dirty="0"/>
              <a:t>key</a:t>
            </a:r>
            <a:r>
              <a:rPr lang="en-US" altLang="en-US" sz="2000" dirty="0"/>
              <a:t> is the priority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ED70D0-FB4B-4C50-A808-E3397AA0146A}" type="datetime1">
              <a:rPr lang="en-US" smtClean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</p:spTree>
    <p:extLst>
      <p:ext uri="{BB962C8B-B14F-4D97-AF65-F5344CB8AC3E}">
        <p14:creationId xmlns:p14="http://schemas.microsoft.com/office/powerpoint/2010/main" val="3399518981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61104</TotalTime>
  <Words>1037</Words>
  <Application>Microsoft Office PowerPoint</Application>
  <PresentationFormat>On-screen Show (4:3)</PresentationFormat>
  <Paragraphs>233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Tahoma</vt:lpstr>
      <vt:lpstr>Times New Roman</vt:lpstr>
      <vt:lpstr>Wingdings</vt:lpstr>
      <vt:lpstr>Blends</vt:lpstr>
      <vt:lpstr>MSCF Programming Prep 46-900</vt:lpstr>
      <vt:lpstr>Heaps</vt:lpstr>
      <vt:lpstr>Heap Examples</vt:lpstr>
      <vt:lpstr>Nearly Complete Binary Min Heap</vt:lpstr>
      <vt:lpstr>Nearly Complete Binary Min Heap (cont.)</vt:lpstr>
      <vt:lpstr>Node Labels</vt:lpstr>
      <vt:lpstr>Node Label Properties</vt:lpstr>
      <vt:lpstr>Adding A Value</vt:lpstr>
      <vt:lpstr>Adding A Value (cont.)</vt:lpstr>
      <vt:lpstr>Removing The Lowest (Top) Value</vt:lpstr>
      <vt:lpstr>Removing The Lowest (Top) Value (cont.)</vt:lpstr>
      <vt:lpstr>Removing The Lowest (Top) Value (cont.)</vt:lpstr>
      <vt:lpstr>Heap Implementation</vt:lpstr>
      <vt:lpstr>Heap Implementation (cont.)</vt:lpstr>
      <vt:lpstr>Priority Queue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46-691</dc:title>
  <dc:creator>The Heinz School</dc:creator>
  <cp:lastModifiedBy>John</cp:lastModifiedBy>
  <cp:revision>941</cp:revision>
  <cp:lastPrinted>2021-08-16T19:25:17Z</cp:lastPrinted>
  <dcterms:created xsi:type="dcterms:W3CDTF">2003-08-31T19:53:38Z</dcterms:created>
  <dcterms:modified xsi:type="dcterms:W3CDTF">2021-08-16T20:11:19Z</dcterms:modified>
</cp:coreProperties>
</file>
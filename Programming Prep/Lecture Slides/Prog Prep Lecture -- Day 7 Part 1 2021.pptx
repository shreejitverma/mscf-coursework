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19"/>
  </p:notesMasterIdLst>
  <p:sldIdLst>
    <p:sldId id="257" r:id="rId2"/>
    <p:sldId id="301" r:id="rId3"/>
    <p:sldId id="322" r:id="rId4"/>
    <p:sldId id="323" r:id="rId5"/>
    <p:sldId id="324" r:id="rId6"/>
    <p:sldId id="325" r:id="rId7"/>
    <p:sldId id="326" r:id="rId8"/>
    <p:sldId id="327" r:id="rId9"/>
    <p:sldId id="328" r:id="rId10"/>
    <p:sldId id="329" r:id="rId11"/>
    <p:sldId id="330" r:id="rId12"/>
    <p:sldId id="331" r:id="rId13"/>
    <p:sldId id="332" r:id="rId14"/>
    <p:sldId id="336" r:id="rId15"/>
    <p:sldId id="333" r:id="rId16"/>
    <p:sldId id="334" r:id="rId17"/>
    <p:sldId id="335" r:id="rId18"/>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Tahoma"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61" autoAdjust="0"/>
    <p:restoredTop sz="95638" autoAdjust="0"/>
  </p:normalViewPr>
  <p:slideViewPr>
    <p:cSldViewPr>
      <p:cViewPr varScale="1">
        <p:scale>
          <a:sx n="104" d="100"/>
          <a:sy n="104" d="100"/>
        </p:scale>
        <p:origin x="126" y="1404"/>
      </p:cViewPr>
      <p:guideLst>
        <p:guide orient="horz" pos="2160"/>
        <p:guide pos="2880"/>
      </p:guideLst>
    </p:cSldViewPr>
  </p:slideViewPr>
  <p:outlineViewPr>
    <p:cViewPr>
      <p:scale>
        <a:sx n="33" d="100"/>
        <a:sy n="33" d="100"/>
      </p:scale>
      <p:origin x="0" y="-2496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18" d="100"/>
          <a:sy n="118" d="100"/>
        </p:scale>
        <p:origin x="4062"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3" y="0"/>
            <a:ext cx="3169920" cy="480060"/>
          </a:xfrm>
          <a:prstGeom prst="rect">
            <a:avLst/>
          </a:prstGeom>
          <a:noFill/>
          <a:ln w="9525">
            <a:noFill/>
            <a:miter lim="800000"/>
            <a:headEnd/>
            <a:tailEnd/>
          </a:ln>
          <a:effectLst/>
        </p:spPr>
        <p:txBody>
          <a:bodyPr vert="horz" wrap="square" lIns="96644" tIns="48322" rIns="96644" bIns="48322" numCol="1" anchor="t" anchorCtr="0" compatLnSpc="1">
            <a:prstTxWarp prst="textNoShape">
              <a:avLst/>
            </a:prstTxWarp>
          </a:bodyPr>
          <a:lstStyle>
            <a:lvl1pPr eaLnBrk="1" hangingPunct="1">
              <a:defRPr sz="1300">
                <a:latin typeface="Times New Roman" pitchFamily="18" charset="0"/>
              </a:defRPr>
            </a:lvl1pPr>
          </a:lstStyle>
          <a:p>
            <a:pPr>
              <a:defRPr/>
            </a:pPr>
            <a:endParaRPr lang="en-US"/>
          </a:p>
        </p:txBody>
      </p:sp>
      <p:sp>
        <p:nvSpPr>
          <p:cNvPr id="74755" name="Rectangle 3"/>
          <p:cNvSpPr>
            <a:spLocks noGrp="1" noChangeArrowheads="1"/>
          </p:cNvSpPr>
          <p:nvPr>
            <p:ph type="dt" idx="1"/>
          </p:nvPr>
        </p:nvSpPr>
        <p:spPr bwMode="auto">
          <a:xfrm>
            <a:off x="4143588" y="0"/>
            <a:ext cx="3169920" cy="480060"/>
          </a:xfrm>
          <a:prstGeom prst="rect">
            <a:avLst/>
          </a:prstGeom>
          <a:noFill/>
          <a:ln w="9525">
            <a:noFill/>
            <a:miter lim="800000"/>
            <a:headEnd/>
            <a:tailEnd/>
          </a:ln>
          <a:effectLst/>
        </p:spPr>
        <p:txBody>
          <a:bodyPr vert="horz" wrap="square" lIns="96644" tIns="48322" rIns="96644" bIns="48322" numCol="1" anchor="t" anchorCtr="0" compatLnSpc="1">
            <a:prstTxWarp prst="textNoShape">
              <a:avLst/>
            </a:prstTxWarp>
          </a:bodyPr>
          <a:lstStyle>
            <a:lvl1pPr algn="r" eaLnBrk="1" hangingPunct="1">
              <a:defRPr sz="1300">
                <a:latin typeface="Times New Roman" pitchFamily="18" charset="0"/>
              </a:defRPr>
            </a:lvl1pPr>
          </a:lstStyle>
          <a:p>
            <a:pPr>
              <a:defRPr/>
            </a:pPr>
            <a:endParaRPr lang="en-US"/>
          </a:p>
        </p:txBody>
      </p:sp>
      <p:sp>
        <p:nvSpPr>
          <p:cNvPr id="60420" name="Rectangle 4"/>
          <p:cNvSpPr>
            <a:spLocks noGrp="1" noRot="1" noChangeAspect="1" noChangeArrowheads="1" noTextEdit="1"/>
          </p:cNvSpPr>
          <p:nvPr>
            <p:ph type="sldImg" idx="2"/>
          </p:nvPr>
        </p:nvSpPr>
        <p:spPr bwMode="auto">
          <a:xfrm>
            <a:off x="1257300" y="719138"/>
            <a:ext cx="4802188"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7" name="Rectangle 5"/>
          <p:cNvSpPr>
            <a:spLocks noGrp="1" noChangeArrowheads="1"/>
          </p:cNvSpPr>
          <p:nvPr>
            <p:ph type="body" sz="quarter" idx="3"/>
          </p:nvPr>
        </p:nvSpPr>
        <p:spPr bwMode="auto">
          <a:xfrm>
            <a:off x="731521" y="4560570"/>
            <a:ext cx="5852160" cy="4320540"/>
          </a:xfrm>
          <a:prstGeom prst="rect">
            <a:avLst/>
          </a:prstGeom>
          <a:noFill/>
          <a:ln w="9525">
            <a:noFill/>
            <a:miter lim="800000"/>
            <a:headEnd/>
            <a:tailEnd/>
          </a:ln>
          <a:effectLst/>
        </p:spPr>
        <p:txBody>
          <a:bodyPr vert="horz" wrap="square" lIns="96644" tIns="48322" rIns="96644" bIns="4832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4758" name="Rectangle 6"/>
          <p:cNvSpPr>
            <a:spLocks noGrp="1" noChangeArrowheads="1"/>
          </p:cNvSpPr>
          <p:nvPr>
            <p:ph type="ftr" sz="quarter" idx="4"/>
          </p:nvPr>
        </p:nvSpPr>
        <p:spPr bwMode="auto">
          <a:xfrm>
            <a:off x="3" y="9119474"/>
            <a:ext cx="3169920" cy="480060"/>
          </a:xfrm>
          <a:prstGeom prst="rect">
            <a:avLst/>
          </a:prstGeom>
          <a:noFill/>
          <a:ln w="9525">
            <a:noFill/>
            <a:miter lim="800000"/>
            <a:headEnd/>
            <a:tailEnd/>
          </a:ln>
          <a:effectLst/>
        </p:spPr>
        <p:txBody>
          <a:bodyPr vert="horz" wrap="square" lIns="96644" tIns="48322" rIns="96644" bIns="48322" numCol="1" anchor="b" anchorCtr="0" compatLnSpc="1">
            <a:prstTxWarp prst="textNoShape">
              <a:avLst/>
            </a:prstTxWarp>
          </a:bodyPr>
          <a:lstStyle>
            <a:lvl1pPr eaLnBrk="1" hangingPunct="1">
              <a:defRPr sz="1300">
                <a:latin typeface="Times New Roman" pitchFamily="18" charset="0"/>
              </a:defRPr>
            </a:lvl1pPr>
          </a:lstStyle>
          <a:p>
            <a:pPr>
              <a:defRPr/>
            </a:pPr>
            <a:endParaRPr lang="en-US"/>
          </a:p>
        </p:txBody>
      </p:sp>
      <p:sp>
        <p:nvSpPr>
          <p:cNvPr id="74759" name="Rectangle 7"/>
          <p:cNvSpPr>
            <a:spLocks noGrp="1" noChangeArrowheads="1"/>
          </p:cNvSpPr>
          <p:nvPr>
            <p:ph type="sldNum" sz="quarter" idx="5"/>
          </p:nvPr>
        </p:nvSpPr>
        <p:spPr bwMode="auto">
          <a:xfrm>
            <a:off x="4143588" y="9119474"/>
            <a:ext cx="3169920" cy="480060"/>
          </a:xfrm>
          <a:prstGeom prst="rect">
            <a:avLst/>
          </a:prstGeom>
          <a:noFill/>
          <a:ln w="9525">
            <a:noFill/>
            <a:miter lim="800000"/>
            <a:headEnd/>
            <a:tailEnd/>
          </a:ln>
          <a:effectLst/>
        </p:spPr>
        <p:txBody>
          <a:bodyPr vert="horz" wrap="square" lIns="96644" tIns="48322" rIns="96644" bIns="48322" numCol="1" anchor="b" anchorCtr="0" compatLnSpc="1">
            <a:prstTxWarp prst="textNoShape">
              <a:avLst/>
            </a:prstTxWarp>
          </a:bodyPr>
          <a:lstStyle>
            <a:lvl1pPr algn="r" eaLnBrk="1" hangingPunct="1">
              <a:defRPr sz="1300">
                <a:latin typeface="Times New Roman" pitchFamily="18" charset="0"/>
              </a:defRPr>
            </a:lvl1pPr>
          </a:lstStyle>
          <a:p>
            <a:pPr>
              <a:defRPr/>
            </a:pPr>
            <a:fld id="{C3966094-34ED-42CC-B0A0-81B4FC9F48A1}" type="slidenum">
              <a:rPr lang="en-US"/>
              <a:pPr>
                <a:defRPr/>
              </a:pPr>
              <a:t>‹#›</a:t>
            </a:fld>
            <a:endParaRPr lang="en-US"/>
          </a:p>
        </p:txBody>
      </p:sp>
    </p:spTree>
    <p:extLst>
      <p:ext uri="{BB962C8B-B14F-4D97-AF65-F5344CB8AC3E}">
        <p14:creationId xmlns:p14="http://schemas.microsoft.com/office/powerpoint/2010/main" val="10729004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227" indent="-302011">
              <a:defRPr>
                <a:solidFill>
                  <a:schemeClr val="tx1"/>
                </a:solidFill>
                <a:latin typeface="Tahoma" pitchFamily="34" charset="0"/>
              </a:defRPr>
            </a:lvl2pPr>
            <a:lvl3pPr marL="1208043" indent="-241610">
              <a:defRPr>
                <a:solidFill>
                  <a:schemeClr val="tx1"/>
                </a:solidFill>
                <a:latin typeface="Tahoma" pitchFamily="34" charset="0"/>
              </a:defRPr>
            </a:lvl3pPr>
            <a:lvl4pPr marL="1691260" indent="-241610">
              <a:defRPr>
                <a:solidFill>
                  <a:schemeClr val="tx1"/>
                </a:solidFill>
                <a:latin typeface="Tahoma" pitchFamily="34" charset="0"/>
              </a:defRPr>
            </a:lvl4pPr>
            <a:lvl5pPr marL="2174478" indent="-241610">
              <a:defRPr>
                <a:solidFill>
                  <a:schemeClr val="tx1"/>
                </a:solidFill>
                <a:latin typeface="Tahoma" pitchFamily="34" charset="0"/>
              </a:defRPr>
            </a:lvl5pPr>
            <a:lvl6pPr marL="2657695" indent="-241610" eaLnBrk="0" fontAlgn="base" hangingPunct="0">
              <a:spcBef>
                <a:spcPct val="0"/>
              </a:spcBef>
              <a:spcAft>
                <a:spcPct val="0"/>
              </a:spcAft>
              <a:defRPr>
                <a:solidFill>
                  <a:schemeClr val="tx1"/>
                </a:solidFill>
                <a:latin typeface="Tahoma" pitchFamily="34" charset="0"/>
              </a:defRPr>
            </a:lvl6pPr>
            <a:lvl7pPr marL="3140912" indent="-241610" eaLnBrk="0" fontAlgn="base" hangingPunct="0">
              <a:spcBef>
                <a:spcPct val="0"/>
              </a:spcBef>
              <a:spcAft>
                <a:spcPct val="0"/>
              </a:spcAft>
              <a:defRPr>
                <a:solidFill>
                  <a:schemeClr val="tx1"/>
                </a:solidFill>
                <a:latin typeface="Tahoma" pitchFamily="34" charset="0"/>
              </a:defRPr>
            </a:lvl7pPr>
            <a:lvl8pPr marL="3624129" indent="-241610" eaLnBrk="0" fontAlgn="base" hangingPunct="0">
              <a:spcBef>
                <a:spcPct val="0"/>
              </a:spcBef>
              <a:spcAft>
                <a:spcPct val="0"/>
              </a:spcAft>
              <a:defRPr>
                <a:solidFill>
                  <a:schemeClr val="tx1"/>
                </a:solidFill>
                <a:latin typeface="Tahoma" pitchFamily="34" charset="0"/>
              </a:defRPr>
            </a:lvl8pPr>
            <a:lvl9pPr marL="4107346" indent="-241610" eaLnBrk="0" fontAlgn="base" hangingPunct="0">
              <a:spcBef>
                <a:spcPct val="0"/>
              </a:spcBef>
              <a:spcAft>
                <a:spcPct val="0"/>
              </a:spcAft>
              <a:defRPr>
                <a:solidFill>
                  <a:schemeClr val="tx1"/>
                </a:solidFill>
                <a:latin typeface="Tahoma" pitchFamily="34" charset="0"/>
              </a:defRPr>
            </a:lvl9pPr>
          </a:lstStyle>
          <a:p>
            <a:fld id="{0C77F19E-6305-42C9-846D-8F6E264C89DD}" type="slidenum">
              <a:rPr lang="en-US" altLang="en-US" smtClean="0">
                <a:latin typeface="Times New Roman" pitchFamily="18" charset="0"/>
              </a:rPr>
              <a:pPr/>
              <a:t>1</a:t>
            </a:fld>
            <a:endParaRPr lang="en-US" altLang="en-US">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2</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553081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3</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904003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4</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2976707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5</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2173381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6</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0002150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7</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4236709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8</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1187495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9</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1745217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10</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368606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11</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1264305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12</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847295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13</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17450157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14</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4251542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15</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297782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16</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7417526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itchFamily="34" charset="0"/>
              </a:defRPr>
            </a:lvl1pPr>
            <a:lvl2pPr marL="785373" indent="-302067">
              <a:defRPr>
                <a:solidFill>
                  <a:schemeClr val="tx1"/>
                </a:solidFill>
                <a:latin typeface="Tahoma" pitchFamily="34" charset="0"/>
              </a:defRPr>
            </a:lvl2pPr>
            <a:lvl3pPr marL="1208267" indent="-241654">
              <a:defRPr>
                <a:solidFill>
                  <a:schemeClr val="tx1"/>
                </a:solidFill>
                <a:latin typeface="Tahoma" pitchFamily="34" charset="0"/>
              </a:defRPr>
            </a:lvl3pPr>
            <a:lvl4pPr marL="1691574" indent="-241654">
              <a:defRPr>
                <a:solidFill>
                  <a:schemeClr val="tx1"/>
                </a:solidFill>
                <a:latin typeface="Tahoma" pitchFamily="34" charset="0"/>
              </a:defRPr>
            </a:lvl4pPr>
            <a:lvl5pPr marL="2174880" indent="-241654">
              <a:defRPr>
                <a:solidFill>
                  <a:schemeClr val="tx1"/>
                </a:solidFill>
                <a:latin typeface="Tahoma" pitchFamily="34" charset="0"/>
              </a:defRPr>
            </a:lvl5pPr>
            <a:lvl6pPr marL="2658188" indent="-241654" eaLnBrk="0" fontAlgn="base" hangingPunct="0">
              <a:spcBef>
                <a:spcPct val="0"/>
              </a:spcBef>
              <a:spcAft>
                <a:spcPct val="0"/>
              </a:spcAft>
              <a:defRPr>
                <a:solidFill>
                  <a:schemeClr val="tx1"/>
                </a:solidFill>
                <a:latin typeface="Tahoma" pitchFamily="34" charset="0"/>
              </a:defRPr>
            </a:lvl6pPr>
            <a:lvl7pPr marL="3141495" indent="-241654" eaLnBrk="0" fontAlgn="base" hangingPunct="0">
              <a:spcBef>
                <a:spcPct val="0"/>
              </a:spcBef>
              <a:spcAft>
                <a:spcPct val="0"/>
              </a:spcAft>
              <a:defRPr>
                <a:solidFill>
                  <a:schemeClr val="tx1"/>
                </a:solidFill>
                <a:latin typeface="Tahoma" pitchFamily="34" charset="0"/>
              </a:defRPr>
            </a:lvl7pPr>
            <a:lvl8pPr marL="3624801" indent="-241654" eaLnBrk="0" fontAlgn="base" hangingPunct="0">
              <a:spcBef>
                <a:spcPct val="0"/>
              </a:spcBef>
              <a:spcAft>
                <a:spcPct val="0"/>
              </a:spcAft>
              <a:defRPr>
                <a:solidFill>
                  <a:schemeClr val="tx1"/>
                </a:solidFill>
                <a:latin typeface="Tahoma" pitchFamily="34" charset="0"/>
              </a:defRPr>
            </a:lvl8pPr>
            <a:lvl9pPr marL="4108108" indent="-241654" eaLnBrk="0" fontAlgn="base" hangingPunct="0">
              <a:spcBef>
                <a:spcPct val="0"/>
              </a:spcBef>
              <a:spcAft>
                <a:spcPct val="0"/>
              </a:spcAft>
              <a:defRPr>
                <a:solidFill>
                  <a:schemeClr val="tx1"/>
                </a:solidFill>
                <a:latin typeface="Tahoma" pitchFamily="34" charset="0"/>
              </a:defRPr>
            </a:lvl9pPr>
          </a:lstStyle>
          <a:p>
            <a:fld id="{A864D773-F3DB-4982-BFFB-8CE73997DEA6}" type="slidenum">
              <a:rPr lang="en-US" altLang="en-US" smtClean="0">
                <a:latin typeface="Times New Roman" pitchFamily="18" charset="0"/>
              </a:rPr>
              <a:pPr/>
              <a:t>17</a:t>
            </a:fld>
            <a:endParaRPr lang="en-US" altLang="en-US">
              <a:latin typeface="Times New Roman" pitchFamily="18"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 we might say</a:t>
            </a:r>
          </a:p>
          <a:p>
            <a:pPr eaLnBrk="1" hangingPunct="1"/>
            <a:endParaRPr lang="en-US" altLang="en-US"/>
          </a:p>
          <a:p>
            <a:pPr eaLnBrk="1" hangingPunct="1"/>
            <a:r>
              <a:rPr lang="en-US" altLang="en-US"/>
              <a:t>Complex a, b, c;</a:t>
            </a:r>
          </a:p>
          <a:p>
            <a:pPr eaLnBrk="1" hangingPunct="1"/>
            <a:r>
              <a:rPr lang="en-US" altLang="en-US"/>
              <a:t>a.real = 1.0; a.imag = 2.0;</a:t>
            </a:r>
          </a:p>
          <a:p>
            <a:pPr eaLnBrk="1" hangingPunct="1"/>
            <a:r>
              <a:rPr lang="en-US" altLang="en-US"/>
              <a:t>b.real = 3.0; b.imag = 4.0;</a:t>
            </a:r>
          </a:p>
          <a:p>
            <a:pPr eaLnBrk="1" hangingPunct="1"/>
            <a:r>
              <a:rPr lang="en-US" altLang="en-US"/>
              <a:t>c = mult(a, b);</a:t>
            </a:r>
          </a:p>
          <a:p>
            <a:pPr eaLnBrk="1" hangingPunct="1"/>
            <a:endParaRPr lang="en-US" altLang="en-US"/>
          </a:p>
          <a:p>
            <a:pPr eaLnBrk="1" hangingPunct="1"/>
            <a:r>
              <a:rPr lang="en-US" altLang="en-US"/>
              <a:t>The big problem here is that the function name mult() can’t be used for any other purpose in the same program. It’s global function, tied to the Complex struct. We can do better.</a:t>
            </a:r>
          </a:p>
        </p:txBody>
      </p:sp>
    </p:spTree>
    <p:extLst>
      <p:ext uri="{BB962C8B-B14F-4D97-AF65-F5344CB8AC3E}">
        <p14:creationId xmlns:p14="http://schemas.microsoft.com/office/powerpoint/2010/main" val="3073383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defRPr/>
              </a:pPr>
              <a:endParaRPr lang="en-US" altLang="en-US"/>
            </a:p>
          </p:txBody>
        </p:sp>
      </p:grpSp>
      <p:sp>
        <p:nvSpPr>
          <p:cNvPr id="138252"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13825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451A546F-806A-4916-A722-C4497DFD22C4}" type="datetime1">
              <a:rPr lang="en-US" smtClean="0"/>
              <a:t>8/16/2021</a:t>
            </a:fld>
            <a:endParaRPr lang="en-US"/>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t>Copyright (c) 2020, John K. Ostlund</a:t>
            </a: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5239B93A-74DE-4B25-B352-2D94A7B0ECE9}" type="slidenum">
              <a:rPr lang="en-US"/>
              <a:pPr>
                <a:defRPr/>
              </a:pPr>
              <a:t>‹#›</a:t>
            </a:fld>
            <a:endParaRPr lang="en-US"/>
          </a:p>
        </p:txBody>
      </p:sp>
    </p:spTree>
    <p:extLst>
      <p:ext uri="{BB962C8B-B14F-4D97-AF65-F5344CB8AC3E}">
        <p14:creationId xmlns:p14="http://schemas.microsoft.com/office/powerpoint/2010/main" val="30508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2466DB2E-05FD-4E02-BDBB-5F8876F1F81B}" type="datetime1">
              <a:rPr lang="en-US" smtClean="0"/>
              <a:t>8/16/2021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2020,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9E9676BE-5AF2-4172-BD19-31A2F83EF2EB}" type="slidenum">
              <a:rPr lang="en-US"/>
              <a:pPr>
                <a:defRPr/>
              </a:pPr>
              <a:t>‹#›</a:t>
            </a:fld>
            <a:endParaRPr lang="en-US"/>
          </a:p>
        </p:txBody>
      </p:sp>
    </p:spTree>
    <p:extLst>
      <p:ext uri="{BB962C8B-B14F-4D97-AF65-F5344CB8AC3E}">
        <p14:creationId xmlns:p14="http://schemas.microsoft.com/office/powerpoint/2010/main" val="2459231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fld id="{68A5BC40-C0CA-403D-A182-DB6B7CD54EF0}" type="datetime1">
              <a:rPr lang="en-US" smtClean="0"/>
              <a:t>8/16/2021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2020,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A4441145-DF2F-4F5F-87FB-6F34B812BFA0}" type="slidenum">
              <a:rPr lang="en-US"/>
              <a:pPr>
                <a:defRPr/>
              </a:pPr>
              <a:t>‹#›</a:t>
            </a:fld>
            <a:endParaRPr lang="en-US"/>
          </a:p>
        </p:txBody>
      </p:sp>
    </p:spTree>
    <p:extLst>
      <p:ext uri="{BB962C8B-B14F-4D97-AF65-F5344CB8AC3E}">
        <p14:creationId xmlns:p14="http://schemas.microsoft.com/office/powerpoint/2010/main" val="3349570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fld id="{04BAFA41-984E-409B-A306-691035BEA148}" type="datetime1">
              <a:rPr lang="en-US" smtClean="0"/>
              <a:t>8/16/2021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Copyright (c) 2020, John K. Ostlund</a:t>
            </a:r>
          </a:p>
        </p:txBody>
      </p:sp>
      <p:sp>
        <p:nvSpPr>
          <p:cNvPr id="7" name="Rectangle 13"/>
          <p:cNvSpPr>
            <a:spLocks noGrp="1" noChangeArrowheads="1"/>
          </p:cNvSpPr>
          <p:nvPr>
            <p:ph type="sldNum" sz="quarter" idx="12"/>
          </p:nvPr>
        </p:nvSpPr>
        <p:spPr>
          <a:ln/>
        </p:spPr>
        <p:txBody>
          <a:bodyPr/>
          <a:lstStyle>
            <a:lvl1pPr>
              <a:defRPr/>
            </a:lvl1pPr>
          </a:lstStyle>
          <a:p>
            <a:pPr>
              <a:defRPr/>
            </a:pPr>
            <a:fld id="{EF3359A0-D876-470E-A03B-B54B4EF9A55C}" type="slidenum">
              <a:rPr lang="en-US"/>
              <a:pPr>
                <a:defRPr/>
              </a:pPr>
              <a:t>‹#›</a:t>
            </a:fld>
            <a:endParaRPr lang="en-US"/>
          </a:p>
        </p:txBody>
      </p:sp>
    </p:spTree>
    <p:extLst>
      <p:ext uri="{BB962C8B-B14F-4D97-AF65-F5344CB8AC3E}">
        <p14:creationId xmlns:p14="http://schemas.microsoft.com/office/powerpoint/2010/main" val="2663732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dt" sz="half" idx="10"/>
          </p:nvPr>
        </p:nvSpPr>
        <p:spPr>
          <a:ln/>
        </p:spPr>
        <p:txBody>
          <a:bodyPr/>
          <a:lstStyle>
            <a:lvl1pPr>
              <a:defRPr/>
            </a:lvl1pPr>
          </a:lstStyle>
          <a:p>
            <a:pPr>
              <a:defRPr/>
            </a:pPr>
            <a:fld id="{C9E447AE-53BA-49A5-AF00-C1E375E33A3B}" type="datetime1">
              <a:rPr lang="en-US" smtClean="0"/>
              <a:t>8/16/2021</a:t>
            </a:fld>
            <a:endParaRPr lang="en-US"/>
          </a:p>
        </p:txBody>
      </p:sp>
      <p:sp>
        <p:nvSpPr>
          <p:cNvPr id="8" name="Rectangle 12"/>
          <p:cNvSpPr>
            <a:spLocks noGrp="1" noChangeArrowheads="1"/>
          </p:cNvSpPr>
          <p:nvPr>
            <p:ph type="ftr" sz="quarter" idx="11"/>
          </p:nvPr>
        </p:nvSpPr>
        <p:spPr>
          <a:ln/>
        </p:spPr>
        <p:txBody>
          <a:bodyPr/>
          <a:lstStyle>
            <a:lvl1pPr>
              <a:defRPr/>
            </a:lvl1pPr>
          </a:lstStyle>
          <a:p>
            <a:pPr>
              <a:defRPr/>
            </a:pPr>
            <a:r>
              <a:rPr lang="en-US"/>
              <a:t>Copyright (c) 2020, John K. Ostlund</a:t>
            </a:r>
          </a:p>
        </p:txBody>
      </p:sp>
      <p:sp>
        <p:nvSpPr>
          <p:cNvPr id="9" name="Rectangle 13"/>
          <p:cNvSpPr>
            <a:spLocks noGrp="1" noChangeArrowheads="1"/>
          </p:cNvSpPr>
          <p:nvPr>
            <p:ph type="sldNum" sz="quarter" idx="12"/>
          </p:nvPr>
        </p:nvSpPr>
        <p:spPr>
          <a:ln/>
        </p:spPr>
        <p:txBody>
          <a:bodyPr/>
          <a:lstStyle>
            <a:lvl1pPr>
              <a:defRPr/>
            </a:lvl1pPr>
          </a:lstStyle>
          <a:p>
            <a:pPr>
              <a:defRPr/>
            </a:pPr>
            <a:fld id="{9D55BDD2-431D-4473-B6F1-AD9C47ED042A}" type="slidenum">
              <a:rPr lang="en-US"/>
              <a:pPr>
                <a:defRPr/>
              </a:pPr>
              <a:t>‹#›</a:t>
            </a:fld>
            <a:endParaRPr lang="en-US"/>
          </a:p>
        </p:txBody>
      </p:sp>
    </p:spTree>
    <p:extLst>
      <p:ext uri="{BB962C8B-B14F-4D97-AF65-F5344CB8AC3E}">
        <p14:creationId xmlns:p14="http://schemas.microsoft.com/office/powerpoint/2010/main" val="695490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p:cNvSpPr>
            <a:spLocks noGrp="1" noChangeArrowheads="1"/>
          </p:cNvSpPr>
          <p:nvPr>
            <p:ph type="dt" sz="half" idx="10"/>
          </p:nvPr>
        </p:nvSpPr>
        <p:spPr>
          <a:ln/>
        </p:spPr>
        <p:txBody>
          <a:bodyPr/>
          <a:lstStyle>
            <a:lvl1pPr>
              <a:defRPr/>
            </a:lvl1pPr>
          </a:lstStyle>
          <a:p>
            <a:pPr>
              <a:defRPr/>
            </a:pPr>
            <a:fld id="{D597A6F0-30AC-4AD0-A5B1-E8FF7D751BE6}" type="datetime1">
              <a:rPr lang="en-US" smtClean="0"/>
              <a:t>8/16/2021</a:t>
            </a:fld>
            <a:endParaRPr lang="en-US"/>
          </a:p>
        </p:txBody>
      </p:sp>
      <p:sp>
        <p:nvSpPr>
          <p:cNvPr id="4" name="Rectangle 12"/>
          <p:cNvSpPr>
            <a:spLocks noGrp="1" noChangeArrowheads="1"/>
          </p:cNvSpPr>
          <p:nvPr>
            <p:ph type="ftr" sz="quarter" idx="11"/>
          </p:nvPr>
        </p:nvSpPr>
        <p:spPr>
          <a:ln/>
        </p:spPr>
        <p:txBody>
          <a:bodyPr/>
          <a:lstStyle>
            <a:lvl1pPr>
              <a:defRPr/>
            </a:lvl1pPr>
          </a:lstStyle>
          <a:p>
            <a:pPr>
              <a:defRPr/>
            </a:pPr>
            <a:r>
              <a:rPr lang="en-US"/>
              <a:t>Copyright (c) 2020, John K. Ostlund</a:t>
            </a:r>
          </a:p>
        </p:txBody>
      </p:sp>
      <p:sp>
        <p:nvSpPr>
          <p:cNvPr id="5" name="Rectangle 13"/>
          <p:cNvSpPr>
            <a:spLocks noGrp="1" noChangeArrowheads="1"/>
          </p:cNvSpPr>
          <p:nvPr>
            <p:ph type="sldNum" sz="quarter" idx="12"/>
          </p:nvPr>
        </p:nvSpPr>
        <p:spPr>
          <a:ln/>
        </p:spPr>
        <p:txBody>
          <a:bodyPr/>
          <a:lstStyle>
            <a:lvl1pPr>
              <a:defRPr/>
            </a:lvl1pPr>
          </a:lstStyle>
          <a:p>
            <a:pPr>
              <a:defRPr/>
            </a:pPr>
            <a:fld id="{F6BC0419-96C4-40C9-AA2D-27D42EB4E327}" type="slidenum">
              <a:rPr lang="en-US"/>
              <a:pPr>
                <a:defRPr/>
              </a:pPr>
              <a:t>‹#›</a:t>
            </a:fld>
            <a:endParaRPr lang="en-US"/>
          </a:p>
        </p:txBody>
      </p:sp>
    </p:spTree>
    <p:extLst>
      <p:ext uri="{BB962C8B-B14F-4D97-AF65-F5344CB8AC3E}">
        <p14:creationId xmlns:p14="http://schemas.microsoft.com/office/powerpoint/2010/main" val="291191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024430ED-3079-4BF3-83A3-9C452D2905CD}" type="datetime1">
              <a:rPr lang="en-US" smtClean="0"/>
              <a:t>8/16/2021</a:t>
            </a:fld>
            <a:endParaRPr lang="en-US"/>
          </a:p>
        </p:txBody>
      </p:sp>
      <p:sp>
        <p:nvSpPr>
          <p:cNvPr id="3" name="Rectangle 12"/>
          <p:cNvSpPr>
            <a:spLocks noGrp="1" noChangeArrowheads="1"/>
          </p:cNvSpPr>
          <p:nvPr>
            <p:ph type="ftr" sz="quarter" idx="11"/>
          </p:nvPr>
        </p:nvSpPr>
        <p:spPr>
          <a:ln/>
        </p:spPr>
        <p:txBody>
          <a:bodyPr/>
          <a:lstStyle>
            <a:lvl1pPr>
              <a:defRPr/>
            </a:lvl1pPr>
          </a:lstStyle>
          <a:p>
            <a:pPr>
              <a:defRPr/>
            </a:pPr>
            <a:r>
              <a:rPr lang="en-US"/>
              <a:t>Copyright (c) 2020, John K. Ostlund</a:t>
            </a:r>
          </a:p>
        </p:txBody>
      </p:sp>
      <p:sp>
        <p:nvSpPr>
          <p:cNvPr id="4" name="Rectangle 13"/>
          <p:cNvSpPr>
            <a:spLocks noGrp="1" noChangeArrowheads="1"/>
          </p:cNvSpPr>
          <p:nvPr>
            <p:ph type="sldNum" sz="quarter" idx="12"/>
          </p:nvPr>
        </p:nvSpPr>
        <p:spPr>
          <a:ln/>
        </p:spPr>
        <p:txBody>
          <a:bodyPr/>
          <a:lstStyle>
            <a:lvl1pPr>
              <a:defRPr/>
            </a:lvl1pPr>
          </a:lstStyle>
          <a:p>
            <a:pPr>
              <a:defRPr/>
            </a:pPr>
            <a:fld id="{60862B98-9A01-4C44-BDC6-515C05E58F72}" type="slidenum">
              <a:rPr lang="en-US"/>
              <a:pPr>
                <a:defRPr/>
              </a:pPr>
              <a:t>‹#›</a:t>
            </a:fld>
            <a:endParaRPr lang="en-US"/>
          </a:p>
        </p:txBody>
      </p:sp>
    </p:spTree>
    <p:extLst>
      <p:ext uri="{BB962C8B-B14F-4D97-AF65-F5344CB8AC3E}">
        <p14:creationId xmlns:p14="http://schemas.microsoft.com/office/powerpoint/2010/main" val="2309648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2775A946-6194-4DC9-A610-D66B2CA85B43}" type="datetime1">
              <a:rPr lang="en-US" smtClean="0"/>
              <a:t>8/16/2021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Copyright (c) 2020, John K. Ostlund</a:t>
            </a:r>
          </a:p>
        </p:txBody>
      </p:sp>
      <p:sp>
        <p:nvSpPr>
          <p:cNvPr id="7" name="Rectangle 13"/>
          <p:cNvSpPr>
            <a:spLocks noGrp="1" noChangeArrowheads="1"/>
          </p:cNvSpPr>
          <p:nvPr>
            <p:ph type="sldNum" sz="quarter" idx="12"/>
          </p:nvPr>
        </p:nvSpPr>
        <p:spPr>
          <a:ln/>
        </p:spPr>
        <p:txBody>
          <a:bodyPr/>
          <a:lstStyle>
            <a:lvl1pPr>
              <a:defRPr/>
            </a:lvl1pPr>
          </a:lstStyle>
          <a:p>
            <a:pPr>
              <a:defRPr/>
            </a:pPr>
            <a:fld id="{D82D8208-D527-49A2-9034-D654B1EF281B}" type="slidenum">
              <a:rPr lang="en-US"/>
              <a:pPr>
                <a:defRPr/>
              </a:pPr>
              <a:t>‹#›</a:t>
            </a:fld>
            <a:endParaRPr lang="en-US"/>
          </a:p>
        </p:txBody>
      </p:sp>
    </p:spTree>
    <p:extLst>
      <p:ext uri="{BB962C8B-B14F-4D97-AF65-F5344CB8AC3E}">
        <p14:creationId xmlns:p14="http://schemas.microsoft.com/office/powerpoint/2010/main" val="478374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fld id="{FCAB41BC-FEAB-4FF2-B81C-73BBC796BFBB}" type="datetime1">
              <a:rPr lang="en-US" smtClean="0"/>
              <a:t>8/16/2021</a:t>
            </a:fld>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en-US"/>
              <a:t>Copyright (c) 2020, John K. Ostlund</a:t>
            </a:r>
          </a:p>
        </p:txBody>
      </p:sp>
      <p:sp>
        <p:nvSpPr>
          <p:cNvPr id="7" name="Rectangle 13"/>
          <p:cNvSpPr>
            <a:spLocks noGrp="1" noChangeArrowheads="1"/>
          </p:cNvSpPr>
          <p:nvPr>
            <p:ph type="sldNum" sz="quarter" idx="12"/>
          </p:nvPr>
        </p:nvSpPr>
        <p:spPr>
          <a:ln/>
        </p:spPr>
        <p:txBody>
          <a:bodyPr/>
          <a:lstStyle>
            <a:lvl1pPr>
              <a:defRPr/>
            </a:lvl1pPr>
          </a:lstStyle>
          <a:p>
            <a:pPr>
              <a:defRPr/>
            </a:pPr>
            <a:fld id="{AF169637-7F5D-47B5-84F3-031C50CD82B5}" type="slidenum">
              <a:rPr lang="en-US"/>
              <a:pPr>
                <a:defRPr/>
              </a:pPr>
              <a:t>‹#›</a:t>
            </a:fld>
            <a:endParaRPr lang="en-US"/>
          </a:p>
        </p:txBody>
      </p:sp>
    </p:spTree>
    <p:extLst>
      <p:ext uri="{BB962C8B-B14F-4D97-AF65-F5344CB8AC3E}">
        <p14:creationId xmlns:p14="http://schemas.microsoft.com/office/powerpoint/2010/main" val="1444204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27AA1B36-156C-441D-8F5D-8D05B7AAE9F5}" type="datetime1">
              <a:rPr lang="en-US" smtClean="0"/>
              <a:t>8/16/2021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2020,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AD9F3A7A-80FC-4CCB-802A-CD06628E1451}" type="slidenum">
              <a:rPr lang="en-US"/>
              <a:pPr>
                <a:defRPr/>
              </a:pPr>
              <a:t>‹#›</a:t>
            </a:fld>
            <a:endParaRPr lang="en-US"/>
          </a:p>
        </p:txBody>
      </p:sp>
    </p:spTree>
    <p:extLst>
      <p:ext uri="{BB962C8B-B14F-4D97-AF65-F5344CB8AC3E}">
        <p14:creationId xmlns:p14="http://schemas.microsoft.com/office/powerpoint/2010/main" val="1116063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214313"/>
            <a:ext cx="1951038" cy="5918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50938" y="214313"/>
            <a:ext cx="5700712" cy="5918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fld id="{9ED323C8-D5DD-4858-8D00-75FFB568DF9D}" type="datetime1">
              <a:rPr lang="en-US" smtClean="0"/>
              <a:t>8/16/2021</a:t>
            </a:fld>
            <a:endParaRPr lang="en-US"/>
          </a:p>
        </p:txBody>
      </p:sp>
      <p:sp>
        <p:nvSpPr>
          <p:cNvPr id="5" name="Rectangle 12"/>
          <p:cNvSpPr>
            <a:spLocks noGrp="1" noChangeArrowheads="1"/>
          </p:cNvSpPr>
          <p:nvPr>
            <p:ph type="ftr" sz="quarter" idx="11"/>
          </p:nvPr>
        </p:nvSpPr>
        <p:spPr>
          <a:ln/>
        </p:spPr>
        <p:txBody>
          <a:bodyPr/>
          <a:lstStyle>
            <a:lvl1pPr>
              <a:defRPr/>
            </a:lvl1pPr>
          </a:lstStyle>
          <a:p>
            <a:pPr>
              <a:defRPr/>
            </a:pPr>
            <a:r>
              <a:rPr lang="en-US"/>
              <a:t>Copyright (c) 2020, John K. Ostlund</a:t>
            </a:r>
          </a:p>
        </p:txBody>
      </p:sp>
      <p:sp>
        <p:nvSpPr>
          <p:cNvPr id="6" name="Rectangle 13"/>
          <p:cNvSpPr>
            <a:spLocks noGrp="1" noChangeArrowheads="1"/>
          </p:cNvSpPr>
          <p:nvPr>
            <p:ph type="sldNum" sz="quarter" idx="12"/>
          </p:nvPr>
        </p:nvSpPr>
        <p:spPr>
          <a:ln/>
        </p:spPr>
        <p:txBody>
          <a:bodyPr/>
          <a:lstStyle>
            <a:lvl1pPr>
              <a:defRPr/>
            </a:lvl1pPr>
          </a:lstStyle>
          <a:p>
            <a:pPr>
              <a:defRPr/>
            </a:pPr>
            <a:fld id="{C15F157A-85D2-470A-87E4-A935A04F8C7B}" type="slidenum">
              <a:rPr lang="en-US"/>
              <a:pPr>
                <a:defRPr/>
              </a:pPr>
              <a:t>‹#›</a:t>
            </a:fld>
            <a:endParaRPr lang="en-US"/>
          </a:p>
        </p:txBody>
      </p:sp>
    </p:spTree>
    <p:extLst>
      <p:ext uri="{BB962C8B-B14F-4D97-AF65-F5344CB8AC3E}">
        <p14:creationId xmlns:p14="http://schemas.microsoft.com/office/powerpoint/2010/main" val="345554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Tahoma" pitchFamily="34" charset="0"/>
              </a:defRPr>
            </a:lvl1pPr>
            <a:lvl2pPr marL="742950" indent="-285750">
              <a:defRPr>
                <a:solidFill>
                  <a:schemeClr val="tx1"/>
                </a:solidFill>
                <a:latin typeface="Tahoma" pitchFamily="34" charset="0"/>
              </a:defRPr>
            </a:lvl2pPr>
            <a:lvl3pPr marL="1143000" indent="-228600">
              <a:defRPr>
                <a:solidFill>
                  <a:schemeClr val="tx1"/>
                </a:solidFill>
                <a:latin typeface="Tahoma" pitchFamily="34" charset="0"/>
              </a:defRPr>
            </a:lvl3pPr>
            <a:lvl4pPr marL="1600200" indent="-228600">
              <a:defRPr>
                <a:solidFill>
                  <a:schemeClr val="tx1"/>
                </a:solidFill>
                <a:latin typeface="Tahoma" pitchFamily="34" charset="0"/>
              </a:defRPr>
            </a:lvl4pPr>
            <a:lvl5pPr marL="2057400" indent="-22860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algn="ctr" eaLnBrk="1" hangingPunct="1">
              <a:defRPr/>
            </a:pPr>
            <a:endParaRPr kumimoji="1" lang="en-US" altLang="en-US" sz="2400"/>
          </a:p>
        </p:txBody>
      </p:sp>
      <p:sp>
        <p:nvSpPr>
          <p:cNvPr id="1033" name="Rectangle 9"/>
          <p:cNvSpPr>
            <a:spLocks noGrp="1" noChangeArrowheads="1"/>
          </p:cNvSpPr>
          <p:nvPr>
            <p:ph type="title"/>
          </p:nvPr>
        </p:nvSpPr>
        <p:spPr bwMode="auto">
          <a:xfrm>
            <a:off x="1150938" y="214313"/>
            <a:ext cx="7793037"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37227" name="Rectangle 11"/>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vl1pPr>
          </a:lstStyle>
          <a:p>
            <a:pPr>
              <a:defRPr/>
            </a:pPr>
            <a:fld id="{1A402B15-CF07-48BE-8BDB-C3085399C7FB}" type="datetime1">
              <a:rPr lang="en-US" smtClean="0"/>
              <a:t>8/16/2021</a:t>
            </a:fld>
            <a:endParaRPr lang="en-US"/>
          </a:p>
        </p:txBody>
      </p:sp>
      <p:sp>
        <p:nvSpPr>
          <p:cNvPr id="137228" name="Rectangle 12"/>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vl1pPr>
          </a:lstStyle>
          <a:p>
            <a:pPr>
              <a:defRPr/>
            </a:pPr>
            <a:r>
              <a:rPr lang="en-US"/>
              <a:t>Copyright (c) 2020, John K. Ostlund</a:t>
            </a:r>
          </a:p>
        </p:txBody>
      </p:sp>
      <p:sp>
        <p:nvSpPr>
          <p:cNvPr id="137229" name="Rectangle 13"/>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vl1pPr>
          </a:lstStyle>
          <a:p>
            <a:pPr>
              <a:defRPr/>
            </a:pPr>
            <a:fld id="{B6BFBACB-D4B5-4FCB-958C-A311D48A19C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18"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hf hdr="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altLang="en-US" dirty="0"/>
              <a:t>MSCF Programming Prep</a:t>
            </a:r>
            <a:br>
              <a:rPr lang="en-US" altLang="en-US" dirty="0"/>
            </a:br>
            <a:r>
              <a:rPr lang="en-US" altLang="en-US" dirty="0"/>
              <a:t>46-900</a:t>
            </a:r>
          </a:p>
        </p:txBody>
      </p:sp>
      <p:sp>
        <p:nvSpPr>
          <p:cNvPr id="3075" name="Rectangle 3"/>
          <p:cNvSpPr>
            <a:spLocks noGrp="1" noChangeArrowheads="1"/>
          </p:cNvSpPr>
          <p:nvPr>
            <p:ph type="subTitle" idx="1"/>
          </p:nvPr>
        </p:nvSpPr>
        <p:spPr>
          <a:xfrm>
            <a:off x="1371600" y="3657600"/>
            <a:ext cx="6400800" cy="2209800"/>
          </a:xfrm>
        </p:spPr>
        <p:txBody>
          <a:bodyPr/>
          <a:lstStyle/>
          <a:p>
            <a:pPr eaLnBrk="1" hangingPunct="1">
              <a:spcBef>
                <a:spcPts val="0"/>
              </a:spcBef>
            </a:pPr>
            <a:r>
              <a:rPr lang="en-US" altLang="en-US" dirty="0"/>
              <a:t>MSCF, Carnegie Mellon University</a:t>
            </a:r>
          </a:p>
          <a:p>
            <a:pPr eaLnBrk="1" hangingPunct="1">
              <a:spcBef>
                <a:spcPts val="0"/>
              </a:spcBef>
            </a:pPr>
            <a:r>
              <a:rPr lang="en-US" altLang="en-US" dirty="0"/>
              <a:t>Day 7, Part 1:</a:t>
            </a:r>
          </a:p>
          <a:p>
            <a:pPr eaLnBrk="1" hangingPunct="1">
              <a:spcBef>
                <a:spcPts val="0"/>
              </a:spcBef>
            </a:pPr>
            <a:r>
              <a:rPr lang="en-US" altLang="en-US" dirty="0"/>
              <a:t>Balanced Binary Trees,</a:t>
            </a:r>
          </a:p>
          <a:p>
            <a:pPr eaLnBrk="1" hangingPunct="1">
              <a:spcBef>
                <a:spcPts val="0"/>
              </a:spcBef>
            </a:pPr>
            <a:r>
              <a:rPr lang="en-US" altLang="en-US" dirty="0"/>
              <a:t>Red-Black Trees</a:t>
            </a:r>
          </a:p>
        </p:txBody>
      </p:sp>
      <p:sp>
        <p:nvSpPr>
          <p:cNvPr id="2" name="Date Placeholder 1"/>
          <p:cNvSpPr>
            <a:spLocks noGrp="1"/>
          </p:cNvSpPr>
          <p:nvPr>
            <p:ph type="dt" sz="half" idx="10"/>
          </p:nvPr>
        </p:nvSpPr>
        <p:spPr/>
        <p:txBody>
          <a:bodyPr/>
          <a:lstStyle/>
          <a:p>
            <a:pPr>
              <a:defRPr/>
            </a:pPr>
            <a:fld id="{1943F20C-CF11-4D17-AEB9-BB7B37E2131A}" type="datetime1">
              <a:rPr lang="en-US" smtClean="0"/>
              <a:t>8/16/2021</a:t>
            </a:fld>
            <a:endParaRPr lang="en-US"/>
          </a:p>
        </p:txBody>
      </p:sp>
      <p:sp>
        <p:nvSpPr>
          <p:cNvPr id="3" name="Footer Placeholder 2"/>
          <p:cNvSpPr>
            <a:spLocks noGrp="1"/>
          </p:cNvSpPr>
          <p:nvPr>
            <p:ph type="ftr" sz="quarter" idx="11"/>
          </p:nvPr>
        </p:nvSpPr>
        <p:spPr/>
        <p:txBody>
          <a:bodyPr/>
          <a:lstStyle/>
          <a:p>
            <a:pPr>
              <a:defRPr/>
            </a:pPr>
            <a:r>
              <a:rPr lang="en-US" sz="1200" dirty="0"/>
              <a:t>Copyright (c) 2020, John K. </a:t>
            </a:r>
            <a:r>
              <a:rPr lang="en-US" sz="1200" dirty="0" err="1"/>
              <a:t>Ostlund</a:t>
            </a:r>
            <a:endParaRPr lang="en-US" sz="1200" dirty="0"/>
          </a:p>
        </p:txBody>
      </p:sp>
      <p:sp>
        <p:nvSpPr>
          <p:cNvPr id="4" name="Slide Number Placeholder 3">
            <a:extLst>
              <a:ext uri="{FF2B5EF4-FFF2-40B4-BE49-F238E27FC236}">
                <a16:creationId xmlns:a16="http://schemas.microsoft.com/office/drawing/2014/main" id="{4796CEA7-82DF-4E8D-A6C5-BE060327181D}"/>
              </a:ext>
            </a:extLst>
          </p:cNvPr>
          <p:cNvSpPr>
            <a:spLocks noGrp="1"/>
          </p:cNvSpPr>
          <p:nvPr>
            <p:ph type="sldNum" sz="quarter" idx="12"/>
          </p:nvPr>
        </p:nvSpPr>
        <p:spPr/>
        <p:txBody>
          <a:bodyPr/>
          <a:lstStyle/>
          <a:p>
            <a:pPr>
              <a:defRPr/>
            </a:pPr>
            <a:fld id="{5239B93A-74DE-4B25-B352-2D94A7B0ECE9}" type="slidenum">
              <a:rPr lang="en-US" smtClean="0"/>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Linked List Search Time</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dirty="0"/>
              <a:t>To search an </a:t>
            </a:r>
            <a:r>
              <a:rPr lang="en-US" altLang="en-US" sz="2800" b="1" dirty="0"/>
              <a:t>N</a:t>
            </a:r>
            <a:r>
              <a:rPr lang="en-US" altLang="en-US" sz="2800" dirty="0"/>
              <a:t>-node (unsorted) </a:t>
            </a:r>
            <a:r>
              <a:rPr lang="en-US" altLang="en-US" sz="2800" i="1" dirty="0"/>
              <a:t>linked list</a:t>
            </a:r>
            <a:r>
              <a:rPr lang="en-US" altLang="en-US" sz="2800" dirty="0"/>
              <a:t> for a value, how many nodes must we look at?</a:t>
            </a:r>
          </a:p>
          <a:p>
            <a:pPr lvl="1" eaLnBrk="1" hangingPunct="1"/>
            <a:r>
              <a:rPr lang="en-US" altLang="en-US" sz="2400" dirty="0"/>
              <a:t>Very rarely, just one</a:t>
            </a:r>
            <a:endParaRPr lang="en-US" altLang="en-US" sz="2400" i="1" dirty="0"/>
          </a:p>
          <a:p>
            <a:pPr lvl="1" eaLnBrk="1" hangingPunct="1"/>
            <a:r>
              <a:rPr lang="en-US" altLang="en-US" sz="2400" dirty="0"/>
              <a:t>Much more often, all </a:t>
            </a:r>
            <a:r>
              <a:rPr lang="en-US" altLang="en-US" sz="2400" b="1" dirty="0"/>
              <a:t>N</a:t>
            </a:r>
          </a:p>
          <a:p>
            <a:pPr lvl="2" eaLnBrk="1" hangingPunct="1"/>
            <a:r>
              <a:rPr lang="en-US" altLang="en-US" sz="2000" dirty="0"/>
              <a:t>The value might not be in the list at all!</a:t>
            </a:r>
          </a:p>
          <a:p>
            <a:pPr eaLnBrk="1" hangingPunct="1"/>
            <a:r>
              <a:rPr lang="en-US" altLang="en-US" sz="2800" dirty="0"/>
              <a:t>A linked list has </a:t>
            </a:r>
            <a:r>
              <a:rPr lang="en-US" altLang="en-US" sz="2800" b="1" dirty="0"/>
              <a:t>O(N)</a:t>
            </a:r>
            <a:r>
              <a:rPr lang="en-US" altLang="en-US" sz="2800" dirty="0"/>
              <a:t> search time</a:t>
            </a:r>
          </a:p>
          <a:p>
            <a:pPr lvl="1" eaLnBrk="1" hangingPunct="1"/>
            <a:r>
              <a:rPr lang="en-US" altLang="en-US" sz="2400" dirty="0"/>
              <a:t>If </a:t>
            </a:r>
            <a:r>
              <a:rPr lang="en-US" altLang="en-US" sz="2400" b="1" dirty="0"/>
              <a:t>N</a:t>
            </a:r>
            <a:r>
              <a:rPr lang="en-US" altLang="en-US" sz="2400" dirty="0"/>
              <a:t> doubles, search time doubles</a:t>
            </a:r>
          </a:p>
          <a:p>
            <a:pPr marL="0" indent="0" eaLnBrk="1" hangingPunct="1">
              <a:buNone/>
            </a:pPr>
            <a:endParaRPr lang="en-US" altLang="en-US" sz="2000" dirty="0"/>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Tree>
    <p:extLst>
      <p:ext uri="{BB962C8B-B14F-4D97-AF65-F5344CB8AC3E}">
        <p14:creationId xmlns:p14="http://schemas.microsoft.com/office/powerpoint/2010/main" val="889293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Unbalanced BST</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dirty="0"/>
              <a:t>To search an </a:t>
            </a:r>
            <a:r>
              <a:rPr lang="en-US" altLang="en-US" sz="2800" b="1" dirty="0"/>
              <a:t>N</a:t>
            </a:r>
            <a:r>
              <a:rPr lang="en-US" altLang="en-US" sz="2800" dirty="0"/>
              <a:t>-node (</a:t>
            </a:r>
            <a:r>
              <a:rPr lang="en-US" altLang="en-US" sz="2800" i="1" dirty="0">
                <a:solidFill>
                  <a:srgbClr val="FF0000"/>
                </a:solidFill>
              </a:rPr>
              <a:t>unbalanced</a:t>
            </a:r>
            <a:r>
              <a:rPr lang="en-US" altLang="en-US" sz="2800" dirty="0"/>
              <a:t>) binary search tree for a value (no duplicates), how many nodes must we look at?</a:t>
            </a:r>
          </a:p>
          <a:p>
            <a:pPr lvl="1" eaLnBrk="1" hangingPunct="1"/>
            <a:r>
              <a:rPr lang="en-US" altLang="en-US" sz="2400" dirty="0"/>
              <a:t>Very rarely, just one                   </a:t>
            </a:r>
            <a:r>
              <a:rPr lang="en-US" altLang="en-US" sz="2000" dirty="0"/>
              <a:t>0</a:t>
            </a:r>
            <a:endParaRPr lang="en-US" altLang="en-US" sz="2000" i="1" dirty="0"/>
          </a:p>
          <a:p>
            <a:pPr lvl="1" eaLnBrk="1" hangingPunct="1"/>
            <a:r>
              <a:rPr lang="en-US" altLang="en-US" sz="2400" dirty="0"/>
              <a:t>In the worst cases, all </a:t>
            </a:r>
            <a:r>
              <a:rPr lang="en-US" altLang="en-US" sz="2400" b="1" dirty="0"/>
              <a:t>N                  </a:t>
            </a:r>
            <a:r>
              <a:rPr lang="en-US" altLang="en-US" sz="2000" dirty="0"/>
              <a:t>1</a:t>
            </a:r>
          </a:p>
          <a:p>
            <a:pPr lvl="2" eaLnBrk="1" hangingPunct="1"/>
            <a:r>
              <a:rPr lang="en-US" altLang="en-US" sz="2000" dirty="0"/>
              <a:t>If values were inserted in order!                2</a:t>
            </a:r>
          </a:p>
          <a:p>
            <a:pPr marL="0" indent="0" eaLnBrk="1" hangingPunct="1">
              <a:buNone/>
            </a:pPr>
            <a:r>
              <a:rPr lang="en-US" altLang="en-US" sz="2000" dirty="0"/>
              <a:t>                                                                                 3</a:t>
            </a:r>
          </a:p>
          <a:p>
            <a:pPr marL="0" indent="0" eaLnBrk="1" hangingPunct="1">
              <a:buNone/>
            </a:pPr>
            <a:r>
              <a:rPr lang="en-US" altLang="en-US" sz="2000" dirty="0"/>
              <a:t>                                                                                      4</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3</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
        <p:nvSpPr>
          <p:cNvPr id="3" name="Oval 2">
            <a:extLst>
              <a:ext uri="{FF2B5EF4-FFF2-40B4-BE49-F238E27FC236}">
                <a16:creationId xmlns:a16="http://schemas.microsoft.com/office/drawing/2014/main" id="{ABC73389-44B4-45E1-A9E8-103F6F39C2A3}"/>
              </a:ext>
            </a:extLst>
          </p:cNvPr>
          <p:cNvSpPr/>
          <p:nvPr/>
        </p:nvSpPr>
        <p:spPr bwMode="auto">
          <a:xfrm>
            <a:off x="6443188" y="3447168"/>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8" name="Oval 7">
            <a:extLst>
              <a:ext uri="{FF2B5EF4-FFF2-40B4-BE49-F238E27FC236}">
                <a16:creationId xmlns:a16="http://schemas.microsoft.com/office/drawing/2014/main" id="{DC754D07-CED1-4F8B-A2CB-C4AEFF8BB7FC}"/>
              </a:ext>
            </a:extLst>
          </p:cNvPr>
          <p:cNvSpPr/>
          <p:nvPr/>
        </p:nvSpPr>
        <p:spPr bwMode="auto">
          <a:xfrm>
            <a:off x="6795424" y="3884186"/>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Oval 8">
            <a:extLst>
              <a:ext uri="{FF2B5EF4-FFF2-40B4-BE49-F238E27FC236}">
                <a16:creationId xmlns:a16="http://schemas.microsoft.com/office/drawing/2014/main" id="{469917ED-D2DA-49F2-8DCB-87F5CC7A5D6F}"/>
              </a:ext>
            </a:extLst>
          </p:cNvPr>
          <p:cNvSpPr/>
          <p:nvPr/>
        </p:nvSpPr>
        <p:spPr bwMode="auto">
          <a:xfrm>
            <a:off x="7171885" y="4260648"/>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0" name="Oval 9">
            <a:extLst>
              <a:ext uri="{FF2B5EF4-FFF2-40B4-BE49-F238E27FC236}">
                <a16:creationId xmlns:a16="http://schemas.microsoft.com/office/drawing/2014/main" id="{2C65D6BA-BEE2-46B4-B717-F6F9D496BB38}"/>
              </a:ext>
            </a:extLst>
          </p:cNvPr>
          <p:cNvSpPr/>
          <p:nvPr/>
        </p:nvSpPr>
        <p:spPr bwMode="auto">
          <a:xfrm>
            <a:off x="7578625" y="4624998"/>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1" name="Oval 10">
            <a:extLst>
              <a:ext uri="{FF2B5EF4-FFF2-40B4-BE49-F238E27FC236}">
                <a16:creationId xmlns:a16="http://schemas.microsoft.com/office/drawing/2014/main" id="{4D0E14BA-42C3-49B6-B937-A932D3FA3618}"/>
              </a:ext>
            </a:extLst>
          </p:cNvPr>
          <p:cNvSpPr/>
          <p:nvPr/>
        </p:nvSpPr>
        <p:spPr bwMode="auto">
          <a:xfrm>
            <a:off x="7985366" y="5001455"/>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cxnSp>
        <p:nvCxnSpPr>
          <p:cNvPr id="5" name="Straight Arrow Connector 4">
            <a:extLst>
              <a:ext uri="{FF2B5EF4-FFF2-40B4-BE49-F238E27FC236}">
                <a16:creationId xmlns:a16="http://schemas.microsoft.com/office/drawing/2014/main" id="{B42F585B-51A2-4D38-BBE0-7BB68FCF2D7C}"/>
              </a:ext>
            </a:extLst>
          </p:cNvPr>
          <p:cNvCxnSpPr>
            <a:cxnSpLocks/>
            <a:stCxn id="3" idx="5"/>
            <a:endCxn id="8" idx="1"/>
          </p:cNvCxnSpPr>
          <p:nvPr/>
        </p:nvCxnSpPr>
        <p:spPr bwMode="auto">
          <a:xfrm>
            <a:off x="6758486" y="3756004"/>
            <a:ext cx="91034" cy="181170"/>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14" name="Straight Arrow Connector 13">
            <a:extLst>
              <a:ext uri="{FF2B5EF4-FFF2-40B4-BE49-F238E27FC236}">
                <a16:creationId xmlns:a16="http://schemas.microsoft.com/office/drawing/2014/main" id="{714DE3CB-D9D6-43BC-99F6-4E97AB32468A}"/>
              </a:ext>
            </a:extLst>
          </p:cNvPr>
          <p:cNvCxnSpPr>
            <a:cxnSpLocks/>
            <a:endCxn id="9" idx="1"/>
          </p:cNvCxnSpPr>
          <p:nvPr/>
        </p:nvCxnSpPr>
        <p:spPr bwMode="auto">
          <a:xfrm>
            <a:off x="7129377" y="4173391"/>
            <a:ext cx="96604" cy="140245"/>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17" name="Straight Arrow Connector 16">
            <a:extLst>
              <a:ext uri="{FF2B5EF4-FFF2-40B4-BE49-F238E27FC236}">
                <a16:creationId xmlns:a16="http://schemas.microsoft.com/office/drawing/2014/main" id="{EFC6F4ED-846D-497C-AE01-29C3EFBD192C}"/>
              </a:ext>
            </a:extLst>
          </p:cNvPr>
          <p:cNvCxnSpPr>
            <a:cxnSpLocks/>
          </p:cNvCxnSpPr>
          <p:nvPr/>
        </p:nvCxnSpPr>
        <p:spPr bwMode="auto">
          <a:xfrm>
            <a:off x="7492977" y="4569484"/>
            <a:ext cx="112736" cy="16411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19" name="Straight Arrow Connector 18">
            <a:extLst>
              <a:ext uri="{FF2B5EF4-FFF2-40B4-BE49-F238E27FC236}">
                <a16:creationId xmlns:a16="http://schemas.microsoft.com/office/drawing/2014/main" id="{83A72A9C-6351-4E82-946F-0EDECD191BED}"/>
              </a:ext>
            </a:extLst>
          </p:cNvPr>
          <p:cNvCxnSpPr>
            <a:cxnSpLocks/>
          </p:cNvCxnSpPr>
          <p:nvPr/>
        </p:nvCxnSpPr>
        <p:spPr bwMode="auto">
          <a:xfrm>
            <a:off x="7891651" y="4933834"/>
            <a:ext cx="112736" cy="16411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Tree>
    <p:extLst>
      <p:ext uri="{BB962C8B-B14F-4D97-AF65-F5344CB8AC3E}">
        <p14:creationId xmlns:p14="http://schemas.microsoft.com/office/powerpoint/2010/main" val="1429873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Unbalanced BST (cont.)</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dirty="0"/>
              <a:t>If values are inserted into an </a:t>
            </a:r>
            <a:r>
              <a:rPr lang="en-US" altLang="en-US" sz="2800" i="1" dirty="0">
                <a:solidFill>
                  <a:srgbClr val="FF0000"/>
                </a:solidFill>
              </a:rPr>
              <a:t>unbalanced</a:t>
            </a:r>
            <a:r>
              <a:rPr lang="en-US" altLang="en-US" sz="2800" dirty="0"/>
              <a:t> BST in "random" order, the tree tends to be "better balanced"</a:t>
            </a:r>
          </a:p>
          <a:p>
            <a:pPr lvl="1" eaLnBrk="1" hangingPunct="1"/>
            <a:r>
              <a:rPr lang="en-US" altLang="en-US" sz="2400" dirty="0"/>
              <a:t>That is, branches from root to leaf are closer to the same length</a:t>
            </a:r>
          </a:p>
          <a:p>
            <a:pPr lvl="2" eaLnBrk="1" hangingPunct="1"/>
            <a:r>
              <a:rPr lang="en-US" altLang="en-US" sz="2000" dirty="0"/>
              <a:t>To search this tree of 10 nodes, we examine at most 4</a:t>
            </a:r>
          </a:p>
          <a:p>
            <a:pPr marL="914400" lvl="2" indent="0" eaLnBrk="1" hangingPunct="1">
              <a:spcBef>
                <a:spcPts val="1200"/>
              </a:spcBef>
              <a:buNone/>
            </a:pPr>
            <a:r>
              <a:rPr lang="en-US" altLang="en-US" sz="1600" dirty="0"/>
              <a:t>                                   15</a:t>
            </a:r>
          </a:p>
          <a:p>
            <a:pPr marL="914400" lvl="2" indent="0" eaLnBrk="1" hangingPunct="1">
              <a:spcBef>
                <a:spcPts val="1200"/>
              </a:spcBef>
              <a:buNone/>
            </a:pPr>
            <a:r>
              <a:rPr lang="en-US" altLang="en-US" sz="1600" dirty="0"/>
              <a:t>                      10                       22</a:t>
            </a:r>
          </a:p>
          <a:p>
            <a:pPr marL="914400" lvl="2" indent="0" eaLnBrk="1" hangingPunct="1">
              <a:spcBef>
                <a:spcPts val="1200"/>
              </a:spcBef>
              <a:buNone/>
            </a:pPr>
            <a:r>
              <a:rPr lang="en-US" altLang="en-US" sz="1600" dirty="0"/>
              <a:t>               8              12                         27</a:t>
            </a:r>
          </a:p>
          <a:p>
            <a:pPr marL="914400" lvl="2" indent="0" eaLnBrk="1" hangingPunct="1">
              <a:spcBef>
                <a:spcPts val="1200"/>
              </a:spcBef>
              <a:buNone/>
            </a:pPr>
            <a:r>
              <a:rPr lang="en-US" altLang="en-US" sz="1600" dirty="0"/>
              <a:t>          5         9                               24         33</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4</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
        <p:nvSpPr>
          <p:cNvPr id="16" name="Oval 15">
            <a:extLst>
              <a:ext uri="{FF2B5EF4-FFF2-40B4-BE49-F238E27FC236}">
                <a16:creationId xmlns:a16="http://schemas.microsoft.com/office/drawing/2014/main" id="{424D0532-0DC2-4E09-B82E-57B4C1734C2F}"/>
              </a:ext>
            </a:extLst>
          </p:cNvPr>
          <p:cNvSpPr/>
          <p:nvPr/>
        </p:nvSpPr>
        <p:spPr bwMode="auto">
          <a:xfrm>
            <a:off x="4347940" y="4615905"/>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8" name="Oval 17">
            <a:extLst>
              <a:ext uri="{FF2B5EF4-FFF2-40B4-BE49-F238E27FC236}">
                <a16:creationId xmlns:a16="http://schemas.microsoft.com/office/drawing/2014/main" id="{28E4CE30-2033-4D6D-A1B2-DC488EAB6C7F}"/>
              </a:ext>
            </a:extLst>
          </p:cNvPr>
          <p:cNvSpPr/>
          <p:nvPr/>
        </p:nvSpPr>
        <p:spPr bwMode="auto">
          <a:xfrm>
            <a:off x="3513275" y="5010531"/>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0" name="Oval 19">
            <a:extLst>
              <a:ext uri="{FF2B5EF4-FFF2-40B4-BE49-F238E27FC236}">
                <a16:creationId xmlns:a16="http://schemas.microsoft.com/office/drawing/2014/main" id="{CF5BF921-230D-4717-B084-675E676C0CEE}"/>
              </a:ext>
            </a:extLst>
          </p:cNvPr>
          <p:cNvSpPr/>
          <p:nvPr/>
        </p:nvSpPr>
        <p:spPr bwMode="auto">
          <a:xfrm>
            <a:off x="5197742" y="5005480"/>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1" name="Oval 20">
            <a:extLst>
              <a:ext uri="{FF2B5EF4-FFF2-40B4-BE49-F238E27FC236}">
                <a16:creationId xmlns:a16="http://schemas.microsoft.com/office/drawing/2014/main" id="{3DCF0482-AB46-4AB2-B890-3EF8C4DB1678}"/>
              </a:ext>
            </a:extLst>
          </p:cNvPr>
          <p:cNvSpPr/>
          <p:nvPr/>
        </p:nvSpPr>
        <p:spPr bwMode="auto">
          <a:xfrm>
            <a:off x="5876981" y="5400110"/>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2" name="Oval 21">
            <a:extLst>
              <a:ext uri="{FF2B5EF4-FFF2-40B4-BE49-F238E27FC236}">
                <a16:creationId xmlns:a16="http://schemas.microsoft.com/office/drawing/2014/main" id="{A5DE9E72-E052-493A-9711-15E68002455D}"/>
              </a:ext>
            </a:extLst>
          </p:cNvPr>
          <p:cNvSpPr/>
          <p:nvPr/>
        </p:nvSpPr>
        <p:spPr bwMode="auto">
          <a:xfrm>
            <a:off x="6295832" y="5806850"/>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3" name="Oval 22">
            <a:extLst>
              <a:ext uri="{FF2B5EF4-FFF2-40B4-BE49-F238E27FC236}">
                <a16:creationId xmlns:a16="http://schemas.microsoft.com/office/drawing/2014/main" id="{B7D27C96-22D5-4AE4-A7C6-E8DB5132011E}"/>
              </a:ext>
            </a:extLst>
          </p:cNvPr>
          <p:cNvSpPr/>
          <p:nvPr/>
        </p:nvSpPr>
        <p:spPr bwMode="auto">
          <a:xfrm>
            <a:off x="5509611" y="5807855"/>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4" name="Oval 23">
            <a:extLst>
              <a:ext uri="{FF2B5EF4-FFF2-40B4-BE49-F238E27FC236}">
                <a16:creationId xmlns:a16="http://schemas.microsoft.com/office/drawing/2014/main" id="{24404F0D-812A-40E5-B91D-321E837B8065}"/>
              </a:ext>
            </a:extLst>
          </p:cNvPr>
          <p:cNvSpPr/>
          <p:nvPr/>
        </p:nvSpPr>
        <p:spPr bwMode="auto">
          <a:xfrm>
            <a:off x="3372988" y="5808863"/>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5" name="Oval 24">
            <a:extLst>
              <a:ext uri="{FF2B5EF4-FFF2-40B4-BE49-F238E27FC236}">
                <a16:creationId xmlns:a16="http://schemas.microsoft.com/office/drawing/2014/main" id="{DE695AAB-F06D-4356-B09C-B397C27D479A}"/>
              </a:ext>
            </a:extLst>
          </p:cNvPr>
          <p:cNvSpPr/>
          <p:nvPr/>
        </p:nvSpPr>
        <p:spPr bwMode="auto">
          <a:xfrm>
            <a:off x="2695762" y="5809866"/>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6" name="Oval 25">
            <a:extLst>
              <a:ext uri="{FF2B5EF4-FFF2-40B4-BE49-F238E27FC236}">
                <a16:creationId xmlns:a16="http://schemas.microsoft.com/office/drawing/2014/main" id="{FB1DCA59-E3D5-478B-A8C3-4A84F11A61F6}"/>
              </a:ext>
            </a:extLst>
          </p:cNvPr>
          <p:cNvSpPr/>
          <p:nvPr/>
        </p:nvSpPr>
        <p:spPr bwMode="auto">
          <a:xfrm>
            <a:off x="4073408" y="5401119"/>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7" name="Oval 26">
            <a:extLst>
              <a:ext uri="{FF2B5EF4-FFF2-40B4-BE49-F238E27FC236}">
                <a16:creationId xmlns:a16="http://schemas.microsoft.com/office/drawing/2014/main" id="{32CC02A9-54AB-4B75-88BA-F269736503C6}"/>
              </a:ext>
            </a:extLst>
          </p:cNvPr>
          <p:cNvSpPr/>
          <p:nvPr/>
        </p:nvSpPr>
        <p:spPr bwMode="auto">
          <a:xfrm>
            <a:off x="3014686" y="5402123"/>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cxnSp>
        <p:nvCxnSpPr>
          <p:cNvPr id="12" name="Straight Arrow Connector 11">
            <a:extLst>
              <a:ext uri="{FF2B5EF4-FFF2-40B4-BE49-F238E27FC236}">
                <a16:creationId xmlns:a16="http://schemas.microsoft.com/office/drawing/2014/main" id="{CE05A3FC-8CC4-43D6-8702-6CF1E2E0F4C5}"/>
              </a:ext>
            </a:extLst>
          </p:cNvPr>
          <p:cNvCxnSpPr/>
          <p:nvPr/>
        </p:nvCxnSpPr>
        <p:spPr bwMode="auto">
          <a:xfrm flipH="1">
            <a:off x="3882669" y="4872038"/>
            <a:ext cx="465271" cy="209550"/>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15" name="Straight Arrow Connector 14">
            <a:extLst>
              <a:ext uri="{FF2B5EF4-FFF2-40B4-BE49-F238E27FC236}">
                <a16:creationId xmlns:a16="http://schemas.microsoft.com/office/drawing/2014/main" id="{4F7FDD95-BEF3-415E-8F61-27A4B0D5B865}"/>
              </a:ext>
            </a:extLst>
          </p:cNvPr>
          <p:cNvCxnSpPr/>
          <p:nvPr/>
        </p:nvCxnSpPr>
        <p:spPr bwMode="auto">
          <a:xfrm>
            <a:off x="4717334" y="4879181"/>
            <a:ext cx="480408" cy="211932"/>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29" name="Straight Arrow Connector 28">
            <a:extLst>
              <a:ext uri="{FF2B5EF4-FFF2-40B4-BE49-F238E27FC236}">
                <a16:creationId xmlns:a16="http://schemas.microsoft.com/office/drawing/2014/main" id="{40EB540B-251D-4A36-A0C2-7392ECEF8B5E}"/>
              </a:ext>
            </a:extLst>
          </p:cNvPr>
          <p:cNvCxnSpPr/>
          <p:nvPr/>
        </p:nvCxnSpPr>
        <p:spPr bwMode="auto">
          <a:xfrm flipH="1">
            <a:off x="3338513" y="5300663"/>
            <a:ext cx="174762" cy="147637"/>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1" name="Straight Arrow Connector 30">
            <a:extLst>
              <a:ext uri="{FF2B5EF4-FFF2-40B4-BE49-F238E27FC236}">
                <a16:creationId xmlns:a16="http://schemas.microsoft.com/office/drawing/2014/main" id="{DD9A835E-1D73-418F-B9F2-432C875A45EC}"/>
              </a:ext>
            </a:extLst>
          </p:cNvPr>
          <p:cNvCxnSpPr/>
          <p:nvPr/>
        </p:nvCxnSpPr>
        <p:spPr bwMode="auto">
          <a:xfrm>
            <a:off x="3857625" y="5312569"/>
            <a:ext cx="245269" cy="145256"/>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3009" name="Straight Arrow Connector 43008">
            <a:extLst>
              <a:ext uri="{FF2B5EF4-FFF2-40B4-BE49-F238E27FC236}">
                <a16:creationId xmlns:a16="http://schemas.microsoft.com/office/drawing/2014/main" id="{8D555BFF-BBE0-4431-88DE-80A0F2EF9F17}"/>
              </a:ext>
            </a:extLst>
          </p:cNvPr>
          <p:cNvCxnSpPr/>
          <p:nvPr/>
        </p:nvCxnSpPr>
        <p:spPr bwMode="auto">
          <a:xfrm>
            <a:off x="5567136" y="5267325"/>
            <a:ext cx="309845" cy="219075"/>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3013" name="Straight Arrow Connector 43012">
            <a:extLst>
              <a:ext uri="{FF2B5EF4-FFF2-40B4-BE49-F238E27FC236}">
                <a16:creationId xmlns:a16="http://schemas.microsoft.com/office/drawing/2014/main" id="{CBDE26E3-6A5C-45CA-85C7-28A441288253}"/>
              </a:ext>
            </a:extLst>
          </p:cNvPr>
          <p:cNvCxnSpPr/>
          <p:nvPr/>
        </p:nvCxnSpPr>
        <p:spPr bwMode="auto">
          <a:xfrm flipH="1">
            <a:off x="5819775" y="5717381"/>
            <a:ext cx="92869" cy="1190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3015" name="Straight Arrow Connector 43014">
            <a:extLst>
              <a:ext uri="{FF2B5EF4-FFF2-40B4-BE49-F238E27FC236}">
                <a16:creationId xmlns:a16="http://schemas.microsoft.com/office/drawing/2014/main" id="{35A67B70-DCCA-48F9-A543-724299EF5A40}"/>
              </a:ext>
            </a:extLst>
          </p:cNvPr>
          <p:cNvCxnSpPr/>
          <p:nvPr/>
        </p:nvCxnSpPr>
        <p:spPr bwMode="auto">
          <a:xfrm>
            <a:off x="6212681" y="5715000"/>
            <a:ext cx="140494" cy="133350"/>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3017" name="Straight Arrow Connector 43016">
            <a:extLst>
              <a:ext uri="{FF2B5EF4-FFF2-40B4-BE49-F238E27FC236}">
                <a16:creationId xmlns:a16="http://schemas.microsoft.com/office/drawing/2014/main" id="{BB37362B-0065-4799-BD88-03BB69E7DD0E}"/>
              </a:ext>
            </a:extLst>
          </p:cNvPr>
          <p:cNvCxnSpPr/>
          <p:nvPr/>
        </p:nvCxnSpPr>
        <p:spPr bwMode="auto">
          <a:xfrm>
            <a:off x="3338513" y="5717381"/>
            <a:ext cx="102393" cy="1190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3019" name="Straight Arrow Connector 43018">
            <a:extLst>
              <a:ext uri="{FF2B5EF4-FFF2-40B4-BE49-F238E27FC236}">
                <a16:creationId xmlns:a16="http://schemas.microsoft.com/office/drawing/2014/main" id="{99456067-09F8-48B1-85EA-5C233551EB41}"/>
              </a:ext>
            </a:extLst>
          </p:cNvPr>
          <p:cNvCxnSpPr/>
          <p:nvPr/>
        </p:nvCxnSpPr>
        <p:spPr bwMode="auto">
          <a:xfrm flipH="1">
            <a:off x="2986088" y="5731669"/>
            <a:ext cx="79068" cy="104775"/>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Tree>
    <p:extLst>
      <p:ext uri="{BB962C8B-B14F-4D97-AF65-F5344CB8AC3E}">
        <p14:creationId xmlns:p14="http://schemas.microsoft.com/office/powerpoint/2010/main" val="197133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Balanced BST</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dirty="0"/>
              <a:t>In a </a:t>
            </a:r>
            <a:r>
              <a:rPr lang="en-US" altLang="en-US" sz="2800" i="1" dirty="0">
                <a:solidFill>
                  <a:srgbClr val="FF0000"/>
                </a:solidFill>
              </a:rPr>
              <a:t>balanced</a:t>
            </a:r>
            <a:r>
              <a:rPr lang="en-US" altLang="en-US" sz="2800" dirty="0"/>
              <a:t> BST, the </a:t>
            </a:r>
            <a:r>
              <a:rPr lang="en-US" altLang="en-US" sz="2800" i="1" dirty="0"/>
              <a:t>depths</a:t>
            </a:r>
            <a:r>
              <a:rPr lang="en-US" altLang="en-US" sz="2800" dirty="0"/>
              <a:t> of the left and right subtrees are within 1 </a:t>
            </a:r>
            <a:r>
              <a:rPr lang="en-US" altLang="en-US" sz="2800" i="1" dirty="0">
                <a:solidFill>
                  <a:srgbClr val="FF0000"/>
                </a:solidFill>
              </a:rPr>
              <a:t>at every level in the tree</a:t>
            </a:r>
          </a:p>
          <a:p>
            <a:pPr lvl="1" eaLnBrk="1" hangingPunct="1"/>
            <a:r>
              <a:rPr lang="en-US" altLang="en-US" sz="2400" dirty="0"/>
              <a:t>The previous slide's tree was </a:t>
            </a:r>
            <a:r>
              <a:rPr lang="en-US" altLang="en-US" sz="2400" i="1" dirty="0"/>
              <a:t>not balanced</a:t>
            </a:r>
            <a:r>
              <a:rPr lang="en-US" altLang="en-US" sz="2400" dirty="0"/>
              <a:t> at 22</a:t>
            </a:r>
          </a:p>
          <a:p>
            <a:pPr lvl="2" eaLnBrk="1" hangingPunct="1"/>
            <a:r>
              <a:rPr lang="en-US" altLang="en-US" sz="2000" dirty="0"/>
              <a:t>This tree is balanced</a:t>
            </a:r>
          </a:p>
          <a:p>
            <a:pPr marL="914400" lvl="2" indent="0" eaLnBrk="1" hangingPunct="1">
              <a:spcBef>
                <a:spcPts val="1200"/>
              </a:spcBef>
              <a:buNone/>
            </a:pPr>
            <a:r>
              <a:rPr lang="en-US" altLang="en-US" sz="1600" dirty="0"/>
              <a:t>                                   15</a:t>
            </a:r>
          </a:p>
          <a:p>
            <a:pPr marL="914400" lvl="2" indent="0" eaLnBrk="1" hangingPunct="1">
              <a:spcBef>
                <a:spcPts val="1200"/>
              </a:spcBef>
              <a:buNone/>
            </a:pPr>
            <a:r>
              <a:rPr lang="en-US" altLang="en-US" sz="1600" dirty="0"/>
              <a:t>                      10                       22</a:t>
            </a:r>
          </a:p>
          <a:p>
            <a:pPr marL="914400" lvl="2" indent="0" eaLnBrk="1" hangingPunct="1">
              <a:spcBef>
                <a:spcPts val="1200"/>
              </a:spcBef>
              <a:buNone/>
            </a:pPr>
            <a:r>
              <a:rPr lang="en-US" altLang="en-US" sz="1600" dirty="0"/>
              <a:t>               8              12        18             27</a:t>
            </a:r>
          </a:p>
          <a:p>
            <a:pPr marL="914400" lvl="2" indent="0" eaLnBrk="1" hangingPunct="1">
              <a:spcBef>
                <a:spcPts val="1200"/>
              </a:spcBef>
              <a:buNone/>
            </a:pPr>
            <a:r>
              <a:rPr lang="en-US" altLang="en-US" sz="1600" dirty="0"/>
              <a:t>          5         9             13              24         33</a:t>
            </a:r>
            <a:endParaRPr lang="en-US" altLang="en-US" sz="2000" i="1" dirty="0"/>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5</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
        <p:nvSpPr>
          <p:cNvPr id="16" name="Oval 15">
            <a:extLst>
              <a:ext uri="{FF2B5EF4-FFF2-40B4-BE49-F238E27FC236}">
                <a16:creationId xmlns:a16="http://schemas.microsoft.com/office/drawing/2014/main" id="{BA099C26-DFC7-402D-A50D-B31F0A30B5CE}"/>
              </a:ext>
            </a:extLst>
          </p:cNvPr>
          <p:cNvSpPr/>
          <p:nvPr/>
        </p:nvSpPr>
        <p:spPr bwMode="auto">
          <a:xfrm>
            <a:off x="4347940" y="4258622"/>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8" name="Oval 17">
            <a:extLst>
              <a:ext uri="{FF2B5EF4-FFF2-40B4-BE49-F238E27FC236}">
                <a16:creationId xmlns:a16="http://schemas.microsoft.com/office/drawing/2014/main" id="{BCF0A09C-E179-4031-8426-5342A595A6B2}"/>
              </a:ext>
            </a:extLst>
          </p:cNvPr>
          <p:cNvSpPr/>
          <p:nvPr/>
        </p:nvSpPr>
        <p:spPr bwMode="auto">
          <a:xfrm>
            <a:off x="3513275" y="4653248"/>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0" name="Oval 19">
            <a:extLst>
              <a:ext uri="{FF2B5EF4-FFF2-40B4-BE49-F238E27FC236}">
                <a16:creationId xmlns:a16="http://schemas.microsoft.com/office/drawing/2014/main" id="{38FC8D6D-8787-48DF-8A01-18385ABEF92B}"/>
              </a:ext>
            </a:extLst>
          </p:cNvPr>
          <p:cNvSpPr/>
          <p:nvPr/>
        </p:nvSpPr>
        <p:spPr bwMode="auto">
          <a:xfrm>
            <a:off x="5197742" y="4648197"/>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1" name="Oval 20">
            <a:extLst>
              <a:ext uri="{FF2B5EF4-FFF2-40B4-BE49-F238E27FC236}">
                <a16:creationId xmlns:a16="http://schemas.microsoft.com/office/drawing/2014/main" id="{312E3EA5-3151-4EFD-8578-922260223AA4}"/>
              </a:ext>
            </a:extLst>
          </p:cNvPr>
          <p:cNvSpPr/>
          <p:nvPr/>
        </p:nvSpPr>
        <p:spPr bwMode="auto">
          <a:xfrm>
            <a:off x="5852759" y="5042827"/>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2" name="Oval 21">
            <a:extLst>
              <a:ext uri="{FF2B5EF4-FFF2-40B4-BE49-F238E27FC236}">
                <a16:creationId xmlns:a16="http://schemas.microsoft.com/office/drawing/2014/main" id="{56E971D4-C6FB-4A91-897C-824AB56EAFA9}"/>
              </a:ext>
            </a:extLst>
          </p:cNvPr>
          <p:cNvSpPr/>
          <p:nvPr/>
        </p:nvSpPr>
        <p:spPr bwMode="auto">
          <a:xfrm>
            <a:off x="6271610" y="5449567"/>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3" name="Oval 22">
            <a:extLst>
              <a:ext uri="{FF2B5EF4-FFF2-40B4-BE49-F238E27FC236}">
                <a16:creationId xmlns:a16="http://schemas.microsoft.com/office/drawing/2014/main" id="{26F74AA2-0EBB-48C0-BCC3-12CB0A9CE02A}"/>
              </a:ext>
            </a:extLst>
          </p:cNvPr>
          <p:cNvSpPr/>
          <p:nvPr/>
        </p:nvSpPr>
        <p:spPr bwMode="auto">
          <a:xfrm>
            <a:off x="5485389" y="5450572"/>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4" name="Oval 23">
            <a:extLst>
              <a:ext uri="{FF2B5EF4-FFF2-40B4-BE49-F238E27FC236}">
                <a16:creationId xmlns:a16="http://schemas.microsoft.com/office/drawing/2014/main" id="{3B899987-6DA9-445A-A78B-1AD86DD1B204}"/>
              </a:ext>
            </a:extLst>
          </p:cNvPr>
          <p:cNvSpPr/>
          <p:nvPr/>
        </p:nvSpPr>
        <p:spPr bwMode="auto">
          <a:xfrm>
            <a:off x="3372988" y="5451580"/>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5" name="Oval 24">
            <a:extLst>
              <a:ext uri="{FF2B5EF4-FFF2-40B4-BE49-F238E27FC236}">
                <a16:creationId xmlns:a16="http://schemas.microsoft.com/office/drawing/2014/main" id="{37EA17B5-D537-4E79-8874-9368D97FCD6C}"/>
              </a:ext>
            </a:extLst>
          </p:cNvPr>
          <p:cNvSpPr/>
          <p:nvPr/>
        </p:nvSpPr>
        <p:spPr bwMode="auto">
          <a:xfrm>
            <a:off x="2695762" y="5452583"/>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6" name="Oval 25">
            <a:extLst>
              <a:ext uri="{FF2B5EF4-FFF2-40B4-BE49-F238E27FC236}">
                <a16:creationId xmlns:a16="http://schemas.microsoft.com/office/drawing/2014/main" id="{F4B63B63-1912-478E-9185-7FF0B3C8B8EB}"/>
              </a:ext>
            </a:extLst>
          </p:cNvPr>
          <p:cNvSpPr/>
          <p:nvPr/>
        </p:nvSpPr>
        <p:spPr bwMode="auto">
          <a:xfrm>
            <a:off x="4073408" y="5043836"/>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7" name="Oval 26">
            <a:extLst>
              <a:ext uri="{FF2B5EF4-FFF2-40B4-BE49-F238E27FC236}">
                <a16:creationId xmlns:a16="http://schemas.microsoft.com/office/drawing/2014/main" id="{B0FE9199-6792-4F38-8F32-E50B4A0ADD3C}"/>
              </a:ext>
            </a:extLst>
          </p:cNvPr>
          <p:cNvSpPr/>
          <p:nvPr/>
        </p:nvSpPr>
        <p:spPr bwMode="auto">
          <a:xfrm>
            <a:off x="3014686" y="5044840"/>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cxnSp>
        <p:nvCxnSpPr>
          <p:cNvPr id="28" name="Straight Arrow Connector 27">
            <a:extLst>
              <a:ext uri="{FF2B5EF4-FFF2-40B4-BE49-F238E27FC236}">
                <a16:creationId xmlns:a16="http://schemas.microsoft.com/office/drawing/2014/main" id="{4955B2E4-B9DD-484D-8EF3-E5CF505BCC54}"/>
              </a:ext>
            </a:extLst>
          </p:cNvPr>
          <p:cNvCxnSpPr/>
          <p:nvPr/>
        </p:nvCxnSpPr>
        <p:spPr bwMode="auto">
          <a:xfrm flipH="1">
            <a:off x="3882669" y="4514755"/>
            <a:ext cx="465271" cy="209550"/>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29" name="Straight Arrow Connector 28">
            <a:extLst>
              <a:ext uri="{FF2B5EF4-FFF2-40B4-BE49-F238E27FC236}">
                <a16:creationId xmlns:a16="http://schemas.microsoft.com/office/drawing/2014/main" id="{6F232A49-3609-495B-9879-7EEB79CD2D55}"/>
              </a:ext>
            </a:extLst>
          </p:cNvPr>
          <p:cNvCxnSpPr/>
          <p:nvPr/>
        </p:nvCxnSpPr>
        <p:spPr bwMode="auto">
          <a:xfrm>
            <a:off x="4717334" y="4521898"/>
            <a:ext cx="480408" cy="211932"/>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0" name="Straight Arrow Connector 29">
            <a:extLst>
              <a:ext uri="{FF2B5EF4-FFF2-40B4-BE49-F238E27FC236}">
                <a16:creationId xmlns:a16="http://schemas.microsoft.com/office/drawing/2014/main" id="{6A7D2944-F3C4-4FFF-95AB-8C9B94348F5E}"/>
              </a:ext>
            </a:extLst>
          </p:cNvPr>
          <p:cNvCxnSpPr/>
          <p:nvPr/>
        </p:nvCxnSpPr>
        <p:spPr bwMode="auto">
          <a:xfrm flipH="1">
            <a:off x="3338513" y="4943380"/>
            <a:ext cx="174762" cy="147637"/>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1" name="Straight Arrow Connector 30">
            <a:extLst>
              <a:ext uri="{FF2B5EF4-FFF2-40B4-BE49-F238E27FC236}">
                <a16:creationId xmlns:a16="http://schemas.microsoft.com/office/drawing/2014/main" id="{A3EFA5B2-1F64-407A-BAF9-127037DB4950}"/>
              </a:ext>
            </a:extLst>
          </p:cNvPr>
          <p:cNvCxnSpPr/>
          <p:nvPr/>
        </p:nvCxnSpPr>
        <p:spPr bwMode="auto">
          <a:xfrm>
            <a:off x="3857625" y="4955286"/>
            <a:ext cx="245269" cy="145256"/>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2" name="Straight Arrow Connector 31">
            <a:extLst>
              <a:ext uri="{FF2B5EF4-FFF2-40B4-BE49-F238E27FC236}">
                <a16:creationId xmlns:a16="http://schemas.microsoft.com/office/drawing/2014/main" id="{E53E7B45-D58B-4D32-BB27-EE56665C2A51}"/>
              </a:ext>
            </a:extLst>
          </p:cNvPr>
          <p:cNvCxnSpPr/>
          <p:nvPr/>
        </p:nvCxnSpPr>
        <p:spPr bwMode="auto">
          <a:xfrm>
            <a:off x="5573194" y="4910042"/>
            <a:ext cx="309845" cy="219075"/>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3" name="Straight Arrow Connector 32">
            <a:extLst>
              <a:ext uri="{FF2B5EF4-FFF2-40B4-BE49-F238E27FC236}">
                <a16:creationId xmlns:a16="http://schemas.microsoft.com/office/drawing/2014/main" id="{1524C728-F257-4B0A-9430-8BB7EBFA8ED3}"/>
              </a:ext>
            </a:extLst>
          </p:cNvPr>
          <p:cNvCxnSpPr/>
          <p:nvPr/>
        </p:nvCxnSpPr>
        <p:spPr bwMode="auto">
          <a:xfrm flipH="1">
            <a:off x="5795553" y="5360098"/>
            <a:ext cx="92869" cy="1190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4" name="Straight Arrow Connector 33">
            <a:extLst>
              <a:ext uri="{FF2B5EF4-FFF2-40B4-BE49-F238E27FC236}">
                <a16:creationId xmlns:a16="http://schemas.microsoft.com/office/drawing/2014/main" id="{BC99956E-93D7-4B7E-8DF0-502C3CD1EA72}"/>
              </a:ext>
            </a:extLst>
          </p:cNvPr>
          <p:cNvCxnSpPr/>
          <p:nvPr/>
        </p:nvCxnSpPr>
        <p:spPr bwMode="auto">
          <a:xfrm>
            <a:off x="6188459" y="5357717"/>
            <a:ext cx="140494" cy="133350"/>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5" name="Straight Arrow Connector 34">
            <a:extLst>
              <a:ext uri="{FF2B5EF4-FFF2-40B4-BE49-F238E27FC236}">
                <a16:creationId xmlns:a16="http://schemas.microsoft.com/office/drawing/2014/main" id="{CB3496D5-5C6F-4943-A74F-A4A786EC5361}"/>
              </a:ext>
            </a:extLst>
          </p:cNvPr>
          <p:cNvCxnSpPr/>
          <p:nvPr/>
        </p:nvCxnSpPr>
        <p:spPr bwMode="auto">
          <a:xfrm>
            <a:off x="3338513" y="5360098"/>
            <a:ext cx="102393" cy="1190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6" name="Straight Arrow Connector 35">
            <a:extLst>
              <a:ext uri="{FF2B5EF4-FFF2-40B4-BE49-F238E27FC236}">
                <a16:creationId xmlns:a16="http://schemas.microsoft.com/office/drawing/2014/main" id="{5CABA5B2-26F5-4924-A8D6-47BCADA0DD61}"/>
              </a:ext>
            </a:extLst>
          </p:cNvPr>
          <p:cNvCxnSpPr/>
          <p:nvPr/>
        </p:nvCxnSpPr>
        <p:spPr bwMode="auto">
          <a:xfrm flipH="1">
            <a:off x="2986088" y="5374386"/>
            <a:ext cx="79068" cy="104775"/>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
        <p:nvSpPr>
          <p:cNvPr id="37" name="Oval 36">
            <a:extLst>
              <a:ext uri="{FF2B5EF4-FFF2-40B4-BE49-F238E27FC236}">
                <a16:creationId xmlns:a16="http://schemas.microsoft.com/office/drawing/2014/main" id="{5197D989-C3D8-4C9D-8B77-927D50B755C4}"/>
              </a:ext>
            </a:extLst>
          </p:cNvPr>
          <p:cNvSpPr/>
          <p:nvPr/>
        </p:nvSpPr>
        <p:spPr bwMode="auto">
          <a:xfrm>
            <a:off x="4806141" y="5043838"/>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38" name="Oval 37">
            <a:extLst>
              <a:ext uri="{FF2B5EF4-FFF2-40B4-BE49-F238E27FC236}">
                <a16:creationId xmlns:a16="http://schemas.microsoft.com/office/drawing/2014/main" id="{120851F6-4DB7-4D50-8465-B87D25A8C9CF}"/>
              </a:ext>
            </a:extLst>
          </p:cNvPr>
          <p:cNvSpPr/>
          <p:nvPr/>
        </p:nvSpPr>
        <p:spPr bwMode="auto">
          <a:xfrm>
            <a:off x="4377202" y="5450578"/>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cxnSp>
        <p:nvCxnSpPr>
          <p:cNvPr id="39" name="Straight Arrow Connector 38">
            <a:extLst>
              <a:ext uri="{FF2B5EF4-FFF2-40B4-BE49-F238E27FC236}">
                <a16:creationId xmlns:a16="http://schemas.microsoft.com/office/drawing/2014/main" id="{83A737BF-F5E9-412E-984D-5AE48D6F145E}"/>
              </a:ext>
            </a:extLst>
          </p:cNvPr>
          <p:cNvCxnSpPr/>
          <p:nvPr/>
        </p:nvCxnSpPr>
        <p:spPr bwMode="auto">
          <a:xfrm>
            <a:off x="4419925" y="5342159"/>
            <a:ext cx="102393" cy="1190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0" name="Straight Arrow Connector 39">
            <a:extLst>
              <a:ext uri="{FF2B5EF4-FFF2-40B4-BE49-F238E27FC236}">
                <a16:creationId xmlns:a16="http://schemas.microsoft.com/office/drawing/2014/main" id="{5290C165-3FC8-4EF1-8C0F-5ABCC4DD9607}"/>
              </a:ext>
            </a:extLst>
          </p:cNvPr>
          <p:cNvCxnSpPr/>
          <p:nvPr/>
        </p:nvCxnSpPr>
        <p:spPr bwMode="auto">
          <a:xfrm flipH="1">
            <a:off x="5120506" y="4943380"/>
            <a:ext cx="92869" cy="1190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Tree>
    <p:extLst>
      <p:ext uri="{BB962C8B-B14F-4D97-AF65-F5344CB8AC3E}">
        <p14:creationId xmlns:p14="http://schemas.microsoft.com/office/powerpoint/2010/main" val="571023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Complete BST</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dirty="0"/>
              <a:t>In a </a:t>
            </a:r>
            <a:r>
              <a:rPr lang="en-US" altLang="en-US" sz="2800" i="1" dirty="0">
                <a:solidFill>
                  <a:srgbClr val="FF0000"/>
                </a:solidFill>
              </a:rPr>
              <a:t>complete</a:t>
            </a:r>
            <a:r>
              <a:rPr lang="en-US" altLang="en-US" sz="2800" dirty="0"/>
              <a:t> BST, the </a:t>
            </a:r>
            <a:r>
              <a:rPr lang="en-US" altLang="en-US" sz="2800" i="1" dirty="0"/>
              <a:t>depths</a:t>
            </a:r>
            <a:r>
              <a:rPr lang="en-US" altLang="en-US" sz="2800" dirty="0"/>
              <a:t> of the left and right subtrees are </a:t>
            </a:r>
            <a:r>
              <a:rPr lang="en-US" altLang="en-US" sz="2800" i="1" dirty="0">
                <a:solidFill>
                  <a:srgbClr val="FF0000"/>
                </a:solidFill>
              </a:rPr>
              <a:t>the same</a:t>
            </a:r>
            <a:r>
              <a:rPr lang="en-US" altLang="en-US" sz="2800" dirty="0">
                <a:solidFill>
                  <a:srgbClr val="FF0000"/>
                </a:solidFill>
              </a:rPr>
              <a:t> </a:t>
            </a:r>
            <a:r>
              <a:rPr lang="en-US" altLang="en-US" sz="2800" i="1" dirty="0"/>
              <a:t>at every level in the tree</a:t>
            </a:r>
          </a:p>
          <a:p>
            <a:pPr lvl="1" eaLnBrk="1" hangingPunct="1"/>
            <a:r>
              <a:rPr lang="en-US" altLang="en-US" sz="2400" dirty="0"/>
              <a:t>Every node is "filled in" up to that depth</a:t>
            </a:r>
          </a:p>
          <a:p>
            <a:pPr lvl="2" eaLnBrk="1" hangingPunct="1"/>
            <a:r>
              <a:rPr lang="en-US" altLang="en-US" sz="2000" dirty="0"/>
              <a:t>This tree is complete</a:t>
            </a:r>
          </a:p>
          <a:p>
            <a:pPr marL="914400" lvl="2" indent="0" eaLnBrk="1" hangingPunct="1">
              <a:spcBef>
                <a:spcPts val="1200"/>
              </a:spcBef>
              <a:buNone/>
            </a:pPr>
            <a:r>
              <a:rPr lang="en-US" altLang="en-US" sz="1600" dirty="0"/>
              <a:t>                                   15</a:t>
            </a:r>
          </a:p>
          <a:p>
            <a:pPr marL="914400" lvl="2" indent="0" eaLnBrk="1" hangingPunct="1">
              <a:spcBef>
                <a:spcPts val="1200"/>
              </a:spcBef>
              <a:buNone/>
            </a:pPr>
            <a:r>
              <a:rPr lang="en-US" altLang="en-US" sz="1600" dirty="0"/>
              <a:t>                      10                           22</a:t>
            </a:r>
          </a:p>
          <a:p>
            <a:pPr marL="914400" lvl="2" indent="0" eaLnBrk="1" hangingPunct="1">
              <a:spcBef>
                <a:spcPts val="1200"/>
              </a:spcBef>
              <a:buNone/>
            </a:pPr>
            <a:r>
              <a:rPr lang="en-US" altLang="en-US" sz="1600" dirty="0"/>
              <a:t>               8              12            18             27</a:t>
            </a:r>
          </a:p>
          <a:p>
            <a:pPr marL="914400" lvl="2" indent="0" eaLnBrk="1" hangingPunct="1">
              <a:spcBef>
                <a:spcPts val="1200"/>
              </a:spcBef>
              <a:buNone/>
            </a:pPr>
            <a:r>
              <a:rPr lang="en-US" altLang="en-US" sz="1600" dirty="0"/>
              <a:t>          5         9     11     13   17    19    24         33</a:t>
            </a:r>
            <a:endParaRPr lang="en-US" altLang="en-US" sz="2000" i="1" dirty="0"/>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6</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
        <p:nvSpPr>
          <p:cNvPr id="16" name="Oval 15">
            <a:extLst>
              <a:ext uri="{FF2B5EF4-FFF2-40B4-BE49-F238E27FC236}">
                <a16:creationId xmlns:a16="http://schemas.microsoft.com/office/drawing/2014/main" id="{BA099C26-DFC7-402D-A50D-B31F0A30B5CE}"/>
              </a:ext>
            </a:extLst>
          </p:cNvPr>
          <p:cNvSpPr/>
          <p:nvPr/>
        </p:nvSpPr>
        <p:spPr bwMode="auto">
          <a:xfrm>
            <a:off x="4347940" y="4258622"/>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8" name="Oval 17">
            <a:extLst>
              <a:ext uri="{FF2B5EF4-FFF2-40B4-BE49-F238E27FC236}">
                <a16:creationId xmlns:a16="http://schemas.microsoft.com/office/drawing/2014/main" id="{BCF0A09C-E179-4031-8426-5342A595A6B2}"/>
              </a:ext>
            </a:extLst>
          </p:cNvPr>
          <p:cNvSpPr/>
          <p:nvPr/>
        </p:nvSpPr>
        <p:spPr bwMode="auto">
          <a:xfrm>
            <a:off x="3513275" y="4653248"/>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0" name="Oval 19">
            <a:extLst>
              <a:ext uri="{FF2B5EF4-FFF2-40B4-BE49-F238E27FC236}">
                <a16:creationId xmlns:a16="http://schemas.microsoft.com/office/drawing/2014/main" id="{38FC8D6D-8787-48DF-8A01-18385ABEF92B}"/>
              </a:ext>
            </a:extLst>
          </p:cNvPr>
          <p:cNvSpPr/>
          <p:nvPr/>
        </p:nvSpPr>
        <p:spPr bwMode="auto">
          <a:xfrm>
            <a:off x="5452083" y="4648197"/>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1" name="Oval 20">
            <a:extLst>
              <a:ext uri="{FF2B5EF4-FFF2-40B4-BE49-F238E27FC236}">
                <a16:creationId xmlns:a16="http://schemas.microsoft.com/office/drawing/2014/main" id="{312E3EA5-3151-4EFD-8578-922260223AA4}"/>
              </a:ext>
            </a:extLst>
          </p:cNvPr>
          <p:cNvSpPr/>
          <p:nvPr/>
        </p:nvSpPr>
        <p:spPr bwMode="auto">
          <a:xfrm>
            <a:off x="6107100" y="5042827"/>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2" name="Oval 21">
            <a:extLst>
              <a:ext uri="{FF2B5EF4-FFF2-40B4-BE49-F238E27FC236}">
                <a16:creationId xmlns:a16="http://schemas.microsoft.com/office/drawing/2014/main" id="{56E971D4-C6FB-4A91-897C-824AB56EAFA9}"/>
              </a:ext>
            </a:extLst>
          </p:cNvPr>
          <p:cNvSpPr/>
          <p:nvPr/>
        </p:nvSpPr>
        <p:spPr bwMode="auto">
          <a:xfrm>
            <a:off x="6525951" y="5449567"/>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3" name="Oval 22">
            <a:extLst>
              <a:ext uri="{FF2B5EF4-FFF2-40B4-BE49-F238E27FC236}">
                <a16:creationId xmlns:a16="http://schemas.microsoft.com/office/drawing/2014/main" id="{26F74AA2-0EBB-48C0-BCC3-12CB0A9CE02A}"/>
              </a:ext>
            </a:extLst>
          </p:cNvPr>
          <p:cNvSpPr/>
          <p:nvPr/>
        </p:nvSpPr>
        <p:spPr bwMode="auto">
          <a:xfrm>
            <a:off x="5739730" y="5450572"/>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4" name="Oval 23">
            <a:extLst>
              <a:ext uri="{FF2B5EF4-FFF2-40B4-BE49-F238E27FC236}">
                <a16:creationId xmlns:a16="http://schemas.microsoft.com/office/drawing/2014/main" id="{3B899987-6DA9-445A-A78B-1AD86DD1B204}"/>
              </a:ext>
            </a:extLst>
          </p:cNvPr>
          <p:cNvSpPr/>
          <p:nvPr/>
        </p:nvSpPr>
        <p:spPr bwMode="auto">
          <a:xfrm>
            <a:off x="3372988" y="5451580"/>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5" name="Oval 24">
            <a:extLst>
              <a:ext uri="{FF2B5EF4-FFF2-40B4-BE49-F238E27FC236}">
                <a16:creationId xmlns:a16="http://schemas.microsoft.com/office/drawing/2014/main" id="{37EA17B5-D537-4E79-8874-9368D97FCD6C}"/>
              </a:ext>
            </a:extLst>
          </p:cNvPr>
          <p:cNvSpPr/>
          <p:nvPr/>
        </p:nvSpPr>
        <p:spPr bwMode="auto">
          <a:xfrm>
            <a:off x="2695762" y="5452583"/>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6" name="Oval 25">
            <a:extLst>
              <a:ext uri="{FF2B5EF4-FFF2-40B4-BE49-F238E27FC236}">
                <a16:creationId xmlns:a16="http://schemas.microsoft.com/office/drawing/2014/main" id="{F4B63B63-1912-478E-9185-7FF0B3C8B8EB}"/>
              </a:ext>
            </a:extLst>
          </p:cNvPr>
          <p:cNvSpPr/>
          <p:nvPr/>
        </p:nvSpPr>
        <p:spPr bwMode="auto">
          <a:xfrm>
            <a:off x="4073408" y="5043836"/>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7" name="Oval 26">
            <a:extLst>
              <a:ext uri="{FF2B5EF4-FFF2-40B4-BE49-F238E27FC236}">
                <a16:creationId xmlns:a16="http://schemas.microsoft.com/office/drawing/2014/main" id="{B0FE9199-6792-4F38-8F32-E50B4A0ADD3C}"/>
              </a:ext>
            </a:extLst>
          </p:cNvPr>
          <p:cNvSpPr/>
          <p:nvPr/>
        </p:nvSpPr>
        <p:spPr bwMode="auto">
          <a:xfrm>
            <a:off x="3014686" y="5044840"/>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cxnSp>
        <p:nvCxnSpPr>
          <p:cNvPr id="28" name="Straight Arrow Connector 27">
            <a:extLst>
              <a:ext uri="{FF2B5EF4-FFF2-40B4-BE49-F238E27FC236}">
                <a16:creationId xmlns:a16="http://schemas.microsoft.com/office/drawing/2014/main" id="{4955B2E4-B9DD-484D-8EF3-E5CF505BCC54}"/>
              </a:ext>
            </a:extLst>
          </p:cNvPr>
          <p:cNvCxnSpPr/>
          <p:nvPr/>
        </p:nvCxnSpPr>
        <p:spPr bwMode="auto">
          <a:xfrm flipH="1">
            <a:off x="3882669" y="4514755"/>
            <a:ext cx="465271" cy="209550"/>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29" name="Straight Arrow Connector 28">
            <a:extLst>
              <a:ext uri="{FF2B5EF4-FFF2-40B4-BE49-F238E27FC236}">
                <a16:creationId xmlns:a16="http://schemas.microsoft.com/office/drawing/2014/main" id="{6F232A49-3609-495B-9879-7EEB79CD2D55}"/>
              </a:ext>
            </a:extLst>
          </p:cNvPr>
          <p:cNvCxnSpPr>
            <a:cxnSpLocks/>
          </p:cNvCxnSpPr>
          <p:nvPr/>
        </p:nvCxnSpPr>
        <p:spPr bwMode="auto">
          <a:xfrm>
            <a:off x="4717334" y="4521898"/>
            <a:ext cx="734749" cy="202407"/>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0" name="Straight Arrow Connector 29">
            <a:extLst>
              <a:ext uri="{FF2B5EF4-FFF2-40B4-BE49-F238E27FC236}">
                <a16:creationId xmlns:a16="http://schemas.microsoft.com/office/drawing/2014/main" id="{6A7D2944-F3C4-4FFF-95AB-8C9B94348F5E}"/>
              </a:ext>
            </a:extLst>
          </p:cNvPr>
          <p:cNvCxnSpPr/>
          <p:nvPr/>
        </p:nvCxnSpPr>
        <p:spPr bwMode="auto">
          <a:xfrm flipH="1">
            <a:off x="3338513" y="4943380"/>
            <a:ext cx="174762" cy="147637"/>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1" name="Straight Arrow Connector 30">
            <a:extLst>
              <a:ext uri="{FF2B5EF4-FFF2-40B4-BE49-F238E27FC236}">
                <a16:creationId xmlns:a16="http://schemas.microsoft.com/office/drawing/2014/main" id="{A3EFA5B2-1F64-407A-BAF9-127037DB4950}"/>
              </a:ext>
            </a:extLst>
          </p:cNvPr>
          <p:cNvCxnSpPr/>
          <p:nvPr/>
        </p:nvCxnSpPr>
        <p:spPr bwMode="auto">
          <a:xfrm>
            <a:off x="3857625" y="4955286"/>
            <a:ext cx="245269" cy="145256"/>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2" name="Straight Arrow Connector 31">
            <a:extLst>
              <a:ext uri="{FF2B5EF4-FFF2-40B4-BE49-F238E27FC236}">
                <a16:creationId xmlns:a16="http://schemas.microsoft.com/office/drawing/2014/main" id="{E53E7B45-D58B-4D32-BB27-EE56665C2A51}"/>
              </a:ext>
            </a:extLst>
          </p:cNvPr>
          <p:cNvCxnSpPr/>
          <p:nvPr/>
        </p:nvCxnSpPr>
        <p:spPr bwMode="auto">
          <a:xfrm>
            <a:off x="5827535" y="4910042"/>
            <a:ext cx="309845" cy="219075"/>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3" name="Straight Arrow Connector 32">
            <a:extLst>
              <a:ext uri="{FF2B5EF4-FFF2-40B4-BE49-F238E27FC236}">
                <a16:creationId xmlns:a16="http://schemas.microsoft.com/office/drawing/2014/main" id="{1524C728-F257-4B0A-9430-8BB7EBFA8ED3}"/>
              </a:ext>
            </a:extLst>
          </p:cNvPr>
          <p:cNvCxnSpPr/>
          <p:nvPr/>
        </p:nvCxnSpPr>
        <p:spPr bwMode="auto">
          <a:xfrm flipH="1">
            <a:off x="6049894" y="5360098"/>
            <a:ext cx="92869" cy="1190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4" name="Straight Arrow Connector 33">
            <a:extLst>
              <a:ext uri="{FF2B5EF4-FFF2-40B4-BE49-F238E27FC236}">
                <a16:creationId xmlns:a16="http://schemas.microsoft.com/office/drawing/2014/main" id="{BC99956E-93D7-4B7E-8DF0-502C3CD1EA72}"/>
              </a:ext>
            </a:extLst>
          </p:cNvPr>
          <p:cNvCxnSpPr/>
          <p:nvPr/>
        </p:nvCxnSpPr>
        <p:spPr bwMode="auto">
          <a:xfrm>
            <a:off x="6442800" y="5357717"/>
            <a:ext cx="140494" cy="133350"/>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5" name="Straight Arrow Connector 34">
            <a:extLst>
              <a:ext uri="{FF2B5EF4-FFF2-40B4-BE49-F238E27FC236}">
                <a16:creationId xmlns:a16="http://schemas.microsoft.com/office/drawing/2014/main" id="{CB3496D5-5C6F-4943-A74F-A4A786EC5361}"/>
              </a:ext>
            </a:extLst>
          </p:cNvPr>
          <p:cNvCxnSpPr/>
          <p:nvPr/>
        </p:nvCxnSpPr>
        <p:spPr bwMode="auto">
          <a:xfrm>
            <a:off x="3338513" y="5360098"/>
            <a:ext cx="102393" cy="1190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6" name="Straight Arrow Connector 35">
            <a:extLst>
              <a:ext uri="{FF2B5EF4-FFF2-40B4-BE49-F238E27FC236}">
                <a16:creationId xmlns:a16="http://schemas.microsoft.com/office/drawing/2014/main" id="{5CABA5B2-26F5-4924-A8D6-47BCADA0DD61}"/>
              </a:ext>
            </a:extLst>
          </p:cNvPr>
          <p:cNvCxnSpPr/>
          <p:nvPr/>
        </p:nvCxnSpPr>
        <p:spPr bwMode="auto">
          <a:xfrm flipH="1">
            <a:off x="2986088" y="5374386"/>
            <a:ext cx="79068" cy="104775"/>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
        <p:nvSpPr>
          <p:cNvPr id="37" name="Oval 36">
            <a:extLst>
              <a:ext uri="{FF2B5EF4-FFF2-40B4-BE49-F238E27FC236}">
                <a16:creationId xmlns:a16="http://schemas.microsoft.com/office/drawing/2014/main" id="{5197D989-C3D8-4C9D-8B77-927D50B755C4}"/>
              </a:ext>
            </a:extLst>
          </p:cNvPr>
          <p:cNvSpPr/>
          <p:nvPr/>
        </p:nvSpPr>
        <p:spPr bwMode="auto">
          <a:xfrm>
            <a:off x="5060482" y="5043838"/>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38" name="Oval 37">
            <a:extLst>
              <a:ext uri="{FF2B5EF4-FFF2-40B4-BE49-F238E27FC236}">
                <a16:creationId xmlns:a16="http://schemas.microsoft.com/office/drawing/2014/main" id="{120851F6-4DB7-4D50-8465-B87D25A8C9CF}"/>
              </a:ext>
            </a:extLst>
          </p:cNvPr>
          <p:cNvSpPr/>
          <p:nvPr/>
        </p:nvSpPr>
        <p:spPr bwMode="auto">
          <a:xfrm>
            <a:off x="4407482" y="5450578"/>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cxnSp>
        <p:nvCxnSpPr>
          <p:cNvPr id="39" name="Straight Arrow Connector 38">
            <a:extLst>
              <a:ext uri="{FF2B5EF4-FFF2-40B4-BE49-F238E27FC236}">
                <a16:creationId xmlns:a16="http://schemas.microsoft.com/office/drawing/2014/main" id="{83A737BF-F5E9-412E-984D-5AE48D6F145E}"/>
              </a:ext>
            </a:extLst>
          </p:cNvPr>
          <p:cNvCxnSpPr/>
          <p:nvPr/>
        </p:nvCxnSpPr>
        <p:spPr bwMode="auto">
          <a:xfrm>
            <a:off x="4419925" y="5342159"/>
            <a:ext cx="102393" cy="1190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0" name="Straight Arrow Connector 39">
            <a:extLst>
              <a:ext uri="{FF2B5EF4-FFF2-40B4-BE49-F238E27FC236}">
                <a16:creationId xmlns:a16="http://schemas.microsoft.com/office/drawing/2014/main" id="{5290C165-3FC8-4EF1-8C0F-5ABCC4DD9607}"/>
              </a:ext>
            </a:extLst>
          </p:cNvPr>
          <p:cNvCxnSpPr/>
          <p:nvPr/>
        </p:nvCxnSpPr>
        <p:spPr bwMode="auto">
          <a:xfrm flipH="1">
            <a:off x="5374847" y="4943380"/>
            <a:ext cx="92869" cy="1190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
        <p:nvSpPr>
          <p:cNvPr id="41" name="Oval 40">
            <a:extLst>
              <a:ext uri="{FF2B5EF4-FFF2-40B4-BE49-F238E27FC236}">
                <a16:creationId xmlns:a16="http://schemas.microsoft.com/office/drawing/2014/main" id="{9F8BE5D1-4871-4D9B-A0B8-7DEC63EF8C28}"/>
              </a:ext>
            </a:extLst>
          </p:cNvPr>
          <p:cNvSpPr/>
          <p:nvPr/>
        </p:nvSpPr>
        <p:spPr bwMode="auto">
          <a:xfrm>
            <a:off x="3863485" y="5451586"/>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cxnSp>
        <p:nvCxnSpPr>
          <p:cNvPr id="42" name="Straight Arrow Connector 41">
            <a:extLst>
              <a:ext uri="{FF2B5EF4-FFF2-40B4-BE49-F238E27FC236}">
                <a16:creationId xmlns:a16="http://schemas.microsoft.com/office/drawing/2014/main" id="{50364110-07F2-44C3-86C0-FE61FF12EB3F}"/>
              </a:ext>
            </a:extLst>
          </p:cNvPr>
          <p:cNvCxnSpPr/>
          <p:nvPr/>
        </p:nvCxnSpPr>
        <p:spPr bwMode="auto">
          <a:xfrm flipH="1">
            <a:off x="4039769" y="5349302"/>
            <a:ext cx="79068" cy="104775"/>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
        <p:nvSpPr>
          <p:cNvPr id="43" name="Oval 42">
            <a:extLst>
              <a:ext uri="{FF2B5EF4-FFF2-40B4-BE49-F238E27FC236}">
                <a16:creationId xmlns:a16="http://schemas.microsoft.com/office/drawing/2014/main" id="{E2E7E4CC-116B-427F-8AF4-394E98F5D118}"/>
              </a:ext>
            </a:extLst>
          </p:cNvPr>
          <p:cNvSpPr/>
          <p:nvPr/>
        </p:nvSpPr>
        <p:spPr bwMode="auto">
          <a:xfrm>
            <a:off x="5304731" y="5445529"/>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44" name="Oval 43">
            <a:extLst>
              <a:ext uri="{FF2B5EF4-FFF2-40B4-BE49-F238E27FC236}">
                <a16:creationId xmlns:a16="http://schemas.microsoft.com/office/drawing/2014/main" id="{990DB971-7B85-4812-AA4A-24BE2297BC07}"/>
              </a:ext>
            </a:extLst>
          </p:cNvPr>
          <p:cNvSpPr/>
          <p:nvPr/>
        </p:nvSpPr>
        <p:spPr bwMode="auto">
          <a:xfrm>
            <a:off x="4821291" y="5446537"/>
            <a:ext cx="369394" cy="36182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cxnSp>
        <p:nvCxnSpPr>
          <p:cNvPr id="45" name="Straight Arrow Connector 44">
            <a:extLst>
              <a:ext uri="{FF2B5EF4-FFF2-40B4-BE49-F238E27FC236}">
                <a16:creationId xmlns:a16="http://schemas.microsoft.com/office/drawing/2014/main" id="{4CCE0B59-500E-4876-B22D-8AAE7D9A2C76}"/>
              </a:ext>
            </a:extLst>
          </p:cNvPr>
          <p:cNvCxnSpPr/>
          <p:nvPr/>
        </p:nvCxnSpPr>
        <p:spPr bwMode="auto">
          <a:xfrm flipH="1">
            <a:off x="5007817" y="5342159"/>
            <a:ext cx="79068" cy="104775"/>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6" name="Straight Arrow Connector 45">
            <a:extLst>
              <a:ext uri="{FF2B5EF4-FFF2-40B4-BE49-F238E27FC236}">
                <a16:creationId xmlns:a16="http://schemas.microsoft.com/office/drawing/2014/main" id="{06EA367D-85BF-495F-AE05-13F58C73DF9D}"/>
              </a:ext>
            </a:extLst>
          </p:cNvPr>
          <p:cNvCxnSpPr/>
          <p:nvPr/>
        </p:nvCxnSpPr>
        <p:spPr bwMode="auto">
          <a:xfrm>
            <a:off x="5400612" y="5337190"/>
            <a:ext cx="102393" cy="1190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Tree>
    <p:extLst>
      <p:ext uri="{BB962C8B-B14F-4D97-AF65-F5344CB8AC3E}">
        <p14:creationId xmlns:p14="http://schemas.microsoft.com/office/powerpoint/2010/main" val="2023727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Search Time: Complete BST</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dirty="0"/>
              <a:t>Notice that a complete BST has 2</a:t>
            </a:r>
            <a:r>
              <a:rPr lang="en-US" altLang="en-US" sz="2800" b="1" baseline="30000" dirty="0"/>
              <a:t>D</a:t>
            </a:r>
            <a:r>
              <a:rPr lang="en-US" altLang="en-US" sz="2800" dirty="0"/>
              <a:t> - 1 nodes, where </a:t>
            </a:r>
            <a:r>
              <a:rPr lang="en-US" altLang="en-US" sz="2800" b="1" dirty="0"/>
              <a:t>D</a:t>
            </a:r>
            <a:r>
              <a:rPr lang="en-US" altLang="en-US" sz="2800" dirty="0"/>
              <a:t> is the depth</a:t>
            </a:r>
            <a:endParaRPr lang="en-US" altLang="en-US" sz="2800" i="1" dirty="0"/>
          </a:p>
          <a:p>
            <a:pPr lvl="1" eaLnBrk="1" hangingPunct="1"/>
            <a:r>
              <a:rPr lang="en-US" altLang="en-US" sz="2400" b="1" dirty="0"/>
              <a:t>D</a:t>
            </a:r>
            <a:r>
              <a:rPr lang="en-US" altLang="en-US" sz="2400" dirty="0"/>
              <a:t> is also the </a:t>
            </a:r>
            <a:r>
              <a:rPr lang="en-US" altLang="en-US" sz="2400" i="1" dirty="0"/>
              <a:t>maximum</a:t>
            </a:r>
            <a:r>
              <a:rPr lang="en-US" altLang="en-US" sz="2400" dirty="0"/>
              <a:t> number of nodes we need to examine when searching for a value</a:t>
            </a:r>
          </a:p>
          <a:p>
            <a:pPr lvl="2" eaLnBrk="1" hangingPunct="1"/>
            <a:r>
              <a:rPr lang="en-US" altLang="en-US" sz="2000" dirty="0"/>
              <a:t>That is, about 2</a:t>
            </a:r>
            <a:r>
              <a:rPr lang="en-US" altLang="en-US" sz="2000" b="1" baseline="30000" dirty="0"/>
              <a:t>D</a:t>
            </a:r>
            <a:r>
              <a:rPr lang="en-US" altLang="en-US" sz="2000" dirty="0"/>
              <a:t> nodes implies a search time of</a:t>
            </a:r>
          </a:p>
          <a:p>
            <a:pPr marL="914400" lvl="2" indent="0" eaLnBrk="1" hangingPunct="1">
              <a:buNone/>
            </a:pPr>
            <a:r>
              <a:rPr lang="en-US" altLang="en-US" sz="2000" dirty="0"/>
              <a:t>   </a:t>
            </a:r>
            <a:r>
              <a:rPr lang="en-US" altLang="en-US" sz="2000" b="1" dirty="0"/>
              <a:t>D</a:t>
            </a:r>
            <a:r>
              <a:rPr lang="en-US" altLang="en-US" sz="2000" dirty="0"/>
              <a:t> == log</a:t>
            </a:r>
            <a:r>
              <a:rPr lang="en-US" altLang="en-US" sz="2000" baseline="-25000" dirty="0"/>
              <a:t>2</a:t>
            </a:r>
            <a:r>
              <a:rPr lang="en-US" altLang="en-US" sz="2000" dirty="0"/>
              <a:t>(2</a:t>
            </a:r>
            <a:r>
              <a:rPr lang="en-US" altLang="en-US" sz="2000" b="1" baseline="30000" dirty="0"/>
              <a:t>D</a:t>
            </a:r>
            <a:r>
              <a:rPr lang="en-US" altLang="en-US" sz="2000" dirty="0"/>
              <a:t>)</a:t>
            </a:r>
          </a:p>
          <a:p>
            <a:pPr eaLnBrk="1" hangingPunct="1"/>
            <a:r>
              <a:rPr lang="en-US" altLang="en-US" sz="2800" dirty="0"/>
              <a:t>Or, given </a:t>
            </a:r>
            <a:r>
              <a:rPr lang="en-US" altLang="en-US" sz="2800" b="1" dirty="0"/>
              <a:t>N</a:t>
            </a:r>
            <a:r>
              <a:rPr lang="en-US" altLang="en-US" sz="2800" dirty="0"/>
              <a:t> nodes, search time is </a:t>
            </a:r>
            <a:r>
              <a:rPr lang="en-US" altLang="en-US" sz="2800" b="1" dirty="0"/>
              <a:t>O(log N)</a:t>
            </a:r>
          </a:p>
          <a:p>
            <a:pPr lvl="1" eaLnBrk="1" hangingPunct="1"/>
            <a:r>
              <a:rPr lang="en-US" altLang="en-US" sz="2400" dirty="0"/>
              <a:t>If </a:t>
            </a:r>
            <a:r>
              <a:rPr lang="en-US" altLang="en-US" sz="2400" b="1" dirty="0"/>
              <a:t>N</a:t>
            </a:r>
            <a:r>
              <a:rPr lang="en-US" altLang="en-US" sz="2400" dirty="0"/>
              <a:t> doubles, search time increases by 1, no matter the size of </a:t>
            </a:r>
            <a:r>
              <a:rPr lang="en-US" altLang="en-US" sz="2400" b="1" dirty="0"/>
              <a:t>N</a:t>
            </a:r>
            <a:r>
              <a:rPr lang="en-US" altLang="en-US" sz="2400" dirty="0"/>
              <a:t>!</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7</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Tree>
    <p:extLst>
      <p:ext uri="{BB962C8B-B14F-4D97-AF65-F5344CB8AC3E}">
        <p14:creationId xmlns:p14="http://schemas.microsoft.com/office/powerpoint/2010/main" val="1375171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Search Time: Balanced BST</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dirty="0"/>
              <a:t>A balanced BST is "close enough" to complete, so search time is </a:t>
            </a:r>
            <a:r>
              <a:rPr lang="en-US" altLang="en-US" sz="2800" b="1" dirty="0"/>
              <a:t>O(log N)</a:t>
            </a:r>
          </a:p>
          <a:p>
            <a:pPr lvl="1" eaLnBrk="1" hangingPunct="1"/>
            <a:r>
              <a:rPr lang="en-US" altLang="en-US" sz="2400" dirty="0"/>
              <a:t>If </a:t>
            </a:r>
            <a:r>
              <a:rPr lang="en-US" altLang="en-US" sz="2400" b="1" dirty="0"/>
              <a:t>N</a:t>
            </a:r>
            <a:r>
              <a:rPr lang="en-US" altLang="en-US" sz="2400" dirty="0"/>
              <a:t> doubles, search time increases by 1, no matter the size of </a:t>
            </a:r>
            <a:r>
              <a:rPr lang="en-US" altLang="en-US" sz="2400" b="1" dirty="0"/>
              <a:t>N</a:t>
            </a:r>
            <a:r>
              <a:rPr lang="en-US" altLang="en-US" sz="2400" dirty="0"/>
              <a:t>!</a:t>
            </a:r>
          </a:p>
          <a:p>
            <a:pPr eaLnBrk="1" hangingPunct="1"/>
            <a:r>
              <a:rPr lang="en-US" altLang="en-US" sz="2800" dirty="0"/>
              <a:t>To give some idea:</a:t>
            </a:r>
          </a:p>
          <a:p>
            <a:pPr lvl="1" eaLnBrk="1" hangingPunct="1"/>
            <a:r>
              <a:rPr lang="en-US" altLang="en-US" sz="2400" dirty="0"/>
              <a:t>2</a:t>
            </a:r>
            <a:r>
              <a:rPr lang="en-US" altLang="en-US" sz="2400" baseline="30000" dirty="0"/>
              <a:t>50</a:t>
            </a:r>
            <a:r>
              <a:rPr lang="en-US" altLang="en-US" sz="2400" dirty="0"/>
              <a:t> is about 1,126,000,000,000,000</a:t>
            </a:r>
          </a:p>
          <a:p>
            <a:pPr lvl="2" eaLnBrk="1" hangingPunct="1"/>
            <a:r>
              <a:rPr lang="en-US" altLang="en-US" sz="2000" dirty="0"/>
              <a:t>1.126 quadrillion</a:t>
            </a:r>
          </a:p>
          <a:p>
            <a:pPr lvl="2" eaLnBrk="1" hangingPunct="1"/>
            <a:r>
              <a:rPr lang="en-US" altLang="en-US" sz="2000" dirty="0"/>
              <a:t>For any data problem you are likely to face, it's safe to assume that </a:t>
            </a:r>
            <a:r>
              <a:rPr lang="en-US" altLang="en-US" sz="2000" b="1" dirty="0"/>
              <a:t>log N</a:t>
            </a:r>
            <a:r>
              <a:rPr lang="en-US" altLang="en-US" sz="2000" dirty="0"/>
              <a:t> is less than 100</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8</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Tree>
    <p:extLst>
      <p:ext uri="{BB962C8B-B14F-4D97-AF65-F5344CB8AC3E}">
        <p14:creationId xmlns:p14="http://schemas.microsoft.com/office/powerpoint/2010/main" val="2802003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Problem: How To Maintain A Balanced BST</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dirty="0"/>
              <a:t>Maintaining a balanced BST is expensive</a:t>
            </a:r>
            <a:endParaRPr lang="en-US" altLang="en-US" sz="2800" b="1" dirty="0"/>
          </a:p>
          <a:p>
            <a:pPr lvl="1" eaLnBrk="1" hangingPunct="1"/>
            <a:r>
              <a:rPr lang="en-US" altLang="en-US" sz="2400" dirty="0"/>
              <a:t>Inserting/deleting a node may require </a:t>
            </a:r>
            <a:r>
              <a:rPr lang="en-US" altLang="en-US" sz="2400" b="1" i="1" dirty="0"/>
              <a:t>lots</a:t>
            </a:r>
            <a:r>
              <a:rPr lang="en-US" altLang="en-US" sz="2400" dirty="0"/>
              <a:t> of node shuffling</a:t>
            </a:r>
          </a:p>
          <a:p>
            <a:pPr eaLnBrk="1" hangingPunct="1"/>
            <a:r>
              <a:rPr lang="en-US" altLang="en-US" sz="2800" dirty="0"/>
              <a:t>Can we maintain a "nearly balanced" BST?</a:t>
            </a:r>
          </a:p>
          <a:p>
            <a:pPr lvl="1" eaLnBrk="1" hangingPunct="1"/>
            <a:r>
              <a:rPr lang="en-US" altLang="en-US" sz="2400" dirty="0"/>
              <a:t>Still guaranteed </a:t>
            </a:r>
            <a:r>
              <a:rPr lang="en-US" altLang="en-US" sz="2400" b="1" dirty="0"/>
              <a:t>O(log N)</a:t>
            </a:r>
            <a:r>
              <a:rPr lang="en-US" altLang="en-US" sz="2400" dirty="0"/>
              <a:t> search</a:t>
            </a:r>
          </a:p>
          <a:p>
            <a:pPr lvl="1" eaLnBrk="1" hangingPunct="1"/>
            <a:r>
              <a:rPr lang="en-US" altLang="en-US" sz="2400" dirty="0"/>
              <a:t>Not too much node shuffling</a:t>
            </a:r>
          </a:p>
          <a:p>
            <a:pPr eaLnBrk="1" hangingPunct="1"/>
            <a:r>
              <a:rPr lang="en-US" altLang="en-US" sz="2800" i="1" dirty="0"/>
              <a:t>Self-balancing</a:t>
            </a:r>
            <a:r>
              <a:rPr lang="en-US" altLang="en-US" sz="2800" dirty="0"/>
              <a:t> trees include: 2-3 tree, AA tree, AVL tree, splay tree, red-black tree</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9</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Tree>
    <p:extLst>
      <p:ext uri="{BB962C8B-B14F-4D97-AF65-F5344CB8AC3E}">
        <p14:creationId xmlns:p14="http://schemas.microsoft.com/office/powerpoint/2010/main" val="2458835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Red-Black Tree Properties</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dirty="0"/>
              <a:t>A red-black tree is defined by its </a:t>
            </a:r>
            <a:r>
              <a:rPr lang="en-US" altLang="en-US" sz="2800" i="1" dirty="0"/>
              <a:t>properties</a:t>
            </a:r>
            <a:r>
              <a:rPr lang="en-US" altLang="en-US" sz="2800" dirty="0"/>
              <a:t>:</a:t>
            </a:r>
          </a:p>
          <a:p>
            <a:pPr marL="0" indent="0" eaLnBrk="1" hangingPunct="1">
              <a:buNone/>
            </a:pPr>
            <a:r>
              <a:rPr lang="en-US" altLang="en-US" sz="2000" b="1" dirty="0"/>
              <a:t>   1)  </a:t>
            </a:r>
            <a:r>
              <a:rPr lang="en-US" altLang="en-US" sz="2000" dirty="0"/>
              <a:t>Each node is </a:t>
            </a:r>
            <a:r>
              <a:rPr lang="en-US" altLang="en-US" sz="2000" b="1" dirty="0">
                <a:solidFill>
                  <a:srgbClr val="FF0000"/>
                </a:solidFill>
              </a:rPr>
              <a:t>red</a:t>
            </a:r>
            <a:r>
              <a:rPr lang="en-US" altLang="en-US" sz="2000" dirty="0"/>
              <a:t> or </a:t>
            </a:r>
            <a:r>
              <a:rPr lang="en-US" altLang="en-US" sz="2000" b="1" dirty="0"/>
              <a:t>black</a:t>
            </a:r>
          </a:p>
          <a:p>
            <a:pPr marL="0" indent="0" eaLnBrk="1" hangingPunct="1">
              <a:lnSpc>
                <a:spcPts val="2800"/>
              </a:lnSpc>
              <a:spcBef>
                <a:spcPts val="0"/>
              </a:spcBef>
              <a:buNone/>
            </a:pPr>
            <a:r>
              <a:rPr lang="en-US" altLang="en-US" sz="2000" b="1" dirty="0"/>
              <a:t>	   </a:t>
            </a:r>
            <a:r>
              <a:rPr lang="en-US" altLang="en-US" sz="2000" dirty="0"/>
              <a:t>(arbitrary labels: colors have no actual significance)</a:t>
            </a:r>
          </a:p>
          <a:p>
            <a:pPr marL="0" indent="0" eaLnBrk="1" hangingPunct="1">
              <a:buNone/>
            </a:pPr>
            <a:r>
              <a:rPr lang="en-US" altLang="en-US" sz="2000" b="1" dirty="0"/>
              <a:t>   2)  </a:t>
            </a:r>
            <a:r>
              <a:rPr lang="en-US" altLang="en-US" sz="2000" dirty="0"/>
              <a:t>Root node is </a:t>
            </a:r>
            <a:r>
              <a:rPr lang="en-US" altLang="en-US" sz="2000" b="1" dirty="0"/>
              <a:t>black</a:t>
            </a:r>
            <a:r>
              <a:rPr lang="en-US" altLang="en-US" sz="2000" dirty="0"/>
              <a:t>; each leaf (a </a:t>
            </a:r>
            <a:r>
              <a:rPr lang="en-US" altLang="en-US" sz="2000" dirty="0" err="1"/>
              <a:t>dataless</a:t>
            </a:r>
            <a:r>
              <a:rPr lang="en-US" altLang="en-US" sz="2000" dirty="0"/>
              <a:t> "node")</a:t>
            </a:r>
          </a:p>
          <a:p>
            <a:pPr marL="0" indent="0" eaLnBrk="1" hangingPunct="1">
              <a:spcBef>
                <a:spcPts val="0"/>
              </a:spcBef>
              <a:buNone/>
            </a:pPr>
            <a:r>
              <a:rPr lang="en-US" altLang="en-US" sz="2000" dirty="0"/>
              <a:t>         is </a:t>
            </a:r>
            <a:r>
              <a:rPr lang="en-US" altLang="en-US" sz="2000" b="1" dirty="0"/>
              <a:t>black</a:t>
            </a:r>
          </a:p>
          <a:p>
            <a:pPr marL="0" indent="0" eaLnBrk="1" hangingPunct="1">
              <a:spcBef>
                <a:spcPts val="0"/>
              </a:spcBef>
              <a:buNone/>
            </a:pPr>
            <a:r>
              <a:rPr lang="en-US" altLang="en-US" sz="2000" b="1" dirty="0"/>
              <a:t>   3)  </a:t>
            </a:r>
            <a:r>
              <a:rPr lang="en-US" altLang="en-US" sz="2000" dirty="0"/>
              <a:t>Each </a:t>
            </a:r>
            <a:r>
              <a:rPr lang="en-US" altLang="en-US" sz="2000" b="1" dirty="0">
                <a:solidFill>
                  <a:srgbClr val="FF0000"/>
                </a:solidFill>
              </a:rPr>
              <a:t>red</a:t>
            </a:r>
            <a:r>
              <a:rPr lang="en-US" altLang="en-US" sz="2000" dirty="0"/>
              <a:t> node's parent is </a:t>
            </a:r>
            <a:r>
              <a:rPr lang="en-US" altLang="en-US" sz="2000" b="1" dirty="0"/>
              <a:t>black</a:t>
            </a:r>
          </a:p>
          <a:p>
            <a:pPr marL="0" indent="0" eaLnBrk="1" hangingPunct="1">
              <a:spcBef>
                <a:spcPts val="0"/>
              </a:spcBef>
              <a:buNone/>
            </a:pPr>
            <a:r>
              <a:rPr lang="en-US" altLang="en-US" sz="2000" b="1" dirty="0"/>
              <a:t>   4)  </a:t>
            </a:r>
            <a:r>
              <a:rPr lang="en-US" altLang="en-US" sz="2000" dirty="0"/>
              <a:t>Given a node, each (direct) path to a lower leaf</a:t>
            </a:r>
          </a:p>
          <a:p>
            <a:pPr marL="0" indent="0" eaLnBrk="1" hangingPunct="1">
              <a:spcBef>
                <a:spcPts val="0"/>
              </a:spcBef>
              <a:buNone/>
            </a:pPr>
            <a:r>
              <a:rPr lang="en-US" altLang="en-US" sz="2000" dirty="0"/>
              <a:t>         has the </a:t>
            </a:r>
            <a:r>
              <a:rPr lang="en-US" altLang="en-US" sz="2000" i="1" dirty="0"/>
              <a:t>same number</a:t>
            </a:r>
            <a:r>
              <a:rPr lang="en-US" altLang="en-US" sz="2000" dirty="0"/>
              <a:t> of </a:t>
            </a:r>
            <a:r>
              <a:rPr lang="en-US" altLang="en-US" sz="2000" b="1" dirty="0"/>
              <a:t>black</a:t>
            </a:r>
            <a:r>
              <a:rPr lang="en-US" altLang="en-US" sz="2000" dirty="0"/>
              <a:t> nodes</a:t>
            </a:r>
          </a:p>
          <a:p>
            <a:pPr marL="0" indent="0" eaLnBrk="1" hangingPunct="1">
              <a:spcBef>
                <a:spcPts val="0"/>
              </a:spcBef>
              <a:buNone/>
            </a:pPr>
            <a:r>
              <a:rPr lang="en-US" altLang="en-US" sz="2000" b="1" dirty="0"/>
              <a:t>	*)</a:t>
            </a:r>
            <a:r>
              <a:rPr lang="en-US" altLang="en-US" sz="2000" dirty="0"/>
              <a:t>  Called the </a:t>
            </a:r>
            <a:r>
              <a:rPr lang="en-US" altLang="en-US" sz="2000" i="1" dirty="0"/>
              <a:t>black height</a:t>
            </a:r>
            <a:r>
              <a:rPr lang="en-US" altLang="en-US" sz="2000" dirty="0"/>
              <a:t> of the node</a:t>
            </a:r>
          </a:p>
          <a:p>
            <a:pPr eaLnBrk="1" hangingPunct="1"/>
            <a:r>
              <a:rPr lang="en-US" altLang="en-US" sz="2800" dirty="0"/>
              <a:t>Claim: a red-black tree with no red nodes is </a:t>
            </a:r>
            <a:r>
              <a:rPr lang="en-US" altLang="en-US" sz="2800" i="1" dirty="0"/>
              <a:t>complete</a:t>
            </a:r>
          </a:p>
          <a:p>
            <a:pPr marL="0" indent="0" eaLnBrk="1" hangingPunct="1">
              <a:buNone/>
            </a:pPr>
            <a:endParaRPr lang="en-US" altLang="en-US" sz="2400" dirty="0"/>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Tree>
    <p:extLst>
      <p:ext uri="{BB962C8B-B14F-4D97-AF65-F5344CB8AC3E}">
        <p14:creationId xmlns:p14="http://schemas.microsoft.com/office/powerpoint/2010/main" val="3936746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Red-Black Tree Examples</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a:xfrm>
            <a:off x="1182688" y="2017713"/>
            <a:ext cx="7772400" cy="4114800"/>
          </a:xfrm>
        </p:spPr>
        <p:txBody>
          <a:bodyPr/>
          <a:lstStyle/>
          <a:p>
            <a:pPr marL="0" indent="0" eaLnBrk="1" hangingPunct="1">
              <a:buNone/>
            </a:pPr>
            <a:endParaRPr lang="en-US" altLang="en-US" sz="1200" dirty="0"/>
          </a:p>
          <a:p>
            <a:pPr marL="0" indent="0" eaLnBrk="1" hangingPunct="1">
              <a:buNone/>
            </a:pPr>
            <a:r>
              <a:rPr lang="en-US" altLang="en-US" sz="2400" dirty="0"/>
              <a:t>    black height: 3                       black height: 2</a:t>
            </a:r>
          </a:p>
          <a:p>
            <a:pPr marL="0" indent="0" eaLnBrk="1" hangingPunct="1">
              <a:buNone/>
            </a:pPr>
            <a:endParaRPr lang="en-US" altLang="en-US" sz="1600" dirty="0"/>
          </a:p>
          <a:p>
            <a:pPr marL="0" indent="0" eaLnBrk="1" hangingPunct="1">
              <a:spcBef>
                <a:spcPts val="1800"/>
              </a:spcBef>
              <a:buNone/>
            </a:pPr>
            <a:r>
              <a:rPr lang="en-US" altLang="en-US" sz="2400" dirty="0"/>
              <a:t>                 9                                     12</a:t>
            </a:r>
          </a:p>
          <a:p>
            <a:pPr marL="0" indent="0" eaLnBrk="1" hangingPunct="1">
              <a:spcBef>
                <a:spcPts val="1800"/>
              </a:spcBef>
              <a:buNone/>
            </a:pPr>
            <a:r>
              <a:rPr lang="en-US" altLang="en-US" sz="2400" dirty="0"/>
              <a:t>       6                  15                 8                  </a:t>
            </a:r>
            <a:r>
              <a:rPr lang="en-US" altLang="en-US" sz="2400" dirty="0">
                <a:solidFill>
                  <a:srgbClr val="FF0000"/>
                </a:solidFill>
              </a:rPr>
              <a:t>20</a:t>
            </a:r>
          </a:p>
          <a:p>
            <a:pPr marL="0" indent="0" eaLnBrk="1" hangingPunct="1">
              <a:spcBef>
                <a:spcPts val="1800"/>
              </a:spcBef>
              <a:buNone/>
            </a:pPr>
            <a:r>
              <a:rPr lang="en-US" altLang="en-US" sz="2400" dirty="0"/>
              <a:t>   3       8         10     17                          17          27</a:t>
            </a:r>
          </a:p>
          <a:p>
            <a:pPr marL="0" indent="0" eaLnBrk="1" hangingPunct="1">
              <a:spcBef>
                <a:spcPts val="1800"/>
              </a:spcBef>
              <a:buNone/>
            </a:pPr>
            <a:r>
              <a:rPr lang="en-US" altLang="en-US" sz="2400" dirty="0"/>
              <a:t>                                                         </a:t>
            </a:r>
            <a:r>
              <a:rPr lang="en-US" altLang="en-US" sz="2400" dirty="0">
                <a:solidFill>
                  <a:srgbClr val="FF0000"/>
                </a:solidFill>
              </a:rPr>
              <a:t>13</a:t>
            </a:r>
            <a:r>
              <a:rPr lang="en-US" altLang="en-US" sz="2400" dirty="0"/>
              <a:t>           </a:t>
            </a:r>
            <a:r>
              <a:rPr lang="en-US" altLang="en-US" sz="2400" dirty="0">
                <a:solidFill>
                  <a:srgbClr val="FF0000"/>
                </a:solidFill>
              </a:rPr>
              <a:t>24</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11</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
        <p:nvSpPr>
          <p:cNvPr id="8" name="Oval 7">
            <a:extLst>
              <a:ext uri="{FF2B5EF4-FFF2-40B4-BE49-F238E27FC236}">
                <a16:creationId xmlns:a16="http://schemas.microsoft.com/office/drawing/2014/main" id="{8580B377-ED32-43B6-B032-CA600D7CE4F3}"/>
              </a:ext>
            </a:extLst>
          </p:cNvPr>
          <p:cNvSpPr/>
          <p:nvPr/>
        </p:nvSpPr>
        <p:spPr bwMode="auto">
          <a:xfrm>
            <a:off x="2731084" y="3179206"/>
            <a:ext cx="466286" cy="44887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Oval 8">
            <a:extLst>
              <a:ext uri="{FF2B5EF4-FFF2-40B4-BE49-F238E27FC236}">
                <a16:creationId xmlns:a16="http://schemas.microsoft.com/office/drawing/2014/main" id="{7AD0A45B-FF42-4993-9630-A7041DA6EF41}"/>
              </a:ext>
            </a:extLst>
          </p:cNvPr>
          <p:cNvSpPr/>
          <p:nvPr/>
        </p:nvSpPr>
        <p:spPr bwMode="auto">
          <a:xfrm>
            <a:off x="6528965" y="3174154"/>
            <a:ext cx="466286" cy="44887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0" name="Oval 9">
            <a:extLst>
              <a:ext uri="{FF2B5EF4-FFF2-40B4-BE49-F238E27FC236}">
                <a16:creationId xmlns:a16="http://schemas.microsoft.com/office/drawing/2014/main" id="{FE61C245-A696-4799-874D-9C3ACD901C66}"/>
              </a:ext>
            </a:extLst>
          </p:cNvPr>
          <p:cNvSpPr/>
          <p:nvPr/>
        </p:nvSpPr>
        <p:spPr bwMode="auto">
          <a:xfrm>
            <a:off x="7577607" y="3774673"/>
            <a:ext cx="466286" cy="448874"/>
          </a:xfrm>
          <a:prstGeom prst="ellipse">
            <a:avLst/>
          </a:prstGeom>
          <a:noFill/>
          <a:ln w="12700"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1" name="Oval 10">
            <a:extLst>
              <a:ext uri="{FF2B5EF4-FFF2-40B4-BE49-F238E27FC236}">
                <a16:creationId xmlns:a16="http://schemas.microsoft.com/office/drawing/2014/main" id="{13F95A0E-4797-46BD-BC4D-D3D5968AC50E}"/>
              </a:ext>
            </a:extLst>
          </p:cNvPr>
          <p:cNvSpPr/>
          <p:nvPr/>
        </p:nvSpPr>
        <p:spPr bwMode="auto">
          <a:xfrm>
            <a:off x="5628700" y="3775676"/>
            <a:ext cx="466286" cy="44887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2" name="Oval 11">
            <a:extLst>
              <a:ext uri="{FF2B5EF4-FFF2-40B4-BE49-F238E27FC236}">
                <a16:creationId xmlns:a16="http://schemas.microsoft.com/office/drawing/2014/main" id="{EF4ECB3A-DD72-4031-94AA-651548722C45}"/>
              </a:ext>
            </a:extLst>
          </p:cNvPr>
          <p:cNvSpPr/>
          <p:nvPr/>
        </p:nvSpPr>
        <p:spPr bwMode="auto">
          <a:xfrm>
            <a:off x="3739367" y="3775681"/>
            <a:ext cx="466286" cy="44887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3" name="Oval 12">
            <a:extLst>
              <a:ext uri="{FF2B5EF4-FFF2-40B4-BE49-F238E27FC236}">
                <a16:creationId xmlns:a16="http://schemas.microsoft.com/office/drawing/2014/main" id="{DC84BFC5-9A3B-4F70-863B-06D29E95EECC}"/>
              </a:ext>
            </a:extLst>
          </p:cNvPr>
          <p:cNvSpPr/>
          <p:nvPr/>
        </p:nvSpPr>
        <p:spPr bwMode="auto">
          <a:xfrm>
            <a:off x="1790460" y="3776684"/>
            <a:ext cx="466286" cy="44887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4" name="Oval 13">
            <a:extLst>
              <a:ext uri="{FF2B5EF4-FFF2-40B4-BE49-F238E27FC236}">
                <a16:creationId xmlns:a16="http://schemas.microsoft.com/office/drawing/2014/main" id="{46F87EEA-4EA6-4A4C-8E8E-877B0BF7BB3B}"/>
              </a:ext>
            </a:extLst>
          </p:cNvPr>
          <p:cNvSpPr/>
          <p:nvPr/>
        </p:nvSpPr>
        <p:spPr bwMode="auto">
          <a:xfrm>
            <a:off x="3352813" y="4358038"/>
            <a:ext cx="466286" cy="44887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5" name="Oval 14">
            <a:extLst>
              <a:ext uri="{FF2B5EF4-FFF2-40B4-BE49-F238E27FC236}">
                <a16:creationId xmlns:a16="http://schemas.microsoft.com/office/drawing/2014/main" id="{368C46D1-D125-43E7-98C6-B04E988093AE}"/>
              </a:ext>
            </a:extLst>
          </p:cNvPr>
          <p:cNvSpPr/>
          <p:nvPr/>
        </p:nvSpPr>
        <p:spPr bwMode="auto">
          <a:xfrm>
            <a:off x="1403906" y="4359041"/>
            <a:ext cx="466286" cy="44887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6" name="Oval 15">
            <a:extLst>
              <a:ext uri="{FF2B5EF4-FFF2-40B4-BE49-F238E27FC236}">
                <a16:creationId xmlns:a16="http://schemas.microsoft.com/office/drawing/2014/main" id="{400B3EA8-66A3-4EB8-B8A8-658C202CF5C0}"/>
              </a:ext>
            </a:extLst>
          </p:cNvPr>
          <p:cNvSpPr/>
          <p:nvPr/>
        </p:nvSpPr>
        <p:spPr bwMode="auto">
          <a:xfrm>
            <a:off x="4171334" y="4359045"/>
            <a:ext cx="466286" cy="44887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7" name="Oval 16">
            <a:extLst>
              <a:ext uri="{FF2B5EF4-FFF2-40B4-BE49-F238E27FC236}">
                <a16:creationId xmlns:a16="http://schemas.microsoft.com/office/drawing/2014/main" id="{62A632BE-0FFD-4A50-BCF5-2301938E0C42}"/>
              </a:ext>
            </a:extLst>
          </p:cNvPr>
          <p:cNvSpPr/>
          <p:nvPr/>
        </p:nvSpPr>
        <p:spPr bwMode="auto">
          <a:xfrm>
            <a:off x="2222427" y="4360048"/>
            <a:ext cx="466286" cy="44887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8" name="Oval 17">
            <a:extLst>
              <a:ext uri="{FF2B5EF4-FFF2-40B4-BE49-F238E27FC236}">
                <a16:creationId xmlns:a16="http://schemas.microsoft.com/office/drawing/2014/main" id="{91D06AF9-32B3-436B-905E-9390ADABF34B}"/>
              </a:ext>
            </a:extLst>
          </p:cNvPr>
          <p:cNvSpPr/>
          <p:nvPr/>
        </p:nvSpPr>
        <p:spPr bwMode="auto">
          <a:xfrm>
            <a:off x="8247766" y="4360053"/>
            <a:ext cx="466286" cy="44887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19" name="Oval 18">
            <a:extLst>
              <a:ext uri="{FF2B5EF4-FFF2-40B4-BE49-F238E27FC236}">
                <a16:creationId xmlns:a16="http://schemas.microsoft.com/office/drawing/2014/main" id="{427223B2-7E9C-470C-90E9-6458E056DE86}"/>
              </a:ext>
            </a:extLst>
          </p:cNvPr>
          <p:cNvSpPr/>
          <p:nvPr/>
        </p:nvSpPr>
        <p:spPr bwMode="auto">
          <a:xfrm>
            <a:off x="6971036" y="4361056"/>
            <a:ext cx="466286" cy="448874"/>
          </a:xfrm>
          <a:prstGeom prst="ellipse">
            <a:avLst/>
          </a:prstGeom>
          <a:no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0" name="Oval 19">
            <a:extLst>
              <a:ext uri="{FF2B5EF4-FFF2-40B4-BE49-F238E27FC236}">
                <a16:creationId xmlns:a16="http://schemas.microsoft.com/office/drawing/2014/main" id="{4EE209B6-7D8D-41A0-9157-0BA09A8BABA7}"/>
              </a:ext>
            </a:extLst>
          </p:cNvPr>
          <p:cNvSpPr/>
          <p:nvPr/>
        </p:nvSpPr>
        <p:spPr bwMode="auto">
          <a:xfrm>
            <a:off x="8012606" y="4954514"/>
            <a:ext cx="466286" cy="448874"/>
          </a:xfrm>
          <a:prstGeom prst="ellipse">
            <a:avLst/>
          </a:prstGeom>
          <a:noFill/>
          <a:ln w="12700"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21" name="Oval 20">
            <a:extLst>
              <a:ext uri="{FF2B5EF4-FFF2-40B4-BE49-F238E27FC236}">
                <a16:creationId xmlns:a16="http://schemas.microsoft.com/office/drawing/2014/main" id="{F002B38C-F4F4-4C64-87E7-04D3866EAFA6}"/>
              </a:ext>
            </a:extLst>
          </p:cNvPr>
          <p:cNvSpPr/>
          <p:nvPr/>
        </p:nvSpPr>
        <p:spPr bwMode="auto">
          <a:xfrm>
            <a:off x="6645044" y="4955517"/>
            <a:ext cx="466286" cy="448874"/>
          </a:xfrm>
          <a:prstGeom prst="ellipse">
            <a:avLst/>
          </a:prstGeom>
          <a:noFill/>
          <a:ln w="12700" cap="sq" cmpd="sng" algn="ctr">
            <a:solidFill>
              <a:srgbClr val="FF0000"/>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cxnSp>
        <p:nvCxnSpPr>
          <p:cNvPr id="22" name="Straight Arrow Connector 21">
            <a:extLst>
              <a:ext uri="{FF2B5EF4-FFF2-40B4-BE49-F238E27FC236}">
                <a16:creationId xmlns:a16="http://schemas.microsoft.com/office/drawing/2014/main" id="{81A6351B-5854-4C7B-9A8A-D9DB1ADD4A93}"/>
              </a:ext>
            </a:extLst>
          </p:cNvPr>
          <p:cNvCxnSpPr/>
          <p:nvPr/>
        </p:nvCxnSpPr>
        <p:spPr bwMode="auto">
          <a:xfrm flipH="1">
            <a:off x="2222427" y="3518321"/>
            <a:ext cx="508657" cy="327004"/>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24" name="Straight Arrow Connector 23">
            <a:extLst>
              <a:ext uri="{FF2B5EF4-FFF2-40B4-BE49-F238E27FC236}">
                <a16:creationId xmlns:a16="http://schemas.microsoft.com/office/drawing/2014/main" id="{151063F7-9468-49AE-B4BE-109649D892FB}"/>
              </a:ext>
            </a:extLst>
          </p:cNvPr>
          <p:cNvCxnSpPr/>
          <p:nvPr/>
        </p:nvCxnSpPr>
        <p:spPr bwMode="auto">
          <a:xfrm>
            <a:off x="3197370" y="3520141"/>
            <a:ext cx="621729" cy="276376"/>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26" name="Straight Arrow Connector 25">
            <a:extLst>
              <a:ext uri="{FF2B5EF4-FFF2-40B4-BE49-F238E27FC236}">
                <a16:creationId xmlns:a16="http://schemas.microsoft.com/office/drawing/2014/main" id="{54A30A6F-A9DA-4BFA-BB90-02B34EADAAA7}"/>
              </a:ext>
            </a:extLst>
          </p:cNvPr>
          <p:cNvCxnSpPr/>
          <p:nvPr/>
        </p:nvCxnSpPr>
        <p:spPr bwMode="auto">
          <a:xfrm flipH="1">
            <a:off x="1762705" y="4223547"/>
            <a:ext cx="107487" cy="13449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28" name="Straight Arrow Connector 27">
            <a:extLst>
              <a:ext uri="{FF2B5EF4-FFF2-40B4-BE49-F238E27FC236}">
                <a16:creationId xmlns:a16="http://schemas.microsoft.com/office/drawing/2014/main" id="{F189C647-1677-4820-B050-794BBF25A8F1}"/>
              </a:ext>
            </a:extLst>
          </p:cNvPr>
          <p:cNvCxnSpPr>
            <a:cxnSpLocks/>
          </p:cNvCxnSpPr>
          <p:nvPr/>
        </p:nvCxnSpPr>
        <p:spPr bwMode="auto">
          <a:xfrm>
            <a:off x="2148498" y="4213875"/>
            <a:ext cx="167822" cy="1441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2" name="Straight Arrow Connector 31">
            <a:extLst>
              <a:ext uri="{FF2B5EF4-FFF2-40B4-BE49-F238E27FC236}">
                <a16:creationId xmlns:a16="http://schemas.microsoft.com/office/drawing/2014/main" id="{7889161C-3BE2-4A0B-8F21-218E50C3895E}"/>
              </a:ext>
            </a:extLst>
          </p:cNvPr>
          <p:cNvCxnSpPr/>
          <p:nvPr/>
        </p:nvCxnSpPr>
        <p:spPr bwMode="auto">
          <a:xfrm flipH="1">
            <a:off x="3743905" y="4218499"/>
            <a:ext cx="107487" cy="13449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3" name="Straight Arrow Connector 32">
            <a:extLst>
              <a:ext uri="{FF2B5EF4-FFF2-40B4-BE49-F238E27FC236}">
                <a16:creationId xmlns:a16="http://schemas.microsoft.com/office/drawing/2014/main" id="{80B027D6-A64C-4DF9-BDD6-0E2AC6D1F8A5}"/>
              </a:ext>
            </a:extLst>
          </p:cNvPr>
          <p:cNvCxnSpPr>
            <a:cxnSpLocks/>
          </p:cNvCxnSpPr>
          <p:nvPr/>
        </p:nvCxnSpPr>
        <p:spPr bwMode="auto">
          <a:xfrm>
            <a:off x="4129698" y="4208827"/>
            <a:ext cx="167822" cy="1441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4" name="Straight Arrow Connector 33">
            <a:extLst>
              <a:ext uri="{FF2B5EF4-FFF2-40B4-BE49-F238E27FC236}">
                <a16:creationId xmlns:a16="http://schemas.microsoft.com/office/drawing/2014/main" id="{4B38A409-1902-449F-A726-0E12309B2F44}"/>
              </a:ext>
            </a:extLst>
          </p:cNvPr>
          <p:cNvCxnSpPr/>
          <p:nvPr/>
        </p:nvCxnSpPr>
        <p:spPr bwMode="auto">
          <a:xfrm flipH="1">
            <a:off x="6020307" y="3519330"/>
            <a:ext cx="508657" cy="327004"/>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5" name="Straight Arrow Connector 34">
            <a:extLst>
              <a:ext uri="{FF2B5EF4-FFF2-40B4-BE49-F238E27FC236}">
                <a16:creationId xmlns:a16="http://schemas.microsoft.com/office/drawing/2014/main" id="{BA3F6BAD-FE9E-41B3-BC52-75E22121C927}"/>
              </a:ext>
            </a:extLst>
          </p:cNvPr>
          <p:cNvCxnSpPr/>
          <p:nvPr/>
        </p:nvCxnSpPr>
        <p:spPr bwMode="auto">
          <a:xfrm>
            <a:off x="6995250" y="3521150"/>
            <a:ext cx="621729" cy="276376"/>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6" name="Straight Arrow Connector 35">
            <a:extLst>
              <a:ext uri="{FF2B5EF4-FFF2-40B4-BE49-F238E27FC236}">
                <a16:creationId xmlns:a16="http://schemas.microsoft.com/office/drawing/2014/main" id="{A71712BB-E1FA-498E-AB3E-606B1C06F978}"/>
              </a:ext>
            </a:extLst>
          </p:cNvPr>
          <p:cNvCxnSpPr/>
          <p:nvPr/>
        </p:nvCxnSpPr>
        <p:spPr bwMode="auto">
          <a:xfrm flipH="1">
            <a:off x="6978613" y="4812957"/>
            <a:ext cx="107487" cy="13449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7" name="Straight Arrow Connector 36">
            <a:extLst>
              <a:ext uri="{FF2B5EF4-FFF2-40B4-BE49-F238E27FC236}">
                <a16:creationId xmlns:a16="http://schemas.microsoft.com/office/drawing/2014/main" id="{9B98C79D-4C22-448E-885B-3F1965184298}"/>
              </a:ext>
            </a:extLst>
          </p:cNvPr>
          <p:cNvCxnSpPr/>
          <p:nvPr/>
        </p:nvCxnSpPr>
        <p:spPr bwMode="auto">
          <a:xfrm flipH="1">
            <a:off x="8281578" y="4813965"/>
            <a:ext cx="107487" cy="13449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31" name="Straight Arrow Connector 30">
            <a:extLst>
              <a:ext uri="{FF2B5EF4-FFF2-40B4-BE49-F238E27FC236}">
                <a16:creationId xmlns:a16="http://schemas.microsoft.com/office/drawing/2014/main" id="{F678CA2C-C070-41AD-86B2-94D0B84905F0}"/>
              </a:ext>
            </a:extLst>
          </p:cNvPr>
          <p:cNvCxnSpPr/>
          <p:nvPr/>
        </p:nvCxnSpPr>
        <p:spPr bwMode="auto">
          <a:xfrm flipH="1">
            <a:off x="7306114" y="4122512"/>
            <a:ext cx="271493" cy="237536"/>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3009" name="Straight Arrow Connector 43008">
            <a:extLst>
              <a:ext uri="{FF2B5EF4-FFF2-40B4-BE49-F238E27FC236}">
                <a16:creationId xmlns:a16="http://schemas.microsoft.com/office/drawing/2014/main" id="{393EB1AC-13C2-4AE2-8CB7-8B1F765E7F9F}"/>
              </a:ext>
            </a:extLst>
          </p:cNvPr>
          <p:cNvCxnSpPr/>
          <p:nvPr/>
        </p:nvCxnSpPr>
        <p:spPr bwMode="auto">
          <a:xfrm>
            <a:off x="8043893" y="4138839"/>
            <a:ext cx="291428" cy="21415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2" name="Straight Arrow Connector 41">
            <a:extLst>
              <a:ext uri="{FF2B5EF4-FFF2-40B4-BE49-F238E27FC236}">
                <a16:creationId xmlns:a16="http://schemas.microsoft.com/office/drawing/2014/main" id="{03053D0C-59C5-4ABF-9AAF-CE88A12C98F5}"/>
              </a:ext>
            </a:extLst>
          </p:cNvPr>
          <p:cNvCxnSpPr/>
          <p:nvPr/>
        </p:nvCxnSpPr>
        <p:spPr bwMode="auto">
          <a:xfrm flipH="1">
            <a:off x="1394322" y="4818005"/>
            <a:ext cx="107487" cy="13449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3" name="Straight Arrow Connector 42">
            <a:extLst>
              <a:ext uri="{FF2B5EF4-FFF2-40B4-BE49-F238E27FC236}">
                <a16:creationId xmlns:a16="http://schemas.microsoft.com/office/drawing/2014/main" id="{2DFB7F0D-6A8F-44B3-AB15-835F2317001C}"/>
              </a:ext>
            </a:extLst>
          </p:cNvPr>
          <p:cNvCxnSpPr>
            <a:cxnSpLocks/>
          </p:cNvCxnSpPr>
          <p:nvPr/>
        </p:nvCxnSpPr>
        <p:spPr bwMode="auto">
          <a:xfrm>
            <a:off x="1780115" y="4808333"/>
            <a:ext cx="167822" cy="1441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4" name="Straight Arrow Connector 43">
            <a:extLst>
              <a:ext uri="{FF2B5EF4-FFF2-40B4-BE49-F238E27FC236}">
                <a16:creationId xmlns:a16="http://schemas.microsoft.com/office/drawing/2014/main" id="{C6EF9312-D3B2-4CCE-BF84-37655C4A3E01}"/>
              </a:ext>
            </a:extLst>
          </p:cNvPr>
          <p:cNvCxnSpPr/>
          <p:nvPr/>
        </p:nvCxnSpPr>
        <p:spPr bwMode="auto">
          <a:xfrm flipH="1">
            <a:off x="2224951" y="4806897"/>
            <a:ext cx="107487" cy="13449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5" name="Straight Arrow Connector 44">
            <a:extLst>
              <a:ext uri="{FF2B5EF4-FFF2-40B4-BE49-F238E27FC236}">
                <a16:creationId xmlns:a16="http://schemas.microsoft.com/office/drawing/2014/main" id="{CFEF0C75-D2F0-455C-8E02-E088D2351B9C}"/>
              </a:ext>
            </a:extLst>
          </p:cNvPr>
          <p:cNvCxnSpPr>
            <a:cxnSpLocks/>
          </p:cNvCxnSpPr>
          <p:nvPr/>
        </p:nvCxnSpPr>
        <p:spPr bwMode="auto">
          <a:xfrm>
            <a:off x="2610744" y="4797225"/>
            <a:ext cx="167822" cy="1441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6" name="Straight Arrow Connector 45">
            <a:extLst>
              <a:ext uri="{FF2B5EF4-FFF2-40B4-BE49-F238E27FC236}">
                <a16:creationId xmlns:a16="http://schemas.microsoft.com/office/drawing/2014/main" id="{6EF26F0D-2BB7-43F5-AAC6-C2B29A0AF74B}"/>
              </a:ext>
            </a:extLst>
          </p:cNvPr>
          <p:cNvCxnSpPr/>
          <p:nvPr/>
        </p:nvCxnSpPr>
        <p:spPr bwMode="auto">
          <a:xfrm flipH="1">
            <a:off x="3346255" y="4777623"/>
            <a:ext cx="107487" cy="13449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7" name="Straight Arrow Connector 46">
            <a:extLst>
              <a:ext uri="{FF2B5EF4-FFF2-40B4-BE49-F238E27FC236}">
                <a16:creationId xmlns:a16="http://schemas.microsoft.com/office/drawing/2014/main" id="{2F696F61-23CC-4B10-855C-68BB2104F7D7}"/>
              </a:ext>
            </a:extLst>
          </p:cNvPr>
          <p:cNvCxnSpPr>
            <a:cxnSpLocks/>
          </p:cNvCxnSpPr>
          <p:nvPr/>
        </p:nvCxnSpPr>
        <p:spPr bwMode="auto">
          <a:xfrm>
            <a:off x="3732048" y="4767951"/>
            <a:ext cx="167822" cy="1441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8" name="Straight Arrow Connector 47">
            <a:extLst>
              <a:ext uri="{FF2B5EF4-FFF2-40B4-BE49-F238E27FC236}">
                <a16:creationId xmlns:a16="http://schemas.microsoft.com/office/drawing/2014/main" id="{FB55EECE-7AA3-44DD-8594-E8561D3B2B4C}"/>
              </a:ext>
            </a:extLst>
          </p:cNvPr>
          <p:cNvCxnSpPr/>
          <p:nvPr/>
        </p:nvCxnSpPr>
        <p:spPr bwMode="auto">
          <a:xfrm flipH="1">
            <a:off x="4158720" y="4778631"/>
            <a:ext cx="107487" cy="13449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49" name="Straight Arrow Connector 48">
            <a:extLst>
              <a:ext uri="{FF2B5EF4-FFF2-40B4-BE49-F238E27FC236}">
                <a16:creationId xmlns:a16="http://schemas.microsoft.com/office/drawing/2014/main" id="{32E67832-BF6C-402A-9F0D-83348171363A}"/>
              </a:ext>
            </a:extLst>
          </p:cNvPr>
          <p:cNvCxnSpPr>
            <a:cxnSpLocks/>
          </p:cNvCxnSpPr>
          <p:nvPr/>
        </p:nvCxnSpPr>
        <p:spPr bwMode="auto">
          <a:xfrm>
            <a:off x="4544513" y="4768959"/>
            <a:ext cx="167822" cy="1441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50" name="Straight Arrow Connector 49">
            <a:extLst>
              <a:ext uri="{FF2B5EF4-FFF2-40B4-BE49-F238E27FC236}">
                <a16:creationId xmlns:a16="http://schemas.microsoft.com/office/drawing/2014/main" id="{CD7BD56B-2600-4D28-9A9A-080DAE441002}"/>
              </a:ext>
            </a:extLst>
          </p:cNvPr>
          <p:cNvCxnSpPr/>
          <p:nvPr/>
        </p:nvCxnSpPr>
        <p:spPr bwMode="auto">
          <a:xfrm flipH="1">
            <a:off x="5610042" y="4218499"/>
            <a:ext cx="107487" cy="13449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51" name="Straight Arrow Connector 50">
            <a:extLst>
              <a:ext uri="{FF2B5EF4-FFF2-40B4-BE49-F238E27FC236}">
                <a16:creationId xmlns:a16="http://schemas.microsoft.com/office/drawing/2014/main" id="{75E86E33-6450-4D4D-9D5F-09A149175045}"/>
              </a:ext>
            </a:extLst>
          </p:cNvPr>
          <p:cNvCxnSpPr>
            <a:cxnSpLocks/>
          </p:cNvCxnSpPr>
          <p:nvPr/>
        </p:nvCxnSpPr>
        <p:spPr bwMode="auto">
          <a:xfrm>
            <a:off x="5995835" y="4208827"/>
            <a:ext cx="167822" cy="1441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52" name="Straight Arrow Connector 51">
            <a:extLst>
              <a:ext uri="{FF2B5EF4-FFF2-40B4-BE49-F238E27FC236}">
                <a16:creationId xmlns:a16="http://schemas.microsoft.com/office/drawing/2014/main" id="{5EFEC3E7-F59E-42E0-A1F4-63C64620BBCB}"/>
              </a:ext>
            </a:extLst>
          </p:cNvPr>
          <p:cNvCxnSpPr>
            <a:cxnSpLocks/>
          </p:cNvCxnSpPr>
          <p:nvPr/>
        </p:nvCxnSpPr>
        <p:spPr bwMode="auto">
          <a:xfrm>
            <a:off x="7380385" y="4777623"/>
            <a:ext cx="167822" cy="1441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53" name="Straight Arrow Connector 52">
            <a:extLst>
              <a:ext uri="{FF2B5EF4-FFF2-40B4-BE49-F238E27FC236}">
                <a16:creationId xmlns:a16="http://schemas.microsoft.com/office/drawing/2014/main" id="{3C7534D9-270E-4205-BFA5-0A35AF7185D7}"/>
              </a:ext>
            </a:extLst>
          </p:cNvPr>
          <p:cNvCxnSpPr>
            <a:cxnSpLocks/>
          </p:cNvCxnSpPr>
          <p:nvPr/>
        </p:nvCxnSpPr>
        <p:spPr bwMode="auto">
          <a:xfrm>
            <a:off x="8619374" y="4797224"/>
            <a:ext cx="167822" cy="1441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
        <p:nvSpPr>
          <p:cNvPr id="43012" name="Oval 43011">
            <a:extLst>
              <a:ext uri="{FF2B5EF4-FFF2-40B4-BE49-F238E27FC236}">
                <a16:creationId xmlns:a16="http://schemas.microsoft.com/office/drawing/2014/main" id="{140F529D-1B09-4684-B1BD-9325A44E64A2}"/>
              </a:ext>
            </a:extLst>
          </p:cNvPr>
          <p:cNvSpPr/>
          <p:nvPr/>
        </p:nvSpPr>
        <p:spPr bwMode="auto">
          <a:xfrm>
            <a:off x="1317079" y="4943405"/>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55" name="Oval 54">
            <a:extLst>
              <a:ext uri="{FF2B5EF4-FFF2-40B4-BE49-F238E27FC236}">
                <a16:creationId xmlns:a16="http://schemas.microsoft.com/office/drawing/2014/main" id="{28AC36A1-A983-4DEB-9846-76F37337A437}"/>
              </a:ext>
            </a:extLst>
          </p:cNvPr>
          <p:cNvSpPr/>
          <p:nvPr/>
        </p:nvSpPr>
        <p:spPr bwMode="auto">
          <a:xfrm>
            <a:off x="1893372" y="4950466"/>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56" name="Oval 55">
            <a:extLst>
              <a:ext uri="{FF2B5EF4-FFF2-40B4-BE49-F238E27FC236}">
                <a16:creationId xmlns:a16="http://schemas.microsoft.com/office/drawing/2014/main" id="{79F86451-6140-40FD-9FFB-37CF1986D338}"/>
              </a:ext>
            </a:extLst>
          </p:cNvPr>
          <p:cNvSpPr/>
          <p:nvPr/>
        </p:nvSpPr>
        <p:spPr bwMode="auto">
          <a:xfrm>
            <a:off x="2165877" y="4938357"/>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57" name="Oval 56">
            <a:extLst>
              <a:ext uri="{FF2B5EF4-FFF2-40B4-BE49-F238E27FC236}">
                <a16:creationId xmlns:a16="http://schemas.microsoft.com/office/drawing/2014/main" id="{CA5F5F4A-2CC0-4DB8-B0FE-C9EC3F0980DA}"/>
              </a:ext>
            </a:extLst>
          </p:cNvPr>
          <p:cNvSpPr/>
          <p:nvPr/>
        </p:nvSpPr>
        <p:spPr bwMode="auto">
          <a:xfrm>
            <a:off x="2742170" y="4945418"/>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58" name="Oval 57">
            <a:extLst>
              <a:ext uri="{FF2B5EF4-FFF2-40B4-BE49-F238E27FC236}">
                <a16:creationId xmlns:a16="http://schemas.microsoft.com/office/drawing/2014/main" id="{CC0DC4A1-706C-492D-B5F0-ACCD036E9650}"/>
              </a:ext>
            </a:extLst>
          </p:cNvPr>
          <p:cNvSpPr/>
          <p:nvPr/>
        </p:nvSpPr>
        <p:spPr bwMode="auto">
          <a:xfrm>
            <a:off x="3275073" y="4909082"/>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59" name="Oval 58">
            <a:extLst>
              <a:ext uri="{FF2B5EF4-FFF2-40B4-BE49-F238E27FC236}">
                <a16:creationId xmlns:a16="http://schemas.microsoft.com/office/drawing/2014/main" id="{6F2E04E9-3F83-4FD5-8AA1-68040BB16120}"/>
              </a:ext>
            </a:extLst>
          </p:cNvPr>
          <p:cNvSpPr/>
          <p:nvPr/>
        </p:nvSpPr>
        <p:spPr bwMode="auto">
          <a:xfrm>
            <a:off x="3851366" y="4916143"/>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60" name="Oval 59">
            <a:extLst>
              <a:ext uri="{FF2B5EF4-FFF2-40B4-BE49-F238E27FC236}">
                <a16:creationId xmlns:a16="http://schemas.microsoft.com/office/drawing/2014/main" id="{E548EE67-5531-45C7-B719-24D52F799542}"/>
              </a:ext>
            </a:extLst>
          </p:cNvPr>
          <p:cNvSpPr/>
          <p:nvPr/>
        </p:nvSpPr>
        <p:spPr bwMode="auto">
          <a:xfrm>
            <a:off x="4099647" y="4910088"/>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61" name="Oval 60">
            <a:extLst>
              <a:ext uri="{FF2B5EF4-FFF2-40B4-BE49-F238E27FC236}">
                <a16:creationId xmlns:a16="http://schemas.microsoft.com/office/drawing/2014/main" id="{88711ECF-4337-4779-A5DF-B25B416B590C}"/>
              </a:ext>
            </a:extLst>
          </p:cNvPr>
          <p:cNvSpPr/>
          <p:nvPr/>
        </p:nvSpPr>
        <p:spPr bwMode="auto">
          <a:xfrm>
            <a:off x="4675940" y="4917149"/>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62" name="Oval 61">
            <a:extLst>
              <a:ext uri="{FF2B5EF4-FFF2-40B4-BE49-F238E27FC236}">
                <a16:creationId xmlns:a16="http://schemas.microsoft.com/office/drawing/2014/main" id="{BBCD3306-60D4-4D3B-B58E-79F6C6571B78}"/>
              </a:ext>
            </a:extLst>
          </p:cNvPr>
          <p:cNvSpPr/>
          <p:nvPr/>
        </p:nvSpPr>
        <p:spPr bwMode="auto">
          <a:xfrm>
            <a:off x="5547951" y="4347922"/>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63" name="Oval 62">
            <a:extLst>
              <a:ext uri="{FF2B5EF4-FFF2-40B4-BE49-F238E27FC236}">
                <a16:creationId xmlns:a16="http://schemas.microsoft.com/office/drawing/2014/main" id="{B0A9C5E0-A194-4E50-BC45-F84A7D7EF561}"/>
              </a:ext>
            </a:extLst>
          </p:cNvPr>
          <p:cNvSpPr/>
          <p:nvPr/>
        </p:nvSpPr>
        <p:spPr bwMode="auto">
          <a:xfrm>
            <a:off x="6124244" y="4354983"/>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64" name="Oval 63">
            <a:extLst>
              <a:ext uri="{FF2B5EF4-FFF2-40B4-BE49-F238E27FC236}">
                <a16:creationId xmlns:a16="http://schemas.microsoft.com/office/drawing/2014/main" id="{20B18A72-9931-4B16-B814-69ECB423F08B}"/>
              </a:ext>
            </a:extLst>
          </p:cNvPr>
          <p:cNvSpPr/>
          <p:nvPr/>
        </p:nvSpPr>
        <p:spPr bwMode="auto">
          <a:xfrm>
            <a:off x="7517050" y="4930281"/>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65" name="Oval 64">
            <a:extLst>
              <a:ext uri="{FF2B5EF4-FFF2-40B4-BE49-F238E27FC236}">
                <a16:creationId xmlns:a16="http://schemas.microsoft.com/office/drawing/2014/main" id="{9C02E27C-9175-44A8-A8C3-6BA97B333949}"/>
              </a:ext>
            </a:extLst>
          </p:cNvPr>
          <p:cNvSpPr/>
          <p:nvPr/>
        </p:nvSpPr>
        <p:spPr bwMode="auto">
          <a:xfrm>
            <a:off x="8741299" y="4937342"/>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cxnSp>
        <p:nvCxnSpPr>
          <p:cNvPr id="66" name="Straight Arrow Connector 65">
            <a:extLst>
              <a:ext uri="{FF2B5EF4-FFF2-40B4-BE49-F238E27FC236}">
                <a16:creationId xmlns:a16="http://schemas.microsoft.com/office/drawing/2014/main" id="{C9FD9381-EEDE-4ABE-B3DB-FCDC80159CE1}"/>
              </a:ext>
            </a:extLst>
          </p:cNvPr>
          <p:cNvCxnSpPr/>
          <p:nvPr/>
        </p:nvCxnSpPr>
        <p:spPr bwMode="auto">
          <a:xfrm flipH="1">
            <a:off x="6624371" y="5385207"/>
            <a:ext cx="107487" cy="13449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67" name="Straight Arrow Connector 66">
            <a:extLst>
              <a:ext uri="{FF2B5EF4-FFF2-40B4-BE49-F238E27FC236}">
                <a16:creationId xmlns:a16="http://schemas.microsoft.com/office/drawing/2014/main" id="{630D431B-4B43-4D4D-A302-67D35441F32D}"/>
              </a:ext>
            </a:extLst>
          </p:cNvPr>
          <p:cNvCxnSpPr>
            <a:cxnSpLocks/>
          </p:cNvCxnSpPr>
          <p:nvPr/>
        </p:nvCxnSpPr>
        <p:spPr bwMode="auto">
          <a:xfrm>
            <a:off x="7010164" y="5375535"/>
            <a:ext cx="167822" cy="1441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
        <p:nvSpPr>
          <p:cNvPr id="68" name="Oval 67">
            <a:extLst>
              <a:ext uri="{FF2B5EF4-FFF2-40B4-BE49-F238E27FC236}">
                <a16:creationId xmlns:a16="http://schemas.microsoft.com/office/drawing/2014/main" id="{58FE7D34-B515-48F2-B62E-969A5BE8978C}"/>
              </a:ext>
            </a:extLst>
          </p:cNvPr>
          <p:cNvSpPr/>
          <p:nvPr/>
        </p:nvSpPr>
        <p:spPr bwMode="auto">
          <a:xfrm>
            <a:off x="6565298" y="5516664"/>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69" name="Oval 68">
            <a:extLst>
              <a:ext uri="{FF2B5EF4-FFF2-40B4-BE49-F238E27FC236}">
                <a16:creationId xmlns:a16="http://schemas.microsoft.com/office/drawing/2014/main" id="{F26664D8-AE60-496C-A06C-3470DD4A59AD}"/>
              </a:ext>
            </a:extLst>
          </p:cNvPr>
          <p:cNvSpPr/>
          <p:nvPr/>
        </p:nvSpPr>
        <p:spPr bwMode="auto">
          <a:xfrm>
            <a:off x="7141591" y="5523725"/>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cxnSp>
        <p:nvCxnSpPr>
          <p:cNvPr id="70" name="Straight Arrow Connector 69">
            <a:extLst>
              <a:ext uri="{FF2B5EF4-FFF2-40B4-BE49-F238E27FC236}">
                <a16:creationId xmlns:a16="http://schemas.microsoft.com/office/drawing/2014/main" id="{2C8E8E39-D2B6-44AF-921A-16BB989AA9E9}"/>
              </a:ext>
            </a:extLst>
          </p:cNvPr>
          <p:cNvCxnSpPr/>
          <p:nvPr/>
        </p:nvCxnSpPr>
        <p:spPr bwMode="auto">
          <a:xfrm flipH="1">
            <a:off x="8006063" y="5380157"/>
            <a:ext cx="107487" cy="134491"/>
          </a:xfrm>
          <a:prstGeom prst="straightConnector1">
            <a:avLst/>
          </a:prstGeom>
          <a:solidFill>
            <a:schemeClr val="accent1"/>
          </a:solidFill>
          <a:ln w="12700" cap="sq" cmpd="sng" algn="ctr">
            <a:solidFill>
              <a:schemeClr val="tx1"/>
            </a:solidFill>
            <a:prstDash val="solid"/>
            <a:round/>
            <a:headEnd type="none" w="sm" len="sm"/>
            <a:tailEnd type="triangle"/>
          </a:ln>
          <a:effectLst/>
        </p:spPr>
      </p:cxnSp>
      <p:cxnSp>
        <p:nvCxnSpPr>
          <p:cNvPr id="71" name="Straight Arrow Connector 70">
            <a:extLst>
              <a:ext uri="{FF2B5EF4-FFF2-40B4-BE49-F238E27FC236}">
                <a16:creationId xmlns:a16="http://schemas.microsoft.com/office/drawing/2014/main" id="{0A4C8A55-97A7-4DC2-AB9A-963A6B5A589E}"/>
              </a:ext>
            </a:extLst>
          </p:cNvPr>
          <p:cNvCxnSpPr>
            <a:cxnSpLocks/>
          </p:cNvCxnSpPr>
          <p:nvPr/>
        </p:nvCxnSpPr>
        <p:spPr bwMode="auto">
          <a:xfrm>
            <a:off x="8391856" y="5370485"/>
            <a:ext cx="167822" cy="144163"/>
          </a:xfrm>
          <a:prstGeom prst="straightConnector1">
            <a:avLst/>
          </a:prstGeom>
          <a:solidFill>
            <a:schemeClr val="accent1"/>
          </a:solidFill>
          <a:ln w="12700" cap="sq" cmpd="sng" algn="ctr">
            <a:solidFill>
              <a:schemeClr val="tx1"/>
            </a:solidFill>
            <a:prstDash val="solid"/>
            <a:round/>
            <a:headEnd type="none" w="sm" len="sm"/>
            <a:tailEnd type="triangle"/>
          </a:ln>
          <a:effectLst/>
        </p:spPr>
      </p:cxnSp>
      <p:sp>
        <p:nvSpPr>
          <p:cNvPr id="72" name="Oval 71">
            <a:extLst>
              <a:ext uri="{FF2B5EF4-FFF2-40B4-BE49-F238E27FC236}">
                <a16:creationId xmlns:a16="http://schemas.microsoft.com/office/drawing/2014/main" id="{F405B662-A285-4773-B528-C2B9DE65531A}"/>
              </a:ext>
            </a:extLst>
          </p:cNvPr>
          <p:cNvSpPr/>
          <p:nvPr/>
        </p:nvSpPr>
        <p:spPr bwMode="auto">
          <a:xfrm>
            <a:off x="7946990" y="5511614"/>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73" name="Oval 72">
            <a:extLst>
              <a:ext uri="{FF2B5EF4-FFF2-40B4-BE49-F238E27FC236}">
                <a16:creationId xmlns:a16="http://schemas.microsoft.com/office/drawing/2014/main" id="{ED51EDE6-1540-48CC-A35B-44EEA6128DB0}"/>
              </a:ext>
            </a:extLst>
          </p:cNvPr>
          <p:cNvSpPr/>
          <p:nvPr/>
        </p:nvSpPr>
        <p:spPr bwMode="auto">
          <a:xfrm>
            <a:off x="8523283" y="5518675"/>
            <a:ext cx="107487" cy="108104"/>
          </a:xfrm>
          <a:prstGeom prst="ellipse">
            <a:avLst/>
          </a:prstGeom>
          <a:solidFill>
            <a:schemeClr val="tx1"/>
          </a:solidFill>
          <a:ln w="12700" cap="sq" cmpd="sng" algn="ctr">
            <a:solidFill>
              <a:schemeClr val="tx1"/>
            </a:solid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1521842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Search Time: Red-Black Tree</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dirty="0"/>
              <a:t>A red-black tree has </a:t>
            </a:r>
            <a:r>
              <a:rPr lang="en-US" altLang="en-US" sz="2800" b="1" dirty="0"/>
              <a:t>O(log N)</a:t>
            </a:r>
            <a:r>
              <a:rPr lang="en-US" altLang="en-US" sz="2800" dirty="0"/>
              <a:t> search time</a:t>
            </a:r>
            <a:endParaRPr lang="en-US" altLang="en-US" sz="2800" b="1" dirty="0"/>
          </a:p>
          <a:p>
            <a:pPr lvl="1" eaLnBrk="1" hangingPunct="1"/>
            <a:r>
              <a:rPr lang="en-US" altLang="en-US" sz="2400" dirty="0"/>
              <a:t>Any path from root to leaf has a black height  </a:t>
            </a:r>
            <a:r>
              <a:rPr lang="en-US" altLang="en-US" sz="2400" b="1" dirty="0"/>
              <a:t>~log N</a:t>
            </a:r>
          </a:p>
          <a:p>
            <a:pPr lvl="2" eaLnBrk="1" hangingPunct="1"/>
            <a:r>
              <a:rPr lang="en-US" altLang="en-US" sz="2000" dirty="0"/>
              <a:t>The black height of each such path </a:t>
            </a:r>
            <a:r>
              <a:rPr lang="en-US" altLang="en-US" sz="2000" i="1" dirty="0"/>
              <a:t>must be the same</a:t>
            </a:r>
          </a:p>
          <a:p>
            <a:pPr lvl="1" eaLnBrk="1" hangingPunct="1"/>
            <a:r>
              <a:rPr lang="en-US" altLang="en-US" sz="2400" dirty="0"/>
              <a:t>The depth of a branch can have </a:t>
            </a:r>
            <a:r>
              <a:rPr lang="en-US" altLang="en-US" sz="2400" i="1" dirty="0"/>
              <a:t>at most</a:t>
            </a:r>
            <a:r>
              <a:rPr lang="en-US" altLang="en-US" sz="2400" dirty="0"/>
              <a:t> as many </a:t>
            </a:r>
            <a:r>
              <a:rPr lang="en-US" altLang="en-US" sz="2400" b="1" dirty="0">
                <a:solidFill>
                  <a:srgbClr val="FF0000"/>
                </a:solidFill>
              </a:rPr>
              <a:t>red</a:t>
            </a:r>
            <a:r>
              <a:rPr lang="en-US" altLang="en-US" sz="2400" dirty="0"/>
              <a:t> nodes as </a:t>
            </a:r>
            <a:r>
              <a:rPr lang="en-US" altLang="en-US" sz="2400" b="1" dirty="0"/>
              <a:t>black</a:t>
            </a:r>
          </a:p>
          <a:p>
            <a:pPr lvl="2" eaLnBrk="1" hangingPunct="1"/>
            <a:r>
              <a:rPr lang="en-US" altLang="en-US" sz="2000" dirty="0"/>
              <a:t>Each </a:t>
            </a:r>
            <a:r>
              <a:rPr lang="en-US" altLang="en-US" sz="2000" b="1" dirty="0">
                <a:solidFill>
                  <a:srgbClr val="FF0000"/>
                </a:solidFill>
              </a:rPr>
              <a:t>red</a:t>
            </a:r>
            <a:r>
              <a:rPr lang="en-US" altLang="en-US" sz="2000" dirty="0"/>
              <a:t> node has a </a:t>
            </a:r>
            <a:r>
              <a:rPr lang="en-US" altLang="en-US" sz="2000" b="1" dirty="0"/>
              <a:t>black</a:t>
            </a:r>
            <a:r>
              <a:rPr lang="en-US" altLang="en-US" sz="2000" dirty="0"/>
              <a:t> parent</a:t>
            </a:r>
          </a:p>
          <a:p>
            <a:pPr lvl="1" eaLnBrk="1" hangingPunct="1"/>
            <a:r>
              <a:rPr lang="en-US" altLang="en-US" sz="2400" b="1" dirty="0"/>
              <a:t>2 log N</a:t>
            </a:r>
            <a:r>
              <a:rPr lang="en-US" altLang="en-US" sz="2400" dirty="0"/>
              <a:t> is still </a:t>
            </a:r>
            <a:r>
              <a:rPr lang="en-US" altLang="en-US" sz="2400" b="1" dirty="0"/>
              <a:t>O(log N)</a:t>
            </a:r>
          </a:p>
          <a:p>
            <a:pPr lvl="2" eaLnBrk="1" hangingPunct="1"/>
            <a:r>
              <a:rPr lang="en-US" altLang="en-US" sz="2000" dirty="0"/>
              <a:t>Doubling N increases search time by just 2</a:t>
            </a: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12</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Tree>
    <p:extLst>
      <p:ext uri="{BB962C8B-B14F-4D97-AF65-F5344CB8AC3E}">
        <p14:creationId xmlns:p14="http://schemas.microsoft.com/office/powerpoint/2010/main" val="3521812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Red-Black Tree Insert</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eaLnBrk="1" hangingPunct="1"/>
            <a:r>
              <a:rPr lang="en-US" altLang="en-US" sz="2800" dirty="0"/>
              <a:t>As with any BST, a new node goes at a leaf</a:t>
            </a:r>
          </a:p>
          <a:p>
            <a:pPr eaLnBrk="1" hangingPunct="1"/>
            <a:r>
              <a:rPr lang="en-US" altLang="en-US" sz="2800" dirty="0"/>
              <a:t>Color the new node </a:t>
            </a:r>
            <a:r>
              <a:rPr lang="en-US" altLang="en-US" sz="2800" b="1" dirty="0">
                <a:solidFill>
                  <a:srgbClr val="FF0000"/>
                </a:solidFill>
              </a:rPr>
              <a:t>red</a:t>
            </a:r>
          </a:p>
          <a:p>
            <a:pPr marL="0" indent="0" eaLnBrk="1" hangingPunct="1">
              <a:spcBef>
                <a:spcPts val="1200"/>
              </a:spcBef>
              <a:buNone/>
            </a:pPr>
            <a:r>
              <a:rPr lang="en-US" altLang="en-US" sz="2000" b="1" dirty="0"/>
              <a:t>   1)  </a:t>
            </a:r>
            <a:r>
              <a:rPr lang="en-US" altLang="en-US" sz="2000" dirty="0"/>
              <a:t>If new node is the root, repaint it </a:t>
            </a:r>
            <a:r>
              <a:rPr lang="en-US" altLang="en-US" sz="2000" b="1" dirty="0"/>
              <a:t>black </a:t>
            </a:r>
            <a:r>
              <a:rPr lang="en-US" altLang="en-US" sz="2000" b="1" dirty="0">
                <a:solidFill>
                  <a:srgbClr val="00B050"/>
                </a:solidFill>
              </a:rPr>
              <a:t>-- DONE!</a:t>
            </a:r>
          </a:p>
          <a:p>
            <a:pPr marL="0" indent="0" eaLnBrk="1" hangingPunct="1">
              <a:lnSpc>
                <a:spcPts val="2800"/>
              </a:lnSpc>
              <a:spcBef>
                <a:spcPts val="1200"/>
              </a:spcBef>
              <a:buNone/>
            </a:pPr>
            <a:r>
              <a:rPr lang="en-US" altLang="en-US" sz="2000" b="1" dirty="0"/>
              <a:t>   2)  </a:t>
            </a:r>
            <a:r>
              <a:rPr lang="en-US" altLang="en-US" sz="2000" dirty="0"/>
              <a:t>If new node's </a:t>
            </a:r>
            <a:r>
              <a:rPr lang="en-US" altLang="en-US" sz="2000" i="1" dirty="0"/>
              <a:t>parent</a:t>
            </a:r>
            <a:r>
              <a:rPr lang="en-US" altLang="en-US" sz="2000" dirty="0"/>
              <a:t> is </a:t>
            </a:r>
            <a:r>
              <a:rPr lang="en-US" altLang="en-US" sz="2000" b="1" dirty="0"/>
              <a:t>black</a:t>
            </a:r>
            <a:r>
              <a:rPr lang="en-US" altLang="en-US" sz="2000" dirty="0">
                <a:solidFill>
                  <a:srgbClr val="00B050"/>
                </a:solidFill>
              </a:rPr>
              <a:t> </a:t>
            </a:r>
            <a:r>
              <a:rPr lang="en-US" altLang="en-US" sz="2000" b="1" dirty="0">
                <a:solidFill>
                  <a:srgbClr val="00B050"/>
                </a:solidFill>
              </a:rPr>
              <a:t>-- DONE!</a:t>
            </a:r>
          </a:p>
          <a:p>
            <a:pPr marL="0" indent="0" eaLnBrk="1" hangingPunct="1">
              <a:spcBef>
                <a:spcPts val="1200"/>
              </a:spcBef>
              <a:buNone/>
            </a:pPr>
            <a:r>
              <a:rPr lang="en-US" altLang="en-US" sz="2000" b="1" dirty="0"/>
              <a:t>   3)  </a:t>
            </a:r>
            <a:r>
              <a:rPr lang="en-US" altLang="en-US" sz="2000" dirty="0"/>
              <a:t>If new node's </a:t>
            </a:r>
            <a:r>
              <a:rPr lang="en-US" altLang="en-US" sz="2000" i="1" dirty="0"/>
              <a:t>parent</a:t>
            </a:r>
            <a:r>
              <a:rPr lang="en-US" altLang="en-US" sz="2000" dirty="0"/>
              <a:t> and </a:t>
            </a:r>
            <a:r>
              <a:rPr lang="en-US" altLang="en-US" sz="2000" i="1" dirty="0"/>
              <a:t>uncle</a:t>
            </a:r>
            <a:r>
              <a:rPr lang="en-US" altLang="en-US" sz="2000" dirty="0"/>
              <a:t> are both </a:t>
            </a:r>
            <a:r>
              <a:rPr lang="en-US" altLang="en-US" sz="2000" b="1" dirty="0">
                <a:solidFill>
                  <a:srgbClr val="FF0000"/>
                </a:solidFill>
              </a:rPr>
              <a:t>red</a:t>
            </a:r>
            <a:r>
              <a:rPr lang="en-US" altLang="en-US" sz="2000" dirty="0"/>
              <a:t>, repaint parent</a:t>
            </a:r>
          </a:p>
          <a:p>
            <a:pPr marL="0" indent="0" eaLnBrk="1" hangingPunct="1">
              <a:spcBef>
                <a:spcPts val="0"/>
              </a:spcBef>
              <a:buNone/>
            </a:pPr>
            <a:r>
              <a:rPr lang="en-US" altLang="en-US" sz="2000" dirty="0"/>
              <a:t>         and uncle </a:t>
            </a:r>
            <a:r>
              <a:rPr lang="en-US" altLang="en-US" sz="2000" b="1" dirty="0"/>
              <a:t>black</a:t>
            </a:r>
            <a:r>
              <a:rPr lang="en-US" altLang="en-US" sz="2000" dirty="0"/>
              <a:t> and </a:t>
            </a:r>
            <a:r>
              <a:rPr lang="en-US" altLang="en-US" sz="2000" i="1" dirty="0"/>
              <a:t>grandparent</a:t>
            </a:r>
            <a:r>
              <a:rPr lang="en-US" altLang="en-US" sz="2000" dirty="0"/>
              <a:t> </a:t>
            </a:r>
            <a:r>
              <a:rPr lang="en-US" altLang="en-US" sz="2000" b="1" dirty="0">
                <a:solidFill>
                  <a:srgbClr val="FF0000"/>
                </a:solidFill>
              </a:rPr>
              <a:t>red</a:t>
            </a:r>
          </a:p>
          <a:p>
            <a:pPr marL="0" indent="0" eaLnBrk="1" hangingPunct="1">
              <a:spcBef>
                <a:spcPts val="0"/>
              </a:spcBef>
              <a:buNone/>
            </a:pPr>
            <a:r>
              <a:rPr lang="en-US" altLang="en-US" sz="2000" b="1" dirty="0"/>
              <a:t>          *)</a:t>
            </a:r>
            <a:r>
              <a:rPr lang="en-US" altLang="en-US" sz="2000" dirty="0"/>
              <a:t>  </a:t>
            </a:r>
            <a:r>
              <a:rPr lang="en-US" altLang="en-US" sz="2000" dirty="0" err="1"/>
              <a:t>Recurse</a:t>
            </a:r>
            <a:r>
              <a:rPr lang="en-US" altLang="en-US" sz="2000" dirty="0"/>
              <a:t> on the </a:t>
            </a:r>
            <a:r>
              <a:rPr lang="en-US" altLang="en-US" sz="2000" b="1" dirty="0">
                <a:solidFill>
                  <a:srgbClr val="FF0000"/>
                </a:solidFill>
              </a:rPr>
              <a:t>red</a:t>
            </a:r>
            <a:r>
              <a:rPr lang="en-US" altLang="en-US" sz="2000" dirty="0"/>
              <a:t> grandparent</a:t>
            </a:r>
          </a:p>
          <a:p>
            <a:pPr marL="0" indent="0" eaLnBrk="1" hangingPunct="1">
              <a:buNone/>
            </a:pPr>
            <a:endParaRPr lang="en-US" altLang="en-US" sz="2400" dirty="0"/>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13</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Tree>
    <p:extLst>
      <p:ext uri="{BB962C8B-B14F-4D97-AF65-F5344CB8AC3E}">
        <p14:creationId xmlns:p14="http://schemas.microsoft.com/office/powerpoint/2010/main" val="2767073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Red-Black Tree Insert (cont.)</a:t>
            </a:r>
            <a:endParaRPr lang="en-US" altLang="en-US" b="1" dirty="0">
              <a:latin typeface="Courier New" pitchFamily="49" charset="0"/>
              <a:cs typeface="Courier New" pitchFamily="49" charset="0"/>
            </a:endParaRPr>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14</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Tree>
    <p:extLst>
      <p:ext uri="{BB962C8B-B14F-4D97-AF65-F5344CB8AC3E}">
        <p14:creationId xmlns:p14="http://schemas.microsoft.com/office/powerpoint/2010/main" val="2459578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Red-Black Tree Insert (cont.)</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marL="0" indent="0" eaLnBrk="1" hangingPunct="1">
              <a:buNone/>
            </a:pPr>
            <a:r>
              <a:rPr lang="en-US" altLang="en-US" sz="2000" b="1" dirty="0"/>
              <a:t>   4)  </a:t>
            </a:r>
            <a:r>
              <a:rPr lang="en-US" altLang="en-US" sz="2000" dirty="0"/>
              <a:t>If new node's parent is </a:t>
            </a:r>
            <a:r>
              <a:rPr lang="en-US" altLang="en-US" sz="2000" b="1" dirty="0">
                <a:solidFill>
                  <a:srgbClr val="FF0000"/>
                </a:solidFill>
              </a:rPr>
              <a:t>red</a:t>
            </a:r>
            <a:r>
              <a:rPr lang="en-US" altLang="en-US" sz="2000" dirty="0"/>
              <a:t> and uncle is </a:t>
            </a:r>
            <a:r>
              <a:rPr lang="en-US" altLang="en-US" sz="2000" b="1" dirty="0"/>
              <a:t>black</a:t>
            </a:r>
          </a:p>
          <a:p>
            <a:pPr marL="0" indent="0" eaLnBrk="1" hangingPunct="1">
              <a:buNone/>
            </a:pPr>
            <a:r>
              <a:rPr lang="en-US" altLang="en-US" sz="2000" b="1" dirty="0"/>
              <a:t>         A)</a:t>
            </a:r>
            <a:r>
              <a:rPr lang="en-US" altLang="en-US" sz="2000" dirty="0"/>
              <a:t>  If new node is </a:t>
            </a:r>
            <a:r>
              <a:rPr lang="en-US" altLang="en-US" sz="2000" i="1" dirty="0"/>
              <a:t>right</a:t>
            </a:r>
            <a:r>
              <a:rPr lang="en-US" altLang="en-US" sz="2000" dirty="0"/>
              <a:t> of parent, which is </a:t>
            </a:r>
            <a:r>
              <a:rPr lang="en-US" altLang="en-US" sz="2000" i="1" dirty="0"/>
              <a:t>left</a:t>
            </a:r>
            <a:r>
              <a:rPr lang="en-US" altLang="en-US" sz="2000" dirty="0"/>
              <a:t> of</a:t>
            </a:r>
          </a:p>
          <a:p>
            <a:pPr marL="0" indent="0" eaLnBrk="1" hangingPunct="1">
              <a:spcBef>
                <a:spcPts val="0"/>
              </a:spcBef>
              <a:buNone/>
            </a:pPr>
            <a:r>
              <a:rPr lang="en-US" altLang="en-US" sz="2000" dirty="0"/>
              <a:t>              grandparent, perform </a:t>
            </a:r>
            <a:r>
              <a:rPr lang="en-US" altLang="en-US" sz="2000" b="1" i="1" dirty="0"/>
              <a:t>left rotation</a:t>
            </a:r>
            <a:r>
              <a:rPr lang="en-US" altLang="en-US" sz="2000" dirty="0"/>
              <a:t> on parent</a:t>
            </a:r>
          </a:p>
          <a:p>
            <a:pPr marL="0" indent="0" eaLnBrk="1" hangingPunct="1">
              <a:spcBef>
                <a:spcPts val="0"/>
              </a:spcBef>
              <a:buNone/>
            </a:pPr>
            <a:r>
              <a:rPr lang="en-US" altLang="en-US" sz="2000" dirty="0"/>
              <a:t>               </a:t>
            </a:r>
            <a:r>
              <a:rPr lang="en-US" altLang="en-US" sz="2000" b="1" dirty="0"/>
              <a:t>*)</a:t>
            </a:r>
            <a:r>
              <a:rPr lang="en-US" altLang="en-US" sz="2000" dirty="0"/>
              <a:t>  </a:t>
            </a:r>
            <a:r>
              <a:rPr lang="en-US" altLang="en-US" sz="2000" dirty="0" err="1"/>
              <a:t>Recurse</a:t>
            </a:r>
            <a:r>
              <a:rPr lang="en-US" altLang="en-US" sz="2000" dirty="0"/>
              <a:t> on parent (</a:t>
            </a:r>
            <a:r>
              <a:rPr lang="en-US" altLang="en-US" sz="2000" b="1" dirty="0">
                <a:solidFill>
                  <a:srgbClr val="FF0000"/>
                </a:solidFill>
              </a:rPr>
              <a:t>P</a:t>
            </a:r>
            <a:r>
              <a:rPr lang="en-US" altLang="en-US" sz="2000" dirty="0"/>
              <a:t>)</a:t>
            </a:r>
          </a:p>
          <a:p>
            <a:pPr marL="0" indent="0" eaLnBrk="1" hangingPunct="1">
              <a:buNone/>
            </a:pPr>
            <a:endParaRPr lang="en-US" altLang="en-US" sz="2400" dirty="0"/>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15</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pic>
        <p:nvPicPr>
          <p:cNvPr id="3" name="Picture 2">
            <a:extLst>
              <a:ext uri="{FF2B5EF4-FFF2-40B4-BE49-F238E27FC236}">
                <a16:creationId xmlns:a16="http://schemas.microsoft.com/office/drawing/2014/main" id="{55605E56-F9EF-48C1-852F-43E305680849}"/>
              </a:ext>
            </a:extLst>
          </p:cNvPr>
          <p:cNvPicPr>
            <a:picLocks noChangeAspect="1"/>
          </p:cNvPicPr>
          <p:nvPr/>
        </p:nvPicPr>
        <p:blipFill rotWithShape="1">
          <a:blip r:embed="rId3"/>
          <a:srcRect l="15000" t="49122" r="29205" b="5709"/>
          <a:stretch/>
        </p:blipFill>
        <p:spPr>
          <a:xfrm>
            <a:off x="1734936" y="3590994"/>
            <a:ext cx="5594266" cy="2476746"/>
          </a:xfrm>
          <a:prstGeom prst="rect">
            <a:avLst/>
          </a:prstGeom>
        </p:spPr>
      </p:pic>
      <p:sp>
        <p:nvSpPr>
          <p:cNvPr id="4" name="Rectangle 3">
            <a:extLst>
              <a:ext uri="{FF2B5EF4-FFF2-40B4-BE49-F238E27FC236}">
                <a16:creationId xmlns:a16="http://schemas.microsoft.com/office/drawing/2014/main" id="{D799B784-4035-47A5-8C65-F8B9454C6724}"/>
              </a:ext>
            </a:extLst>
          </p:cNvPr>
          <p:cNvSpPr/>
          <p:nvPr/>
        </p:nvSpPr>
        <p:spPr bwMode="auto">
          <a:xfrm>
            <a:off x="6770196" y="3386608"/>
            <a:ext cx="701906" cy="422380"/>
          </a:xfrm>
          <a:prstGeom prst="rect">
            <a:avLst/>
          </a:prstGeom>
          <a:solidFill>
            <a:schemeClr val="bg1"/>
          </a:solidFill>
          <a:ln w="12700" cap="sq"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2879783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Red-Black Tree Insert (cont.)</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marL="0" indent="0" eaLnBrk="1" hangingPunct="1">
              <a:buNone/>
            </a:pPr>
            <a:r>
              <a:rPr lang="en-US" altLang="en-US" sz="2000" b="1" dirty="0"/>
              <a:t>   4)  </a:t>
            </a:r>
            <a:r>
              <a:rPr lang="en-US" altLang="en-US" sz="2000" dirty="0"/>
              <a:t>If new node's parent is </a:t>
            </a:r>
            <a:r>
              <a:rPr lang="en-US" altLang="en-US" sz="2000" b="1" dirty="0">
                <a:solidFill>
                  <a:srgbClr val="FF0000"/>
                </a:solidFill>
              </a:rPr>
              <a:t>red</a:t>
            </a:r>
            <a:r>
              <a:rPr lang="en-US" altLang="en-US" sz="2000" dirty="0"/>
              <a:t> and uncle is </a:t>
            </a:r>
            <a:r>
              <a:rPr lang="en-US" altLang="en-US" sz="2000" b="1" dirty="0"/>
              <a:t>black</a:t>
            </a:r>
          </a:p>
          <a:p>
            <a:pPr marL="0" indent="0" eaLnBrk="1" hangingPunct="1">
              <a:buNone/>
            </a:pPr>
            <a:r>
              <a:rPr lang="en-US" altLang="en-US" sz="2000" b="1" dirty="0"/>
              <a:t>         B)</a:t>
            </a:r>
            <a:r>
              <a:rPr lang="en-US" altLang="en-US" sz="2000" dirty="0"/>
              <a:t>  If new node is </a:t>
            </a:r>
            <a:r>
              <a:rPr lang="en-US" altLang="en-US" sz="2000" i="1" dirty="0"/>
              <a:t>left</a:t>
            </a:r>
            <a:r>
              <a:rPr lang="en-US" altLang="en-US" sz="2000" dirty="0"/>
              <a:t> of parent, which is </a:t>
            </a:r>
            <a:r>
              <a:rPr lang="en-US" altLang="en-US" sz="2000" i="1" dirty="0"/>
              <a:t>left</a:t>
            </a:r>
            <a:r>
              <a:rPr lang="en-US" altLang="en-US" sz="2000" dirty="0"/>
              <a:t> of</a:t>
            </a:r>
          </a:p>
          <a:p>
            <a:pPr marL="0" indent="0" eaLnBrk="1" hangingPunct="1">
              <a:spcBef>
                <a:spcPts val="0"/>
              </a:spcBef>
              <a:buNone/>
            </a:pPr>
            <a:r>
              <a:rPr lang="en-US" altLang="en-US" sz="2000" dirty="0"/>
              <a:t>              grandparent, perform </a:t>
            </a:r>
            <a:r>
              <a:rPr lang="en-US" altLang="en-US" sz="2000" b="1" i="1" dirty="0"/>
              <a:t>right rotation</a:t>
            </a:r>
            <a:r>
              <a:rPr lang="en-US" altLang="en-US" sz="2000" dirty="0"/>
              <a:t> on grandparent</a:t>
            </a:r>
          </a:p>
          <a:p>
            <a:pPr marL="0" indent="0" eaLnBrk="1" hangingPunct="1">
              <a:spcBef>
                <a:spcPts val="0"/>
              </a:spcBef>
              <a:buNone/>
            </a:pPr>
            <a:r>
              <a:rPr lang="en-US" altLang="en-US" sz="2000" dirty="0"/>
              <a:t>              </a:t>
            </a:r>
            <a:r>
              <a:rPr lang="en-US" altLang="en-US" sz="2000" b="1" dirty="0">
                <a:solidFill>
                  <a:srgbClr val="00B050"/>
                </a:solidFill>
              </a:rPr>
              <a:t>-- DONE!</a:t>
            </a:r>
            <a:r>
              <a:rPr lang="en-US" altLang="en-US" sz="2000" dirty="0"/>
              <a:t> after repaint of </a:t>
            </a:r>
            <a:r>
              <a:rPr lang="en-US" altLang="en-US" sz="2000" b="1" dirty="0"/>
              <a:t>P</a:t>
            </a:r>
            <a:r>
              <a:rPr lang="en-US" altLang="en-US" sz="2000" dirty="0"/>
              <a:t> and </a:t>
            </a:r>
            <a:r>
              <a:rPr lang="en-US" altLang="en-US" sz="2000" b="1" dirty="0">
                <a:solidFill>
                  <a:srgbClr val="FF0000"/>
                </a:solidFill>
              </a:rPr>
              <a:t>G</a:t>
            </a:r>
          </a:p>
          <a:p>
            <a:pPr marL="0" indent="0" eaLnBrk="1" hangingPunct="1">
              <a:buNone/>
            </a:pPr>
            <a:endParaRPr lang="en-US" altLang="en-US" sz="2400" dirty="0"/>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16</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pic>
        <p:nvPicPr>
          <p:cNvPr id="3" name="Picture 2">
            <a:extLst>
              <a:ext uri="{FF2B5EF4-FFF2-40B4-BE49-F238E27FC236}">
                <a16:creationId xmlns:a16="http://schemas.microsoft.com/office/drawing/2014/main" id="{FD856B1F-9BDC-4F47-86AC-10155A949A1D}"/>
              </a:ext>
            </a:extLst>
          </p:cNvPr>
          <p:cNvPicPr>
            <a:picLocks noChangeAspect="1"/>
          </p:cNvPicPr>
          <p:nvPr/>
        </p:nvPicPr>
        <p:blipFill rotWithShape="1">
          <a:blip r:embed="rId3"/>
          <a:srcRect l="12934" t="48759" r="26026" b="6072"/>
          <a:stretch/>
        </p:blipFill>
        <p:spPr>
          <a:xfrm>
            <a:off x="1612639" y="3572826"/>
            <a:ext cx="6325079" cy="2559687"/>
          </a:xfrm>
          <a:prstGeom prst="rect">
            <a:avLst/>
          </a:prstGeom>
        </p:spPr>
      </p:pic>
      <p:sp>
        <p:nvSpPr>
          <p:cNvPr id="8" name="Rectangle 7">
            <a:extLst>
              <a:ext uri="{FF2B5EF4-FFF2-40B4-BE49-F238E27FC236}">
                <a16:creationId xmlns:a16="http://schemas.microsoft.com/office/drawing/2014/main" id="{CD0AC5CD-6A31-4D59-8B69-B1A37CE8264A}"/>
              </a:ext>
            </a:extLst>
          </p:cNvPr>
          <p:cNvSpPr/>
          <p:nvPr/>
        </p:nvSpPr>
        <p:spPr bwMode="auto">
          <a:xfrm>
            <a:off x="6702386" y="3572826"/>
            <a:ext cx="1327378" cy="422380"/>
          </a:xfrm>
          <a:prstGeom prst="rect">
            <a:avLst/>
          </a:prstGeom>
          <a:solidFill>
            <a:schemeClr val="bg1"/>
          </a:solidFill>
          <a:ln w="12700" cap="sq"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
        <p:nvSpPr>
          <p:cNvPr id="9" name="Rectangle 8">
            <a:extLst>
              <a:ext uri="{FF2B5EF4-FFF2-40B4-BE49-F238E27FC236}">
                <a16:creationId xmlns:a16="http://schemas.microsoft.com/office/drawing/2014/main" id="{1B115611-9533-4E4B-A8F5-68F23A1203D4}"/>
              </a:ext>
            </a:extLst>
          </p:cNvPr>
          <p:cNvSpPr/>
          <p:nvPr/>
        </p:nvSpPr>
        <p:spPr bwMode="auto">
          <a:xfrm>
            <a:off x="2585567" y="3396461"/>
            <a:ext cx="1327378" cy="236916"/>
          </a:xfrm>
          <a:prstGeom prst="rect">
            <a:avLst/>
          </a:prstGeom>
          <a:solidFill>
            <a:schemeClr val="bg1"/>
          </a:solidFill>
          <a:ln w="12700" cap="sq" cmpd="sng" algn="ctr">
            <a:noFill/>
            <a:prstDash val="solid"/>
            <a:round/>
            <a:headEnd type="none" w="sm" len="sm"/>
            <a:tailEnd type="none" w="sm" len="sm"/>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ahoma" pitchFamily="34" charset="0"/>
            </a:endParaRPr>
          </a:p>
        </p:txBody>
      </p:sp>
    </p:spTree>
    <p:extLst>
      <p:ext uri="{BB962C8B-B14F-4D97-AF65-F5344CB8AC3E}">
        <p14:creationId xmlns:p14="http://schemas.microsoft.com/office/powerpoint/2010/main" val="2565709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dirty="0"/>
              <a:t>Red-Black Tree Insert (cont.)</a:t>
            </a:r>
            <a:endParaRPr lang="en-US" altLang="en-US" b="1" dirty="0">
              <a:latin typeface="Courier New" pitchFamily="49" charset="0"/>
              <a:cs typeface="Courier New" pitchFamily="49" charset="0"/>
            </a:endParaRPr>
          </a:p>
        </p:txBody>
      </p:sp>
      <p:sp>
        <p:nvSpPr>
          <p:cNvPr id="43011" name="Rectangle 3"/>
          <p:cNvSpPr>
            <a:spLocks noGrp="1" noChangeArrowheads="1"/>
          </p:cNvSpPr>
          <p:nvPr>
            <p:ph type="body" idx="1"/>
          </p:nvPr>
        </p:nvSpPr>
        <p:spPr/>
        <p:txBody>
          <a:bodyPr/>
          <a:lstStyle/>
          <a:p>
            <a:pPr marL="0" indent="0" eaLnBrk="1" hangingPunct="1">
              <a:buNone/>
            </a:pPr>
            <a:r>
              <a:rPr lang="en-US" altLang="en-US" sz="2000" b="1" dirty="0"/>
              <a:t>   4)   C, D)</a:t>
            </a:r>
            <a:r>
              <a:rPr lang="en-US" altLang="en-US" sz="2000" dirty="0"/>
              <a:t>  Mirror cases, when parent is </a:t>
            </a:r>
            <a:r>
              <a:rPr lang="en-US" altLang="en-US" sz="2000" i="1" dirty="0"/>
              <a:t>right</a:t>
            </a:r>
            <a:r>
              <a:rPr lang="en-US" altLang="en-US" sz="2000" dirty="0"/>
              <a:t> of grandparent</a:t>
            </a:r>
          </a:p>
          <a:p>
            <a:pPr marL="0" indent="0" eaLnBrk="1" hangingPunct="1">
              <a:buNone/>
            </a:pPr>
            <a:endParaRPr lang="en-US" altLang="en-US" sz="2400" dirty="0"/>
          </a:p>
        </p:txBody>
      </p:sp>
      <p:sp>
        <p:nvSpPr>
          <p:cNvPr id="2" name="Slide Number Placeholder 1"/>
          <p:cNvSpPr>
            <a:spLocks noGrp="1"/>
          </p:cNvSpPr>
          <p:nvPr>
            <p:ph type="sldNum" sz="quarter" idx="12"/>
          </p:nvPr>
        </p:nvSpPr>
        <p:spPr/>
        <p:txBody>
          <a:bodyPr/>
          <a:lstStyle/>
          <a:p>
            <a:pPr>
              <a:defRPr/>
            </a:pPr>
            <a:fld id="{9E9676BE-5AF2-4172-BD19-31A2F83EF2EB}" type="slidenum">
              <a:rPr lang="en-US" smtClean="0"/>
              <a:pPr>
                <a:defRPr/>
              </a:pPr>
              <a:t>17</a:t>
            </a:fld>
            <a:endParaRPr lang="en-US"/>
          </a:p>
        </p:txBody>
      </p:sp>
      <p:sp>
        <p:nvSpPr>
          <p:cNvPr id="6" name="Date Placeholder 5"/>
          <p:cNvSpPr>
            <a:spLocks noGrp="1"/>
          </p:cNvSpPr>
          <p:nvPr>
            <p:ph type="dt" sz="half" idx="10"/>
          </p:nvPr>
        </p:nvSpPr>
        <p:spPr/>
        <p:txBody>
          <a:bodyPr/>
          <a:lstStyle/>
          <a:p>
            <a:pPr>
              <a:defRPr/>
            </a:pPr>
            <a:fld id="{E0AC2326-2D03-4F13-B44C-BB71BC7BF83F}" type="datetime1">
              <a:rPr lang="en-US" smtClean="0"/>
              <a:t>8/16/2021</a:t>
            </a:fld>
            <a:endParaRPr lang="en-US"/>
          </a:p>
        </p:txBody>
      </p:sp>
      <p:sp>
        <p:nvSpPr>
          <p:cNvPr id="7" name="Footer Placeholder 6"/>
          <p:cNvSpPr>
            <a:spLocks noGrp="1"/>
          </p:cNvSpPr>
          <p:nvPr>
            <p:ph type="ftr" sz="quarter" idx="11"/>
          </p:nvPr>
        </p:nvSpPr>
        <p:spPr/>
        <p:txBody>
          <a:bodyPr/>
          <a:lstStyle/>
          <a:p>
            <a:pPr>
              <a:defRPr/>
            </a:pPr>
            <a:r>
              <a:rPr lang="en-US" sz="1000" dirty="0"/>
              <a:t>Copyright (c) John K. </a:t>
            </a:r>
            <a:r>
              <a:rPr lang="en-US" sz="1000" dirty="0" err="1"/>
              <a:t>Ostlund</a:t>
            </a:r>
            <a:endParaRPr lang="en-US" sz="1000" dirty="0"/>
          </a:p>
        </p:txBody>
      </p:sp>
    </p:spTree>
    <p:extLst>
      <p:ext uri="{BB962C8B-B14F-4D97-AF65-F5344CB8AC3E}">
        <p14:creationId xmlns:p14="http://schemas.microsoft.com/office/powerpoint/2010/main" val="3438036101"/>
      </p:ext>
    </p:extLst>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62044</TotalTime>
  <Words>2451</Words>
  <Application>Microsoft Office PowerPoint</Application>
  <PresentationFormat>On-screen Show (4:3)</PresentationFormat>
  <Paragraphs>308</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Courier New</vt:lpstr>
      <vt:lpstr>Tahoma</vt:lpstr>
      <vt:lpstr>Times New Roman</vt:lpstr>
      <vt:lpstr>Wingdings</vt:lpstr>
      <vt:lpstr>Blends</vt:lpstr>
      <vt:lpstr>MSCF Programming Prep 46-900</vt:lpstr>
      <vt:lpstr>Linked List Search Time</vt:lpstr>
      <vt:lpstr>Unbalanced BST</vt:lpstr>
      <vt:lpstr>Unbalanced BST (cont.)</vt:lpstr>
      <vt:lpstr>Balanced BST</vt:lpstr>
      <vt:lpstr>Complete BST</vt:lpstr>
      <vt:lpstr>Search Time: Complete BST</vt:lpstr>
      <vt:lpstr>Search Time: Balanced BST</vt:lpstr>
      <vt:lpstr>Problem: How To Maintain A Balanced BST</vt:lpstr>
      <vt:lpstr>Red-Black Tree Properties</vt:lpstr>
      <vt:lpstr>Red-Black Tree Examples</vt:lpstr>
      <vt:lpstr>Search Time: Red-Black Tree</vt:lpstr>
      <vt:lpstr>Red-Black Tree Insert</vt:lpstr>
      <vt:lpstr>Red-Black Tree Insert (cont.)</vt:lpstr>
      <vt:lpstr>Red-Black Tree Insert (cont.)</vt:lpstr>
      <vt:lpstr>Red-Black Tree Insert (cont.)</vt:lpstr>
      <vt:lpstr>Red-Black Tree Insert (cont.)</vt:lpstr>
    </vt:vector>
  </TitlesOfParts>
  <Company>CMU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46-691</dc:title>
  <dc:creator>The Heinz School</dc:creator>
  <cp:lastModifiedBy>John</cp:lastModifiedBy>
  <cp:revision>943</cp:revision>
  <cp:lastPrinted>2020-08-22T17:42:22Z</cp:lastPrinted>
  <dcterms:created xsi:type="dcterms:W3CDTF">2003-08-31T19:53:38Z</dcterms:created>
  <dcterms:modified xsi:type="dcterms:W3CDTF">2021-08-17T12:41:07Z</dcterms:modified>
</cp:coreProperties>
</file>
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7"/>
  </p:notesMasterIdLst>
  <p:sldIdLst>
    <p:sldId id="257" r:id="rId2"/>
    <p:sldId id="727" r:id="rId3"/>
    <p:sldId id="837" r:id="rId4"/>
    <p:sldId id="772" r:id="rId5"/>
    <p:sldId id="838" r:id="rId6"/>
    <p:sldId id="839" r:id="rId7"/>
    <p:sldId id="777" r:id="rId8"/>
    <p:sldId id="752" r:id="rId9"/>
    <p:sldId id="840" r:id="rId10"/>
    <p:sldId id="841" r:id="rId11"/>
    <p:sldId id="842" r:id="rId12"/>
    <p:sldId id="843" r:id="rId13"/>
    <p:sldId id="844" r:id="rId14"/>
    <p:sldId id="845" r:id="rId15"/>
    <p:sldId id="846" r:id="rId16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61" autoAdjust="0"/>
    <p:restoredTop sz="95638" autoAdjust="0"/>
  </p:normalViewPr>
  <p:slideViewPr>
    <p:cSldViewPr>
      <p:cViewPr varScale="1">
        <p:scale>
          <a:sx n="104" d="100"/>
          <a:sy n="104" d="100"/>
        </p:scale>
        <p:origin x="126" y="14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496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8" d="100"/>
          <a:sy n="118" d="100"/>
        </p:scale>
        <p:origin x="406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8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4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2188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1" y="4560570"/>
            <a:ext cx="585216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47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8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C3966094-34ED-42CC-B0A0-81B4FC9F4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9004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0C77F19E-6305-42C9-846D-8F6E264C89DD}" type="slidenum">
              <a:rPr lang="en-US" altLang="en-US" smtClean="0">
                <a:latin typeface="Times New Roman" pitchFamily="18" charset="0"/>
              </a:rPr>
              <a:pPr/>
              <a:t>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868089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708744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031749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278768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5744304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8048936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8602812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5705165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7441675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7349252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7698953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0598714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9974645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692254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382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82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451A546F-806A-4916-A722-C4497DFD22C4}" type="datetime1">
              <a:rPr lang="en-US" smtClean="0"/>
              <a:t>8/8/2021</a:t>
            </a:fld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5239B93A-74DE-4B25-B352-2D94A7B0EC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8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66DB2E-05FD-4E02-BDBB-5F8876F1F81B}" type="datetime1">
              <a:rPr lang="en-US" smtClean="0"/>
              <a:t>8/8/2021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9676BE-5AF2-4172-BD19-31A2F83EF2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231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A5BC40-C0CA-403D-A182-DB6B7CD54EF0}" type="datetime1">
              <a:rPr lang="en-US" smtClean="0"/>
              <a:t>8/8/2021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441145-DF2F-4F5F-87FB-6F34B812BF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570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BAFA41-984E-409B-A306-691035BEA148}" type="datetime1">
              <a:rPr lang="en-US" smtClean="0"/>
              <a:t>8/8/2021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3359A0-D876-470E-A03B-B54B4EF9A5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32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E447AE-53BA-49A5-AF00-C1E375E33A3B}" type="datetime1">
              <a:rPr lang="en-US" smtClean="0"/>
              <a:t>8/8/2021</a:t>
            </a:fld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55BDD2-431D-4473-B6F1-AD9C47ED04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90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97A6F0-30AC-4AD0-A5B1-E8FF7D751BE6}" type="datetime1">
              <a:rPr lang="en-US" smtClean="0"/>
              <a:t>8/8/2021</a:t>
            </a:fld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C0419-96C4-40C9-AA2D-27D42EB4E3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91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4430ED-3079-4BF3-83A3-9C452D2905CD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62B98-9A01-4C44-BDC6-515C05E58F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648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75A946-6194-4DC9-A610-D66B2CA85B43}" type="datetime1">
              <a:rPr lang="en-US" smtClean="0"/>
              <a:t>8/8/2021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2D8208-D527-49A2-9034-D654B1EF28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74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AB41BC-FEAB-4FF2-B81C-73BBC796BFBB}" type="datetime1">
              <a:rPr lang="en-US" smtClean="0"/>
              <a:t>8/8/2021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169637-7F5D-47B5-84F3-031C50CD82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04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A1B36-156C-441D-8F5D-8D05B7AAE9F5}" type="datetime1">
              <a:rPr lang="en-US" smtClean="0"/>
              <a:t>8/8/2021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9F3A7A-80FC-4CCB-802A-CD06628E14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063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D323C8-D5DD-4858-8D00-75FFB568DF9D}" type="datetime1">
              <a:rPr lang="en-US" smtClean="0"/>
              <a:t>8/8/2021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F157A-85D2-470A-87E4-A935A04F8C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54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722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fld id="{1A402B15-CF07-48BE-8BDB-C3085399C7FB}" type="datetime1">
              <a:rPr lang="en-US" smtClean="0"/>
              <a:t>8/8/2021</a:t>
            </a:fld>
            <a:endParaRPr lang="en-US"/>
          </a:p>
        </p:txBody>
      </p:sp>
      <p:sp>
        <p:nvSpPr>
          <p:cNvPr id="13722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13722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B6BFBACB-D4B5-4FCB-958C-A311D48A19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MSCF Programming Prep</a:t>
            </a:r>
            <a:br>
              <a:rPr lang="en-US" altLang="en-US" dirty="0"/>
            </a:br>
            <a:r>
              <a:rPr lang="en-US" altLang="en-US" dirty="0"/>
              <a:t>46-900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2209800"/>
          </a:xfrm>
        </p:spPr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dirty="0"/>
              <a:t>MSCF, Carnegie Mellon University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dirty="0"/>
              <a:t>Day 4, Part 2: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dirty="0"/>
              <a:t>Dynamic Programming: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dirty="0"/>
              <a:t>Longest Increasing Subsequence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943F20C-CF11-4D17-AEB9-BB7B37E2131A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6CEA7-82DF-4E8D-A6C5-BE0603271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39B93A-74DE-4B25-B352-2D94A7B0ECE9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Longest Increasing Subsequence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Given a sequence of </a:t>
            </a:r>
            <a:r>
              <a:rPr lang="en-US" altLang="en-US" sz="2600" i="1" dirty="0"/>
              <a:t>n</a:t>
            </a:r>
            <a:r>
              <a:rPr lang="en-US" altLang="en-US" sz="2600" dirty="0"/>
              <a:t> arbitrary values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	 </a:t>
            </a:r>
            <a:r>
              <a:rPr lang="en-US" altLang="en-US" sz="2000" i="1" dirty="0"/>
              <a:t>v</a:t>
            </a:r>
            <a:r>
              <a:rPr lang="en-US" altLang="en-US" sz="2000" i="1" baseline="-25000" dirty="0"/>
              <a:t>1</a:t>
            </a:r>
            <a:r>
              <a:rPr lang="en-US" altLang="en-US" sz="2000" dirty="0"/>
              <a:t>, </a:t>
            </a:r>
            <a:r>
              <a:rPr lang="en-US" altLang="en-US" sz="2000" i="1" dirty="0"/>
              <a:t>v</a:t>
            </a:r>
            <a:r>
              <a:rPr lang="en-US" altLang="en-US" sz="2000" i="1" baseline="-25000" dirty="0"/>
              <a:t>2</a:t>
            </a:r>
            <a:r>
              <a:rPr lang="en-US" altLang="en-US" sz="2000" dirty="0"/>
              <a:t>, …, </a:t>
            </a:r>
            <a:r>
              <a:rPr lang="en-US" altLang="en-US" sz="2000" i="1" dirty="0" err="1"/>
              <a:t>v</a:t>
            </a:r>
            <a:r>
              <a:rPr lang="en-US" altLang="en-US" sz="2000" i="1" baseline="-25000" dirty="0" err="1"/>
              <a:t>n</a:t>
            </a:r>
            <a:endParaRPr lang="en-US" altLang="en-US" sz="2000" i="1" baseline="-25000" dirty="0"/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An </a:t>
            </a:r>
            <a:r>
              <a:rPr lang="en-US" altLang="en-US" sz="2600" i="1" dirty="0"/>
              <a:t>increasing subsequence</a:t>
            </a:r>
            <a:r>
              <a:rPr lang="en-US" altLang="en-US" sz="2600" dirty="0"/>
              <a:t> is a subsequence of these values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i="1" dirty="0">
                <a:solidFill>
                  <a:srgbClr val="0070C0"/>
                </a:solidFill>
              </a:rPr>
              <a:t>	</a:t>
            </a:r>
            <a:r>
              <a:rPr lang="en-US" altLang="en-US" sz="2000" dirty="0"/>
              <a:t> </a:t>
            </a:r>
            <a:r>
              <a:rPr lang="en-US" altLang="en-US" sz="2000" i="1" dirty="0" err="1"/>
              <a:t>v</a:t>
            </a:r>
            <a:r>
              <a:rPr lang="en-US" altLang="en-US" sz="2000" i="1" baseline="-25000" dirty="0" err="1"/>
              <a:t>j</a:t>
            </a:r>
            <a:r>
              <a:rPr lang="en-US" altLang="en-US" sz="2000" i="1" baseline="-25000" dirty="0"/>
              <a:t>(1)</a:t>
            </a:r>
            <a:r>
              <a:rPr lang="en-US" altLang="en-US" sz="2000" dirty="0"/>
              <a:t>, </a:t>
            </a:r>
            <a:r>
              <a:rPr lang="en-US" altLang="en-US" sz="2000" i="1" dirty="0" err="1"/>
              <a:t>v</a:t>
            </a:r>
            <a:r>
              <a:rPr lang="en-US" altLang="en-US" sz="2000" i="1" baseline="-25000" dirty="0" err="1"/>
              <a:t>j</a:t>
            </a:r>
            <a:r>
              <a:rPr lang="en-US" altLang="en-US" sz="2000" i="1" baseline="-25000" dirty="0"/>
              <a:t>(2)</a:t>
            </a:r>
            <a:r>
              <a:rPr lang="en-US" altLang="en-US" sz="2000" dirty="0"/>
              <a:t>, …, </a:t>
            </a:r>
            <a:r>
              <a:rPr lang="en-US" altLang="en-US" sz="2000" i="1" dirty="0" err="1"/>
              <a:t>v</a:t>
            </a:r>
            <a:r>
              <a:rPr lang="en-US" altLang="en-US" sz="2000" i="1" baseline="-25000" dirty="0" err="1"/>
              <a:t>j</a:t>
            </a:r>
            <a:r>
              <a:rPr lang="en-US" altLang="en-US" sz="2000" i="1" baseline="-25000" dirty="0"/>
              <a:t>(k)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i="1" dirty="0">
              <a:solidFill>
                <a:srgbClr val="0070C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600" dirty="0"/>
              <a:t>   such that: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1 &lt;= </a:t>
            </a:r>
            <a:r>
              <a:rPr lang="en-US" altLang="en-US" sz="2000" i="1" dirty="0"/>
              <a:t>j(1)</a:t>
            </a:r>
            <a:r>
              <a:rPr lang="en-US" altLang="en-US" sz="2000" dirty="0"/>
              <a:t> &lt; </a:t>
            </a:r>
            <a:r>
              <a:rPr lang="en-US" altLang="en-US" sz="2000" i="1" dirty="0"/>
              <a:t>j(2)</a:t>
            </a:r>
            <a:r>
              <a:rPr lang="en-US" altLang="en-US" sz="2000" dirty="0"/>
              <a:t> … &lt; </a:t>
            </a:r>
            <a:r>
              <a:rPr lang="en-US" altLang="en-US" sz="2000" i="1" dirty="0"/>
              <a:t>j(k)</a:t>
            </a:r>
            <a:r>
              <a:rPr lang="en-US" altLang="en-US" sz="2000" dirty="0"/>
              <a:t> &lt;= </a:t>
            </a:r>
            <a:r>
              <a:rPr lang="en-US" altLang="en-US" sz="2000" i="1" dirty="0"/>
              <a:t>n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i="1" dirty="0" err="1"/>
              <a:t>v</a:t>
            </a:r>
            <a:r>
              <a:rPr lang="en-US" altLang="en-US" sz="2000" i="1" baseline="-25000" dirty="0" err="1"/>
              <a:t>j</a:t>
            </a:r>
            <a:r>
              <a:rPr lang="en-US" altLang="en-US" sz="2000" i="1" baseline="-25000" dirty="0"/>
              <a:t>(m)</a:t>
            </a:r>
            <a:r>
              <a:rPr lang="en-US" altLang="en-US" sz="2000" dirty="0"/>
              <a:t> &lt; </a:t>
            </a:r>
            <a:r>
              <a:rPr lang="en-US" altLang="en-US" sz="2000" i="1" dirty="0" err="1"/>
              <a:t>v</a:t>
            </a:r>
            <a:r>
              <a:rPr lang="en-US" altLang="en-US" sz="2000" i="1" baseline="-25000" dirty="0" err="1"/>
              <a:t>j</a:t>
            </a:r>
            <a:r>
              <a:rPr lang="en-US" altLang="en-US" sz="2000" i="1" baseline="-25000" dirty="0"/>
              <a:t>(m+1)</a:t>
            </a:r>
            <a:r>
              <a:rPr lang="en-US" altLang="en-US" sz="2000" dirty="0"/>
              <a:t> for all </a:t>
            </a:r>
            <a:r>
              <a:rPr lang="en-US" altLang="en-US" sz="2000" i="1" dirty="0"/>
              <a:t>m</a:t>
            </a:r>
            <a:r>
              <a:rPr lang="en-US" altLang="en-US" sz="2000" dirty="0"/>
              <a:t> in 1, 2, …, </a:t>
            </a:r>
            <a:r>
              <a:rPr lang="en-US" altLang="en-US" sz="2000" i="1" dirty="0"/>
              <a:t>n</a:t>
            </a:r>
            <a:r>
              <a:rPr lang="en-US" altLang="en-US" sz="2000" dirty="0"/>
              <a:t>-1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dirty="0"/>
          </a:p>
          <a:p>
            <a:pPr eaLnBrk="1" hangingPunct="1">
              <a:spcBef>
                <a:spcPts val="0"/>
              </a:spcBef>
            </a:pPr>
            <a:r>
              <a:rPr lang="en-US" altLang="en-US" sz="2600" i="1" dirty="0"/>
              <a:t>"Longest increasing subsequence"</a:t>
            </a:r>
            <a:r>
              <a:rPr lang="en-US" altLang="en-US" sz="2600" dirty="0"/>
              <a:t> defines itself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17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Longest Increasing Subsequence Example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Given this sequence: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	5, 12, 2, 7, 1, 8, 13, 2</a:t>
            </a:r>
            <a:endParaRPr lang="en-US" altLang="en-US" sz="2000" i="1" baseline="-25000" dirty="0"/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600" i="1" dirty="0"/>
              <a:t>Increasing subsequences</a:t>
            </a:r>
            <a:r>
              <a:rPr lang="en-US" altLang="en-US" sz="2600" dirty="0"/>
              <a:t> of this sequence include: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	5, 12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	2, 7, 13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The </a:t>
            </a:r>
            <a:r>
              <a:rPr lang="en-US" altLang="en-US" sz="2600" i="1" dirty="0"/>
              <a:t>longest increasing subsequences</a:t>
            </a:r>
            <a:r>
              <a:rPr lang="en-US" altLang="en-US" sz="2600" dirty="0"/>
              <a:t> of this sequence are: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	5, 7, 8, 13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	2, 7, 8, 13</a:t>
            </a:r>
          </a:p>
          <a:p>
            <a:pPr eaLnBrk="1" hangingPunct="1">
              <a:spcBef>
                <a:spcPts val="0"/>
              </a:spcBef>
            </a:pPr>
            <a:endParaRPr lang="en-US" altLang="en-US" sz="2800" dirty="0"/>
          </a:p>
          <a:p>
            <a:pPr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440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Longest Increasing Subsequence Problem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Find </a:t>
            </a:r>
            <a:r>
              <a:rPr lang="en-US" altLang="en-US" sz="2800" i="1" dirty="0"/>
              <a:t>a</a:t>
            </a:r>
            <a:r>
              <a:rPr lang="en-US" altLang="en-US" sz="2800" dirty="0"/>
              <a:t> longest increasing subsequence in an arbitrary sequence of values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	 </a:t>
            </a:r>
            <a:r>
              <a:rPr lang="en-US" altLang="en-US" sz="2000" i="1" dirty="0"/>
              <a:t>v</a:t>
            </a:r>
            <a:r>
              <a:rPr lang="en-US" altLang="en-US" sz="2000" i="1" baseline="-25000" dirty="0"/>
              <a:t>1</a:t>
            </a:r>
            <a:r>
              <a:rPr lang="en-US" altLang="en-US" sz="2000" dirty="0"/>
              <a:t>, </a:t>
            </a:r>
            <a:r>
              <a:rPr lang="en-US" altLang="en-US" sz="2000" i="1" dirty="0"/>
              <a:t>v</a:t>
            </a:r>
            <a:r>
              <a:rPr lang="en-US" altLang="en-US" sz="2000" i="1" baseline="-25000" dirty="0"/>
              <a:t>2</a:t>
            </a:r>
            <a:r>
              <a:rPr lang="en-US" altLang="en-US" sz="2000" dirty="0"/>
              <a:t>, …, </a:t>
            </a:r>
            <a:r>
              <a:rPr lang="en-US" altLang="en-US" sz="2000" i="1" dirty="0" err="1"/>
              <a:t>v</a:t>
            </a:r>
            <a:r>
              <a:rPr lang="en-US" altLang="en-US" sz="2000" i="1" baseline="-25000" dirty="0" err="1"/>
              <a:t>n</a:t>
            </a:r>
            <a:endParaRPr lang="en-US" altLang="en-US" sz="2000" i="1" baseline="-25000" dirty="0"/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(</a:t>
            </a:r>
            <a:r>
              <a:rPr lang="en-US" altLang="en-US" sz="2400" i="1" dirty="0"/>
              <a:t>Or</a:t>
            </a:r>
            <a:r>
              <a:rPr lang="en-US" altLang="en-US" sz="2400" dirty="0"/>
              <a:t>, find the </a:t>
            </a:r>
            <a:r>
              <a:rPr lang="en-US" altLang="en-US" sz="2400" i="1" dirty="0"/>
              <a:t>length</a:t>
            </a:r>
            <a:r>
              <a:rPr lang="en-US" altLang="en-US" sz="2400" dirty="0"/>
              <a:t> of a longest increasing subsequence)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9FCB5E-EF5C-4309-AE2E-F54883A38B54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3EC09-4B5B-4C1F-8968-E8E50788C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178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Recursive Formulation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In a longest increasing subsequence (LIS) of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	 </a:t>
            </a:r>
            <a:r>
              <a:rPr lang="en-US" altLang="en-US" sz="2000" i="1" dirty="0"/>
              <a:t>v</a:t>
            </a:r>
            <a:r>
              <a:rPr lang="en-US" altLang="en-US" sz="2000" i="1" baseline="-25000" dirty="0"/>
              <a:t>1</a:t>
            </a:r>
            <a:r>
              <a:rPr lang="en-US" altLang="en-US" sz="2000" dirty="0"/>
              <a:t>, </a:t>
            </a:r>
            <a:r>
              <a:rPr lang="en-US" altLang="en-US" sz="2000" i="1" dirty="0"/>
              <a:t>v</a:t>
            </a:r>
            <a:r>
              <a:rPr lang="en-US" altLang="en-US" sz="2000" i="1" baseline="-25000" dirty="0"/>
              <a:t>2</a:t>
            </a:r>
            <a:r>
              <a:rPr lang="en-US" altLang="en-US" sz="2000" dirty="0"/>
              <a:t>, …, </a:t>
            </a:r>
            <a:r>
              <a:rPr lang="en-US" altLang="en-US" sz="2000" i="1" dirty="0" err="1"/>
              <a:t>v</a:t>
            </a:r>
            <a:r>
              <a:rPr lang="en-US" altLang="en-US" sz="2000" i="1" baseline="-25000" dirty="0" err="1"/>
              <a:t>n</a:t>
            </a:r>
            <a:endParaRPr lang="en-US" altLang="en-US" sz="2000" i="1" baseline="-25000" dirty="0"/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>
                <a:solidFill>
                  <a:srgbClr val="0070C0"/>
                </a:solidFill>
              </a:rPr>
              <a:t>Either </a:t>
            </a:r>
            <a:r>
              <a:rPr lang="en-US" altLang="en-US" sz="2000" i="1" dirty="0" err="1">
                <a:solidFill>
                  <a:srgbClr val="0070C0"/>
                </a:solidFill>
              </a:rPr>
              <a:t>v</a:t>
            </a:r>
            <a:r>
              <a:rPr lang="en-US" altLang="en-US" sz="2000" i="1" baseline="-25000" dirty="0" err="1">
                <a:solidFill>
                  <a:srgbClr val="0070C0"/>
                </a:solidFill>
              </a:rPr>
              <a:t>n</a:t>
            </a:r>
            <a:r>
              <a:rPr lang="en-US" altLang="en-US" sz="2000" dirty="0">
                <a:solidFill>
                  <a:srgbClr val="0070C0"/>
                </a:solidFill>
              </a:rPr>
              <a:t> </a:t>
            </a:r>
            <a:r>
              <a:rPr lang="en-US" altLang="en-US" sz="2000" i="1" dirty="0">
                <a:solidFill>
                  <a:srgbClr val="0070C0"/>
                </a:solidFill>
              </a:rPr>
              <a:t>is</a:t>
            </a:r>
            <a:r>
              <a:rPr lang="en-US" altLang="en-US" sz="2000" dirty="0">
                <a:solidFill>
                  <a:srgbClr val="0070C0"/>
                </a:solidFill>
              </a:rPr>
              <a:t> in the LIS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1600" dirty="0">
                <a:solidFill>
                  <a:srgbClr val="0070C0"/>
                </a:solidFill>
              </a:rPr>
              <a:t>Find LIS(</a:t>
            </a:r>
            <a:r>
              <a:rPr lang="en-US" altLang="en-US" sz="1600" i="1" dirty="0"/>
              <a:t>v</a:t>
            </a:r>
            <a:r>
              <a:rPr lang="en-US" altLang="en-US" sz="1600" i="1" baseline="-25000" dirty="0"/>
              <a:t>1</a:t>
            </a:r>
            <a:r>
              <a:rPr lang="en-US" altLang="en-US" sz="1600" dirty="0"/>
              <a:t>, </a:t>
            </a:r>
            <a:r>
              <a:rPr lang="en-US" altLang="en-US" sz="1600" i="1" dirty="0"/>
              <a:t>v</a:t>
            </a:r>
            <a:r>
              <a:rPr lang="en-US" altLang="en-US" sz="1600" i="1" baseline="-25000" dirty="0"/>
              <a:t>2</a:t>
            </a:r>
            <a:r>
              <a:rPr lang="en-US" altLang="en-US" sz="1600" dirty="0"/>
              <a:t>, …, </a:t>
            </a:r>
            <a:r>
              <a:rPr lang="en-US" altLang="en-US" sz="1600" i="1" dirty="0"/>
              <a:t>v</a:t>
            </a:r>
            <a:r>
              <a:rPr lang="en-US" altLang="en-US" sz="1600" i="1" baseline="-25000" dirty="0"/>
              <a:t>n-1</a:t>
            </a:r>
            <a:r>
              <a:rPr lang="en-US" altLang="en-US" sz="1600" dirty="0"/>
              <a:t>, such that </a:t>
            </a:r>
            <a:r>
              <a:rPr lang="en-US" altLang="en-US" sz="1600" i="1" dirty="0" err="1"/>
              <a:t>v</a:t>
            </a:r>
            <a:r>
              <a:rPr lang="en-US" altLang="en-US" sz="1600" i="1" baseline="-25000" dirty="0" err="1"/>
              <a:t>k</a:t>
            </a:r>
            <a:r>
              <a:rPr lang="en-US" altLang="en-US" sz="1600" dirty="0"/>
              <a:t> &lt; </a:t>
            </a:r>
            <a:r>
              <a:rPr lang="en-US" altLang="en-US" sz="1600" i="1" dirty="0" err="1"/>
              <a:t>v</a:t>
            </a:r>
            <a:r>
              <a:rPr lang="en-US" altLang="en-US" sz="1600" i="1" baseline="-25000" dirty="0" err="1"/>
              <a:t>n</a:t>
            </a:r>
            <a:r>
              <a:rPr lang="en-US" altLang="en-US" sz="1600" dirty="0">
                <a:solidFill>
                  <a:srgbClr val="0070C0"/>
                </a:solidFill>
              </a:rPr>
              <a:t>), </a:t>
            </a:r>
            <a:r>
              <a:rPr lang="en-US" altLang="en-US" sz="1600" i="1" dirty="0" err="1"/>
              <a:t>v</a:t>
            </a:r>
            <a:r>
              <a:rPr lang="en-US" altLang="en-US" sz="1600" i="1" baseline="-25000" dirty="0" err="1"/>
              <a:t>n</a:t>
            </a:r>
            <a:endParaRPr lang="en-US" altLang="en-US" sz="1600" dirty="0">
              <a:solidFill>
                <a:srgbClr val="0070C0"/>
              </a:solidFill>
            </a:endParaRP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>
                <a:solidFill>
                  <a:srgbClr val="00B050"/>
                </a:solidFill>
              </a:rPr>
              <a:t>Or </a:t>
            </a:r>
            <a:r>
              <a:rPr lang="en-US" altLang="en-US" sz="2000" i="1" dirty="0" err="1">
                <a:solidFill>
                  <a:srgbClr val="00B050"/>
                </a:solidFill>
              </a:rPr>
              <a:t>v</a:t>
            </a:r>
            <a:r>
              <a:rPr lang="en-US" altLang="en-US" sz="2000" i="1" baseline="-25000" dirty="0" err="1">
                <a:solidFill>
                  <a:srgbClr val="00B050"/>
                </a:solidFill>
              </a:rPr>
              <a:t>n</a:t>
            </a:r>
            <a:r>
              <a:rPr lang="en-US" altLang="en-US" sz="2000" dirty="0">
                <a:solidFill>
                  <a:srgbClr val="00B050"/>
                </a:solidFill>
              </a:rPr>
              <a:t> is </a:t>
            </a:r>
            <a:r>
              <a:rPr lang="en-US" altLang="en-US" sz="2000" i="1" dirty="0">
                <a:solidFill>
                  <a:srgbClr val="00B050"/>
                </a:solidFill>
              </a:rPr>
              <a:t>not</a:t>
            </a:r>
            <a:r>
              <a:rPr lang="en-US" altLang="en-US" sz="2000" dirty="0">
                <a:solidFill>
                  <a:srgbClr val="00B050"/>
                </a:solidFill>
              </a:rPr>
              <a:t> in the LIS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1600" dirty="0">
                <a:solidFill>
                  <a:srgbClr val="00B050"/>
                </a:solidFill>
              </a:rPr>
              <a:t>Find LIS(</a:t>
            </a:r>
            <a:r>
              <a:rPr lang="en-US" altLang="en-US" sz="1600" i="1" dirty="0"/>
              <a:t>v</a:t>
            </a:r>
            <a:r>
              <a:rPr lang="en-US" altLang="en-US" sz="1600" i="1" baseline="-25000" dirty="0"/>
              <a:t>1</a:t>
            </a:r>
            <a:r>
              <a:rPr lang="en-US" altLang="en-US" sz="1600" dirty="0"/>
              <a:t>, </a:t>
            </a:r>
            <a:r>
              <a:rPr lang="en-US" altLang="en-US" sz="1600" i="1" dirty="0"/>
              <a:t>v</a:t>
            </a:r>
            <a:r>
              <a:rPr lang="en-US" altLang="en-US" sz="1600" i="1" baseline="-25000" dirty="0"/>
              <a:t>2</a:t>
            </a:r>
            <a:r>
              <a:rPr lang="en-US" altLang="en-US" sz="1600" dirty="0"/>
              <a:t>, …, </a:t>
            </a:r>
            <a:r>
              <a:rPr lang="en-US" altLang="en-US" sz="1600" i="1" dirty="0"/>
              <a:t>v</a:t>
            </a:r>
            <a:r>
              <a:rPr lang="en-US" altLang="en-US" sz="1600" i="1" baseline="-25000" dirty="0"/>
              <a:t>n-1</a:t>
            </a:r>
            <a:r>
              <a:rPr lang="en-US" altLang="en-US" sz="1600" dirty="0">
                <a:solidFill>
                  <a:srgbClr val="00B050"/>
                </a:solidFill>
              </a:rPr>
              <a:t>)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Stopping criterion: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1600" dirty="0"/>
              <a:t>LIS(</a:t>
            </a:r>
            <a:r>
              <a:rPr lang="en-US" altLang="en-US" sz="1600" i="1" dirty="0"/>
              <a:t>v</a:t>
            </a:r>
            <a:r>
              <a:rPr lang="en-US" altLang="en-US" sz="1600" i="1" baseline="-25000" dirty="0"/>
              <a:t>1</a:t>
            </a:r>
            <a:r>
              <a:rPr lang="en-US" altLang="en-US" sz="1600" dirty="0"/>
              <a:t>) == </a:t>
            </a:r>
            <a:r>
              <a:rPr lang="en-US" altLang="en-US" sz="1600" i="1" dirty="0"/>
              <a:t>v</a:t>
            </a:r>
            <a:r>
              <a:rPr lang="en-US" altLang="en-US" sz="1600" i="1" baseline="-25000" dirty="0"/>
              <a:t>1</a:t>
            </a:r>
          </a:p>
          <a:p>
            <a:pPr eaLnBrk="1" hangingPunct="1">
              <a:spcBef>
                <a:spcPts val="0"/>
              </a:spcBef>
            </a:pPr>
            <a:endParaRPr lang="en-US" altLang="en-US" sz="2400" i="1" baseline="-25000" dirty="0"/>
          </a:p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A naïve implementation results in the usual exponential running time</a:t>
            </a:r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9FCB5E-EF5C-4309-AE2E-F54883A38B54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3EC09-4B5B-4C1F-8968-E8E50788C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111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Memoization</a:t>
            </a:r>
            <a:endParaRPr lang="en-US" altLang="en-US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Instead, let's keep track of the LIS length for each </a:t>
            </a:r>
            <a:r>
              <a:rPr lang="en-US" altLang="en-US" sz="2400" i="1" dirty="0" err="1"/>
              <a:t>v</a:t>
            </a:r>
            <a:r>
              <a:rPr lang="en-US" altLang="en-US" sz="2400" i="1" baseline="-25000" dirty="0" err="1"/>
              <a:t>k</a:t>
            </a:r>
            <a:r>
              <a:rPr lang="en-US" altLang="en-US" sz="2400" dirty="0"/>
              <a:t>, as </a:t>
            </a:r>
            <a:r>
              <a:rPr lang="en-US" altLang="en-US" sz="2400" i="1" dirty="0"/>
              <a:t>k</a:t>
            </a:r>
            <a:r>
              <a:rPr lang="en-US" altLang="en-US" sz="2400" dirty="0"/>
              <a:t> goes from 1 to </a:t>
            </a:r>
            <a:r>
              <a:rPr lang="en-US" altLang="en-US" sz="2400" i="1" dirty="0"/>
              <a:t>n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Just need a 1-dimensional array, </a:t>
            </a:r>
            <a:r>
              <a:rPr lang="en-US" altLang="en-US" sz="2000" b="1" dirty="0"/>
              <a:t>lengths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2000" dirty="0"/>
          </a:p>
          <a:p>
            <a:pPr lvl="1" eaLnBrk="1" hangingPunct="1">
              <a:spcBef>
                <a:spcPts val="0"/>
              </a:spcBef>
            </a:pPr>
            <a:endParaRPr lang="en-US" altLang="en-US" sz="2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600" b="1" dirty="0"/>
              <a:t>     lengths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4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75E97C3-441E-47E9-A652-2A48102852A4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AD0BB-F262-4477-9851-81D3701D1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54C6E6DA-F961-486D-89AD-0362BBE9A03B}"/>
              </a:ext>
            </a:extLst>
          </p:cNvPr>
          <p:cNvGraphicFramePr>
            <a:graphicFrameLocks noGrp="1"/>
          </p:cNvGraphicFramePr>
          <p:nvPr/>
        </p:nvGraphicFramePr>
        <p:xfrm>
          <a:off x="2514600" y="3276600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v</a:t>
                      </a:r>
                      <a:r>
                        <a:rPr lang="en-US" sz="1200" b="0" kern="1200" baseline="-250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v</a:t>
                      </a:r>
                      <a:r>
                        <a:rPr lang="en-US" sz="1200" b="0" kern="1200" baseline="-250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v</a:t>
                      </a:r>
                      <a:r>
                        <a:rPr lang="en-US" sz="1200" b="0" kern="1200" baseline="-250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v</a:t>
                      </a:r>
                      <a:r>
                        <a:rPr lang="en-US" sz="1200" b="0" kern="1200" baseline="-250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v</a:t>
                      </a:r>
                      <a:r>
                        <a:rPr lang="en-US" sz="1200" b="0" kern="1200" baseline="-250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5</a:t>
                      </a:r>
                      <a:endParaRPr lang="en-US" sz="1200" b="0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v</a:t>
                      </a:r>
                      <a:r>
                        <a:rPr lang="en-US" sz="1200" b="0" kern="1200" baseline="-250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6</a:t>
                      </a:r>
                      <a:endParaRPr lang="en-US" sz="1200" b="0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kern="1200" dirty="0" err="1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v</a:t>
                      </a:r>
                      <a:r>
                        <a:rPr lang="en-US" sz="1200" b="0" kern="1200" baseline="-25000" dirty="0" err="1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n</a:t>
                      </a:r>
                      <a:endParaRPr lang="en-US" sz="1200" b="0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400" b="0" kern="1200" baseline="-250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400" b="0" kern="1200" baseline="-250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  <a:endParaRPr lang="en-US" sz="1400" b="1" baseline="0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400" b="0" kern="1200" baseline="-250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3</a:t>
                      </a:r>
                      <a:endParaRPr lang="en-US" sz="1400" b="1" baseline="0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400" b="0" kern="1200" baseline="-250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4</a:t>
                      </a:r>
                      <a:endParaRPr lang="en-US" sz="1400" b="1" baseline="0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400" b="0" kern="1200" baseline="-250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5</a:t>
                      </a:r>
                      <a:endParaRPr lang="en-US" sz="1400" b="1" baseline="0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400" b="0" kern="1200" baseline="-250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6</a:t>
                      </a:r>
                      <a:endParaRPr lang="en-US" sz="1400" b="1" baseline="0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kern="1200" dirty="0" err="1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400" b="0" kern="1200" baseline="-25000" dirty="0" err="1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n</a:t>
                      </a:r>
                      <a:endParaRPr lang="en-US" sz="1400" b="1" baseline="0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2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Algorithm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Initially, lengths of 1-value sequences are all 1</a:t>
            </a:r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  <a:p>
            <a:pPr eaLnBrk="1" hangingPunct="1">
              <a:spcBef>
                <a:spcPts val="0"/>
              </a:spcBef>
            </a:pPr>
            <a:endParaRPr lang="en-US" altLang="en-US" sz="16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600" b="1" dirty="0"/>
              <a:t>    lengths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600" dirty="0"/>
          </a:p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For each </a:t>
            </a:r>
            <a:r>
              <a:rPr lang="en-US" altLang="en-US" sz="2400" i="1" dirty="0"/>
              <a:t>k</a:t>
            </a:r>
            <a:r>
              <a:rPr lang="en-US" altLang="en-US" sz="2400" dirty="0"/>
              <a:t> from 2 to </a:t>
            </a:r>
            <a:r>
              <a:rPr lang="en-US" altLang="en-US" sz="2400" i="1" dirty="0"/>
              <a:t>n</a:t>
            </a:r>
            <a:r>
              <a:rPr lang="en-US" altLang="en-US" sz="2400" dirty="0"/>
              <a:t>, </a:t>
            </a:r>
            <a:r>
              <a:rPr lang="en-US" altLang="en-US" sz="2400" i="1" dirty="0" err="1"/>
              <a:t>v</a:t>
            </a:r>
            <a:r>
              <a:rPr lang="en-US" altLang="en-US" sz="2400" i="1" baseline="-25000" dirty="0" err="1"/>
              <a:t>k</a:t>
            </a:r>
            <a:r>
              <a:rPr lang="en-US" altLang="en-US" sz="2400" dirty="0"/>
              <a:t> might be the continuation of a prior subsequence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  For </a:t>
            </a:r>
            <a:r>
              <a:rPr lang="en-US" altLang="en-US" sz="2000" i="1" dirty="0"/>
              <a:t>j</a:t>
            </a:r>
            <a:r>
              <a:rPr lang="en-US" altLang="en-US" sz="2000" dirty="0"/>
              <a:t> from 1 to </a:t>
            </a:r>
            <a:r>
              <a:rPr lang="en-US" altLang="en-US" sz="2000" i="1" dirty="0"/>
              <a:t>k</a:t>
            </a:r>
            <a:r>
              <a:rPr lang="en-US" altLang="en-US" sz="2000" dirty="0"/>
              <a:t>-1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	If </a:t>
            </a:r>
            <a:r>
              <a:rPr lang="en-US" altLang="en-US" sz="2000" i="1" dirty="0" err="1"/>
              <a:t>v</a:t>
            </a:r>
            <a:r>
              <a:rPr lang="en-US" altLang="en-US" sz="2000" i="1" baseline="-25000" dirty="0" err="1"/>
              <a:t>j</a:t>
            </a:r>
            <a:r>
              <a:rPr lang="en-US" altLang="en-US" sz="2000" dirty="0"/>
              <a:t> &lt; </a:t>
            </a:r>
            <a:r>
              <a:rPr lang="en-US" altLang="en-US" sz="2000" i="1" dirty="0" err="1"/>
              <a:t>v</a:t>
            </a:r>
            <a:r>
              <a:rPr lang="en-US" altLang="en-US" sz="2000" i="1" baseline="-25000" dirty="0" err="1"/>
              <a:t>k</a:t>
            </a:r>
            <a:endParaRPr lang="en-US" altLang="en-US" sz="2000" dirty="0"/>
          </a:p>
          <a:p>
            <a:pPr marL="914400" lvl="2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     lengths[</a:t>
            </a:r>
            <a:r>
              <a:rPr lang="en-US" altLang="en-US" sz="2000" i="1" dirty="0"/>
              <a:t>k</a:t>
            </a:r>
            <a:r>
              <a:rPr lang="en-US" altLang="en-US" sz="2000" dirty="0"/>
              <a:t>] = max(lengths[</a:t>
            </a:r>
            <a:r>
              <a:rPr lang="en-US" altLang="en-US" sz="2000" i="1" dirty="0"/>
              <a:t>k</a:t>
            </a:r>
            <a:r>
              <a:rPr lang="en-US" altLang="en-US" sz="2000" dirty="0"/>
              <a:t>], 1 + lengths[</a:t>
            </a:r>
            <a:r>
              <a:rPr lang="en-US" altLang="en-US" sz="2000" i="1" dirty="0"/>
              <a:t>j</a:t>
            </a:r>
            <a:r>
              <a:rPr lang="en-US" altLang="en-US" sz="2000" dirty="0"/>
              <a:t>])</a:t>
            </a:r>
          </a:p>
          <a:p>
            <a:pPr marL="914400" lvl="2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Finally, max(lengths) will be the length of the maximum increasing subsequence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4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75E97C3-441E-47E9-A652-2A48102852A4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AD0BB-F262-4477-9851-81D3701D1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6D18471C-8C7A-4A49-BA86-7C0E1704FB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276301"/>
              </p:ext>
            </p:extLst>
          </p:nvPr>
        </p:nvGraphicFramePr>
        <p:xfrm>
          <a:off x="2514600" y="2611120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v</a:t>
                      </a:r>
                      <a:r>
                        <a:rPr lang="en-US" sz="1200" b="0" kern="1200" baseline="-250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v</a:t>
                      </a:r>
                      <a:r>
                        <a:rPr lang="en-US" sz="1200" b="0" kern="1200" baseline="-250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v</a:t>
                      </a:r>
                      <a:r>
                        <a:rPr lang="en-US" sz="1200" b="0" kern="1200" baseline="-250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v</a:t>
                      </a:r>
                      <a:r>
                        <a:rPr lang="en-US" sz="1200" b="0" kern="1200" baseline="-250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v</a:t>
                      </a:r>
                      <a:r>
                        <a:rPr lang="en-US" sz="1200" b="0" kern="1200" baseline="-250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5</a:t>
                      </a:r>
                      <a:endParaRPr lang="en-US" sz="1200" b="0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v</a:t>
                      </a:r>
                      <a:r>
                        <a:rPr lang="en-US" sz="1200" b="0" kern="1200" baseline="-250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6</a:t>
                      </a:r>
                      <a:endParaRPr lang="en-US" sz="1200" b="0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kern="1200" dirty="0" err="1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v</a:t>
                      </a:r>
                      <a:r>
                        <a:rPr lang="en-US" sz="1200" b="0" kern="1200" baseline="-25000" dirty="0" err="1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n</a:t>
                      </a:r>
                      <a:endParaRPr lang="en-US" sz="1200" b="0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  <a:endParaRPr lang="en-US" sz="1400" b="0" i="0" kern="1200" baseline="-250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  <a:endParaRPr lang="en-US" sz="1400" b="1" baseline="0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  <a:endParaRPr lang="en-US" sz="1400" b="1" baseline="0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  <a:endParaRPr lang="en-US" sz="1400" b="1" baseline="0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  <a:endParaRPr lang="en-US" sz="1400" b="1" baseline="0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  <a:endParaRPr lang="en-US" sz="1400" b="1" baseline="0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  <a:endParaRPr lang="en-US" sz="1400" b="1" baseline="0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2622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Longest Increasing Subsequence Example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Initially:</a:t>
            </a:r>
            <a:endParaRPr lang="en-US" altLang="en-US" sz="2000" i="1" dirty="0"/>
          </a:p>
          <a:p>
            <a:pPr eaLnBrk="1" hangingPunct="1">
              <a:spcBef>
                <a:spcPts val="0"/>
              </a:spcBef>
            </a:pPr>
            <a:endParaRPr lang="en-US" altLang="en-US" sz="16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200" b="1" dirty="0"/>
              <a:t>                     </a:t>
            </a:r>
            <a:r>
              <a:rPr lang="en-US" altLang="en-US" sz="1200" i="1" dirty="0"/>
              <a:t>v</a:t>
            </a:r>
            <a:r>
              <a:rPr lang="en-US" altLang="en-US" sz="1200" i="1" baseline="-25000" dirty="0"/>
              <a:t>i</a:t>
            </a: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b="1" dirty="0"/>
              <a:t>                   </a:t>
            </a:r>
            <a:r>
              <a:rPr lang="en-US" altLang="en-US" sz="1400" i="1" dirty="0" err="1"/>
              <a:t>i</a:t>
            </a:r>
            <a:endParaRPr lang="en-US" altLang="en-US" sz="1400" i="1" baseline="-250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      </a:t>
            </a:r>
            <a:r>
              <a:rPr lang="en-US" altLang="en-US" sz="1400" b="1" dirty="0"/>
              <a:t>lengths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eaLnBrk="1" hangingPunct="1">
              <a:spcBef>
                <a:spcPts val="0"/>
              </a:spcBef>
            </a:pPr>
            <a:r>
              <a:rPr lang="en-US" altLang="en-US" sz="2000" i="1" dirty="0"/>
              <a:t>k</a:t>
            </a:r>
            <a:r>
              <a:rPr lang="en-US" altLang="en-US" sz="2000" dirty="0"/>
              <a:t> == 2, </a:t>
            </a:r>
            <a:r>
              <a:rPr lang="en-US" altLang="en-US" sz="2000" i="1" dirty="0"/>
              <a:t>j</a:t>
            </a:r>
            <a:r>
              <a:rPr lang="en-US" altLang="en-US" sz="2000" dirty="0"/>
              <a:t> == 1: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1600" dirty="0"/>
              <a:t>Since </a:t>
            </a:r>
            <a:r>
              <a:rPr lang="en-US" altLang="en-US" sz="1600" i="1" dirty="0" err="1"/>
              <a:t>v</a:t>
            </a:r>
            <a:r>
              <a:rPr lang="en-US" altLang="en-US" sz="1600" i="1" baseline="-25000" dirty="0" err="1"/>
              <a:t>j</a:t>
            </a:r>
            <a:r>
              <a:rPr lang="en-US" altLang="en-US" sz="1600" dirty="0"/>
              <a:t> == 5 &lt; </a:t>
            </a:r>
            <a:r>
              <a:rPr lang="en-US" altLang="en-US" sz="1600" i="1" dirty="0" err="1"/>
              <a:t>v</a:t>
            </a:r>
            <a:r>
              <a:rPr lang="en-US" altLang="en-US" sz="1600" i="1" baseline="-25000" dirty="0" err="1"/>
              <a:t>k</a:t>
            </a:r>
            <a:r>
              <a:rPr lang="en-US" altLang="en-US" sz="1600" dirty="0"/>
              <a:t> == 12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1600" dirty="0"/>
              <a:t>	lengths[k] = max(lengths[k], lengths[j] + 1) == </a:t>
            </a:r>
            <a:r>
              <a:rPr lang="en-US" altLang="en-US" sz="1600" dirty="0">
                <a:solidFill>
                  <a:srgbClr val="FF0000"/>
                </a:solidFill>
              </a:rPr>
              <a:t>2</a:t>
            </a:r>
          </a:p>
          <a:p>
            <a:pPr eaLnBrk="1" hangingPunct="1">
              <a:spcBef>
                <a:spcPts val="0"/>
              </a:spcBef>
            </a:pPr>
            <a:endParaRPr lang="en-US" altLang="en-US" sz="16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200" b="1" dirty="0"/>
              <a:t>                     </a:t>
            </a:r>
            <a:r>
              <a:rPr lang="en-US" altLang="en-US" sz="1200" i="1" dirty="0"/>
              <a:t>v</a:t>
            </a:r>
            <a:r>
              <a:rPr lang="en-US" altLang="en-US" sz="1200" i="1" baseline="-25000" dirty="0"/>
              <a:t>i</a:t>
            </a: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b="1" dirty="0"/>
              <a:t>                   </a:t>
            </a:r>
            <a:r>
              <a:rPr lang="en-US" altLang="en-US" sz="1400" i="1" dirty="0" err="1"/>
              <a:t>i</a:t>
            </a:r>
            <a:endParaRPr lang="en-US" altLang="en-US" sz="1400" i="1" baseline="-250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      </a:t>
            </a:r>
            <a:r>
              <a:rPr lang="en-US" altLang="en-US" sz="1400" b="1" dirty="0"/>
              <a:t>lengths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i="1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795093F-53FF-41DE-8E0A-2EA63CDF2F72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37B051D-BF6B-4C53-9338-79AB9B80E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804792"/>
              </p:ext>
            </p:extLst>
          </p:nvPr>
        </p:nvGraphicFramePr>
        <p:xfrm>
          <a:off x="2514600" y="2885440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69999-D056-4BBF-A4FE-A00E33F41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812ECA8-8352-4CAD-8C46-508290FBE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439418"/>
              </p:ext>
            </p:extLst>
          </p:nvPr>
        </p:nvGraphicFramePr>
        <p:xfrm>
          <a:off x="2514600" y="2514600"/>
          <a:ext cx="406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386697776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6183086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79845061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680185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45985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9488984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2968399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382911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206247"/>
                  </a:ext>
                </a:extLst>
              </a:tr>
            </a:tbl>
          </a:graphicData>
        </a:graphic>
      </p:graphicFrame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CF90ADA1-2D13-4F90-A252-AC3D487DEC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572093"/>
              </p:ext>
            </p:extLst>
          </p:nvPr>
        </p:nvGraphicFramePr>
        <p:xfrm>
          <a:off x="2514600" y="5247640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8F2B3F2-B495-464E-89C2-A5832B0DD2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252220"/>
              </p:ext>
            </p:extLst>
          </p:nvPr>
        </p:nvGraphicFramePr>
        <p:xfrm>
          <a:off x="2514600" y="4876800"/>
          <a:ext cx="406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386697776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6183086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79845061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680185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45985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9488984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2968399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382911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206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9082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Longest Increasing Subsequence Example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000" i="1" dirty="0"/>
              <a:t>k</a:t>
            </a:r>
            <a:r>
              <a:rPr lang="en-US" altLang="en-US" sz="2000" dirty="0"/>
              <a:t> == 3, </a:t>
            </a:r>
            <a:r>
              <a:rPr lang="en-US" altLang="en-US" sz="2000" i="1" dirty="0"/>
              <a:t>j</a:t>
            </a:r>
            <a:r>
              <a:rPr lang="en-US" altLang="en-US" sz="2000" dirty="0"/>
              <a:t> == 1:  5 &gt;= 2, so </a:t>
            </a:r>
            <a:r>
              <a:rPr lang="en-US" altLang="en-US" sz="2000" i="1" dirty="0">
                <a:solidFill>
                  <a:srgbClr val="FF0000"/>
                </a:solidFill>
              </a:rPr>
              <a:t>no change</a:t>
            </a:r>
            <a:endParaRPr lang="en-US" altLang="en-US" sz="2000" i="1" dirty="0"/>
          </a:p>
          <a:p>
            <a:pPr eaLnBrk="1" hangingPunct="1">
              <a:spcBef>
                <a:spcPts val="0"/>
              </a:spcBef>
            </a:pPr>
            <a:endParaRPr lang="en-US" altLang="en-US" sz="16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200" b="1" dirty="0"/>
              <a:t>                     </a:t>
            </a:r>
            <a:r>
              <a:rPr lang="en-US" altLang="en-US" sz="1200" i="1" dirty="0"/>
              <a:t>v</a:t>
            </a:r>
            <a:r>
              <a:rPr lang="en-US" altLang="en-US" sz="1200" i="1" baseline="-25000" dirty="0"/>
              <a:t>i</a:t>
            </a: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b="1" dirty="0"/>
              <a:t>                   </a:t>
            </a:r>
            <a:r>
              <a:rPr lang="en-US" altLang="en-US" sz="1400" i="1" dirty="0" err="1"/>
              <a:t>i</a:t>
            </a:r>
            <a:endParaRPr lang="en-US" altLang="en-US" sz="1400" i="1" baseline="-250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      </a:t>
            </a:r>
            <a:r>
              <a:rPr lang="en-US" altLang="en-US" sz="1400" b="1" dirty="0"/>
              <a:t>lengths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eaLnBrk="1" hangingPunct="1">
              <a:spcBef>
                <a:spcPts val="0"/>
              </a:spcBef>
            </a:pPr>
            <a:r>
              <a:rPr lang="en-US" altLang="en-US" sz="2000" i="1" dirty="0"/>
              <a:t>k</a:t>
            </a:r>
            <a:r>
              <a:rPr lang="en-US" altLang="en-US" sz="2000" dirty="0"/>
              <a:t> == 3, </a:t>
            </a:r>
            <a:r>
              <a:rPr lang="en-US" altLang="en-US" sz="2000" i="1" dirty="0"/>
              <a:t>j</a:t>
            </a:r>
            <a:r>
              <a:rPr lang="en-US" altLang="en-US" sz="2000" dirty="0"/>
              <a:t> == 2:  12 &gt;= 2, so </a:t>
            </a:r>
            <a:r>
              <a:rPr lang="en-US" altLang="en-US" sz="2000" i="1" dirty="0">
                <a:solidFill>
                  <a:srgbClr val="FF0000"/>
                </a:solidFill>
              </a:rPr>
              <a:t>no change</a:t>
            </a:r>
          </a:p>
          <a:p>
            <a:pPr eaLnBrk="1" hangingPunct="1">
              <a:spcBef>
                <a:spcPts val="0"/>
              </a:spcBef>
            </a:pPr>
            <a:endParaRPr lang="en-US" altLang="en-US" sz="16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200" b="1" dirty="0"/>
              <a:t>                     </a:t>
            </a:r>
            <a:r>
              <a:rPr lang="en-US" altLang="en-US" sz="1200" i="1" dirty="0"/>
              <a:t>v</a:t>
            </a:r>
            <a:r>
              <a:rPr lang="en-US" altLang="en-US" sz="1200" i="1" baseline="-25000" dirty="0"/>
              <a:t>i</a:t>
            </a: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b="1" dirty="0"/>
              <a:t>                   </a:t>
            </a:r>
            <a:r>
              <a:rPr lang="en-US" altLang="en-US" sz="1400" i="1" dirty="0" err="1"/>
              <a:t>i</a:t>
            </a:r>
            <a:endParaRPr lang="en-US" altLang="en-US" sz="1400" i="1" baseline="-250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      </a:t>
            </a:r>
            <a:r>
              <a:rPr lang="en-US" altLang="en-US" sz="1400" b="1" dirty="0"/>
              <a:t>lengths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i="1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795093F-53FF-41DE-8E0A-2EA63CDF2F72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37B051D-BF6B-4C53-9338-79AB9B80E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884272"/>
              </p:ext>
            </p:extLst>
          </p:nvPr>
        </p:nvGraphicFramePr>
        <p:xfrm>
          <a:off x="2514600" y="2885440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69999-D056-4BBF-A4FE-A00E33F41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812ECA8-8352-4CAD-8C46-508290FBE0FA}"/>
              </a:ext>
            </a:extLst>
          </p:cNvPr>
          <p:cNvGraphicFramePr>
            <a:graphicFrameLocks noGrp="1"/>
          </p:cNvGraphicFramePr>
          <p:nvPr/>
        </p:nvGraphicFramePr>
        <p:xfrm>
          <a:off x="2514600" y="2514600"/>
          <a:ext cx="406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386697776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6183086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79845061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680185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45985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9488984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2968399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382911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206247"/>
                  </a:ext>
                </a:extLst>
              </a:tr>
            </a:tbl>
          </a:graphicData>
        </a:graphic>
      </p:graphicFrame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CF90ADA1-2D13-4F90-A252-AC3D487DEC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049508"/>
              </p:ext>
            </p:extLst>
          </p:nvPr>
        </p:nvGraphicFramePr>
        <p:xfrm>
          <a:off x="2514600" y="4714240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  <a:endParaRPr lang="en-US" sz="1200" b="1" kern="120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8F2B3F2-B495-464E-89C2-A5832B0DD2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21147"/>
              </p:ext>
            </p:extLst>
          </p:nvPr>
        </p:nvGraphicFramePr>
        <p:xfrm>
          <a:off x="2514600" y="4343400"/>
          <a:ext cx="406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386697776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6183086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79845061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680185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45985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9488984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2968399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382911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206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2801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Longest Increasing Subsequence Example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000" i="1" dirty="0"/>
              <a:t>k</a:t>
            </a:r>
            <a:r>
              <a:rPr lang="en-US" altLang="en-US" sz="2000" dirty="0"/>
              <a:t> == 4, </a:t>
            </a:r>
            <a:r>
              <a:rPr lang="en-US" altLang="en-US" sz="2000" i="1" dirty="0"/>
              <a:t>j</a:t>
            </a:r>
            <a:r>
              <a:rPr lang="en-US" altLang="en-US" sz="2000" dirty="0"/>
              <a:t> == 1:  5 &lt; 7, lengths[4] = max(1, 1+1) == </a:t>
            </a:r>
            <a:r>
              <a:rPr lang="en-US" altLang="en-US" sz="2000" dirty="0">
                <a:solidFill>
                  <a:srgbClr val="FF0000"/>
                </a:solidFill>
              </a:rPr>
              <a:t>2</a:t>
            </a:r>
            <a:endParaRPr lang="en-US" altLang="en-US" sz="2000" i="1" dirty="0"/>
          </a:p>
          <a:p>
            <a:pPr eaLnBrk="1" hangingPunct="1">
              <a:spcBef>
                <a:spcPts val="0"/>
              </a:spcBef>
            </a:pPr>
            <a:endParaRPr lang="en-US" altLang="en-US" sz="16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200" b="1" dirty="0"/>
              <a:t>                     </a:t>
            </a:r>
            <a:r>
              <a:rPr lang="en-US" altLang="en-US" sz="1200" i="1" dirty="0"/>
              <a:t>v</a:t>
            </a:r>
            <a:r>
              <a:rPr lang="en-US" altLang="en-US" sz="1200" i="1" baseline="-25000" dirty="0"/>
              <a:t>i</a:t>
            </a: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b="1" dirty="0"/>
              <a:t>                   </a:t>
            </a:r>
            <a:r>
              <a:rPr lang="en-US" altLang="en-US" sz="1400" i="1" dirty="0" err="1"/>
              <a:t>i</a:t>
            </a:r>
            <a:endParaRPr lang="en-US" altLang="en-US" sz="1400" i="1" baseline="-250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      </a:t>
            </a:r>
            <a:r>
              <a:rPr lang="en-US" altLang="en-US" sz="1400" b="1" dirty="0"/>
              <a:t>lengths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eaLnBrk="1" hangingPunct="1">
              <a:spcBef>
                <a:spcPts val="0"/>
              </a:spcBef>
            </a:pPr>
            <a:r>
              <a:rPr lang="en-US" altLang="en-US" sz="2000" i="1" dirty="0"/>
              <a:t>k</a:t>
            </a:r>
            <a:r>
              <a:rPr lang="en-US" altLang="en-US" sz="2000" dirty="0"/>
              <a:t> == 4, </a:t>
            </a:r>
            <a:r>
              <a:rPr lang="en-US" altLang="en-US" sz="2000" i="1" dirty="0"/>
              <a:t>j</a:t>
            </a:r>
            <a:r>
              <a:rPr lang="en-US" altLang="en-US" sz="2000" dirty="0"/>
              <a:t> == 2:  12 &gt;= 7, so </a:t>
            </a:r>
            <a:r>
              <a:rPr lang="en-US" altLang="en-US" sz="2000" i="1" dirty="0">
                <a:solidFill>
                  <a:srgbClr val="FF0000"/>
                </a:solidFill>
              </a:rPr>
              <a:t>no change</a:t>
            </a:r>
          </a:p>
          <a:p>
            <a:pPr eaLnBrk="1" hangingPunct="1">
              <a:spcBef>
                <a:spcPts val="0"/>
              </a:spcBef>
            </a:pPr>
            <a:endParaRPr lang="en-US" altLang="en-US" sz="16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200" b="1" dirty="0"/>
              <a:t>                     </a:t>
            </a:r>
            <a:r>
              <a:rPr lang="en-US" altLang="en-US" sz="1200" i="1" dirty="0"/>
              <a:t>v</a:t>
            </a:r>
            <a:r>
              <a:rPr lang="en-US" altLang="en-US" sz="1200" i="1" baseline="-25000" dirty="0"/>
              <a:t>i</a:t>
            </a: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b="1" dirty="0"/>
              <a:t>                   </a:t>
            </a:r>
            <a:r>
              <a:rPr lang="en-US" altLang="en-US" sz="1400" i="1" dirty="0" err="1"/>
              <a:t>i</a:t>
            </a:r>
            <a:endParaRPr lang="en-US" altLang="en-US" sz="1400" i="1" baseline="-250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      </a:t>
            </a:r>
            <a:r>
              <a:rPr lang="en-US" altLang="en-US" sz="1400" b="1" dirty="0"/>
              <a:t>lengths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i="1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795093F-53FF-41DE-8E0A-2EA63CDF2F72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37B051D-BF6B-4C53-9338-79AB9B80E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095490"/>
              </p:ext>
            </p:extLst>
          </p:nvPr>
        </p:nvGraphicFramePr>
        <p:xfrm>
          <a:off x="2514600" y="2885440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69999-D056-4BBF-A4FE-A00E33F41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812ECA8-8352-4CAD-8C46-508290FBE0FA}"/>
              </a:ext>
            </a:extLst>
          </p:cNvPr>
          <p:cNvGraphicFramePr>
            <a:graphicFrameLocks noGrp="1"/>
          </p:cNvGraphicFramePr>
          <p:nvPr/>
        </p:nvGraphicFramePr>
        <p:xfrm>
          <a:off x="2514600" y="2514600"/>
          <a:ext cx="406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386697776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6183086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79845061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680185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45985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9488984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2968399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382911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206247"/>
                  </a:ext>
                </a:extLst>
              </a:tr>
            </a:tbl>
          </a:graphicData>
        </a:graphic>
      </p:graphicFrame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CF90ADA1-2D13-4F90-A252-AC3D487DEC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490324"/>
              </p:ext>
            </p:extLst>
          </p:nvPr>
        </p:nvGraphicFramePr>
        <p:xfrm>
          <a:off x="2514600" y="4714240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  <a:endParaRPr lang="en-US" sz="1200" b="1" kern="120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8F2B3F2-B495-464E-89C2-A5832B0DD2D8}"/>
              </a:ext>
            </a:extLst>
          </p:cNvPr>
          <p:cNvGraphicFramePr>
            <a:graphicFrameLocks noGrp="1"/>
          </p:cNvGraphicFramePr>
          <p:nvPr/>
        </p:nvGraphicFramePr>
        <p:xfrm>
          <a:off x="2514600" y="4343400"/>
          <a:ext cx="406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386697776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6183086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79845061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680185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45985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9488984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2968399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382911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206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2004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Longest Increasing Subsequence Example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000" i="1" dirty="0"/>
              <a:t>k</a:t>
            </a:r>
            <a:r>
              <a:rPr lang="en-US" altLang="en-US" sz="2000" dirty="0"/>
              <a:t> == 4, </a:t>
            </a:r>
            <a:r>
              <a:rPr lang="en-US" altLang="en-US" sz="2000" i="1" dirty="0"/>
              <a:t>j</a:t>
            </a:r>
            <a:r>
              <a:rPr lang="en-US" altLang="en-US" sz="2000" dirty="0"/>
              <a:t> == 3:  2 &lt; 7, lengths[4] = max(2, 1+1) == </a:t>
            </a:r>
            <a:r>
              <a:rPr lang="en-US" altLang="en-US" sz="2000" dirty="0">
                <a:solidFill>
                  <a:srgbClr val="FF0000"/>
                </a:solidFill>
              </a:rPr>
              <a:t>2</a:t>
            </a:r>
            <a:endParaRPr lang="en-US" altLang="en-US" sz="2000" i="1" dirty="0"/>
          </a:p>
          <a:p>
            <a:pPr eaLnBrk="1" hangingPunct="1">
              <a:spcBef>
                <a:spcPts val="0"/>
              </a:spcBef>
            </a:pPr>
            <a:endParaRPr lang="en-US" altLang="en-US" sz="16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200" b="1" dirty="0"/>
              <a:t>                     </a:t>
            </a:r>
            <a:r>
              <a:rPr lang="en-US" altLang="en-US" sz="1200" i="1" dirty="0"/>
              <a:t>v</a:t>
            </a:r>
            <a:r>
              <a:rPr lang="en-US" altLang="en-US" sz="1200" i="1" baseline="-25000" dirty="0"/>
              <a:t>i</a:t>
            </a: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b="1" dirty="0"/>
              <a:t>                   </a:t>
            </a:r>
            <a:r>
              <a:rPr lang="en-US" altLang="en-US" sz="1400" i="1" dirty="0" err="1"/>
              <a:t>i</a:t>
            </a:r>
            <a:endParaRPr lang="en-US" altLang="en-US" sz="1400" i="1" baseline="-250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      </a:t>
            </a:r>
            <a:r>
              <a:rPr lang="en-US" altLang="en-US" sz="1400" b="1" dirty="0"/>
              <a:t>lengths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eaLnBrk="1" hangingPunct="1">
              <a:spcBef>
                <a:spcPts val="0"/>
              </a:spcBef>
            </a:pPr>
            <a:r>
              <a:rPr lang="en-US" altLang="en-US" sz="2000" dirty="0">
                <a:solidFill>
                  <a:srgbClr val="FF0000"/>
                </a:solidFill>
              </a:rPr>
              <a:t>5, 7</a:t>
            </a:r>
            <a:r>
              <a:rPr lang="en-US" altLang="en-US" sz="2000" dirty="0"/>
              <a:t> and </a:t>
            </a:r>
            <a:r>
              <a:rPr lang="en-US" altLang="en-US" sz="2000" dirty="0">
                <a:solidFill>
                  <a:srgbClr val="FF0000"/>
                </a:solidFill>
              </a:rPr>
              <a:t>2, 7</a:t>
            </a:r>
            <a:r>
              <a:rPr lang="en-US" altLang="en-US" sz="2000" dirty="0"/>
              <a:t> are increasing subsequences, both of length 2</a:t>
            </a:r>
          </a:p>
          <a:p>
            <a:pPr eaLnBrk="1" hangingPunct="1">
              <a:spcBef>
                <a:spcPts val="0"/>
              </a:spcBef>
            </a:pPr>
            <a:endParaRPr lang="en-US" altLang="en-US" sz="2000" dirty="0"/>
          </a:p>
          <a:p>
            <a:pPr eaLnBrk="1" hangingPunct="1">
              <a:spcBef>
                <a:spcPts val="0"/>
              </a:spcBef>
            </a:pPr>
            <a:r>
              <a:rPr lang="en-US" altLang="en-US" sz="2000" i="1" dirty="0"/>
              <a:t>k</a:t>
            </a:r>
            <a:r>
              <a:rPr lang="en-US" altLang="en-US" sz="2000" dirty="0"/>
              <a:t> == 5, </a:t>
            </a:r>
            <a:r>
              <a:rPr lang="en-US" altLang="en-US" sz="2000" i="1" dirty="0"/>
              <a:t>j</a:t>
            </a:r>
            <a:r>
              <a:rPr lang="en-US" altLang="en-US" sz="2000" dirty="0"/>
              <a:t> from 1 to 4, </a:t>
            </a:r>
            <a:r>
              <a:rPr lang="en-US" altLang="en-US" sz="2000" i="1" dirty="0" err="1"/>
              <a:t>v</a:t>
            </a:r>
            <a:r>
              <a:rPr lang="en-US" altLang="en-US" sz="2000" i="1" baseline="-25000" dirty="0" err="1"/>
              <a:t>j</a:t>
            </a:r>
            <a:r>
              <a:rPr lang="en-US" altLang="en-US" sz="2000" dirty="0"/>
              <a:t> &gt; 1 so </a:t>
            </a:r>
            <a:r>
              <a:rPr lang="en-US" altLang="en-US" sz="2000" i="1" dirty="0">
                <a:solidFill>
                  <a:srgbClr val="FF0000"/>
                </a:solidFill>
              </a:rPr>
              <a:t>no change</a:t>
            </a:r>
          </a:p>
          <a:p>
            <a:pPr eaLnBrk="1" hangingPunct="1">
              <a:spcBef>
                <a:spcPts val="0"/>
              </a:spcBef>
            </a:pPr>
            <a:endParaRPr lang="en-US" altLang="en-US" sz="2000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i="1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795093F-53FF-41DE-8E0A-2EA63CDF2F72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37B051D-BF6B-4C53-9338-79AB9B80EF4D}"/>
              </a:ext>
            </a:extLst>
          </p:cNvPr>
          <p:cNvGraphicFramePr>
            <a:graphicFrameLocks noGrp="1"/>
          </p:cNvGraphicFramePr>
          <p:nvPr/>
        </p:nvGraphicFramePr>
        <p:xfrm>
          <a:off x="2514600" y="2885440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69999-D056-4BBF-A4FE-A00E33F41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812ECA8-8352-4CAD-8C46-508290FBE0FA}"/>
              </a:ext>
            </a:extLst>
          </p:cNvPr>
          <p:cNvGraphicFramePr>
            <a:graphicFrameLocks noGrp="1"/>
          </p:cNvGraphicFramePr>
          <p:nvPr/>
        </p:nvGraphicFramePr>
        <p:xfrm>
          <a:off x="2514600" y="2514600"/>
          <a:ext cx="406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386697776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6183086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79845061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680185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45985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9488984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2968399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382911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206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4082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Longest Increasing Subsequence Example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000" i="1" dirty="0"/>
              <a:t>k</a:t>
            </a:r>
            <a:r>
              <a:rPr lang="en-US" altLang="en-US" sz="2000" dirty="0"/>
              <a:t> == 6, </a:t>
            </a:r>
            <a:r>
              <a:rPr lang="en-US" altLang="en-US" sz="2000" i="1" dirty="0"/>
              <a:t>j</a:t>
            </a:r>
            <a:r>
              <a:rPr lang="en-US" altLang="en-US" sz="2000" dirty="0"/>
              <a:t> == 1:  5 &lt; 8, lengths[6] = max(1, 1+1) == </a:t>
            </a:r>
            <a:r>
              <a:rPr lang="en-US" altLang="en-US" sz="2000" dirty="0">
                <a:solidFill>
                  <a:srgbClr val="FF0000"/>
                </a:solidFill>
              </a:rPr>
              <a:t>2</a:t>
            </a:r>
            <a:endParaRPr lang="en-US" altLang="en-US" sz="2000" i="1" dirty="0"/>
          </a:p>
          <a:p>
            <a:pPr eaLnBrk="1" hangingPunct="1">
              <a:spcBef>
                <a:spcPts val="0"/>
              </a:spcBef>
            </a:pPr>
            <a:endParaRPr lang="en-US" altLang="en-US" sz="16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200" b="1" dirty="0"/>
              <a:t>                     </a:t>
            </a:r>
            <a:r>
              <a:rPr lang="en-US" altLang="en-US" sz="1200" i="1" dirty="0"/>
              <a:t>v</a:t>
            </a:r>
            <a:r>
              <a:rPr lang="en-US" altLang="en-US" sz="1200" i="1" baseline="-25000" dirty="0"/>
              <a:t>i</a:t>
            </a: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b="1" dirty="0"/>
              <a:t>                   </a:t>
            </a:r>
            <a:r>
              <a:rPr lang="en-US" altLang="en-US" sz="1400" i="1" dirty="0" err="1"/>
              <a:t>i</a:t>
            </a:r>
            <a:endParaRPr lang="en-US" altLang="en-US" sz="1400" i="1" baseline="-250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      </a:t>
            </a:r>
            <a:r>
              <a:rPr lang="en-US" altLang="en-US" sz="1400" b="1" dirty="0"/>
              <a:t>lengths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eaLnBrk="1" hangingPunct="1">
              <a:spcBef>
                <a:spcPts val="0"/>
              </a:spcBef>
            </a:pPr>
            <a:r>
              <a:rPr lang="en-US" altLang="en-US" sz="2000" i="1" dirty="0"/>
              <a:t>k</a:t>
            </a:r>
            <a:r>
              <a:rPr lang="en-US" altLang="en-US" sz="2000" dirty="0"/>
              <a:t> == 6, </a:t>
            </a:r>
            <a:r>
              <a:rPr lang="en-US" altLang="en-US" sz="2000" i="1" dirty="0"/>
              <a:t>j</a:t>
            </a:r>
            <a:r>
              <a:rPr lang="en-US" altLang="en-US" sz="2000" dirty="0"/>
              <a:t> == 2:  12 &gt;= 8, so </a:t>
            </a:r>
            <a:r>
              <a:rPr lang="en-US" altLang="en-US" sz="2000" i="1" dirty="0">
                <a:solidFill>
                  <a:srgbClr val="FF0000"/>
                </a:solidFill>
              </a:rPr>
              <a:t>no change</a:t>
            </a:r>
          </a:p>
          <a:p>
            <a:pPr eaLnBrk="1" hangingPunct="1">
              <a:spcBef>
                <a:spcPts val="0"/>
              </a:spcBef>
            </a:pPr>
            <a:endParaRPr lang="en-US" altLang="en-US" sz="16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200" b="1" dirty="0"/>
              <a:t>                     </a:t>
            </a:r>
            <a:r>
              <a:rPr lang="en-US" altLang="en-US" sz="1200" i="1" dirty="0"/>
              <a:t>v</a:t>
            </a:r>
            <a:r>
              <a:rPr lang="en-US" altLang="en-US" sz="1200" i="1" baseline="-25000" dirty="0"/>
              <a:t>i</a:t>
            </a: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b="1" dirty="0"/>
              <a:t>                   </a:t>
            </a:r>
            <a:r>
              <a:rPr lang="en-US" altLang="en-US" sz="1400" i="1" dirty="0" err="1"/>
              <a:t>i</a:t>
            </a:r>
            <a:endParaRPr lang="en-US" altLang="en-US" sz="1400" i="1" baseline="-250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      </a:t>
            </a:r>
            <a:r>
              <a:rPr lang="en-US" altLang="en-US" sz="1400" b="1" dirty="0"/>
              <a:t>lengths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i="1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795093F-53FF-41DE-8E0A-2EA63CDF2F72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37B051D-BF6B-4C53-9338-79AB9B80E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463546"/>
              </p:ext>
            </p:extLst>
          </p:nvPr>
        </p:nvGraphicFramePr>
        <p:xfrm>
          <a:off x="2514600" y="2885440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  <a:endParaRPr lang="en-US" sz="1200" b="1" kern="120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  <a:endParaRPr lang="en-US" sz="1200" b="0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69999-D056-4BBF-A4FE-A00E33F41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812ECA8-8352-4CAD-8C46-508290FBE0FA}"/>
              </a:ext>
            </a:extLst>
          </p:cNvPr>
          <p:cNvGraphicFramePr>
            <a:graphicFrameLocks noGrp="1"/>
          </p:cNvGraphicFramePr>
          <p:nvPr/>
        </p:nvGraphicFramePr>
        <p:xfrm>
          <a:off x="2514600" y="2514600"/>
          <a:ext cx="406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386697776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6183086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79845061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680185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45985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9488984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2968399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382911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206247"/>
                  </a:ext>
                </a:extLst>
              </a:tr>
            </a:tbl>
          </a:graphicData>
        </a:graphic>
      </p:graphicFrame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CF90ADA1-2D13-4F90-A252-AC3D487DEC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4113342"/>
              </p:ext>
            </p:extLst>
          </p:nvPr>
        </p:nvGraphicFramePr>
        <p:xfrm>
          <a:off x="2514600" y="4714240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  <a:endParaRPr lang="en-US" sz="1200" b="1" kern="120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8F2B3F2-B495-464E-89C2-A5832B0DD2D8}"/>
              </a:ext>
            </a:extLst>
          </p:cNvPr>
          <p:cNvGraphicFramePr>
            <a:graphicFrameLocks noGrp="1"/>
          </p:cNvGraphicFramePr>
          <p:nvPr/>
        </p:nvGraphicFramePr>
        <p:xfrm>
          <a:off x="2514600" y="4343400"/>
          <a:ext cx="406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386697776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6183086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79845061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680185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45985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9488984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2968399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382911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206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9696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Longest Increasing Subsequence Example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000" i="1" dirty="0"/>
              <a:t>k</a:t>
            </a:r>
            <a:r>
              <a:rPr lang="en-US" altLang="en-US" sz="2000" dirty="0"/>
              <a:t> == 6, </a:t>
            </a:r>
            <a:r>
              <a:rPr lang="en-US" altLang="en-US" sz="2000" i="1" dirty="0"/>
              <a:t>j</a:t>
            </a:r>
            <a:r>
              <a:rPr lang="en-US" altLang="en-US" sz="2000" dirty="0"/>
              <a:t> == 3:  2 &lt; 8, lengths[6] = max(2, 1+1) == </a:t>
            </a:r>
            <a:r>
              <a:rPr lang="en-US" altLang="en-US" sz="2000" dirty="0">
                <a:solidFill>
                  <a:srgbClr val="FF0000"/>
                </a:solidFill>
              </a:rPr>
              <a:t>2</a:t>
            </a:r>
            <a:endParaRPr lang="en-US" altLang="en-US" sz="2000" i="1" dirty="0"/>
          </a:p>
          <a:p>
            <a:pPr eaLnBrk="1" hangingPunct="1">
              <a:spcBef>
                <a:spcPts val="0"/>
              </a:spcBef>
            </a:pPr>
            <a:endParaRPr lang="en-US" altLang="en-US" sz="16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200" b="1" dirty="0"/>
              <a:t>                     </a:t>
            </a:r>
            <a:r>
              <a:rPr lang="en-US" altLang="en-US" sz="1200" i="1" dirty="0"/>
              <a:t>v</a:t>
            </a:r>
            <a:r>
              <a:rPr lang="en-US" altLang="en-US" sz="1200" i="1" baseline="-25000" dirty="0"/>
              <a:t>i</a:t>
            </a: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b="1" dirty="0"/>
              <a:t>                   </a:t>
            </a:r>
            <a:r>
              <a:rPr lang="en-US" altLang="en-US" sz="1400" i="1" dirty="0" err="1"/>
              <a:t>i</a:t>
            </a:r>
            <a:endParaRPr lang="en-US" altLang="en-US" sz="1400" i="1" baseline="-250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      </a:t>
            </a:r>
            <a:r>
              <a:rPr lang="en-US" altLang="en-US" sz="1400" b="1" dirty="0"/>
              <a:t>lengths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eaLnBrk="1" hangingPunct="1">
              <a:spcBef>
                <a:spcPts val="0"/>
              </a:spcBef>
            </a:pPr>
            <a:r>
              <a:rPr lang="en-US" altLang="en-US" sz="2000" i="1" dirty="0"/>
              <a:t>k</a:t>
            </a:r>
            <a:r>
              <a:rPr lang="en-US" altLang="en-US" sz="2000" dirty="0"/>
              <a:t> == 6, </a:t>
            </a:r>
            <a:r>
              <a:rPr lang="en-US" altLang="en-US" sz="2000" i="1" dirty="0"/>
              <a:t>j</a:t>
            </a:r>
            <a:r>
              <a:rPr lang="en-US" altLang="en-US" sz="2000" dirty="0"/>
              <a:t> == 4:  7 &lt; 8, lengths[6] = max(2, 2+1) == </a:t>
            </a:r>
            <a:r>
              <a:rPr lang="en-US" altLang="en-US" sz="2000" dirty="0">
                <a:solidFill>
                  <a:srgbClr val="FF0000"/>
                </a:solidFill>
              </a:rPr>
              <a:t>3</a:t>
            </a:r>
            <a:endParaRPr lang="en-US" altLang="en-US" sz="2000" i="1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endParaRPr lang="en-US" altLang="en-US" sz="16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200" b="1" dirty="0"/>
              <a:t>                     </a:t>
            </a:r>
            <a:r>
              <a:rPr lang="en-US" altLang="en-US" sz="1200" i="1" dirty="0"/>
              <a:t>v</a:t>
            </a:r>
            <a:r>
              <a:rPr lang="en-US" altLang="en-US" sz="1200" i="1" baseline="-25000" dirty="0"/>
              <a:t>i</a:t>
            </a: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b="1" dirty="0"/>
              <a:t>                   </a:t>
            </a:r>
            <a:r>
              <a:rPr lang="en-US" altLang="en-US" sz="1400" i="1" dirty="0" err="1"/>
              <a:t>i</a:t>
            </a:r>
            <a:endParaRPr lang="en-US" altLang="en-US" sz="1400" i="1" baseline="-250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      </a:t>
            </a:r>
            <a:r>
              <a:rPr lang="en-US" altLang="en-US" sz="1400" b="1" dirty="0"/>
              <a:t>lengths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eaLnBrk="1" hangingPunct="1">
              <a:spcBef>
                <a:spcPts val="0"/>
              </a:spcBef>
            </a:pPr>
            <a:r>
              <a:rPr lang="en-US" altLang="en-US" sz="2000" i="1" dirty="0"/>
              <a:t>k</a:t>
            </a:r>
            <a:r>
              <a:rPr lang="en-US" altLang="en-US" sz="2000" dirty="0"/>
              <a:t> == 6, </a:t>
            </a:r>
            <a:r>
              <a:rPr lang="en-US" altLang="en-US" sz="2000" i="1" dirty="0"/>
              <a:t>j</a:t>
            </a:r>
            <a:r>
              <a:rPr lang="en-US" altLang="en-US" sz="2000" dirty="0"/>
              <a:t> == 5:  1 &gt;= 8, so </a:t>
            </a:r>
            <a:r>
              <a:rPr lang="en-US" altLang="en-US" sz="2000" i="1" dirty="0">
                <a:solidFill>
                  <a:srgbClr val="FF0000"/>
                </a:solidFill>
              </a:rPr>
              <a:t>no change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i="1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795093F-53FF-41DE-8E0A-2EA63CDF2F72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37B051D-BF6B-4C53-9338-79AB9B80EF4D}"/>
              </a:ext>
            </a:extLst>
          </p:cNvPr>
          <p:cNvGraphicFramePr>
            <a:graphicFrameLocks noGrp="1"/>
          </p:cNvGraphicFramePr>
          <p:nvPr/>
        </p:nvGraphicFramePr>
        <p:xfrm>
          <a:off x="2514600" y="2885440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  <a:endParaRPr lang="en-US" sz="1200" b="1" kern="120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  <a:endParaRPr lang="en-US" sz="1200" b="0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69999-D056-4BBF-A4FE-A00E33F41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812ECA8-8352-4CAD-8C46-508290FBE0FA}"/>
              </a:ext>
            </a:extLst>
          </p:cNvPr>
          <p:cNvGraphicFramePr>
            <a:graphicFrameLocks noGrp="1"/>
          </p:cNvGraphicFramePr>
          <p:nvPr/>
        </p:nvGraphicFramePr>
        <p:xfrm>
          <a:off x="2514600" y="2514600"/>
          <a:ext cx="406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386697776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6183086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79845061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680185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45985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9488984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2968399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382911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206247"/>
                  </a:ext>
                </a:extLst>
              </a:tr>
            </a:tbl>
          </a:graphicData>
        </a:graphic>
      </p:graphicFrame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CF90ADA1-2D13-4F90-A252-AC3D487DEC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161620"/>
              </p:ext>
            </p:extLst>
          </p:nvPr>
        </p:nvGraphicFramePr>
        <p:xfrm>
          <a:off x="2514600" y="4714240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  <a:endParaRPr lang="en-US" sz="1200" b="1" kern="120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8F2B3F2-B495-464E-89C2-A5832B0DD2D8}"/>
              </a:ext>
            </a:extLst>
          </p:cNvPr>
          <p:cNvGraphicFramePr>
            <a:graphicFrameLocks noGrp="1"/>
          </p:cNvGraphicFramePr>
          <p:nvPr/>
        </p:nvGraphicFramePr>
        <p:xfrm>
          <a:off x="2514600" y="4343400"/>
          <a:ext cx="406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386697776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6183086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79845061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680185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45985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9488984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2968399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382911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206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136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Longest Increasing Subsequence Example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000" i="1" dirty="0"/>
              <a:t>k</a:t>
            </a:r>
            <a:r>
              <a:rPr lang="en-US" altLang="en-US" sz="2000" dirty="0"/>
              <a:t> == 7, you will see that lengths[7] == 4</a:t>
            </a:r>
            <a:endParaRPr lang="en-US" altLang="en-US" sz="2000" i="1" dirty="0"/>
          </a:p>
          <a:p>
            <a:pPr eaLnBrk="1" hangingPunct="1">
              <a:spcBef>
                <a:spcPts val="0"/>
              </a:spcBef>
            </a:pPr>
            <a:endParaRPr lang="en-US" altLang="en-US" sz="16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200" b="1" dirty="0"/>
              <a:t>                     </a:t>
            </a:r>
            <a:r>
              <a:rPr lang="en-US" altLang="en-US" sz="1200" i="1" dirty="0"/>
              <a:t>v</a:t>
            </a:r>
            <a:r>
              <a:rPr lang="en-US" altLang="en-US" sz="1200" i="1" baseline="-25000" dirty="0"/>
              <a:t>i</a:t>
            </a: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b="1" dirty="0"/>
              <a:t>                   </a:t>
            </a:r>
            <a:r>
              <a:rPr lang="en-US" altLang="en-US" sz="1400" i="1" dirty="0" err="1"/>
              <a:t>i</a:t>
            </a:r>
            <a:endParaRPr lang="en-US" altLang="en-US" sz="1400" i="1" baseline="-250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      </a:t>
            </a:r>
            <a:r>
              <a:rPr lang="en-US" altLang="en-US" sz="1400" b="1" dirty="0"/>
              <a:t>lengths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eaLnBrk="1" hangingPunct="1">
              <a:spcBef>
                <a:spcPts val="0"/>
              </a:spcBef>
            </a:pPr>
            <a:r>
              <a:rPr lang="en-US" altLang="en-US" sz="2000" i="1" dirty="0"/>
              <a:t>k</a:t>
            </a:r>
            <a:r>
              <a:rPr lang="en-US" altLang="en-US" sz="2000" dirty="0"/>
              <a:t> == 8, you will see that lengths[8] == </a:t>
            </a:r>
            <a:r>
              <a:rPr lang="en-US" altLang="en-US" sz="2000" dirty="0">
                <a:solidFill>
                  <a:srgbClr val="FF0000"/>
                </a:solidFill>
              </a:rPr>
              <a:t>2</a:t>
            </a:r>
            <a:endParaRPr lang="en-US" altLang="en-US" sz="2000" i="1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endParaRPr lang="en-US" altLang="en-US" sz="16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200" b="1" dirty="0"/>
              <a:t>                     </a:t>
            </a:r>
            <a:r>
              <a:rPr lang="en-US" altLang="en-US" sz="1200" i="1" dirty="0"/>
              <a:t>v</a:t>
            </a:r>
            <a:r>
              <a:rPr lang="en-US" altLang="en-US" sz="1200" i="1" baseline="-25000" dirty="0"/>
              <a:t>i</a:t>
            </a: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b="1" dirty="0"/>
              <a:t>                   </a:t>
            </a:r>
            <a:r>
              <a:rPr lang="en-US" altLang="en-US" sz="1400" i="1" dirty="0" err="1"/>
              <a:t>i</a:t>
            </a:r>
            <a:endParaRPr lang="en-US" altLang="en-US" sz="1400" i="1" baseline="-250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      </a:t>
            </a:r>
            <a:r>
              <a:rPr lang="en-US" altLang="en-US" sz="1400" b="1" dirty="0"/>
              <a:t>lengths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795093F-53FF-41DE-8E0A-2EA63CDF2F72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37B051D-BF6B-4C53-9338-79AB9B80E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699447"/>
              </p:ext>
            </p:extLst>
          </p:nvPr>
        </p:nvGraphicFramePr>
        <p:xfrm>
          <a:off x="2514600" y="2885440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  <a:endParaRPr lang="en-US" sz="1200" b="1" kern="120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69999-D056-4BBF-A4FE-A00E33F41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812ECA8-8352-4CAD-8C46-508290FBE0FA}"/>
              </a:ext>
            </a:extLst>
          </p:cNvPr>
          <p:cNvGraphicFramePr>
            <a:graphicFrameLocks noGrp="1"/>
          </p:cNvGraphicFramePr>
          <p:nvPr/>
        </p:nvGraphicFramePr>
        <p:xfrm>
          <a:off x="2514600" y="2514600"/>
          <a:ext cx="406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386697776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6183086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79845061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680185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45985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9488984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2968399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382911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206247"/>
                  </a:ext>
                </a:extLst>
              </a:tr>
            </a:tbl>
          </a:graphicData>
        </a:graphic>
      </p:graphicFrame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CF90ADA1-2D13-4F90-A252-AC3D487DEC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334966"/>
              </p:ext>
            </p:extLst>
          </p:nvPr>
        </p:nvGraphicFramePr>
        <p:xfrm>
          <a:off x="2514600" y="4714240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  <a:endParaRPr lang="en-US" sz="1200" b="1" kern="120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3</a:t>
                      </a:r>
                      <a:endParaRPr lang="en-US" sz="1200" b="1" kern="120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8F2B3F2-B495-464E-89C2-A5832B0DD2D8}"/>
              </a:ext>
            </a:extLst>
          </p:cNvPr>
          <p:cNvGraphicFramePr>
            <a:graphicFrameLocks noGrp="1"/>
          </p:cNvGraphicFramePr>
          <p:nvPr/>
        </p:nvGraphicFramePr>
        <p:xfrm>
          <a:off x="2514600" y="4343400"/>
          <a:ext cx="406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386697776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6183086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79845061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680185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45985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9488984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2968399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382911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206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5320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Longest Increasing Subsequence Results and Performance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Length of longest increasing subsequence is max(lengths) == </a:t>
            </a:r>
            <a:r>
              <a:rPr lang="en-US" altLang="en-US" sz="2000" dirty="0">
                <a:solidFill>
                  <a:srgbClr val="FF0000"/>
                </a:solidFill>
              </a:rPr>
              <a:t>4</a:t>
            </a:r>
          </a:p>
          <a:p>
            <a:pPr eaLnBrk="1" hangingPunct="1">
              <a:spcBef>
                <a:spcPts val="0"/>
              </a:spcBef>
            </a:pPr>
            <a:endParaRPr lang="en-US" altLang="en-US" sz="16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200" b="1" dirty="0"/>
              <a:t>                     </a:t>
            </a:r>
            <a:r>
              <a:rPr lang="en-US" altLang="en-US" sz="1200" i="1" dirty="0"/>
              <a:t>v</a:t>
            </a:r>
            <a:r>
              <a:rPr lang="en-US" altLang="en-US" sz="1200" i="1" baseline="-25000" dirty="0"/>
              <a:t>i</a:t>
            </a: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b="1" dirty="0"/>
              <a:t>                   </a:t>
            </a:r>
            <a:r>
              <a:rPr lang="en-US" altLang="en-US" sz="1400" i="1" dirty="0" err="1"/>
              <a:t>i</a:t>
            </a:r>
            <a:endParaRPr lang="en-US" altLang="en-US" sz="1400" i="1" baseline="-250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      </a:t>
            </a:r>
            <a:r>
              <a:rPr lang="en-US" altLang="en-US" sz="1400" b="1" dirty="0"/>
              <a:t>lengths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A longest increasing subsequence is 2, 7, 8, 13</a:t>
            </a:r>
            <a:endParaRPr lang="en-US" altLang="en-US" sz="2000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endParaRPr lang="en-US" altLang="en-US" sz="1600" dirty="0"/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The algorithm involves 2 nested loops, so performance is O(</a:t>
            </a:r>
            <a:r>
              <a:rPr lang="en-US" altLang="en-US" sz="2000" b="1" dirty="0"/>
              <a:t>N</a:t>
            </a:r>
            <a:r>
              <a:rPr lang="en-US" altLang="en-US" sz="2000" b="1" baseline="30000" dirty="0"/>
              <a:t>2</a:t>
            </a:r>
            <a:r>
              <a:rPr lang="en-US" altLang="en-US" sz="2000" dirty="0"/>
              <a:t>)</a:t>
            </a:r>
            <a:endParaRPr lang="en-US" altLang="en-US" sz="2000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endParaRPr lang="en-US" altLang="en-US" sz="1600" dirty="0"/>
          </a:p>
          <a:p>
            <a:pPr eaLnBrk="1" hangingPunct="1">
              <a:spcBef>
                <a:spcPts val="0"/>
              </a:spcBef>
            </a:pPr>
            <a:endParaRPr lang="en-US" altLang="en-US" sz="16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795093F-53FF-41DE-8E0A-2EA63CDF2F72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37B051D-BF6B-4C53-9338-79AB9B80E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53536"/>
              </p:ext>
            </p:extLst>
          </p:nvPr>
        </p:nvGraphicFramePr>
        <p:xfrm>
          <a:off x="2514600" y="2885440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  <a:endParaRPr lang="en-US" sz="1200" b="1" kern="120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69999-D056-4BBF-A4FE-A00E33F41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812ECA8-8352-4CAD-8C46-508290FBE0FA}"/>
              </a:ext>
            </a:extLst>
          </p:cNvPr>
          <p:cNvGraphicFramePr>
            <a:graphicFrameLocks noGrp="1"/>
          </p:cNvGraphicFramePr>
          <p:nvPr/>
        </p:nvGraphicFramePr>
        <p:xfrm>
          <a:off x="2514600" y="2514600"/>
          <a:ext cx="406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386697776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6183086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79845061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680185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45985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9488984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2968399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382911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206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3405566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52833</TotalTime>
  <Words>1949</Words>
  <Application>Microsoft Office PowerPoint</Application>
  <PresentationFormat>On-screen Show (4:3)</PresentationFormat>
  <Paragraphs>684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Courier New</vt:lpstr>
      <vt:lpstr>Tahoma</vt:lpstr>
      <vt:lpstr>Times New Roman</vt:lpstr>
      <vt:lpstr>Wingdings</vt:lpstr>
      <vt:lpstr>Blends</vt:lpstr>
      <vt:lpstr>MSCF Programming Prep 46-900</vt:lpstr>
      <vt:lpstr>Longest Increasing Subsequence</vt:lpstr>
      <vt:lpstr>Longest Increasing Subsequence Example</vt:lpstr>
      <vt:lpstr>Longest Increasing Subsequence Problem</vt:lpstr>
      <vt:lpstr>Recursive Formulation</vt:lpstr>
      <vt:lpstr>Memoization</vt:lpstr>
      <vt:lpstr>Algorithm</vt:lpstr>
      <vt:lpstr>Longest Increasing Subsequence Example</vt:lpstr>
      <vt:lpstr>Longest Increasing Subsequence Example (cont.)</vt:lpstr>
      <vt:lpstr>Longest Increasing Subsequence Example (cont.)</vt:lpstr>
      <vt:lpstr>Longest Increasing Subsequence Example (cont.)</vt:lpstr>
      <vt:lpstr>Longest Increasing Subsequence Example (cont.)</vt:lpstr>
      <vt:lpstr>Longest Increasing Subsequence Example (cont.)</vt:lpstr>
      <vt:lpstr>Longest Increasing Subsequence Example (cont.)</vt:lpstr>
      <vt:lpstr>Longest Increasing Subsequence Results and Performance</vt:lpstr>
    </vt:vector>
  </TitlesOfParts>
  <Company>CMU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 46-691</dc:title>
  <dc:creator>The Heinz School</dc:creator>
  <cp:lastModifiedBy>John</cp:lastModifiedBy>
  <cp:revision>891</cp:revision>
  <cp:lastPrinted>2020-08-16T19:26:24Z</cp:lastPrinted>
  <dcterms:created xsi:type="dcterms:W3CDTF">2003-08-31T19:53:38Z</dcterms:created>
  <dcterms:modified xsi:type="dcterms:W3CDTF">2021-08-08T19:54:55Z</dcterms:modified>
</cp:coreProperties>
</file>
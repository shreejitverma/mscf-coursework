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57" r:id="rId2"/>
    <p:sldId id="727" r:id="rId3"/>
    <p:sldId id="837" r:id="rId4"/>
    <p:sldId id="847" r:id="rId5"/>
    <p:sldId id="848" r:id="rId6"/>
    <p:sldId id="849" r:id="rId7"/>
    <p:sldId id="850" r:id="rId8"/>
    <p:sldId id="851" r:id="rId9"/>
    <p:sldId id="852" r:id="rId10"/>
    <p:sldId id="853" r:id="rId11"/>
    <p:sldId id="854" r:id="rId12"/>
    <p:sldId id="855" r:id="rId13"/>
    <p:sldId id="856" r:id="rId14"/>
    <p:sldId id="857" r:id="rId15"/>
    <p:sldId id="846" r:id="rId16"/>
    <p:sldId id="858" r:id="rId17"/>
    <p:sldId id="859" r:id="rId1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6808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08744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154407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67617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40076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1098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01301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39271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88268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4318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730972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55055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90700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6922543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341228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7171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1A546F-806A-4916-A722-C4497DFD22C4}" type="datetime1">
              <a:rPr lang="en-US" smtClean="0"/>
              <a:t>8/8/2021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6DB2E-05FD-4E02-BDBB-5F8876F1F81B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BC40-C0CA-403D-A182-DB6B7CD54EF0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AFA41-984E-409B-A306-691035BEA148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447AE-53BA-49A5-AF00-C1E375E33A3B}" type="datetime1">
              <a:rPr lang="en-US" smtClean="0"/>
              <a:t>8/8/2021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7A6F0-30AC-4AD0-A5B1-E8FF7D751BE6}" type="datetime1">
              <a:rPr lang="en-US" smtClean="0"/>
              <a:t>8/8/2021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430ED-3079-4BF3-83A3-9C452D2905CD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5A946-6194-4DC9-A610-D66B2CA85B43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B41BC-FEAB-4FF2-B81C-73BBC796BFBB}" type="datetime1">
              <a:rPr lang="en-US" smtClean="0"/>
              <a:t>8/8/2021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A1B36-156C-441D-8F5D-8D05B7AAE9F5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323C8-D5DD-4858-8D00-75FFB568DF9D}" type="datetime1">
              <a:rPr lang="en-US" smtClean="0"/>
              <a:t>8/8/2021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1A402B15-CF07-48BE-8BDB-C3085399C7FB}" type="datetime1">
              <a:rPr lang="en-US" smtClean="0"/>
              <a:t>8/8/2021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2020,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4, Part 3: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Dynamic Programming: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Edit Distance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43F20C-CF11-4D17-AEB9-BB7B37E2131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CEA7-82DF-4E8D-A6C5-BE060327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Edit Distance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Given a </a:t>
            </a:r>
            <a:r>
              <a:rPr lang="en-US" altLang="en-US" sz="2600" i="1" dirty="0"/>
              <a:t>source string</a:t>
            </a:r>
            <a:r>
              <a:rPr lang="en-US" altLang="en-US" sz="2600" dirty="0"/>
              <a:t> and a </a:t>
            </a:r>
            <a:r>
              <a:rPr lang="en-US" altLang="en-US" sz="2600" i="1" dirty="0"/>
              <a:t>target string</a:t>
            </a:r>
            <a:r>
              <a:rPr lang="en-US" altLang="en-US" sz="2600" dirty="0"/>
              <a:t>, what is the </a:t>
            </a:r>
            <a:r>
              <a:rPr lang="en-US" altLang="en-US" sz="2600" i="1" dirty="0"/>
              <a:t>least number of editing operations</a:t>
            </a:r>
            <a:r>
              <a:rPr lang="en-US" altLang="en-US" sz="2600" dirty="0"/>
              <a:t> that we must perform to turn the </a:t>
            </a:r>
            <a:r>
              <a:rPr lang="en-US" altLang="en-US" sz="2600" i="1" dirty="0"/>
              <a:t>source</a:t>
            </a:r>
            <a:r>
              <a:rPr lang="en-US" altLang="en-US" sz="2600" dirty="0"/>
              <a:t> into the </a:t>
            </a:r>
            <a:r>
              <a:rPr lang="en-US" altLang="en-US" sz="2600" i="1" dirty="0"/>
              <a:t>target</a:t>
            </a:r>
            <a:r>
              <a:rPr lang="en-US" altLang="en-US" sz="2600" dirty="0"/>
              <a:t>?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Editing operations are: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Insert</a:t>
            </a:r>
            <a:r>
              <a:rPr lang="en-US" altLang="en-US" sz="1800" dirty="0"/>
              <a:t> a character into the source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Delete</a:t>
            </a:r>
            <a:r>
              <a:rPr lang="en-US" altLang="en-US" sz="1800" dirty="0"/>
              <a:t> a character from the source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Replace</a:t>
            </a:r>
            <a:r>
              <a:rPr lang="en-US" altLang="en-US" sz="1800" dirty="0"/>
              <a:t> a character in the source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We can't know which operation will ultimately lead to the best solution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Try </a:t>
            </a:r>
            <a:r>
              <a:rPr lang="en-US" altLang="en-US" sz="2200" i="1" dirty="0"/>
              <a:t>all three</a:t>
            </a:r>
            <a:r>
              <a:rPr lang="en-US" altLang="en-US" sz="2200" dirty="0"/>
              <a:t> for each source[</a:t>
            </a:r>
            <a:r>
              <a:rPr lang="en-US" altLang="en-US" sz="2200" i="1" dirty="0" err="1"/>
              <a:t>i</a:t>
            </a:r>
            <a:r>
              <a:rPr lang="en-US" altLang="en-US" sz="2200" dirty="0"/>
              <a:t>]/target[</a:t>
            </a:r>
            <a:r>
              <a:rPr lang="en-US" altLang="en-US" sz="2200" i="1" dirty="0"/>
              <a:t>j</a:t>
            </a:r>
            <a:r>
              <a:rPr lang="en-US" altLang="en-US" sz="2200" dirty="0"/>
              <a:t>] pair!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Programming Setup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Our dynamic programming setup is similar to that for </a:t>
            </a:r>
            <a:r>
              <a:rPr lang="en-US" altLang="en-US" sz="2400" i="1" dirty="0"/>
              <a:t>longest common subsequence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Rows: </a:t>
            </a:r>
            <a:r>
              <a:rPr lang="en-US" altLang="en-US" sz="2200" i="1" dirty="0">
                <a:solidFill>
                  <a:srgbClr val="FF0000"/>
                </a:solidFill>
              </a:rPr>
              <a:t>source</a:t>
            </a:r>
            <a:r>
              <a:rPr lang="en-US" altLang="en-US" sz="2200" dirty="0">
                <a:solidFill>
                  <a:srgbClr val="FF0000"/>
                </a:solidFill>
              </a:rPr>
              <a:t> (</a:t>
            </a:r>
            <a:r>
              <a:rPr lang="en-US" altLang="en-US" sz="2200" b="1" dirty="0">
                <a:solidFill>
                  <a:srgbClr val="FF0000"/>
                </a:solidFill>
              </a:rPr>
              <a:t>"banana"</a:t>
            </a:r>
            <a:r>
              <a:rPr lang="en-US" altLang="en-US" sz="2200" dirty="0">
                <a:solidFill>
                  <a:srgbClr val="FF0000"/>
                </a:solidFill>
              </a:rPr>
              <a:t>)</a:t>
            </a:r>
            <a:r>
              <a:rPr lang="en-US" altLang="en-US" sz="2200" dirty="0"/>
              <a:t>, cols: </a:t>
            </a:r>
            <a:r>
              <a:rPr lang="en-US" altLang="en-US" sz="2200" i="1" dirty="0">
                <a:solidFill>
                  <a:srgbClr val="00B050"/>
                </a:solidFill>
              </a:rPr>
              <a:t>target</a:t>
            </a:r>
            <a:r>
              <a:rPr lang="en-US" altLang="en-US" sz="2200" dirty="0">
                <a:solidFill>
                  <a:srgbClr val="00B050"/>
                </a:solidFill>
              </a:rPr>
              <a:t> (</a:t>
            </a:r>
            <a:r>
              <a:rPr lang="en-US" altLang="en-US" sz="2200" b="1" dirty="0">
                <a:solidFill>
                  <a:srgbClr val="00B050"/>
                </a:solidFill>
              </a:rPr>
              <a:t>"anaconda"</a:t>
            </a:r>
            <a:r>
              <a:rPr lang="en-US" altLang="en-US" sz="2200" dirty="0">
                <a:solidFill>
                  <a:srgbClr val="00B050"/>
                </a:solidFill>
              </a:rPr>
              <a:t>)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dirty="0"/>
              <a:t>For convenience, include column and row for </a:t>
            </a:r>
            <a:r>
              <a:rPr lang="en-US" altLang="en-US" sz="1800" i="1" dirty="0"/>
              <a:t>empty string</a:t>
            </a:r>
          </a:p>
          <a:p>
            <a:pPr eaLnBrk="1" hangingPunct="1">
              <a:spcBef>
                <a:spcPts val="0"/>
              </a:spcBef>
            </a:pPr>
            <a:endParaRPr lang="en-US" altLang="en-US" sz="6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858640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44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First Column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 the first column, how many characters must we </a:t>
            </a:r>
            <a:r>
              <a:rPr lang="en-US" altLang="en-US" sz="2400" i="1" dirty="0">
                <a:solidFill>
                  <a:srgbClr val="FF0000"/>
                </a:solidFill>
              </a:rPr>
              <a:t>delete</a:t>
            </a:r>
            <a:r>
              <a:rPr lang="en-US" altLang="en-US" sz="2400" dirty="0"/>
              <a:t> to make the </a:t>
            </a:r>
            <a:r>
              <a:rPr lang="en-US" altLang="en-US" sz="2400" i="1" dirty="0"/>
              <a:t>source</a:t>
            </a:r>
            <a:r>
              <a:rPr lang="en-US" altLang="en-US" sz="2400" dirty="0"/>
              <a:t> match the </a:t>
            </a:r>
            <a:r>
              <a:rPr lang="en-US" altLang="en-US" sz="2400" i="1" dirty="0"/>
              <a:t>target</a:t>
            </a:r>
            <a:r>
              <a:rPr lang="en-US" altLang="en-US" sz="2400" dirty="0"/>
              <a:t>, "" (empty string)?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6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543768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68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First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In the first row, how many characters must we </a:t>
            </a:r>
            <a:r>
              <a:rPr lang="en-US" altLang="en-US" sz="2400" i="1" dirty="0">
                <a:solidFill>
                  <a:srgbClr val="FF0000"/>
                </a:solidFill>
              </a:rPr>
              <a:t>insert</a:t>
            </a:r>
            <a:r>
              <a:rPr lang="en-US" altLang="en-US" sz="2400" dirty="0"/>
              <a:t> to make the </a:t>
            </a:r>
            <a:r>
              <a:rPr lang="en-US" altLang="en-US" sz="2400" i="1" dirty="0"/>
              <a:t>source</a:t>
            </a:r>
            <a:r>
              <a:rPr lang="en-US" altLang="en-US" sz="2400" dirty="0"/>
              <a:t> match the </a:t>
            </a:r>
            <a:r>
              <a:rPr lang="en-US" altLang="en-US" sz="2400" i="1" dirty="0"/>
              <a:t>target</a:t>
            </a:r>
            <a:r>
              <a:rPr lang="en-US" altLang="en-US" sz="2400" dirty="0"/>
              <a:t>, "" (empty string)?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744751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75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Interior Cells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Each cell </a:t>
            </a:r>
            <a:r>
              <a:rPr lang="en-US" altLang="en-US" sz="2400" b="1" dirty="0"/>
              <a:t>D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i</a:t>
            </a:r>
            <a:r>
              <a:rPr lang="en-US" altLang="en-US" sz="2400" dirty="0" err="1"/>
              <a:t>,</a:t>
            </a:r>
            <a:r>
              <a:rPr lang="en-US" altLang="en-US" sz="2400" i="1" dirty="0" err="1"/>
              <a:t>j</a:t>
            </a:r>
            <a:r>
              <a:rPr lang="en-US" altLang="en-US" sz="2400" dirty="0"/>
              <a:t>] is the (minimum) edit distance from </a:t>
            </a:r>
            <a:r>
              <a:rPr lang="en-US" altLang="en-US" sz="2400" i="1" dirty="0" err="1"/>
              <a:t>src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trg</a:t>
            </a:r>
            <a:r>
              <a:rPr lang="en-US" altLang="en-US" sz="2400" i="1" baseline="-25000" dirty="0" err="1"/>
              <a:t>j</a:t>
            </a:r>
            <a:endParaRPr lang="en-US" altLang="en-US" sz="24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b="1" dirty="0"/>
              <a:t>D</a:t>
            </a:r>
            <a:r>
              <a:rPr lang="en-US" altLang="en-US" sz="2400" dirty="0"/>
              <a:t>[</a:t>
            </a:r>
            <a:r>
              <a:rPr lang="en-US" altLang="en-US" sz="2400" i="1" dirty="0"/>
              <a:t>i</a:t>
            </a:r>
            <a:r>
              <a:rPr lang="en-US" altLang="en-US" sz="2400" dirty="0"/>
              <a:t>+1,</a:t>
            </a:r>
            <a:r>
              <a:rPr lang="en-US" altLang="en-US" sz="2400" i="1" dirty="0"/>
              <a:t>j</a:t>
            </a:r>
            <a:r>
              <a:rPr lang="en-US" altLang="en-US" sz="2400" dirty="0"/>
              <a:t>+1] will be: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If source character </a:t>
            </a:r>
            <a:r>
              <a:rPr lang="en-US" altLang="en-US" sz="2000" i="1" dirty="0"/>
              <a:t>i</a:t>
            </a:r>
            <a:r>
              <a:rPr lang="en-US" altLang="en-US" sz="2000" dirty="0"/>
              <a:t>+1 matches target character </a:t>
            </a:r>
            <a:r>
              <a:rPr lang="en-US" altLang="en-US" sz="2000" i="1" dirty="0"/>
              <a:t>j</a:t>
            </a:r>
            <a:r>
              <a:rPr lang="en-US" altLang="en-US" sz="2000" dirty="0"/>
              <a:t>+1, then </a:t>
            </a:r>
            <a:r>
              <a:rPr lang="en-US" altLang="en-US" sz="2000" i="1" dirty="0"/>
              <a:t>no edit required</a:t>
            </a:r>
            <a:r>
              <a:rPr lang="en-US" altLang="en-US" sz="2000" dirty="0"/>
              <a:t>, so </a:t>
            </a:r>
            <a:r>
              <a:rPr lang="en-US" altLang="en-US" sz="2000" b="1" dirty="0"/>
              <a:t>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</a:t>
            </a:r>
            <a:r>
              <a:rPr lang="en-US" altLang="en-US" sz="2000" dirty="0" err="1"/>
              <a:t>,</a:t>
            </a:r>
            <a:r>
              <a:rPr lang="en-US" altLang="en-US" sz="2000" i="1" dirty="0" err="1"/>
              <a:t>j</a:t>
            </a:r>
            <a:r>
              <a:rPr lang="en-US" altLang="en-US" sz="2000" dirty="0"/>
              <a:t>]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Else </a:t>
            </a:r>
            <a:r>
              <a:rPr lang="en-US" altLang="en-US" sz="2000" i="1" dirty="0"/>
              <a:t>one edit required</a:t>
            </a:r>
            <a:r>
              <a:rPr lang="en-US" altLang="en-US" sz="2000" dirty="0"/>
              <a:t>, so </a:t>
            </a:r>
            <a:r>
              <a:rPr lang="en-US" altLang="en-US" sz="2000" b="1" dirty="0"/>
              <a:t>1 + </a:t>
            </a:r>
            <a:r>
              <a:rPr lang="en-US" altLang="en-US" sz="2000" dirty="0"/>
              <a:t>min{</a:t>
            </a:r>
            <a:r>
              <a:rPr lang="en-US" altLang="en-US" sz="2000" b="1" dirty="0"/>
              <a:t>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</a:t>
            </a:r>
            <a:r>
              <a:rPr lang="en-US" altLang="en-US" sz="2000" dirty="0" err="1"/>
              <a:t>,</a:t>
            </a:r>
            <a:r>
              <a:rPr lang="en-US" altLang="en-US" sz="2000" i="1" dirty="0" err="1"/>
              <a:t>j</a:t>
            </a:r>
            <a:r>
              <a:rPr lang="en-US" altLang="en-US" sz="2000" dirty="0"/>
              <a:t>],</a:t>
            </a:r>
            <a:r>
              <a:rPr lang="en-US" altLang="en-US" sz="2000" b="1" dirty="0"/>
              <a:t> D</a:t>
            </a:r>
            <a:r>
              <a:rPr lang="en-US" altLang="en-US" sz="2000" dirty="0"/>
              <a:t>[</a:t>
            </a:r>
            <a:r>
              <a:rPr lang="en-US" altLang="en-US" sz="2000" i="1" dirty="0"/>
              <a:t>i</a:t>
            </a:r>
            <a:r>
              <a:rPr lang="en-US" altLang="en-US" sz="2000" dirty="0"/>
              <a:t>+1,</a:t>
            </a:r>
            <a:r>
              <a:rPr lang="en-US" altLang="en-US" sz="2000" i="1" dirty="0"/>
              <a:t>j</a:t>
            </a:r>
            <a:r>
              <a:rPr lang="en-US" altLang="en-US" sz="2000" dirty="0"/>
              <a:t>],</a:t>
            </a:r>
            <a:r>
              <a:rPr lang="en-US" altLang="en-US" sz="2000" b="1" dirty="0"/>
              <a:t> D</a:t>
            </a:r>
            <a:r>
              <a:rPr lang="en-US" altLang="en-US" sz="2000" dirty="0"/>
              <a:t>[</a:t>
            </a:r>
            <a:r>
              <a:rPr lang="en-US" altLang="en-US" sz="2000" i="1" dirty="0"/>
              <a:t>i</a:t>
            </a:r>
            <a:r>
              <a:rPr lang="en-US" altLang="en-US" sz="2000" dirty="0"/>
              <a:t>,</a:t>
            </a:r>
            <a:r>
              <a:rPr lang="en-US" altLang="en-US" sz="2000" i="1" dirty="0"/>
              <a:t>j</a:t>
            </a:r>
            <a:r>
              <a:rPr lang="en-US" altLang="en-US" sz="2000" dirty="0"/>
              <a:t>+1]}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46DA0C-9A53-4D52-A3BD-3698B6F00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2645"/>
              </p:ext>
            </p:extLst>
          </p:nvPr>
        </p:nvGraphicFramePr>
        <p:xfrm>
          <a:off x="2606040" y="4343400"/>
          <a:ext cx="15087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trg</a:t>
                      </a:r>
                      <a:r>
                        <a:rPr lang="en-US" sz="1400" b="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400" b="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140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40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D7B7EB-5A8F-4B5A-B47F-6C6735728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925822"/>
              </p:ext>
            </p:extLst>
          </p:nvPr>
        </p:nvGraphicFramePr>
        <p:xfrm>
          <a:off x="5501640" y="4343400"/>
          <a:ext cx="15087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trg</a:t>
                      </a:r>
                      <a:r>
                        <a:rPr lang="en-US" sz="1400" b="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400" b="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140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40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A8C9894-D861-4A71-B131-23CB1EC1474C}"/>
              </a:ext>
            </a:extLst>
          </p:cNvPr>
          <p:cNvSpPr txBox="1"/>
          <p:nvPr/>
        </p:nvSpPr>
        <p:spPr>
          <a:xfrm>
            <a:off x="5943600" y="5562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+ min(</a:t>
            </a:r>
            <a:r>
              <a:rPr lang="en-US" i="1" dirty="0" err="1"/>
              <a:t>m</a:t>
            </a:r>
            <a:r>
              <a:rPr lang="en-US" dirty="0" err="1"/>
              <a:t>,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p</a:t>
            </a:r>
            <a:r>
              <a:rPr lang="en-US" dirty="0"/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DD1378-805A-448C-B56E-950D2CBD79A3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7000" y="5070475"/>
            <a:ext cx="304800" cy="492125"/>
          </a:xfrm>
          <a:prstGeom prst="straightConnector1">
            <a:avLst/>
          </a:prstGeom>
          <a:solidFill>
            <a:schemeClr val="accent1"/>
          </a:solidFill>
          <a:ln w="381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2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Second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Mechanically following our algorithm for the interior cells, this is what we get for the second row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For example, D[1,1] = 1 + min(0, 1, 1) (one </a:t>
            </a:r>
            <a:r>
              <a:rPr lang="en-US" altLang="en-US" sz="2000" i="1" dirty="0">
                <a:solidFill>
                  <a:srgbClr val="FF0000"/>
                </a:solidFill>
              </a:rPr>
              <a:t>replace</a:t>
            </a:r>
            <a:r>
              <a:rPr lang="en-US" altLang="en-US" sz="2000" dirty="0"/>
              <a:t>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4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87889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91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Third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Here is what we get for the third row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For example, D[2,1] = D[1,0] (</a:t>
            </a:r>
            <a:r>
              <a:rPr lang="en-US" altLang="en-US" sz="2000" i="1" dirty="0">
                <a:solidFill>
                  <a:srgbClr val="FF0000"/>
                </a:solidFill>
              </a:rPr>
              <a:t>no new edit </a:t>
            </a:r>
            <a:r>
              <a:rPr lang="en-US" altLang="en-US" sz="2000" i="1" dirty="0"/>
              <a:t>needed</a:t>
            </a:r>
            <a:r>
              <a:rPr lang="en-US" altLang="en-US" sz="2000" dirty="0"/>
              <a:t>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901379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94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Fourth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Here is what we get for the fourth row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For example, D[3,2] = D[2,1] (</a:t>
            </a:r>
            <a:r>
              <a:rPr lang="en-US" altLang="en-US" sz="2000" i="1" dirty="0"/>
              <a:t>no new edit needed</a:t>
            </a:r>
            <a:r>
              <a:rPr lang="en-US" altLang="en-US" sz="2000" dirty="0"/>
              <a:t>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D[3,3] = 1 + min(D[2,2], D[2,3], D[3,2]) == 1 + 1 == 2 (</a:t>
            </a:r>
            <a:r>
              <a:rPr lang="en-US" altLang="en-US" sz="2000" i="1" dirty="0">
                <a:solidFill>
                  <a:srgbClr val="FF0000"/>
                </a:solidFill>
              </a:rPr>
              <a:t>insert</a:t>
            </a:r>
            <a:r>
              <a:rPr lang="en-US" altLang="en-US" sz="2000" dirty="0"/>
              <a:t> needed)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10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614395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67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Fifth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Fifth row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2618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217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Sixth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Sixth row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lvl="1" eaLnBrk="1" hangingPunct="1">
              <a:spcBef>
                <a:spcPts val="0"/>
              </a:spcBef>
            </a:pPr>
            <a:endParaRPr lang="en-US" altLang="en-US" sz="6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72378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824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Seventh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Seventh row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b="1" dirty="0"/>
              <a:t>D</a:t>
            </a:r>
            <a:r>
              <a:rPr lang="en-US" altLang="en-US" sz="2000" dirty="0"/>
              <a:t>[6,8] is the </a:t>
            </a:r>
            <a:r>
              <a:rPr lang="en-US" altLang="en-US" sz="2000" i="1" dirty="0">
                <a:solidFill>
                  <a:srgbClr val="00B050"/>
                </a:solidFill>
              </a:rPr>
              <a:t>minimum edit distance</a:t>
            </a:r>
            <a:r>
              <a:rPr lang="en-US" altLang="en-US" sz="2000" dirty="0"/>
              <a:t> to transform </a:t>
            </a:r>
            <a:r>
              <a:rPr lang="en-US" altLang="en-US" sz="2000" i="1" dirty="0">
                <a:solidFill>
                  <a:srgbClr val="FF0000"/>
                </a:solidFill>
              </a:rPr>
              <a:t>source</a:t>
            </a:r>
            <a:r>
              <a:rPr lang="en-US" altLang="en-US" sz="2000" dirty="0">
                <a:solidFill>
                  <a:srgbClr val="FF0000"/>
                </a:solidFill>
              </a:rPr>
              <a:t> "banana"</a:t>
            </a:r>
            <a:r>
              <a:rPr lang="en-US" altLang="en-US" sz="2000" dirty="0"/>
              <a:t> into </a:t>
            </a:r>
            <a:r>
              <a:rPr lang="en-US" altLang="en-US" sz="2000" i="1" dirty="0">
                <a:solidFill>
                  <a:srgbClr val="0070C0"/>
                </a:solidFill>
              </a:rPr>
              <a:t>target</a:t>
            </a:r>
            <a:r>
              <a:rPr lang="en-US" altLang="en-US" sz="2000" dirty="0">
                <a:solidFill>
                  <a:srgbClr val="0070C0"/>
                </a:solidFill>
              </a:rPr>
              <a:t> "anaconda"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518907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3164168E-B90C-4B93-9258-621026583816}"/>
              </a:ext>
            </a:extLst>
          </p:cNvPr>
          <p:cNvSpPr/>
          <p:nvPr/>
        </p:nvSpPr>
        <p:spPr bwMode="auto">
          <a:xfrm>
            <a:off x="7150021" y="5580857"/>
            <a:ext cx="457200" cy="457200"/>
          </a:xfrm>
          <a:prstGeom prst="ellipse">
            <a:avLst/>
          </a:prstGeom>
          <a:noFill/>
          <a:ln w="38100" cap="sq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56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Backtracking to Find the Edits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From </a:t>
            </a:r>
            <a:r>
              <a:rPr lang="en-US" altLang="en-US" sz="2400" b="1" dirty="0"/>
              <a:t>D</a:t>
            </a:r>
            <a:r>
              <a:rPr lang="en-US" altLang="en-US" sz="2400" dirty="0"/>
              <a:t>[6,8], go to lowest </a:t>
            </a:r>
            <a:r>
              <a:rPr lang="en-US" altLang="en-US" sz="2400" i="1" dirty="0"/>
              <a:t>prior</a:t>
            </a:r>
            <a:r>
              <a:rPr lang="en-US" altLang="en-US" sz="2400" dirty="0"/>
              <a:t> cell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If there is a choice, prefer diagonal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If no change in value, </a:t>
            </a:r>
            <a:r>
              <a:rPr lang="en-US" altLang="en-US" sz="2000" i="1" dirty="0"/>
              <a:t>no edit</a:t>
            </a:r>
            <a:r>
              <a:rPr lang="en-US" altLang="en-US" sz="2000" dirty="0"/>
              <a:t> was required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Else, </a:t>
            </a:r>
            <a:r>
              <a:rPr lang="en-US" altLang="en-US" sz="2000" i="1" dirty="0">
                <a:solidFill>
                  <a:srgbClr val="0070C0"/>
                </a:solidFill>
              </a:rPr>
              <a:t>left</a:t>
            </a:r>
            <a:r>
              <a:rPr lang="en-US" altLang="en-US" sz="2000" dirty="0">
                <a:solidFill>
                  <a:srgbClr val="0070C0"/>
                </a:solidFill>
              </a:rPr>
              <a:t> for </a:t>
            </a:r>
            <a:r>
              <a:rPr lang="en-US" altLang="en-US" sz="2000" i="1" dirty="0">
                <a:solidFill>
                  <a:srgbClr val="0070C0"/>
                </a:solidFill>
              </a:rPr>
              <a:t>insert</a:t>
            </a:r>
            <a:r>
              <a:rPr lang="en-US" altLang="en-US" sz="2000" dirty="0"/>
              <a:t>, </a:t>
            </a:r>
            <a:r>
              <a:rPr lang="en-US" altLang="en-US" sz="2000" i="1" dirty="0" err="1">
                <a:solidFill>
                  <a:srgbClr val="FF0000"/>
                </a:solidFill>
              </a:rPr>
              <a:t>diag</a:t>
            </a:r>
            <a:r>
              <a:rPr lang="en-US" altLang="en-US" sz="2000" dirty="0">
                <a:solidFill>
                  <a:srgbClr val="FF0000"/>
                </a:solidFill>
              </a:rPr>
              <a:t> for </a:t>
            </a:r>
            <a:r>
              <a:rPr lang="en-US" altLang="en-US" sz="2000" i="1" dirty="0">
                <a:solidFill>
                  <a:srgbClr val="FF0000"/>
                </a:solidFill>
              </a:rPr>
              <a:t>replace</a:t>
            </a:r>
            <a:r>
              <a:rPr lang="en-US" altLang="en-US" sz="2000" dirty="0"/>
              <a:t>, </a:t>
            </a:r>
            <a:r>
              <a:rPr lang="en-US" altLang="en-US" sz="2000" i="1" dirty="0">
                <a:solidFill>
                  <a:srgbClr val="00B050"/>
                </a:solidFill>
              </a:rPr>
              <a:t>up</a:t>
            </a:r>
            <a:r>
              <a:rPr lang="en-US" altLang="en-US" sz="2000" dirty="0">
                <a:solidFill>
                  <a:srgbClr val="00B050"/>
                </a:solidFill>
              </a:rPr>
              <a:t> for </a:t>
            </a:r>
            <a:r>
              <a:rPr lang="en-US" altLang="en-US" sz="2000" i="1" dirty="0">
                <a:solidFill>
                  <a:srgbClr val="00B050"/>
                </a:solidFill>
              </a:rPr>
              <a:t>delete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026705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3164168E-B90C-4B93-9258-621026583816}"/>
              </a:ext>
            </a:extLst>
          </p:cNvPr>
          <p:cNvSpPr/>
          <p:nvPr/>
        </p:nvSpPr>
        <p:spPr bwMode="auto">
          <a:xfrm>
            <a:off x="7150021" y="5580857"/>
            <a:ext cx="457200" cy="457200"/>
          </a:xfrm>
          <a:prstGeom prst="ellipse">
            <a:avLst/>
          </a:prstGeom>
          <a:noFill/>
          <a:ln w="38100" cap="sq" cmpd="sng" algn="ctr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0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Backtracking to Find the Edits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>
                <a:solidFill>
                  <a:srgbClr val="00B050"/>
                </a:solidFill>
              </a:rPr>
              <a:t>Delete</a:t>
            </a:r>
            <a:r>
              <a:rPr lang="en-US" altLang="en-US" sz="2400" dirty="0"/>
              <a:t> </a:t>
            </a:r>
            <a:r>
              <a:rPr lang="en-US" altLang="en-US" sz="2400" b="1" dirty="0"/>
              <a:t>b</a:t>
            </a:r>
            <a:r>
              <a:rPr lang="en-US" altLang="en-US" sz="2400" dirty="0"/>
              <a:t>; no edits for </a:t>
            </a:r>
            <a:r>
              <a:rPr lang="en-US" altLang="en-US" sz="2400" b="1" dirty="0"/>
              <a:t>a</a:t>
            </a:r>
            <a:r>
              <a:rPr lang="en-US" altLang="en-US" sz="2400" dirty="0"/>
              <a:t>, </a:t>
            </a:r>
            <a:r>
              <a:rPr lang="en-US" altLang="en-US" sz="2400" b="1" dirty="0"/>
              <a:t>n</a:t>
            </a:r>
            <a:r>
              <a:rPr lang="en-US" altLang="en-US" sz="2400" dirty="0"/>
              <a:t>, </a:t>
            </a:r>
            <a:r>
              <a:rPr lang="en-US" altLang="en-US" sz="2400" b="1" dirty="0"/>
              <a:t>a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rgbClr val="0070C0"/>
                </a:solidFill>
              </a:rPr>
              <a:t>insert</a:t>
            </a:r>
            <a:r>
              <a:rPr lang="en-US" altLang="en-US" sz="2400" dirty="0"/>
              <a:t> </a:t>
            </a:r>
            <a:r>
              <a:rPr lang="en-US" altLang="en-US" sz="2400" b="1" dirty="0"/>
              <a:t>c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o</a:t>
            </a:r>
            <a:r>
              <a:rPr lang="en-US" altLang="en-US" sz="2400" dirty="0"/>
              <a:t>; no edit for </a:t>
            </a:r>
            <a:r>
              <a:rPr lang="en-US" altLang="en-US" sz="2400" b="1" dirty="0"/>
              <a:t>n</a:t>
            </a:r>
            <a:r>
              <a:rPr lang="en-US" altLang="en-US" sz="2400" dirty="0"/>
              <a:t>; </a:t>
            </a:r>
            <a:r>
              <a:rPr lang="en-US" altLang="en-US" sz="2400" dirty="0">
                <a:solidFill>
                  <a:srgbClr val="0070C0"/>
                </a:solidFill>
              </a:rPr>
              <a:t>insert</a:t>
            </a:r>
            <a:r>
              <a:rPr lang="en-US" altLang="en-US" sz="2400" dirty="0"/>
              <a:t> </a:t>
            </a:r>
            <a:r>
              <a:rPr lang="en-US" altLang="en-US" sz="2400" b="1" dirty="0"/>
              <a:t>d</a:t>
            </a:r>
            <a:r>
              <a:rPr lang="en-US" altLang="en-US" sz="2400" dirty="0"/>
              <a:t>; no edit for </a:t>
            </a:r>
            <a:r>
              <a:rPr lang="en-US" altLang="en-US" sz="2400" b="1" dirty="0"/>
              <a:t>a</a:t>
            </a:r>
            <a:r>
              <a:rPr lang="en-US" altLang="en-US" sz="2400" dirty="0"/>
              <a:t> 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</a:rPr>
              <a:t>b</a:t>
            </a:r>
            <a:r>
              <a:rPr lang="en-US" altLang="en-US" sz="2000" b="1" dirty="0">
                <a:solidFill>
                  <a:srgbClr val="FF0000"/>
                </a:solidFill>
              </a:rPr>
              <a:t>anana -&gt; </a:t>
            </a:r>
            <a:r>
              <a:rPr lang="en-US" altLang="en-US" sz="2000" b="1" dirty="0" err="1"/>
              <a:t>ana</a:t>
            </a:r>
            <a:r>
              <a:rPr lang="en-US" altLang="en-US" sz="2000" b="1" dirty="0" err="1">
                <a:solidFill>
                  <a:srgbClr val="FF0000"/>
                </a:solidFill>
              </a:rPr>
              <a:t>na</a:t>
            </a:r>
            <a:r>
              <a:rPr lang="en-US" altLang="en-US" sz="2000" b="1" dirty="0">
                <a:solidFill>
                  <a:srgbClr val="FF0000"/>
                </a:solidFill>
              </a:rPr>
              <a:t> -&gt; </a:t>
            </a:r>
            <a:r>
              <a:rPr lang="en-US" altLang="en-US" sz="2000" b="1" dirty="0" err="1"/>
              <a:t>ana</a:t>
            </a:r>
            <a:r>
              <a:rPr lang="en-US" altLang="en-US" sz="2000" b="1" dirty="0" err="1">
                <a:solidFill>
                  <a:srgbClr val="0070C0"/>
                </a:solidFill>
              </a:rPr>
              <a:t>c</a:t>
            </a:r>
            <a:r>
              <a:rPr lang="en-US" altLang="en-US" sz="2000" b="1" dirty="0" err="1">
                <a:solidFill>
                  <a:srgbClr val="FF0000"/>
                </a:solidFill>
              </a:rPr>
              <a:t>na</a:t>
            </a:r>
            <a:r>
              <a:rPr lang="en-US" altLang="en-US" sz="2000" b="1" dirty="0">
                <a:solidFill>
                  <a:srgbClr val="FF0000"/>
                </a:solidFill>
              </a:rPr>
              <a:t> -&gt; </a:t>
            </a:r>
            <a:r>
              <a:rPr lang="en-US" altLang="en-US" sz="2000" b="1" dirty="0" err="1"/>
              <a:t>ana</a:t>
            </a:r>
            <a:r>
              <a:rPr lang="en-US" altLang="en-US" sz="2000" b="1" dirty="0" err="1">
                <a:solidFill>
                  <a:srgbClr val="0070C0"/>
                </a:solidFill>
              </a:rPr>
              <a:t>co</a:t>
            </a:r>
            <a:r>
              <a:rPr lang="en-US" altLang="en-US" sz="2000" b="1" dirty="0" err="1">
                <a:solidFill>
                  <a:srgbClr val="FF0000"/>
                </a:solidFill>
              </a:rPr>
              <a:t>na</a:t>
            </a:r>
            <a:r>
              <a:rPr lang="en-US" altLang="en-US" sz="2000" b="1" dirty="0">
                <a:solidFill>
                  <a:srgbClr val="FF0000"/>
                </a:solidFill>
              </a:rPr>
              <a:t> -&gt; </a:t>
            </a:r>
            <a:r>
              <a:rPr lang="en-US" altLang="en-US" sz="2000" b="1" dirty="0"/>
              <a:t>ana</a:t>
            </a:r>
            <a:r>
              <a:rPr lang="en-US" altLang="en-US" sz="2000" b="1" dirty="0">
                <a:solidFill>
                  <a:srgbClr val="0070C0"/>
                </a:solidFill>
              </a:rPr>
              <a:t>co</a:t>
            </a:r>
            <a:r>
              <a:rPr lang="en-US" altLang="en-US" sz="2000" b="1" dirty="0"/>
              <a:t>n</a:t>
            </a:r>
            <a:r>
              <a:rPr lang="en-US" altLang="en-US" sz="2000" b="1" dirty="0">
                <a:solidFill>
                  <a:srgbClr val="0070C0"/>
                </a:solidFill>
              </a:rPr>
              <a:t>d</a:t>
            </a:r>
            <a:r>
              <a:rPr lang="en-US" altLang="en-US" sz="2000" b="1" dirty="0"/>
              <a:t>a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           </a:t>
            </a:r>
            <a:r>
              <a:rPr lang="en-US" altLang="en-US" sz="2000" b="1" dirty="0"/>
              <a:t>D</a:t>
            </a:r>
          </a:p>
          <a:p>
            <a:pPr eaLnBrk="1" hangingPunct="1">
              <a:spcBef>
                <a:spcPts val="0"/>
              </a:spcBef>
            </a:pPr>
            <a:endParaRPr lang="en-US" altLang="en-US" sz="2400" dirty="0"/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2800" dirty="0"/>
          </a:p>
          <a:p>
            <a:pPr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F9F25C-41A4-49E1-8DB3-9DE1F7B7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6485"/>
              </p:ext>
            </p:extLst>
          </p:nvPr>
        </p:nvGraphicFramePr>
        <p:xfrm>
          <a:off x="2590800" y="3505200"/>
          <a:ext cx="50292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5942582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693927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1055459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13869882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11908316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37408938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555349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861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""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593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452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46185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69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981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Edit Distance Performance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000" dirty="0"/>
              <a:t>The algorithm involves 2 nested loops, so performance is O(</a:t>
            </a:r>
            <a:r>
              <a:rPr lang="en-US" altLang="en-US" sz="2000" b="1" dirty="0"/>
              <a:t>N</a:t>
            </a:r>
            <a:r>
              <a:rPr lang="en-US" altLang="en-US" sz="2000" b="1" baseline="30000" dirty="0"/>
              <a:t>2</a:t>
            </a:r>
            <a:r>
              <a:rPr lang="en-US" altLang="en-US" sz="2000" dirty="0"/>
              <a:t>)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eaLnBrk="1" hangingPunct="1">
              <a:spcBef>
                <a:spcPts val="0"/>
              </a:spcBef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95093F-53FF-41DE-8E0A-2EA63CDF2F72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2020, John K. Ostlund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9999-D056-4BBF-A4FE-A00E33F4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5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Alternative Formulation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Editing operations may have different </a:t>
            </a:r>
            <a:r>
              <a:rPr lang="en-US" altLang="en-US" sz="2600" i="1" dirty="0"/>
              <a:t>costs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200" dirty="0"/>
              <a:t>For example: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Insert</a:t>
            </a:r>
            <a:r>
              <a:rPr lang="en-US" altLang="en-US" sz="1800" dirty="0"/>
              <a:t> a character into the source		cost 1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Delete</a:t>
            </a:r>
            <a:r>
              <a:rPr lang="en-US" altLang="en-US" sz="1800" dirty="0"/>
              <a:t> a character from the source	cost 1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1800" i="1" dirty="0"/>
              <a:t>Replace</a:t>
            </a:r>
            <a:r>
              <a:rPr lang="en-US" altLang="en-US" sz="1800" dirty="0"/>
              <a:t> a character in the source		</a:t>
            </a:r>
            <a:r>
              <a:rPr lang="en-US" altLang="en-US" sz="1800" dirty="0">
                <a:solidFill>
                  <a:srgbClr val="FF0000"/>
                </a:solidFill>
              </a:rPr>
              <a:t>cost 2</a:t>
            </a:r>
          </a:p>
          <a:p>
            <a:pPr eaLnBrk="1" hangingPunct="1">
              <a:spcBef>
                <a:spcPts val="0"/>
              </a:spcBef>
            </a:pPr>
            <a:endParaRPr lang="en-US" altLang="en-US" sz="800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600" dirty="0"/>
              <a:t>This alters how interior cells are computed</a:t>
            </a:r>
            <a:endParaRPr lang="en-US" alt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96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Interior Cells with Different Costs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400" dirty="0"/>
              <a:t>Each cell </a:t>
            </a:r>
            <a:r>
              <a:rPr lang="en-US" altLang="en-US" sz="2400" b="1" dirty="0"/>
              <a:t>D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i</a:t>
            </a:r>
            <a:r>
              <a:rPr lang="en-US" altLang="en-US" sz="2400" dirty="0" err="1"/>
              <a:t>,</a:t>
            </a:r>
            <a:r>
              <a:rPr lang="en-US" altLang="en-US" sz="2400" i="1" dirty="0" err="1"/>
              <a:t>j</a:t>
            </a:r>
            <a:r>
              <a:rPr lang="en-US" altLang="en-US" sz="2400" dirty="0"/>
              <a:t>] is the (minimum) edit distance (in terms of cost) from </a:t>
            </a:r>
            <a:r>
              <a:rPr lang="en-US" altLang="en-US" sz="2400" i="1" dirty="0" err="1"/>
              <a:t>src</a:t>
            </a:r>
            <a:r>
              <a:rPr lang="en-US" altLang="en-US" sz="2400" i="1" baseline="-25000" dirty="0" err="1"/>
              <a:t>i</a:t>
            </a:r>
            <a:r>
              <a:rPr lang="en-US" altLang="en-US" sz="2400" dirty="0"/>
              <a:t> to </a:t>
            </a:r>
            <a:r>
              <a:rPr lang="en-US" altLang="en-US" sz="2400" i="1" dirty="0" err="1"/>
              <a:t>trg</a:t>
            </a:r>
            <a:r>
              <a:rPr lang="en-US" altLang="en-US" sz="2400" i="1" baseline="-25000" dirty="0" err="1"/>
              <a:t>j</a:t>
            </a:r>
            <a:endParaRPr lang="en-US" altLang="en-US" sz="2400" i="1" baseline="-25000" dirty="0"/>
          </a:p>
          <a:p>
            <a:pPr eaLnBrk="1" hangingPunct="1">
              <a:spcBef>
                <a:spcPts val="0"/>
              </a:spcBef>
            </a:pPr>
            <a:r>
              <a:rPr lang="en-US" altLang="en-US" sz="2400" b="1" dirty="0"/>
              <a:t>D</a:t>
            </a:r>
            <a:r>
              <a:rPr lang="en-US" altLang="en-US" sz="2400" dirty="0"/>
              <a:t>[</a:t>
            </a:r>
            <a:r>
              <a:rPr lang="en-US" altLang="en-US" sz="2400" i="1" dirty="0"/>
              <a:t>i</a:t>
            </a:r>
            <a:r>
              <a:rPr lang="en-US" altLang="en-US" sz="2400" dirty="0"/>
              <a:t>+1,</a:t>
            </a:r>
            <a:r>
              <a:rPr lang="en-US" altLang="en-US" sz="2400" i="1" dirty="0"/>
              <a:t>j</a:t>
            </a:r>
            <a:r>
              <a:rPr lang="en-US" altLang="en-US" sz="2400" dirty="0"/>
              <a:t>+1] will be: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If source character </a:t>
            </a:r>
            <a:r>
              <a:rPr lang="en-US" altLang="en-US" sz="2000" i="1" dirty="0"/>
              <a:t>i</a:t>
            </a:r>
            <a:r>
              <a:rPr lang="en-US" altLang="en-US" sz="2000" dirty="0"/>
              <a:t>+1 matches target character </a:t>
            </a:r>
            <a:r>
              <a:rPr lang="en-US" altLang="en-US" sz="2000" i="1" dirty="0"/>
              <a:t>j</a:t>
            </a:r>
            <a:r>
              <a:rPr lang="en-US" altLang="en-US" sz="2000" dirty="0"/>
              <a:t>+1, then </a:t>
            </a:r>
            <a:r>
              <a:rPr lang="en-US" altLang="en-US" sz="2000" i="1" dirty="0"/>
              <a:t>no edit required</a:t>
            </a:r>
            <a:r>
              <a:rPr lang="en-US" altLang="en-US" sz="2000" dirty="0"/>
              <a:t>, so </a:t>
            </a:r>
            <a:r>
              <a:rPr lang="en-US" altLang="en-US" sz="2000" b="1" dirty="0"/>
              <a:t>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</a:t>
            </a:r>
            <a:r>
              <a:rPr lang="en-US" altLang="en-US" sz="2000" dirty="0" err="1"/>
              <a:t>,</a:t>
            </a:r>
            <a:r>
              <a:rPr lang="en-US" altLang="en-US" sz="2000" i="1" dirty="0" err="1"/>
              <a:t>j</a:t>
            </a:r>
            <a:r>
              <a:rPr lang="en-US" altLang="en-US" sz="2000" dirty="0"/>
              <a:t>]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000" dirty="0"/>
              <a:t>Else </a:t>
            </a:r>
            <a:r>
              <a:rPr lang="en-US" altLang="en-US" sz="2000" i="1" dirty="0"/>
              <a:t>one edit required</a:t>
            </a:r>
            <a:r>
              <a:rPr lang="en-US" altLang="en-US" sz="2000" dirty="0"/>
              <a:t>, so min{2 + </a:t>
            </a:r>
            <a:r>
              <a:rPr lang="en-US" altLang="en-US" sz="2000" b="1" dirty="0"/>
              <a:t>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</a:t>
            </a:r>
            <a:r>
              <a:rPr lang="en-US" altLang="en-US" sz="2000" dirty="0" err="1"/>
              <a:t>,</a:t>
            </a:r>
            <a:r>
              <a:rPr lang="en-US" altLang="en-US" sz="2000" i="1" dirty="0" err="1"/>
              <a:t>j</a:t>
            </a:r>
            <a:r>
              <a:rPr lang="en-US" altLang="en-US" sz="2000" dirty="0"/>
              <a:t>],</a:t>
            </a:r>
            <a:endParaRPr lang="en-US" altLang="en-US" sz="2000" b="1" dirty="0"/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en-US" sz="2000" b="1" dirty="0"/>
              <a:t>			</a:t>
            </a:r>
            <a:r>
              <a:rPr lang="en-US" altLang="en-US" sz="2000" dirty="0"/>
              <a:t>1 + </a:t>
            </a:r>
            <a:r>
              <a:rPr lang="en-US" altLang="en-US" sz="2000" b="1" dirty="0"/>
              <a:t>D</a:t>
            </a:r>
            <a:r>
              <a:rPr lang="en-US" altLang="en-US" sz="2000" dirty="0"/>
              <a:t>[</a:t>
            </a:r>
            <a:r>
              <a:rPr lang="en-US" altLang="en-US" sz="2000" i="1" dirty="0"/>
              <a:t>i</a:t>
            </a:r>
            <a:r>
              <a:rPr lang="en-US" altLang="en-US" sz="2000" dirty="0"/>
              <a:t>+1,</a:t>
            </a:r>
            <a:r>
              <a:rPr lang="en-US" altLang="en-US" sz="2000" i="1" dirty="0"/>
              <a:t>j</a:t>
            </a:r>
            <a:r>
              <a:rPr lang="en-US" altLang="en-US" sz="2000" dirty="0"/>
              <a:t>], 1 +</a:t>
            </a:r>
            <a:r>
              <a:rPr lang="en-US" altLang="en-US" sz="2000" b="1" dirty="0"/>
              <a:t> D</a:t>
            </a:r>
            <a:r>
              <a:rPr lang="en-US" altLang="en-US" sz="2000" dirty="0"/>
              <a:t>[</a:t>
            </a:r>
            <a:r>
              <a:rPr lang="en-US" altLang="en-US" sz="2000" i="1" dirty="0"/>
              <a:t>i</a:t>
            </a:r>
            <a:r>
              <a:rPr lang="en-US" altLang="en-US" sz="2000" dirty="0"/>
              <a:t>,</a:t>
            </a:r>
            <a:r>
              <a:rPr lang="en-US" altLang="en-US" sz="2000" i="1" dirty="0"/>
              <a:t>j</a:t>
            </a:r>
            <a:r>
              <a:rPr lang="en-US" altLang="en-US" sz="2000" dirty="0"/>
              <a:t>+1]}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endParaRPr lang="en-US" altLang="en-US" sz="20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200" i="1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49D69B-1DD6-4188-B29D-FDCC45566EDA}" type="datetime1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/>
              <a:t>Copyright (c) 2020, John K. </a:t>
            </a:r>
            <a:r>
              <a:rPr lang="en-US" sz="1200" dirty="0" err="1"/>
              <a:t>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D4B4A-E5D7-42F1-BF25-B6588E1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46DA0C-9A53-4D52-A3BD-3698B6F00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232231"/>
              </p:ext>
            </p:extLst>
          </p:nvPr>
        </p:nvGraphicFramePr>
        <p:xfrm>
          <a:off x="2606040" y="4800600"/>
          <a:ext cx="15087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trg</a:t>
                      </a:r>
                      <a:r>
                        <a:rPr lang="en-US" sz="1400" b="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400" b="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140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40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D7B7EB-5A8F-4B5A-B47F-6C6735728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074445"/>
              </p:ext>
            </p:extLst>
          </p:nvPr>
        </p:nvGraphicFramePr>
        <p:xfrm>
          <a:off x="5501640" y="4800600"/>
          <a:ext cx="15087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388147457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63047413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341307622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 lang="en-US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trg</a:t>
                      </a:r>
                      <a:r>
                        <a:rPr lang="en-US" sz="1400" b="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400" b="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502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1400" i="1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400" i="1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i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3338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A8C9894-D861-4A71-B131-23CB1EC1474C}"/>
              </a:ext>
            </a:extLst>
          </p:cNvPr>
          <p:cNvSpPr txBox="1"/>
          <p:nvPr/>
        </p:nvSpPr>
        <p:spPr>
          <a:xfrm>
            <a:off x="5410200" y="59552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min(2+</a:t>
            </a:r>
            <a:r>
              <a:rPr lang="en-US" i="1" dirty="0"/>
              <a:t>m</a:t>
            </a:r>
            <a:r>
              <a:rPr lang="en-US" dirty="0"/>
              <a:t>,1+</a:t>
            </a:r>
            <a:r>
              <a:rPr lang="en-US" i="1" dirty="0"/>
              <a:t>n</a:t>
            </a:r>
            <a:r>
              <a:rPr lang="en-US" dirty="0"/>
              <a:t>,1+</a:t>
            </a:r>
            <a:r>
              <a:rPr lang="en-US" i="1" dirty="0"/>
              <a:t>p</a:t>
            </a:r>
            <a:r>
              <a:rPr lang="en-US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015C2C-13D3-423E-A0EC-B0DACAC8EA4B}"/>
              </a:ext>
            </a:extLst>
          </p:cNvPr>
          <p:cNvCxnSpPr>
            <a:cxnSpLocks/>
          </p:cNvCxnSpPr>
          <p:nvPr/>
        </p:nvCxnSpPr>
        <p:spPr bwMode="auto">
          <a:xfrm flipV="1">
            <a:off x="6457950" y="5524500"/>
            <a:ext cx="304800" cy="492125"/>
          </a:xfrm>
          <a:prstGeom prst="straightConnector1">
            <a:avLst/>
          </a:prstGeom>
          <a:solidFill>
            <a:schemeClr val="accent1"/>
          </a:solidFill>
          <a:ln w="381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2732855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53711</TotalTime>
  <Words>2178</Words>
  <Application>Microsoft Office PowerPoint</Application>
  <PresentationFormat>On-screen Show (4:3)</PresentationFormat>
  <Paragraphs>887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Tahoma</vt:lpstr>
      <vt:lpstr>Times New Roman</vt:lpstr>
      <vt:lpstr>Wingdings</vt:lpstr>
      <vt:lpstr>Blends</vt:lpstr>
      <vt:lpstr>MSCF Programming Prep 46-900</vt:lpstr>
      <vt:lpstr>Edit Distance</vt:lpstr>
      <vt:lpstr>Dynamic Programming Setup</vt:lpstr>
      <vt:lpstr>First Column</vt:lpstr>
      <vt:lpstr>First Row</vt:lpstr>
      <vt:lpstr>Interior Cells</vt:lpstr>
      <vt:lpstr>Second Row</vt:lpstr>
      <vt:lpstr>Third Row</vt:lpstr>
      <vt:lpstr>Fourth Row</vt:lpstr>
      <vt:lpstr>Fifth Row</vt:lpstr>
      <vt:lpstr>Sixth Row</vt:lpstr>
      <vt:lpstr>Seventh Row</vt:lpstr>
      <vt:lpstr>Backtracking to Find the Edits</vt:lpstr>
      <vt:lpstr>Backtracking to Find the Edits (cont.)</vt:lpstr>
      <vt:lpstr>Edit Distance Performance</vt:lpstr>
      <vt:lpstr>Alternative Formulation</vt:lpstr>
      <vt:lpstr>Interior Cells with Different Costs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915</cp:revision>
  <cp:lastPrinted>2020-08-16T21:31:17Z</cp:lastPrinted>
  <dcterms:created xsi:type="dcterms:W3CDTF">2003-08-31T19:53:38Z</dcterms:created>
  <dcterms:modified xsi:type="dcterms:W3CDTF">2021-08-08T13:57:38Z</dcterms:modified>
</cp:coreProperties>
</file>
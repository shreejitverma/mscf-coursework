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44"/>
  </p:notesMasterIdLst>
  <p:sldIdLst>
    <p:sldId id="257" r:id="rId2"/>
    <p:sldId id="717" r:id="rId3"/>
    <p:sldId id="730" r:id="rId4"/>
    <p:sldId id="727" r:id="rId5"/>
    <p:sldId id="772" r:id="rId6"/>
    <p:sldId id="773" r:id="rId7"/>
    <p:sldId id="775" r:id="rId8"/>
    <p:sldId id="776" r:id="rId9"/>
    <p:sldId id="777" r:id="rId10"/>
    <p:sldId id="752" r:id="rId11"/>
    <p:sldId id="778" r:id="rId12"/>
    <p:sldId id="779" r:id="rId13"/>
    <p:sldId id="780" r:id="rId14"/>
    <p:sldId id="781" r:id="rId15"/>
    <p:sldId id="782" r:id="rId16"/>
    <p:sldId id="783" r:id="rId17"/>
    <p:sldId id="784" r:id="rId18"/>
    <p:sldId id="786" r:id="rId19"/>
    <p:sldId id="785" r:id="rId20"/>
    <p:sldId id="787" r:id="rId21"/>
    <p:sldId id="788" r:id="rId22"/>
    <p:sldId id="789" r:id="rId23"/>
    <p:sldId id="790" r:id="rId24"/>
    <p:sldId id="791" r:id="rId25"/>
    <p:sldId id="792" r:id="rId26"/>
    <p:sldId id="793" r:id="rId27"/>
    <p:sldId id="794" r:id="rId28"/>
    <p:sldId id="795" r:id="rId29"/>
    <p:sldId id="796" r:id="rId30"/>
    <p:sldId id="797" r:id="rId31"/>
    <p:sldId id="798" r:id="rId32"/>
    <p:sldId id="799" r:id="rId33"/>
    <p:sldId id="800" r:id="rId34"/>
    <p:sldId id="801" r:id="rId35"/>
    <p:sldId id="802" r:id="rId36"/>
    <p:sldId id="803" r:id="rId37"/>
    <p:sldId id="804" r:id="rId38"/>
    <p:sldId id="805" r:id="rId39"/>
    <p:sldId id="806" r:id="rId40"/>
    <p:sldId id="807" r:id="rId41"/>
    <p:sldId id="808" r:id="rId42"/>
    <p:sldId id="809" r:id="rId43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61" autoAdjust="0"/>
    <p:restoredTop sz="95638" autoAdjust="0"/>
  </p:normalViewPr>
  <p:slideViewPr>
    <p:cSldViewPr>
      <p:cViewPr varScale="1">
        <p:scale>
          <a:sx n="104" d="100"/>
          <a:sy n="104" d="100"/>
        </p:scale>
        <p:origin x="126" y="14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2496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18" d="100"/>
          <a:sy n="118" d="100"/>
        </p:scale>
        <p:origin x="4062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4" tIns="48322" rIns="96644" bIns="48322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588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4" tIns="48322" rIns="96644" bIns="48322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04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19138"/>
            <a:ext cx="4802188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521" y="4560570"/>
            <a:ext cx="5852160" cy="432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4" tIns="48322" rIns="96644" bIns="4832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47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4" tIns="48322" rIns="96644" bIns="48322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47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588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4" tIns="48322" rIns="96644" bIns="48322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C3966094-34ED-42CC-B0A0-81B4FC9F48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90040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0C77F19E-6305-42C9-846D-8F6E264C89DD}" type="slidenum">
              <a:rPr lang="en-US" altLang="en-US" smtClean="0">
                <a:latin typeface="Times New Roman" pitchFamily="18" charset="0"/>
              </a:rPr>
              <a:pPr/>
              <a:t>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2991706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38542422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8680896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30317490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16722877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4457194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14654976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33996382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8602812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38218529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14055667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31160331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17284809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6809346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1550806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38276894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33669697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33377795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20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1588007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21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5995364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22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34408548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23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175674223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24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372101850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25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41909439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26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59395363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27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12402586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28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46389916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29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326800274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30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2590955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31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420218510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32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334797553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33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126314778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34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175570319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35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79123496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36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185029663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37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152626242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38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326515807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39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66849717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40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39258778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41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55000696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42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11003289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13825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825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A6C19D3A-EF7E-4685-ADFB-FAE5E136AE48}" type="datetime1">
              <a:rPr lang="en-US" smtClean="0"/>
              <a:t>8/2/2021</a:t>
            </a:fld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Copyright (c) 2020, John K. Ostlund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5239B93A-74DE-4B25-B352-2D94A7B0EC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8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57246B-E690-4F49-820C-0DAACA02A99A}" type="datetime1">
              <a:rPr lang="en-US" smtClean="0"/>
              <a:t>8/2/2021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2020, John K. Ostlund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9676BE-5AF2-4172-BD19-31A2F83EF2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231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662BDD-BBCE-45B8-A26D-5E5FBB4F04F2}" type="datetime1">
              <a:rPr lang="en-US" smtClean="0"/>
              <a:t>8/2/2021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2020, John K. Ostlund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441145-DF2F-4F5F-87FB-6F34B812BF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570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56E2A2-C91F-4E16-BBDD-E8B810D1E18D}" type="datetime1">
              <a:rPr lang="en-US" smtClean="0"/>
              <a:t>8/2/2021</a:t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2020, John K. Ostlund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3359A0-D876-470E-A03B-B54B4EF9A5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732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28B0F2-954A-4C47-9AC3-809C23178ED1}" type="datetime1">
              <a:rPr lang="en-US" smtClean="0"/>
              <a:t>8/2/2021</a:t>
            </a:fld>
            <a:endParaRPr lang="en-US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2020, John K. Ostlund</a:t>
            </a:r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55BDD2-431D-4473-B6F1-AD9C47ED04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490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04581F-6591-4E61-9239-EE852EE513A6}" type="datetime1">
              <a:rPr lang="en-US" smtClean="0"/>
              <a:t>8/2/2021</a:t>
            </a:fld>
            <a:endParaRPr lang="en-US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2020, John K. Ostlund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BC0419-96C4-40C9-AA2D-27D42EB4E3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91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55E839-58AC-47F1-AD5E-EAEDEBC09BBE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2020, John K. Ostlund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862B98-9A01-4C44-BDC6-515C05E58F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648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F06547-D156-4B7E-A3EC-07ABE3F4ED80}" type="datetime1">
              <a:rPr lang="en-US" smtClean="0"/>
              <a:t>8/2/2021</a:t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2020, John K. Ostlund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2D8208-D527-49A2-9034-D654B1EF28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374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7E946E-69BF-4D28-A5E0-05D13EF4AD77}" type="datetime1">
              <a:rPr lang="en-US" smtClean="0"/>
              <a:t>8/2/2021</a:t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2020, John K. Ostlund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169637-7F5D-47B5-84F3-031C50CD82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204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7EC1DF-C948-4689-A551-8282A4ED0DFF}" type="datetime1">
              <a:rPr lang="en-US" smtClean="0"/>
              <a:t>8/2/2021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2020, John K. Ostlund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9F3A7A-80FC-4CCB-802A-CD06628E14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063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58A9A6-E3B9-4E79-BA27-6E1685DB31F4}" type="datetime1">
              <a:rPr lang="en-US" smtClean="0"/>
              <a:t>8/2/2021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2020, John K. Ostlund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5F157A-85D2-470A-87E4-A935A04F8C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541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3722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fld id="{44D89B95-5035-4367-AFDE-AF3BA96F8A8B}" type="datetime1">
              <a:rPr lang="en-US" smtClean="0"/>
              <a:t>8/2/2021</a:t>
            </a:fld>
            <a:endParaRPr lang="en-US"/>
          </a:p>
        </p:txBody>
      </p:sp>
      <p:sp>
        <p:nvSpPr>
          <p:cNvPr id="13722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r>
              <a:rPr lang="en-US"/>
              <a:t>Copyright (c) 2020, John K. Ostlund</a:t>
            </a:r>
          </a:p>
        </p:txBody>
      </p:sp>
      <p:sp>
        <p:nvSpPr>
          <p:cNvPr id="13722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B6BFBACB-D4B5-4FCB-958C-A311D48A19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8" r:id="rId1"/>
    <p:sldLayoutId id="2147483808" r:id="rId2"/>
    <p:sldLayoutId id="2147483809" r:id="rId3"/>
    <p:sldLayoutId id="2147483810" r:id="rId4"/>
    <p:sldLayoutId id="2147483811" r:id="rId5"/>
    <p:sldLayoutId id="2147483812" r:id="rId6"/>
    <p:sldLayoutId id="2147483813" r:id="rId7"/>
    <p:sldLayoutId id="2147483814" r:id="rId8"/>
    <p:sldLayoutId id="2147483815" r:id="rId9"/>
    <p:sldLayoutId id="2147483816" r:id="rId10"/>
    <p:sldLayoutId id="2147483817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MSCF Programming Prep</a:t>
            </a:r>
            <a:br>
              <a:rPr lang="en-US" altLang="en-US" dirty="0"/>
            </a:br>
            <a:r>
              <a:rPr lang="en-US" altLang="en-US" dirty="0"/>
              <a:t>46-900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657600"/>
            <a:ext cx="6400800" cy="2209800"/>
          </a:xfrm>
        </p:spPr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dirty="0"/>
              <a:t>MSCF, Carnegie Mellon University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dirty="0"/>
              <a:t>Day 3, Part 2: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dirty="0"/>
              <a:t>Dynamic Programming: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dirty="0"/>
              <a:t>The 0/1 Knapsack Problem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11C2660-D65D-4BB0-9C38-01F871899573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200" dirty="0"/>
              <a:t>Copyright (c) 2020, John K. </a:t>
            </a:r>
            <a:r>
              <a:rPr lang="en-US" sz="1200" dirty="0" err="1"/>
              <a:t>Ostlund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8B94B9-082C-4A56-86AC-269A5D02F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39B93A-74DE-4B25-B352-2D94A7B0ECE9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Dynamic Programming In A Nutshell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Come up with a solution to your problem involving </a:t>
            </a:r>
            <a:r>
              <a:rPr lang="en-US" altLang="en-US" sz="2800" i="1" dirty="0">
                <a:solidFill>
                  <a:srgbClr val="FF0000"/>
                </a:solidFill>
              </a:rPr>
              <a:t>recursion</a:t>
            </a:r>
            <a:r>
              <a:rPr lang="en-US" altLang="en-US" sz="2800" dirty="0"/>
              <a:t> on simpler subproblems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Not clear which subproblem to solve first?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Methodically solve </a:t>
            </a:r>
            <a:r>
              <a:rPr lang="en-US" altLang="en-US" sz="2400" i="1" dirty="0">
                <a:solidFill>
                  <a:srgbClr val="FF0000"/>
                </a:solidFill>
              </a:rPr>
              <a:t>every subproblem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>
                <a:solidFill>
                  <a:schemeClr val="bg2"/>
                </a:solidFill>
              </a:rPr>
              <a:t>Pick the optimal solution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Add </a:t>
            </a:r>
            <a:r>
              <a:rPr lang="en-US" altLang="en-US" sz="2800" i="1" dirty="0" err="1">
                <a:solidFill>
                  <a:srgbClr val="FF0000"/>
                </a:solidFill>
              </a:rPr>
              <a:t>memoization</a:t>
            </a:r>
            <a:r>
              <a:rPr lang="en-US" altLang="en-US" sz="2800" dirty="0"/>
              <a:t> so that "recursion" becomes a lookup in a table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Converts an O(</a:t>
            </a:r>
            <a:r>
              <a:rPr lang="en-US" altLang="en-US" sz="2400" i="1" dirty="0"/>
              <a:t>exponential</a:t>
            </a:r>
            <a:r>
              <a:rPr lang="en-US" altLang="en-US" sz="2400" dirty="0"/>
              <a:t>) algorithm to an O(</a:t>
            </a:r>
            <a:r>
              <a:rPr lang="en-US" altLang="en-US" sz="2400" i="1" dirty="0"/>
              <a:t>polynomial</a:t>
            </a:r>
            <a:r>
              <a:rPr lang="en-US" altLang="en-US" sz="2400" dirty="0"/>
              <a:t>) algorithm</a:t>
            </a:r>
          </a:p>
          <a:p>
            <a:pPr lvl="2" eaLnBrk="1" hangingPunct="1">
              <a:spcBef>
                <a:spcPts val="0"/>
              </a:spcBef>
            </a:pPr>
            <a:r>
              <a:rPr lang="en-US" altLang="en-US" sz="2000" dirty="0"/>
              <a:t>In the case of Fibonacci numbers, O(N)</a:t>
            </a:r>
          </a:p>
          <a:p>
            <a:pPr lvl="2" eaLnBrk="1" hangingPunct="1">
              <a:spcBef>
                <a:spcPts val="0"/>
              </a:spcBef>
            </a:pPr>
            <a:r>
              <a:rPr lang="en-US" altLang="en-US" sz="2000" dirty="0"/>
              <a:t>Often O(N</a:t>
            </a:r>
            <a:r>
              <a:rPr lang="en-US" altLang="en-US" sz="2000" baseline="30000" dirty="0"/>
              <a:t>2</a:t>
            </a:r>
            <a:r>
              <a:rPr lang="en-US" altLang="en-US" sz="2000" dirty="0"/>
              <a:t>) or O(N</a:t>
            </a:r>
            <a:r>
              <a:rPr lang="en-US" altLang="en-US" sz="2000" baseline="30000" dirty="0"/>
              <a:t>3</a:t>
            </a:r>
            <a:r>
              <a:rPr lang="en-US" altLang="en-US" sz="2000" dirty="0"/>
              <a:t>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8DF9C3-6DF7-4131-9A2F-1F6113CDEF5D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Copyright (c) 2020, John K. Ostlund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46EE20-C05E-4EA6-8090-8DE565E72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9239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Dynamic Programming In A Nutshell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A Dynamic Programming problem typically involves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i="1" dirty="0">
                <a:solidFill>
                  <a:srgbClr val="FF0000"/>
                </a:solidFill>
              </a:rPr>
              <a:t>Maximizing</a:t>
            </a:r>
            <a:r>
              <a:rPr lang="en-US" altLang="en-US" sz="2400" dirty="0"/>
              <a:t> or </a:t>
            </a:r>
            <a:r>
              <a:rPr lang="en-US" altLang="en-US" sz="2400" i="1" dirty="0">
                <a:solidFill>
                  <a:srgbClr val="FF0000"/>
                </a:solidFill>
              </a:rPr>
              <a:t>minimizing</a:t>
            </a:r>
            <a:r>
              <a:rPr lang="en-US" altLang="en-US" sz="2400" dirty="0"/>
              <a:t> something</a:t>
            </a:r>
          </a:p>
          <a:p>
            <a:pPr lvl="2" eaLnBrk="1" hangingPunct="1">
              <a:spcBef>
                <a:spcPts val="0"/>
              </a:spcBef>
            </a:pPr>
            <a:r>
              <a:rPr lang="en-US" altLang="en-US" sz="2000" dirty="0"/>
              <a:t>Revenue; cost; distance; fuel required, …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i="1" dirty="0">
                <a:solidFill>
                  <a:srgbClr val="FF0000"/>
                </a:solidFill>
              </a:rPr>
              <a:t>Making decisions</a:t>
            </a:r>
            <a:r>
              <a:rPr lang="en-US" altLang="en-US" sz="2400" dirty="0"/>
              <a:t> along the way</a:t>
            </a:r>
          </a:p>
          <a:p>
            <a:pPr lvl="2" eaLnBrk="1" hangingPunct="1">
              <a:spcBef>
                <a:spcPts val="0"/>
              </a:spcBef>
            </a:pPr>
            <a:r>
              <a:rPr lang="en-US" altLang="en-US" sz="2000" dirty="0"/>
              <a:t>Turn left or right; buy, sell, hold, …</a:t>
            </a:r>
          </a:p>
          <a:p>
            <a:pPr lvl="2" eaLnBrk="1" hangingPunct="1">
              <a:spcBef>
                <a:spcPts val="0"/>
              </a:spcBef>
            </a:pPr>
            <a:r>
              <a:rPr lang="en-US" altLang="en-US" sz="2000" dirty="0"/>
              <a:t>Must try </a:t>
            </a:r>
            <a:r>
              <a:rPr lang="en-US" altLang="en-US" sz="2000" i="1" dirty="0"/>
              <a:t>every</a:t>
            </a:r>
            <a:r>
              <a:rPr lang="en-US" altLang="en-US" sz="2000" dirty="0"/>
              <a:t> possible decision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FD46EAE-1224-4671-A840-EB28444FCE79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200" dirty="0"/>
              <a:t>Copyright (c) 2020, John K. </a:t>
            </a:r>
            <a:r>
              <a:rPr lang="en-US" sz="1200" dirty="0" err="1"/>
              <a:t>Ostlund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68700C-6F68-414F-839C-6E52749B0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097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Example: 0/1 Knapsack Problem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You are going on a day hike</a:t>
            </a:r>
            <a:endParaRPr lang="en-US" altLang="en-US" sz="2400" i="1" dirty="0">
              <a:solidFill>
                <a:srgbClr val="FF0000"/>
              </a:solidFill>
            </a:endParaRP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You have a </a:t>
            </a:r>
            <a:r>
              <a:rPr lang="en-US" altLang="en-US" sz="2400" dirty="0">
                <a:solidFill>
                  <a:srgbClr val="FF0000"/>
                </a:solidFill>
              </a:rPr>
              <a:t>knapsack</a:t>
            </a:r>
            <a:r>
              <a:rPr lang="en-US" altLang="en-US" sz="2400" dirty="0"/>
              <a:t> to hold </a:t>
            </a:r>
            <a:r>
              <a:rPr lang="en-US" altLang="en-US" sz="2400" i="1" dirty="0"/>
              <a:t>items</a:t>
            </a:r>
            <a:r>
              <a:rPr lang="en-US" altLang="en-US" sz="2400" dirty="0"/>
              <a:t> for your hike</a:t>
            </a:r>
          </a:p>
          <a:p>
            <a:pPr lvl="2" eaLnBrk="1" hangingPunct="1">
              <a:spcBef>
                <a:spcPts val="0"/>
              </a:spcBef>
            </a:pPr>
            <a:r>
              <a:rPr lang="en-US" altLang="en-US" sz="2000" dirty="0"/>
              <a:t>Flashlight, rain poncho, sandwich, water bottle, folding knife, GPS tracker, Coleman gas stove, binoculars, …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Items are </a:t>
            </a:r>
            <a:r>
              <a:rPr lang="en-US" altLang="en-US" sz="2400" i="1" dirty="0">
                <a:solidFill>
                  <a:srgbClr val="FF0000"/>
                </a:solidFill>
              </a:rPr>
              <a:t>discrete</a:t>
            </a:r>
          </a:p>
          <a:p>
            <a:pPr lvl="2" eaLnBrk="1" hangingPunct="1">
              <a:spcBef>
                <a:spcPts val="0"/>
              </a:spcBef>
            </a:pPr>
            <a:r>
              <a:rPr lang="en-US" altLang="en-US" sz="2000" dirty="0"/>
              <a:t>You cannot bring 2/3 of a flashlight, just </a:t>
            </a:r>
            <a:r>
              <a:rPr lang="en-US" altLang="en-US" sz="2000" dirty="0">
                <a:solidFill>
                  <a:srgbClr val="FF0000"/>
                </a:solidFill>
              </a:rPr>
              <a:t>0 or 1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Each item weighs some integer multiple of 1/2 pound--a </a:t>
            </a:r>
            <a:r>
              <a:rPr lang="en-US" altLang="en-US" sz="2400" i="1" dirty="0">
                <a:solidFill>
                  <a:srgbClr val="FF0000"/>
                </a:solidFill>
              </a:rPr>
              <a:t>weight unit</a:t>
            </a:r>
          </a:p>
          <a:p>
            <a:pPr lvl="2" eaLnBrk="1" hangingPunct="1">
              <a:spcBef>
                <a:spcPts val="0"/>
              </a:spcBef>
            </a:pPr>
            <a:r>
              <a:rPr lang="en-US" altLang="en-US" sz="2000" dirty="0"/>
              <a:t>A sandwich is 1 weight unit, a water bottle is 2 weight units, a Coleman stove is 88 weight units, and so forth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Each item has some utility, or benefit, or </a:t>
            </a:r>
            <a:r>
              <a:rPr lang="en-US" altLang="en-US" sz="2400" i="1" dirty="0">
                <a:solidFill>
                  <a:srgbClr val="FF0000"/>
                </a:solidFill>
              </a:rPr>
              <a:t>value</a:t>
            </a:r>
            <a:r>
              <a:rPr lang="en-US" altLang="en-US" sz="2400" dirty="0"/>
              <a:t> to your successful enjoyment of the hike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7637C97-D38D-4E98-BC9B-7835360D66EC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200" dirty="0"/>
              <a:t>Copyright (c) 2020, John K. </a:t>
            </a:r>
            <a:r>
              <a:rPr lang="en-US" sz="1200" dirty="0" err="1"/>
              <a:t>Ostlund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10343C-7E36-4DDB-9094-B7CC257E9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177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Example: 0/1 Knapsack Problem (</a:t>
            </a:r>
            <a:r>
              <a:rPr lang="en-US" altLang="en-US" dirty="0" err="1"/>
              <a:t>cont</a:t>
            </a:r>
            <a:r>
              <a:rPr lang="en-US" altLang="en-US" dirty="0"/>
              <a:t>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Constraint: Your knapsack can hold at most 15 pounds (30 weight units)</a:t>
            </a:r>
          </a:p>
          <a:p>
            <a:pPr eaLnBrk="1" hangingPunct="1">
              <a:spcBef>
                <a:spcPts val="0"/>
              </a:spcBef>
            </a:pPr>
            <a:endParaRPr lang="en-US" altLang="en-US" sz="1200" i="1" dirty="0">
              <a:solidFill>
                <a:srgbClr val="FF0000"/>
              </a:solidFill>
            </a:endParaRPr>
          </a:p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Problem: Select items that </a:t>
            </a:r>
            <a:r>
              <a:rPr lang="en-US" altLang="en-US" sz="2800" i="1" dirty="0">
                <a:solidFill>
                  <a:srgbClr val="FF0000"/>
                </a:solidFill>
              </a:rPr>
              <a:t>maximize the value</a:t>
            </a:r>
            <a:r>
              <a:rPr lang="en-US" altLang="en-US" sz="2800" dirty="0"/>
              <a:t> of what you carry, </a:t>
            </a:r>
            <a:r>
              <a:rPr lang="en-US" altLang="en-US" sz="2800" i="1" dirty="0">
                <a:solidFill>
                  <a:srgbClr val="FF0000"/>
                </a:solidFill>
              </a:rPr>
              <a:t>subject to the weight constraint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66B935C-9D46-4867-92D4-622A917D0732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200" dirty="0"/>
              <a:t>Copyright (c) 2020, John K. </a:t>
            </a:r>
            <a:r>
              <a:rPr lang="en-US" sz="1200" dirty="0" err="1"/>
              <a:t>Ostlund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4DB24C-C4E8-4554-960A-1CA2430D2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178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Brute Force Solution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For each possible subset of items</a:t>
            </a:r>
            <a:endParaRPr lang="en-US" altLang="en-US" sz="2400" i="1" dirty="0">
              <a:solidFill>
                <a:srgbClr val="FF0000"/>
              </a:solidFill>
            </a:endParaRP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If that subset will fit in the knapsack</a:t>
            </a:r>
          </a:p>
          <a:p>
            <a:pPr lvl="2" eaLnBrk="1" hangingPunct="1">
              <a:spcBef>
                <a:spcPts val="0"/>
              </a:spcBef>
            </a:pPr>
            <a:r>
              <a:rPr lang="en-US" altLang="en-US" sz="2000" dirty="0"/>
              <a:t>Compute the subset's value</a:t>
            </a:r>
          </a:p>
          <a:p>
            <a:pPr lvl="2" eaLnBrk="1" hangingPunct="1">
              <a:spcBef>
                <a:spcPts val="0"/>
              </a:spcBef>
            </a:pPr>
            <a:r>
              <a:rPr lang="en-US" altLang="en-US" sz="2000" dirty="0"/>
              <a:t>Keep track of the maximum value</a:t>
            </a:r>
          </a:p>
          <a:p>
            <a:pPr eaLnBrk="1" hangingPunct="1">
              <a:spcBef>
                <a:spcPts val="0"/>
              </a:spcBef>
            </a:pPr>
            <a:endParaRPr lang="en-US" altLang="en-US" sz="1200" dirty="0"/>
          </a:p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Big problem (literally):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If there are </a:t>
            </a:r>
            <a:r>
              <a:rPr lang="en-US" altLang="en-US" sz="2400" i="1" dirty="0"/>
              <a:t>N</a:t>
            </a:r>
            <a:r>
              <a:rPr lang="en-US" altLang="en-US" sz="2400" dirty="0"/>
              <a:t> items, we have to consider all possible subsets of 1 item, all of 2 items, …, all of </a:t>
            </a:r>
            <a:r>
              <a:rPr lang="en-US" altLang="en-US" sz="2400" i="1" dirty="0"/>
              <a:t>N</a:t>
            </a:r>
            <a:r>
              <a:rPr lang="en-US" altLang="en-US" sz="2400" dirty="0"/>
              <a:t>-1 items, and all of </a:t>
            </a:r>
            <a:r>
              <a:rPr lang="en-US" altLang="en-US" sz="2400" i="1" dirty="0"/>
              <a:t>N</a:t>
            </a:r>
            <a:r>
              <a:rPr lang="en-US" altLang="en-US" sz="2400" dirty="0"/>
              <a:t> items</a:t>
            </a:r>
          </a:p>
          <a:p>
            <a:pPr lvl="2" eaLnBrk="1" hangingPunct="1">
              <a:spcBef>
                <a:spcPts val="0"/>
              </a:spcBef>
            </a:pPr>
            <a:r>
              <a:rPr lang="en-US" altLang="en-US" sz="2000" dirty="0"/>
              <a:t>For mathematical simplicity, also include the subset of 0 items, with value 0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6386B31-2093-4139-8317-01B70EC419ED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200" dirty="0"/>
              <a:t>Copyright (c) 2020, John K. </a:t>
            </a:r>
            <a:r>
              <a:rPr lang="en-US" sz="1200" dirty="0" err="1"/>
              <a:t>Ostlund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6D27E3-4CCA-43B2-AE75-94BE7E544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763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Brute Force Solution (cont.)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579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indent="0" eaLnBrk="1" hangingPunct="1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000" b="0" i="1" smtClean="0">
                          <a:latin typeface="Cambria Math" panose="02040503050406030204" pitchFamily="18" charset="0"/>
                        </a:rPr>
                        <m:t># </m:t>
                      </m:r>
                      <m:r>
                        <a:rPr lang="en-US" altLang="en-US" sz="2000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alt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en-US" sz="2000" b="0" i="1" smtClean="0">
                          <a:latin typeface="Cambria Math" panose="02040503050406030204" pitchFamily="18" charset="0"/>
                        </a:rPr>
                        <m:t>𝑠𝑢𝑏𝑠𝑒𝑡𝑠</m:t>
                      </m:r>
                      <m:r>
                        <a:rPr lang="en-US" altLang="en-US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pt-BR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altLang="en-US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altLang="en-US" sz="20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d>
                            <m:dPr>
                              <m:ctrlPr>
                                <a:rPr lang="pt-BR" alt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t-BR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en-US" sz="20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num>
                                <m:den>
                                  <m:r>
                                    <a:rPr lang="pt-BR" altLang="en-US" sz="20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en-US" altLang="en-US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BR" alt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altLang="en-US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altLang="en-US" sz="20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pt-BR" alt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num>
                            <m:den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  <m:d>
                                <m:dPr>
                                  <m:ctrlPr>
                                    <a:rPr lang="en-US" alt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en-US" sz="20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en-US" altLang="en-US" sz="20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en-US" sz="20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altLang="en-US" sz="2000" dirty="0"/>
              </a:p>
              <a:p>
                <a:pPr eaLnBrk="1" hangingPunct="1">
                  <a:spcBef>
                    <a:spcPts val="0"/>
                  </a:spcBef>
                </a:pPr>
                <a:endParaRPr lang="en-US" altLang="en-US" sz="2800" dirty="0"/>
              </a:p>
              <a:p>
                <a:pPr eaLnBrk="1" hangingPunct="1">
                  <a:spcBef>
                    <a:spcPts val="0"/>
                  </a:spcBef>
                </a:pPr>
                <a:r>
                  <a:rPr lang="en-US" altLang="en-US" sz="2800" dirty="0"/>
                  <a:t>Or, think of each item as a </a:t>
                </a:r>
                <a:r>
                  <a:rPr lang="en-US" altLang="en-US" sz="2800" i="1" dirty="0"/>
                  <a:t>yes/no</a:t>
                </a:r>
                <a:r>
                  <a:rPr lang="en-US" altLang="en-US" sz="2800" dirty="0"/>
                  <a:t> decision: to pack, or not to pack</a:t>
                </a:r>
                <a:endParaRPr lang="en-US" altLang="en-US" sz="2400" i="1" dirty="0">
                  <a:solidFill>
                    <a:srgbClr val="FF0000"/>
                  </a:solidFill>
                </a:endParaRPr>
              </a:p>
              <a:p>
                <a:pPr lvl="1" eaLnBrk="1" hangingPunct="1">
                  <a:spcBef>
                    <a:spcPts val="0"/>
                  </a:spcBef>
                </a:pPr>
                <a:r>
                  <a:rPr lang="en-US" altLang="en-US" sz="2400" dirty="0"/>
                  <a:t>So for </a:t>
                </a:r>
                <a:r>
                  <a:rPr lang="en-US" altLang="en-US" sz="2400" i="1" dirty="0"/>
                  <a:t>N</a:t>
                </a:r>
                <a:r>
                  <a:rPr lang="en-US" altLang="en-US" sz="2400" dirty="0"/>
                  <a:t> items there are </a:t>
                </a:r>
                <a:r>
                  <a:rPr lang="en-US" altLang="en-US" sz="2400" b="1" dirty="0">
                    <a:solidFill>
                      <a:srgbClr val="FF0000"/>
                    </a:solidFill>
                  </a:rPr>
                  <a:t>2</a:t>
                </a:r>
                <a:r>
                  <a:rPr lang="en-US" altLang="en-US" sz="2400" b="1" i="1" baseline="30000" dirty="0">
                    <a:solidFill>
                      <a:srgbClr val="FF0000"/>
                    </a:solidFill>
                  </a:rPr>
                  <a:t>N</a:t>
                </a:r>
                <a:r>
                  <a:rPr lang="en-US" altLang="en-US" sz="2400" dirty="0"/>
                  <a:t> possible decisions</a:t>
                </a:r>
              </a:p>
              <a:p>
                <a:pPr lvl="2" eaLnBrk="1" hangingPunct="1">
                  <a:spcBef>
                    <a:spcPts val="0"/>
                  </a:spcBef>
                </a:pPr>
                <a:r>
                  <a:rPr lang="en-US" altLang="en-US" sz="2000" dirty="0"/>
                  <a:t>(Golly, we have "discovered" a case of the binomial theorem!)</a:t>
                </a:r>
              </a:p>
              <a:p>
                <a:pPr eaLnBrk="1" hangingPunct="1">
                  <a:spcBef>
                    <a:spcPts val="0"/>
                  </a:spcBef>
                </a:pPr>
                <a:endParaRPr lang="en-US" altLang="en-US" sz="1200" dirty="0"/>
              </a:p>
              <a:p>
                <a:pPr eaLnBrk="1" hangingPunct="1">
                  <a:spcBef>
                    <a:spcPts val="0"/>
                  </a:spcBef>
                </a:pPr>
                <a:r>
                  <a:rPr lang="en-US" altLang="en-US" sz="2800" dirty="0"/>
                  <a:t>We must do better than this…</a:t>
                </a:r>
              </a:p>
              <a:p>
                <a:pPr eaLnBrk="1" hangingPunct="1">
                  <a:spcBef>
                    <a:spcPts val="0"/>
                  </a:spcBef>
                </a:pPr>
                <a:endParaRPr lang="en-US" altLang="en-US" sz="1200" dirty="0"/>
              </a:p>
            </p:txBody>
          </p:sp>
        </mc:Choice>
        <mc:Fallback xmlns="">
          <p:sp>
            <p:nvSpPr>
              <p:cNvPr id="2457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 l="-3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31B33BC-7C6F-4573-B3F2-76231E9B4ADB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2020, John K. Ostlund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35242E-2158-4FB1-AB66-4BFD1DDF3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565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Recursive Formulation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800" i="1" dirty="0"/>
              <a:t>W</a:t>
            </a:r>
            <a:r>
              <a:rPr lang="en-US" altLang="en-US" sz="2800" dirty="0"/>
              <a:t> is the total maximum weight units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Label the items from 1 to N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The </a:t>
            </a:r>
            <a:r>
              <a:rPr lang="en-US" altLang="en-US" sz="2400" i="1" dirty="0" err="1"/>
              <a:t>i</a:t>
            </a:r>
            <a:r>
              <a:rPr lang="en-US" altLang="en-US" sz="2400" baseline="-25000" dirty="0" err="1"/>
              <a:t>th</a:t>
            </a:r>
            <a:r>
              <a:rPr lang="en-US" altLang="en-US" sz="2400" dirty="0"/>
              <a:t> item has </a:t>
            </a:r>
            <a:r>
              <a:rPr lang="en-US" altLang="en-US" sz="2400" i="1" dirty="0"/>
              <a:t>value</a:t>
            </a:r>
            <a:r>
              <a:rPr lang="en-US" altLang="en-US" sz="2400" dirty="0"/>
              <a:t> </a:t>
            </a:r>
            <a:r>
              <a:rPr lang="en-US" altLang="en-US" sz="2400" i="1" dirty="0"/>
              <a:t>v</a:t>
            </a:r>
            <a:r>
              <a:rPr lang="en-US" altLang="en-US" sz="2400" i="1" baseline="-25000" dirty="0"/>
              <a:t>i</a:t>
            </a:r>
            <a:r>
              <a:rPr lang="en-US" altLang="en-US" sz="2400" dirty="0"/>
              <a:t> and </a:t>
            </a:r>
            <a:r>
              <a:rPr lang="en-US" altLang="en-US" sz="2400" i="1" dirty="0"/>
              <a:t>weight</a:t>
            </a:r>
            <a:r>
              <a:rPr lang="en-US" altLang="en-US" sz="2400" dirty="0"/>
              <a:t> </a:t>
            </a:r>
            <a:r>
              <a:rPr lang="en-US" altLang="en-US" sz="2400" i="1" dirty="0" err="1"/>
              <a:t>w</a:t>
            </a:r>
            <a:r>
              <a:rPr lang="en-US" altLang="en-US" sz="2400" i="1" baseline="-25000" dirty="0" err="1"/>
              <a:t>i</a:t>
            </a:r>
            <a:endParaRPr lang="en-US" altLang="en-US" sz="2400" i="1" dirty="0"/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Order of items is irrelevant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Formulate the problem in terms of whether we pack item </a:t>
            </a:r>
            <a:r>
              <a:rPr lang="en-US" altLang="en-US" sz="2800" i="1" dirty="0" err="1"/>
              <a:t>i</a:t>
            </a:r>
            <a:r>
              <a:rPr lang="en-US" altLang="en-US" sz="2800" dirty="0"/>
              <a:t> or not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We want to find:</a:t>
            </a:r>
          </a:p>
          <a:p>
            <a:pPr eaLnBrk="1" hangingPunct="1">
              <a:spcBef>
                <a:spcPts val="0"/>
              </a:spcBef>
            </a:pPr>
            <a:endParaRPr lang="en-US" altLang="en-US" sz="1200" i="1" dirty="0">
              <a:solidFill>
                <a:srgbClr val="FF0000"/>
              </a:solidFill>
            </a:endParaRP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400" dirty="0"/>
              <a:t>max { value of items that will fit } 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400" dirty="0"/>
              <a:t>	= max { max value if we </a:t>
            </a:r>
            <a:r>
              <a:rPr lang="en-US" altLang="en-US" sz="2400" i="1" dirty="0"/>
              <a:t>include</a:t>
            </a:r>
            <a:r>
              <a:rPr lang="en-US" altLang="en-US" sz="2400" dirty="0"/>
              <a:t> item 1,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400" dirty="0"/>
              <a:t>                  max value if we </a:t>
            </a:r>
            <a:r>
              <a:rPr lang="en-US" altLang="en-US" sz="2400" i="1" dirty="0"/>
              <a:t>exclude</a:t>
            </a:r>
            <a:r>
              <a:rPr lang="en-US" altLang="en-US" sz="2400" dirty="0"/>
              <a:t> item 1 }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AD9673-4A75-410E-AE46-9851346214EE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2020, John K. Ostlund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488714-CFEC-468C-95D1-E066A6986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429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Recursive Formulation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400" dirty="0"/>
              <a:t>max { value of items that will fit in </a:t>
            </a:r>
            <a:r>
              <a:rPr lang="en-US" altLang="en-US" sz="2400" i="1" dirty="0"/>
              <a:t>W</a:t>
            </a:r>
            <a:r>
              <a:rPr lang="en-US" altLang="en-US" sz="2400" dirty="0"/>
              <a:t> } 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400" dirty="0"/>
              <a:t>	= max { max value if we </a:t>
            </a:r>
            <a:r>
              <a:rPr lang="en-US" altLang="en-US" sz="2400" i="1" dirty="0"/>
              <a:t>include</a:t>
            </a:r>
            <a:r>
              <a:rPr lang="en-US" altLang="en-US" sz="2400" dirty="0"/>
              <a:t> item 1,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400" dirty="0"/>
              <a:t>                  max value if we </a:t>
            </a:r>
            <a:r>
              <a:rPr lang="en-US" altLang="en-US" sz="2400" i="1" dirty="0"/>
              <a:t>exclude</a:t>
            </a:r>
            <a:r>
              <a:rPr lang="en-US" altLang="en-US" sz="2400" dirty="0"/>
              <a:t> item 1 }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400" dirty="0"/>
              <a:t>	= max { </a:t>
            </a:r>
            <a:r>
              <a:rPr lang="en-US" altLang="en-US" sz="2400" i="1" dirty="0"/>
              <a:t>v</a:t>
            </a:r>
            <a:r>
              <a:rPr lang="en-US" altLang="en-US" sz="2400" i="1" baseline="-25000" dirty="0"/>
              <a:t>1</a:t>
            </a:r>
            <a:r>
              <a:rPr lang="en-US" altLang="en-US" sz="2400" dirty="0"/>
              <a:t> + max { value of remaining items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400" dirty="0"/>
              <a:t>                                   that will fit in </a:t>
            </a:r>
            <a:r>
              <a:rPr lang="en-US" altLang="en-US" sz="2400" i="1" dirty="0"/>
              <a:t>W</a:t>
            </a:r>
            <a:r>
              <a:rPr lang="en-US" altLang="en-US" sz="2400" dirty="0"/>
              <a:t> - </a:t>
            </a:r>
            <a:r>
              <a:rPr lang="en-US" altLang="en-US" sz="2400" i="1" dirty="0"/>
              <a:t>w</a:t>
            </a:r>
            <a:r>
              <a:rPr lang="en-US" altLang="en-US" sz="2400" i="1" baseline="-25000" dirty="0"/>
              <a:t>1</a:t>
            </a:r>
            <a:r>
              <a:rPr lang="en-US" altLang="en-US" sz="2400" dirty="0"/>
              <a:t> },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400" dirty="0"/>
              <a:t>                         max { value of remaining items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400" dirty="0"/>
              <a:t>                                   that will fit in </a:t>
            </a:r>
            <a:r>
              <a:rPr lang="en-US" altLang="en-US" sz="2400" i="1" dirty="0"/>
              <a:t>W</a:t>
            </a:r>
            <a:r>
              <a:rPr lang="en-US" altLang="en-US" sz="2400" dirty="0"/>
              <a:t> } }</a:t>
            </a:r>
          </a:p>
          <a:p>
            <a:pPr eaLnBrk="1" hangingPunct="1">
              <a:spcBef>
                <a:spcPts val="0"/>
              </a:spcBef>
            </a:pPr>
            <a:endParaRPr lang="en-US" altLang="en-US" sz="2400" i="1" dirty="0"/>
          </a:p>
          <a:p>
            <a:pPr eaLnBrk="1" hangingPunct="1">
              <a:spcBef>
                <a:spcPts val="0"/>
              </a:spcBef>
            </a:pPr>
            <a:r>
              <a:rPr lang="en-US" altLang="en-US" sz="2400" dirty="0"/>
              <a:t>Possible </a:t>
            </a:r>
            <a:r>
              <a:rPr lang="en-US" altLang="en-US" sz="2400" dirty="0" err="1"/>
              <a:t>memoization</a:t>
            </a:r>
            <a:r>
              <a:rPr lang="en-US" altLang="en-US" sz="2400" dirty="0"/>
              <a:t>: array of maximum values for </a:t>
            </a:r>
            <a:r>
              <a:rPr lang="en-US" altLang="en-US" sz="2400" i="1" dirty="0"/>
              <a:t>items</a:t>
            </a:r>
            <a:r>
              <a:rPr lang="en-US" altLang="en-US" sz="2400" dirty="0"/>
              <a:t> </a:t>
            </a:r>
            <a:r>
              <a:rPr lang="en-US" altLang="en-US" sz="2400" i="1" dirty="0"/>
              <a:t>included</a:t>
            </a:r>
            <a:r>
              <a:rPr lang="en-US" altLang="en-US" sz="2400" dirty="0"/>
              <a:t> vs. </a:t>
            </a:r>
            <a:r>
              <a:rPr lang="en-US" altLang="en-US" sz="2400" i="1" dirty="0"/>
              <a:t>remaining available weight</a:t>
            </a:r>
          </a:p>
          <a:p>
            <a:pPr eaLnBrk="1" hangingPunct="1">
              <a:spcBef>
                <a:spcPts val="0"/>
              </a:spcBef>
            </a:pPr>
            <a:endParaRPr lang="en-US" altLang="en-US" sz="1200" i="1" dirty="0">
              <a:solidFill>
                <a:srgbClr val="FF0000"/>
              </a:solidFill>
            </a:endParaRPr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2400" dirty="0"/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0040489-9D4F-4BA5-BC72-8E396796D0E6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2020, John K. Ostlund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87C0F5-6C21-4F87-B951-BE4D12FE5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124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0/1 Knapsack </a:t>
            </a:r>
            <a:r>
              <a:rPr lang="en-US" altLang="en-US" dirty="0" err="1"/>
              <a:t>Memoization</a:t>
            </a:r>
            <a:endParaRPr lang="en-US" altLang="en-US" dirty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Columns: remaining available weight (</a:t>
            </a:r>
            <a:r>
              <a:rPr lang="en-US" altLang="en-US" sz="2000" dirty="0">
                <a:solidFill>
                  <a:srgbClr val="FF0000"/>
                </a:solidFill>
              </a:rPr>
              <a:t>10 units max</a:t>
            </a:r>
            <a:r>
              <a:rPr lang="en-US" altLang="en-US" sz="2000" dirty="0"/>
              <a:t>)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Rows: items considered for inclusion (</a:t>
            </a:r>
            <a:r>
              <a:rPr lang="en-US" altLang="en-US" sz="2000" dirty="0">
                <a:solidFill>
                  <a:srgbClr val="FF0000"/>
                </a:solidFill>
              </a:rPr>
              <a:t>5 items max</a:t>
            </a:r>
            <a:r>
              <a:rPr lang="en-US" altLang="en-US" sz="2000" dirty="0"/>
              <a:t>)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1: {1}, 2: {1,2}, 3: {1,2,3}, …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Cells: maximum value so far</a:t>
            </a:r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Items: (</a:t>
            </a:r>
            <a:r>
              <a:rPr lang="en-US" altLang="en-US" sz="1400" i="1" dirty="0" err="1"/>
              <a:t>w</a:t>
            </a:r>
            <a:r>
              <a:rPr lang="en-US" altLang="en-US" sz="1400" i="1" baseline="-25000" dirty="0" err="1"/>
              <a:t>i</a:t>
            </a:r>
            <a:r>
              <a:rPr lang="en-US" altLang="en-US" sz="1400" dirty="0"/>
              <a:t>, </a:t>
            </a:r>
            <a:r>
              <a:rPr lang="en-US" altLang="en-US" sz="1400" i="1" dirty="0"/>
              <a:t>v</a:t>
            </a:r>
            <a:r>
              <a:rPr lang="en-US" altLang="en-US" sz="1400" i="1" baseline="-25000" dirty="0"/>
              <a:t>i</a:t>
            </a:r>
            <a:r>
              <a:rPr lang="en-US" altLang="en-US" sz="1400" dirty="0"/>
              <a:t>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2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(3, 9)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(1, 7)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(12, 18)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(5, 3)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(2, 11)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6FD9FB4-138A-4FF8-865E-9DCB2DF75C26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2020, John K. Ostlund</a:t>
            </a:r>
            <a:endParaRPr lang="en-US" dirty="0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A37B051D-BF6B-4C53-9338-79AB9B80EF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1728403"/>
              </p:ext>
            </p:extLst>
          </p:nvPr>
        </p:nvGraphicFramePr>
        <p:xfrm>
          <a:off x="2514600" y="3505200"/>
          <a:ext cx="6096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189162848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00013082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8038581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545559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6541038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3554152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7681525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1583797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6951764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919191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92654455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8640145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115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404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1101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4250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1888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252600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FBE67D-681A-495B-9B00-00360625D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0824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0/1 Knapsack Algorithm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Start with item </a:t>
            </a:r>
            <a:r>
              <a:rPr lang="en-US" altLang="en-US" sz="2000" dirty="0">
                <a:solidFill>
                  <a:srgbClr val="00B050"/>
                </a:solidFill>
              </a:rPr>
              <a:t>1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For each remaining available weight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What is the maximum value we can achieve?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For available weight </a:t>
            </a:r>
            <a:r>
              <a:rPr lang="en-US" altLang="en-US" sz="2000" dirty="0">
                <a:solidFill>
                  <a:srgbClr val="0070C0"/>
                </a:solidFill>
              </a:rPr>
              <a:t>0</a:t>
            </a:r>
            <a:r>
              <a:rPr lang="en-US" altLang="en-US" sz="2000" dirty="0"/>
              <a:t>, item 1 (w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 == 3) won't fit, so </a:t>
            </a:r>
            <a:r>
              <a:rPr lang="en-US" altLang="en-US" sz="2000" dirty="0">
                <a:solidFill>
                  <a:srgbClr val="FF0000"/>
                </a:solidFill>
              </a:rPr>
              <a:t>0</a:t>
            </a:r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Items: (</a:t>
            </a:r>
            <a:r>
              <a:rPr lang="en-US" altLang="en-US" sz="1400" i="1" dirty="0" err="1"/>
              <a:t>w</a:t>
            </a:r>
            <a:r>
              <a:rPr lang="en-US" altLang="en-US" sz="1400" i="1" baseline="-25000" dirty="0" err="1"/>
              <a:t>i</a:t>
            </a:r>
            <a:r>
              <a:rPr lang="en-US" altLang="en-US" sz="1400" dirty="0"/>
              <a:t>, </a:t>
            </a:r>
            <a:r>
              <a:rPr lang="en-US" altLang="en-US" sz="1400" i="1" dirty="0"/>
              <a:t>v</a:t>
            </a:r>
            <a:r>
              <a:rPr lang="en-US" altLang="en-US" sz="1400" i="1" baseline="-25000" dirty="0"/>
              <a:t>i</a:t>
            </a:r>
            <a:r>
              <a:rPr lang="en-US" altLang="en-US" sz="1400" dirty="0"/>
              <a:t>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2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</a:t>
            </a:r>
            <a:r>
              <a:rPr lang="en-US" altLang="en-US" sz="1400" dirty="0">
                <a:solidFill>
                  <a:srgbClr val="00B050"/>
                </a:solidFill>
              </a:rPr>
              <a:t>(3, 9)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(1, 7)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(12, 18)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(5, 3)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(2, 11)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23051ED-CA8D-4BC3-85F7-A740A463AF34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2020, John K. Ostlund</a:t>
            </a:r>
            <a:endParaRPr lang="en-US" dirty="0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A37B051D-BF6B-4C53-9338-79AB9B80EF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2777489"/>
              </p:ext>
            </p:extLst>
          </p:nvPr>
        </p:nvGraphicFramePr>
        <p:xfrm>
          <a:off x="2514600" y="3505200"/>
          <a:ext cx="6096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189162848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00013082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8038581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545559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6541038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3554152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7681525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1583797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6951764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919191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92654455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8640145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 w="12700" cmpd="sng">
                            <a:noFill/>
                          </a:ln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115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1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404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1101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4250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1888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252600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28E691-F8A0-4082-B02F-5341813F5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4641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0/1 Knapsack Algorithm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endParaRPr lang="en-US" altLang="en-US" sz="2000" dirty="0"/>
          </a:p>
          <a:p>
            <a:pPr eaLnBrk="1" hangingPunct="1">
              <a:spcBef>
                <a:spcPts val="0"/>
              </a:spcBef>
            </a:pPr>
            <a:endParaRPr lang="en-US" altLang="en-US" sz="2000" dirty="0"/>
          </a:p>
          <a:p>
            <a:pPr lvl="1" eaLnBrk="1" hangingPunct="1">
              <a:spcBef>
                <a:spcPts val="0"/>
              </a:spcBef>
            </a:pPr>
            <a:endParaRPr lang="en-US" altLang="en-US" sz="2000" dirty="0"/>
          </a:p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Same for remaining available weight 1 and 2…</a:t>
            </a:r>
            <a:endParaRPr lang="en-US" altLang="en-US" sz="2000" dirty="0">
              <a:solidFill>
                <a:srgbClr val="FF0000"/>
              </a:solidFill>
            </a:endParaRPr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Items: (</a:t>
            </a:r>
            <a:r>
              <a:rPr lang="en-US" altLang="en-US" sz="1400" i="1" dirty="0" err="1"/>
              <a:t>w</a:t>
            </a:r>
            <a:r>
              <a:rPr lang="en-US" altLang="en-US" sz="1400" i="1" baseline="-25000" dirty="0" err="1"/>
              <a:t>i</a:t>
            </a:r>
            <a:r>
              <a:rPr lang="en-US" altLang="en-US" sz="1400" dirty="0"/>
              <a:t>, </a:t>
            </a:r>
            <a:r>
              <a:rPr lang="en-US" altLang="en-US" sz="1400" i="1" dirty="0"/>
              <a:t>v</a:t>
            </a:r>
            <a:r>
              <a:rPr lang="en-US" altLang="en-US" sz="1400" i="1" baseline="-25000" dirty="0"/>
              <a:t>i</a:t>
            </a:r>
            <a:r>
              <a:rPr lang="en-US" altLang="en-US" sz="1400" dirty="0"/>
              <a:t>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2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</a:t>
            </a:r>
            <a:r>
              <a:rPr lang="en-US" altLang="en-US" sz="1400" dirty="0">
                <a:solidFill>
                  <a:srgbClr val="00B050"/>
                </a:solidFill>
              </a:rPr>
              <a:t>(3, 9)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(1, 7)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(12, 18)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(5, 3)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(2, 11)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35041BF-FCCD-45E7-9BC0-EFD86D8F210C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2020, John K. Ostlund</a:t>
            </a:r>
            <a:endParaRPr lang="en-US" dirty="0"/>
          </a:p>
        </p:txBody>
      </p:sp>
      <p:graphicFrame>
        <p:nvGraphicFramePr>
          <p:cNvPr id="4" name="Table 8">
            <a:extLst>
              <a:ext uri="{FF2B5EF4-FFF2-40B4-BE49-F238E27FC236}">
                <a16:creationId xmlns:a16="http://schemas.microsoft.com/office/drawing/2014/main" id="{21DA4BF1-94EF-4689-86B7-394187900B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151138"/>
              </p:ext>
            </p:extLst>
          </p:nvPr>
        </p:nvGraphicFramePr>
        <p:xfrm>
          <a:off x="2514600" y="3505200"/>
          <a:ext cx="6096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189162848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00013082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8038581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545559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6541038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3554152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7681525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1583797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6951764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919191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92654455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8640145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115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en-US" sz="1400" b="1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404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1101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4250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1888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252600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546729-883A-4C18-B374-81CC25882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0430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0/1 Knapsack Algorithm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endParaRPr lang="en-US" altLang="en-US" sz="2000" dirty="0"/>
          </a:p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For available weight of 3, we can fit item 1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So value using just item 1 is </a:t>
            </a:r>
            <a:r>
              <a:rPr lang="en-US" altLang="en-US" sz="2000" dirty="0">
                <a:solidFill>
                  <a:srgbClr val="FF0000"/>
                </a:solidFill>
              </a:rPr>
              <a:t>9</a:t>
            </a:r>
          </a:p>
          <a:p>
            <a:pPr eaLnBrk="1" hangingPunct="1">
              <a:spcBef>
                <a:spcPts val="0"/>
              </a:spcBef>
            </a:pPr>
            <a:endParaRPr lang="en-US" altLang="en-US" sz="2000" dirty="0">
              <a:solidFill>
                <a:srgbClr val="FF0000"/>
              </a:solidFill>
            </a:endParaRPr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Items: (</a:t>
            </a:r>
            <a:r>
              <a:rPr lang="en-US" altLang="en-US" sz="1400" i="1" dirty="0" err="1"/>
              <a:t>w</a:t>
            </a:r>
            <a:r>
              <a:rPr lang="en-US" altLang="en-US" sz="1400" i="1" baseline="-25000" dirty="0" err="1"/>
              <a:t>i</a:t>
            </a:r>
            <a:r>
              <a:rPr lang="en-US" altLang="en-US" sz="1400" dirty="0"/>
              <a:t>, </a:t>
            </a:r>
            <a:r>
              <a:rPr lang="en-US" altLang="en-US" sz="1400" i="1" dirty="0"/>
              <a:t>v</a:t>
            </a:r>
            <a:r>
              <a:rPr lang="en-US" altLang="en-US" sz="1400" i="1" baseline="-25000" dirty="0"/>
              <a:t>i</a:t>
            </a:r>
            <a:r>
              <a:rPr lang="en-US" altLang="en-US" sz="1400" dirty="0"/>
              <a:t>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2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>
                <a:solidFill>
                  <a:srgbClr val="00B050"/>
                </a:solidFill>
              </a:rPr>
              <a:t>  (3, 9)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(1, 7)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(12, 18)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(5, 3)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(2, 11)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CC794EE-455E-47A2-AE8D-D9C7045923D9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2020, John K. Ostlund</a:t>
            </a:r>
            <a:endParaRPr lang="en-US" dirty="0"/>
          </a:p>
        </p:txBody>
      </p:sp>
      <p:graphicFrame>
        <p:nvGraphicFramePr>
          <p:cNvPr id="4" name="Table 8">
            <a:extLst>
              <a:ext uri="{FF2B5EF4-FFF2-40B4-BE49-F238E27FC236}">
                <a16:creationId xmlns:a16="http://schemas.microsoft.com/office/drawing/2014/main" id="{74ABFCEC-2297-4E95-B952-8E4BC8728E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127474"/>
              </p:ext>
            </p:extLst>
          </p:nvPr>
        </p:nvGraphicFramePr>
        <p:xfrm>
          <a:off x="2514600" y="3505200"/>
          <a:ext cx="6096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189162848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00013082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8038581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545559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6541038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3554152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7681525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1583797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6951764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919191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92654455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8640145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115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en-US" sz="1400" b="1" kern="1200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404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1101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4250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1888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252600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04D13C-75F8-4F9C-811C-426F6F7BA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1013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0/1 Knapsack Algorithm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endParaRPr lang="en-US" altLang="en-US" sz="2000" dirty="0"/>
          </a:p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Same maximum value for remaining available weights </a:t>
            </a:r>
            <a:r>
              <a:rPr lang="en-US" altLang="en-US" sz="2000" dirty="0">
                <a:solidFill>
                  <a:srgbClr val="0070C0"/>
                </a:solidFill>
              </a:rPr>
              <a:t>4</a:t>
            </a:r>
            <a:r>
              <a:rPr lang="en-US" altLang="en-US" sz="2000" dirty="0"/>
              <a:t> thru </a:t>
            </a:r>
            <a:r>
              <a:rPr lang="en-US" altLang="en-US" sz="2000" dirty="0">
                <a:solidFill>
                  <a:srgbClr val="0070C0"/>
                </a:solidFill>
              </a:rPr>
              <a:t>10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We can take either 0 or 1 of item 1</a:t>
            </a:r>
            <a:endParaRPr lang="en-US" altLang="en-US" sz="2000" dirty="0">
              <a:solidFill>
                <a:srgbClr val="FF0000"/>
              </a:solidFill>
            </a:endParaRPr>
          </a:p>
          <a:p>
            <a:pPr eaLnBrk="1" hangingPunct="1">
              <a:spcBef>
                <a:spcPts val="0"/>
              </a:spcBef>
            </a:pPr>
            <a:endParaRPr lang="en-US" altLang="en-US" sz="2000" dirty="0">
              <a:solidFill>
                <a:srgbClr val="FF0000"/>
              </a:solidFill>
            </a:endParaRPr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Items: (</a:t>
            </a:r>
            <a:r>
              <a:rPr lang="en-US" altLang="en-US" sz="1400" i="1" dirty="0" err="1"/>
              <a:t>w</a:t>
            </a:r>
            <a:r>
              <a:rPr lang="en-US" altLang="en-US" sz="1400" i="1" baseline="-25000" dirty="0" err="1"/>
              <a:t>i</a:t>
            </a:r>
            <a:r>
              <a:rPr lang="en-US" altLang="en-US" sz="1400" dirty="0"/>
              <a:t>, </a:t>
            </a:r>
            <a:r>
              <a:rPr lang="en-US" altLang="en-US" sz="1400" i="1" dirty="0"/>
              <a:t>v</a:t>
            </a:r>
            <a:r>
              <a:rPr lang="en-US" altLang="en-US" sz="1400" i="1" baseline="-25000" dirty="0"/>
              <a:t>i</a:t>
            </a:r>
            <a:r>
              <a:rPr lang="en-US" altLang="en-US" sz="1400" dirty="0"/>
              <a:t>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2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>
                <a:solidFill>
                  <a:srgbClr val="00B050"/>
                </a:solidFill>
              </a:rPr>
              <a:t>  (3, 9)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(1, 7)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(12, 18)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(5, 3)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(2, 11)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BEFA88A-C179-40ED-8C95-6307F67157B7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2020, John K. Ostlund</a:t>
            </a:r>
            <a:endParaRPr lang="en-US" dirty="0"/>
          </a:p>
        </p:txBody>
      </p:sp>
      <p:graphicFrame>
        <p:nvGraphicFramePr>
          <p:cNvPr id="4" name="Table 8">
            <a:extLst>
              <a:ext uri="{FF2B5EF4-FFF2-40B4-BE49-F238E27FC236}">
                <a16:creationId xmlns:a16="http://schemas.microsoft.com/office/drawing/2014/main" id="{A9B914B9-E9EC-45BA-81AF-EFEC149CFE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100249"/>
              </p:ext>
            </p:extLst>
          </p:nvPr>
        </p:nvGraphicFramePr>
        <p:xfrm>
          <a:off x="2514600" y="3505200"/>
          <a:ext cx="6096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189162848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00013082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8038581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545559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6541038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3554152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7681525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1583797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6951764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919191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92654455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8640145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115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404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1101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4250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1888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252600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C6E4D-3D0D-4CEE-A133-F2F497CAC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2944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0/1 Knapsack Algorithm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Now consider item </a:t>
            </a:r>
            <a:r>
              <a:rPr lang="en-US" altLang="en-US" sz="2000" dirty="0">
                <a:solidFill>
                  <a:srgbClr val="00B050"/>
                </a:solidFill>
              </a:rPr>
              <a:t>2</a:t>
            </a:r>
            <a:r>
              <a:rPr lang="en-US" altLang="en-US" sz="2000" dirty="0"/>
              <a:t>, and optionally item 1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For remaining weight of </a:t>
            </a:r>
            <a:r>
              <a:rPr lang="en-US" altLang="en-US" sz="2000" dirty="0">
                <a:solidFill>
                  <a:srgbClr val="0070C0"/>
                </a:solidFill>
              </a:rPr>
              <a:t>0</a:t>
            </a:r>
            <a:r>
              <a:rPr lang="en-US" altLang="en-US" sz="2000" dirty="0"/>
              <a:t>, we cannot take item 2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So value is </a:t>
            </a:r>
            <a:r>
              <a:rPr lang="en-US" altLang="en-US" sz="2000" dirty="0">
                <a:solidFill>
                  <a:srgbClr val="FF0000"/>
                </a:solidFill>
              </a:rPr>
              <a:t>0</a:t>
            </a:r>
          </a:p>
          <a:p>
            <a:pPr eaLnBrk="1" hangingPunct="1">
              <a:spcBef>
                <a:spcPts val="0"/>
              </a:spcBef>
            </a:pPr>
            <a:endParaRPr lang="en-US" altLang="en-US" sz="2000" dirty="0">
              <a:solidFill>
                <a:srgbClr val="FF0000"/>
              </a:solidFill>
            </a:endParaRPr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Items: (</a:t>
            </a:r>
            <a:r>
              <a:rPr lang="en-US" altLang="en-US" sz="1400" i="1" dirty="0" err="1"/>
              <a:t>w</a:t>
            </a:r>
            <a:r>
              <a:rPr lang="en-US" altLang="en-US" sz="1400" i="1" baseline="-25000" dirty="0" err="1"/>
              <a:t>i</a:t>
            </a:r>
            <a:r>
              <a:rPr lang="en-US" altLang="en-US" sz="1400" dirty="0"/>
              <a:t>, </a:t>
            </a:r>
            <a:r>
              <a:rPr lang="en-US" altLang="en-US" sz="1400" i="1" dirty="0"/>
              <a:t>v</a:t>
            </a:r>
            <a:r>
              <a:rPr lang="en-US" altLang="en-US" sz="1400" i="1" baseline="-25000" dirty="0"/>
              <a:t>i</a:t>
            </a:r>
            <a:r>
              <a:rPr lang="en-US" altLang="en-US" sz="1400" dirty="0"/>
              <a:t>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2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(3, 9)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>
                <a:solidFill>
                  <a:srgbClr val="FF0000"/>
                </a:solidFill>
              </a:rPr>
              <a:t>  </a:t>
            </a:r>
            <a:r>
              <a:rPr lang="en-US" altLang="en-US" sz="1400" dirty="0">
                <a:solidFill>
                  <a:srgbClr val="00B050"/>
                </a:solidFill>
              </a:rPr>
              <a:t>(1, 7)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(12, 18)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(5, 3)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(2, 11)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998822B-7928-400A-97AB-24DD30F7473A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2020, John K. Ostlund</a:t>
            </a:r>
            <a:endParaRPr lang="en-US" dirty="0"/>
          </a:p>
        </p:txBody>
      </p:sp>
      <p:graphicFrame>
        <p:nvGraphicFramePr>
          <p:cNvPr id="4" name="Table 8">
            <a:extLst>
              <a:ext uri="{FF2B5EF4-FFF2-40B4-BE49-F238E27FC236}">
                <a16:creationId xmlns:a16="http://schemas.microsoft.com/office/drawing/2014/main" id="{0AA5E58D-5579-480E-8D25-BB96C3F33B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1756583"/>
              </p:ext>
            </p:extLst>
          </p:nvPr>
        </p:nvGraphicFramePr>
        <p:xfrm>
          <a:off x="2514600" y="3505200"/>
          <a:ext cx="6096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189162848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00013082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8038581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545559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6541038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3554152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7681525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1583797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6951764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919191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92654455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8640145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 w="12700" cmpd="sng">
                            <a:noFill/>
                          </a:ln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115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404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1101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4250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1888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252600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BAD866-4A9C-428A-8B6F-97EFA4C12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414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0/1 Knapsack Algorithm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For remaining weight of </a:t>
            </a:r>
            <a:r>
              <a:rPr lang="en-US" altLang="en-US" sz="2000" dirty="0">
                <a:solidFill>
                  <a:srgbClr val="0070C0"/>
                </a:solidFill>
              </a:rPr>
              <a:t>1</a:t>
            </a:r>
            <a:r>
              <a:rPr lang="en-US" altLang="en-US" sz="2000" dirty="0"/>
              <a:t>, we can take item </a:t>
            </a:r>
            <a:r>
              <a:rPr lang="en-US" altLang="en-US" sz="2000" dirty="0">
                <a:solidFill>
                  <a:srgbClr val="00B050"/>
                </a:solidFill>
              </a:rPr>
              <a:t>2</a:t>
            </a:r>
            <a:r>
              <a:rPr lang="en-US" altLang="en-US" sz="2000" dirty="0"/>
              <a:t>, value </a:t>
            </a:r>
            <a:r>
              <a:rPr lang="en-US" altLang="en-US" sz="2000" dirty="0">
                <a:solidFill>
                  <a:srgbClr val="00B050"/>
                </a:solidFill>
              </a:rPr>
              <a:t>7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2000" i="1" dirty="0"/>
              <a:t>Item 1 also contributes</a:t>
            </a:r>
            <a:endParaRPr lang="en-US" altLang="en-US" sz="2000" dirty="0"/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From row 1, column (</a:t>
            </a:r>
            <a:r>
              <a:rPr lang="en-US" altLang="en-US" sz="2000" dirty="0">
                <a:solidFill>
                  <a:srgbClr val="0070C0"/>
                </a:solidFill>
              </a:rPr>
              <a:t>1</a:t>
            </a:r>
            <a:r>
              <a:rPr lang="en-US" altLang="en-US" sz="2000" dirty="0"/>
              <a:t> - </a:t>
            </a:r>
            <a:r>
              <a:rPr lang="en-US" altLang="en-US" sz="2000" dirty="0">
                <a:solidFill>
                  <a:srgbClr val="00B050"/>
                </a:solidFill>
              </a:rPr>
              <a:t>1</a:t>
            </a:r>
            <a:r>
              <a:rPr lang="en-US" altLang="en-US" sz="2000" dirty="0"/>
              <a:t>) == </a:t>
            </a:r>
            <a:r>
              <a:rPr lang="en-US" altLang="en-US" sz="2000" dirty="0">
                <a:solidFill>
                  <a:srgbClr val="7030A0"/>
                </a:solidFill>
              </a:rPr>
              <a:t>0</a:t>
            </a:r>
            <a:r>
              <a:rPr lang="en-US" altLang="en-US" sz="2000" dirty="0"/>
              <a:t>, value </a:t>
            </a:r>
            <a:r>
              <a:rPr lang="en-US" altLang="en-US" sz="2000" dirty="0">
                <a:highlight>
                  <a:srgbClr val="00FFFF"/>
                </a:highlight>
              </a:rPr>
              <a:t>0</a:t>
            </a:r>
            <a:endParaRPr lang="en-US" altLang="en-US" sz="2000" dirty="0">
              <a:solidFill>
                <a:srgbClr val="FF0000"/>
              </a:solidFill>
              <a:highlight>
                <a:srgbClr val="00FFFF"/>
              </a:highlight>
            </a:endParaRPr>
          </a:p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max { </a:t>
            </a:r>
            <a:r>
              <a:rPr lang="en-US" altLang="en-US" sz="2000" dirty="0">
                <a:highlight>
                  <a:srgbClr val="FFFF00"/>
                </a:highlight>
              </a:rPr>
              <a:t>0</a:t>
            </a:r>
            <a:r>
              <a:rPr lang="en-US" altLang="en-US" sz="2000" dirty="0"/>
              <a:t>, </a:t>
            </a:r>
            <a:r>
              <a:rPr lang="en-US" altLang="en-US" sz="2000" dirty="0">
                <a:solidFill>
                  <a:srgbClr val="00B050"/>
                </a:solidFill>
              </a:rPr>
              <a:t>7</a:t>
            </a:r>
            <a:r>
              <a:rPr lang="en-US" altLang="en-US" sz="2000" dirty="0"/>
              <a:t> + </a:t>
            </a:r>
            <a:r>
              <a:rPr lang="en-US" altLang="en-US" sz="2000" dirty="0">
                <a:highlight>
                  <a:srgbClr val="00FFFF"/>
                </a:highlight>
              </a:rPr>
              <a:t>0</a:t>
            </a:r>
            <a:r>
              <a:rPr lang="en-US" altLang="en-US" sz="2000" dirty="0"/>
              <a:t> } is </a:t>
            </a:r>
            <a:r>
              <a:rPr lang="en-US" altLang="en-US" sz="2000" dirty="0">
                <a:solidFill>
                  <a:srgbClr val="FF0000"/>
                </a:solidFill>
              </a:rPr>
              <a:t>7</a:t>
            </a:r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Items: (</a:t>
            </a:r>
            <a:r>
              <a:rPr lang="en-US" altLang="en-US" sz="1400" i="1" dirty="0" err="1"/>
              <a:t>w</a:t>
            </a:r>
            <a:r>
              <a:rPr lang="en-US" altLang="en-US" sz="1400" i="1" baseline="-25000" dirty="0" err="1"/>
              <a:t>i</a:t>
            </a:r>
            <a:r>
              <a:rPr lang="en-US" altLang="en-US" sz="1400" dirty="0"/>
              <a:t>, </a:t>
            </a:r>
            <a:r>
              <a:rPr lang="en-US" altLang="en-US" sz="1400" i="1" dirty="0"/>
              <a:t>v</a:t>
            </a:r>
            <a:r>
              <a:rPr lang="en-US" altLang="en-US" sz="1400" i="1" baseline="-25000" dirty="0"/>
              <a:t>i</a:t>
            </a:r>
            <a:r>
              <a:rPr lang="en-US" altLang="en-US" sz="1400" dirty="0"/>
              <a:t>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2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(3, 9)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>
                <a:solidFill>
                  <a:srgbClr val="00B050"/>
                </a:solidFill>
              </a:rPr>
              <a:t>  (1, 7)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(12, 18)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(5, 3)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(2, 11)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2EACB13-9A8C-4F1E-86BE-05BCE1D13323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2020, John K. Ostlund</a:t>
            </a:r>
            <a:endParaRPr lang="en-US" dirty="0"/>
          </a:p>
        </p:txBody>
      </p:sp>
      <p:graphicFrame>
        <p:nvGraphicFramePr>
          <p:cNvPr id="5" name="Table 8">
            <a:extLst>
              <a:ext uri="{FF2B5EF4-FFF2-40B4-BE49-F238E27FC236}">
                <a16:creationId xmlns:a16="http://schemas.microsoft.com/office/drawing/2014/main" id="{B6C92E09-5429-4269-8949-BE734938F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5609716"/>
              </p:ext>
            </p:extLst>
          </p:nvPr>
        </p:nvGraphicFramePr>
        <p:xfrm>
          <a:off x="2514600" y="3505200"/>
          <a:ext cx="6096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189162848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00013082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8038581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545559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6541038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3554152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7681525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1583797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6951764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919191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92654455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8640145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 w="12700" cmpd="sng">
                            <a:noFill/>
                          </a:ln>
                          <a:solidFill>
                            <a:srgbClr val="7030A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115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404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1101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4250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1888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252600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E510E6-3F71-4433-AA41-C0DF48092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4831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0/1 Knapsack Algorithm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endParaRPr lang="en-US" altLang="en-US" sz="2000" dirty="0">
              <a:solidFill>
                <a:srgbClr val="00B050"/>
              </a:solidFill>
            </a:endParaRPr>
          </a:p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For remaining weight of </a:t>
            </a:r>
            <a:r>
              <a:rPr lang="en-US" altLang="en-US" sz="2000" dirty="0">
                <a:solidFill>
                  <a:srgbClr val="0070C0"/>
                </a:solidFill>
              </a:rPr>
              <a:t>2</a:t>
            </a:r>
            <a:r>
              <a:rPr lang="en-US" altLang="en-US" sz="2000" dirty="0"/>
              <a:t>, we can take item </a:t>
            </a:r>
            <a:r>
              <a:rPr lang="en-US" altLang="en-US" sz="2000" dirty="0">
                <a:solidFill>
                  <a:srgbClr val="00B050"/>
                </a:solidFill>
              </a:rPr>
              <a:t>2</a:t>
            </a:r>
            <a:r>
              <a:rPr lang="en-US" altLang="en-US" sz="2000" dirty="0"/>
              <a:t>, value </a:t>
            </a:r>
            <a:r>
              <a:rPr lang="en-US" altLang="en-US" sz="2000" dirty="0">
                <a:solidFill>
                  <a:srgbClr val="00B050"/>
                </a:solidFill>
              </a:rPr>
              <a:t>7</a:t>
            </a:r>
            <a:endParaRPr lang="en-US" altLang="en-US" sz="2000" dirty="0"/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And from row 1, column (</a:t>
            </a:r>
            <a:r>
              <a:rPr lang="en-US" altLang="en-US" sz="2000" dirty="0">
                <a:solidFill>
                  <a:srgbClr val="0070C0"/>
                </a:solidFill>
              </a:rPr>
              <a:t>2</a:t>
            </a:r>
            <a:r>
              <a:rPr lang="en-US" altLang="en-US" sz="2000" dirty="0"/>
              <a:t> - </a:t>
            </a:r>
            <a:r>
              <a:rPr lang="en-US" altLang="en-US" sz="2000" dirty="0">
                <a:solidFill>
                  <a:srgbClr val="00B050"/>
                </a:solidFill>
              </a:rPr>
              <a:t>1</a:t>
            </a:r>
            <a:r>
              <a:rPr lang="en-US" altLang="en-US" sz="2000" dirty="0"/>
              <a:t>) == </a:t>
            </a:r>
            <a:r>
              <a:rPr lang="en-US" altLang="en-US" sz="2000" dirty="0">
                <a:solidFill>
                  <a:srgbClr val="7030A0"/>
                </a:solidFill>
              </a:rPr>
              <a:t>1</a:t>
            </a:r>
            <a:r>
              <a:rPr lang="en-US" altLang="en-US" sz="2000" dirty="0"/>
              <a:t>, value </a:t>
            </a:r>
            <a:r>
              <a:rPr lang="en-US" altLang="en-US" sz="2000" dirty="0">
                <a:highlight>
                  <a:srgbClr val="00FFFF"/>
                </a:highlight>
              </a:rPr>
              <a:t>0</a:t>
            </a:r>
            <a:endParaRPr lang="en-US" altLang="en-US" sz="2000" dirty="0">
              <a:solidFill>
                <a:srgbClr val="FF0000"/>
              </a:solidFill>
              <a:highlight>
                <a:srgbClr val="00FFFF"/>
              </a:highlight>
            </a:endParaRPr>
          </a:p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max { </a:t>
            </a:r>
            <a:r>
              <a:rPr lang="en-US" altLang="en-US" sz="2000" dirty="0">
                <a:highlight>
                  <a:srgbClr val="FFFF00"/>
                </a:highlight>
              </a:rPr>
              <a:t>0</a:t>
            </a:r>
            <a:r>
              <a:rPr lang="en-US" altLang="en-US" sz="2000" dirty="0"/>
              <a:t>, </a:t>
            </a:r>
            <a:r>
              <a:rPr lang="en-US" altLang="en-US" sz="2000" dirty="0">
                <a:solidFill>
                  <a:srgbClr val="00B050"/>
                </a:solidFill>
              </a:rPr>
              <a:t>7</a:t>
            </a:r>
            <a:r>
              <a:rPr lang="en-US" altLang="en-US" sz="2000" dirty="0"/>
              <a:t> + </a:t>
            </a:r>
            <a:r>
              <a:rPr lang="en-US" altLang="en-US" sz="2000" dirty="0">
                <a:highlight>
                  <a:srgbClr val="00FFFF"/>
                </a:highlight>
              </a:rPr>
              <a:t>0</a:t>
            </a:r>
            <a:r>
              <a:rPr lang="en-US" altLang="en-US" sz="2000" dirty="0"/>
              <a:t> } is </a:t>
            </a:r>
            <a:r>
              <a:rPr lang="en-US" altLang="en-US" sz="2000" dirty="0">
                <a:solidFill>
                  <a:srgbClr val="FF0000"/>
                </a:solidFill>
              </a:rPr>
              <a:t>7</a:t>
            </a:r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Items: (</a:t>
            </a:r>
            <a:r>
              <a:rPr lang="en-US" altLang="en-US" sz="1400" i="1" dirty="0" err="1"/>
              <a:t>w</a:t>
            </a:r>
            <a:r>
              <a:rPr lang="en-US" altLang="en-US" sz="1400" i="1" baseline="-25000" dirty="0" err="1"/>
              <a:t>i</a:t>
            </a:r>
            <a:r>
              <a:rPr lang="en-US" altLang="en-US" sz="1400" dirty="0"/>
              <a:t>, </a:t>
            </a:r>
            <a:r>
              <a:rPr lang="en-US" altLang="en-US" sz="1400" i="1" dirty="0"/>
              <a:t>v</a:t>
            </a:r>
            <a:r>
              <a:rPr lang="en-US" altLang="en-US" sz="1400" i="1" baseline="-25000" dirty="0"/>
              <a:t>i</a:t>
            </a:r>
            <a:r>
              <a:rPr lang="en-US" altLang="en-US" sz="1400" dirty="0"/>
              <a:t>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2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(3, 9)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>
                <a:solidFill>
                  <a:srgbClr val="00B050"/>
                </a:solidFill>
              </a:rPr>
              <a:t>  (1, 7)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(12, 18)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(5, 3)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(2, 11)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C1D9D59-EAE0-48F8-863B-0DD507C9DDBE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2020, John K. Ostlund</a:t>
            </a:r>
            <a:endParaRPr lang="en-US" dirty="0"/>
          </a:p>
        </p:txBody>
      </p:sp>
      <p:graphicFrame>
        <p:nvGraphicFramePr>
          <p:cNvPr id="5" name="Table 8">
            <a:extLst>
              <a:ext uri="{FF2B5EF4-FFF2-40B4-BE49-F238E27FC236}">
                <a16:creationId xmlns:a16="http://schemas.microsoft.com/office/drawing/2014/main" id="{B6C92E09-5429-4269-8949-BE734938F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9068288"/>
              </p:ext>
            </p:extLst>
          </p:nvPr>
        </p:nvGraphicFramePr>
        <p:xfrm>
          <a:off x="2514600" y="3505200"/>
          <a:ext cx="6096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189162848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00013082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8038581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545559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6541038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3554152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7681525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1583797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6951764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919191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92654455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8640145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115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404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1101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4250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1888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252600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64718-76D8-418F-AADB-FBD045719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1941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0/1 Knapsack Algorithm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Item </a:t>
            </a:r>
            <a:r>
              <a:rPr lang="en-US" altLang="en-US" sz="2000" dirty="0">
                <a:solidFill>
                  <a:srgbClr val="00B050"/>
                </a:solidFill>
              </a:rPr>
              <a:t>2</a:t>
            </a:r>
            <a:r>
              <a:rPr lang="en-US" altLang="en-US" sz="2000" dirty="0"/>
              <a:t> </a:t>
            </a:r>
            <a:r>
              <a:rPr lang="en-US" altLang="en-US" sz="2000" i="1" dirty="0"/>
              <a:t>will</a:t>
            </a:r>
            <a:r>
              <a:rPr lang="en-US" altLang="en-US" sz="2000" dirty="0"/>
              <a:t> fit if remaining available weight is </a:t>
            </a:r>
            <a:r>
              <a:rPr lang="en-US" altLang="en-US" sz="2000" dirty="0">
                <a:solidFill>
                  <a:srgbClr val="0070C0"/>
                </a:solidFill>
              </a:rPr>
              <a:t>3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But should we pick item </a:t>
            </a:r>
            <a:r>
              <a:rPr lang="en-US" altLang="en-US" sz="2000" dirty="0">
                <a:solidFill>
                  <a:srgbClr val="00B050"/>
                </a:solidFill>
              </a:rPr>
              <a:t>2</a:t>
            </a:r>
            <a:r>
              <a:rPr lang="en-US" altLang="en-US" sz="2000" dirty="0"/>
              <a:t> with value </a:t>
            </a:r>
            <a:r>
              <a:rPr lang="en-US" altLang="en-US" sz="2000" dirty="0">
                <a:solidFill>
                  <a:srgbClr val="00B050"/>
                </a:solidFill>
              </a:rPr>
              <a:t>7</a:t>
            </a:r>
            <a:r>
              <a:rPr lang="en-US" altLang="en-US" sz="2000" dirty="0"/>
              <a:t>?</a:t>
            </a:r>
            <a:endParaRPr lang="en-US" altLang="en-US" sz="2000" dirty="0">
              <a:solidFill>
                <a:srgbClr val="00B050"/>
              </a:solidFill>
              <a:highlight>
                <a:srgbClr val="FFFF00"/>
              </a:highlight>
            </a:endParaRP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Item {1} has max value </a:t>
            </a:r>
            <a:r>
              <a:rPr lang="en-US" altLang="en-US" sz="2000" dirty="0">
                <a:highlight>
                  <a:srgbClr val="FFFF00"/>
                </a:highlight>
              </a:rPr>
              <a:t>9</a:t>
            </a:r>
            <a:r>
              <a:rPr lang="en-US" altLang="en-US" sz="2000" dirty="0"/>
              <a:t>!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max { </a:t>
            </a:r>
            <a:r>
              <a:rPr lang="en-US" altLang="en-US" sz="2000" dirty="0">
                <a:highlight>
                  <a:srgbClr val="FFFF00"/>
                </a:highlight>
              </a:rPr>
              <a:t>9</a:t>
            </a:r>
            <a:r>
              <a:rPr lang="en-US" altLang="en-US" sz="2000" dirty="0"/>
              <a:t>, </a:t>
            </a:r>
            <a:r>
              <a:rPr lang="en-US" altLang="en-US" sz="2000" dirty="0">
                <a:solidFill>
                  <a:srgbClr val="00B050"/>
                </a:solidFill>
              </a:rPr>
              <a:t>7</a:t>
            </a:r>
            <a:r>
              <a:rPr lang="en-US" altLang="en-US" sz="2000" dirty="0"/>
              <a:t> + </a:t>
            </a:r>
            <a:r>
              <a:rPr lang="en-US" altLang="en-US" sz="2000" dirty="0">
                <a:highlight>
                  <a:srgbClr val="00FFFF"/>
                </a:highlight>
              </a:rPr>
              <a:t>0</a:t>
            </a:r>
            <a:r>
              <a:rPr lang="en-US" altLang="en-US" sz="2000" dirty="0"/>
              <a:t> } is </a:t>
            </a:r>
            <a:r>
              <a:rPr lang="en-US" altLang="en-US" sz="2000" dirty="0">
                <a:solidFill>
                  <a:srgbClr val="FF0000"/>
                </a:solidFill>
              </a:rPr>
              <a:t>9</a:t>
            </a:r>
            <a:endParaRPr lang="en-US" altLang="en-US" sz="2000" dirty="0"/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Items: (</a:t>
            </a:r>
            <a:r>
              <a:rPr lang="en-US" altLang="en-US" sz="1400" i="1" dirty="0" err="1"/>
              <a:t>w</a:t>
            </a:r>
            <a:r>
              <a:rPr lang="en-US" altLang="en-US" sz="1400" i="1" baseline="-25000" dirty="0" err="1"/>
              <a:t>i</a:t>
            </a:r>
            <a:r>
              <a:rPr lang="en-US" altLang="en-US" sz="1400" dirty="0"/>
              <a:t>, </a:t>
            </a:r>
            <a:r>
              <a:rPr lang="en-US" altLang="en-US" sz="1400" i="1" dirty="0"/>
              <a:t>v</a:t>
            </a:r>
            <a:r>
              <a:rPr lang="en-US" altLang="en-US" sz="1400" i="1" baseline="-25000" dirty="0"/>
              <a:t>i</a:t>
            </a:r>
            <a:r>
              <a:rPr lang="en-US" altLang="en-US" sz="1400" dirty="0"/>
              <a:t>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2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(3, 9)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>
                <a:solidFill>
                  <a:srgbClr val="00B050"/>
                </a:solidFill>
              </a:rPr>
              <a:t>  (1, 7)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(12, 18)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(5, 3)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(2, 11)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5CF1F60-1CAA-4990-8AB0-E76EE678CF22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2020, John K. Ostlund</a:t>
            </a:r>
            <a:endParaRPr lang="en-US" dirty="0"/>
          </a:p>
        </p:txBody>
      </p:sp>
      <p:graphicFrame>
        <p:nvGraphicFramePr>
          <p:cNvPr id="5" name="Table 8">
            <a:extLst>
              <a:ext uri="{FF2B5EF4-FFF2-40B4-BE49-F238E27FC236}">
                <a16:creationId xmlns:a16="http://schemas.microsoft.com/office/drawing/2014/main" id="{B6C92E09-5429-4269-8949-BE734938F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5356060"/>
              </p:ext>
            </p:extLst>
          </p:nvPr>
        </p:nvGraphicFramePr>
        <p:xfrm>
          <a:off x="2514600" y="3505200"/>
          <a:ext cx="6096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189162848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00013082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8038581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545559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6541038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3554152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7681525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1583797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6951764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919191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92654455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8640145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115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highlight>
                          <a:srgbClr val="00FFFF"/>
                        </a:highlight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404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1101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4250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1888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252600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A99748-4E3D-40CA-B95C-3346AA6D6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0020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0/1 Knapsack Algorithm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For remaining weight of </a:t>
            </a:r>
            <a:r>
              <a:rPr lang="en-US" altLang="en-US" sz="2000" dirty="0">
                <a:solidFill>
                  <a:srgbClr val="0070C0"/>
                </a:solidFill>
              </a:rPr>
              <a:t>4</a:t>
            </a:r>
            <a:r>
              <a:rPr lang="en-US" altLang="en-US" sz="2000" dirty="0"/>
              <a:t>, we can take item </a:t>
            </a:r>
            <a:r>
              <a:rPr lang="en-US" altLang="en-US" sz="2000" dirty="0">
                <a:solidFill>
                  <a:srgbClr val="00B050"/>
                </a:solidFill>
              </a:rPr>
              <a:t>2</a:t>
            </a:r>
            <a:r>
              <a:rPr lang="en-US" altLang="en-US" sz="2000" dirty="0"/>
              <a:t>, value </a:t>
            </a:r>
            <a:r>
              <a:rPr lang="en-US" altLang="en-US" sz="2000" dirty="0">
                <a:solidFill>
                  <a:srgbClr val="00B050"/>
                </a:solidFill>
              </a:rPr>
              <a:t>7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2000" i="1" dirty="0"/>
              <a:t>Item 1 also contributes</a:t>
            </a:r>
            <a:endParaRPr lang="en-US" altLang="en-US" sz="2000" dirty="0"/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From row 1, column (</a:t>
            </a:r>
            <a:r>
              <a:rPr lang="en-US" altLang="en-US" sz="2000" dirty="0">
                <a:solidFill>
                  <a:srgbClr val="0070C0"/>
                </a:solidFill>
              </a:rPr>
              <a:t>4</a:t>
            </a:r>
            <a:r>
              <a:rPr lang="en-US" altLang="en-US" sz="2000" dirty="0"/>
              <a:t> - </a:t>
            </a:r>
            <a:r>
              <a:rPr lang="en-US" altLang="en-US" sz="2000" dirty="0">
                <a:solidFill>
                  <a:srgbClr val="00B050"/>
                </a:solidFill>
              </a:rPr>
              <a:t>1</a:t>
            </a:r>
            <a:r>
              <a:rPr lang="en-US" altLang="en-US" sz="2000" dirty="0"/>
              <a:t>) == </a:t>
            </a:r>
            <a:r>
              <a:rPr lang="en-US" altLang="en-US" sz="2000" dirty="0">
                <a:solidFill>
                  <a:srgbClr val="7030A0"/>
                </a:solidFill>
              </a:rPr>
              <a:t>3</a:t>
            </a:r>
            <a:r>
              <a:rPr lang="en-US" altLang="en-US" sz="2000" dirty="0"/>
              <a:t>, value </a:t>
            </a:r>
            <a:r>
              <a:rPr lang="en-US" altLang="en-US" sz="2000" dirty="0">
                <a:highlight>
                  <a:srgbClr val="FFFF00"/>
                </a:highlight>
              </a:rPr>
              <a:t>9</a:t>
            </a:r>
            <a:endParaRPr lang="en-US" altLang="en-US" sz="2000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max { </a:t>
            </a:r>
            <a:r>
              <a:rPr lang="en-US" altLang="en-US" sz="2000" dirty="0">
                <a:highlight>
                  <a:srgbClr val="FFFF00"/>
                </a:highlight>
              </a:rPr>
              <a:t>9</a:t>
            </a:r>
            <a:r>
              <a:rPr lang="en-US" altLang="en-US" sz="2000" dirty="0"/>
              <a:t>, </a:t>
            </a:r>
            <a:r>
              <a:rPr lang="en-US" altLang="en-US" sz="2000" dirty="0">
                <a:solidFill>
                  <a:srgbClr val="00B050"/>
                </a:solidFill>
              </a:rPr>
              <a:t>7</a:t>
            </a:r>
            <a:r>
              <a:rPr lang="en-US" altLang="en-US" sz="2000" dirty="0"/>
              <a:t> + </a:t>
            </a:r>
            <a:r>
              <a:rPr lang="en-US" altLang="en-US" sz="2000" dirty="0">
                <a:highlight>
                  <a:srgbClr val="00FFFF"/>
                </a:highlight>
              </a:rPr>
              <a:t>9</a:t>
            </a:r>
            <a:r>
              <a:rPr lang="en-US" altLang="en-US" sz="2000" dirty="0"/>
              <a:t> } is </a:t>
            </a:r>
            <a:r>
              <a:rPr lang="en-US" altLang="en-US" sz="2000" dirty="0">
                <a:solidFill>
                  <a:srgbClr val="FF0000"/>
                </a:solidFill>
              </a:rPr>
              <a:t>16</a:t>
            </a:r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Items: (</a:t>
            </a:r>
            <a:r>
              <a:rPr lang="en-US" altLang="en-US" sz="1400" i="1" dirty="0" err="1"/>
              <a:t>w</a:t>
            </a:r>
            <a:r>
              <a:rPr lang="en-US" altLang="en-US" sz="1400" i="1" baseline="-25000" dirty="0" err="1"/>
              <a:t>i</a:t>
            </a:r>
            <a:r>
              <a:rPr lang="en-US" altLang="en-US" sz="1400" dirty="0"/>
              <a:t>, </a:t>
            </a:r>
            <a:r>
              <a:rPr lang="en-US" altLang="en-US" sz="1400" i="1" dirty="0"/>
              <a:t>v</a:t>
            </a:r>
            <a:r>
              <a:rPr lang="en-US" altLang="en-US" sz="1400" i="1" baseline="-25000" dirty="0"/>
              <a:t>i</a:t>
            </a:r>
            <a:r>
              <a:rPr lang="en-US" altLang="en-US" sz="1400" dirty="0"/>
              <a:t>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2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(3, 9)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>
                <a:solidFill>
                  <a:srgbClr val="00B050"/>
                </a:solidFill>
              </a:rPr>
              <a:t>  (1, 7)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(12, 18)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(5, 3)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(2, 11)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40CACE7-BA3C-4FA9-A25C-6AAD98547CE4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2020, John K. Ostlund</a:t>
            </a:r>
            <a:endParaRPr lang="en-US" dirty="0"/>
          </a:p>
        </p:txBody>
      </p:sp>
      <p:graphicFrame>
        <p:nvGraphicFramePr>
          <p:cNvPr id="5" name="Table 8">
            <a:extLst>
              <a:ext uri="{FF2B5EF4-FFF2-40B4-BE49-F238E27FC236}">
                <a16:creationId xmlns:a16="http://schemas.microsoft.com/office/drawing/2014/main" id="{B6C92E09-5429-4269-8949-BE734938F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5164303"/>
              </p:ext>
            </p:extLst>
          </p:nvPr>
        </p:nvGraphicFramePr>
        <p:xfrm>
          <a:off x="2514600" y="3505200"/>
          <a:ext cx="6096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189162848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00013082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8038581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545559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6541038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3554152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7681525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1583797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6951764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919191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92654455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8640145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115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404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1101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4250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1888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252600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61626B-7169-4F29-AA0F-E81973250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9415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0/1 Knapsack Algorithm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endParaRPr lang="en-US" altLang="en-US" sz="2000" dirty="0">
              <a:solidFill>
                <a:srgbClr val="FF0000"/>
              </a:solidFill>
            </a:endParaRPr>
          </a:p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For remaining weights of </a:t>
            </a:r>
            <a:r>
              <a:rPr lang="en-US" altLang="en-US" sz="2000" dirty="0">
                <a:solidFill>
                  <a:srgbClr val="0070C0"/>
                </a:solidFill>
              </a:rPr>
              <a:t>5</a:t>
            </a:r>
            <a:r>
              <a:rPr lang="en-US" altLang="en-US" sz="2000" dirty="0"/>
              <a:t> thru </a:t>
            </a:r>
            <a:r>
              <a:rPr lang="en-US" altLang="en-US" sz="2000" dirty="0">
                <a:solidFill>
                  <a:srgbClr val="0070C0"/>
                </a:solidFill>
              </a:rPr>
              <a:t>10</a:t>
            </a:r>
            <a:r>
              <a:rPr lang="en-US" altLang="en-US" sz="2000" dirty="0"/>
              <a:t> values are also </a:t>
            </a:r>
            <a:r>
              <a:rPr lang="en-US" altLang="en-US" sz="2000" dirty="0">
                <a:solidFill>
                  <a:srgbClr val="FF0000"/>
                </a:solidFill>
              </a:rPr>
              <a:t>16</a:t>
            </a:r>
            <a:endParaRPr lang="en-US" altLang="en-US" sz="2000" dirty="0"/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Row 1 previous cells are all </a:t>
            </a:r>
            <a:r>
              <a:rPr lang="en-US" altLang="en-US" sz="2000" dirty="0">
                <a:highlight>
                  <a:srgbClr val="00FFFF"/>
                </a:highlight>
              </a:rPr>
              <a:t>9</a:t>
            </a:r>
          </a:p>
          <a:p>
            <a:pPr eaLnBrk="1" hangingPunct="1">
              <a:spcBef>
                <a:spcPts val="0"/>
              </a:spcBef>
            </a:pPr>
            <a:endParaRPr lang="en-US" altLang="en-US" sz="2000" dirty="0">
              <a:solidFill>
                <a:srgbClr val="FF0000"/>
              </a:solidFill>
            </a:endParaRPr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Items: (</a:t>
            </a:r>
            <a:r>
              <a:rPr lang="en-US" altLang="en-US" sz="1400" i="1" dirty="0" err="1"/>
              <a:t>w</a:t>
            </a:r>
            <a:r>
              <a:rPr lang="en-US" altLang="en-US" sz="1400" i="1" baseline="-25000" dirty="0" err="1"/>
              <a:t>i</a:t>
            </a:r>
            <a:r>
              <a:rPr lang="en-US" altLang="en-US" sz="1400" dirty="0"/>
              <a:t>, </a:t>
            </a:r>
            <a:r>
              <a:rPr lang="en-US" altLang="en-US" sz="1400" i="1" dirty="0"/>
              <a:t>v</a:t>
            </a:r>
            <a:r>
              <a:rPr lang="en-US" altLang="en-US" sz="1400" i="1" baseline="-25000" dirty="0"/>
              <a:t>i</a:t>
            </a:r>
            <a:r>
              <a:rPr lang="en-US" altLang="en-US" sz="1400" dirty="0"/>
              <a:t>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2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(3, 9)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>
                <a:solidFill>
                  <a:srgbClr val="00B050"/>
                </a:solidFill>
              </a:rPr>
              <a:t>  (1, 7)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(12, 18)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(5, 3)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(2, 11)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2CE1696-84F0-4B6D-9014-C39288025AB4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2020, John K. Ostlund</a:t>
            </a:r>
            <a:endParaRPr lang="en-US" dirty="0"/>
          </a:p>
        </p:txBody>
      </p:sp>
      <p:graphicFrame>
        <p:nvGraphicFramePr>
          <p:cNvPr id="5" name="Table 8">
            <a:extLst>
              <a:ext uri="{FF2B5EF4-FFF2-40B4-BE49-F238E27FC236}">
                <a16:creationId xmlns:a16="http://schemas.microsoft.com/office/drawing/2014/main" id="{B6C92E09-5429-4269-8949-BE734938F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8362806"/>
              </p:ext>
            </p:extLst>
          </p:nvPr>
        </p:nvGraphicFramePr>
        <p:xfrm>
          <a:off x="2514600" y="3505200"/>
          <a:ext cx="6096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189162848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00013082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8038581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545559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6541038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3554152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7681525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1583797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6951764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919191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92654455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8640145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115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highlight>
                          <a:srgbClr val="00FFFF"/>
                        </a:highlight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highlight>
                          <a:srgbClr val="00FFFF"/>
                        </a:highlight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highlight>
                          <a:srgbClr val="00FFFF"/>
                        </a:highlight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highlight>
                          <a:srgbClr val="00FFFF"/>
                        </a:highlight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highlight>
                          <a:srgbClr val="00FFFF"/>
                        </a:highlight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highlight>
                          <a:srgbClr val="00FFFF"/>
                        </a:highlight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404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1101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4250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1888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252600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9688B5-DD4B-4777-9794-8DE896076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6120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0/1 Knapsack Algorithm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Now consider item </a:t>
            </a:r>
            <a:r>
              <a:rPr lang="en-US" altLang="en-US" sz="2000" dirty="0">
                <a:solidFill>
                  <a:srgbClr val="00B050"/>
                </a:solidFill>
              </a:rPr>
              <a:t>3</a:t>
            </a:r>
            <a:r>
              <a:rPr lang="en-US" altLang="en-US" sz="2000" dirty="0"/>
              <a:t>, and optionally items 1 and 2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For remaining weight of </a:t>
            </a:r>
            <a:r>
              <a:rPr lang="en-US" altLang="en-US" sz="2000" dirty="0">
                <a:solidFill>
                  <a:srgbClr val="0070C0"/>
                </a:solidFill>
              </a:rPr>
              <a:t>0</a:t>
            </a:r>
            <a:r>
              <a:rPr lang="en-US" altLang="en-US" sz="2000" dirty="0"/>
              <a:t>, we cannot take item </a:t>
            </a:r>
            <a:r>
              <a:rPr lang="en-US" altLang="en-US" sz="2000" dirty="0">
                <a:solidFill>
                  <a:srgbClr val="00B050"/>
                </a:solidFill>
              </a:rPr>
              <a:t>3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So value is </a:t>
            </a:r>
            <a:r>
              <a:rPr lang="en-US" altLang="en-US" sz="2000" dirty="0">
                <a:solidFill>
                  <a:srgbClr val="FF0000"/>
                </a:solidFill>
              </a:rPr>
              <a:t>0</a:t>
            </a:r>
            <a:endParaRPr lang="en-US" altLang="en-US" sz="2000" dirty="0">
              <a:highlight>
                <a:srgbClr val="FFFF00"/>
              </a:highlight>
            </a:endParaRPr>
          </a:p>
          <a:p>
            <a:pPr eaLnBrk="1" hangingPunct="1">
              <a:spcBef>
                <a:spcPts val="0"/>
              </a:spcBef>
            </a:pPr>
            <a:endParaRPr lang="en-US" altLang="en-US" sz="2000" dirty="0">
              <a:solidFill>
                <a:srgbClr val="FF0000"/>
              </a:solidFill>
            </a:endParaRPr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Items: (</a:t>
            </a:r>
            <a:r>
              <a:rPr lang="en-US" altLang="en-US" sz="1400" i="1" dirty="0" err="1"/>
              <a:t>w</a:t>
            </a:r>
            <a:r>
              <a:rPr lang="en-US" altLang="en-US" sz="1400" i="1" baseline="-25000" dirty="0" err="1"/>
              <a:t>i</a:t>
            </a:r>
            <a:r>
              <a:rPr lang="en-US" altLang="en-US" sz="1400" dirty="0"/>
              <a:t>, </a:t>
            </a:r>
            <a:r>
              <a:rPr lang="en-US" altLang="en-US" sz="1400" i="1" dirty="0"/>
              <a:t>v</a:t>
            </a:r>
            <a:r>
              <a:rPr lang="en-US" altLang="en-US" sz="1400" i="1" baseline="-25000" dirty="0"/>
              <a:t>i</a:t>
            </a:r>
            <a:r>
              <a:rPr lang="en-US" altLang="en-US" sz="1400" dirty="0"/>
              <a:t>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2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(3, 9)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(1, 7)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>
                <a:solidFill>
                  <a:srgbClr val="00B050"/>
                </a:solidFill>
              </a:rPr>
              <a:t>  (12, 18)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(5, 3)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(2, 11)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809FD40-2A5F-45EC-BF26-31F950EBF965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2020, John K. Ostlund</a:t>
            </a:r>
            <a:endParaRPr lang="en-US" dirty="0"/>
          </a:p>
        </p:txBody>
      </p:sp>
      <p:graphicFrame>
        <p:nvGraphicFramePr>
          <p:cNvPr id="5" name="Table 8">
            <a:extLst>
              <a:ext uri="{FF2B5EF4-FFF2-40B4-BE49-F238E27FC236}">
                <a16:creationId xmlns:a16="http://schemas.microsoft.com/office/drawing/2014/main" id="{B6C92E09-5429-4269-8949-BE734938F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4210346"/>
              </p:ext>
            </p:extLst>
          </p:nvPr>
        </p:nvGraphicFramePr>
        <p:xfrm>
          <a:off x="2514600" y="3505200"/>
          <a:ext cx="6096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189162848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00013082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8038581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545559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6541038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3554152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7681525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1583797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6951764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919191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92654455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8640145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 w="12700" cmpd="sng">
                            <a:noFill/>
                          </a:ln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115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404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1101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4250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1888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252600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106B41-F34E-49FE-B889-DE6F3E477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4534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0/1 Knapsack Algorithm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For remaining weight of </a:t>
            </a:r>
            <a:r>
              <a:rPr lang="en-US" altLang="en-US" sz="2000" dirty="0">
                <a:solidFill>
                  <a:srgbClr val="0070C0"/>
                </a:solidFill>
              </a:rPr>
              <a:t>1</a:t>
            </a:r>
            <a:r>
              <a:rPr lang="en-US" altLang="en-US" sz="2000" dirty="0"/>
              <a:t>, we cannot take item </a:t>
            </a:r>
            <a:r>
              <a:rPr lang="en-US" altLang="en-US" sz="2000" dirty="0">
                <a:solidFill>
                  <a:srgbClr val="00B050"/>
                </a:solidFill>
              </a:rPr>
              <a:t>3</a:t>
            </a:r>
            <a:r>
              <a:rPr lang="en-US" altLang="en-US" sz="2000" dirty="0"/>
              <a:t>, so value </a:t>
            </a:r>
            <a:r>
              <a:rPr lang="en-US" altLang="en-US" sz="2000" dirty="0">
                <a:solidFill>
                  <a:srgbClr val="00B050"/>
                </a:solidFill>
              </a:rPr>
              <a:t>0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2000" i="1" dirty="0"/>
              <a:t>Items 1 and 2 also contribute</a:t>
            </a:r>
            <a:endParaRPr lang="en-US" altLang="en-US" sz="2000" dirty="0"/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max { </a:t>
            </a:r>
            <a:r>
              <a:rPr lang="en-US" altLang="en-US" sz="2000" dirty="0">
                <a:highlight>
                  <a:srgbClr val="FFFF00"/>
                </a:highlight>
              </a:rPr>
              <a:t>7</a:t>
            </a:r>
            <a:r>
              <a:rPr lang="en-US" altLang="en-US" sz="2000" dirty="0"/>
              <a:t>, </a:t>
            </a:r>
            <a:r>
              <a:rPr lang="en-US" altLang="en-US" sz="2000" dirty="0">
                <a:solidFill>
                  <a:srgbClr val="00B050"/>
                </a:solidFill>
              </a:rPr>
              <a:t>0</a:t>
            </a:r>
            <a:r>
              <a:rPr lang="en-US" altLang="en-US" sz="2000" dirty="0"/>
              <a:t> } is </a:t>
            </a:r>
            <a:r>
              <a:rPr lang="en-US" altLang="en-US" sz="2000" dirty="0">
                <a:solidFill>
                  <a:srgbClr val="FF0000"/>
                </a:solidFill>
              </a:rPr>
              <a:t>7</a:t>
            </a:r>
            <a:endParaRPr lang="en-US" altLang="en-US" sz="2000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pPr eaLnBrk="1" hangingPunct="1">
              <a:spcBef>
                <a:spcPts val="0"/>
              </a:spcBef>
            </a:pPr>
            <a:endParaRPr lang="en-US" altLang="en-US" sz="2000" dirty="0">
              <a:solidFill>
                <a:srgbClr val="FF0000"/>
              </a:solidFill>
            </a:endParaRPr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Items: (</a:t>
            </a:r>
            <a:r>
              <a:rPr lang="en-US" altLang="en-US" sz="1400" i="1" dirty="0" err="1"/>
              <a:t>w</a:t>
            </a:r>
            <a:r>
              <a:rPr lang="en-US" altLang="en-US" sz="1400" i="1" baseline="-25000" dirty="0" err="1"/>
              <a:t>i</a:t>
            </a:r>
            <a:r>
              <a:rPr lang="en-US" altLang="en-US" sz="1400" dirty="0"/>
              <a:t>, </a:t>
            </a:r>
            <a:r>
              <a:rPr lang="en-US" altLang="en-US" sz="1400" i="1" dirty="0"/>
              <a:t>v</a:t>
            </a:r>
            <a:r>
              <a:rPr lang="en-US" altLang="en-US" sz="1400" i="1" baseline="-25000" dirty="0"/>
              <a:t>i</a:t>
            </a:r>
            <a:r>
              <a:rPr lang="en-US" altLang="en-US" sz="1400" dirty="0"/>
              <a:t>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2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(3, 9)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(1, 7)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>
                <a:solidFill>
                  <a:srgbClr val="00B050"/>
                </a:solidFill>
              </a:rPr>
              <a:t>  (12, 18)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(5, 3)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(2, 11)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B8CB752-EF66-4DE2-9E9A-7AF91FFD3286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2020, John K. Ostlund</a:t>
            </a:r>
            <a:endParaRPr lang="en-US" dirty="0"/>
          </a:p>
        </p:txBody>
      </p:sp>
      <p:graphicFrame>
        <p:nvGraphicFramePr>
          <p:cNvPr id="5" name="Table 8">
            <a:extLst>
              <a:ext uri="{FF2B5EF4-FFF2-40B4-BE49-F238E27FC236}">
                <a16:creationId xmlns:a16="http://schemas.microsoft.com/office/drawing/2014/main" id="{B6C92E09-5429-4269-8949-BE734938F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8546691"/>
              </p:ext>
            </p:extLst>
          </p:nvPr>
        </p:nvGraphicFramePr>
        <p:xfrm>
          <a:off x="2514600" y="3505200"/>
          <a:ext cx="6096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189162848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00013082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8038581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545559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6541038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3554152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7681525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1583797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6951764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919191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92654455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8640145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115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404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1101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4250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1888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252600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0EBB4-1E81-458D-B116-CD720C893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28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0/1 Knapsack Algorithm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In fact, item </a:t>
            </a:r>
            <a:r>
              <a:rPr lang="en-US" altLang="en-US" sz="2000" dirty="0">
                <a:solidFill>
                  <a:srgbClr val="00B050"/>
                </a:solidFill>
              </a:rPr>
              <a:t>3</a:t>
            </a:r>
            <a:r>
              <a:rPr lang="en-US" altLang="en-US" sz="2000" dirty="0"/>
              <a:t> is too heavy to fit in the knapsack at all</a:t>
            </a:r>
            <a:endParaRPr lang="en-US" altLang="en-US" sz="2000" dirty="0">
              <a:solidFill>
                <a:srgbClr val="00B050"/>
              </a:solidFill>
            </a:endParaRPr>
          </a:p>
          <a:p>
            <a:pPr eaLnBrk="1" hangingPunct="1">
              <a:spcBef>
                <a:spcPts val="0"/>
              </a:spcBef>
            </a:pPr>
            <a:r>
              <a:rPr lang="en-US" altLang="en-US" sz="2000" i="1" dirty="0"/>
              <a:t>Items 1 and 2 are the only contributors to value</a:t>
            </a:r>
            <a:endParaRPr lang="en-US" altLang="en-US" sz="2000" dirty="0"/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Copy the values down from row 2 to row 3</a:t>
            </a:r>
            <a:endParaRPr lang="en-US" altLang="en-US" sz="2000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pPr eaLnBrk="1" hangingPunct="1">
              <a:spcBef>
                <a:spcPts val="0"/>
              </a:spcBef>
            </a:pPr>
            <a:endParaRPr lang="en-US" altLang="en-US" sz="2000" dirty="0">
              <a:solidFill>
                <a:srgbClr val="FF0000"/>
              </a:solidFill>
            </a:endParaRPr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Items: (</a:t>
            </a:r>
            <a:r>
              <a:rPr lang="en-US" altLang="en-US" sz="1400" i="1" dirty="0" err="1"/>
              <a:t>w</a:t>
            </a:r>
            <a:r>
              <a:rPr lang="en-US" altLang="en-US" sz="1400" i="1" baseline="-25000" dirty="0" err="1"/>
              <a:t>i</a:t>
            </a:r>
            <a:r>
              <a:rPr lang="en-US" altLang="en-US" sz="1400" dirty="0"/>
              <a:t>, </a:t>
            </a:r>
            <a:r>
              <a:rPr lang="en-US" altLang="en-US" sz="1400" i="1" dirty="0"/>
              <a:t>v</a:t>
            </a:r>
            <a:r>
              <a:rPr lang="en-US" altLang="en-US" sz="1400" i="1" baseline="-25000" dirty="0"/>
              <a:t>i</a:t>
            </a:r>
            <a:r>
              <a:rPr lang="en-US" altLang="en-US" sz="1400" dirty="0"/>
              <a:t>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2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(3, 9)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(1, 7)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>
                <a:solidFill>
                  <a:srgbClr val="00B050"/>
                </a:solidFill>
              </a:rPr>
              <a:t>  (12, 18)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(5, 3)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(2, 11)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8015093-FC5B-4C7E-B1C5-B4309D7B23EC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2020, John K. Ostlund</a:t>
            </a:r>
            <a:endParaRPr lang="en-US" dirty="0"/>
          </a:p>
        </p:txBody>
      </p:sp>
      <p:graphicFrame>
        <p:nvGraphicFramePr>
          <p:cNvPr id="5" name="Table 8">
            <a:extLst>
              <a:ext uri="{FF2B5EF4-FFF2-40B4-BE49-F238E27FC236}">
                <a16:creationId xmlns:a16="http://schemas.microsoft.com/office/drawing/2014/main" id="{B6C92E09-5429-4269-8949-BE734938F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2927345"/>
              </p:ext>
            </p:extLst>
          </p:nvPr>
        </p:nvGraphicFramePr>
        <p:xfrm>
          <a:off x="2514600" y="3505200"/>
          <a:ext cx="6096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189162848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00013082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8038581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545559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6541038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3554152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7681525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1583797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6951764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919191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92654455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8640145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115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404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1101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4250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1888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252600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7B8A3E-C4BA-43B7-A11D-99D5BD124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4421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0/1 Knapsack Algorithm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Now consider item </a:t>
            </a:r>
            <a:r>
              <a:rPr lang="en-US" altLang="en-US" sz="2000" dirty="0">
                <a:solidFill>
                  <a:srgbClr val="00B050"/>
                </a:solidFill>
              </a:rPr>
              <a:t>4</a:t>
            </a:r>
            <a:r>
              <a:rPr lang="en-US" altLang="en-US" sz="2000" dirty="0"/>
              <a:t>, and optionally items 1, 2 and 3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For remaining weight of </a:t>
            </a:r>
            <a:r>
              <a:rPr lang="en-US" altLang="en-US" sz="2000" dirty="0">
                <a:solidFill>
                  <a:srgbClr val="0070C0"/>
                </a:solidFill>
              </a:rPr>
              <a:t>0</a:t>
            </a:r>
            <a:r>
              <a:rPr lang="en-US" altLang="en-US" sz="2000" dirty="0"/>
              <a:t>, we cannot take item </a:t>
            </a:r>
            <a:r>
              <a:rPr lang="en-US" altLang="en-US" sz="2000" dirty="0">
                <a:solidFill>
                  <a:srgbClr val="00B050"/>
                </a:solidFill>
              </a:rPr>
              <a:t>4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So value is </a:t>
            </a:r>
            <a:r>
              <a:rPr lang="en-US" altLang="en-US" sz="2000" dirty="0">
                <a:solidFill>
                  <a:srgbClr val="FF0000"/>
                </a:solidFill>
              </a:rPr>
              <a:t>0</a:t>
            </a:r>
            <a:endParaRPr lang="en-US" altLang="en-US" sz="2000" dirty="0">
              <a:highlight>
                <a:srgbClr val="FFFF00"/>
              </a:highlight>
            </a:endParaRPr>
          </a:p>
          <a:p>
            <a:pPr eaLnBrk="1" hangingPunct="1">
              <a:spcBef>
                <a:spcPts val="0"/>
              </a:spcBef>
            </a:pPr>
            <a:endParaRPr lang="en-US" altLang="en-US" sz="2000" dirty="0">
              <a:solidFill>
                <a:srgbClr val="FF0000"/>
              </a:solidFill>
            </a:endParaRPr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Items: (</a:t>
            </a:r>
            <a:r>
              <a:rPr lang="en-US" altLang="en-US" sz="1400" i="1" dirty="0" err="1"/>
              <a:t>w</a:t>
            </a:r>
            <a:r>
              <a:rPr lang="en-US" altLang="en-US" sz="1400" i="1" baseline="-25000" dirty="0" err="1"/>
              <a:t>i</a:t>
            </a:r>
            <a:r>
              <a:rPr lang="en-US" altLang="en-US" sz="1400" dirty="0"/>
              <a:t>, </a:t>
            </a:r>
            <a:r>
              <a:rPr lang="en-US" altLang="en-US" sz="1400" i="1" dirty="0"/>
              <a:t>v</a:t>
            </a:r>
            <a:r>
              <a:rPr lang="en-US" altLang="en-US" sz="1400" i="1" baseline="-25000" dirty="0"/>
              <a:t>i</a:t>
            </a:r>
            <a:r>
              <a:rPr lang="en-US" altLang="en-US" sz="1400" dirty="0"/>
              <a:t>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2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(3, 9)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(1, 7)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>
                <a:solidFill>
                  <a:srgbClr val="00B050"/>
                </a:solidFill>
              </a:rPr>
              <a:t>  </a:t>
            </a:r>
            <a:r>
              <a:rPr lang="en-US" altLang="en-US" sz="1400" dirty="0"/>
              <a:t>(12, 18)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</a:t>
            </a:r>
            <a:r>
              <a:rPr lang="en-US" altLang="en-US" sz="1400" dirty="0">
                <a:solidFill>
                  <a:srgbClr val="00B050"/>
                </a:solidFill>
              </a:rPr>
              <a:t>(5, 3)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(2, 11)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D0D3278-6792-4194-B6C9-29B1FCAD11E2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2020, John K. Ostlund</a:t>
            </a:r>
            <a:endParaRPr lang="en-US" dirty="0"/>
          </a:p>
        </p:txBody>
      </p:sp>
      <p:graphicFrame>
        <p:nvGraphicFramePr>
          <p:cNvPr id="4" name="Table 8">
            <a:extLst>
              <a:ext uri="{FF2B5EF4-FFF2-40B4-BE49-F238E27FC236}">
                <a16:creationId xmlns:a16="http://schemas.microsoft.com/office/drawing/2014/main" id="{24EAE4B3-229A-4810-996A-BD19763032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8055251"/>
              </p:ext>
            </p:extLst>
          </p:nvPr>
        </p:nvGraphicFramePr>
        <p:xfrm>
          <a:off x="2514600" y="3505200"/>
          <a:ext cx="6096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189162848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00013082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8038581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545559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6541038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3554152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7681525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1583797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6951764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919191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92654455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8640145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115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404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1101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4250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1888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252600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20AF6-EDDD-4DA6-803A-6613C8699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1841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0/1 Knapsack Algorithm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For remaining weight of </a:t>
            </a:r>
            <a:r>
              <a:rPr lang="en-US" altLang="en-US" sz="2000" dirty="0">
                <a:solidFill>
                  <a:srgbClr val="0070C0"/>
                </a:solidFill>
              </a:rPr>
              <a:t>1</a:t>
            </a:r>
            <a:r>
              <a:rPr lang="en-US" altLang="en-US" sz="2000" dirty="0"/>
              <a:t>, we cannot take item </a:t>
            </a:r>
            <a:r>
              <a:rPr lang="en-US" altLang="en-US" sz="2000" dirty="0">
                <a:solidFill>
                  <a:srgbClr val="00B050"/>
                </a:solidFill>
              </a:rPr>
              <a:t>3</a:t>
            </a:r>
            <a:r>
              <a:rPr lang="en-US" altLang="en-US" sz="2000" dirty="0"/>
              <a:t>, so value </a:t>
            </a:r>
            <a:r>
              <a:rPr lang="en-US" altLang="en-US" sz="2000" dirty="0">
                <a:solidFill>
                  <a:srgbClr val="00B050"/>
                </a:solidFill>
              </a:rPr>
              <a:t>0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2000" i="1" dirty="0"/>
              <a:t>Items 1, 2 and 3 also contribute</a:t>
            </a:r>
            <a:endParaRPr lang="en-US" altLang="en-US" sz="2000" dirty="0"/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max { </a:t>
            </a:r>
            <a:r>
              <a:rPr lang="en-US" altLang="en-US" sz="2000" dirty="0">
                <a:highlight>
                  <a:srgbClr val="FFFF00"/>
                </a:highlight>
              </a:rPr>
              <a:t>7</a:t>
            </a:r>
            <a:r>
              <a:rPr lang="en-US" altLang="en-US" sz="2000" dirty="0"/>
              <a:t>, </a:t>
            </a:r>
            <a:r>
              <a:rPr lang="en-US" altLang="en-US" sz="2000" dirty="0">
                <a:solidFill>
                  <a:srgbClr val="00B050"/>
                </a:solidFill>
              </a:rPr>
              <a:t>0</a:t>
            </a:r>
            <a:r>
              <a:rPr lang="en-US" altLang="en-US" sz="2000" dirty="0"/>
              <a:t> } is </a:t>
            </a:r>
            <a:r>
              <a:rPr lang="en-US" altLang="en-US" sz="2000" dirty="0">
                <a:solidFill>
                  <a:srgbClr val="FF0000"/>
                </a:solidFill>
              </a:rPr>
              <a:t>7</a:t>
            </a:r>
            <a:endParaRPr lang="en-US" altLang="en-US" sz="2000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pPr eaLnBrk="1" hangingPunct="1">
              <a:spcBef>
                <a:spcPts val="0"/>
              </a:spcBef>
            </a:pPr>
            <a:endParaRPr lang="en-US" altLang="en-US" sz="2000" dirty="0">
              <a:solidFill>
                <a:srgbClr val="FF0000"/>
              </a:solidFill>
            </a:endParaRPr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Items: (</a:t>
            </a:r>
            <a:r>
              <a:rPr lang="en-US" altLang="en-US" sz="1400" i="1" dirty="0" err="1"/>
              <a:t>w</a:t>
            </a:r>
            <a:r>
              <a:rPr lang="en-US" altLang="en-US" sz="1400" i="1" baseline="-25000" dirty="0" err="1"/>
              <a:t>i</a:t>
            </a:r>
            <a:r>
              <a:rPr lang="en-US" altLang="en-US" sz="1400" dirty="0"/>
              <a:t>, </a:t>
            </a:r>
            <a:r>
              <a:rPr lang="en-US" altLang="en-US" sz="1400" i="1" dirty="0"/>
              <a:t>v</a:t>
            </a:r>
            <a:r>
              <a:rPr lang="en-US" altLang="en-US" sz="1400" i="1" baseline="-25000" dirty="0"/>
              <a:t>i</a:t>
            </a:r>
            <a:r>
              <a:rPr lang="en-US" altLang="en-US" sz="1400" dirty="0"/>
              <a:t>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2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(3, 9)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(1, 7)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>
                <a:solidFill>
                  <a:srgbClr val="00B050"/>
                </a:solidFill>
              </a:rPr>
              <a:t>  </a:t>
            </a:r>
            <a:r>
              <a:rPr lang="en-US" altLang="en-US" sz="1400" dirty="0"/>
              <a:t>(12, 18)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</a:t>
            </a:r>
            <a:r>
              <a:rPr lang="en-US" altLang="en-US" sz="1400" dirty="0">
                <a:solidFill>
                  <a:srgbClr val="00B050"/>
                </a:solidFill>
              </a:rPr>
              <a:t>(5, 3)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(2, 11)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58AE940-DEC2-4DD5-9BF6-CACCB26B9062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2020, John K. Ostlund</a:t>
            </a:r>
            <a:endParaRPr lang="en-US" dirty="0"/>
          </a:p>
        </p:txBody>
      </p:sp>
      <p:graphicFrame>
        <p:nvGraphicFramePr>
          <p:cNvPr id="4" name="Table 8">
            <a:extLst>
              <a:ext uri="{FF2B5EF4-FFF2-40B4-BE49-F238E27FC236}">
                <a16:creationId xmlns:a16="http://schemas.microsoft.com/office/drawing/2014/main" id="{8ECCABBB-AA2C-4407-A1A6-9EB7CBB71E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6791551"/>
              </p:ext>
            </p:extLst>
          </p:nvPr>
        </p:nvGraphicFramePr>
        <p:xfrm>
          <a:off x="2514600" y="3505200"/>
          <a:ext cx="6096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189162848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00013082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8038581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545559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6541038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3554152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7681525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1583797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6951764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919191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92654455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8640145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115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404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1101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4250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1888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252600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F18A45-D681-4969-8170-B8BAB99F6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8675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0/1 Knapsack Algorithm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endParaRPr lang="en-US" altLang="en-US" sz="2000" dirty="0">
              <a:solidFill>
                <a:srgbClr val="00B050"/>
              </a:solidFill>
            </a:endParaRPr>
          </a:p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Item </a:t>
            </a:r>
            <a:r>
              <a:rPr lang="en-US" altLang="en-US" sz="2000" dirty="0">
                <a:solidFill>
                  <a:srgbClr val="00B050"/>
                </a:solidFill>
              </a:rPr>
              <a:t>4</a:t>
            </a:r>
            <a:r>
              <a:rPr lang="en-US" altLang="en-US" sz="2000" dirty="0"/>
              <a:t> will not fit if remaining available weight is 2 thru 4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Copy the values down from row 3 to row </a:t>
            </a:r>
            <a:r>
              <a:rPr lang="en-US" altLang="en-US" sz="2000" dirty="0">
                <a:solidFill>
                  <a:srgbClr val="00B050"/>
                </a:solidFill>
              </a:rPr>
              <a:t>4</a:t>
            </a:r>
            <a:endParaRPr lang="en-US" altLang="en-US" sz="2000" dirty="0">
              <a:solidFill>
                <a:srgbClr val="00B050"/>
              </a:solidFill>
              <a:highlight>
                <a:srgbClr val="FFFF00"/>
              </a:highlight>
            </a:endParaRPr>
          </a:p>
          <a:p>
            <a:pPr eaLnBrk="1" hangingPunct="1">
              <a:spcBef>
                <a:spcPts val="0"/>
              </a:spcBef>
            </a:pPr>
            <a:endParaRPr lang="en-US" altLang="en-US" sz="2000" dirty="0">
              <a:solidFill>
                <a:srgbClr val="FF0000"/>
              </a:solidFill>
            </a:endParaRPr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Items: (</a:t>
            </a:r>
            <a:r>
              <a:rPr lang="en-US" altLang="en-US" sz="1400" i="1" dirty="0" err="1"/>
              <a:t>w</a:t>
            </a:r>
            <a:r>
              <a:rPr lang="en-US" altLang="en-US" sz="1400" i="1" baseline="-25000" dirty="0" err="1"/>
              <a:t>i</a:t>
            </a:r>
            <a:r>
              <a:rPr lang="en-US" altLang="en-US" sz="1400" dirty="0"/>
              <a:t>, </a:t>
            </a:r>
            <a:r>
              <a:rPr lang="en-US" altLang="en-US" sz="1400" i="1" dirty="0"/>
              <a:t>v</a:t>
            </a:r>
            <a:r>
              <a:rPr lang="en-US" altLang="en-US" sz="1400" i="1" baseline="-25000" dirty="0"/>
              <a:t>i</a:t>
            </a:r>
            <a:r>
              <a:rPr lang="en-US" altLang="en-US" sz="1400" dirty="0"/>
              <a:t>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2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(3, 9)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(1, 7)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(12, 18)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>
                <a:solidFill>
                  <a:srgbClr val="00B050"/>
                </a:solidFill>
              </a:rPr>
              <a:t>  (5, 3)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(2, 11)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EA6B87C-2C7D-435A-9E8F-F71C1CA5D4F6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2020, John K. Ostlund</a:t>
            </a:r>
            <a:endParaRPr lang="en-US" dirty="0"/>
          </a:p>
        </p:txBody>
      </p:sp>
      <p:graphicFrame>
        <p:nvGraphicFramePr>
          <p:cNvPr id="5" name="Table 8">
            <a:extLst>
              <a:ext uri="{FF2B5EF4-FFF2-40B4-BE49-F238E27FC236}">
                <a16:creationId xmlns:a16="http://schemas.microsoft.com/office/drawing/2014/main" id="{B6C92E09-5429-4269-8949-BE734938F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8667835"/>
              </p:ext>
            </p:extLst>
          </p:nvPr>
        </p:nvGraphicFramePr>
        <p:xfrm>
          <a:off x="2514600" y="3505200"/>
          <a:ext cx="6096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189162848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00013082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8038581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545559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6541038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3554152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7681525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1583797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6951764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919191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92654455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8640145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115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404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1101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4250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1888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252600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4A42C0-E50B-4E82-AEDC-A5A4F4F8E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0208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0/1 Knapsack Algorithm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endParaRPr lang="en-US" altLang="en-US" sz="2000" dirty="0">
              <a:solidFill>
                <a:srgbClr val="00B050"/>
              </a:solidFill>
            </a:endParaRPr>
          </a:p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Item </a:t>
            </a:r>
            <a:r>
              <a:rPr lang="en-US" altLang="en-US" sz="2000" dirty="0">
                <a:solidFill>
                  <a:srgbClr val="00B050"/>
                </a:solidFill>
              </a:rPr>
              <a:t>4</a:t>
            </a:r>
            <a:r>
              <a:rPr lang="en-US" altLang="en-US" sz="2000" dirty="0"/>
              <a:t> </a:t>
            </a:r>
            <a:r>
              <a:rPr lang="en-US" altLang="en-US" sz="2000" i="1" dirty="0"/>
              <a:t>will</a:t>
            </a:r>
            <a:r>
              <a:rPr lang="en-US" altLang="en-US" sz="2000" dirty="0"/>
              <a:t> fit if remaining available weight is </a:t>
            </a:r>
            <a:r>
              <a:rPr lang="en-US" altLang="en-US" sz="2000" dirty="0">
                <a:solidFill>
                  <a:srgbClr val="0070C0"/>
                </a:solidFill>
              </a:rPr>
              <a:t>5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But should we pick item </a:t>
            </a:r>
            <a:r>
              <a:rPr lang="en-US" altLang="en-US" sz="2000" dirty="0">
                <a:solidFill>
                  <a:srgbClr val="00B050"/>
                </a:solidFill>
              </a:rPr>
              <a:t>4</a:t>
            </a:r>
            <a:r>
              <a:rPr lang="en-US" altLang="en-US" sz="2000" dirty="0"/>
              <a:t> with value </a:t>
            </a:r>
            <a:r>
              <a:rPr lang="en-US" altLang="en-US" sz="2000" dirty="0">
                <a:solidFill>
                  <a:srgbClr val="00B050"/>
                </a:solidFill>
              </a:rPr>
              <a:t>3</a:t>
            </a:r>
            <a:r>
              <a:rPr lang="en-US" altLang="en-US" sz="2000" dirty="0"/>
              <a:t>?</a:t>
            </a:r>
            <a:endParaRPr lang="en-US" altLang="en-US" sz="2000" dirty="0">
              <a:solidFill>
                <a:srgbClr val="00B050"/>
              </a:solidFill>
              <a:highlight>
                <a:srgbClr val="FFFF00"/>
              </a:highlight>
            </a:endParaRP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max { </a:t>
            </a:r>
            <a:r>
              <a:rPr lang="en-US" altLang="en-US" sz="2000" dirty="0">
                <a:highlight>
                  <a:srgbClr val="FFFF00"/>
                </a:highlight>
              </a:rPr>
              <a:t>16</a:t>
            </a:r>
            <a:r>
              <a:rPr lang="en-US" altLang="en-US" sz="2000" dirty="0"/>
              <a:t>, </a:t>
            </a:r>
            <a:r>
              <a:rPr lang="en-US" altLang="en-US" sz="2000" dirty="0">
                <a:solidFill>
                  <a:srgbClr val="00B050"/>
                </a:solidFill>
              </a:rPr>
              <a:t>3</a:t>
            </a:r>
            <a:r>
              <a:rPr lang="en-US" altLang="en-US" sz="2000" dirty="0"/>
              <a:t> + </a:t>
            </a:r>
            <a:r>
              <a:rPr lang="en-US" altLang="en-US" sz="2000" dirty="0">
                <a:highlight>
                  <a:srgbClr val="00FFFF"/>
                </a:highlight>
              </a:rPr>
              <a:t>0</a:t>
            </a:r>
            <a:r>
              <a:rPr lang="en-US" altLang="en-US" sz="2000" dirty="0"/>
              <a:t> } is </a:t>
            </a:r>
            <a:r>
              <a:rPr lang="en-US" altLang="en-US" sz="2000" dirty="0">
                <a:solidFill>
                  <a:srgbClr val="FF0000"/>
                </a:solidFill>
              </a:rPr>
              <a:t>16</a:t>
            </a:r>
            <a:endParaRPr lang="en-US" altLang="en-US" sz="2000" dirty="0"/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>
              <a:solidFill>
                <a:srgbClr val="00B050"/>
              </a:solidFill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Items: (</a:t>
            </a:r>
            <a:r>
              <a:rPr lang="en-US" altLang="en-US" sz="1400" i="1" dirty="0" err="1"/>
              <a:t>w</a:t>
            </a:r>
            <a:r>
              <a:rPr lang="en-US" altLang="en-US" sz="1400" i="1" baseline="-25000" dirty="0" err="1"/>
              <a:t>i</a:t>
            </a:r>
            <a:r>
              <a:rPr lang="en-US" altLang="en-US" sz="1400" dirty="0"/>
              <a:t>, </a:t>
            </a:r>
            <a:r>
              <a:rPr lang="en-US" altLang="en-US" sz="1400" i="1" dirty="0"/>
              <a:t>v</a:t>
            </a:r>
            <a:r>
              <a:rPr lang="en-US" altLang="en-US" sz="1400" i="1" baseline="-25000" dirty="0"/>
              <a:t>i</a:t>
            </a:r>
            <a:r>
              <a:rPr lang="en-US" altLang="en-US" sz="1400" dirty="0"/>
              <a:t>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2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(3, 9)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(1, 7)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(12, 18)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>
                <a:solidFill>
                  <a:srgbClr val="00B050"/>
                </a:solidFill>
              </a:rPr>
              <a:t>  (5, 3)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(2, 11)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FC02E62-BCBD-4BA6-A4A8-AD4FAE06653D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2020, John K. Ostlund</a:t>
            </a:r>
            <a:endParaRPr lang="en-US" dirty="0"/>
          </a:p>
        </p:txBody>
      </p:sp>
      <p:graphicFrame>
        <p:nvGraphicFramePr>
          <p:cNvPr id="5" name="Table 8">
            <a:extLst>
              <a:ext uri="{FF2B5EF4-FFF2-40B4-BE49-F238E27FC236}">
                <a16:creationId xmlns:a16="http://schemas.microsoft.com/office/drawing/2014/main" id="{B6C92E09-5429-4269-8949-BE734938F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5813532"/>
              </p:ext>
            </p:extLst>
          </p:nvPr>
        </p:nvGraphicFramePr>
        <p:xfrm>
          <a:off x="2514600" y="3505200"/>
          <a:ext cx="6096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189162848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00013082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8038581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545559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6541038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3554152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7681525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1583797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6951764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919191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92654455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8640145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115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404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1101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4250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1" i="1" kern="1200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1888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252600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CF9AF8-C731-4516-A52D-8B7FBC3EC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5873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0/1 Knapsack Algorithm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endParaRPr lang="en-US" altLang="en-US" sz="2000" dirty="0">
              <a:solidFill>
                <a:srgbClr val="00B050"/>
              </a:solidFill>
            </a:endParaRPr>
          </a:p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Let </a:t>
            </a:r>
            <a:r>
              <a:rPr lang="en-US" altLang="en-US" sz="2000" b="1" dirty="0"/>
              <a:t>A</a:t>
            </a:r>
            <a:r>
              <a:rPr lang="en-US" altLang="en-US" sz="2000" dirty="0"/>
              <a:t> be our array of items vs. remaining available weight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1600" dirty="0"/>
              <a:t>Recall that item </a:t>
            </a:r>
            <a:r>
              <a:rPr lang="en-US" altLang="en-US" sz="1600" i="1" dirty="0"/>
              <a:t>k</a:t>
            </a:r>
            <a:r>
              <a:rPr lang="en-US" altLang="en-US" sz="1600" dirty="0"/>
              <a:t> has weight </a:t>
            </a:r>
            <a:r>
              <a:rPr lang="en-US" altLang="en-US" sz="1600" i="1" dirty="0" err="1"/>
              <a:t>w</a:t>
            </a:r>
            <a:r>
              <a:rPr lang="en-US" altLang="en-US" sz="1600" i="1" baseline="-25000" dirty="0" err="1"/>
              <a:t>k</a:t>
            </a:r>
            <a:r>
              <a:rPr lang="en-US" altLang="en-US" sz="1600" dirty="0"/>
              <a:t> and value </a:t>
            </a:r>
            <a:r>
              <a:rPr lang="en-US" altLang="en-US" sz="1600" i="1" dirty="0" err="1"/>
              <a:t>v</a:t>
            </a:r>
            <a:r>
              <a:rPr lang="en-US" altLang="en-US" sz="1600" i="1" baseline="-25000" dirty="0" err="1"/>
              <a:t>k</a:t>
            </a:r>
            <a:endParaRPr lang="en-US" altLang="en-US" sz="1600" i="1" baseline="-25000" dirty="0"/>
          </a:p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The maximum value for items {1,2,…,</a:t>
            </a:r>
            <a:r>
              <a:rPr lang="en-US" altLang="en-US" sz="2000" i="1" dirty="0"/>
              <a:t>k</a:t>
            </a:r>
            <a:r>
              <a:rPr lang="en-US" altLang="en-US" sz="2000" dirty="0"/>
              <a:t>} and remaining available weight </a:t>
            </a:r>
            <a:r>
              <a:rPr lang="en-US" altLang="en-US" sz="2000" i="1" dirty="0"/>
              <a:t>X</a:t>
            </a:r>
            <a:r>
              <a:rPr lang="en-US" altLang="en-US" sz="2000" dirty="0"/>
              <a:t>, 0 &lt;= </a:t>
            </a:r>
            <a:r>
              <a:rPr lang="en-US" altLang="en-US" sz="2000" i="1" dirty="0"/>
              <a:t>X</a:t>
            </a:r>
            <a:r>
              <a:rPr lang="en-US" altLang="en-US" sz="2000" dirty="0"/>
              <a:t> &lt;= </a:t>
            </a:r>
            <a:r>
              <a:rPr lang="en-US" altLang="en-US" sz="2000" i="1" dirty="0"/>
              <a:t>W</a:t>
            </a:r>
            <a:r>
              <a:rPr lang="en-US" altLang="en-US" sz="2000" dirty="0"/>
              <a:t>, is:</a:t>
            </a:r>
          </a:p>
          <a:p>
            <a:pPr eaLnBrk="1" hangingPunct="1">
              <a:spcBef>
                <a:spcPts val="0"/>
              </a:spcBef>
            </a:pPr>
            <a:endParaRPr lang="en-US" altLang="en-US" sz="2000" dirty="0"/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1600" dirty="0"/>
              <a:t>	  </a:t>
            </a:r>
            <a:r>
              <a:rPr lang="en-US" altLang="en-US" sz="1600" b="1" dirty="0"/>
              <a:t>A</a:t>
            </a:r>
            <a:r>
              <a:rPr lang="en-US" altLang="en-US" sz="1600" dirty="0"/>
              <a:t>[</a:t>
            </a:r>
            <a:r>
              <a:rPr lang="en-US" altLang="en-US" sz="1600" i="1" dirty="0"/>
              <a:t>k</a:t>
            </a:r>
            <a:r>
              <a:rPr lang="en-US" altLang="en-US" sz="1600" dirty="0"/>
              <a:t> - 1, </a:t>
            </a:r>
            <a:r>
              <a:rPr lang="en-US" altLang="en-US" sz="1600" i="1" dirty="0"/>
              <a:t>X</a:t>
            </a:r>
            <a:r>
              <a:rPr lang="en-US" altLang="en-US" sz="1600" dirty="0"/>
              <a:t>]			if</a:t>
            </a:r>
            <a:r>
              <a:rPr lang="en-US" altLang="en-US" sz="1600" i="1" dirty="0"/>
              <a:t> X</a:t>
            </a:r>
            <a:r>
              <a:rPr lang="en-US" altLang="en-US" sz="1600" dirty="0"/>
              <a:t> - </a:t>
            </a:r>
            <a:r>
              <a:rPr lang="en-US" altLang="en-US" sz="1600" i="1" dirty="0" err="1"/>
              <a:t>w</a:t>
            </a:r>
            <a:r>
              <a:rPr lang="en-US" altLang="en-US" sz="1600" i="1" baseline="-25000" dirty="0" err="1"/>
              <a:t>k</a:t>
            </a:r>
            <a:r>
              <a:rPr lang="en-US" altLang="en-US" sz="1600" dirty="0"/>
              <a:t> &lt; 0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1600" dirty="0"/>
              <a:t>max { </a:t>
            </a:r>
            <a:r>
              <a:rPr lang="en-US" altLang="en-US" sz="1600" b="1" dirty="0"/>
              <a:t>A</a:t>
            </a:r>
            <a:r>
              <a:rPr lang="en-US" altLang="en-US" sz="1600" dirty="0"/>
              <a:t>[</a:t>
            </a:r>
            <a:r>
              <a:rPr lang="en-US" altLang="en-US" sz="1600" i="1" dirty="0"/>
              <a:t>k</a:t>
            </a:r>
            <a:r>
              <a:rPr lang="en-US" altLang="en-US" sz="1600" dirty="0"/>
              <a:t> - 1, </a:t>
            </a:r>
            <a:r>
              <a:rPr lang="en-US" altLang="en-US" sz="1600" i="1" dirty="0"/>
              <a:t>X</a:t>
            </a:r>
            <a:r>
              <a:rPr lang="en-US" altLang="en-US" sz="1600" dirty="0"/>
              <a:t>]</a:t>
            </a:r>
            <a:r>
              <a:rPr lang="en-US" altLang="en-US" sz="1600" i="1" dirty="0"/>
              <a:t>, </a:t>
            </a:r>
            <a:r>
              <a:rPr lang="en-US" altLang="en-US" sz="1600" i="1" dirty="0" err="1"/>
              <a:t>v</a:t>
            </a:r>
            <a:r>
              <a:rPr lang="en-US" altLang="en-US" sz="1600" i="1" baseline="-25000" dirty="0" err="1"/>
              <a:t>k</a:t>
            </a:r>
            <a:r>
              <a:rPr lang="en-US" altLang="en-US" sz="1600" dirty="0"/>
              <a:t> + </a:t>
            </a:r>
            <a:r>
              <a:rPr lang="en-US" altLang="en-US" sz="1600" b="1" dirty="0"/>
              <a:t>A</a:t>
            </a:r>
            <a:r>
              <a:rPr lang="en-US" altLang="en-US" sz="1600" dirty="0"/>
              <a:t>[</a:t>
            </a:r>
            <a:r>
              <a:rPr lang="en-US" altLang="en-US" sz="1600" i="1" dirty="0"/>
              <a:t>k</a:t>
            </a:r>
            <a:r>
              <a:rPr lang="en-US" altLang="en-US" sz="1600" dirty="0"/>
              <a:t> - 1, </a:t>
            </a:r>
            <a:r>
              <a:rPr lang="en-US" altLang="en-US" sz="1600" i="1" dirty="0"/>
              <a:t>X</a:t>
            </a:r>
            <a:r>
              <a:rPr lang="en-US" altLang="en-US" sz="1600" dirty="0"/>
              <a:t> - </a:t>
            </a:r>
            <a:r>
              <a:rPr lang="en-US" altLang="en-US" sz="1600" i="1" dirty="0" err="1"/>
              <a:t>w</a:t>
            </a:r>
            <a:r>
              <a:rPr lang="en-US" altLang="en-US" sz="1600" i="1" baseline="-25000" dirty="0" err="1"/>
              <a:t>k</a:t>
            </a:r>
            <a:r>
              <a:rPr lang="en-US" altLang="en-US" sz="1600" dirty="0"/>
              <a:t>] }   	if </a:t>
            </a:r>
            <a:r>
              <a:rPr lang="en-US" altLang="en-US" sz="1600" i="1" dirty="0"/>
              <a:t>X</a:t>
            </a:r>
            <a:r>
              <a:rPr lang="en-US" altLang="en-US" sz="1600" dirty="0"/>
              <a:t> - </a:t>
            </a:r>
            <a:r>
              <a:rPr lang="en-US" altLang="en-US" sz="1600" i="1" dirty="0" err="1"/>
              <a:t>w</a:t>
            </a:r>
            <a:r>
              <a:rPr lang="en-US" altLang="en-US" sz="1600" i="1" baseline="-25000" dirty="0" err="1"/>
              <a:t>k</a:t>
            </a:r>
            <a:r>
              <a:rPr lang="en-US" altLang="en-US" sz="1600" dirty="0"/>
              <a:t> &gt;= 0	</a:t>
            </a:r>
          </a:p>
          <a:p>
            <a:pPr eaLnBrk="1" hangingPunct="1">
              <a:spcBef>
                <a:spcPts val="0"/>
              </a:spcBef>
            </a:pPr>
            <a:endParaRPr lang="en-US" altLang="en-US" sz="2000" dirty="0">
              <a:solidFill>
                <a:srgbClr val="0070C0"/>
              </a:solidFill>
            </a:endParaRPr>
          </a:p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In this case, </a:t>
            </a:r>
            <a:r>
              <a:rPr lang="en-US" altLang="en-US" sz="2000" i="1" dirty="0"/>
              <a:t>X</a:t>
            </a:r>
            <a:r>
              <a:rPr lang="en-US" altLang="en-US" sz="2000" dirty="0"/>
              <a:t> - </a:t>
            </a:r>
            <a:r>
              <a:rPr lang="en-US" altLang="en-US" sz="2000" i="1" dirty="0" err="1"/>
              <a:t>w</a:t>
            </a:r>
            <a:r>
              <a:rPr lang="en-US" altLang="en-US" sz="2000" i="1" baseline="-25000" dirty="0" err="1"/>
              <a:t>k</a:t>
            </a:r>
            <a:r>
              <a:rPr lang="en-US" altLang="en-US" sz="2000" dirty="0"/>
              <a:t> == 5 - 5 &gt;= 0, so</a:t>
            </a:r>
          </a:p>
          <a:p>
            <a:pPr eaLnBrk="1" hangingPunct="1">
              <a:spcBef>
                <a:spcPts val="0"/>
              </a:spcBef>
            </a:pPr>
            <a:endParaRPr lang="en-US" altLang="en-US" sz="1200" dirty="0"/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1600" dirty="0"/>
              <a:t>max { </a:t>
            </a:r>
            <a:r>
              <a:rPr lang="en-US" altLang="en-US" sz="1600" b="1" dirty="0"/>
              <a:t>A</a:t>
            </a:r>
            <a:r>
              <a:rPr lang="en-US" altLang="en-US" sz="1600" dirty="0"/>
              <a:t>[3, 5], 3 + </a:t>
            </a:r>
            <a:r>
              <a:rPr lang="en-US" altLang="en-US" sz="1600" b="1" dirty="0"/>
              <a:t>A</a:t>
            </a:r>
            <a:r>
              <a:rPr lang="en-US" altLang="en-US" sz="1600" dirty="0"/>
              <a:t>[3, 0] } == max {</a:t>
            </a:r>
            <a:r>
              <a:rPr lang="en-US" altLang="en-US" sz="1600" dirty="0">
                <a:highlight>
                  <a:srgbClr val="FFFF00"/>
                </a:highlight>
              </a:rPr>
              <a:t>16</a:t>
            </a:r>
            <a:r>
              <a:rPr lang="en-US" altLang="en-US" sz="1600" dirty="0"/>
              <a:t>, </a:t>
            </a:r>
            <a:r>
              <a:rPr lang="en-US" altLang="en-US" sz="1600" dirty="0">
                <a:solidFill>
                  <a:srgbClr val="00B050"/>
                </a:solidFill>
              </a:rPr>
              <a:t>3</a:t>
            </a:r>
            <a:r>
              <a:rPr lang="en-US" altLang="en-US" sz="1600" dirty="0"/>
              <a:t>+</a:t>
            </a:r>
            <a:r>
              <a:rPr lang="en-US" altLang="en-US" sz="1600" dirty="0">
                <a:highlight>
                  <a:srgbClr val="00FFFF"/>
                </a:highlight>
              </a:rPr>
              <a:t>0</a:t>
            </a:r>
            <a:r>
              <a:rPr lang="en-US" altLang="en-US" sz="1600" dirty="0"/>
              <a:t>} == </a:t>
            </a:r>
            <a:r>
              <a:rPr lang="en-US" altLang="en-US" sz="1600" dirty="0">
                <a:solidFill>
                  <a:srgbClr val="FF0000"/>
                </a:solidFill>
              </a:rPr>
              <a:t>16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dirty="0"/>
              <a:t>	</a:t>
            </a:r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>
              <a:solidFill>
                <a:srgbClr val="00B050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E4C73CD-13D8-4921-B80D-408F88E18CA3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2020, John K. Ostlund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2A5FDF-67C8-4E60-920D-A33F8B151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5009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0/1 Knapsack Algorithm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endParaRPr lang="en-US" altLang="en-US" sz="2000" dirty="0">
              <a:solidFill>
                <a:srgbClr val="00B050"/>
              </a:solidFill>
            </a:endParaRPr>
          </a:p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For remaining available weight of </a:t>
            </a:r>
            <a:r>
              <a:rPr lang="en-US" altLang="en-US" sz="2000" dirty="0">
                <a:solidFill>
                  <a:srgbClr val="0070C0"/>
                </a:solidFill>
              </a:rPr>
              <a:t>6</a:t>
            </a:r>
            <a:r>
              <a:rPr lang="en-US" altLang="en-US" sz="2000" dirty="0"/>
              <a:t>, we have</a:t>
            </a:r>
            <a:endParaRPr lang="en-US" altLang="en-US" sz="2000" dirty="0">
              <a:solidFill>
                <a:srgbClr val="0070C0"/>
              </a:solidFill>
            </a:endParaRP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max { </a:t>
            </a:r>
            <a:r>
              <a:rPr lang="en-US" altLang="en-US" sz="2000" b="1" dirty="0"/>
              <a:t>A</a:t>
            </a:r>
            <a:r>
              <a:rPr lang="en-US" altLang="en-US" sz="2000" dirty="0"/>
              <a:t>[3,</a:t>
            </a:r>
            <a:r>
              <a:rPr lang="en-US" altLang="en-US" sz="2000" dirty="0">
                <a:solidFill>
                  <a:srgbClr val="0070C0"/>
                </a:solidFill>
              </a:rPr>
              <a:t>6</a:t>
            </a:r>
            <a:r>
              <a:rPr lang="en-US" altLang="en-US" sz="2000" dirty="0"/>
              <a:t>], </a:t>
            </a:r>
            <a:r>
              <a:rPr lang="en-US" altLang="en-US" sz="2000" dirty="0">
                <a:solidFill>
                  <a:srgbClr val="00B050"/>
                </a:solidFill>
              </a:rPr>
              <a:t>3</a:t>
            </a:r>
            <a:r>
              <a:rPr lang="en-US" altLang="en-US" sz="2000" dirty="0"/>
              <a:t> + </a:t>
            </a:r>
            <a:r>
              <a:rPr lang="en-US" altLang="en-US" sz="2000" b="1" dirty="0"/>
              <a:t>A</a:t>
            </a:r>
            <a:r>
              <a:rPr lang="en-US" altLang="en-US" sz="2000" dirty="0"/>
              <a:t>[3,1] } == max { </a:t>
            </a:r>
            <a:r>
              <a:rPr lang="en-US" altLang="en-US" sz="2000" dirty="0">
                <a:highlight>
                  <a:srgbClr val="FFFF00"/>
                </a:highlight>
              </a:rPr>
              <a:t>16</a:t>
            </a:r>
            <a:r>
              <a:rPr lang="en-US" altLang="en-US" sz="2000" dirty="0"/>
              <a:t>, </a:t>
            </a:r>
            <a:r>
              <a:rPr lang="en-US" altLang="en-US" sz="2000" dirty="0">
                <a:solidFill>
                  <a:srgbClr val="00B050"/>
                </a:solidFill>
              </a:rPr>
              <a:t>3</a:t>
            </a:r>
            <a:r>
              <a:rPr lang="en-US" altLang="en-US" sz="2000" dirty="0"/>
              <a:t> + </a:t>
            </a:r>
            <a:r>
              <a:rPr lang="en-US" altLang="en-US" sz="2000" dirty="0">
                <a:highlight>
                  <a:srgbClr val="00FFFF"/>
                </a:highlight>
              </a:rPr>
              <a:t>7</a:t>
            </a:r>
            <a:r>
              <a:rPr lang="en-US" altLang="en-US" sz="2000" dirty="0"/>
              <a:t>} == </a:t>
            </a:r>
            <a:r>
              <a:rPr lang="en-US" altLang="en-US" sz="2000" dirty="0">
                <a:solidFill>
                  <a:srgbClr val="FF0000"/>
                </a:solidFill>
              </a:rPr>
              <a:t>16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Same result for available weight of </a:t>
            </a:r>
            <a:r>
              <a:rPr lang="en-US" altLang="en-US" sz="2000" dirty="0">
                <a:solidFill>
                  <a:srgbClr val="7030A0"/>
                </a:solidFill>
              </a:rPr>
              <a:t>7</a:t>
            </a:r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>
              <a:solidFill>
                <a:srgbClr val="00B050"/>
              </a:solidFill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Items: (</a:t>
            </a:r>
            <a:r>
              <a:rPr lang="en-US" altLang="en-US" sz="1400" i="1" dirty="0" err="1"/>
              <a:t>w</a:t>
            </a:r>
            <a:r>
              <a:rPr lang="en-US" altLang="en-US" sz="1400" i="1" baseline="-25000" dirty="0" err="1"/>
              <a:t>i</a:t>
            </a:r>
            <a:r>
              <a:rPr lang="en-US" altLang="en-US" sz="1400" dirty="0"/>
              <a:t>, </a:t>
            </a:r>
            <a:r>
              <a:rPr lang="en-US" altLang="en-US" sz="1400" i="1" dirty="0"/>
              <a:t>v</a:t>
            </a:r>
            <a:r>
              <a:rPr lang="en-US" altLang="en-US" sz="1400" i="1" baseline="-25000" dirty="0"/>
              <a:t>i</a:t>
            </a:r>
            <a:r>
              <a:rPr lang="en-US" altLang="en-US" sz="1400" dirty="0"/>
              <a:t>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2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(3, 9)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(1, 7)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(12, 18)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>
                <a:solidFill>
                  <a:srgbClr val="00B050"/>
                </a:solidFill>
              </a:rPr>
              <a:t>  (5, 3)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(2, 11)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DF16D0F-9E35-4407-ABE0-2CCA9FD68B15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2020, John K. Ostlund</a:t>
            </a:r>
            <a:endParaRPr lang="en-US" dirty="0"/>
          </a:p>
        </p:txBody>
      </p:sp>
      <p:graphicFrame>
        <p:nvGraphicFramePr>
          <p:cNvPr id="5" name="Table 8">
            <a:extLst>
              <a:ext uri="{FF2B5EF4-FFF2-40B4-BE49-F238E27FC236}">
                <a16:creationId xmlns:a16="http://schemas.microsoft.com/office/drawing/2014/main" id="{B6C92E09-5429-4269-8949-BE734938F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9615558"/>
              </p:ext>
            </p:extLst>
          </p:nvPr>
        </p:nvGraphicFramePr>
        <p:xfrm>
          <a:off x="2514600" y="3505200"/>
          <a:ext cx="6096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189162848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00013082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8038581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545559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6541038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3554152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7681525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1583797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6951764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919191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92654455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8640145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115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404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1101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4250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1" i="1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1888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252600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FEC780-0194-42A3-9BCE-CAD8B2C8A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0489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0/1 Knapsack Algorithm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endParaRPr lang="en-US" altLang="en-US" sz="2000" dirty="0">
              <a:solidFill>
                <a:srgbClr val="00B050"/>
              </a:solidFill>
            </a:endParaRPr>
          </a:p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For remaining available weight of </a:t>
            </a:r>
            <a:r>
              <a:rPr lang="en-US" altLang="en-US" sz="2000" dirty="0">
                <a:solidFill>
                  <a:srgbClr val="0070C0"/>
                </a:solidFill>
              </a:rPr>
              <a:t>8</a:t>
            </a:r>
            <a:r>
              <a:rPr lang="en-US" altLang="en-US" sz="2000" dirty="0"/>
              <a:t>, we have</a:t>
            </a:r>
            <a:endParaRPr lang="en-US" altLang="en-US" sz="2000" dirty="0">
              <a:solidFill>
                <a:srgbClr val="0070C0"/>
              </a:solidFill>
            </a:endParaRP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max { </a:t>
            </a:r>
            <a:r>
              <a:rPr lang="en-US" altLang="en-US" sz="2000" b="1" dirty="0"/>
              <a:t>A</a:t>
            </a:r>
            <a:r>
              <a:rPr lang="en-US" altLang="en-US" sz="2000" dirty="0"/>
              <a:t>[3,</a:t>
            </a:r>
            <a:r>
              <a:rPr lang="en-US" altLang="en-US" sz="2000" dirty="0">
                <a:solidFill>
                  <a:srgbClr val="0070C0"/>
                </a:solidFill>
              </a:rPr>
              <a:t>8</a:t>
            </a:r>
            <a:r>
              <a:rPr lang="en-US" altLang="en-US" sz="2000" dirty="0"/>
              <a:t>], </a:t>
            </a:r>
            <a:r>
              <a:rPr lang="en-US" altLang="en-US" sz="2000" dirty="0">
                <a:solidFill>
                  <a:srgbClr val="00B050"/>
                </a:solidFill>
              </a:rPr>
              <a:t>3</a:t>
            </a:r>
            <a:r>
              <a:rPr lang="en-US" altLang="en-US" sz="2000" dirty="0"/>
              <a:t> + </a:t>
            </a:r>
            <a:r>
              <a:rPr lang="en-US" altLang="en-US" sz="2000" b="1" dirty="0"/>
              <a:t>A</a:t>
            </a:r>
            <a:r>
              <a:rPr lang="en-US" altLang="en-US" sz="2000" dirty="0"/>
              <a:t>[3,3] } == max { </a:t>
            </a:r>
            <a:r>
              <a:rPr lang="en-US" altLang="en-US" sz="2000" dirty="0">
                <a:highlight>
                  <a:srgbClr val="FFFF00"/>
                </a:highlight>
              </a:rPr>
              <a:t>16</a:t>
            </a:r>
            <a:r>
              <a:rPr lang="en-US" altLang="en-US" sz="2000" dirty="0"/>
              <a:t>, </a:t>
            </a:r>
            <a:r>
              <a:rPr lang="en-US" altLang="en-US" sz="2000" dirty="0">
                <a:solidFill>
                  <a:srgbClr val="00B050"/>
                </a:solidFill>
              </a:rPr>
              <a:t>3</a:t>
            </a:r>
            <a:r>
              <a:rPr lang="en-US" altLang="en-US" sz="2000" dirty="0"/>
              <a:t> + </a:t>
            </a:r>
            <a:r>
              <a:rPr lang="en-US" altLang="en-US" sz="2000" dirty="0">
                <a:highlight>
                  <a:srgbClr val="00FFFF"/>
                </a:highlight>
              </a:rPr>
              <a:t>9</a:t>
            </a:r>
            <a:r>
              <a:rPr lang="en-US" altLang="en-US" sz="2000" dirty="0"/>
              <a:t>} == </a:t>
            </a:r>
            <a:r>
              <a:rPr lang="en-US" altLang="en-US" sz="2000" dirty="0">
                <a:solidFill>
                  <a:srgbClr val="FF0000"/>
                </a:solidFill>
              </a:rPr>
              <a:t>16</a:t>
            </a:r>
          </a:p>
          <a:p>
            <a:pPr lvl="1" eaLnBrk="1" hangingPunct="1">
              <a:spcBef>
                <a:spcPts val="0"/>
              </a:spcBef>
            </a:pPr>
            <a:endParaRPr lang="en-US" altLang="en-US" sz="2000" dirty="0">
              <a:solidFill>
                <a:srgbClr val="7030A0"/>
              </a:solidFill>
            </a:endParaRPr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>
              <a:solidFill>
                <a:srgbClr val="00B050"/>
              </a:solidFill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Items: (</a:t>
            </a:r>
            <a:r>
              <a:rPr lang="en-US" altLang="en-US" sz="1400" i="1" dirty="0" err="1"/>
              <a:t>w</a:t>
            </a:r>
            <a:r>
              <a:rPr lang="en-US" altLang="en-US" sz="1400" i="1" baseline="-25000" dirty="0" err="1"/>
              <a:t>i</a:t>
            </a:r>
            <a:r>
              <a:rPr lang="en-US" altLang="en-US" sz="1400" dirty="0"/>
              <a:t>, </a:t>
            </a:r>
            <a:r>
              <a:rPr lang="en-US" altLang="en-US" sz="1400" i="1" dirty="0"/>
              <a:t>v</a:t>
            </a:r>
            <a:r>
              <a:rPr lang="en-US" altLang="en-US" sz="1400" i="1" baseline="-25000" dirty="0"/>
              <a:t>i</a:t>
            </a:r>
            <a:r>
              <a:rPr lang="en-US" altLang="en-US" sz="1400" dirty="0"/>
              <a:t>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2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(3, 9)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(1, 7)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(12, 18)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>
                <a:solidFill>
                  <a:srgbClr val="00B050"/>
                </a:solidFill>
              </a:rPr>
              <a:t>  (5, 3)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(2, 11)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123299E-871A-4FC3-A3DA-5C012D8B7DD9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2020, John K. Ostlund</a:t>
            </a:r>
            <a:endParaRPr lang="en-US" dirty="0"/>
          </a:p>
        </p:txBody>
      </p:sp>
      <p:graphicFrame>
        <p:nvGraphicFramePr>
          <p:cNvPr id="5" name="Table 8">
            <a:extLst>
              <a:ext uri="{FF2B5EF4-FFF2-40B4-BE49-F238E27FC236}">
                <a16:creationId xmlns:a16="http://schemas.microsoft.com/office/drawing/2014/main" id="{B6C92E09-5429-4269-8949-BE734938F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5479159"/>
              </p:ext>
            </p:extLst>
          </p:nvPr>
        </p:nvGraphicFramePr>
        <p:xfrm>
          <a:off x="2514600" y="3505200"/>
          <a:ext cx="6096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189162848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00013082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8038581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545559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6541038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3554152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7681525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1583797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6951764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919191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92654455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8640145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115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404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1101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highlight>
                          <a:srgbClr val="00FFFF"/>
                        </a:highlight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4250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1" i="1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1888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252600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B65DAA-1F6D-475E-B8AE-A435093F8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6272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0/1 Knapsack Algorithm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endParaRPr lang="en-US" altLang="en-US" sz="2000" dirty="0">
              <a:solidFill>
                <a:srgbClr val="00B050"/>
              </a:solidFill>
            </a:endParaRPr>
          </a:p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For remaining available weight of </a:t>
            </a:r>
            <a:r>
              <a:rPr lang="en-US" altLang="en-US" sz="2000" dirty="0">
                <a:solidFill>
                  <a:srgbClr val="0070C0"/>
                </a:solidFill>
              </a:rPr>
              <a:t>9</a:t>
            </a:r>
            <a:r>
              <a:rPr lang="en-US" altLang="en-US" sz="2000" dirty="0"/>
              <a:t>, we have</a:t>
            </a:r>
            <a:endParaRPr lang="en-US" altLang="en-US" sz="2000" dirty="0">
              <a:solidFill>
                <a:srgbClr val="0070C0"/>
              </a:solidFill>
            </a:endParaRP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max { </a:t>
            </a:r>
            <a:r>
              <a:rPr lang="en-US" altLang="en-US" sz="2000" b="1" dirty="0"/>
              <a:t>A</a:t>
            </a:r>
            <a:r>
              <a:rPr lang="en-US" altLang="en-US" sz="2000" dirty="0"/>
              <a:t>[3,</a:t>
            </a:r>
            <a:r>
              <a:rPr lang="en-US" altLang="en-US" sz="2000" dirty="0">
                <a:solidFill>
                  <a:srgbClr val="0070C0"/>
                </a:solidFill>
              </a:rPr>
              <a:t>9</a:t>
            </a:r>
            <a:r>
              <a:rPr lang="en-US" altLang="en-US" sz="2000" dirty="0"/>
              <a:t>], </a:t>
            </a:r>
            <a:r>
              <a:rPr lang="en-US" altLang="en-US" sz="2000" dirty="0">
                <a:solidFill>
                  <a:srgbClr val="00B050"/>
                </a:solidFill>
              </a:rPr>
              <a:t>3</a:t>
            </a:r>
            <a:r>
              <a:rPr lang="en-US" altLang="en-US" sz="2000" dirty="0"/>
              <a:t> + </a:t>
            </a:r>
            <a:r>
              <a:rPr lang="en-US" altLang="en-US" sz="2000" b="1" dirty="0"/>
              <a:t>A</a:t>
            </a:r>
            <a:r>
              <a:rPr lang="en-US" altLang="en-US" sz="2000" dirty="0"/>
              <a:t>[3,4] } == max { </a:t>
            </a:r>
            <a:r>
              <a:rPr lang="en-US" altLang="en-US" sz="2000" dirty="0">
                <a:highlight>
                  <a:srgbClr val="FFFF00"/>
                </a:highlight>
              </a:rPr>
              <a:t>16</a:t>
            </a:r>
            <a:r>
              <a:rPr lang="en-US" altLang="en-US" sz="2000" dirty="0"/>
              <a:t>, </a:t>
            </a:r>
            <a:r>
              <a:rPr lang="en-US" altLang="en-US" sz="2000" dirty="0">
                <a:solidFill>
                  <a:srgbClr val="00B050"/>
                </a:solidFill>
              </a:rPr>
              <a:t>3</a:t>
            </a:r>
            <a:r>
              <a:rPr lang="en-US" altLang="en-US" sz="2000" dirty="0"/>
              <a:t> + </a:t>
            </a:r>
            <a:r>
              <a:rPr lang="en-US" altLang="en-US" sz="2000" dirty="0">
                <a:highlight>
                  <a:srgbClr val="00FFFF"/>
                </a:highlight>
              </a:rPr>
              <a:t>16</a:t>
            </a:r>
            <a:r>
              <a:rPr lang="en-US" altLang="en-US" sz="2000" dirty="0"/>
              <a:t>} == </a:t>
            </a:r>
            <a:r>
              <a:rPr lang="en-US" altLang="en-US" sz="2000" dirty="0">
                <a:solidFill>
                  <a:srgbClr val="FF0000"/>
                </a:solidFill>
              </a:rPr>
              <a:t>19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Same result for available weight of </a:t>
            </a:r>
            <a:r>
              <a:rPr lang="en-US" altLang="en-US" sz="2000" dirty="0">
                <a:solidFill>
                  <a:srgbClr val="7030A0"/>
                </a:solidFill>
              </a:rPr>
              <a:t>10</a:t>
            </a:r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>
              <a:solidFill>
                <a:srgbClr val="00B050"/>
              </a:solidFill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Items: (</a:t>
            </a:r>
            <a:r>
              <a:rPr lang="en-US" altLang="en-US" sz="1400" i="1" dirty="0" err="1"/>
              <a:t>w</a:t>
            </a:r>
            <a:r>
              <a:rPr lang="en-US" altLang="en-US" sz="1400" i="1" baseline="-25000" dirty="0" err="1"/>
              <a:t>i</a:t>
            </a:r>
            <a:r>
              <a:rPr lang="en-US" altLang="en-US" sz="1400" dirty="0"/>
              <a:t>, </a:t>
            </a:r>
            <a:r>
              <a:rPr lang="en-US" altLang="en-US" sz="1400" i="1" dirty="0"/>
              <a:t>v</a:t>
            </a:r>
            <a:r>
              <a:rPr lang="en-US" altLang="en-US" sz="1400" i="1" baseline="-25000" dirty="0"/>
              <a:t>i</a:t>
            </a:r>
            <a:r>
              <a:rPr lang="en-US" altLang="en-US" sz="1400" dirty="0"/>
              <a:t>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2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(3, 9)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(1, 7)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(12, 18)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>
                <a:solidFill>
                  <a:srgbClr val="00B050"/>
                </a:solidFill>
              </a:rPr>
              <a:t>  (5, 3)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(2, 11)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E4DA1F3-708B-4D62-81C1-AFB4277278B2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2020, John K. Ostlund</a:t>
            </a:r>
            <a:endParaRPr lang="en-US" dirty="0"/>
          </a:p>
        </p:txBody>
      </p:sp>
      <p:graphicFrame>
        <p:nvGraphicFramePr>
          <p:cNvPr id="5" name="Table 8">
            <a:extLst>
              <a:ext uri="{FF2B5EF4-FFF2-40B4-BE49-F238E27FC236}">
                <a16:creationId xmlns:a16="http://schemas.microsoft.com/office/drawing/2014/main" id="{B6C92E09-5429-4269-8949-BE734938F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7070825"/>
              </p:ext>
            </p:extLst>
          </p:nvPr>
        </p:nvGraphicFramePr>
        <p:xfrm>
          <a:off x="2514600" y="3505200"/>
          <a:ext cx="6096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189162848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00013082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8038581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545559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6541038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3554152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7681525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1583797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6951764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919191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92654455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8640145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115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404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1101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4250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1" i="1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1888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252600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919076-96BC-4A7C-BB09-FA1D5BBC3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707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0/1 Knapsack Algorithm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Finally, consider item </a:t>
            </a:r>
            <a:r>
              <a:rPr lang="en-US" altLang="en-US" sz="2000" dirty="0">
                <a:solidFill>
                  <a:srgbClr val="00B050"/>
                </a:solidFill>
              </a:rPr>
              <a:t>5</a:t>
            </a:r>
            <a:r>
              <a:rPr lang="en-US" altLang="en-US" sz="2000" dirty="0"/>
              <a:t>, and optionally items 1, 2, 3, and 4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For remaining weight of </a:t>
            </a:r>
            <a:r>
              <a:rPr lang="en-US" altLang="en-US" sz="2000" dirty="0">
                <a:solidFill>
                  <a:srgbClr val="0070C0"/>
                </a:solidFill>
              </a:rPr>
              <a:t>0</a:t>
            </a:r>
            <a:r>
              <a:rPr lang="en-US" altLang="en-US" sz="2000" dirty="0"/>
              <a:t>, we cannot take item </a:t>
            </a:r>
            <a:r>
              <a:rPr lang="en-US" altLang="en-US" sz="2000" dirty="0">
                <a:solidFill>
                  <a:srgbClr val="00B050"/>
                </a:solidFill>
              </a:rPr>
              <a:t>5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So value is </a:t>
            </a:r>
            <a:r>
              <a:rPr lang="en-US" altLang="en-US" sz="2000" dirty="0">
                <a:solidFill>
                  <a:srgbClr val="FF0000"/>
                </a:solidFill>
              </a:rPr>
              <a:t>0</a:t>
            </a:r>
            <a:endParaRPr lang="en-US" altLang="en-US" sz="2000" dirty="0">
              <a:highlight>
                <a:srgbClr val="FFFF00"/>
              </a:highlight>
            </a:endParaRPr>
          </a:p>
          <a:p>
            <a:pPr eaLnBrk="1" hangingPunct="1">
              <a:spcBef>
                <a:spcPts val="0"/>
              </a:spcBef>
            </a:pPr>
            <a:endParaRPr lang="en-US" altLang="en-US" sz="2000" dirty="0">
              <a:solidFill>
                <a:srgbClr val="FF0000"/>
              </a:solidFill>
            </a:endParaRPr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Items: (</a:t>
            </a:r>
            <a:r>
              <a:rPr lang="en-US" altLang="en-US" sz="1400" i="1" dirty="0" err="1"/>
              <a:t>w</a:t>
            </a:r>
            <a:r>
              <a:rPr lang="en-US" altLang="en-US" sz="1400" i="1" baseline="-25000" dirty="0" err="1"/>
              <a:t>i</a:t>
            </a:r>
            <a:r>
              <a:rPr lang="en-US" altLang="en-US" sz="1400" dirty="0"/>
              <a:t>, </a:t>
            </a:r>
            <a:r>
              <a:rPr lang="en-US" altLang="en-US" sz="1400" i="1" dirty="0"/>
              <a:t>v</a:t>
            </a:r>
            <a:r>
              <a:rPr lang="en-US" altLang="en-US" sz="1400" i="1" baseline="-25000" dirty="0"/>
              <a:t>i</a:t>
            </a:r>
            <a:r>
              <a:rPr lang="en-US" altLang="en-US" sz="1400" dirty="0"/>
              <a:t>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2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(3, 9)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(1, 7)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>
                <a:solidFill>
                  <a:srgbClr val="00B050"/>
                </a:solidFill>
              </a:rPr>
              <a:t>  </a:t>
            </a:r>
            <a:r>
              <a:rPr lang="en-US" altLang="en-US" sz="1400" dirty="0"/>
              <a:t>(12, 18)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(5, 3)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</a:t>
            </a:r>
            <a:r>
              <a:rPr lang="en-US" altLang="en-US" sz="1400" dirty="0">
                <a:solidFill>
                  <a:srgbClr val="00B050"/>
                </a:solidFill>
              </a:rPr>
              <a:t>(2, 11)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746322-8D6B-4ABB-A235-468498302B62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2020, John K. Ostlund</a:t>
            </a:r>
            <a:endParaRPr lang="en-US" dirty="0"/>
          </a:p>
        </p:txBody>
      </p:sp>
      <p:graphicFrame>
        <p:nvGraphicFramePr>
          <p:cNvPr id="4" name="Table 8">
            <a:extLst>
              <a:ext uri="{FF2B5EF4-FFF2-40B4-BE49-F238E27FC236}">
                <a16:creationId xmlns:a16="http://schemas.microsoft.com/office/drawing/2014/main" id="{24EAE4B3-229A-4810-996A-BD19763032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4855673"/>
              </p:ext>
            </p:extLst>
          </p:nvPr>
        </p:nvGraphicFramePr>
        <p:xfrm>
          <a:off x="2514600" y="3505200"/>
          <a:ext cx="6096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189162848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00013082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8038581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545559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6541038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3554152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7681525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1583797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6951764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919191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92654455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8640145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 w="12700" cmpd="sng">
                            <a:noFill/>
                          </a:ln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115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404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1101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4250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1" i="1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1888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252600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46E804-64C6-4830-9D5B-968743043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400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0/1 Knapsack Algorithm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endParaRPr lang="en-US" altLang="en-US" sz="2000" dirty="0">
              <a:solidFill>
                <a:srgbClr val="00B050"/>
              </a:solidFill>
            </a:endParaRPr>
          </a:p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For remaining available weight of </a:t>
            </a:r>
            <a:r>
              <a:rPr lang="en-US" altLang="en-US" sz="2000" dirty="0">
                <a:solidFill>
                  <a:srgbClr val="0070C0"/>
                </a:solidFill>
              </a:rPr>
              <a:t>1</a:t>
            </a:r>
            <a:r>
              <a:rPr lang="en-US" altLang="en-US" sz="2000" dirty="0"/>
              <a:t>, we have</a:t>
            </a:r>
            <a:endParaRPr lang="en-US" altLang="en-US" sz="2000" dirty="0">
              <a:solidFill>
                <a:srgbClr val="0070C0"/>
              </a:solidFill>
            </a:endParaRPr>
          </a:p>
          <a:p>
            <a:pPr lvl="1" eaLnBrk="1" hangingPunct="1">
              <a:spcBef>
                <a:spcPts val="0"/>
              </a:spcBef>
            </a:pPr>
            <a:r>
              <a:rPr lang="en-US" altLang="en-US" sz="2000" b="1" dirty="0"/>
              <a:t>A</a:t>
            </a:r>
            <a:r>
              <a:rPr lang="en-US" altLang="en-US" sz="2000" dirty="0"/>
              <a:t>[4,</a:t>
            </a:r>
            <a:r>
              <a:rPr lang="en-US" altLang="en-US" sz="2000" dirty="0">
                <a:solidFill>
                  <a:srgbClr val="0070C0"/>
                </a:solidFill>
              </a:rPr>
              <a:t>1</a:t>
            </a:r>
            <a:r>
              <a:rPr lang="en-US" altLang="en-US" sz="2000" dirty="0"/>
              <a:t>] == </a:t>
            </a:r>
            <a:r>
              <a:rPr lang="en-US" altLang="en-US" sz="2000" dirty="0">
                <a:solidFill>
                  <a:srgbClr val="FF0000"/>
                </a:solidFill>
              </a:rPr>
              <a:t>7</a:t>
            </a:r>
          </a:p>
          <a:p>
            <a:pPr lvl="1" eaLnBrk="1" hangingPunct="1">
              <a:spcBef>
                <a:spcPts val="0"/>
              </a:spcBef>
            </a:pPr>
            <a:endParaRPr lang="en-US" altLang="en-US" sz="2000" dirty="0">
              <a:solidFill>
                <a:srgbClr val="7030A0"/>
              </a:solidFill>
            </a:endParaRPr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>
              <a:solidFill>
                <a:srgbClr val="00B050"/>
              </a:solidFill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Items: (</a:t>
            </a:r>
            <a:r>
              <a:rPr lang="en-US" altLang="en-US" sz="1400" i="1" dirty="0" err="1"/>
              <a:t>w</a:t>
            </a:r>
            <a:r>
              <a:rPr lang="en-US" altLang="en-US" sz="1400" i="1" baseline="-25000" dirty="0" err="1"/>
              <a:t>i</a:t>
            </a:r>
            <a:r>
              <a:rPr lang="en-US" altLang="en-US" sz="1400" dirty="0"/>
              <a:t>, </a:t>
            </a:r>
            <a:r>
              <a:rPr lang="en-US" altLang="en-US" sz="1400" i="1" dirty="0"/>
              <a:t>v</a:t>
            </a:r>
            <a:r>
              <a:rPr lang="en-US" altLang="en-US" sz="1400" i="1" baseline="-25000" dirty="0"/>
              <a:t>i</a:t>
            </a:r>
            <a:r>
              <a:rPr lang="en-US" altLang="en-US" sz="1400" dirty="0"/>
              <a:t>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2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(3, 9)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(1, 7)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(12, 18)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(5, 3)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</a:t>
            </a:r>
            <a:r>
              <a:rPr lang="en-US" altLang="en-US" sz="1400" dirty="0">
                <a:solidFill>
                  <a:srgbClr val="00B050"/>
                </a:solidFill>
              </a:rPr>
              <a:t>(2, 11)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82B7392-94F0-4048-AFC2-E175166AC77E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2020, John K. Ostlund</a:t>
            </a:r>
            <a:endParaRPr lang="en-US" dirty="0"/>
          </a:p>
        </p:txBody>
      </p:sp>
      <p:graphicFrame>
        <p:nvGraphicFramePr>
          <p:cNvPr id="5" name="Table 8">
            <a:extLst>
              <a:ext uri="{FF2B5EF4-FFF2-40B4-BE49-F238E27FC236}">
                <a16:creationId xmlns:a16="http://schemas.microsoft.com/office/drawing/2014/main" id="{B6C92E09-5429-4269-8949-BE734938F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1388811"/>
              </p:ext>
            </p:extLst>
          </p:nvPr>
        </p:nvGraphicFramePr>
        <p:xfrm>
          <a:off x="2514600" y="3505200"/>
          <a:ext cx="6096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189162848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00013082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8038581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545559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6541038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3554152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7681525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1583797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6951764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919191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92654455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8640145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115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404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1101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4250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1" i="1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1888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252600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086F52-D768-4EA0-BF21-2D6AEBB7E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9586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0/1 Knapsack Algorithm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endParaRPr lang="en-US" altLang="en-US" sz="2000" dirty="0">
              <a:solidFill>
                <a:srgbClr val="00B050"/>
              </a:solidFill>
            </a:endParaRPr>
          </a:p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For remaining available weight of </a:t>
            </a:r>
            <a:r>
              <a:rPr lang="en-US" altLang="en-US" sz="2000" dirty="0">
                <a:solidFill>
                  <a:srgbClr val="0070C0"/>
                </a:solidFill>
              </a:rPr>
              <a:t>2</a:t>
            </a:r>
            <a:r>
              <a:rPr lang="en-US" altLang="en-US" sz="2000" dirty="0"/>
              <a:t>, we have</a:t>
            </a:r>
            <a:endParaRPr lang="en-US" altLang="en-US" sz="2000" dirty="0">
              <a:solidFill>
                <a:srgbClr val="0070C0"/>
              </a:solidFill>
            </a:endParaRP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max { </a:t>
            </a:r>
            <a:r>
              <a:rPr lang="en-US" altLang="en-US" sz="2000" b="1" dirty="0"/>
              <a:t>A</a:t>
            </a:r>
            <a:r>
              <a:rPr lang="en-US" altLang="en-US" sz="2000" dirty="0"/>
              <a:t>[4,</a:t>
            </a:r>
            <a:r>
              <a:rPr lang="en-US" altLang="en-US" sz="2000" dirty="0">
                <a:solidFill>
                  <a:srgbClr val="0070C0"/>
                </a:solidFill>
              </a:rPr>
              <a:t>2</a:t>
            </a:r>
            <a:r>
              <a:rPr lang="en-US" altLang="en-US" sz="2000" dirty="0"/>
              <a:t>], </a:t>
            </a:r>
            <a:r>
              <a:rPr lang="en-US" altLang="en-US" sz="2000" dirty="0">
                <a:solidFill>
                  <a:srgbClr val="00B050"/>
                </a:solidFill>
              </a:rPr>
              <a:t>11</a:t>
            </a:r>
            <a:r>
              <a:rPr lang="en-US" altLang="en-US" sz="2000" dirty="0"/>
              <a:t> + </a:t>
            </a:r>
            <a:r>
              <a:rPr lang="en-US" altLang="en-US" sz="2000" b="1" dirty="0"/>
              <a:t>A</a:t>
            </a:r>
            <a:r>
              <a:rPr lang="en-US" altLang="en-US" sz="2000" dirty="0"/>
              <a:t>[4,0] } == max { </a:t>
            </a:r>
            <a:r>
              <a:rPr lang="en-US" altLang="en-US" sz="2000" dirty="0">
                <a:highlight>
                  <a:srgbClr val="FFFF00"/>
                </a:highlight>
              </a:rPr>
              <a:t>7</a:t>
            </a:r>
            <a:r>
              <a:rPr lang="en-US" altLang="en-US" sz="2000" dirty="0"/>
              <a:t>, </a:t>
            </a:r>
            <a:r>
              <a:rPr lang="en-US" altLang="en-US" sz="2000" dirty="0">
                <a:solidFill>
                  <a:srgbClr val="00B050"/>
                </a:solidFill>
              </a:rPr>
              <a:t>11</a:t>
            </a:r>
            <a:r>
              <a:rPr lang="en-US" altLang="en-US" sz="2000" dirty="0"/>
              <a:t> + </a:t>
            </a:r>
            <a:r>
              <a:rPr lang="en-US" altLang="en-US" sz="2000" dirty="0">
                <a:highlight>
                  <a:srgbClr val="00FFFF"/>
                </a:highlight>
              </a:rPr>
              <a:t>0</a:t>
            </a:r>
            <a:r>
              <a:rPr lang="en-US" altLang="en-US" sz="2000" dirty="0"/>
              <a:t>} == </a:t>
            </a:r>
            <a:r>
              <a:rPr lang="en-US" altLang="en-US" sz="2000" dirty="0">
                <a:solidFill>
                  <a:srgbClr val="FF0000"/>
                </a:solidFill>
              </a:rPr>
              <a:t>11</a:t>
            </a:r>
          </a:p>
          <a:p>
            <a:pPr lvl="1" eaLnBrk="1" hangingPunct="1">
              <a:spcBef>
                <a:spcPts val="0"/>
              </a:spcBef>
            </a:pPr>
            <a:endParaRPr lang="en-US" altLang="en-US" sz="2000" dirty="0">
              <a:solidFill>
                <a:srgbClr val="7030A0"/>
              </a:solidFill>
            </a:endParaRPr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>
              <a:solidFill>
                <a:srgbClr val="00B050"/>
              </a:solidFill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Items: (</a:t>
            </a:r>
            <a:r>
              <a:rPr lang="en-US" altLang="en-US" sz="1400" i="1" dirty="0" err="1"/>
              <a:t>w</a:t>
            </a:r>
            <a:r>
              <a:rPr lang="en-US" altLang="en-US" sz="1400" i="1" baseline="-25000" dirty="0" err="1"/>
              <a:t>i</a:t>
            </a:r>
            <a:r>
              <a:rPr lang="en-US" altLang="en-US" sz="1400" dirty="0"/>
              <a:t>, </a:t>
            </a:r>
            <a:r>
              <a:rPr lang="en-US" altLang="en-US" sz="1400" i="1" dirty="0"/>
              <a:t>v</a:t>
            </a:r>
            <a:r>
              <a:rPr lang="en-US" altLang="en-US" sz="1400" i="1" baseline="-25000" dirty="0"/>
              <a:t>i</a:t>
            </a:r>
            <a:r>
              <a:rPr lang="en-US" altLang="en-US" sz="1400" dirty="0"/>
              <a:t>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2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(3, 9)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(1, 7)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(12, 18)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(5, 3)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</a:t>
            </a:r>
            <a:r>
              <a:rPr lang="en-US" altLang="en-US" sz="1400" dirty="0">
                <a:solidFill>
                  <a:srgbClr val="00B050"/>
                </a:solidFill>
              </a:rPr>
              <a:t>(2, 11)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C50CF25-DCB6-4358-A901-0FE4E6AF0CEC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2020, John K. Ostlund</a:t>
            </a:r>
            <a:endParaRPr lang="en-US" dirty="0"/>
          </a:p>
        </p:txBody>
      </p:sp>
      <p:graphicFrame>
        <p:nvGraphicFramePr>
          <p:cNvPr id="5" name="Table 8">
            <a:extLst>
              <a:ext uri="{FF2B5EF4-FFF2-40B4-BE49-F238E27FC236}">
                <a16:creationId xmlns:a16="http://schemas.microsoft.com/office/drawing/2014/main" id="{B6C92E09-5429-4269-8949-BE734938F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7547958"/>
              </p:ext>
            </p:extLst>
          </p:nvPr>
        </p:nvGraphicFramePr>
        <p:xfrm>
          <a:off x="2514600" y="3505200"/>
          <a:ext cx="6096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189162848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00013082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8038581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545559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6541038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3554152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7681525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1583797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6951764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919191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92654455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8640145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115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404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1101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4250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1" i="1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1888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252600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12FD6F-10E2-4EB8-BAA5-2A2933234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2742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0/1 Knapsack Algorithm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endParaRPr lang="en-US" altLang="en-US" sz="2000" dirty="0">
              <a:solidFill>
                <a:srgbClr val="00B050"/>
              </a:solidFill>
            </a:endParaRPr>
          </a:p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For remaining available weight of </a:t>
            </a:r>
            <a:r>
              <a:rPr lang="en-US" altLang="en-US" sz="2000" dirty="0">
                <a:solidFill>
                  <a:srgbClr val="0070C0"/>
                </a:solidFill>
              </a:rPr>
              <a:t>3</a:t>
            </a:r>
            <a:r>
              <a:rPr lang="en-US" altLang="en-US" sz="2000" dirty="0"/>
              <a:t>, we have</a:t>
            </a:r>
            <a:endParaRPr lang="en-US" altLang="en-US" sz="2000" dirty="0">
              <a:solidFill>
                <a:srgbClr val="0070C0"/>
              </a:solidFill>
            </a:endParaRP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max { </a:t>
            </a:r>
            <a:r>
              <a:rPr lang="en-US" altLang="en-US" sz="2000" b="1" dirty="0"/>
              <a:t>A</a:t>
            </a:r>
            <a:r>
              <a:rPr lang="en-US" altLang="en-US" sz="2000" dirty="0"/>
              <a:t>[4,</a:t>
            </a:r>
            <a:r>
              <a:rPr lang="en-US" altLang="en-US" sz="2000" dirty="0">
                <a:solidFill>
                  <a:srgbClr val="0070C0"/>
                </a:solidFill>
              </a:rPr>
              <a:t>3</a:t>
            </a:r>
            <a:r>
              <a:rPr lang="en-US" altLang="en-US" sz="2000" dirty="0"/>
              <a:t>], </a:t>
            </a:r>
            <a:r>
              <a:rPr lang="en-US" altLang="en-US" sz="2000" dirty="0">
                <a:solidFill>
                  <a:srgbClr val="00B050"/>
                </a:solidFill>
              </a:rPr>
              <a:t>11</a:t>
            </a:r>
            <a:r>
              <a:rPr lang="en-US" altLang="en-US" sz="2000" dirty="0"/>
              <a:t> + </a:t>
            </a:r>
            <a:r>
              <a:rPr lang="en-US" altLang="en-US" sz="2000" b="1" dirty="0"/>
              <a:t>A</a:t>
            </a:r>
            <a:r>
              <a:rPr lang="en-US" altLang="en-US" sz="2000" dirty="0"/>
              <a:t>[4,1] } == max { </a:t>
            </a:r>
            <a:r>
              <a:rPr lang="en-US" altLang="en-US" sz="2000" dirty="0">
                <a:highlight>
                  <a:srgbClr val="FFFF00"/>
                </a:highlight>
              </a:rPr>
              <a:t>9</a:t>
            </a:r>
            <a:r>
              <a:rPr lang="en-US" altLang="en-US" sz="2000" dirty="0"/>
              <a:t>, </a:t>
            </a:r>
            <a:r>
              <a:rPr lang="en-US" altLang="en-US" sz="2000" dirty="0">
                <a:solidFill>
                  <a:srgbClr val="00B050"/>
                </a:solidFill>
              </a:rPr>
              <a:t>11</a:t>
            </a:r>
            <a:r>
              <a:rPr lang="en-US" altLang="en-US" sz="2000" dirty="0"/>
              <a:t> + </a:t>
            </a:r>
            <a:r>
              <a:rPr lang="en-US" altLang="en-US" sz="2000" dirty="0">
                <a:highlight>
                  <a:srgbClr val="00FFFF"/>
                </a:highlight>
              </a:rPr>
              <a:t>7</a:t>
            </a:r>
            <a:r>
              <a:rPr lang="en-US" altLang="en-US" sz="2000" dirty="0"/>
              <a:t>} == </a:t>
            </a:r>
            <a:r>
              <a:rPr lang="en-US" altLang="en-US" sz="2000" dirty="0">
                <a:solidFill>
                  <a:srgbClr val="FF0000"/>
                </a:solidFill>
              </a:rPr>
              <a:t>18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Same result, max { 16, 11 + 7 } == 18, for weight 4</a:t>
            </a:r>
            <a:r>
              <a:rPr lang="en-US" altLang="en-US" sz="2000" dirty="0">
                <a:solidFill>
                  <a:srgbClr val="7030A0"/>
                </a:solidFill>
              </a:rPr>
              <a:t> </a:t>
            </a:r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>
              <a:solidFill>
                <a:srgbClr val="00B050"/>
              </a:solidFill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Items: (</a:t>
            </a:r>
            <a:r>
              <a:rPr lang="en-US" altLang="en-US" sz="1400" i="1" dirty="0" err="1"/>
              <a:t>w</a:t>
            </a:r>
            <a:r>
              <a:rPr lang="en-US" altLang="en-US" sz="1400" i="1" baseline="-25000" dirty="0" err="1"/>
              <a:t>i</a:t>
            </a:r>
            <a:r>
              <a:rPr lang="en-US" altLang="en-US" sz="1400" dirty="0"/>
              <a:t>, </a:t>
            </a:r>
            <a:r>
              <a:rPr lang="en-US" altLang="en-US" sz="1400" i="1" dirty="0"/>
              <a:t>v</a:t>
            </a:r>
            <a:r>
              <a:rPr lang="en-US" altLang="en-US" sz="1400" i="1" baseline="-25000" dirty="0"/>
              <a:t>i</a:t>
            </a:r>
            <a:r>
              <a:rPr lang="en-US" altLang="en-US" sz="1400" dirty="0"/>
              <a:t>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2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(3, 9)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(1, 7)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(12, 18)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(5, 3)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</a:t>
            </a:r>
            <a:r>
              <a:rPr lang="en-US" altLang="en-US" sz="1400" dirty="0">
                <a:solidFill>
                  <a:srgbClr val="00B050"/>
                </a:solidFill>
              </a:rPr>
              <a:t>(2, 11)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970204D-4557-4C8B-A281-15464A8CFDA7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2020, John K. Ostlund</a:t>
            </a:r>
            <a:endParaRPr lang="en-US" dirty="0"/>
          </a:p>
        </p:txBody>
      </p:sp>
      <p:graphicFrame>
        <p:nvGraphicFramePr>
          <p:cNvPr id="5" name="Table 8">
            <a:extLst>
              <a:ext uri="{FF2B5EF4-FFF2-40B4-BE49-F238E27FC236}">
                <a16:creationId xmlns:a16="http://schemas.microsoft.com/office/drawing/2014/main" id="{B6C92E09-5429-4269-8949-BE734938F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8600041"/>
              </p:ext>
            </p:extLst>
          </p:nvPr>
        </p:nvGraphicFramePr>
        <p:xfrm>
          <a:off x="2514600" y="3505200"/>
          <a:ext cx="6096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189162848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00013082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8038581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545559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6541038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3554152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7681525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1583797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6951764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919191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92654455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8640145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115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404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1101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4250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1" i="1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1888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18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18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252600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D0A3EB-C319-4BC5-AE3B-951611627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5655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0/1 Knapsack Algorithm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endParaRPr lang="en-US" altLang="en-US" sz="2000" dirty="0">
              <a:solidFill>
                <a:srgbClr val="00B050"/>
              </a:solidFill>
            </a:endParaRPr>
          </a:p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For remaining available weight of </a:t>
            </a:r>
            <a:r>
              <a:rPr lang="en-US" altLang="en-US" sz="2000" dirty="0">
                <a:solidFill>
                  <a:srgbClr val="0070C0"/>
                </a:solidFill>
              </a:rPr>
              <a:t>5</a:t>
            </a:r>
            <a:r>
              <a:rPr lang="en-US" altLang="en-US" sz="2000" dirty="0"/>
              <a:t>, we have</a:t>
            </a:r>
            <a:endParaRPr lang="en-US" altLang="en-US" sz="2000" dirty="0">
              <a:solidFill>
                <a:srgbClr val="0070C0"/>
              </a:solidFill>
            </a:endParaRP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max { </a:t>
            </a:r>
            <a:r>
              <a:rPr lang="en-US" altLang="en-US" sz="2000" b="1" dirty="0"/>
              <a:t>A</a:t>
            </a:r>
            <a:r>
              <a:rPr lang="en-US" altLang="en-US" sz="2000" dirty="0"/>
              <a:t>[4,</a:t>
            </a:r>
            <a:r>
              <a:rPr lang="en-US" altLang="en-US" sz="2000" dirty="0">
                <a:solidFill>
                  <a:srgbClr val="0070C0"/>
                </a:solidFill>
              </a:rPr>
              <a:t>5</a:t>
            </a:r>
            <a:r>
              <a:rPr lang="en-US" altLang="en-US" sz="2000" dirty="0"/>
              <a:t>], </a:t>
            </a:r>
            <a:r>
              <a:rPr lang="en-US" altLang="en-US" sz="2000" dirty="0">
                <a:solidFill>
                  <a:srgbClr val="00B050"/>
                </a:solidFill>
              </a:rPr>
              <a:t>11</a:t>
            </a:r>
            <a:r>
              <a:rPr lang="en-US" altLang="en-US" sz="2000" dirty="0"/>
              <a:t> + </a:t>
            </a:r>
            <a:r>
              <a:rPr lang="en-US" altLang="en-US" sz="2000" b="1" dirty="0"/>
              <a:t>A</a:t>
            </a:r>
            <a:r>
              <a:rPr lang="en-US" altLang="en-US" sz="2000" dirty="0"/>
              <a:t>[4,3] } == max { </a:t>
            </a:r>
            <a:r>
              <a:rPr lang="en-US" altLang="en-US" sz="2000" dirty="0">
                <a:highlight>
                  <a:srgbClr val="FFFF00"/>
                </a:highlight>
              </a:rPr>
              <a:t>16</a:t>
            </a:r>
            <a:r>
              <a:rPr lang="en-US" altLang="en-US" sz="2000" dirty="0"/>
              <a:t>, </a:t>
            </a:r>
            <a:r>
              <a:rPr lang="en-US" altLang="en-US" sz="2000" dirty="0">
                <a:solidFill>
                  <a:srgbClr val="00B050"/>
                </a:solidFill>
              </a:rPr>
              <a:t>11</a:t>
            </a:r>
            <a:r>
              <a:rPr lang="en-US" altLang="en-US" sz="2000" dirty="0"/>
              <a:t> + </a:t>
            </a:r>
            <a:r>
              <a:rPr lang="en-US" altLang="en-US" sz="2000" dirty="0">
                <a:highlight>
                  <a:srgbClr val="00FFFF"/>
                </a:highlight>
              </a:rPr>
              <a:t>9</a:t>
            </a:r>
            <a:r>
              <a:rPr lang="en-US" altLang="en-US" sz="2000" dirty="0"/>
              <a:t>} == </a:t>
            </a:r>
            <a:r>
              <a:rPr lang="en-US" altLang="en-US" sz="2000" dirty="0">
                <a:solidFill>
                  <a:srgbClr val="FF0000"/>
                </a:solidFill>
              </a:rPr>
              <a:t>20</a:t>
            </a:r>
          </a:p>
          <a:p>
            <a:pPr lvl="1" eaLnBrk="1" hangingPunct="1">
              <a:spcBef>
                <a:spcPts val="0"/>
              </a:spcBef>
            </a:pPr>
            <a:endParaRPr lang="en-US" altLang="en-US" sz="2000" dirty="0">
              <a:solidFill>
                <a:srgbClr val="7030A0"/>
              </a:solidFill>
            </a:endParaRPr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>
              <a:solidFill>
                <a:srgbClr val="00B050"/>
              </a:solidFill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Items: (</a:t>
            </a:r>
            <a:r>
              <a:rPr lang="en-US" altLang="en-US" sz="1400" i="1" dirty="0" err="1"/>
              <a:t>w</a:t>
            </a:r>
            <a:r>
              <a:rPr lang="en-US" altLang="en-US" sz="1400" i="1" baseline="-25000" dirty="0" err="1"/>
              <a:t>i</a:t>
            </a:r>
            <a:r>
              <a:rPr lang="en-US" altLang="en-US" sz="1400" dirty="0"/>
              <a:t>, </a:t>
            </a:r>
            <a:r>
              <a:rPr lang="en-US" altLang="en-US" sz="1400" i="1" dirty="0"/>
              <a:t>v</a:t>
            </a:r>
            <a:r>
              <a:rPr lang="en-US" altLang="en-US" sz="1400" i="1" baseline="-25000" dirty="0"/>
              <a:t>i</a:t>
            </a:r>
            <a:r>
              <a:rPr lang="en-US" altLang="en-US" sz="1400" dirty="0"/>
              <a:t>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2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(3, 9)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(1, 7)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(12, 18)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(5, 3)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</a:t>
            </a:r>
            <a:r>
              <a:rPr lang="en-US" altLang="en-US" sz="1400" dirty="0">
                <a:solidFill>
                  <a:srgbClr val="00B050"/>
                </a:solidFill>
              </a:rPr>
              <a:t>(2, 11)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6D0D153-A7A7-48F6-A209-4C768CBC05EC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2020, John K. Ostlund</a:t>
            </a:r>
            <a:endParaRPr lang="en-US" dirty="0"/>
          </a:p>
        </p:txBody>
      </p:sp>
      <p:graphicFrame>
        <p:nvGraphicFramePr>
          <p:cNvPr id="5" name="Table 8">
            <a:extLst>
              <a:ext uri="{FF2B5EF4-FFF2-40B4-BE49-F238E27FC236}">
                <a16:creationId xmlns:a16="http://schemas.microsoft.com/office/drawing/2014/main" id="{B6C92E09-5429-4269-8949-BE734938F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7867039"/>
              </p:ext>
            </p:extLst>
          </p:nvPr>
        </p:nvGraphicFramePr>
        <p:xfrm>
          <a:off x="2514600" y="3505200"/>
          <a:ext cx="6096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189162848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00013082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8038581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545559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6541038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3554152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7681525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1583797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6951764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919191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92654455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8640145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115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404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1101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4250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highlight>
                          <a:srgbClr val="00FFFF"/>
                        </a:highlight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1" i="1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1888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18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18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252600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16BCD2-3466-49CD-90C3-28ACA4341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8095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0/1 Knapsack Algorithm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endParaRPr lang="en-US" altLang="en-US" sz="2000" dirty="0">
              <a:solidFill>
                <a:srgbClr val="00B050"/>
              </a:solidFill>
            </a:endParaRPr>
          </a:p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For remaining available weight of </a:t>
            </a:r>
            <a:r>
              <a:rPr lang="en-US" altLang="en-US" sz="2000" dirty="0">
                <a:solidFill>
                  <a:srgbClr val="0070C0"/>
                </a:solidFill>
              </a:rPr>
              <a:t>6</a:t>
            </a:r>
            <a:r>
              <a:rPr lang="en-US" altLang="en-US" sz="2000" dirty="0"/>
              <a:t>, we have</a:t>
            </a:r>
            <a:endParaRPr lang="en-US" altLang="en-US" sz="2000" dirty="0">
              <a:solidFill>
                <a:srgbClr val="0070C0"/>
              </a:solidFill>
            </a:endParaRP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max { </a:t>
            </a:r>
            <a:r>
              <a:rPr lang="en-US" altLang="en-US" sz="2000" b="1" dirty="0"/>
              <a:t>A</a:t>
            </a:r>
            <a:r>
              <a:rPr lang="en-US" altLang="en-US" sz="2000" dirty="0"/>
              <a:t>[4,</a:t>
            </a:r>
            <a:r>
              <a:rPr lang="en-US" altLang="en-US" sz="2000" dirty="0">
                <a:solidFill>
                  <a:srgbClr val="0070C0"/>
                </a:solidFill>
              </a:rPr>
              <a:t>6</a:t>
            </a:r>
            <a:r>
              <a:rPr lang="en-US" altLang="en-US" sz="2000" dirty="0"/>
              <a:t>], </a:t>
            </a:r>
            <a:r>
              <a:rPr lang="en-US" altLang="en-US" sz="2000" dirty="0">
                <a:solidFill>
                  <a:srgbClr val="00B050"/>
                </a:solidFill>
              </a:rPr>
              <a:t>11</a:t>
            </a:r>
            <a:r>
              <a:rPr lang="en-US" altLang="en-US" sz="2000" dirty="0"/>
              <a:t> + </a:t>
            </a:r>
            <a:r>
              <a:rPr lang="en-US" altLang="en-US" sz="2000" b="1" dirty="0"/>
              <a:t>A</a:t>
            </a:r>
            <a:r>
              <a:rPr lang="en-US" altLang="en-US" sz="2000" dirty="0"/>
              <a:t>[4,2] } == max { </a:t>
            </a:r>
            <a:r>
              <a:rPr lang="en-US" altLang="en-US" sz="2000" dirty="0">
                <a:highlight>
                  <a:srgbClr val="FFFF00"/>
                </a:highlight>
              </a:rPr>
              <a:t>16</a:t>
            </a:r>
            <a:r>
              <a:rPr lang="en-US" altLang="en-US" sz="2000" dirty="0"/>
              <a:t>, </a:t>
            </a:r>
            <a:r>
              <a:rPr lang="en-US" altLang="en-US" sz="2000" dirty="0">
                <a:solidFill>
                  <a:srgbClr val="00B050"/>
                </a:solidFill>
              </a:rPr>
              <a:t>11</a:t>
            </a:r>
            <a:r>
              <a:rPr lang="en-US" altLang="en-US" sz="2000" dirty="0"/>
              <a:t> + </a:t>
            </a:r>
            <a:r>
              <a:rPr lang="en-US" altLang="en-US" sz="2000" dirty="0">
                <a:highlight>
                  <a:srgbClr val="00FFFF"/>
                </a:highlight>
              </a:rPr>
              <a:t>26</a:t>
            </a:r>
            <a:r>
              <a:rPr lang="en-US" altLang="en-US" sz="2000" dirty="0"/>
              <a:t>} == </a:t>
            </a:r>
            <a:r>
              <a:rPr lang="en-US" altLang="en-US" sz="2000" dirty="0">
                <a:solidFill>
                  <a:srgbClr val="FF0000"/>
                </a:solidFill>
              </a:rPr>
              <a:t>27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This same result carries through available weight of 10</a:t>
            </a:r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>
              <a:solidFill>
                <a:srgbClr val="00B050"/>
              </a:solidFill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Items: (</a:t>
            </a:r>
            <a:r>
              <a:rPr lang="en-US" altLang="en-US" sz="1400" i="1" dirty="0" err="1"/>
              <a:t>w</a:t>
            </a:r>
            <a:r>
              <a:rPr lang="en-US" altLang="en-US" sz="1400" i="1" baseline="-25000" dirty="0" err="1"/>
              <a:t>i</a:t>
            </a:r>
            <a:r>
              <a:rPr lang="en-US" altLang="en-US" sz="1400" dirty="0"/>
              <a:t>, </a:t>
            </a:r>
            <a:r>
              <a:rPr lang="en-US" altLang="en-US" sz="1400" i="1" dirty="0"/>
              <a:t>v</a:t>
            </a:r>
            <a:r>
              <a:rPr lang="en-US" altLang="en-US" sz="1400" i="1" baseline="-25000" dirty="0"/>
              <a:t>i</a:t>
            </a:r>
            <a:r>
              <a:rPr lang="en-US" altLang="en-US" sz="1400" dirty="0"/>
              <a:t>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2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(3, 9)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(1, 7)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(12, 18)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(5, 3)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</a:t>
            </a:r>
            <a:r>
              <a:rPr lang="en-US" altLang="en-US" sz="1400" dirty="0">
                <a:solidFill>
                  <a:srgbClr val="00B050"/>
                </a:solidFill>
              </a:rPr>
              <a:t>(2, 11)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1F1690D-4D75-4251-8533-5A5354CD311F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2020, John K. Ostlund</a:t>
            </a:r>
            <a:endParaRPr lang="en-US" dirty="0"/>
          </a:p>
        </p:txBody>
      </p:sp>
      <p:graphicFrame>
        <p:nvGraphicFramePr>
          <p:cNvPr id="5" name="Table 8">
            <a:extLst>
              <a:ext uri="{FF2B5EF4-FFF2-40B4-BE49-F238E27FC236}">
                <a16:creationId xmlns:a16="http://schemas.microsoft.com/office/drawing/2014/main" id="{B6C92E09-5429-4269-8949-BE734938F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8234366"/>
              </p:ext>
            </p:extLst>
          </p:nvPr>
        </p:nvGraphicFramePr>
        <p:xfrm>
          <a:off x="2514600" y="3505200"/>
          <a:ext cx="6096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189162848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00013082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8038581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545559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6541038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3554152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7681525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1583797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6951764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919191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92654455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8640145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115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404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1101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4250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1" i="1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1888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18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18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27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27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27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27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27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252600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87E915-3713-4CAA-820A-006D69221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6665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0/1 Knapsack Max Value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endParaRPr lang="en-US" altLang="en-US" sz="2000" dirty="0">
              <a:solidFill>
                <a:srgbClr val="00B050"/>
              </a:solidFill>
            </a:endParaRPr>
          </a:p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The maximum value that we can pack in this knapsack of maximum weight 10 is the lower right corner, </a:t>
            </a:r>
            <a:r>
              <a:rPr lang="en-US" altLang="en-US" sz="2000" dirty="0">
                <a:solidFill>
                  <a:srgbClr val="FF0000"/>
                </a:solidFill>
              </a:rPr>
              <a:t>A[5, 10]</a:t>
            </a:r>
          </a:p>
          <a:p>
            <a:pPr lvl="1" eaLnBrk="1" hangingPunct="1">
              <a:spcBef>
                <a:spcPts val="0"/>
              </a:spcBef>
            </a:pPr>
            <a:endParaRPr lang="en-US" altLang="en-US" sz="2000" dirty="0">
              <a:solidFill>
                <a:srgbClr val="FF0000"/>
              </a:solidFill>
            </a:endParaRPr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>
              <a:solidFill>
                <a:srgbClr val="00B050"/>
              </a:solidFill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Items: (</a:t>
            </a:r>
            <a:r>
              <a:rPr lang="en-US" altLang="en-US" sz="1400" i="1" dirty="0" err="1"/>
              <a:t>w</a:t>
            </a:r>
            <a:r>
              <a:rPr lang="en-US" altLang="en-US" sz="1400" i="1" baseline="-25000" dirty="0" err="1"/>
              <a:t>i</a:t>
            </a:r>
            <a:r>
              <a:rPr lang="en-US" altLang="en-US" sz="1400" dirty="0"/>
              <a:t>, </a:t>
            </a:r>
            <a:r>
              <a:rPr lang="en-US" altLang="en-US" sz="1400" i="1" dirty="0"/>
              <a:t>v</a:t>
            </a:r>
            <a:r>
              <a:rPr lang="en-US" altLang="en-US" sz="1400" i="1" baseline="-25000" dirty="0"/>
              <a:t>i</a:t>
            </a:r>
            <a:r>
              <a:rPr lang="en-US" altLang="en-US" sz="1400" dirty="0"/>
              <a:t>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2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(3, 9)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(1, 7)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(12, 18)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(5, 3)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(2, 11)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4F7A688-DF11-449E-AC7A-C6DD5AE08445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2020, John K. Ostlund</a:t>
            </a:r>
            <a:endParaRPr lang="en-US" dirty="0"/>
          </a:p>
        </p:txBody>
      </p:sp>
      <p:graphicFrame>
        <p:nvGraphicFramePr>
          <p:cNvPr id="5" name="Table 8">
            <a:extLst>
              <a:ext uri="{FF2B5EF4-FFF2-40B4-BE49-F238E27FC236}">
                <a16:creationId xmlns:a16="http://schemas.microsoft.com/office/drawing/2014/main" id="{B6C92E09-5429-4269-8949-BE734938F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7476783"/>
              </p:ext>
            </p:extLst>
          </p:nvPr>
        </p:nvGraphicFramePr>
        <p:xfrm>
          <a:off x="2514600" y="3505200"/>
          <a:ext cx="6096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189162848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00013082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8038581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545559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6541038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3554152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7681525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1583797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6951764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919191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92654455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8640145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115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404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1101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4250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1" i="1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1888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18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18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27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27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27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27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27</a:t>
                      </a:r>
                      <a:endParaRPr lang="en-US" sz="1800" b="0" kern="1200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252600"/>
                  </a:ext>
                </a:extLst>
              </a:tr>
            </a:tbl>
          </a:graphicData>
        </a:graphic>
      </p:graphicFrame>
      <p:sp>
        <p:nvSpPr>
          <p:cNvPr id="4" name="Oval 3">
            <a:extLst>
              <a:ext uri="{FF2B5EF4-FFF2-40B4-BE49-F238E27FC236}">
                <a16:creationId xmlns:a16="http://schemas.microsoft.com/office/drawing/2014/main" id="{FC6A9351-FAF6-4E07-B5CE-3E71A6C4CF29}"/>
              </a:ext>
            </a:extLst>
          </p:cNvPr>
          <p:cNvSpPr/>
          <p:nvPr/>
        </p:nvSpPr>
        <p:spPr bwMode="auto">
          <a:xfrm>
            <a:off x="8001000" y="5257800"/>
            <a:ext cx="685800" cy="609600"/>
          </a:xfrm>
          <a:prstGeom prst="ellipse">
            <a:avLst/>
          </a:prstGeom>
          <a:noFill/>
          <a:ln w="38100" cap="sq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49710-5689-41E0-B907-C906424FE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2403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0/1 Knapsack Selected Items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Starting from lower right, </a:t>
            </a:r>
            <a:r>
              <a:rPr lang="en-US" altLang="en-US" sz="2000" dirty="0">
                <a:solidFill>
                  <a:srgbClr val="FF0000"/>
                </a:solidFill>
              </a:rPr>
              <a:t>k = 5 and </a:t>
            </a:r>
            <a:r>
              <a:rPr lang="en-US" altLang="en-US" sz="2000" i="1" dirty="0" err="1">
                <a:solidFill>
                  <a:srgbClr val="FF0000"/>
                </a:solidFill>
              </a:rPr>
              <a:t>W_avail</a:t>
            </a:r>
            <a:r>
              <a:rPr lang="en-US" altLang="en-US" sz="2000" dirty="0">
                <a:solidFill>
                  <a:srgbClr val="FF0000"/>
                </a:solidFill>
              </a:rPr>
              <a:t> = 10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1600" dirty="0"/>
              <a:t>Find </a:t>
            </a:r>
            <a:r>
              <a:rPr lang="en-US" altLang="en-US" sz="1600" i="1" dirty="0"/>
              <a:t>final</a:t>
            </a:r>
            <a:r>
              <a:rPr lang="en-US" altLang="en-US" sz="1600" dirty="0"/>
              <a:t> selected item, and put in list</a:t>
            </a:r>
          </a:p>
          <a:p>
            <a:pPr lvl="1" eaLnBrk="1" hangingPunct="1">
              <a:spcBef>
                <a:spcPts val="0"/>
              </a:spcBef>
            </a:pPr>
            <a:endParaRPr lang="en-US" altLang="en-US" sz="1000" dirty="0"/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while k &gt; 1 and A[k, 10] == A[k-1, 10]:   # k was </a:t>
            </a:r>
            <a:r>
              <a:rPr lang="en-US" altLang="en-US" sz="14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not</a:t>
            </a: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selected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k -= 1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selected = []; if A[k, 10] &gt; 0: selected += [k]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400" dirty="0">
              <a:solidFill>
                <a:srgbClr val="00B050"/>
              </a:solidFill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Items: (</a:t>
            </a:r>
            <a:r>
              <a:rPr lang="en-US" altLang="en-US" sz="1400" i="1" dirty="0" err="1"/>
              <a:t>w</a:t>
            </a:r>
            <a:r>
              <a:rPr lang="en-US" altLang="en-US" sz="1400" i="1" baseline="-25000" dirty="0" err="1"/>
              <a:t>i</a:t>
            </a:r>
            <a:r>
              <a:rPr lang="en-US" altLang="en-US" sz="1400" dirty="0"/>
              <a:t>, </a:t>
            </a:r>
            <a:r>
              <a:rPr lang="en-US" altLang="en-US" sz="1400" i="1" dirty="0"/>
              <a:t>v</a:t>
            </a:r>
            <a:r>
              <a:rPr lang="en-US" altLang="en-US" sz="1400" i="1" baseline="-25000" dirty="0"/>
              <a:t>i</a:t>
            </a:r>
            <a:r>
              <a:rPr lang="en-US" altLang="en-US" sz="1400" dirty="0"/>
              <a:t>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2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(3, 9)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(1, 7) 				</a:t>
            </a: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selected</a:t>
            </a:r>
            <a:r>
              <a:rPr lang="en-US" altLang="en-US" sz="1400" dirty="0"/>
              <a:t>  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(12, 18)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(5, 3)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(2, 11)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9B06C12-48BD-4124-9071-FE7275039B53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2020, John K. Ostlund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B9E31D6-7372-4153-B846-04C647C5F2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5334653"/>
              </p:ext>
            </p:extLst>
          </p:nvPr>
        </p:nvGraphicFramePr>
        <p:xfrm>
          <a:off x="2548638" y="3657600"/>
          <a:ext cx="508000" cy="215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28180485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en-US" sz="1400" b="1" kern="120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53749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6223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7597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751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472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9745734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83B9F4A-E396-4C5A-91C4-E62C6C3C2F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1242792"/>
              </p:ext>
            </p:extLst>
          </p:nvPr>
        </p:nvGraphicFramePr>
        <p:xfrm>
          <a:off x="3056638" y="3657600"/>
          <a:ext cx="508000" cy="215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28180485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53749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6223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7597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751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472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27</a:t>
                      </a:r>
                      <a:endParaRPr lang="en-US" sz="1800" b="0" kern="1200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974573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BC8D7D2-53A0-4ED5-AB18-6A46B14E6C1C}"/>
              </a:ext>
            </a:extLst>
          </p:cNvPr>
          <p:cNvSpPr txBox="1"/>
          <p:nvPr/>
        </p:nvSpPr>
        <p:spPr>
          <a:xfrm>
            <a:off x="5240136" y="4724400"/>
            <a:ext cx="311304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9" name="Graphic 12" descr="Checkmark">
            <a:extLst>
              <a:ext uri="{FF2B5EF4-FFF2-40B4-BE49-F238E27FC236}">
                <a16:creationId xmlns:a16="http://schemas.microsoft.com/office/drawing/2014/main" id="{FB34E473-241D-41E2-B410-2D7897FC088B}"/>
              </a:ext>
            </a:extLst>
          </p:cNvPr>
          <p:cNvSpPr/>
          <p:nvPr/>
        </p:nvSpPr>
        <p:spPr>
          <a:xfrm>
            <a:off x="3657600" y="5545487"/>
            <a:ext cx="263785" cy="169513"/>
          </a:xfrm>
          <a:custGeom>
            <a:avLst/>
            <a:gdLst>
              <a:gd name="connsiteX0" fmla="*/ 802958 w 880109"/>
              <a:gd name="connsiteY0" fmla="*/ 0 h 618172"/>
              <a:gd name="connsiteX1" fmla="*/ 315278 w 880109"/>
              <a:gd name="connsiteY1" fmla="*/ 461010 h 618172"/>
              <a:gd name="connsiteX2" fmla="*/ 80963 w 880109"/>
              <a:gd name="connsiteY2" fmla="*/ 220980 h 618172"/>
              <a:gd name="connsiteX3" fmla="*/ 0 w 880109"/>
              <a:gd name="connsiteY3" fmla="*/ 298132 h 618172"/>
              <a:gd name="connsiteX4" fmla="*/ 311468 w 880109"/>
              <a:gd name="connsiteY4" fmla="*/ 618173 h 618172"/>
              <a:gd name="connsiteX5" fmla="*/ 393383 w 880109"/>
              <a:gd name="connsiteY5" fmla="*/ 541973 h 618172"/>
              <a:gd name="connsiteX6" fmla="*/ 880110 w 880109"/>
              <a:gd name="connsiteY6" fmla="*/ 80010 h 61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0109" h="618172">
                <a:moveTo>
                  <a:pt x="802958" y="0"/>
                </a:moveTo>
                <a:lnTo>
                  <a:pt x="315278" y="461010"/>
                </a:lnTo>
                <a:lnTo>
                  <a:pt x="80963" y="220980"/>
                </a:lnTo>
                <a:lnTo>
                  <a:pt x="0" y="298132"/>
                </a:lnTo>
                <a:lnTo>
                  <a:pt x="311468" y="618173"/>
                </a:lnTo>
                <a:lnTo>
                  <a:pt x="393383" y="541973"/>
                </a:lnTo>
                <a:lnTo>
                  <a:pt x="880110" y="80010"/>
                </a:lnTo>
                <a:close/>
              </a:path>
            </a:pathLst>
          </a:custGeom>
          <a:solidFill>
            <a:srgbClr val="00B050"/>
          </a:solidFill>
          <a:ln w="9525" cap="flat">
            <a:solidFill>
              <a:srgbClr val="00B05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5573D1-6021-4DBC-850A-89CD86D9B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3785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0/1 Knapsack Selected Items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Find </a:t>
            </a:r>
            <a:r>
              <a:rPr lang="en-US" altLang="en-US" sz="2000" i="1" dirty="0"/>
              <a:t>previous</a:t>
            </a:r>
            <a:r>
              <a:rPr lang="en-US" altLang="en-US" sz="2000" dirty="0"/>
              <a:t> selected items, and append to list</a:t>
            </a:r>
            <a:endParaRPr lang="en-US" altLang="en-US" sz="2000" dirty="0">
              <a:solidFill>
                <a:srgbClr val="FF0000"/>
              </a:solidFill>
            </a:endParaRPr>
          </a:p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A previous item </a:t>
            </a:r>
            <a:r>
              <a:rPr lang="en-US" altLang="en-US" sz="2000" i="1" dirty="0"/>
              <a:t>p</a:t>
            </a:r>
            <a:r>
              <a:rPr lang="en-US" altLang="en-US" sz="2000" dirty="0"/>
              <a:t> has been selected if: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1600" dirty="0"/>
              <a:t>Its max value is exactly </a:t>
            </a:r>
            <a:r>
              <a:rPr lang="en-US" altLang="en-US" sz="1600" i="1" dirty="0" err="1"/>
              <a:t>v</a:t>
            </a:r>
            <a:r>
              <a:rPr lang="en-US" altLang="en-US" sz="1600" i="1" baseline="-25000" dirty="0" err="1"/>
              <a:t>n</a:t>
            </a:r>
            <a:r>
              <a:rPr lang="en-US" altLang="en-US" sz="1600" dirty="0"/>
              <a:t> less than the next selected item's max value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1600" i="1" dirty="0"/>
              <a:t>And</a:t>
            </a:r>
            <a:r>
              <a:rPr lang="en-US" altLang="en-US" sz="1600" dirty="0"/>
              <a:t> its max value is greater than </a:t>
            </a:r>
            <a:r>
              <a:rPr lang="en-US" altLang="en-US" sz="1600" i="1" dirty="0"/>
              <a:t>v</a:t>
            </a:r>
            <a:r>
              <a:rPr lang="en-US" altLang="en-US" sz="1600" i="1" baseline="-25000" dirty="0"/>
              <a:t>p-1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400" dirty="0">
              <a:solidFill>
                <a:srgbClr val="00B050"/>
              </a:solidFill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200" dirty="0">
              <a:solidFill>
                <a:srgbClr val="00B050"/>
              </a:solidFill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dirty="0">
              <a:solidFill>
                <a:srgbClr val="00B050"/>
              </a:solidFill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Items: (</a:t>
            </a:r>
            <a:r>
              <a:rPr lang="en-US" altLang="en-US" sz="1400" i="1" dirty="0" err="1"/>
              <a:t>w</a:t>
            </a:r>
            <a:r>
              <a:rPr lang="en-US" altLang="en-US" sz="1400" i="1" baseline="-25000" dirty="0" err="1"/>
              <a:t>i</a:t>
            </a:r>
            <a:r>
              <a:rPr lang="en-US" altLang="en-US" sz="1400" dirty="0"/>
              <a:t>, </a:t>
            </a:r>
            <a:r>
              <a:rPr lang="en-US" altLang="en-US" sz="1400" i="1" dirty="0"/>
              <a:t>v</a:t>
            </a:r>
            <a:r>
              <a:rPr lang="en-US" altLang="en-US" sz="1400" i="1" baseline="-25000" dirty="0"/>
              <a:t>i</a:t>
            </a:r>
            <a:r>
              <a:rPr lang="en-US" altLang="en-US" sz="1400" dirty="0"/>
              <a:t>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2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(3, 9)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(1, 7) 				</a:t>
            </a: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selected</a:t>
            </a:r>
            <a:r>
              <a:rPr lang="en-US" altLang="en-US" sz="1400" dirty="0"/>
              <a:t> 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(12, 18)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(5, 3)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(2, 11)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E29EC78-AA80-4C66-A148-F6E09448D9F9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2020, John K. Ostlund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B9E31D6-7372-4153-B846-04C647C5F2F0}"/>
              </a:ext>
            </a:extLst>
          </p:cNvPr>
          <p:cNvGraphicFramePr>
            <a:graphicFrameLocks noGrp="1"/>
          </p:cNvGraphicFramePr>
          <p:nvPr/>
        </p:nvGraphicFramePr>
        <p:xfrm>
          <a:off x="2548638" y="3657600"/>
          <a:ext cx="508000" cy="215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28180485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en-US" sz="1400" b="1" kern="120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53749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6223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7597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751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472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9745734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83B9F4A-E396-4C5A-91C4-E62C6C3C2F91}"/>
              </a:ext>
            </a:extLst>
          </p:cNvPr>
          <p:cNvGraphicFramePr>
            <a:graphicFrameLocks noGrp="1"/>
          </p:cNvGraphicFramePr>
          <p:nvPr/>
        </p:nvGraphicFramePr>
        <p:xfrm>
          <a:off x="3056638" y="3657600"/>
          <a:ext cx="508000" cy="215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28180485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53749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6223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7597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751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472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27</a:t>
                      </a:r>
                      <a:endParaRPr lang="en-US" sz="1800" b="0" kern="1200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974573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5EB1514-0F37-4DBA-9AE8-651B1DF66696}"/>
              </a:ext>
            </a:extLst>
          </p:cNvPr>
          <p:cNvSpPr txBox="1"/>
          <p:nvPr/>
        </p:nvSpPr>
        <p:spPr>
          <a:xfrm>
            <a:off x="5240136" y="4724400"/>
            <a:ext cx="311304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6" name="Graphic 12" descr="Checkmark">
            <a:extLst>
              <a:ext uri="{FF2B5EF4-FFF2-40B4-BE49-F238E27FC236}">
                <a16:creationId xmlns:a16="http://schemas.microsoft.com/office/drawing/2014/main" id="{96F03EEF-C9AE-4E07-9432-5DD7693E471A}"/>
              </a:ext>
            </a:extLst>
          </p:cNvPr>
          <p:cNvSpPr/>
          <p:nvPr/>
        </p:nvSpPr>
        <p:spPr>
          <a:xfrm>
            <a:off x="3657600" y="4402487"/>
            <a:ext cx="263785" cy="169513"/>
          </a:xfrm>
          <a:custGeom>
            <a:avLst/>
            <a:gdLst>
              <a:gd name="connsiteX0" fmla="*/ 802958 w 880109"/>
              <a:gd name="connsiteY0" fmla="*/ 0 h 618172"/>
              <a:gd name="connsiteX1" fmla="*/ 315278 w 880109"/>
              <a:gd name="connsiteY1" fmla="*/ 461010 h 618172"/>
              <a:gd name="connsiteX2" fmla="*/ 80963 w 880109"/>
              <a:gd name="connsiteY2" fmla="*/ 220980 h 618172"/>
              <a:gd name="connsiteX3" fmla="*/ 0 w 880109"/>
              <a:gd name="connsiteY3" fmla="*/ 298132 h 618172"/>
              <a:gd name="connsiteX4" fmla="*/ 311468 w 880109"/>
              <a:gd name="connsiteY4" fmla="*/ 618173 h 618172"/>
              <a:gd name="connsiteX5" fmla="*/ 393383 w 880109"/>
              <a:gd name="connsiteY5" fmla="*/ 541973 h 618172"/>
              <a:gd name="connsiteX6" fmla="*/ 880110 w 880109"/>
              <a:gd name="connsiteY6" fmla="*/ 80010 h 61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0109" h="618172">
                <a:moveTo>
                  <a:pt x="802958" y="0"/>
                </a:moveTo>
                <a:lnTo>
                  <a:pt x="315278" y="461010"/>
                </a:lnTo>
                <a:lnTo>
                  <a:pt x="80963" y="220980"/>
                </a:lnTo>
                <a:lnTo>
                  <a:pt x="0" y="298132"/>
                </a:lnTo>
                <a:lnTo>
                  <a:pt x="311468" y="618173"/>
                </a:lnTo>
                <a:lnTo>
                  <a:pt x="393383" y="541973"/>
                </a:lnTo>
                <a:lnTo>
                  <a:pt x="880110" y="80010"/>
                </a:lnTo>
                <a:close/>
              </a:path>
            </a:pathLst>
          </a:custGeom>
          <a:solidFill>
            <a:srgbClr val="00B050"/>
          </a:solidFill>
          <a:ln w="9525" cap="flat">
            <a:solidFill>
              <a:srgbClr val="00B05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Graphic 14" descr="Close">
            <a:extLst>
              <a:ext uri="{FF2B5EF4-FFF2-40B4-BE49-F238E27FC236}">
                <a16:creationId xmlns:a16="http://schemas.microsoft.com/office/drawing/2014/main" id="{9010BB4F-0397-4297-B700-E594F2D66E2B}"/>
              </a:ext>
            </a:extLst>
          </p:cNvPr>
          <p:cNvSpPr/>
          <p:nvPr/>
        </p:nvSpPr>
        <p:spPr>
          <a:xfrm>
            <a:off x="3670707" y="5181600"/>
            <a:ext cx="139293" cy="135398"/>
          </a:xfrm>
          <a:custGeom>
            <a:avLst/>
            <a:gdLst>
              <a:gd name="connsiteX0" fmla="*/ 674370 w 674370"/>
              <a:gd name="connsiteY0" fmla="*/ 80963 h 674370"/>
              <a:gd name="connsiteX1" fmla="*/ 593408 w 674370"/>
              <a:gd name="connsiteY1" fmla="*/ 0 h 674370"/>
              <a:gd name="connsiteX2" fmla="*/ 337185 w 674370"/>
              <a:gd name="connsiteY2" fmla="*/ 256223 h 674370"/>
              <a:gd name="connsiteX3" fmla="*/ 80963 w 674370"/>
              <a:gd name="connsiteY3" fmla="*/ 0 h 674370"/>
              <a:gd name="connsiteX4" fmla="*/ 0 w 674370"/>
              <a:gd name="connsiteY4" fmla="*/ 80963 h 674370"/>
              <a:gd name="connsiteX5" fmla="*/ 256223 w 674370"/>
              <a:gd name="connsiteY5" fmla="*/ 337185 h 674370"/>
              <a:gd name="connsiteX6" fmla="*/ 0 w 674370"/>
              <a:gd name="connsiteY6" fmla="*/ 593408 h 674370"/>
              <a:gd name="connsiteX7" fmla="*/ 80963 w 674370"/>
              <a:gd name="connsiteY7" fmla="*/ 674370 h 674370"/>
              <a:gd name="connsiteX8" fmla="*/ 337185 w 674370"/>
              <a:gd name="connsiteY8" fmla="*/ 418148 h 674370"/>
              <a:gd name="connsiteX9" fmla="*/ 593408 w 674370"/>
              <a:gd name="connsiteY9" fmla="*/ 674370 h 674370"/>
              <a:gd name="connsiteX10" fmla="*/ 674370 w 674370"/>
              <a:gd name="connsiteY10" fmla="*/ 593408 h 674370"/>
              <a:gd name="connsiteX11" fmla="*/ 418148 w 674370"/>
              <a:gd name="connsiteY11" fmla="*/ 337185 h 674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4370" h="674370">
                <a:moveTo>
                  <a:pt x="674370" y="80963"/>
                </a:moveTo>
                <a:lnTo>
                  <a:pt x="593408" y="0"/>
                </a:lnTo>
                <a:lnTo>
                  <a:pt x="337185" y="256223"/>
                </a:lnTo>
                <a:lnTo>
                  <a:pt x="80963" y="0"/>
                </a:lnTo>
                <a:lnTo>
                  <a:pt x="0" y="80963"/>
                </a:lnTo>
                <a:lnTo>
                  <a:pt x="256223" y="337185"/>
                </a:lnTo>
                <a:lnTo>
                  <a:pt x="0" y="593408"/>
                </a:lnTo>
                <a:lnTo>
                  <a:pt x="80963" y="674370"/>
                </a:lnTo>
                <a:lnTo>
                  <a:pt x="337185" y="418148"/>
                </a:lnTo>
                <a:lnTo>
                  <a:pt x="593408" y="674370"/>
                </a:lnTo>
                <a:lnTo>
                  <a:pt x="674370" y="593408"/>
                </a:lnTo>
                <a:lnTo>
                  <a:pt x="418148" y="337185"/>
                </a:lnTo>
                <a:close/>
              </a:path>
            </a:pathLst>
          </a:custGeom>
          <a:solidFill>
            <a:srgbClr val="FF0000"/>
          </a:solidFill>
          <a:ln w="9525" cap="flat">
            <a:solidFill>
              <a:srgbClr val="FF0000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8" name="Graphic 14" descr="Close">
            <a:extLst>
              <a:ext uri="{FF2B5EF4-FFF2-40B4-BE49-F238E27FC236}">
                <a16:creationId xmlns:a16="http://schemas.microsoft.com/office/drawing/2014/main" id="{2E561663-9DB4-41BF-B26D-D3E17AC581A4}"/>
              </a:ext>
            </a:extLst>
          </p:cNvPr>
          <p:cNvSpPr/>
          <p:nvPr/>
        </p:nvSpPr>
        <p:spPr>
          <a:xfrm>
            <a:off x="3657600" y="4800600"/>
            <a:ext cx="139293" cy="135398"/>
          </a:xfrm>
          <a:custGeom>
            <a:avLst/>
            <a:gdLst>
              <a:gd name="connsiteX0" fmla="*/ 674370 w 674370"/>
              <a:gd name="connsiteY0" fmla="*/ 80963 h 674370"/>
              <a:gd name="connsiteX1" fmla="*/ 593408 w 674370"/>
              <a:gd name="connsiteY1" fmla="*/ 0 h 674370"/>
              <a:gd name="connsiteX2" fmla="*/ 337185 w 674370"/>
              <a:gd name="connsiteY2" fmla="*/ 256223 h 674370"/>
              <a:gd name="connsiteX3" fmla="*/ 80963 w 674370"/>
              <a:gd name="connsiteY3" fmla="*/ 0 h 674370"/>
              <a:gd name="connsiteX4" fmla="*/ 0 w 674370"/>
              <a:gd name="connsiteY4" fmla="*/ 80963 h 674370"/>
              <a:gd name="connsiteX5" fmla="*/ 256223 w 674370"/>
              <a:gd name="connsiteY5" fmla="*/ 337185 h 674370"/>
              <a:gd name="connsiteX6" fmla="*/ 0 w 674370"/>
              <a:gd name="connsiteY6" fmla="*/ 593408 h 674370"/>
              <a:gd name="connsiteX7" fmla="*/ 80963 w 674370"/>
              <a:gd name="connsiteY7" fmla="*/ 674370 h 674370"/>
              <a:gd name="connsiteX8" fmla="*/ 337185 w 674370"/>
              <a:gd name="connsiteY8" fmla="*/ 418148 h 674370"/>
              <a:gd name="connsiteX9" fmla="*/ 593408 w 674370"/>
              <a:gd name="connsiteY9" fmla="*/ 674370 h 674370"/>
              <a:gd name="connsiteX10" fmla="*/ 674370 w 674370"/>
              <a:gd name="connsiteY10" fmla="*/ 593408 h 674370"/>
              <a:gd name="connsiteX11" fmla="*/ 418148 w 674370"/>
              <a:gd name="connsiteY11" fmla="*/ 337185 h 674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4370" h="674370">
                <a:moveTo>
                  <a:pt x="674370" y="80963"/>
                </a:moveTo>
                <a:lnTo>
                  <a:pt x="593408" y="0"/>
                </a:lnTo>
                <a:lnTo>
                  <a:pt x="337185" y="256223"/>
                </a:lnTo>
                <a:lnTo>
                  <a:pt x="80963" y="0"/>
                </a:lnTo>
                <a:lnTo>
                  <a:pt x="0" y="80963"/>
                </a:lnTo>
                <a:lnTo>
                  <a:pt x="256223" y="337185"/>
                </a:lnTo>
                <a:lnTo>
                  <a:pt x="0" y="593408"/>
                </a:lnTo>
                <a:lnTo>
                  <a:pt x="80963" y="674370"/>
                </a:lnTo>
                <a:lnTo>
                  <a:pt x="337185" y="418148"/>
                </a:lnTo>
                <a:lnTo>
                  <a:pt x="593408" y="674370"/>
                </a:lnTo>
                <a:lnTo>
                  <a:pt x="674370" y="593408"/>
                </a:lnTo>
                <a:lnTo>
                  <a:pt x="418148" y="337185"/>
                </a:lnTo>
                <a:close/>
              </a:path>
            </a:pathLst>
          </a:custGeom>
          <a:solidFill>
            <a:srgbClr val="FF0000"/>
          </a:solidFill>
          <a:ln w="9525" cap="flat">
            <a:solidFill>
              <a:srgbClr val="FF0000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D38F20-0437-41AE-B539-7ED81F5E4ECE}"/>
              </a:ext>
            </a:extLst>
          </p:cNvPr>
          <p:cNvSpPr txBox="1"/>
          <p:nvPr/>
        </p:nvSpPr>
        <p:spPr>
          <a:xfrm>
            <a:off x="5556096" y="4724400"/>
            <a:ext cx="311304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E0D6BD-64A0-44FA-9F1B-565530BE6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7928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0/1 Knapsack Selected Items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000" i="1" dirty="0"/>
              <a:t>First</a:t>
            </a:r>
            <a:r>
              <a:rPr lang="en-US" altLang="en-US" sz="2000" dirty="0"/>
              <a:t> selected item in this case is item 1</a:t>
            </a:r>
            <a:endParaRPr lang="en-US" altLang="en-US" sz="2000" dirty="0">
              <a:solidFill>
                <a:srgbClr val="FF0000"/>
              </a:solidFill>
            </a:endParaRPr>
          </a:p>
          <a:p>
            <a:pPr eaLnBrk="1" hangingPunct="1">
              <a:spcBef>
                <a:spcPts val="0"/>
              </a:spcBef>
            </a:pPr>
            <a:endParaRPr lang="en-US" altLang="en-US" sz="2000" dirty="0"/>
          </a:p>
          <a:p>
            <a:pPr lvl="1" eaLnBrk="1" hangingPunct="1">
              <a:spcBef>
                <a:spcPts val="0"/>
              </a:spcBef>
            </a:pPr>
            <a:endParaRPr lang="en-US" altLang="en-US" sz="1600" dirty="0"/>
          </a:p>
          <a:p>
            <a:pPr lvl="1" eaLnBrk="1" hangingPunct="1">
              <a:spcBef>
                <a:spcPts val="0"/>
              </a:spcBef>
            </a:pPr>
            <a:endParaRPr lang="en-US" altLang="en-US" sz="1600" i="1" baseline="-25000" dirty="0"/>
          </a:p>
          <a:p>
            <a:pPr lvl="1" eaLnBrk="1" hangingPunct="1">
              <a:spcBef>
                <a:spcPts val="0"/>
              </a:spcBef>
            </a:pPr>
            <a:endParaRPr lang="en-US" altLang="en-US" sz="1600" i="1" baseline="-250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dirty="0">
              <a:solidFill>
                <a:srgbClr val="00B050"/>
              </a:solidFill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200" dirty="0">
              <a:solidFill>
                <a:srgbClr val="00B050"/>
              </a:solidFill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dirty="0">
              <a:solidFill>
                <a:srgbClr val="00B050"/>
              </a:solidFill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Items: (</a:t>
            </a:r>
            <a:r>
              <a:rPr lang="en-US" altLang="en-US" sz="1400" i="1" dirty="0" err="1"/>
              <a:t>w</a:t>
            </a:r>
            <a:r>
              <a:rPr lang="en-US" altLang="en-US" sz="1400" i="1" baseline="-25000" dirty="0" err="1"/>
              <a:t>i</a:t>
            </a:r>
            <a:r>
              <a:rPr lang="en-US" altLang="en-US" sz="1400" dirty="0"/>
              <a:t>, </a:t>
            </a:r>
            <a:r>
              <a:rPr lang="en-US" altLang="en-US" sz="1400" i="1" dirty="0"/>
              <a:t>v</a:t>
            </a:r>
            <a:r>
              <a:rPr lang="en-US" altLang="en-US" sz="1400" i="1" baseline="-25000" dirty="0"/>
              <a:t>i</a:t>
            </a:r>
            <a:r>
              <a:rPr lang="en-US" altLang="en-US" sz="1400" dirty="0"/>
              <a:t>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2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(3, 9)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(1, 7) 				</a:t>
            </a: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selected</a:t>
            </a:r>
            <a:r>
              <a:rPr lang="en-US" altLang="en-US" sz="1400" dirty="0"/>
              <a:t> 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(12, 18)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(5, 3)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(2, 11)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F24D2E0-161C-4472-8E8D-5E8F62CCF5E1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2020, John K. Ostlund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B9E31D6-7372-4153-B846-04C647C5F2F0}"/>
              </a:ext>
            </a:extLst>
          </p:cNvPr>
          <p:cNvGraphicFramePr>
            <a:graphicFrameLocks noGrp="1"/>
          </p:cNvGraphicFramePr>
          <p:nvPr/>
        </p:nvGraphicFramePr>
        <p:xfrm>
          <a:off x="2548638" y="3657600"/>
          <a:ext cx="508000" cy="215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28180485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en-US" sz="1400" b="1" kern="120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53749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6223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7597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751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472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9745734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83B9F4A-E396-4C5A-91C4-E62C6C3C2F91}"/>
              </a:ext>
            </a:extLst>
          </p:cNvPr>
          <p:cNvGraphicFramePr>
            <a:graphicFrameLocks noGrp="1"/>
          </p:cNvGraphicFramePr>
          <p:nvPr/>
        </p:nvGraphicFramePr>
        <p:xfrm>
          <a:off x="3056638" y="3657600"/>
          <a:ext cx="508000" cy="215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28180485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53749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6223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7597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751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472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27</a:t>
                      </a:r>
                      <a:endParaRPr lang="en-US" sz="1800" b="0" kern="1200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974573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5EB1514-0F37-4DBA-9AE8-651B1DF66696}"/>
              </a:ext>
            </a:extLst>
          </p:cNvPr>
          <p:cNvSpPr txBox="1"/>
          <p:nvPr/>
        </p:nvSpPr>
        <p:spPr>
          <a:xfrm>
            <a:off x="5240136" y="4724400"/>
            <a:ext cx="311304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6" name="Graphic 12" descr="Checkmark">
            <a:extLst>
              <a:ext uri="{FF2B5EF4-FFF2-40B4-BE49-F238E27FC236}">
                <a16:creationId xmlns:a16="http://schemas.microsoft.com/office/drawing/2014/main" id="{96F03EEF-C9AE-4E07-9432-5DD7693E471A}"/>
              </a:ext>
            </a:extLst>
          </p:cNvPr>
          <p:cNvSpPr/>
          <p:nvPr/>
        </p:nvSpPr>
        <p:spPr>
          <a:xfrm>
            <a:off x="3657600" y="4038600"/>
            <a:ext cx="263785" cy="169513"/>
          </a:xfrm>
          <a:custGeom>
            <a:avLst/>
            <a:gdLst>
              <a:gd name="connsiteX0" fmla="*/ 802958 w 880109"/>
              <a:gd name="connsiteY0" fmla="*/ 0 h 618172"/>
              <a:gd name="connsiteX1" fmla="*/ 315278 w 880109"/>
              <a:gd name="connsiteY1" fmla="*/ 461010 h 618172"/>
              <a:gd name="connsiteX2" fmla="*/ 80963 w 880109"/>
              <a:gd name="connsiteY2" fmla="*/ 220980 h 618172"/>
              <a:gd name="connsiteX3" fmla="*/ 0 w 880109"/>
              <a:gd name="connsiteY3" fmla="*/ 298132 h 618172"/>
              <a:gd name="connsiteX4" fmla="*/ 311468 w 880109"/>
              <a:gd name="connsiteY4" fmla="*/ 618173 h 618172"/>
              <a:gd name="connsiteX5" fmla="*/ 393383 w 880109"/>
              <a:gd name="connsiteY5" fmla="*/ 541973 h 618172"/>
              <a:gd name="connsiteX6" fmla="*/ 880110 w 880109"/>
              <a:gd name="connsiteY6" fmla="*/ 80010 h 61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0109" h="618172">
                <a:moveTo>
                  <a:pt x="802958" y="0"/>
                </a:moveTo>
                <a:lnTo>
                  <a:pt x="315278" y="461010"/>
                </a:lnTo>
                <a:lnTo>
                  <a:pt x="80963" y="220980"/>
                </a:lnTo>
                <a:lnTo>
                  <a:pt x="0" y="298132"/>
                </a:lnTo>
                <a:lnTo>
                  <a:pt x="311468" y="618173"/>
                </a:lnTo>
                <a:lnTo>
                  <a:pt x="393383" y="541973"/>
                </a:lnTo>
                <a:lnTo>
                  <a:pt x="880110" y="80010"/>
                </a:lnTo>
                <a:close/>
              </a:path>
            </a:pathLst>
          </a:custGeom>
          <a:solidFill>
            <a:srgbClr val="00B050"/>
          </a:solidFill>
          <a:ln w="9525" cap="flat">
            <a:solidFill>
              <a:srgbClr val="00B05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D38F20-0437-41AE-B539-7ED81F5E4ECE}"/>
              </a:ext>
            </a:extLst>
          </p:cNvPr>
          <p:cNvSpPr txBox="1"/>
          <p:nvPr/>
        </p:nvSpPr>
        <p:spPr>
          <a:xfrm>
            <a:off x="5556096" y="4724400"/>
            <a:ext cx="311304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0A2F62-08FE-4F2E-A1C5-D39B8B101ACB}"/>
              </a:ext>
            </a:extLst>
          </p:cNvPr>
          <p:cNvSpPr txBox="1"/>
          <p:nvPr/>
        </p:nvSpPr>
        <p:spPr>
          <a:xfrm>
            <a:off x="5867400" y="4724400"/>
            <a:ext cx="311304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D06B36-F00A-4E88-9E76-C98173E13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99289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0/1 Knapsack Performance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We see that algorithm performance is O(</a:t>
            </a:r>
            <a:r>
              <a:rPr lang="en-US" altLang="en-US" sz="2000" b="1" dirty="0"/>
              <a:t>N</a:t>
            </a:r>
            <a:r>
              <a:rPr lang="en-US" altLang="en-US" sz="2000" i="1" dirty="0"/>
              <a:t>W</a:t>
            </a:r>
            <a:r>
              <a:rPr lang="en-US" altLang="en-US" sz="2000" dirty="0"/>
              <a:t>), where </a:t>
            </a:r>
            <a:r>
              <a:rPr lang="en-US" altLang="en-US" sz="2000" b="1" dirty="0"/>
              <a:t>N</a:t>
            </a:r>
            <a:r>
              <a:rPr lang="en-US" altLang="en-US" sz="2000" dirty="0"/>
              <a:t> is the number of items, </a:t>
            </a:r>
            <a:r>
              <a:rPr lang="en-US" altLang="en-US" sz="2000" i="1" dirty="0"/>
              <a:t>W</a:t>
            </a:r>
            <a:r>
              <a:rPr lang="en-US" altLang="en-US" sz="2000" dirty="0"/>
              <a:t> is the maximum weight</a:t>
            </a:r>
            <a:endParaRPr lang="en-US" altLang="en-US" sz="2000" dirty="0">
              <a:solidFill>
                <a:srgbClr val="FF0000"/>
              </a:solidFill>
            </a:endParaRPr>
          </a:p>
          <a:p>
            <a:pPr lvl="1" eaLnBrk="1" hangingPunct="1">
              <a:spcBef>
                <a:spcPts val="0"/>
              </a:spcBef>
            </a:pPr>
            <a:r>
              <a:rPr lang="en-US" altLang="en-US" sz="1600" dirty="0"/>
              <a:t>Is this polynomial in </a:t>
            </a:r>
            <a:r>
              <a:rPr lang="en-US" altLang="en-US" sz="1600" b="1" dirty="0"/>
              <a:t>N</a:t>
            </a:r>
            <a:r>
              <a:rPr lang="en-US" altLang="en-US" sz="1600" dirty="0"/>
              <a:t>?  No, not really: </a:t>
            </a:r>
            <a:r>
              <a:rPr lang="en-US" altLang="en-US" sz="1600" i="1" dirty="0"/>
              <a:t>W</a:t>
            </a:r>
            <a:r>
              <a:rPr lang="en-US" altLang="en-US" sz="1600" dirty="0"/>
              <a:t> is a parameter independent of </a:t>
            </a:r>
            <a:r>
              <a:rPr lang="en-US" altLang="en-US" sz="1600" b="1" dirty="0"/>
              <a:t>N</a:t>
            </a:r>
          </a:p>
          <a:p>
            <a:pPr lvl="2" eaLnBrk="1" hangingPunct="1">
              <a:spcBef>
                <a:spcPts val="0"/>
              </a:spcBef>
            </a:pPr>
            <a:r>
              <a:rPr lang="en-US" altLang="en-US" sz="1400" dirty="0"/>
              <a:t>Time/memory blow up as </a:t>
            </a:r>
            <a:r>
              <a:rPr lang="en-US" altLang="en-US" sz="1400" i="1" dirty="0"/>
              <a:t>W</a:t>
            </a:r>
            <a:r>
              <a:rPr lang="en-US" altLang="en-US" sz="1400" dirty="0"/>
              <a:t> increases, for fixed </a:t>
            </a:r>
            <a:r>
              <a:rPr lang="en-US" altLang="en-US" sz="1400" b="1" dirty="0"/>
              <a:t>N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1600" dirty="0"/>
              <a:t>Called </a:t>
            </a:r>
            <a:r>
              <a:rPr lang="en-US" altLang="en-US" sz="1600"/>
              <a:t>a </a:t>
            </a:r>
            <a:r>
              <a:rPr lang="en-US" altLang="en-US" sz="1600" i="1">
                <a:solidFill>
                  <a:srgbClr val="FF0000"/>
                </a:solidFill>
              </a:rPr>
              <a:t>pseudo-</a:t>
            </a:r>
            <a:r>
              <a:rPr lang="en-US" altLang="en-US" sz="1600">
                <a:solidFill>
                  <a:srgbClr val="FF0000"/>
                </a:solidFill>
              </a:rPr>
              <a:t>polynomial</a:t>
            </a:r>
            <a:r>
              <a:rPr lang="en-US" altLang="en-US" sz="1600"/>
              <a:t> </a:t>
            </a:r>
            <a:r>
              <a:rPr lang="en-US" altLang="en-US" sz="1600" dirty="0"/>
              <a:t>algorithm</a:t>
            </a:r>
            <a:endParaRPr lang="en-US" altLang="en-US" sz="1600" i="1" baseline="-250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200" dirty="0">
              <a:solidFill>
                <a:srgbClr val="00B050"/>
              </a:solidFill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dirty="0">
              <a:solidFill>
                <a:srgbClr val="00B050"/>
              </a:solidFill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Items: (</a:t>
            </a:r>
            <a:r>
              <a:rPr lang="en-US" altLang="en-US" sz="1400" i="1" dirty="0" err="1"/>
              <a:t>w</a:t>
            </a:r>
            <a:r>
              <a:rPr lang="en-US" altLang="en-US" sz="1400" i="1" baseline="-25000" dirty="0" err="1"/>
              <a:t>i</a:t>
            </a:r>
            <a:r>
              <a:rPr lang="en-US" altLang="en-US" sz="1400" dirty="0"/>
              <a:t>, </a:t>
            </a:r>
            <a:r>
              <a:rPr lang="en-US" altLang="en-US" sz="1400" i="1" dirty="0"/>
              <a:t>v</a:t>
            </a:r>
            <a:r>
              <a:rPr lang="en-US" altLang="en-US" sz="1400" i="1" baseline="-25000" dirty="0"/>
              <a:t>i</a:t>
            </a:r>
            <a:r>
              <a:rPr lang="en-US" altLang="en-US" sz="1400" dirty="0"/>
              <a:t>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2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(3, 9)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(1, 7)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(12, 18)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(5, 3)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(2, 11)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0357FD5-7342-4DC6-BBE5-7C4CAE02C90A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2020, John K. Ostlund</a:t>
            </a:r>
            <a:endParaRPr lang="en-US" dirty="0"/>
          </a:p>
        </p:txBody>
      </p:sp>
      <p:graphicFrame>
        <p:nvGraphicFramePr>
          <p:cNvPr id="5" name="Table 8">
            <a:extLst>
              <a:ext uri="{FF2B5EF4-FFF2-40B4-BE49-F238E27FC236}">
                <a16:creationId xmlns:a16="http://schemas.microsoft.com/office/drawing/2014/main" id="{6AA741C2-A56F-464B-AE5F-0D680223F1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7283329"/>
              </p:ext>
            </p:extLst>
          </p:nvPr>
        </p:nvGraphicFramePr>
        <p:xfrm>
          <a:off x="2514600" y="3642360"/>
          <a:ext cx="6096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189162848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00013082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8038581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545559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6541038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3554152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7681525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1583797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6951764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919191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92654455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8640145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115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404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1101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4250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1" i="1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19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1888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18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18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27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27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27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27</a:t>
                      </a:r>
                      <a:endParaRPr lang="en-US" sz="1400" b="0" kern="120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27</a:t>
                      </a:r>
                      <a:endParaRPr lang="en-US" sz="1800" b="0" kern="1200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252600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DA0923-5DA3-4822-A58B-F6592B8DA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385442"/>
      </p:ext>
    </p:extLst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53799</TotalTime>
  <Words>6632</Words>
  <Application>Microsoft Office PowerPoint</Application>
  <PresentationFormat>On-screen Show (4:3)</PresentationFormat>
  <Paragraphs>2326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8" baseType="lpstr">
      <vt:lpstr>Cambria Math</vt:lpstr>
      <vt:lpstr>Courier New</vt:lpstr>
      <vt:lpstr>Tahoma</vt:lpstr>
      <vt:lpstr>Times New Roman</vt:lpstr>
      <vt:lpstr>Wingdings</vt:lpstr>
      <vt:lpstr>Blends</vt:lpstr>
      <vt:lpstr>MSCF Programming Prep 46-900</vt:lpstr>
      <vt:lpstr>Dynamic Programming In A Nutshell</vt:lpstr>
      <vt:lpstr>Dynamic Programming In A Nutshell (cont.)</vt:lpstr>
      <vt:lpstr>Example: 0/1 Knapsack Problem</vt:lpstr>
      <vt:lpstr>Example: 0/1 Knapsack Problem (cont)</vt:lpstr>
      <vt:lpstr>Brute Force Solution</vt:lpstr>
      <vt:lpstr>Brute Force Solution (cont.)</vt:lpstr>
      <vt:lpstr>Recursive Formulation</vt:lpstr>
      <vt:lpstr>Recursive Formulation (cont.)</vt:lpstr>
      <vt:lpstr>0/1 Knapsack Memoization</vt:lpstr>
      <vt:lpstr>0/1 Knapsack Algorithm</vt:lpstr>
      <vt:lpstr>0/1 Knapsack Algorithm (cont.)</vt:lpstr>
      <vt:lpstr>0/1 Knapsack Algorithm (cont.)</vt:lpstr>
      <vt:lpstr>0/1 Knapsack Algorithm (cont.)</vt:lpstr>
      <vt:lpstr>0/1 Knapsack Algorithm (cont.)</vt:lpstr>
      <vt:lpstr>0/1 Knapsack Algorithm (cont.)</vt:lpstr>
      <vt:lpstr>0/1 Knapsack Algorithm (cont.)</vt:lpstr>
      <vt:lpstr>0/1 Knapsack Algorithm (cont.)</vt:lpstr>
      <vt:lpstr>0/1 Knapsack Algorithm (cont.)</vt:lpstr>
      <vt:lpstr>0/1 Knapsack Algorithm (cont.)</vt:lpstr>
      <vt:lpstr>0/1 Knapsack Algorithm (cont.)</vt:lpstr>
      <vt:lpstr>0/1 Knapsack Algorithm (cont.)</vt:lpstr>
      <vt:lpstr>0/1 Knapsack Algorithm (cont.)</vt:lpstr>
      <vt:lpstr>0/1 Knapsack Algorithm (cont.)</vt:lpstr>
      <vt:lpstr>0/1 Knapsack Algorithm (cont.)</vt:lpstr>
      <vt:lpstr>0/1 Knapsack Algorithm (cont.)</vt:lpstr>
      <vt:lpstr>0/1 Knapsack Algorithm (cont.)</vt:lpstr>
      <vt:lpstr>0/1 Knapsack Algorithm (cont.)</vt:lpstr>
      <vt:lpstr>0/1 Knapsack Algorithm (cont.)</vt:lpstr>
      <vt:lpstr>0/1 Knapsack Algorithm (cont.)</vt:lpstr>
      <vt:lpstr>0/1 Knapsack Algorithm (cont.)</vt:lpstr>
      <vt:lpstr>0/1 Knapsack Algorithm (cont.)</vt:lpstr>
      <vt:lpstr>0/1 Knapsack Algorithm (cont.)</vt:lpstr>
      <vt:lpstr>0/1 Knapsack Algorithm (cont.)</vt:lpstr>
      <vt:lpstr>0/1 Knapsack Algorithm (cont.)</vt:lpstr>
      <vt:lpstr>0/1 Knapsack Algorithm (cont.)</vt:lpstr>
      <vt:lpstr>0/1 Knapsack Algorithm (cont.)</vt:lpstr>
      <vt:lpstr>0/1 Knapsack Max Value</vt:lpstr>
      <vt:lpstr>0/1 Knapsack Selected Items</vt:lpstr>
      <vt:lpstr>0/1 Knapsack Selected Items (cont.)</vt:lpstr>
      <vt:lpstr>0/1 Knapsack Selected Items (cont.)</vt:lpstr>
      <vt:lpstr>0/1 Knapsack Performance</vt:lpstr>
    </vt:vector>
  </TitlesOfParts>
  <Company>CMU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Object-Oriented Programming 46-691</dc:title>
  <dc:creator>The Heinz School</dc:creator>
  <cp:lastModifiedBy>John</cp:lastModifiedBy>
  <cp:revision>817</cp:revision>
  <cp:lastPrinted>2021-08-03T01:08:18Z</cp:lastPrinted>
  <dcterms:created xsi:type="dcterms:W3CDTF">2003-08-31T19:53:38Z</dcterms:created>
  <dcterms:modified xsi:type="dcterms:W3CDTF">2021-08-03T01:11:56Z</dcterms:modified>
</cp:coreProperties>
</file>
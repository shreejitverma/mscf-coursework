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33"/>
  </p:notesMasterIdLst>
  <p:sldIdLst>
    <p:sldId id="257" r:id="rId2"/>
    <p:sldId id="660" r:id="rId3"/>
    <p:sldId id="712" r:id="rId4"/>
    <p:sldId id="713" r:id="rId5"/>
    <p:sldId id="714" r:id="rId6"/>
    <p:sldId id="715" r:id="rId7"/>
    <p:sldId id="717" r:id="rId8"/>
    <p:sldId id="730" r:id="rId9"/>
    <p:sldId id="726" r:id="rId10"/>
    <p:sldId id="727" r:id="rId11"/>
    <p:sldId id="728" r:id="rId12"/>
    <p:sldId id="733" r:id="rId13"/>
    <p:sldId id="734" r:id="rId14"/>
    <p:sldId id="735" r:id="rId15"/>
    <p:sldId id="737" r:id="rId16"/>
    <p:sldId id="736" r:id="rId17"/>
    <p:sldId id="729" r:id="rId18"/>
    <p:sldId id="739" r:id="rId19"/>
    <p:sldId id="719" r:id="rId20"/>
    <p:sldId id="617" r:id="rId21"/>
    <p:sldId id="720" r:id="rId22"/>
    <p:sldId id="721" r:id="rId23"/>
    <p:sldId id="723" r:id="rId24"/>
    <p:sldId id="724" r:id="rId25"/>
    <p:sldId id="742" r:id="rId26"/>
    <p:sldId id="743" r:id="rId27"/>
    <p:sldId id="744" r:id="rId28"/>
    <p:sldId id="745" r:id="rId29"/>
    <p:sldId id="746" r:id="rId30"/>
    <p:sldId id="747" r:id="rId31"/>
    <p:sldId id="748" r:id="rId32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61" autoAdjust="0"/>
    <p:restoredTop sz="95638" autoAdjust="0"/>
  </p:normalViewPr>
  <p:slideViewPr>
    <p:cSldViewPr>
      <p:cViewPr varScale="1">
        <p:scale>
          <a:sx n="104" d="100"/>
          <a:sy n="104" d="100"/>
        </p:scale>
        <p:origin x="126" y="14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49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8" d="100"/>
          <a:sy n="118" d="100"/>
        </p:scale>
        <p:origin x="406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29" tIns="46215" rIns="92429" bIns="4621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102" y="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29" tIns="46215" rIns="92429" bIns="4621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182" y="4415790"/>
            <a:ext cx="550545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29" tIns="46215" rIns="92429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29967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29" tIns="46215" rIns="92429" bIns="46215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102" y="8829967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29" tIns="46215" rIns="92429" bIns="4621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C3966094-34ED-42CC-B0A0-81B4FC9F4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004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C77F19E-6305-42C9-846D-8F6E264C89DD}" type="slidenum">
              <a:rPr lang="en-US" altLang="en-US" smtClean="0">
                <a:latin typeface="Times New Roman" pitchFamily="18" charset="0"/>
              </a:rPr>
              <a:pPr/>
              <a:t>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445569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484374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4259281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881558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2991706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854242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804621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8680896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4835592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8645833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9048531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9334018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62451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7518688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5657127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4258974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4931327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164" indent="-276219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870" indent="-22097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817" indent="-22097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765" indent="-22097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714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662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608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557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4796990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40408905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8954426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9258791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5323035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164" indent="-276219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870" indent="-22097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817" indent="-22097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765" indent="-22097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714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662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608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557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1368298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164" indent="-276219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870" indent="-22097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817" indent="-22097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765" indent="-22097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714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662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608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557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089321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164" indent="-276219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870" indent="-22097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817" indent="-22097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765" indent="-22097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714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662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608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557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452416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164" indent="-276219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870" indent="-22097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817" indent="-22097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765" indent="-22097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714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662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608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557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4394772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164" indent="-276219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870" indent="-22097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817" indent="-22097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765" indent="-22097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714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662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608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557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9081155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164" indent="-276219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870" indent="-22097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817" indent="-22097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765" indent="-22097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714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662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608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557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525771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164" indent="-276219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870" indent="-22097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817" indent="-22097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765" indent="-22097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714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662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608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557" indent="-2209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639675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38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8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49DE44A8-745B-4017-A1A8-9BBD03862897}" type="datetime1">
              <a:rPr lang="en-US" smtClean="0"/>
              <a:t>8/2/2021</a:t>
            </a:fld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239B93A-74DE-4B25-B352-2D94A7B0EC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438522-77BB-4C95-BA36-1955E588214D}" type="datetime1">
              <a:rPr lang="en-US" smtClean="0"/>
              <a:t>8/2/2021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9676BE-5AF2-4172-BD19-31A2F83EF2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31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96C15A-2214-4678-8D3D-44677C4666FF}" type="datetime1">
              <a:rPr lang="en-US" smtClean="0"/>
              <a:t>8/2/2021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41145-DF2F-4F5F-87FB-6F34B812BF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70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127C73-2667-455D-9C4E-23EFC5A62203}" type="datetime1">
              <a:rPr lang="en-US" smtClean="0"/>
              <a:t>8/2/2021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359A0-D876-470E-A03B-B54B4EF9A5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32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7B4B7F-D1FC-48EF-A8E4-73568A6D988C}" type="datetime1">
              <a:rPr lang="en-US" smtClean="0"/>
              <a:t>8/2/2021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5BDD2-431D-4473-B6F1-AD9C47ED04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9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35162D-383A-4DB1-B5AE-E433A3B3002F}" type="datetime1">
              <a:rPr lang="en-US" smtClean="0"/>
              <a:t>8/2/2021</a:t>
            </a:fld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0419-96C4-40C9-AA2D-27D42EB4E3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1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8DEA25-3B55-49F1-B4FB-D89112D45F48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62B98-9A01-4C44-BDC6-515C05E58F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4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338559-FF5D-4F06-9008-454532D7AC4D}" type="datetime1">
              <a:rPr lang="en-US" smtClean="0"/>
              <a:t>8/2/2021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D8208-D527-49A2-9034-D654B1EF28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7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3BCA16-4ED3-4C00-9CE9-B003D99B99F9}" type="datetime1">
              <a:rPr lang="en-US" smtClean="0"/>
              <a:t>8/2/2021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69637-7F5D-47B5-84F3-031C50CD82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0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F401D-8B8F-4DAA-9846-253D51B3FEBF}" type="datetime1">
              <a:rPr lang="en-US" smtClean="0"/>
              <a:t>8/2/2021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9F3A7A-80FC-4CCB-802A-CD06628E14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6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E0A87B-74F2-47AA-9623-70A894A1C9BF}" type="datetime1">
              <a:rPr lang="en-US" smtClean="0"/>
              <a:t>8/2/2021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F157A-85D2-470A-87E4-A935A04F8C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54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72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0AC87431-189F-4138-ADB7-30A1AF72464A}" type="datetime1">
              <a:rPr lang="en-US" smtClean="0"/>
              <a:t>8/2/2021</a:t>
            </a:fld>
            <a:endParaRPr lang="en-US"/>
          </a:p>
        </p:txBody>
      </p:sp>
      <p:sp>
        <p:nvSpPr>
          <p:cNvPr id="1372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1372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6BFBACB-D4B5-4FCB-958C-A311D48A19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MSCF Programming Prep</a:t>
            </a:r>
            <a:br>
              <a:rPr lang="en-US" altLang="en-US" dirty="0"/>
            </a:br>
            <a:r>
              <a:rPr lang="en-US" altLang="en-US" dirty="0"/>
              <a:t>46-900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209800"/>
          </a:xfrm>
        </p:spPr>
        <p:txBody>
          <a:bodyPr/>
          <a:lstStyle/>
          <a:p>
            <a:pPr eaLnBrk="1" hangingPunct="1"/>
            <a:r>
              <a:rPr lang="en-US" altLang="en-US" dirty="0"/>
              <a:t>MSCF, Carnegie Mellon University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Day 2 Part 2: Intro to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Dynamic Programming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F6AF57-2084-4390-9F14-515C8C33FFB3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39B93A-74DE-4B25-B352-2D94A7B0ECE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Dynamic Programming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b="1" dirty="0"/>
              <a:t>"Dynamic"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Wow, this must be cool!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400" b="1" dirty="0"/>
              <a:t>"Programming"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Hey, we can do that!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A methodology for solving a complex problem by breaking it into simpler subproblems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But </a:t>
            </a:r>
            <a:r>
              <a:rPr lang="en-US" altLang="en-US" sz="2000" i="1" dirty="0"/>
              <a:t>avoid</a:t>
            </a:r>
            <a:r>
              <a:rPr lang="en-US" altLang="en-US" sz="2000" dirty="0"/>
              <a:t> re-solving any already solved subproblem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Make a memo of--</a:t>
            </a:r>
            <a:r>
              <a:rPr lang="en-US" altLang="en-US" sz="2000" i="1" dirty="0" err="1"/>
              <a:t>memoize</a:t>
            </a:r>
            <a:r>
              <a:rPr lang="en-US" altLang="en-US" sz="2000" dirty="0"/>
              <a:t>--any already solved subproblem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Originated by Richard Bellman at Rand Corp. in the 1950s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Name "dynamic programming" was a smoke screen to hide that he was doing mathematical research!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504C61B-6D69-415E-8B13-86C4233E9D7C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21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Motivation: Fibonacci Numbers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We used Fibonacci numbers to illustrate </a:t>
            </a:r>
            <a:r>
              <a:rPr lang="en-US" altLang="en-US" sz="2800" i="1" dirty="0"/>
              <a:t>recursion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F(n):         # n is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&gt;= 0</a:t>
            </a:r>
          </a:p>
          <a:p>
            <a:pPr marL="400050" lvl="1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n == 0 or n == 1:</a:t>
            </a:r>
          </a:p>
          <a:p>
            <a:pPr marL="400050" lvl="1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 = n</a:t>
            </a:r>
          </a:p>
          <a:p>
            <a:pPr marL="400050" lvl="1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else:</a:t>
            </a:r>
          </a:p>
          <a:p>
            <a:pPr marL="400050" lvl="1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 = F(n - 1) + F(n - 2)</a:t>
            </a:r>
          </a:p>
          <a:p>
            <a:pPr marL="400050" lvl="1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ret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Works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Especially in Python where </a:t>
            </a:r>
            <a:r>
              <a:rPr lang="en-US" altLang="en-US" sz="2000" b="1" dirty="0" err="1"/>
              <a:t>int</a:t>
            </a:r>
            <a:r>
              <a:rPr lang="en-US" altLang="en-US" sz="2000" dirty="0"/>
              <a:t> has arbitrary precision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But slower than necessary, due to multiple re-computations of the same values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55B56D-B8B8-4C18-A6F4-B88176F1826B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925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Motivation: Fibonacci Numbers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Stack frame hierarchy for </a:t>
            </a:r>
            <a:r>
              <a:rPr lang="en-US" altLang="en-US" sz="2800" b="1" dirty="0"/>
              <a:t>F(5)</a:t>
            </a:r>
            <a:endParaRPr lang="en-US" altLang="en-US" sz="2800" b="1" i="1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F(5)</a:t>
            </a:r>
          </a:p>
          <a:p>
            <a:pPr marL="400050" lvl="1" indent="0" eaLnBrk="1" hangingPunct="1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F(4)                      F(3)</a:t>
            </a:r>
          </a:p>
          <a:p>
            <a:pPr marL="400050" lvl="1" indent="0" eaLnBrk="1" hangingPunct="1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F(3)      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F(2)</a:t>
            </a: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F(2)</a:t>
            </a: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F(1)</a:t>
            </a:r>
          </a:p>
          <a:p>
            <a:pPr marL="400050" lvl="1" indent="0" eaLnBrk="1" hangingPunct="1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F(2)</a:t>
            </a: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F(1)   F(1) F(0)        F(1) F(0)</a:t>
            </a:r>
          </a:p>
          <a:p>
            <a:pPr marL="400050" lvl="1" indent="0" eaLnBrk="1" hangingPunct="1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F(1) F(0)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We compute </a:t>
            </a:r>
            <a:r>
              <a:rPr lang="en-US" altLang="en-US" sz="2400" b="1" dirty="0">
                <a:solidFill>
                  <a:srgbClr val="FF0000"/>
                </a:solidFill>
              </a:rPr>
              <a:t>F(2)</a:t>
            </a:r>
            <a:r>
              <a:rPr lang="en-US" altLang="en-US" sz="2400" dirty="0"/>
              <a:t> three times!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To compute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F(N)</a:t>
            </a:r>
            <a:r>
              <a:rPr lang="en-US" altLang="en-US" sz="2000" dirty="0"/>
              <a:t>, we compute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F(</a:t>
            </a:r>
            <a:r>
              <a:rPr lang="en-US" altLang="en-US" sz="20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F(N-</a:t>
            </a:r>
            <a:r>
              <a:rPr lang="en-US" altLang="en-US" sz="20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000" dirty="0"/>
              <a:t> times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81C001C-10FA-4662-8D65-55CD00F3914F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8E7A74-DB1F-4DD7-A327-7DC19C9FCE53}"/>
              </a:ext>
            </a:extLst>
          </p:cNvPr>
          <p:cNvCxnSpPr/>
          <p:nvPr/>
        </p:nvCxnSpPr>
        <p:spPr bwMode="auto">
          <a:xfrm flipH="1">
            <a:off x="3810000" y="2895600"/>
            <a:ext cx="609600" cy="22860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AEC87B-4F67-4F56-99F1-90B237400953}"/>
              </a:ext>
            </a:extLst>
          </p:cNvPr>
          <p:cNvCxnSpPr/>
          <p:nvPr/>
        </p:nvCxnSpPr>
        <p:spPr bwMode="auto">
          <a:xfrm flipH="1">
            <a:off x="2971800" y="3404964"/>
            <a:ext cx="609600" cy="22860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AF0C9C-ABC7-42D9-9179-7931375D39ED}"/>
              </a:ext>
            </a:extLst>
          </p:cNvPr>
          <p:cNvCxnSpPr/>
          <p:nvPr/>
        </p:nvCxnSpPr>
        <p:spPr bwMode="auto">
          <a:xfrm flipH="1">
            <a:off x="6629400" y="3387065"/>
            <a:ext cx="609600" cy="22860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990577C-F5CA-4681-89F7-FA2BA969AC5D}"/>
              </a:ext>
            </a:extLst>
          </p:cNvPr>
          <p:cNvCxnSpPr>
            <a:cxnSpLocks/>
          </p:cNvCxnSpPr>
          <p:nvPr/>
        </p:nvCxnSpPr>
        <p:spPr bwMode="auto">
          <a:xfrm flipH="1">
            <a:off x="2362200" y="3960813"/>
            <a:ext cx="304800" cy="230187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973908F-032E-449A-B2FC-7A82103CEEB7}"/>
              </a:ext>
            </a:extLst>
          </p:cNvPr>
          <p:cNvCxnSpPr>
            <a:cxnSpLocks/>
          </p:cNvCxnSpPr>
          <p:nvPr/>
        </p:nvCxnSpPr>
        <p:spPr bwMode="auto">
          <a:xfrm flipH="1">
            <a:off x="3962400" y="3960813"/>
            <a:ext cx="304800" cy="230187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160ECD4-5390-49D2-8F7D-F72631DE7A3D}"/>
              </a:ext>
            </a:extLst>
          </p:cNvPr>
          <p:cNvCxnSpPr>
            <a:cxnSpLocks/>
          </p:cNvCxnSpPr>
          <p:nvPr/>
        </p:nvCxnSpPr>
        <p:spPr bwMode="auto">
          <a:xfrm flipH="1">
            <a:off x="1981200" y="4495800"/>
            <a:ext cx="304800" cy="230187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BD3DED-64B6-47B9-8C65-2AECBF43D131}"/>
              </a:ext>
            </a:extLst>
          </p:cNvPr>
          <p:cNvCxnSpPr>
            <a:cxnSpLocks/>
          </p:cNvCxnSpPr>
          <p:nvPr/>
        </p:nvCxnSpPr>
        <p:spPr bwMode="auto">
          <a:xfrm flipH="1">
            <a:off x="6306344" y="3960813"/>
            <a:ext cx="304800" cy="230187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4DFC0FA-2419-4782-A136-135A52207997}"/>
              </a:ext>
            </a:extLst>
          </p:cNvPr>
          <p:cNvCxnSpPr>
            <a:cxnSpLocks/>
          </p:cNvCxnSpPr>
          <p:nvPr/>
        </p:nvCxnSpPr>
        <p:spPr bwMode="auto">
          <a:xfrm>
            <a:off x="2514600" y="4495799"/>
            <a:ext cx="76200" cy="28337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CBC34CB-B2CA-4E77-9574-2D0834925C3D}"/>
              </a:ext>
            </a:extLst>
          </p:cNvPr>
          <p:cNvCxnSpPr>
            <a:cxnSpLocks/>
          </p:cNvCxnSpPr>
          <p:nvPr/>
        </p:nvCxnSpPr>
        <p:spPr bwMode="auto">
          <a:xfrm>
            <a:off x="2906262" y="3960813"/>
            <a:ext cx="76200" cy="28337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36BCD5E-FFB5-4EAE-ADA3-536C0EA5B017}"/>
              </a:ext>
            </a:extLst>
          </p:cNvPr>
          <p:cNvCxnSpPr>
            <a:cxnSpLocks/>
          </p:cNvCxnSpPr>
          <p:nvPr/>
        </p:nvCxnSpPr>
        <p:spPr bwMode="auto">
          <a:xfrm>
            <a:off x="4533900" y="3956745"/>
            <a:ext cx="76200" cy="28337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D8C56B0-49CA-40D8-8D60-5A6B3004F9CF}"/>
              </a:ext>
            </a:extLst>
          </p:cNvPr>
          <p:cNvCxnSpPr>
            <a:cxnSpLocks/>
          </p:cNvCxnSpPr>
          <p:nvPr/>
        </p:nvCxnSpPr>
        <p:spPr bwMode="auto">
          <a:xfrm>
            <a:off x="3886200" y="3401867"/>
            <a:ext cx="457200" cy="246605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7D4BE34-1353-44E5-9A4D-35CC0E8982C2}"/>
              </a:ext>
            </a:extLst>
          </p:cNvPr>
          <p:cNvCxnSpPr>
            <a:cxnSpLocks/>
          </p:cNvCxnSpPr>
          <p:nvPr/>
        </p:nvCxnSpPr>
        <p:spPr bwMode="auto">
          <a:xfrm>
            <a:off x="6853653" y="3932221"/>
            <a:ext cx="76200" cy="28337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2CAA1A4-6800-413D-A51E-8D3651D57CBA}"/>
              </a:ext>
            </a:extLst>
          </p:cNvPr>
          <p:cNvCxnSpPr>
            <a:cxnSpLocks/>
          </p:cNvCxnSpPr>
          <p:nvPr/>
        </p:nvCxnSpPr>
        <p:spPr bwMode="auto">
          <a:xfrm>
            <a:off x="7411244" y="3387065"/>
            <a:ext cx="457200" cy="246605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47D4BDE-1629-451D-AB5F-F363694AB568}"/>
              </a:ext>
            </a:extLst>
          </p:cNvPr>
          <p:cNvCxnSpPr>
            <a:cxnSpLocks/>
          </p:cNvCxnSpPr>
          <p:nvPr/>
        </p:nvCxnSpPr>
        <p:spPr bwMode="auto">
          <a:xfrm>
            <a:off x="4840288" y="2895600"/>
            <a:ext cx="2398712" cy="22860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2610677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Motivation: Fibonacci Numbers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To compute </a:t>
            </a:r>
            <a:r>
              <a:rPr lang="en-US" altLang="en-US" sz="2800" b="1" dirty="0"/>
              <a:t>F(N)</a:t>
            </a:r>
            <a:r>
              <a:rPr lang="en-US" altLang="en-US" sz="2800" dirty="0"/>
              <a:t>, we need to know </a:t>
            </a:r>
            <a:r>
              <a:rPr lang="en-US" altLang="en-US" sz="2800" b="1" dirty="0"/>
              <a:t>F(N-1), F(N-2), …, F(2), F(1), F(0)</a:t>
            </a:r>
            <a:endParaRPr lang="en-US" altLang="en-US" sz="2800" b="1" i="1" dirty="0"/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Much better to compute each one </a:t>
            </a:r>
            <a:r>
              <a:rPr lang="en-US" altLang="en-US" sz="2400" i="1" dirty="0"/>
              <a:t>once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Solution becomes linear time, rather than exponential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B9BF20-CE8F-4E44-BB6F-8C94D7903566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17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Memoizing</a:t>
            </a:r>
            <a:r>
              <a:rPr lang="en-US" altLang="en-US" dirty="0"/>
              <a:t> Fibonacci Numbers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To </a:t>
            </a:r>
            <a:r>
              <a:rPr lang="en-US" altLang="en-US" i="1" dirty="0" err="1"/>
              <a:t>memoize</a:t>
            </a:r>
            <a:r>
              <a:rPr lang="en-US" altLang="en-US" sz="2800" dirty="0"/>
              <a:t> Fibonacci numbers, in Python you can use a </a:t>
            </a:r>
            <a:r>
              <a:rPr lang="en-US" altLang="en-US" sz="2800" b="1" dirty="0" err="1"/>
              <a:t>dict</a:t>
            </a:r>
            <a:endParaRPr lang="en-US" altLang="en-US" sz="2800" b="1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 = {}  #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of already computed values</a:t>
            </a:r>
          </a:p>
          <a:p>
            <a:pPr marL="400050" lvl="1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F(n):         # n is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&gt;= 0</a:t>
            </a:r>
          </a:p>
          <a:p>
            <a:pPr marL="400050" lvl="1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n in M:</a:t>
            </a:r>
          </a:p>
          <a:p>
            <a:pPr marL="400050" lvl="1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M[n]</a:t>
            </a:r>
          </a:p>
          <a:p>
            <a:pPr marL="400050" lvl="1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n == 0 or n == 1:</a:t>
            </a:r>
          </a:p>
          <a:p>
            <a:pPr marL="400050" lvl="1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 = n</a:t>
            </a:r>
          </a:p>
          <a:p>
            <a:pPr marL="400050" lvl="1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else:</a:t>
            </a:r>
          </a:p>
          <a:p>
            <a:pPr marL="400050" lvl="1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 = F(n - 1) + F(n - 2)</a:t>
            </a:r>
          </a:p>
          <a:p>
            <a:pPr marL="400050" lvl="1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M[n] = ret</a:t>
            </a:r>
          </a:p>
          <a:p>
            <a:pPr marL="400050" lvl="1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ret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AF4385-BBDB-4A85-B7B1-4ED8B1C06B57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132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Dynamic Programming In A Nutshell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Come up with a solution to your problem involving </a:t>
            </a:r>
            <a:r>
              <a:rPr lang="en-US" altLang="en-US" sz="2800" i="1" dirty="0">
                <a:solidFill>
                  <a:srgbClr val="FF0000"/>
                </a:solidFill>
              </a:rPr>
              <a:t>recursion</a:t>
            </a:r>
            <a:r>
              <a:rPr lang="en-US" altLang="en-US" sz="2800" dirty="0"/>
              <a:t> on simpler subproblems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Not clear which subproblem to solve first?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Methodically solve </a:t>
            </a:r>
            <a:r>
              <a:rPr lang="en-US" altLang="en-US" sz="2400" i="1" dirty="0">
                <a:solidFill>
                  <a:srgbClr val="FF0000"/>
                </a:solidFill>
              </a:rPr>
              <a:t>every subproblem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>
                <a:solidFill>
                  <a:schemeClr val="bg2"/>
                </a:solidFill>
              </a:rPr>
              <a:t>Pick the optimal solution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Add </a:t>
            </a:r>
            <a:r>
              <a:rPr lang="en-US" altLang="en-US" sz="2800" i="1" dirty="0" err="1">
                <a:solidFill>
                  <a:srgbClr val="FF0000"/>
                </a:solidFill>
              </a:rPr>
              <a:t>memoization</a:t>
            </a:r>
            <a:r>
              <a:rPr lang="en-US" altLang="en-US" sz="2800" dirty="0"/>
              <a:t> so that "recursion" becomes a lookup in a table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Converts an O(</a:t>
            </a:r>
            <a:r>
              <a:rPr lang="en-US" altLang="en-US" sz="2400" i="1" dirty="0"/>
              <a:t>exponential</a:t>
            </a:r>
            <a:r>
              <a:rPr lang="en-US" altLang="en-US" sz="2400" dirty="0"/>
              <a:t>) algorithm to an O(</a:t>
            </a:r>
            <a:r>
              <a:rPr lang="en-US" altLang="en-US" sz="2400" i="1" dirty="0"/>
              <a:t>polynomial</a:t>
            </a:r>
            <a:r>
              <a:rPr lang="en-US" altLang="en-US" sz="2400" dirty="0"/>
              <a:t>) algorithm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In the case of Fibonacci numbers, O(N)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Often O(N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) or O(N</a:t>
            </a:r>
            <a:r>
              <a:rPr lang="en-US" altLang="en-US" sz="2000" baseline="30000" dirty="0"/>
              <a:t>3</a:t>
            </a:r>
            <a:r>
              <a:rPr lang="en-US" altLang="en-US" sz="2000" dirty="0"/>
              <a:t>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E7D531-FD5D-4208-ADF4-2F191F5E7C76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23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Dynamic Programming In A Nutshell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For Fibonacci numbers, our task was to compute the Nth one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No decisions to make along the way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A Dynamic Programming problem typically involves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i="1" dirty="0">
                <a:solidFill>
                  <a:srgbClr val="FF0000"/>
                </a:solidFill>
              </a:rPr>
              <a:t>Maximizing</a:t>
            </a:r>
            <a:r>
              <a:rPr lang="en-US" altLang="en-US" sz="2400" dirty="0"/>
              <a:t> or </a:t>
            </a:r>
            <a:r>
              <a:rPr lang="en-US" altLang="en-US" sz="2400" i="1" dirty="0">
                <a:solidFill>
                  <a:srgbClr val="FF0000"/>
                </a:solidFill>
              </a:rPr>
              <a:t>minimizing</a:t>
            </a:r>
            <a:r>
              <a:rPr lang="en-US" altLang="en-US" sz="2400" dirty="0"/>
              <a:t> something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Revenue; cost; distance; fuel required, …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i="1" dirty="0">
                <a:solidFill>
                  <a:srgbClr val="FF0000"/>
                </a:solidFill>
              </a:rPr>
              <a:t>Making decisions</a:t>
            </a:r>
            <a:r>
              <a:rPr lang="en-US" altLang="en-US" sz="2400" dirty="0"/>
              <a:t> along the way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Turn left or right; buy, sell, hold, …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Must try </a:t>
            </a:r>
            <a:r>
              <a:rPr lang="en-US" altLang="en-US" sz="2000" i="1" dirty="0"/>
              <a:t>every</a:t>
            </a:r>
            <a:r>
              <a:rPr lang="en-US" altLang="en-US" sz="2000" dirty="0"/>
              <a:t> possible decision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E2D8C2-1E47-4C80-9EAC-AED82FD5189E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097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Dynamic Programming: The Hard Part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For a given problem, there may be many ways to define a recursive solution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</a:rPr>
              <a:t>Need to select a solution that lends itself well to </a:t>
            </a:r>
            <a:r>
              <a:rPr lang="en-US" altLang="en-US" sz="2400" dirty="0" err="1">
                <a:solidFill>
                  <a:srgbClr val="FF0000"/>
                </a:solidFill>
              </a:rPr>
              <a:t>memoization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Not always clear how to do this</a:t>
            </a:r>
            <a:endParaRPr lang="en-US" altLang="en-US" sz="24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BF44D2-8B99-450D-B9A0-564383AD7E17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262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Rod Cutting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Suppose you have steel reinforcing bars of length </a:t>
            </a:r>
            <a:r>
              <a:rPr lang="en-US" altLang="en-US" sz="2800" b="1" dirty="0"/>
              <a:t>N</a:t>
            </a:r>
            <a:r>
              <a:rPr lang="en-US" altLang="en-US" sz="2800" dirty="0"/>
              <a:t> feet</a:t>
            </a:r>
            <a:endParaRPr lang="en-US" altLang="en-US" sz="2400" i="1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Your customers are willing to buy rebar of various lengths from you for different amounts of money</a:t>
            </a:r>
          </a:p>
          <a:p>
            <a:pPr lvl="2" eaLnBrk="1" hangingPunct="1">
              <a:spcBef>
                <a:spcPts val="0"/>
              </a:spcBef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Feet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Price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How should you cut your rebar to maximize revenue?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6974423-523F-433D-AB12-B7E48006B98A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1F59B3-59EB-4E46-A77E-6920E188D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493358"/>
              </p:ext>
            </p:extLst>
          </p:nvPr>
        </p:nvGraphicFramePr>
        <p:xfrm>
          <a:off x="2307772" y="3830320"/>
          <a:ext cx="3483428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448185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1181849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4869143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478536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4002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855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4177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Rod Cutting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Suppose </a:t>
            </a:r>
            <a:r>
              <a:rPr lang="en-US" altLang="en-US" sz="2800" b="1" dirty="0"/>
              <a:t>N</a:t>
            </a:r>
            <a:r>
              <a:rPr lang="en-US" altLang="en-US" sz="2800" dirty="0"/>
              <a:t> = 10</a:t>
            </a:r>
            <a:endParaRPr lang="en-US" altLang="en-US" sz="2400" i="1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Possible cuttings and revenues include</a:t>
            </a:r>
          </a:p>
          <a:p>
            <a:pPr marL="914400" lvl="2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10 x 1 ft:		$(10 * 1) = $10</a:t>
            </a:r>
          </a:p>
          <a:p>
            <a:pPr marL="914400" lvl="2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5 x 2 ft:			$(5 * 5) = $25</a:t>
            </a:r>
          </a:p>
          <a:p>
            <a:pPr marL="914400" lvl="2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3 x 3 ft + 1 x 1 ft:	$(3 * 8) + $(1 * 1) = $25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We need to try </a:t>
            </a:r>
            <a:r>
              <a:rPr lang="en-US" altLang="en-US" sz="2800" i="1" dirty="0"/>
              <a:t>every</a:t>
            </a:r>
            <a:r>
              <a:rPr lang="en-US" altLang="en-US" sz="2800" dirty="0"/>
              <a:t> possible pattern of rod cuts to find maximum revenue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983AA2-E8F4-4C0D-9320-EF87AD08D3EC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457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Rod Cutting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If </a:t>
            </a:r>
            <a:r>
              <a:rPr lang="en-US" altLang="en-US" sz="2800" b="1" dirty="0"/>
              <a:t>N</a:t>
            </a:r>
            <a:r>
              <a:rPr lang="en-US" altLang="en-US" sz="2800" dirty="0"/>
              <a:t> = 10, there are 9 cuts we might or might not make, so 2</a:t>
            </a:r>
            <a:r>
              <a:rPr lang="en-US" altLang="en-US" sz="2800" baseline="30000" dirty="0"/>
              <a:t>9</a:t>
            </a:r>
            <a:r>
              <a:rPr lang="en-US" altLang="en-US" sz="2800" dirty="0"/>
              <a:t> = 512 possible cut patterns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Many, many duplicate values!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	1 + 2 + 2 + 5 == 1 + 2 + 5 + 2, …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Can benefit hugely from clever recursion and </a:t>
            </a:r>
            <a:r>
              <a:rPr lang="en-US" altLang="en-US" sz="2400" dirty="0" err="1"/>
              <a:t>memoization</a:t>
            </a: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4FB4650-D11C-4D17-9DBE-5D4D3F5B8D9F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387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Rod Cutting Recursion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Rather than deciding where to make </a:t>
            </a:r>
            <a:r>
              <a:rPr lang="en-US" altLang="en-US" sz="2800" i="1" dirty="0"/>
              <a:t>all</a:t>
            </a:r>
            <a:r>
              <a:rPr lang="en-US" altLang="en-US" sz="2800" dirty="0"/>
              <a:t> cuts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Iterate over possible places to make the </a:t>
            </a:r>
            <a:r>
              <a:rPr lang="en-US" altLang="en-US" sz="2400" i="1" dirty="0"/>
              <a:t>first</a:t>
            </a:r>
            <a:r>
              <a:rPr lang="en-US" altLang="en-US" sz="2400" dirty="0"/>
              <a:t> cut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i="1" dirty="0" err="1"/>
              <a:t>Recurse</a:t>
            </a:r>
            <a:r>
              <a:rPr lang="en-US" altLang="en-US" sz="2400" dirty="0"/>
              <a:t> on the remainder of the rod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Let </a:t>
            </a:r>
            <a:r>
              <a:rPr lang="en-US" altLang="en-US" sz="2800" b="1" dirty="0"/>
              <a:t>Rev(N)</a:t>
            </a:r>
            <a:r>
              <a:rPr lang="en-US" altLang="en-US" sz="2800" dirty="0"/>
              <a:t> be the max revenue from a rod of length N, </a:t>
            </a:r>
            <a:r>
              <a:rPr lang="en-US" altLang="en-US" sz="2800" i="1" dirty="0"/>
              <a:t>k</a:t>
            </a:r>
            <a:r>
              <a:rPr lang="en-US" altLang="en-US" sz="2800" dirty="0"/>
              <a:t> be the position of the first cut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We will sell the left-hand part as-is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 err="1"/>
              <a:t>Recurse</a:t>
            </a:r>
            <a:r>
              <a:rPr lang="en-US" altLang="en-US" sz="2400" dirty="0"/>
              <a:t> on the right-hand part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10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b="1" dirty="0"/>
              <a:t>Rev(0)</a:t>
            </a:r>
            <a:r>
              <a:rPr lang="en-US" altLang="en-US" sz="2400" dirty="0"/>
              <a:t> = $0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b="1" dirty="0"/>
              <a:t>Rev(N) </a:t>
            </a:r>
            <a:r>
              <a:rPr lang="en-US" altLang="en-US" sz="2400" dirty="0"/>
              <a:t>=</a:t>
            </a:r>
            <a:r>
              <a:rPr lang="en-US" altLang="en-US" sz="2400" b="1" dirty="0"/>
              <a:t> </a:t>
            </a:r>
            <a:r>
              <a:rPr lang="en-US" altLang="en-US" sz="2400" dirty="0"/>
              <a:t>Max { for </a:t>
            </a:r>
            <a:r>
              <a:rPr lang="en-US" altLang="en-US" sz="2400" i="1" dirty="0"/>
              <a:t>k</a:t>
            </a:r>
            <a:r>
              <a:rPr lang="en-US" altLang="en-US" sz="2400" dirty="0"/>
              <a:t> from 1 to N: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                            price[</a:t>
            </a:r>
            <a:r>
              <a:rPr lang="en-US" altLang="en-US" sz="2400" i="1" dirty="0"/>
              <a:t>k</a:t>
            </a:r>
            <a:r>
              <a:rPr lang="en-US" altLang="en-US" sz="2400" dirty="0"/>
              <a:t>] + Rev(N-</a:t>
            </a:r>
            <a:r>
              <a:rPr lang="en-US" altLang="en-US" sz="2400" i="1" dirty="0"/>
              <a:t>k</a:t>
            </a:r>
            <a:r>
              <a:rPr lang="en-US" altLang="en-US" sz="2400" dirty="0"/>
              <a:t>) 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D3A3FC-7281-4712-889B-D2F27965D0B5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43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Rod Cutting Recursion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b="1" dirty="0"/>
              <a:t>Rev(0)</a:t>
            </a:r>
            <a:r>
              <a:rPr lang="en-US" altLang="en-US" sz="2400" dirty="0"/>
              <a:t> = $0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b="1" dirty="0"/>
              <a:t>Rev(N) </a:t>
            </a:r>
            <a:r>
              <a:rPr lang="en-US" altLang="en-US" sz="2400" dirty="0"/>
              <a:t>=</a:t>
            </a:r>
            <a:r>
              <a:rPr lang="en-US" altLang="en-US" sz="2400" b="1" dirty="0"/>
              <a:t> </a:t>
            </a:r>
            <a:r>
              <a:rPr lang="en-US" altLang="en-US" sz="2400" dirty="0"/>
              <a:t>Max { for </a:t>
            </a:r>
            <a:r>
              <a:rPr lang="en-US" altLang="en-US" sz="2400" i="1" dirty="0"/>
              <a:t>k</a:t>
            </a:r>
            <a:r>
              <a:rPr lang="en-US" altLang="en-US" sz="2400" dirty="0"/>
              <a:t> from 1 to N: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                            price[</a:t>
            </a:r>
            <a:r>
              <a:rPr lang="en-US" altLang="en-US" sz="2400" i="1" dirty="0"/>
              <a:t>k</a:t>
            </a:r>
            <a:r>
              <a:rPr lang="en-US" altLang="en-US" sz="2400" dirty="0"/>
              <a:t>] + Rev(N-</a:t>
            </a:r>
            <a:r>
              <a:rPr lang="en-US" altLang="en-US" sz="2400" i="1" dirty="0"/>
              <a:t>k</a:t>
            </a:r>
            <a:r>
              <a:rPr lang="en-US" altLang="en-US" sz="2400" dirty="0"/>
              <a:t>) }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i="1" dirty="0">
                <a:solidFill>
                  <a:srgbClr val="FF0000"/>
                </a:solidFill>
              </a:rPr>
              <a:t>Note</a:t>
            </a:r>
            <a:r>
              <a:rPr lang="en-US" altLang="en-US" sz="2400" i="1" dirty="0"/>
              <a:t>:   </a:t>
            </a:r>
            <a:r>
              <a:rPr lang="en-US" altLang="en-US" sz="2400" dirty="0"/>
              <a:t>price[</a:t>
            </a:r>
            <a:r>
              <a:rPr lang="en-US" altLang="en-US" sz="2400" i="1" dirty="0"/>
              <a:t>k</a:t>
            </a:r>
            <a:r>
              <a:rPr lang="en-US" altLang="en-US" sz="2400" dirty="0"/>
              <a:t>] = 0 for </a:t>
            </a:r>
            <a:r>
              <a:rPr lang="en-US" altLang="en-US" sz="2400" i="1" dirty="0"/>
              <a:t>k</a:t>
            </a:r>
            <a:r>
              <a:rPr lang="en-US" altLang="en-US" sz="2400" dirty="0"/>
              <a:t> not in {1,2,3,4}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b="1" dirty="0"/>
              <a:t>Rev(1)</a:t>
            </a:r>
            <a:r>
              <a:rPr lang="en-US" altLang="en-US" sz="2400" dirty="0"/>
              <a:t> = Max { price[1] + Rev(0) }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          = Max { $1 + $0 }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          = $1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F20804-488F-4047-B93D-C6508D91A006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37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Rod Cutting Recursion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b="1" dirty="0"/>
              <a:t>Rev(2)</a:t>
            </a:r>
            <a:r>
              <a:rPr lang="en-US" altLang="en-US" sz="2400" dirty="0"/>
              <a:t> = Max { price[1] + Rev(1),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                       price[2] + Rev(0) }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          = Max { $1 + $1,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                       $5 + $0 }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          = $5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05DF074-558A-426B-8EEA-846F91BF850A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23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Rod Cutting Recursion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b="1" dirty="0"/>
              <a:t>Rev(3)</a:t>
            </a:r>
            <a:r>
              <a:rPr lang="en-US" altLang="en-US" sz="2400" dirty="0"/>
              <a:t> = Max { price[1] + Rev(2),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                       price[2] + Rev(1),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                       price[3] + Rev(0) }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             Max { $1 + $5,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                       $5 + $1,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                       $8 + $0}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          = $8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dirty="0"/>
              <a:t>... and so forth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ED6835-FCAC-4EC2-BF9E-EED402A7D9F4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466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Naïve Rod Cutting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price(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&gt;= 1 and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&lt;= 4:</a:t>
            </a: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[0, 1, 5, 8, 9]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US" altLang="en-US" sz="20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</a:t>
            </a: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endParaRPr lang="en-US" altLang="en-US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Rev(N):</a:t>
            </a: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mxrev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  <a:endParaRPr lang="en-US" alt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N &lt;= 1:</a:t>
            </a: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mxrev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price(N)</a:t>
            </a: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else:</a:t>
            </a: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for k in range(1,N+1):  </a:t>
            </a: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[1..N]</a:t>
            </a: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mxrev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max(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mxrev,price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(k)+Rev(N-k))</a:t>
            </a: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mxrev</a:t>
            </a:r>
            <a:endParaRPr lang="en-US" altLang="en-US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endParaRPr lang="en-US" alt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E1B9296-213F-47BC-906F-FEA48587972F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48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Rod Cutting with </a:t>
            </a:r>
            <a:r>
              <a:rPr lang="en-US" altLang="en-US" dirty="0" err="1"/>
              <a:t>Memoization</a:t>
            </a:r>
            <a:endParaRPr lang="en-US" alt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price(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  ...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unchanged</a:t>
            </a: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 = {}     #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of already computed values</a:t>
            </a: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Rev(N):</a:t>
            </a: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N in M:</a:t>
            </a: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M[N]</a:t>
            </a: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mxrev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  <a:endParaRPr lang="en-US" alt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N &lt;= 1:</a:t>
            </a: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mxrev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price(N)</a:t>
            </a: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else:</a:t>
            </a: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for k in range(1,N+1):  </a:t>
            </a: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[1..N]</a:t>
            </a: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mxrev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max(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mxrev,price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(k)+Rev(N-k))</a:t>
            </a: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M[N] =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mxrev</a:t>
            </a:r>
            <a:endParaRPr lang="en-US" altLang="en-US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mxrev</a:t>
            </a:r>
            <a:endParaRPr lang="en-US" altLang="en-US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endParaRPr lang="en-US" alt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B0FD64-3F92-4F44-AC02-7F0F59673318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394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All Pairwise Shortest Paths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We used Breadth-First Search as a way of finding the shortest path from a </a:t>
            </a:r>
            <a:r>
              <a:rPr lang="en-US" altLang="en-US" sz="2800" i="1" dirty="0"/>
              <a:t>source</a:t>
            </a:r>
            <a:r>
              <a:rPr lang="en-US" altLang="en-US" sz="2800" dirty="0"/>
              <a:t> node to a </a:t>
            </a:r>
            <a:r>
              <a:rPr lang="en-US" altLang="en-US" sz="2800" i="1" dirty="0"/>
              <a:t>target</a:t>
            </a:r>
            <a:r>
              <a:rPr lang="en-US" altLang="en-US" sz="2800" dirty="0"/>
              <a:t> node in a </a:t>
            </a:r>
            <a:r>
              <a:rPr lang="en-US" altLang="en-US" sz="2800" i="1" dirty="0"/>
              <a:t>graph</a:t>
            </a:r>
            <a:endParaRPr lang="en-US" altLang="en-US" sz="2400" i="1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We assumed an </a:t>
            </a:r>
            <a:r>
              <a:rPr lang="en-US" altLang="en-US" sz="2400" i="1" dirty="0"/>
              <a:t>undirected</a:t>
            </a:r>
            <a:r>
              <a:rPr lang="en-US" altLang="en-US" sz="2400" dirty="0"/>
              <a:t> graph, with no </a:t>
            </a:r>
            <a:r>
              <a:rPr lang="en-US" altLang="en-US" sz="2400" i="1" dirty="0"/>
              <a:t>weights</a:t>
            </a:r>
            <a:r>
              <a:rPr lang="en-US" altLang="en-US" sz="2400" dirty="0"/>
              <a:t> on the connections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How about finding "shortest" (</a:t>
            </a:r>
            <a:r>
              <a:rPr lang="en-US" altLang="en-US" sz="2800" i="1" dirty="0"/>
              <a:t>least expensive</a:t>
            </a:r>
            <a:r>
              <a:rPr lang="en-US" altLang="en-US" sz="2800" dirty="0"/>
              <a:t>) path for </a:t>
            </a:r>
            <a:r>
              <a:rPr lang="en-US" altLang="en-US" sz="2800" i="1" dirty="0"/>
              <a:t>every</a:t>
            </a:r>
            <a:r>
              <a:rPr lang="en-US" altLang="en-US" sz="2800" dirty="0"/>
              <a:t> (source, target) pair?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E.g., expenses from tolls, gas, wear and tear, …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19F491-8A6C-490A-99B8-E96B0B72C4C5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551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3">
            <a:extLst>
              <a:ext uri="{FF2B5EF4-FFF2-40B4-BE49-F238E27FC236}">
                <a16:creationId xmlns:a16="http://schemas.microsoft.com/office/drawing/2014/main" id="{04D81D55-7689-4CF5-80B1-5279B50F5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088" y="21701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itchFamily="2" charset="2"/>
              <a:buNone/>
            </a:pPr>
            <a:endParaRPr lang="en-US" altLang="en-US" sz="800" kern="0" dirty="0"/>
          </a:p>
          <a:p>
            <a:pPr marL="0" indent="0" eaLnBrk="1" hangingPunct="1">
              <a:buFont typeface="Wingdings" pitchFamily="2" charset="2"/>
              <a:buNone/>
            </a:pPr>
            <a:endParaRPr lang="en-US" altLang="en-US" sz="2800" kern="0" dirty="0"/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en-US" sz="2800" kern="0" dirty="0"/>
              <a:t>                                         To Node</a:t>
            </a:r>
          </a:p>
          <a:p>
            <a:pPr eaLnBrk="1" hangingPunct="1"/>
            <a:endParaRPr lang="en-US" altLang="en-US" sz="2800" kern="0" dirty="0"/>
          </a:p>
          <a:p>
            <a:pPr eaLnBrk="1" hangingPunct="1"/>
            <a:endParaRPr lang="en-US" altLang="en-US" sz="800" kern="0" dirty="0"/>
          </a:p>
          <a:p>
            <a:pPr eaLnBrk="1" hangingPunct="1"/>
            <a:endParaRPr lang="en-US" altLang="en-US" sz="1200" kern="0" dirty="0"/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/>
              <a:t>                                From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Node labels are</a:t>
            </a:r>
            <a:r>
              <a:rPr lang="en-US" altLang="en-US" sz="2400" kern="0" dirty="0"/>
              <a:t>          Node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arbitrary: we label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them 1, 2, 3, 4 for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convenience</a:t>
            </a:r>
            <a:r>
              <a:rPr lang="en-US" altLang="en-US" sz="2400" kern="0" dirty="0"/>
              <a:t>                      </a:t>
            </a:r>
            <a:r>
              <a:rPr lang="en-US" altLang="en-US" sz="2400" b="1" kern="0" dirty="0">
                <a:solidFill>
                  <a:srgbClr val="FF0000"/>
                </a:solidFill>
              </a:rPr>
              <a:t>A</a:t>
            </a:r>
            <a:r>
              <a:rPr lang="en-US" altLang="en-US" sz="2400" b="1" kern="0" baseline="-25000" dirty="0">
                <a:solidFill>
                  <a:srgbClr val="FF0000"/>
                </a:solidFill>
              </a:rPr>
              <a:t>0</a:t>
            </a:r>
            <a:r>
              <a:rPr lang="en-US" altLang="en-US" sz="2400" b="1" kern="0" dirty="0">
                <a:solidFill>
                  <a:srgbClr val="FF0000"/>
                </a:solidFill>
              </a:rPr>
              <a:t> </a:t>
            </a:r>
            <a:r>
              <a:rPr lang="en-US" altLang="en-US" sz="2400" kern="0" dirty="0">
                <a:solidFill>
                  <a:srgbClr val="FF0000"/>
                </a:solidFill>
              </a:rPr>
              <a:t>Adjacency Matrix</a:t>
            </a: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Directed Graph and Adjacency Matrix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marL="0" indent="0" eaLnBrk="1" hangingPunct="1"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E93A9-9C4B-4E48-A4DC-8B9479FF400B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600200" y="2040294"/>
            <a:ext cx="762000" cy="762000"/>
            <a:chOff x="2133600" y="2133600"/>
            <a:chExt cx="762000" cy="762000"/>
          </a:xfrm>
        </p:grpSpPr>
        <p:sp>
          <p:nvSpPr>
            <p:cNvPr id="5" name="Oval 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01683" y="3266930"/>
            <a:ext cx="762000" cy="762000"/>
            <a:chOff x="2133600" y="2133600"/>
            <a:chExt cx="762000" cy="762000"/>
          </a:xfrm>
        </p:grpSpPr>
        <p:sp>
          <p:nvSpPr>
            <p:cNvPr id="11" name="Oval 1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53338" y="2329934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3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219200" y="3232666"/>
            <a:ext cx="762000" cy="762000"/>
            <a:chOff x="2133600" y="2133600"/>
            <a:chExt cx="762000" cy="762000"/>
          </a:xfrm>
        </p:grpSpPr>
        <p:sp>
          <p:nvSpPr>
            <p:cNvPr id="14" name="Oval 1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2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38600" y="1997142"/>
            <a:ext cx="762000" cy="762000"/>
            <a:chOff x="2133600" y="2133600"/>
            <a:chExt cx="762000" cy="762000"/>
          </a:xfrm>
        </p:grpSpPr>
        <p:sp>
          <p:nvSpPr>
            <p:cNvPr id="20" name="Oval 1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353338" y="2329934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4</a:t>
              </a:r>
            </a:p>
          </p:txBody>
        </p:sp>
      </p:grpSp>
      <p:sp>
        <p:nvSpPr>
          <p:cNvPr id="8" name="Freeform 7"/>
          <p:cNvSpPr/>
          <p:nvPr/>
        </p:nvSpPr>
        <p:spPr bwMode="auto">
          <a:xfrm>
            <a:off x="2313992" y="2062042"/>
            <a:ext cx="1754155" cy="158644"/>
          </a:xfrm>
          <a:custGeom>
            <a:avLst/>
            <a:gdLst>
              <a:gd name="connsiteX0" fmla="*/ 0 w 1754155"/>
              <a:gd name="connsiteY0" fmla="*/ 158644 h 158644"/>
              <a:gd name="connsiteX1" fmla="*/ 886408 w 1754155"/>
              <a:gd name="connsiteY1" fmla="*/ 23 h 158644"/>
              <a:gd name="connsiteX2" fmla="*/ 1754155 w 1754155"/>
              <a:gd name="connsiteY2" fmla="*/ 149313 h 15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4155" h="158644">
                <a:moveTo>
                  <a:pt x="0" y="158644"/>
                </a:moveTo>
                <a:cubicBezTo>
                  <a:pt x="297024" y="80111"/>
                  <a:pt x="594049" y="1578"/>
                  <a:pt x="886408" y="23"/>
                </a:cubicBezTo>
                <a:cubicBezTo>
                  <a:pt x="1178767" y="-1532"/>
                  <a:pt x="1466461" y="73890"/>
                  <a:pt x="1754155" y="149313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27"/>
          <p:cNvSpPr/>
          <p:nvPr/>
        </p:nvSpPr>
        <p:spPr bwMode="auto">
          <a:xfrm>
            <a:off x="1553658" y="2667000"/>
            <a:ext cx="122742" cy="545258"/>
          </a:xfrm>
          <a:custGeom>
            <a:avLst/>
            <a:gdLst>
              <a:gd name="connsiteX0" fmla="*/ 122742 w 122742"/>
              <a:gd name="connsiteY0" fmla="*/ 0 h 545258"/>
              <a:gd name="connsiteX1" fmla="*/ 10774 w 122742"/>
              <a:gd name="connsiteY1" fmla="*/ 494523 h 545258"/>
              <a:gd name="connsiteX2" fmla="*/ 10774 w 122742"/>
              <a:gd name="connsiteY2" fmla="*/ 503853 h 54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2742" h="545258">
                <a:moveTo>
                  <a:pt x="122742" y="0"/>
                </a:moveTo>
                <a:cubicBezTo>
                  <a:pt x="85419" y="164841"/>
                  <a:pt x="29435" y="410548"/>
                  <a:pt x="10774" y="494523"/>
                </a:cubicBezTo>
                <a:cubicBezTo>
                  <a:pt x="-7887" y="578498"/>
                  <a:pt x="1443" y="541175"/>
                  <a:pt x="10774" y="503853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triangle" w="lg" len="lg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4581" name="Freeform 24580"/>
          <p:cNvSpPr/>
          <p:nvPr/>
        </p:nvSpPr>
        <p:spPr bwMode="auto">
          <a:xfrm>
            <a:off x="1981200" y="2677886"/>
            <a:ext cx="2183363" cy="963830"/>
          </a:xfrm>
          <a:custGeom>
            <a:avLst/>
            <a:gdLst>
              <a:gd name="connsiteX0" fmla="*/ 0 w 2183363"/>
              <a:gd name="connsiteY0" fmla="*/ 951722 h 963830"/>
              <a:gd name="connsiteX1" fmla="*/ 1119674 w 2183363"/>
              <a:gd name="connsiteY1" fmla="*/ 830424 h 963830"/>
              <a:gd name="connsiteX2" fmla="*/ 2183363 w 2183363"/>
              <a:gd name="connsiteY2" fmla="*/ 0 h 963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3363" h="963830">
                <a:moveTo>
                  <a:pt x="0" y="951722"/>
                </a:moveTo>
                <a:cubicBezTo>
                  <a:pt x="377890" y="970383"/>
                  <a:pt x="755780" y="989044"/>
                  <a:pt x="1119674" y="830424"/>
                </a:cubicBezTo>
                <a:cubicBezTo>
                  <a:pt x="1483568" y="671804"/>
                  <a:pt x="1833465" y="335902"/>
                  <a:pt x="2183363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lg" len="lg"/>
            <a:tailEnd type="triangle" w="lg" len="lg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2" name="Freeform 24581"/>
          <p:cNvSpPr/>
          <p:nvPr/>
        </p:nvSpPr>
        <p:spPr bwMode="auto">
          <a:xfrm>
            <a:off x="1862858" y="2556588"/>
            <a:ext cx="2214620" cy="791598"/>
          </a:xfrm>
          <a:custGeom>
            <a:avLst/>
            <a:gdLst>
              <a:gd name="connsiteX0" fmla="*/ 0 w 699796"/>
              <a:gd name="connsiteY0" fmla="*/ 279918 h 279918"/>
              <a:gd name="connsiteX1" fmla="*/ 699796 w 699796"/>
              <a:gd name="connsiteY1" fmla="*/ 0 h 279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99796" h="279918">
                <a:moveTo>
                  <a:pt x="0" y="279918"/>
                </a:moveTo>
                <a:lnTo>
                  <a:pt x="699796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triangle" w="lg" len="lg"/>
            <a:tailEnd type="none" w="lg" len="lg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BF7E57F8-B291-486A-BD58-09E37B198A8B}"/>
              </a:ext>
            </a:extLst>
          </p:cNvPr>
          <p:cNvSpPr/>
          <p:nvPr/>
        </p:nvSpPr>
        <p:spPr bwMode="auto">
          <a:xfrm rot="5213813">
            <a:off x="4388281" y="2967047"/>
            <a:ext cx="617894" cy="158644"/>
          </a:xfrm>
          <a:custGeom>
            <a:avLst/>
            <a:gdLst>
              <a:gd name="connsiteX0" fmla="*/ 0 w 1754155"/>
              <a:gd name="connsiteY0" fmla="*/ 158644 h 158644"/>
              <a:gd name="connsiteX1" fmla="*/ 886408 w 1754155"/>
              <a:gd name="connsiteY1" fmla="*/ 23 h 158644"/>
              <a:gd name="connsiteX2" fmla="*/ 1754155 w 1754155"/>
              <a:gd name="connsiteY2" fmla="*/ 149313 h 15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4155" h="158644">
                <a:moveTo>
                  <a:pt x="0" y="158644"/>
                </a:moveTo>
                <a:cubicBezTo>
                  <a:pt x="297024" y="80111"/>
                  <a:pt x="594049" y="1578"/>
                  <a:pt x="886408" y="23"/>
                </a:cubicBezTo>
                <a:cubicBezTo>
                  <a:pt x="1178767" y="-1532"/>
                  <a:pt x="1466461" y="73890"/>
                  <a:pt x="1754155" y="149313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triangle" w="lg" len="lg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5FAA8BAC-C084-45A9-8694-003BB3347A07}"/>
              </a:ext>
            </a:extLst>
          </p:cNvPr>
          <p:cNvSpPr/>
          <p:nvPr/>
        </p:nvSpPr>
        <p:spPr bwMode="auto">
          <a:xfrm rot="16200000">
            <a:off x="3889434" y="2976996"/>
            <a:ext cx="586537" cy="62983"/>
          </a:xfrm>
          <a:custGeom>
            <a:avLst/>
            <a:gdLst>
              <a:gd name="connsiteX0" fmla="*/ 0 w 1754155"/>
              <a:gd name="connsiteY0" fmla="*/ 158644 h 158644"/>
              <a:gd name="connsiteX1" fmla="*/ 886408 w 1754155"/>
              <a:gd name="connsiteY1" fmla="*/ 23 h 158644"/>
              <a:gd name="connsiteX2" fmla="*/ 1754155 w 1754155"/>
              <a:gd name="connsiteY2" fmla="*/ 149313 h 15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4155" h="158644">
                <a:moveTo>
                  <a:pt x="0" y="158644"/>
                </a:moveTo>
                <a:cubicBezTo>
                  <a:pt x="297024" y="80111"/>
                  <a:pt x="594049" y="1578"/>
                  <a:pt x="886408" y="23"/>
                </a:cubicBezTo>
                <a:cubicBezTo>
                  <a:pt x="1178767" y="-1532"/>
                  <a:pt x="1466461" y="73890"/>
                  <a:pt x="1754155" y="149313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triangle" w="lg" len="lg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Freeform 27">
            <a:extLst>
              <a:ext uri="{FF2B5EF4-FFF2-40B4-BE49-F238E27FC236}">
                <a16:creationId xmlns:a16="http://schemas.microsoft.com/office/drawing/2014/main" id="{070DC5A6-1FEA-4728-84FB-23E744E925FF}"/>
              </a:ext>
            </a:extLst>
          </p:cNvPr>
          <p:cNvSpPr/>
          <p:nvPr/>
        </p:nvSpPr>
        <p:spPr bwMode="auto">
          <a:xfrm flipV="1">
            <a:off x="1968759" y="3742715"/>
            <a:ext cx="2060020" cy="45719"/>
          </a:xfrm>
          <a:custGeom>
            <a:avLst/>
            <a:gdLst>
              <a:gd name="connsiteX0" fmla="*/ 122742 w 122742"/>
              <a:gd name="connsiteY0" fmla="*/ 0 h 545258"/>
              <a:gd name="connsiteX1" fmla="*/ 10774 w 122742"/>
              <a:gd name="connsiteY1" fmla="*/ 494523 h 545258"/>
              <a:gd name="connsiteX2" fmla="*/ 10774 w 122742"/>
              <a:gd name="connsiteY2" fmla="*/ 503853 h 54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2742" h="545258">
                <a:moveTo>
                  <a:pt x="122742" y="0"/>
                </a:moveTo>
                <a:cubicBezTo>
                  <a:pt x="85419" y="164841"/>
                  <a:pt x="29435" y="410548"/>
                  <a:pt x="10774" y="494523"/>
                </a:cubicBezTo>
                <a:cubicBezTo>
                  <a:pt x="-7887" y="578498"/>
                  <a:pt x="1443" y="541175"/>
                  <a:pt x="10774" y="503853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triangle" w="lg" len="lg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EC15A9-4291-41C3-BA66-F117ED639585}"/>
              </a:ext>
            </a:extLst>
          </p:cNvPr>
          <p:cNvSpPr txBox="1"/>
          <p:nvPr/>
        </p:nvSpPr>
        <p:spPr>
          <a:xfrm>
            <a:off x="3057719" y="2044968"/>
            <a:ext cx="13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8EEA64-7360-40C5-843A-9B14B385E0BD}"/>
              </a:ext>
            </a:extLst>
          </p:cNvPr>
          <p:cNvSpPr txBox="1"/>
          <p:nvPr/>
        </p:nvSpPr>
        <p:spPr>
          <a:xfrm>
            <a:off x="2840708" y="2583055"/>
            <a:ext cx="13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294CAD-714F-4353-A29E-2E5874E00209}"/>
              </a:ext>
            </a:extLst>
          </p:cNvPr>
          <p:cNvSpPr txBox="1"/>
          <p:nvPr/>
        </p:nvSpPr>
        <p:spPr>
          <a:xfrm>
            <a:off x="1328631" y="2767721"/>
            <a:ext cx="13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539CDA-DFEE-465F-99F4-342A64CDE751}"/>
              </a:ext>
            </a:extLst>
          </p:cNvPr>
          <p:cNvSpPr txBox="1"/>
          <p:nvPr/>
        </p:nvSpPr>
        <p:spPr>
          <a:xfrm>
            <a:off x="3048000" y="3048000"/>
            <a:ext cx="13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8D0A99-213F-42BB-9EE3-6FDCAB26D86B}"/>
              </a:ext>
            </a:extLst>
          </p:cNvPr>
          <p:cNvSpPr txBox="1"/>
          <p:nvPr/>
        </p:nvSpPr>
        <p:spPr>
          <a:xfrm>
            <a:off x="2903493" y="3713642"/>
            <a:ext cx="13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100FB6-BCE7-4C3A-BFC1-C244773F6484}"/>
              </a:ext>
            </a:extLst>
          </p:cNvPr>
          <p:cNvSpPr txBox="1"/>
          <p:nvPr/>
        </p:nvSpPr>
        <p:spPr>
          <a:xfrm>
            <a:off x="4154067" y="2779713"/>
            <a:ext cx="13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46AAED-3A5B-4669-9D9F-06A1253CE904}"/>
              </a:ext>
            </a:extLst>
          </p:cNvPr>
          <p:cNvSpPr txBox="1"/>
          <p:nvPr/>
        </p:nvSpPr>
        <p:spPr>
          <a:xfrm>
            <a:off x="4762500" y="2862762"/>
            <a:ext cx="13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363E8FC7-BC92-4D57-94AE-4EAA5FB0D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79243"/>
              </p:ext>
            </p:extLst>
          </p:nvPr>
        </p:nvGraphicFramePr>
        <p:xfrm>
          <a:off x="5181600" y="3352800"/>
          <a:ext cx="25146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13400765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836489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982998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70395283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48856427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03972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3144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4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293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8326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992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1934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Adjacency Matrix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Another way of representing a graph is by an </a:t>
            </a:r>
            <a:r>
              <a:rPr lang="en-US" altLang="en-US" sz="2800" i="1" dirty="0">
                <a:solidFill>
                  <a:srgbClr val="FF0000"/>
                </a:solidFill>
              </a:rPr>
              <a:t>adjacency matrix, </a:t>
            </a:r>
            <a:r>
              <a:rPr lang="en-US" altLang="en-US" sz="2800" b="1" dirty="0">
                <a:solidFill>
                  <a:srgbClr val="FF0000"/>
                </a:solidFill>
              </a:rPr>
              <a:t>A</a:t>
            </a:r>
            <a:r>
              <a:rPr lang="en-US" altLang="en-US" sz="2800" b="1" baseline="-25000" dirty="0">
                <a:solidFill>
                  <a:srgbClr val="FF0000"/>
                </a:solidFill>
              </a:rPr>
              <a:t>0</a:t>
            </a:r>
            <a:endParaRPr lang="en-US" altLang="en-US" sz="2400" b="1" baseline="-25000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Rows are </a:t>
            </a:r>
            <a:r>
              <a:rPr lang="en-US" altLang="en-US" sz="2400" i="1" dirty="0"/>
              <a:t>sources</a:t>
            </a:r>
            <a:r>
              <a:rPr lang="en-US" altLang="en-US" sz="2400" dirty="0"/>
              <a:t>, columns are </a:t>
            </a:r>
            <a:r>
              <a:rPr lang="en-US" altLang="en-US" sz="2400" i="1" dirty="0"/>
              <a:t>targets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Arcs are </a:t>
            </a:r>
            <a:r>
              <a:rPr lang="en-US" altLang="en-US" sz="2400" i="1" dirty="0"/>
              <a:t>directed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Shows the "weight (cost)" of a one-step connection between (source, target) pairs of nodes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0 implies source and target are the same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∞ implies no direct connection exists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566262-E056-45D0-AF0E-7304ABA55DC1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670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Recursion Step: Subproblems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The shortest path </a:t>
            </a:r>
            <a:r>
              <a:rPr lang="en-US" altLang="en-US" sz="2800" i="1" dirty="0"/>
              <a:t>P(s, t)</a:t>
            </a:r>
            <a:r>
              <a:rPr lang="en-US" altLang="en-US" sz="2800" dirty="0"/>
              <a:t> from a given source </a:t>
            </a:r>
            <a:r>
              <a:rPr lang="en-US" altLang="en-US" sz="2800" i="1" dirty="0"/>
              <a:t>s</a:t>
            </a:r>
            <a:r>
              <a:rPr lang="en-US" altLang="en-US" sz="2800" dirty="0"/>
              <a:t> to a given target </a:t>
            </a:r>
            <a:r>
              <a:rPr lang="en-US" altLang="en-US" sz="2800" i="1" dirty="0"/>
              <a:t>t</a:t>
            </a:r>
            <a:r>
              <a:rPr lang="en-US" altLang="en-US" sz="2800" dirty="0"/>
              <a:t> can be defined recursively as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i="1" dirty="0">
                <a:solidFill>
                  <a:srgbClr val="FF0000"/>
                </a:solidFill>
              </a:rPr>
              <a:t>	P(s, t) = </a:t>
            </a:r>
            <a:r>
              <a:rPr lang="en-US" altLang="en-US" sz="2000" b="1" dirty="0">
                <a:solidFill>
                  <a:srgbClr val="FF0000"/>
                </a:solidFill>
              </a:rPr>
              <a:t>min(</a:t>
            </a:r>
            <a:r>
              <a:rPr lang="en-US" altLang="en-US" sz="2000" i="1" dirty="0">
                <a:solidFill>
                  <a:srgbClr val="FF0000"/>
                </a:solidFill>
              </a:rPr>
              <a:t> P(s, u) </a:t>
            </a:r>
            <a:r>
              <a:rPr lang="en-US" altLang="en-US" sz="2000" dirty="0">
                <a:solidFill>
                  <a:srgbClr val="FF0000"/>
                </a:solidFill>
              </a:rPr>
              <a:t>+</a:t>
            </a:r>
            <a:r>
              <a:rPr lang="en-US" altLang="en-US" sz="2000" i="1" dirty="0">
                <a:solidFill>
                  <a:srgbClr val="FF0000"/>
                </a:solidFill>
              </a:rPr>
              <a:t> w(u, t) </a:t>
            </a:r>
            <a:r>
              <a:rPr lang="en-US" altLang="en-US" sz="2000" dirty="0">
                <a:solidFill>
                  <a:srgbClr val="FF0000"/>
                </a:solidFill>
              </a:rPr>
              <a:t>for all </a:t>
            </a:r>
            <a:r>
              <a:rPr lang="en-US" altLang="en-US" sz="2000" i="1" dirty="0">
                <a:solidFill>
                  <a:srgbClr val="FF0000"/>
                </a:solidFill>
              </a:rPr>
              <a:t>u</a:t>
            </a:r>
            <a:r>
              <a:rPr lang="en-US" altLang="en-US" sz="2000" dirty="0">
                <a:solidFill>
                  <a:srgbClr val="FF0000"/>
                </a:solidFill>
              </a:rPr>
              <a:t> directly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                                                            connected to </a:t>
            </a:r>
            <a:r>
              <a:rPr lang="en-US" altLang="en-US" sz="2000" i="1" dirty="0">
                <a:solidFill>
                  <a:srgbClr val="FF0000"/>
                </a:solidFill>
              </a:rPr>
              <a:t>t </a:t>
            </a:r>
            <a:r>
              <a:rPr lang="en-US" altLang="en-US" sz="2000" b="1" dirty="0">
                <a:solidFill>
                  <a:srgbClr val="FF0000"/>
                </a:solidFill>
              </a:rPr>
              <a:t>)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400" i="1" dirty="0"/>
              <a:t>w(u, t)</a:t>
            </a:r>
            <a:r>
              <a:rPr lang="en-US" altLang="en-US" sz="2400" dirty="0"/>
              <a:t> is the weight (cost) of the connection from </a:t>
            </a:r>
            <a:r>
              <a:rPr lang="en-US" altLang="en-US" sz="2400" i="1" dirty="0"/>
              <a:t>u</a:t>
            </a:r>
            <a:r>
              <a:rPr lang="en-US" altLang="en-US" sz="2400" dirty="0"/>
              <a:t> to </a:t>
            </a:r>
            <a:r>
              <a:rPr lang="en-US" altLang="en-US" sz="2400" i="1" dirty="0"/>
              <a:t>t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Each node may appear in a path at most </a:t>
            </a:r>
            <a:r>
              <a:rPr lang="en-US" altLang="en-US" sz="2400" i="1" dirty="0"/>
              <a:t>once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The order in which we try </a:t>
            </a:r>
            <a:r>
              <a:rPr lang="en-US" altLang="en-US" sz="2800" i="1" dirty="0"/>
              <a:t>u</a:t>
            </a:r>
            <a:r>
              <a:rPr lang="en-US" altLang="en-US" sz="2800" dirty="0"/>
              <a:t> does not matter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"Guess" each possibility, one by one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23E8500-75A0-435F-9989-37D87CE550CD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48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Recursion Step: Subproblems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So our recursion will be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i="1" dirty="0">
                <a:solidFill>
                  <a:srgbClr val="FF0000"/>
                </a:solidFill>
              </a:rPr>
              <a:t>	P(s, s) = 0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i="1" dirty="0">
                <a:solidFill>
                  <a:srgbClr val="FF0000"/>
                </a:solidFill>
              </a:rPr>
              <a:t>	P(s, t) = min( P(s, u) + </a:t>
            </a:r>
            <a:r>
              <a:rPr lang="en-US" altLang="en-US" sz="2000" i="1" dirty="0">
                <a:solidFill>
                  <a:srgbClr val="00B050"/>
                </a:solidFill>
              </a:rPr>
              <a:t>w(u, t)</a:t>
            </a:r>
            <a:r>
              <a:rPr lang="en-US" altLang="en-US" sz="2000" i="1" dirty="0">
                <a:solidFill>
                  <a:srgbClr val="FF0000"/>
                </a:solidFill>
              </a:rPr>
              <a:t> for all u directly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i="1" dirty="0">
                <a:solidFill>
                  <a:srgbClr val="FF0000"/>
                </a:solidFill>
              </a:rPr>
              <a:t>                                                   connected to t)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In computing Fibonacci numbers or maximum rod revenue, at each step we just computed </a:t>
            </a:r>
            <a:r>
              <a:rPr lang="en-US" altLang="en-US" sz="2400" i="1" dirty="0"/>
              <a:t>one</a:t>
            </a:r>
            <a:r>
              <a:rPr lang="en-US" altLang="en-US" sz="2400" dirty="0"/>
              <a:t> next number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Here, for each of N nodes we must compute N numbers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Our </a:t>
            </a:r>
            <a:r>
              <a:rPr lang="en-US" altLang="en-US" sz="2400" dirty="0" err="1"/>
              <a:t>memoization</a:t>
            </a:r>
            <a:r>
              <a:rPr lang="en-US" altLang="en-US" sz="2400" dirty="0"/>
              <a:t> will be a </a:t>
            </a:r>
            <a:r>
              <a:rPr lang="en-US" altLang="en-US" sz="2400" i="1" dirty="0"/>
              <a:t>list</a:t>
            </a:r>
            <a:r>
              <a:rPr lang="en-US" altLang="en-US" sz="2400" dirty="0"/>
              <a:t> of </a:t>
            </a:r>
            <a:r>
              <a:rPr lang="en-US" altLang="en-US" sz="2400" dirty="0" err="1"/>
              <a:t>NxN</a:t>
            </a:r>
            <a:r>
              <a:rPr lang="en-US" altLang="en-US" sz="2400" dirty="0"/>
              <a:t> </a:t>
            </a:r>
            <a:r>
              <a:rPr lang="en-US" altLang="en-US" sz="2400" b="1" dirty="0"/>
              <a:t>A</a:t>
            </a:r>
            <a:r>
              <a:rPr lang="en-US" altLang="en-US" sz="2400" b="1" baseline="-25000" dirty="0"/>
              <a:t>k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i="1" dirty="0"/>
              <a:t>But not a tree of </a:t>
            </a:r>
            <a:r>
              <a:rPr lang="en-US" altLang="en-US" sz="2000" b="1" i="1" dirty="0" err="1"/>
              <a:t>A</a:t>
            </a:r>
            <a:r>
              <a:rPr lang="en-US" altLang="en-US" sz="2000" b="1" i="1" baseline="-25000" dirty="0" err="1"/>
              <a:t>k,m</a:t>
            </a:r>
            <a:endParaRPr lang="en-US" altLang="en-US" sz="2000" b="1" i="1" baseline="-25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E57C21-A639-41E0-A52D-8F23EE9538E3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656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Recursion Step: Subproblems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We will try the nodes in label order</a:t>
            </a:r>
            <a:endParaRPr lang="en-US" altLang="en-US" sz="2800" b="1" dirty="0"/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Order doesn't matter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But will ensure we test all possibilities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b="1" dirty="0"/>
              <a:t>A</a:t>
            </a:r>
            <a:r>
              <a:rPr lang="en-US" altLang="en-US" sz="2800" i="1" baseline="-25000" dirty="0"/>
              <a:t>k</a:t>
            </a:r>
            <a:r>
              <a:rPr lang="en-US" altLang="en-US" sz="2800" dirty="0"/>
              <a:t> will contain the </a:t>
            </a:r>
            <a:r>
              <a:rPr lang="en-US" altLang="en-US" sz="2800" i="1" dirty="0"/>
              <a:t>P(</a:t>
            </a:r>
            <a:r>
              <a:rPr lang="en-US" altLang="en-US" sz="2800" i="1" dirty="0" err="1"/>
              <a:t>s,t</a:t>
            </a:r>
            <a:r>
              <a:rPr lang="en-US" altLang="en-US" sz="2800" i="1" dirty="0"/>
              <a:t>)</a:t>
            </a:r>
            <a:r>
              <a:rPr lang="en-US" altLang="en-US" sz="2800" dirty="0"/>
              <a:t> for all (</a:t>
            </a:r>
            <a:r>
              <a:rPr lang="en-US" altLang="en-US" sz="2800" i="1" dirty="0" err="1"/>
              <a:t>s</a:t>
            </a:r>
            <a:r>
              <a:rPr lang="en-US" altLang="en-US" sz="2800" dirty="0" err="1"/>
              <a:t>,</a:t>
            </a:r>
            <a:r>
              <a:rPr lang="en-US" altLang="en-US" sz="2800" i="1" dirty="0" err="1"/>
              <a:t>t</a:t>
            </a:r>
            <a:r>
              <a:rPr lang="en-US" altLang="en-US" sz="2800" dirty="0"/>
              <a:t>) pairs, using nodes 1 through </a:t>
            </a:r>
            <a:r>
              <a:rPr lang="en-US" altLang="en-US" sz="2800" i="1" dirty="0"/>
              <a:t>k</a:t>
            </a:r>
            <a:r>
              <a:rPr lang="en-US" altLang="en-US" sz="2800" dirty="0"/>
              <a:t>, inclusive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That is, </a:t>
            </a:r>
            <a:r>
              <a:rPr lang="en-US" altLang="en-US" sz="2400" b="1" dirty="0"/>
              <a:t>A</a:t>
            </a:r>
            <a:r>
              <a:rPr lang="en-US" altLang="en-US" sz="2400" i="1" baseline="-25000" dirty="0"/>
              <a:t>k</a:t>
            </a:r>
            <a:r>
              <a:rPr lang="en-US" altLang="en-US" sz="2400" b="1" dirty="0"/>
              <a:t>[</a:t>
            </a:r>
            <a:r>
              <a:rPr lang="en-US" altLang="en-US" sz="2400" i="1" dirty="0" err="1"/>
              <a:t>s</a:t>
            </a:r>
            <a:r>
              <a:rPr lang="en-US" altLang="en-US" sz="2400" b="1" dirty="0" err="1"/>
              <a:t>,</a:t>
            </a:r>
            <a:r>
              <a:rPr lang="en-US" altLang="en-US" sz="2400" i="1" dirty="0" err="1"/>
              <a:t>t</a:t>
            </a:r>
            <a:r>
              <a:rPr lang="en-US" altLang="en-US" sz="2400" b="1" dirty="0"/>
              <a:t>]</a:t>
            </a:r>
            <a:r>
              <a:rPr lang="en-US" altLang="en-US" sz="2400" dirty="0"/>
              <a:t> will be </a:t>
            </a:r>
            <a:r>
              <a:rPr lang="en-US" altLang="en-US" sz="2400" i="1" dirty="0"/>
              <a:t>P(</a:t>
            </a:r>
            <a:r>
              <a:rPr lang="en-US" altLang="en-US" sz="2400" i="1" dirty="0" err="1"/>
              <a:t>s,t</a:t>
            </a:r>
            <a:r>
              <a:rPr lang="en-US" altLang="en-US" sz="2400" i="1" dirty="0"/>
              <a:t>)</a:t>
            </a:r>
            <a:r>
              <a:rPr lang="en-US" altLang="en-US" sz="2400" dirty="0"/>
              <a:t> using nodes 1 thru </a:t>
            </a:r>
            <a:r>
              <a:rPr lang="en-US" altLang="en-US" sz="2400" i="1" dirty="0"/>
              <a:t>k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14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b="1" dirty="0"/>
              <a:t>  </a:t>
            </a:r>
            <a:r>
              <a:rPr lang="en-US" altLang="en-US" sz="2400" b="1" dirty="0">
                <a:solidFill>
                  <a:srgbClr val="FF0000"/>
                </a:solidFill>
              </a:rPr>
              <a:t>A</a:t>
            </a:r>
            <a:r>
              <a:rPr lang="en-US" altLang="en-US" sz="2400" i="1" baseline="-25000" dirty="0">
                <a:solidFill>
                  <a:srgbClr val="FF0000"/>
                </a:solidFill>
              </a:rPr>
              <a:t>k</a:t>
            </a:r>
            <a:r>
              <a:rPr lang="en-US" altLang="en-US" sz="2400" b="1" dirty="0">
                <a:solidFill>
                  <a:srgbClr val="FF0000"/>
                </a:solidFill>
              </a:rPr>
              <a:t>[</a:t>
            </a:r>
            <a:r>
              <a:rPr lang="en-US" altLang="en-US" sz="2400" i="1" dirty="0" err="1">
                <a:solidFill>
                  <a:srgbClr val="FF0000"/>
                </a:solidFill>
              </a:rPr>
              <a:t>s</a:t>
            </a:r>
            <a:r>
              <a:rPr lang="en-US" altLang="en-US" sz="2400" b="1" dirty="0" err="1">
                <a:solidFill>
                  <a:srgbClr val="FF0000"/>
                </a:solidFill>
              </a:rPr>
              <a:t>,</a:t>
            </a:r>
            <a:r>
              <a:rPr lang="en-US" altLang="en-US" sz="2400" i="1" dirty="0" err="1">
                <a:solidFill>
                  <a:srgbClr val="FF0000"/>
                </a:solidFill>
              </a:rPr>
              <a:t>t</a:t>
            </a:r>
            <a:r>
              <a:rPr lang="en-US" altLang="en-US" sz="2400" b="1" dirty="0">
                <a:solidFill>
                  <a:srgbClr val="FF0000"/>
                </a:solidFill>
              </a:rPr>
              <a:t>] = min( A</a:t>
            </a:r>
            <a:r>
              <a:rPr lang="en-US" altLang="en-US" sz="2400" i="1" baseline="-25000" dirty="0">
                <a:solidFill>
                  <a:srgbClr val="FF0000"/>
                </a:solidFill>
              </a:rPr>
              <a:t>k</a:t>
            </a:r>
            <a:r>
              <a:rPr lang="en-US" altLang="en-US" sz="2400" baseline="-25000" dirty="0">
                <a:solidFill>
                  <a:srgbClr val="FF0000"/>
                </a:solidFill>
              </a:rPr>
              <a:t>-1</a:t>
            </a:r>
            <a:r>
              <a:rPr lang="en-US" altLang="en-US" sz="2400" b="1" dirty="0">
                <a:solidFill>
                  <a:srgbClr val="FF0000"/>
                </a:solidFill>
              </a:rPr>
              <a:t>[</a:t>
            </a:r>
            <a:r>
              <a:rPr lang="en-US" altLang="en-US" sz="2400" i="1" dirty="0" err="1">
                <a:solidFill>
                  <a:srgbClr val="FF0000"/>
                </a:solidFill>
              </a:rPr>
              <a:t>s</a:t>
            </a:r>
            <a:r>
              <a:rPr lang="en-US" altLang="en-US" sz="2400" b="1" dirty="0" err="1">
                <a:solidFill>
                  <a:srgbClr val="FF0000"/>
                </a:solidFill>
              </a:rPr>
              <a:t>,</a:t>
            </a:r>
            <a:r>
              <a:rPr lang="en-US" altLang="en-US" sz="2400" i="1" dirty="0" err="1">
                <a:solidFill>
                  <a:srgbClr val="FF0000"/>
                </a:solidFill>
              </a:rPr>
              <a:t>t</a:t>
            </a:r>
            <a:r>
              <a:rPr lang="en-US" altLang="en-US" sz="2400" b="1" dirty="0">
                <a:solidFill>
                  <a:srgbClr val="FF0000"/>
                </a:solidFill>
              </a:rPr>
              <a:t>], A</a:t>
            </a:r>
            <a:r>
              <a:rPr lang="en-US" altLang="en-US" sz="2400" i="1" baseline="-25000" dirty="0">
                <a:solidFill>
                  <a:srgbClr val="FF0000"/>
                </a:solidFill>
              </a:rPr>
              <a:t>k</a:t>
            </a:r>
            <a:r>
              <a:rPr lang="en-US" altLang="en-US" sz="2400" baseline="-25000" dirty="0">
                <a:solidFill>
                  <a:srgbClr val="FF0000"/>
                </a:solidFill>
              </a:rPr>
              <a:t>-1</a:t>
            </a:r>
            <a:r>
              <a:rPr lang="en-US" altLang="en-US" sz="2400" b="1" dirty="0">
                <a:solidFill>
                  <a:srgbClr val="FF0000"/>
                </a:solidFill>
              </a:rPr>
              <a:t>[</a:t>
            </a:r>
            <a:r>
              <a:rPr lang="en-US" altLang="en-US" sz="2400" i="1" dirty="0" err="1">
                <a:solidFill>
                  <a:srgbClr val="FF0000"/>
                </a:solidFill>
              </a:rPr>
              <a:t>s</a:t>
            </a:r>
            <a:r>
              <a:rPr lang="en-US" altLang="en-US" sz="2400" b="1" dirty="0" err="1">
                <a:solidFill>
                  <a:srgbClr val="FF0000"/>
                </a:solidFill>
              </a:rPr>
              <a:t>,</a:t>
            </a:r>
            <a:r>
              <a:rPr lang="en-US" altLang="en-US" sz="2400" i="1" dirty="0" err="1">
                <a:solidFill>
                  <a:srgbClr val="FF0000"/>
                </a:solidFill>
              </a:rPr>
              <a:t>k</a:t>
            </a:r>
            <a:r>
              <a:rPr lang="en-US" altLang="en-US" sz="2400" b="1" dirty="0">
                <a:solidFill>
                  <a:srgbClr val="FF0000"/>
                </a:solidFill>
              </a:rPr>
              <a:t>] + A</a:t>
            </a:r>
            <a:r>
              <a:rPr lang="en-US" altLang="en-US" sz="2400" i="1" baseline="-25000" dirty="0">
                <a:solidFill>
                  <a:srgbClr val="FF0000"/>
                </a:solidFill>
              </a:rPr>
              <a:t>k</a:t>
            </a:r>
            <a:r>
              <a:rPr lang="en-US" altLang="en-US" sz="2400" baseline="-25000" dirty="0">
                <a:solidFill>
                  <a:srgbClr val="FF0000"/>
                </a:solidFill>
              </a:rPr>
              <a:t>-1</a:t>
            </a:r>
            <a:r>
              <a:rPr lang="en-US" altLang="en-US" sz="2400" b="1" dirty="0">
                <a:solidFill>
                  <a:srgbClr val="FF0000"/>
                </a:solidFill>
              </a:rPr>
              <a:t>[</a:t>
            </a:r>
            <a:r>
              <a:rPr lang="en-US" altLang="en-US" sz="2400" i="1" dirty="0" err="1">
                <a:solidFill>
                  <a:srgbClr val="FF0000"/>
                </a:solidFill>
              </a:rPr>
              <a:t>k</a:t>
            </a:r>
            <a:r>
              <a:rPr lang="en-US" altLang="en-US" sz="2400" b="1" dirty="0" err="1">
                <a:solidFill>
                  <a:srgbClr val="FF0000"/>
                </a:solidFill>
              </a:rPr>
              <a:t>,</a:t>
            </a:r>
            <a:r>
              <a:rPr lang="en-US" altLang="en-US" sz="2400" i="1" dirty="0" err="1">
                <a:solidFill>
                  <a:srgbClr val="FF0000"/>
                </a:solidFill>
              </a:rPr>
              <a:t>t</a:t>
            </a:r>
            <a:r>
              <a:rPr lang="en-US" altLang="en-US" sz="2400" b="1" dirty="0">
                <a:solidFill>
                  <a:srgbClr val="FF0000"/>
                </a:solidFill>
              </a:rPr>
              <a:t>] )</a:t>
            </a:r>
            <a:r>
              <a:rPr lang="en-US" altLang="en-US" sz="2400" b="1" dirty="0"/>
              <a:t> 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1400" b="1" dirty="0"/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So </a:t>
            </a:r>
            <a:r>
              <a:rPr lang="en-US" altLang="en-US" sz="2400" b="1" dirty="0"/>
              <a:t>A</a:t>
            </a:r>
            <a:r>
              <a:rPr lang="en-US" altLang="en-US" sz="2400" b="1" baseline="-25000" dirty="0"/>
              <a:t>4</a:t>
            </a:r>
            <a:r>
              <a:rPr lang="en-US" altLang="en-US" sz="2400" dirty="0"/>
              <a:t> will contain all shortest paths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C88D94-43BB-439D-AD78-6BB84D5B75CA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786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marL="0" indent="0" eaLnBrk="1" hangingPunct="1">
              <a:buNone/>
            </a:pPr>
            <a:endParaRPr lang="en-US" altLang="en-US" sz="2400" dirty="0"/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04D81D55-7689-4CF5-80B1-5279B50F5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088" y="21336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/>
              <a:t>                                   </a:t>
            </a:r>
            <a:r>
              <a:rPr lang="en-US" altLang="en-US" sz="2400" kern="0" dirty="0">
                <a:solidFill>
                  <a:srgbClr val="00B050"/>
                </a:solidFill>
              </a:rPr>
              <a:t>Example: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                                  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1</a:t>
            </a:r>
            <a:r>
              <a:rPr lang="en-US" altLang="en-US" sz="2400" kern="0" dirty="0">
                <a:solidFill>
                  <a:srgbClr val="00B050"/>
                </a:solidFill>
              </a:rPr>
              <a:t>[2,3] = min(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0</a:t>
            </a:r>
            <a:r>
              <a:rPr lang="en-US" altLang="en-US" sz="2400" kern="0" dirty="0">
                <a:solidFill>
                  <a:srgbClr val="00B050"/>
                </a:solidFill>
              </a:rPr>
              <a:t>[2,3],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                                                   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0</a:t>
            </a:r>
            <a:r>
              <a:rPr lang="en-US" altLang="en-US" sz="2400" kern="0" dirty="0">
                <a:solidFill>
                  <a:srgbClr val="00B050"/>
                </a:solidFill>
              </a:rPr>
              <a:t>[2,1] +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0</a:t>
            </a:r>
            <a:r>
              <a:rPr lang="en-US" altLang="en-US" sz="2400" kern="0" dirty="0">
                <a:solidFill>
                  <a:srgbClr val="00B050"/>
                </a:solidFill>
              </a:rPr>
              <a:t>[1,3] 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                                              = min( 4, 2 + </a:t>
            </a:r>
            <a:r>
              <a:rPr lang="en-US" altLang="en-US" sz="2400" dirty="0">
                <a:solidFill>
                  <a:srgbClr val="00B050"/>
                </a:solidFill>
              </a:rPr>
              <a:t>∞ )</a:t>
            </a:r>
            <a:endParaRPr lang="en-US" altLang="en-US" sz="2400" kern="0" dirty="0">
              <a:solidFill>
                <a:srgbClr val="00B050"/>
              </a:solidFill>
            </a:endParaRPr>
          </a:p>
          <a:p>
            <a:pPr marL="0" indent="0" eaLnBrk="1" hangingPunct="1">
              <a:buFont typeface="Wingdings" pitchFamily="2" charset="2"/>
              <a:buNone/>
            </a:pPr>
            <a:endParaRPr lang="en-US" altLang="en-US" sz="2800" kern="0" dirty="0"/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endParaRPr lang="en-US" altLang="en-US" sz="800" kern="0" dirty="0"/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endParaRPr lang="en-US" altLang="en-US" sz="2400" kern="0" dirty="0"/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endParaRPr lang="en-US" altLang="en-US" sz="2000" kern="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kern="0" dirty="0">
                <a:solidFill>
                  <a:srgbClr val="FF0000"/>
                </a:solidFill>
              </a:rPr>
              <a:t>A</a:t>
            </a:r>
            <a:r>
              <a:rPr lang="en-US" altLang="en-US" sz="2400" b="1" kern="0" baseline="-25000" dirty="0">
                <a:solidFill>
                  <a:srgbClr val="FF0000"/>
                </a:solidFill>
              </a:rPr>
              <a:t>0</a:t>
            </a:r>
            <a:r>
              <a:rPr lang="en-US" altLang="en-US" sz="2400" b="1" kern="0" dirty="0">
                <a:solidFill>
                  <a:srgbClr val="FF0000"/>
                </a:solidFill>
              </a:rPr>
              <a:t>                                    A</a:t>
            </a:r>
            <a:r>
              <a:rPr lang="en-US" altLang="en-US" sz="2400" b="1" kern="0" baseline="-25000" dirty="0">
                <a:solidFill>
                  <a:srgbClr val="FF0000"/>
                </a:solidFill>
              </a:rPr>
              <a:t>1</a:t>
            </a:r>
            <a:endParaRPr lang="en-US" altLang="en-US" sz="2400" kern="0" baseline="-25000" dirty="0">
              <a:solidFill>
                <a:srgbClr val="FF0000"/>
              </a:solidFill>
            </a:endParaRP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Directed Graph and Adjacency Matrix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3C666C-C789-44AA-84B6-6340B9EF4F26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E9F025F-C3DE-419B-AB56-E28D708FE338}"/>
              </a:ext>
            </a:extLst>
          </p:cNvPr>
          <p:cNvGrpSpPr/>
          <p:nvPr/>
        </p:nvGrpSpPr>
        <p:grpSpPr>
          <a:xfrm>
            <a:off x="1219200" y="1997142"/>
            <a:ext cx="2895600" cy="1660458"/>
            <a:chOff x="1219200" y="1997142"/>
            <a:chExt cx="3676650" cy="2085832"/>
          </a:xfrm>
        </p:grpSpPr>
        <p:grpSp>
          <p:nvGrpSpPr>
            <p:cNvPr id="7" name="Group 6"/>
            <p:cNvGrpSpPr/>
            <p:nvPr/>
          </p:nvGrpSpPr>
          <p:grpSpPr>
            <a:xfrm>
              <a:off x="1600200" y="2040294"/>
              <a:ext cx="762000" cy="762000"/>
              <a:chOff x="2133600" y="2133600"/>
              <a:chExt cx="762000" cy="762000"/>
            </a:xfrm>
          </p:grpSpPr>
          <p:sp>
            <p:nvSpPr>
              <p:cNvPr id="5" name="Oval 4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2353338" y="232993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001683" y="3266930"/>
              <a:ext cx="762000" cy="762000"/>
              <a:chOff x="2133600" y="2133600"/>
              <a:chExt cx="762000" cy="762000"/>
            </a:xfrm>
          </p:grpSpPr>
          <p:sp>
            <p:nvSpPr>
              <p:cNvPr id="11" name="Oval 10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353338" y="2329934"/>
                <a:ext cx="33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3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1219200" y="3232666"/>
              <a:ext cx="762000" cy="762000"/>
              <a:chOff x="2133600" y="2133600"/>
              <a:chExt cx="762000" cy="762000"/>
            </a:xfrm>
          </p:grpSpPr>
          <p:sp>
            <p:nvSpPr>
              <p:cNvPr id="14" name="Oval 13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2353338" y="232993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2</a:t>
                </a: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4038600" y="1997142"/>
              <a:ext cx="762000" cy="762000"/>
              <a:chOff x="2133600" y="2133600"/>
              <a:chExt cx="762000" cy="762000"/>
            </a:xfrm>
          </p:grpSpPr>
          <p:sp>
            <p:nvSpPr>
              <p:cNvPr id="20" name="Oval 19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2353338" y="2329934"/>
                <a:ext cx="33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4</a:t>
                </a:r>
              </a:p>
            </p:txBody>
          </p:sp>
        </p:grpSp>
        <p:sp>
          <p:nvSpPr>
            <p:cNvPr id="8" name="Freeform 7"/>
            <p:cNvSpPr/>
            <p:nvPr/>
          </p:nvSpPr>
          <p:spPr bwMode="auto">
            <a:xfrm>
              <a:off x="2313992" y="2062042"/>
              <a:ext cx="1754155" cy="158644"/>
            </a:xfrm>
            <a:custGeom>
              <a:avLst/>
              <a:gdLst>
                <a:gd name="connsiteX0" fmla="*/ 0 w 1754155"/>
                <a:gd name="connsiteY0" fmla="*/ 158644 h 158644"/>
                <a:gd name="connsiteX1" fmla="*/ 886408 w 1754155"/>
                <a:gd name="connsiteY1" fmla="*/ 23 h 158644"/>
                <a:gd name="connsiteX2" fmla="*/ 1754155 w 1754155"/>
                <a:gd name="connsiteY2" fmla="*/ 149313 h 15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4155" h="158644">
                  <a:moveTo>
                    <a:pt x="0" y="158644"/>
                  </a:moveTo>
                  <a:cubicBezTo>
                    <a:pt x="297024" y="80111"/>
                    <a:pt x="594049" y="1578"/>
                    <a:pt x="886408" y="23"/>
                  </a:cubicBezTo>
                  <a:cubicBezTo>
                    <a:pt x="1178767" y="-1532"/>
                    <a:pt x="1466461" y="73890"/>
                    <a:pt x="1754155" y="14931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1553658" y="2667000"/>
              <a:ext cx="122742" cy="545258"/>
            </a:xfrm>
            <a:custGeom>
              <a:avLst/>
              <a:gdLst>
                <a:gd name="connsiteX0" fmla="*/ 122742 w 122742"/>
                <a:gd name="connsiteY0" fmla="*/ 0 h 545258"/>
                <a:gd name="connsiteX1" fmla="*/ 10774 w 122742"/>
                <a:gd name="connsiteY1" fmla="*/ 494523 h 545258"/>
                <a:gd name="connsiteX2" fmla="*/ 10774 w 122742"/>
                <a:gd name="connsiteY2" fmla="*/ 503853 h 54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742" h="545258">
                  <a:moveTo>
                    <a:pt x="122742" y="0"/>
                  </a:moveTo>
                  <a:cubicBezTo>
                    <a:pt x="85419" y="164841"/>
                    <a:pt x="29435" y="410548"/>
                    <a:pt x="10774" y="494523"/>
                  </a:cubicBezTo>
                  <a:cubicBezTo>
                    <a:pt x="-7887" y="578498"/>
                    <a:pt x="1443" y="541175"/>
                    <a:pt x="10774" y="50385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4581" name="Freeform 24580"/>
            <p:cNvSpPr/>
            <p:nvPr/>
          </p:nvSpPr>
          <p:spPr bwMode="auto">
            <a:xfrm>
              <a:off x="1981200" y="2677886"/>
              <a:ext cx="2183363" cy="963830"/>
            </a:xfrm>
            <a:custGeom>
              <a:avLst/>
              <a:gdLst>
                <a:gd name="connsiteX0" fmla="*/ 0 w 2183363"/>
                <a:gd name="connsiteY0" fmla="*/ 951722 h 963830"/>
                <a:gd name="connsiteX1" fmla="*/ 1119674 w 2183363"/>
                <a:gd name="connsiteY1" fmla="*/ 830424 h 963830"/>
                <a:gd name="connsiteX2" fmla="*/ 2183363 w 2183363"/>
                <a:gd name="connsiteY2" fmla="*/ 0 h 963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83363" h="963830">
                  <a:moveTo>
                    <a:pt x="0" y="951722"/>
                  </a:moveTo>
                  <a:cubicBezTo>
                    <a:pt x="377890" y="970383"/>
                    <a:pt x="755780" y="989044"/>
                    <a:pt x="1119674" y="830424"/>
                  </a:cubicBezTo>
                  <a:cubicBezTo>
                    <a:pt x="1483568" y="671804"/>
                    <a:pt x="1833465" y="335902"/>
                    <a:pt x="2183363" y="0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82" name="Freeform 24581"/>
            <p:cNvSpPr/>
            <p:nvPr/>
          </p:nvSpPr>
          <p:spPr bwMode="auto">
            <a:xfrm>
              <a:off x="1862858" y="2556588"/>
              <a:ext cx="2214620" cy="791598"/>
            </a:xfrm>
            <a:custGeom>
              <a:avLst/>
              <a:gdLst>
                <a:gd name="connsiteX0" fmla="*/ 0 w 699796"/>
                <a:gd name="connsiteY0" fmla="*/ 279918 h 279918"/>
                <a:gd name="connsiteX1" fmla="*/ 699796 w 699796"/>
                <a:gd name="connsiteY1" fmla="*/ 0 h 279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9796" h="279918">
                  <a:moveTo>
                    <a:pt x="0" y="279918"/>
                  </a:moveTo>
                  <a:lnTo>
                    <a:pt x="699796" y="0"/>
                  </a:ln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BF7E57F8-B291-486A-BD58-09E37B198A8B}"/>
                </a:ext>
              </a:extLst>
            </p:cNvPr>
            <p:cNvSpPr/>
            <p:nvPr/>
          </p:nvSpPr>
          <p:spPr bwMode="auto">
            <a:xfrm rot="5213813">
              <a:off x="4388281" y="2967047"/>
              <a:ext cx="617894" cy="158644"/>
            </a:xfrm>
            <a:custGeom>
              <a:avLst/>
              <a:gdLst>
                <a:gd name="connsiteX0" fmla="*/ 0 w 1754155"/>
                <a:gd name="connsiteY0" fmla="*/ 158644 h 158644"/>
                <a:gd name="connsiteX1" fmla="*/ 886408 w 1754155"/>
                <a:gd name="connsiteY1" fmla="*/ 23 h 158644"/>
                <a:gd name="connsiteX2" fmla="*/ 1754155 w 1754155"/>
                <a:gd name="connsiteY2" fmla="*/ 149313 h 15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4155" h="158644">
                  <a:moveTo>
                    <a:pt x="0" y="158644"/>
                  </a:moveTo>
                  <a:cubicBezTo>
                    <a:pt x="297024" y="80111"/>
                    <a:pt x="594049" y="1578"/>
                    <a:pt x="886408" y="23"/>
                  </a:cubicBezTo>
                  <a:cubicBezTo>
                    <a:pt x="1178767" y="-1532"/>
                    <a:pt x="1466461" y="73890"/>
                    <a:pt x="1754155" y="14931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5FAA8BAC-C084-45A9-8694-003BB3347A07}"/>
                </a:ext>
              </a:extLst>
            </p:cNvPr>
            <p:cNvSpPr/>
            <p:nvPr/>
          </p:nvSpPr>
          <p:spPr bwMode="auto">
            <a:xfrm rot="16200000">
              <a:off x="3889434" y="2976996"/>
              <a:ext cx="586537" cy="62983"/>
            </a:xfrm>
            <a:custGeom>
              <a:avLst/>
              <a:gdLst>
                <a:gd name="connsiteX0" fmla="*/ 0 w 1754155"/>
                <a:gd name="connsiteY0" fmla="*/ 158644 h 158644"/>
                <a:gd name="connsiteX1" fmla="*/ 886408 w 1754155"/>
                <a:gd name="connsiteY1" fmla="*/ 23 h 158644"/>
                <a:gd name="connsiteX2" fmla="*/ 1754155 w 1754155"/>
                <a:gd name="connsiteY2" fmla="*/ 149313 h 15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4155" h="158644">
                  <a:moveTo>
                    <a:pt x="0" y="158644"/>
                  </a:moveTo>
                  <a:cubicBezTo>
                    <a:pt x="297024" y="80111"/>
                    <a:pt x="594049" y="1578"/>
                    <a:pt x="886408" y="23"/>
                  </a:cubicBezTo>
                  <a:cubicBezTo>
                    <a:pt x="1178767" y="-1532"/>
                    <a:pt x="1466461" y="73890"/>
                    <a:pt x="1754155" y="14931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070DC5A6-1FEA-4728-84FB-23E744E925FF}"/>
                </a:ext>
              </a:extLst>
            </p:cNvPr>
            <p:cNvSpPr/>
            <p:nvPr/>
          </p:nvSpPr>
          <p:spPr bwMode="auto">
            <a:xfrm flipV="1">
              <a:off x="1968759" y="3742715"/>
              <a:ext cx="2060020" cy="45719"/>
            </a:xfrm>
            <a:custGeom>
              <a:avLst/>
              <a:gdLst>
                <a:gd name="connsiteX0" fmla="*/ 122742 w 122742"/>
                <a:gd name="connsiteY0" fmla="*/ 0 h 545258"/>
                <a:gd name="connsiteX1" fmla="*/ 10774 w 122742"/>
                <a:gd name="connsiteY1" fmla="*/ 494523 h 545258"/>
                <a:gd name="connsiteX2" fmla="*/ 10774 w 122742"/>
                <a:gd name="connsiteY2" fmla="*/ 503853 h 54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742" h="545258">
                  <a:moveTo>
                    <a:pt x="122742" y="0"/>
                  </a:moveTo>
                  <a:cubicBezTo>
                    <a:pt x="85419" y="164841"/>
                    <a:pt x="29435" y="410548"/>
                    <a:pt x="10774" y="494523"/>
                  </a:cubicBezTo>
                  <a:cubicBezTo>
                    <a:pt x="-7887" y="578498"/>
                    <a:pt x="1443" y="541175"/>
                    <a:pt x="10774" y="50385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BEC15A9-4291-41C3-BA66-F117ED639585}"/>
                </a:ext>
              </a:extLst>
            </p:cNvPr>
            <p:cNvSpPr txBox="1"/>
            <p:nvPr/>
          </p:nvSpPr>
          <p:spPr>
            <a:xfrm>
              <a:off x="3057719" y="2044968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B8EEA64-7360-40C5-843A-9B14B385E0BD}"/>
                </a:ext>
              </a:extLst>
            </p:cNvPr>
            <p:cNvSpPr txBox="1"/>
            <p:nvPr/>
          </p:nvSpPr>
          <p:spPr>
            <a:xfrm>
              <a:off x="2840708" y="2583055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6294CAD-714F-4353-A29E-2E5874E00209}"/>
                </a:ext>
              </a:extLst>
            </p:cNvPr>
            <p:cNvSpPr txBox="1"/>
            <p:nvPr/>
          </p:nvSpPr>
          <p:spPr>
            <a:xfrm>
              <a:off x="1328631" y="2767721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B539CDA-DFEE-465F-99F4-342A64CDE751}"/>
                </a:ext>
              </a:extLst>
            </p:cNvPr>
            <p:cNvSpPr txBox="1"/>
            <p:nvPr/>
          </p:nvSpPr>
          <p:spPr>
            <a:xfrm>
              <a:off x="3042192" y="3089979"/>
              <a:ext cx="133350" cy="4639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38D0A99-213F-42BB-9EE3-6FDCAB26D86B}"/>
                </a:ext>
              </a:extLst>
            </p:cNvPr>
            <p:cNvSpPr txBox="1"/>
            <p:nvPr/>
          </p:nvSpPr>
          <p:spPr>
            <a:xfrm>
              <a:off x="2903493" y="3713642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5100FB6-BCE7-4C3A-BFC1-C244773F6484}"/>
                </a:ext>
              </a:extLst>
            </p:cNvPr>
            <p:cNvSpPr txBox="1"/>
            <p:nvPr/>
          </p:nvSpPr>
          <p:spPr>
            <a:xfrm>
              <a:off x="4154067" y="2779713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A46AAED-3A5B-4669-9D9F-06A1253CE904}"/>
                </a:ext>
              </a:extLst>
            </p:cNvPr>
            <p:cNvSpPr txBox="1"/>
            <p:nvPr/>
          </p:nvSpPr>
          <p:spPr>
            <a:xfrm>
              <a:off x="4762500" y="2862762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</p:txBody>
        </p:sp>
      </p:grp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363E8FC7-BC92-4D57-94AE-4EAA5FB0D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829509"/>
              </p:ext>
            </p:extLst>
          </p:nvPr>
        </p:nvGraphicFramePr>
        <p:xfrm>
          <a:off x="1726122" y="3790831"/>
          <a:ext cx="25146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13400765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836489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982998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70395283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48856427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03972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3144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4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293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8326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992993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9389FAD9-A3E1-4F86-ADEA-90953BA02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676954"/>
              </p:ext>
            </p:extLst>
          </p:nvPr>
        </p:nvGraphicFramePr>
        <p:xfrm>
          <a:off x="5257800" y="3790831"/>
          <a:ext cx="25146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13400765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836489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982998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70395283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48856427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03972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3144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293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solidFill>
                            <a:srgbClr val="00B050"/>
                          </a:solidFill>
                        </a:rPr>
                        <a:t>∞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8326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992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61025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9389FAD9-A3E1-4F86-ADEA-90953BA02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017804"/>
              </p:ext>
            </p:extLst>
          </p:nvPr>
        </p:nvGraphicFramePr>
        <p:xfrm>
          <a:off x="5257800" y="3790831"/>
          <a:ext cx="25146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13400765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836489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982998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70395283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48856427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03972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solidFill>
                            <a:srgbClr val="00B050"/>
                          </a:solidFill>
                        </a:rPr>
                        <a:t>∞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3144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293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8326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9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992993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363E8FC7-BC92-4D57-94AE-4EAA5FB0D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049743"/>
              </p:ext>
            </p:extLst>
          </p:nvPr>
        </p:nvGraphicFramePr>
        <p:xfrm>
          <a:off x="1726122" y="3790831"/>
          <a:ext cx="25146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13400765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836489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982998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70395283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48856427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03972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solidFill>
                            <a:srgbClr val="00B050"/>
                          </a:solidFill>
                        </a:rPr>
                        <a:t>∞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3144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4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293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solidFill>
                            <a:srgbClr val="00B050"/>
                          </a:solidFill>
                        </a:rPr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8326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9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992993"/>
                  </a:ext>
                </a:extLst>
              </a:tr>
            </a:tbl>
          </a:graphicData>
        </a:graphic>
      </p:graphicFrame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marL="0" indent="0" eaLnBrk="1" hangingPunct="1">
              <a:buNone/>
            </a:pPr>
            <a:endParaRPr lang="en-US" altLang="en-US" sz="2400" dirty="0"/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04D81D55-7689-4CF5-80B1-5279B50F5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088" y="21336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/>
              <a:t>                                   </a:t>
            </a:r>
            <a:r>
              <a:rPr lang="en-US" altLang="en-US" sz="2400" kern="0" dirty="0">
                <a:solidFill>
                  <a:srgbClr val="00B050"/>
                </a:solidFill>
              </a:rPr>
              <a:t>Example: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                                  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2</a:t>
            </a:r>
            <a:r>
              <a:rPr lang="en-US" altLang="en-US" sz="2400" kern="0" dirty="0">
                <a:solidFill>
                  <a:srgbClr val="00B050"/>
                </a:solidFill>
              </a:rPr>
              <a:t>[1,3] = min(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1</a:t>
            </a:r>
            <a:r>
              <a:rPr lang="en-US" altLang="en-US" sz="2400" kern="0" dirty="0">
                <a:solidFill>
                  <a:srgbClr val="00B050"/>
                </a:solidFill>
              </a:rPr>
              <a:t>[1,3],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                                                   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1</a:t>
            </a:r>
            <a:r>
              <a:rPr lang="en-US" altLang="en-US" sz="2400" kern="0" dirty="0">
                <a:solidFill>
                  <a:srgbClr val="00B050"/>
                </a:solidFill>
              </a:rPr>
              <a:t>[1,2] +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1</a:t>
            </a:r>
            <a:r>
              <a:rPr lang="en-US" altLang="en-US" sz="2400" kern="0" dirty="0">
                <a:solidFill>
                  <a:srgbClr val="00B050"/>
                </a:solidFill>
              </a:rPr>
              <a:t>[2,3] 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                                              = min(</a:t>
            </a:r>
            <a:r>
              <a:rPr lang="en-US" altLang="en-US" sz="2400" dirty="0">
                <a:solidFill>
                  <a:srgbClr val="00B050"/>
                </a:solidFill>
              </a:rPr>
              <a:t>∞</a:t>
            </a:r>
            <a:r>
              <a:rPr lang="en-US" altLang="en-US" sz="2400" kern="0" dirty="0">
                <a:solidFill>
                  <a:srgbClr val="00B050"/>
                </a:solidFill>
              </a:rPr>
              <a:t>, </a:t>
            </a:r>
            <a:r>
              <a:rPr lang="en-US" altLang="en-US" sz="2400" dirty="0">
                <a:solidFill>
                  <a:srgbClr val="00B050"/>
                </a:solidFill>
              </a:rPr>
              <a:t>∞ + 4)</a:t>
            </a:r>
            <a:endParaRPr lang="en-US" altLang="en-US" sz="2400" kern="0" dirty="0">
              <a:solidFill>
                <a:srgbClr val="00B050"/>
              </a:solidFill>
            </a:endParaRPr>
          </a:p>
          <a:p>
            <a:pPr marL="0" indent="0" eaLnBrk="1" hangingPunct="1">
              <a:buFont typeface="Wingdings" pitchFamily="2" charset="2"/>
              <a:buNone/>
            </a:pPr>
            <a:endParaRPr lang="en-US" altLang="en-US" sz="2800" kern="0" dirty="0"/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endParaRPr lang="en-US" altLang="en-US" sz="800" kern="0" dirty="0"/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endParaRPr lang="en-US" altLang="en-US" sz="2400" kern="0" dirty="0"/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endParaRPr lang="en-US" altLang="en-US" sz="2000" kern="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kern="0" dirty="0">
                <a:solidFill>
                  <a:srgbClr val="FF0000"/>
                </a:solidFill>
              </a:rPr>
              <a:t>A</a:t>
            </a:r>
            <a:r>
              <a:rPr lang="en-US" altLang="en-US" sz="2400" b="1" kern="0" baseline="-25000" dirty="0">
                <a:solidFill>
                  <a:srgbClr val="FF0000"/>
                </a:solidFill>
              </a:rPr>
              <a:t>2</a:t>
            </a:r>
            <a:r>
              <a:rPr lang="en-US" altLang="en-US" sz="2400" b="1" kern="0" dirty="0">
                <a:solidFill>
                  <a:srgbClr val="FF0000"/>
                </a:solidFill>
              </a:rPr>
              <a:t>                                    A</a:t>
            </a:r>
            <a:r>
              <a:rPr lang="en-US" altLang="en-US" sz="2400" b="1" kern="0" baseline="-250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Directed Graph and Adjacency Matrix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995D89E-7260-4D55-9D30-5967B2FE588A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E9F025F-C3DE-419B-AB56-E28D708FE338}"/>
              </a:ext>
            </a:extLst>
          </p:cNvPr>
          <p:cNvGrpSpPr/>
          <p:nvPr/>
        </p:nvGrpSpPr>
        <p:grpSpPr>
          <a:xfrm>
            <a:off x="1219200" y="1997142"/>
            <a:ext cx="2895600" cy="1660458"/>
            <a:chOff x="1219200" y="1997142"/>
            <a:chExt cx="3676650" cy="2085832"/>
          </a:xfrm>
        </p:grpSpPr>
        <p:grpSp>
          <p:nvGrpSpPr>
            <p:cNvPr id="7" name="Group 6"/>
            <p:cNvGrpSpPr/>
            <p:nvPr/>
          </p:nvGrpSpPr>
          <p:grpSpPr>
            <a:xfrm>
              <a:off x="1600200" y="2040294"/>
              <a:ext cx="762000" cy="762000"/>
              <a:chOff x="2133600" y="2133600"/>
              <a:chExt cx="762000" cy="762000"/>
            </a:xfrm>
          </p:grpSpPr>
          <p:sp>
            <p:nvSpPr>
              <p:cNvPr id="5" name="Oval 4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2353338" y="232993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001683" y="3266930"/>
              <a:ext cx="762000" cy="762000"/>
              <a:chOff x="2133600" y="2133600"/>
              <a:chExt cx="762000" cy="762000"/>
            </a:xfrm>
          </p:grpSpPr>
          <p:sp>
            <p:nvSpPr>
              <p:cNvPr id="11" name="Oval 10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353338" y="2329934"/>
                <a:ext cx="33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3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1219200" y="3232666"/>
              <a:ext cx="762000" cy="762000"/>
              <a:chOff x="2133600" y="2133600"/>
              <a:chExt cx="762000" cy="762000"/>
            </a:xfrm>
          </p:grpSpPr>
          <p:sp>
            <p:nvSpPr>
              <p:cNvPr id="14" name="Oval 13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2353338" y="232993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2</a:t>
                </a: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4038600" y="1997142"/>
              <a:ext cx="762000" cy="762000"/>
              <a:chOff x="2133600" y="2133600"/>
              <a:chExt cx="762000" cy="762000"/>
            </a:xfrm>
          </p:grpSpPr>
          <p:sp>
            <p:nvSpPr>
              <p:cNvPr id="20" name="Oval 19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2353338" y="2329934"/>
                <a:ext cx="33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4</a:t>
                </a:r>
              </a:p>
            </p:txBody>
          </p:sp>
        </p:grpSp>
        <p:sp>
          <p:nvSpPr>
            <p:cNvPr id="8" name="Freeform 7"/>
            <p:cNvSpPr/>
            <p:nvPr/>
          </p:nvSpPr>
          <p:spPr bwMode="auto">
            <a:xfrm>
              <a:off x="2313992" y="2062042"/>
              <a:ext cx="1754155" cy="158644"/>
            </a:xfrm>
            <a:custGeom>
              <a:avLst/>
              <a:gdLst>
                <a:gd name="connsiteX0" fmla="*/ 0 w 1754155"/>
                <a:gd name="connsiteY0" fmla="*/ 158644 h 158644"/>
                <a:gd name="connsiteX1" fmla="*/ 886408 w 1754155"/>
                <a:gd name="connsiteY1" fmla="*/ 23 h 158644"/>
                <a:gd name="connsiteX2" fmla="*/ 1754155 w 1754155"/>
                <a:gd name="connsiteY2" fmla="*/ 149313 h 15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4155" h="158644">
                  <a:moveTo>
                    <a:pt x="0" y="158644"/>
                  </a:moveTo>
                  <a:cubicBezTo>
                    <a:pt x="297024" y="80111"/>
                    <a:pt x="594049" y="1578"/>
                    <a:pt x="886408" y="23"/>
                  </a:cubicBezTo>
                  <a:cubicBezTo>
                    <a:pt x="1178767" y="-1532"/>
                    <a:pt x="1466461" y="73890"/>
                    <a:pt x="1754155" y="14931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1553658" y="2667000"/>
              <a:ext cx="122742" cy="545258"/>
            </a:xfrm>
            <a:custGeom>
              <a:avLst/>
              <a:gdLst>
                <a:gd name="connsiteX0" fmla="*/ 122742 w 122742"/>
                <a:gd name="connsiteY0" fmla="*/ 0 h 545258"/>
                <a:gd name="connsiteX1" fmla="*/ 10774 w 122742"/>
                <a:gd name="connsiteY1" fmla="*/ 494523 h 545258"/>
                <a:gd name="connsiteX2" fmla="*/ 10774 w 122742"/>
                <a:gd name="connsiteY2" fmla="*/ 503853 h 54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742" h="545258">
                  <a:moveTo>
                    <a:pt x="122742" y="0"/>
                  </a:moveTo>
                  <a:cubicBezTo>
                    <a:pt x="85419" y="164841"/>
                    <a:pt x="29435" y="410548"/>
                    <a:pt x="10774" y="494523"/>
                  </a:cubicBezTo>
                  <a:cubicBezTo>
                    <a:pt x="-7887" y="578498"/>
                    <a:pt x="1443" y="541175"/>
                    <a:pt x="10774" y="50385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4581" name="Freeform 24580"/>
            <p:cNvSpPr/>
            <p:nvPr/>
          </p:nvSpPr>
          <p:spPr bwMode="auto">
            <a:xfrm>
              <a:off x="1981200" y="2677886"/>
              <a:ext cx="2183363" cy="963830"/>
            </a:xfrm>
            <a:custGeom>
              <a:avLst/>
              <a:gdLst>
                <a:gd name="connsiteX0" fmla="*/ 0 w 2183363"/>
                <a:gd name="connsiteY0" fmla="*/ 951722 h 963830"/>
                <a:gd name="connsiteX1" fmla="*/ 1119674 w 2183363"/>
                <a:gd name="connsiteY1" fmla="*/ 830424 h 963830"/>
                <a:gd name="connsiteX2" fmla="*/ 2183363 w 2183363"/>
                <a:gd name="connsiteY2" fmla="*/ 0 h 963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83363" h="963830">
                  <a:moveTo>
                    <a:pt x="0" y="951722"/>
                  </a:moveTo>
                  <a:cubicBezTo>
                    <a:pt x="377890" y="970383"/>
                    <a:pt x="755780" y="989044"/>
                    <a:pt x="1119674" y="830424"/>
                  </a:cubicBezTo>
                  <a:cubicBezTo>
                    <a:pt x="1483568" y="671804"/>
                    <a:pt x="1833465" y="335902"/>
                    <a:pt x="2183363" y="0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82" name="Freeform 24581"/>
            <p:cNvSpPr/>
            <p:nvPr/>
          </p:nvSpPr>
          <p:spPr bwMode="auto">
            <a:xfrm>
              <a:off x="1862858" y="2556588"/>
              <a:ext cx="2214620" cy="791598"/>
            </a:xfrm>
            <a:custGeom>
              <a:avLst/>
              <a:gdLst>
                <a:gd name="connsiteX0" fmla="*/ 0 w 699796"/>
                <a:gd name="connsiteY0" fmla="*/ 279918 h 279918"/>
                <a:gd name="connsiteX1" fmla="*/ 699796 w 699796"/>
                <a:gd name="connsiteY1" fmla="*/ 0 h 279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9796" h="279918">
                  <a:moveTo>
                    <a:pt x="0" y="279918"/>
                  </a:moveTo>
                  <a:lnTo>
                    <a:pt x="699796" y="0"/>
                  </a:ln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BF7E57F8-B291-486A-BD58-09E37B198A8B}"/>
                </a:ext>
              </a:extLst>
            </p:cNvPr>
            <p:cNvSpPr/>
            <p:nvPr/>
          </p:nvSpPr>
          <p:spPr bwMode="auto">
            <a:xfrm rot="5213813">
              <a:off x="4388281" y="2967047"/>
              <a:ext cx="617894" cy="158644"/>
            </a:xfrm>
            <a:custGeom>
              <a:avLst/>
              <a:gdLst>
                <a:gd name="connsiteX0" fmla="*/ 0 w 1754155"/>
                <a:gd name="connsiteY0" fmla="*/ 158644 h 158644"/>
                <a:gd name="connsiteX1" fmla="*/ 886408 w 1754155"/>
                <a:gd name="connsiteY1" fmla="*/ 23 h 158644"/>
                <a:gd name="connsiteX2" fmla="*/ 1754155 w 1754155"/>
                <a:gd name="connsiteY2" fmla="*/ 149313 h 15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4155" h="158644">
                  <a:moveTo>
                    <a:pt x="0" y="158644"/>
                  </a:moveTo>
                  <a:cubicBezTo>
                    <a:pt x="297024" y="80111"/>
                    <a:pt x="594049" y="1578"/>
                    <a:pt x="886408" y="23"/>
                  </a:cubicBezTo>
                  <a:cubicBezTo>
                    <a:pt x="1178767" y="-1532"/>
                    <a:pt x="1466461" y="73890"/>
                    <a:pt x="1754155" y="14931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5FAA8BAC-C084-45A9-8694-003BB3347A07}"/>
                </a:ext>
              </a:extLst>
            </p:cNvPr>
            <p:cNvSpPr/>
            <p:nvPr/>
          </p:nvSpPr>
          <p:spPr bwMode="auto">
            <a:xfrm rot="16200000">
              <a:off x="3889434" y="2976996"/>
              <a:ext cx="586537" cy="62983"/>
            </a:xfrm>
            <a:custGeom>
              <a:avLst/>
              <a:gdLst>
                <a:gd name="connsiteX0" fmla="*/ 0 w 1754155"/>
                <a:gd name="connsiteY0" fmla="*/ 158644 h 158644"/>
                <a:gd name="connsiteX1" fmla="*/ 886408 w 1754155"/>
                <a:gd name="connsiteY1" fmla="*/ 23 h 158644"/>
                <a:gd name="connsiteX2" fmla="*/ 1754155 w 1754155"/>
                <a:gd name="connsiteY2" fmla="*/ 149313 h 15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4155" h="158644">
                  <a:moveTo>
                    <a:pt x="0" y="158644"/>
                  </a:moveTo>
                  <a:cubicBezTo>
                    <a:pt x="297024" y="80111"/>
                    <a:pt x="594049" y="1578"/>
                    <a:pt x="886408" y="23"/>
                  </a:cubicBezTo>
                  <a:cubicBezTo>
                    <a:pt x="1178767" y="-1532"/>
                    <a:pt x="1466461" y="73890"/>
                    <a:pt x="1754155" y="14931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070DC5A6-1FEA-4728-84FB-23E744E925FF}"/>
                </a:ext>
              </a:extLst>
            </p:cNvPr>
            <p:cNvSpPr/>
            <p:nvPr/>
          </p:nvSpPr>
          <p:spPr bwMode="auto">
            <a:xfrm flipV="1">
              <a:off x="1968759" y="3742715"/>
              <a:ext cx="2060020" cy="45719"/>
            </a:xfrm>
            <a:custGeom>
              <a:avLst/>
              <a:gdLst>
                <a:gd name="connsiteX0" fmla="*/ 122742 w 122742"/>
                <a:gd name="connsiteY0" fmla="*/ 0 h 545258"/>
                <a:gd name="connsiteX1" fmla="*/ 10774 w 122742"/>
                <a:gd name="connsiteY1" fmla="*/ 494523 h 545258"/>
                <a:gd name="connsiteX2" fmla="*/ 10774 w 122742"/>
                <a:gd name="connsiteY2" fmla="*/ 503853 h 54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742" h="545258">
                  <a:moveTo>
                    <a:pt x="122742" y="0"/>
                  </a:moveTo>
                  <a:cubicBezTo>
                    <a:pt x="85419" y="164841"/>
                    <a:pt x="29435" y="410548"/>
                    <a:pt x="10774" y="494523"/>
                  </a:cubicBezTo>
                  <a:cubicBezTo>
                    <a:pt x="-7887" y="578498"/>
                    <a:pt x="1443" y="541175"/>
                    <a:pt x="10774" y="50385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BEC15A9-4291-41C3-BA66-F117ED639585}"/>
                </a:ext>
              </a:extLst>
            </p:cNvPr>
            <p:cNvSpPr txBox="1"/>
            <p:nvPr/>
          </p:nvSpPr>
          <p:spPr>
            <a:xfrm>
              <a:off x="3057719" y="2044968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B8EEA64-7360-40C5-843A-9B14B385E0BD}"/>
                </a:ext>
              </a:extLst>
            </p:cNvPr>
            <p:cNvSpPr txBox="1"/>
            <p:nvPr/>
          </p:nvSpPr>
          <p:spPr>
            <a:xfrm>
              <a:off x="2840708" y="2583055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6294CAD-714F-4353-A29E-2E5874E00209}"/>
                </a:ext>
              </a:extLst>
            </p:cNvPr>
            <p:cNvSpPr txBox="1"/>
            <p:nvPr/>
          </p:nvSpPr>
          <p:spPr>
            <a:xfrm>
              <a:off x="1328631" y="2767721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B539CDA-DFEE-465F-99F4-342A64CDE751}"/>
                </a:ext>
              </a:extLst>
            </p:cNvPr>
            <p:cNvSpPr txBox="1"/>
            <p:nvPr/>
          </p:nvSpPr>
          <p:spPr>
            <a:xfrm>
              <a:off x="3042192" y="3089979"/>
              <a:ext cx="133350" cy="4639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38D0A99-213F-42BB-9EE3-6FDCAB26D86B}"/>
                </a:ext>
              </a:extLst>
            </p:cNvPr>
            <p:cNvSpPr txBox="1"/>
            <p:nvPr/>
          </p:nvSpPr>
          <p:spPr>
            <a:xfrm>
              <a:off x="2903493" y="3713642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5100FB6-BCE7-4C3A-BFC1-C244773F6484}"/>
                </a:ext>
              </a:extLst>
            </p:cNvPr>
            <p:cNvSpPr txBox="1"/>
            <p:nvPr/>
          </p:nvSpPr>
          <p:spPr>
            <a:xfrm>
              <a:off x="4154067" y="2779713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A46AAED-3A5B-4669-9D9F-06A1253CE904}"/>
                </a:ext>
              </a:extLst>
            </p:cNvPr>
            <p:cNvSpPr txBox="1"/>
            <p:nvPr/>
          </p:nvSpPr>
          <p:spPr>
            <a:xfrm>
              <a:off x="4762500" y="2862762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56651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363E8FC7-BC92-4D57-94AE-4EAA5FB0D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926086"/>
              </p:ext>
            </p:extLst>
          </p:nvPr>
        </p:nvGraphicFramePr>
        <p:xfrm>
          <a:off x="1726122" y="3790831"/>
          <a:ext cx="25146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13400765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836489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982998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70395283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48856427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03972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8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3144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293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12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8326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992993"/>
                  </a:ext>
                </a:extLst>
              </a:tr>
            </a:tbl>
          </a:graphicData>
        </a:graphic>
      </p:graphicFrame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marL="0" indent="0" eaLnBrk="1" hangingPunct="1">
              <a:buNone/>
            </a:pPr>
            <a:endParaRPr lang="en-US" altLang="en-US" sz="2400" dirty="0"/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04D81D55-7689-4CF5-80B1-5279B50F5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088" y="21336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/>
              <a:t>                                   </a:t>
            </a:r>
            <a:r>
              <a:rPr lang="en-US" altLang="en-US" sz="2400" kern="0" dirty="0">
                <a:solidFill>
                  <a:srgbClr val="00B050"/>
                </a:solidFill>
              </a:rPr>
              <a:t>Example: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                                  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4</a:t>
            </a:r>
            <a:r>
              <a:rPr lang="en-US" altLang="en-US" sz="2400" kern="0" dirty="0">
                <a:solidFill>
                  <a:srgbClr val="00B050"/>
                </a:solidFill>
              </a:rPr>
              <a:t>[1,3] = min(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3</a:t>
            </a:r>
            <a:r>
              <a:rPr lang="en-US" altLang="en-US" sz="2400" kern="0" dirty="0">
                <a:solidFill>
                  <a:srgbClr val="00B050"/>
                </a:solidFill>
              </a:rPr>
              <a:t>[1,3],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                                                   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3</a:t>
            </a:r>
            <a:r>
              <a:rPr lang="en-US" altLang="en-US" sz="2400" kern="0" dirty="0">
                <a:solidFill>
                  <a:srgbClr val="00B050"/>
                </a:solidFill>
              </a:rPr>
              <a:t>[1,4] +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3</a:t>
            </a:r>
            <a:r>
              <a:rPr lang="en-US" altLang="en-US" sz="2400" kern="0" dirty="0">
                <a:solidFill>
                  <a:srgbClr val="00B050"/>
                </a:solidFill>
              </a:rPr>
              <a:t>[4,3] 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                                              = min(</a:t>
            </a:r>
            <a:r>
              <a:rPr lang="en-US" altLang="en-US" sz="2400" dirty="0">
                <a:solidFill>
                  <a:srgbClr val="00B050"/>
                </a:solidFill>
              </a:rPr>
              <a:t>∞</a:t>
            </a:r>
            <a:r>
              <a:rPr lang="en-US" altLang="en-US" sz="2400" kern="0" dirty="0">
                <a:solidFill>
                  <a:srgbClr val="00B050"/>
                </a:solidFill>
              </a:rPr>
              <a:t>, 1 + 1</a:t>
            </a:r>
            <a:r>
              <a:rPr lang="en-US" altLang="en-US" sz="2400" dirty="0">
                <a:solidFill>
                  <a:srgbClr val="00B050"/>
                </a:solidFill>
              </a:rPr>
              <a:t> )</a:t>
            </a:r>
            <a:endParaRPr lang="en-US" altLang="en-US" sz="2400" kern="0" dirty="0">
              <a:solidFill>
                <a:srgbClr val="00B050"/>
              </a:solidFill>
            </a:endParaRPr>
          </a:p>
          <a:p>
            <a:pPr marL="0" indent="0" eaLnBrk="1" hangingPunct="1">
              <a:buFont typeface="Wingdings" pitchFamily="2" charset="2"/>
              <a:buNone/>
            </a:pPr>
            <a:endParaRPr lang="en-US" altLang="en-US" sz="2800" kern="0" dirty="0"/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endParaRPr lang="en-US" altLang="en-US" sz="800" kern="0" dirty="0"/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endParaRPr lang="en-US" altLang="en-US" sz="2400" kern="0" dirty="0"/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endParaRPr lang="en-US" altLang="en-US" sz="2000" kern="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kern="0" dirty="0">
                <a:solidFill>
                  <a:srgbClr val="FF0000"/>
                </a:solidFill>
              </a:rPr>
              <a:t>A</a:t>
            </a:r>
            <a:r>
              <a:rPr lang="en-US" altLang="en-US" sz="2400" b="1" kern="0" baseline="-25000" dirty="0">
                <a:solidFill>
                  <a:srgbClr val="FF0000"/>
                </a:solidFill>
              </a:rPr>
              <a:t>4</a:t>
            </a:r>
            <a:r>
              <a:rPr lang="en-US" altLang="en-US" sz="2400" b="1" kern="0" dirty="0">
                <a:solidFill>
                  <a:srgbClr val="FF0000"/>
                </a:solidFill>
              </a:rPr>
              <a:t>                                   All "shortest" paths!</a:t>
            </a:r>
            <a:endParaRPr lang="en-US" altLang="en-US" sz="2400" kern="0" dirty="0">
              <a:solidFill>
                <a:srgbClr val="FF0000"/>
              </a:solidFill>
            </a:endParaRP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Directed Graph and Adjacency Matrix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412DE6-EB66-4B9B-9FE1-C2FA877D68B6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E9F025F-C3DE-419B-AB56-E28D708FE338}"/>
              </a:ext>
            </a:extLst>
          </p:cNvPr>
          <p:cNvGrpSpPr/>
          <p:nvPr/>
        </p:nvGrpSpPr>
        <p:grpSpPr>
          <a:xfrm>
            <a:off x="1219200" y="1997142"/>
            <a:ext cx="2895600" cy="1660458"/>
            <a:chOff x="1219200" y="1997142"/>
            <a:chExt cx="3676650" cy="2085832"/>
          </a:xfrm>
        </p:grpSpPr>
        <p:grpSp>
          <p:nvGrpSpPr>
            <p:cNvPr id="7" name="Group 6"/>
            <p:cNvGrpSpPr/>
            <p:nvPr/>
          </p:nvGrpSpPr>
          <p:grpSpPr>
            <a:xfrm>
              <a:off x="1600200" y="2040294"/>
              <a:ext cx="762000" cy="762000"/>
              <a:chOff x="2133600" y="2133600"/>
              <a:chExt cx="762000" cy="762000"/>
            </a:xfrm>
          </p:grpSpPr>
          <p:sp>
            <p:nvSpPr>
              <p:cNvPr id="5" name="Oval 4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2353338" y="232993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001683" y="3266930"/>
              <a:ext cx="762000" cy="762000"/>
              <a:chOff x="2133600" y="2133600"/>
              <a:chExt cx="762000" cy="762000"/>
            </a:xfrm>
          </p:grpSpPr>
          <p:sp>
            <p:nvSpPr>
              <p:cNvPr id="11" name="Oval 10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353338" y="2329934"/>
                <a:ext cx="33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3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1219200" y="3232666"/>
              <a:ext cx="762000" cy="762000"/>
              <a:chOff x="2133600" y="2133600"/>
              <a:chExt cx="762000" cy="762000"/>
            </a:xfrm>
          </p:grpSpPr>
          <p:sp>
            <p:nvSpPr>
              <p:cNvPr id="14" name="Oval 13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2353338" y="232993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2</a:t>
                </a: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4038600" y="1997142"/>
              <a:ext cx="762000" cy="762000"/>
              <a:chOff x="2133600" y="2133600"/>
              <a:chExt cx="762000" cy="762000"/>
            </a:xfrm>
          </p:grpSpPr>
          <p:sp>
            <p:nvSpPr>
              <p:cNvPr id="20" name="Oval 19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2353338" y="2329934"/>
                <a:ext cx="33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4</a:t>
                </a:r>
              </a:p>
            </p:txBody>
          </p:sp>
        </p:grpSp>
        <p:sp>
          <p:nvSpPr>
            <p:cNvPr id="8" name="Freeform 7"/>
            <p:cNvSpPr/>
            <p:nvPr/>
          </p:nvSpPr>
          <p:spPr bwMode="auto">
            <a:xfrm>
              <a:off x="2313992" y="2062042"/>
              <a:ext cx="1754155" cy="158644"/>
            </a:xfrm>
            <a:custGeom>
              <a:avLst/>
              <a:gdLst>
                <a:gd name="connsiteX0" fmla="*/ 0 w 1754155"/>
                <a:gd name="connsiteY0" fmla="*/ 158644 h 158644"/>
                <a:gd name="connsiteX1" fmla="*/ 886408 w 1754155"/>
                <a:gd name="connsiteY1" fmla="*/ 23 h 158644"/>
                <a:gd name="connsiteX2" fmla="*/ 1754155 w 1754155"/>
                <a:gd name="connsiteY2" fmla="*/ 149313 h 15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4155" h="158644">
                  <a:moveTo>
                    <a:pt x="0" y="158644"/>
                  </a:moveTo>
                  <a:cubicBezTo>
                    <a:pt x="297024" y="80111"/>
                    <a:pt x="594049" y="1578"/>
                    <a:pt x="886408" y="23"/>
                  </a:cubicBezTo>
                  <a:cubicBezTo>
                    <a:pt x="1178767" y="-1532"/>
                    <a:pt x="1466461" y="73890"/>
                    <a:pt x="1754155" y="14931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1553658" y="2667000"/>
              <a:ext cx="122742" cy="545258"/>
            </a:xfrm>
            <a:custGeom>
              <a:avLst/>
              <a:gdLst>
                <a:gd name="connsiteX0" fmla="*/ 122742 w 122742"/>
                <a:gd name="connsiteY0" fmla="*/ 0 h 545258"/>
                <a:gd name="connsiteX1" fmla="*/ 10774 w 122742"/>
                <a:gd name="connsiteY1" fmla="*/ 494523 h 545258"/>
                <a:gd name="connsiteX2" fmla="*/ 10774 w 122742"/>
                <a:gd name="connsiteY2" fmla="*/ 503853 h 54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742" h="545258">
                  <a:moveTo>
                    <a:pt x="122742" y="0"/>
                  </a:moveTo>
                  <a:cubicBezTo>
                    <a:pt x="85419" y="164841"/>
                    <a:pt x="29435" y="410548"/>
                    <a:pt x="10774" y="494523"/>
                  </a:cubicBezTo>
                  <a:cubicBezTo>
                    <a:pt x="-7887" y="578498"/>
                    <a:pt x="1443" y="541175"/>
                    <a:pt x="10774" y="50385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4581" name="Freeform 24580"/>
            <p:cNvSpPr/>
            <p:nvPr/>
          </p:nvSpPr>
          <p:spPr bwMode="auto">
            <a:xfrm>
              <a:off x="1981200" y="2677886"/>
              <a:ext cx="2183363" cy="963830"/>
            </a:xfrm>
            <a:custGeom>
              <a:avLst/>
              <a:gdLst>
                <a:gd name="connsiteX0" fmla="*/ 0 w 2183363"/>
                <a:gd name="connsiteY0" fmla="*/ 951722 h 963830"/>
                <a:gd name="connsiteX1" fmla="*/ 1119674 w 2183363"/>
                <a:gd name="connsiteY1" fmla="*/ 830424 h 963830"/>
                <a:gd name="connsiteX2" fmla="*/ 2183363 w 2183363"/>
                <a:gd name="connsiteY2" fmla="*/ 0 h 963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83363" h="963830">
                  <a:moveTo>
                    <a:pt x="0" y="951722"/>
                  </a:moveTo>
                  <a:cubicBezTo>
                    <a:pt x="377890" y="970383"/>
                    <a:pt x="755780" y="989044"/>
                    <a:pt x="1119674" y="830424"/>
                  </a:cubicBezTo>
                  <a:cubicBezTo>
                    <a:pt x="1483568" y="671804"/>
                    <a:pt x="1833465" y="335902"/>
                    <a:pt x="2183363" y="0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82" name="Freeform 24581"/>
            <p:cNvSpPr/>
            <p:nvPr/>
          </p:nvSpPr>
          <p:spPr bwMode="auto">
            <a:xfrm>
              <a:off x="1862858" y="2556588"/>
              <a:ext cx="2214620" cy="791598"/>
            </a:xfrm>
            <a:custGeom>
              <a:avLst/>
              <a:gdLst>
                <a:gd name="connsiteX0" fmla="*/ 0 w 699796"/>
                <a:gd name="connsiteY0" fmla="*/ 279918 h 279918"/>
                <a:gd name="connsiteX1" fmla="*/ 699796 w 699796"/>
                <a:gd name="connsiteY1" fmla="*/ 0 h 279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9796" h="279918">
                  <a:moveTo>
                    <a:pt x="0" y="279918"/>
                  </a:moveTo>
                  <a:lnTo>
                    <a:pt x="699796" y="0"/>
                  </a:ln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BF7E57F8-B291-486A-BD58-09E37B198A8B}"/>
                </a:ext>
              </a:extLst>
            </p:cNvPr>
            <p:cNvSpPr/>
            <p:nvPr/>
          </p:nvSpPr>
          <p:spPr bwMode="auto">
            <a:xfrm rot="5213813">
              <a:off x="4388281" y="2967047"/>
              <a:ext cx="617894" cy="158644"/>
            </a:xfrm>
            <a:custGeom>
              <a:avLst/>
              <a:gdLst>
                <a:gd name="connsiteX0" fmla="*/ 0 w 1754155"/>
                <a:gd name="connsiteY0" fmla="*/ 158644 h 158644"/>
                <a:gd name="connsiteX1" fmla="*/ 886408 w 1754155"/>
                <a:gd name="connsiteY1" fmla="*/ 23 h 158644"/>
                <a:gd name="connsiteX2" fmla="*/ 1754155 w 1754155"/>
                <a:gd name="connsiteY2" fmla="*/ 149313 h 15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4155" h="158644">
                  <a:moveTo>
                    <a:pt x="0" y="158644"/>
                  </a:moveTo>
                  <a:cubicBezTo>
                    <a:pt x="297024" y="80111"/>
                    <a:pt x="594049" y="1578"/>
                    <a:pt x="886408" y="23"/>
                  </a:cubicBezTo>
                  <a:cubicBezTo>
                    <a:pt x="1178767" y="-1532"/>
                    <a:pt x="1466461" y="73890"/>
                    <a:pt x="1754155" y="14931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5FAA8BAC-C084-45A9-8694-003BB3347A07}"/>
                </a:ext>
              </a:extLst>
            </p:cNvPr>
            <p:cNvSpPr/>
            <p:nvPr/>
          </p:nvSpPr>
          <p:spPr bwMode="auto">
            <a:xfrm rot="16200000">
              <a:off x="3889434" y="2976996"/>
              <a:ext cx="586537" cy="62983"/>
            </a:xfrm>
            <a:custGeom>
              <a:avLst/>
              <a:gdLst>
                <a:gd name="connsiteX0" fmla="*/ 0 w 1754155"/>
                <a:gd name="connsiteY0" fmla="*/ 158644 h 158644"/>
                <a:gd name="connsiteX1" fmla="*/ 886408 w 1754155"/>
                <a:gd name="connsiteY1" fmla="*/ 23 h 158644"/>
                <a:gd name="connsiteX2" fmla="*/ 1754155 w 1754155"/>
                <a:gd name="connsiteY2" fmla="*/ 149313 h 15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4155" h="158644">
                  <a:moveTo>
                    <a:pt x="0" y="158644"/>
                  </a:moveTo>
                  <a:cubicBezTo>
                    <a:pt x="297024" y="80111"/>
                    <a:pt x="594049" y="1578"/>
                    <a:pt x="886408" y="23"/>
                  </a:cubicBezTo>
                  <a:cubicBezTo>
                    <a:pt x="1178767" y="-1532"/>
                    <a:pt x="1466461" y="73890"/>
                    <a:pt x="1754155" y="14931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070DC5A6-1FEA-4728-84FB-23E744E925FF}"/>
                </a:ext>
              </a:extLst>
            </p:cNvPr>
            <p:cNvSpPr/>
            <p:nvPr/>
          </p:nvSpPr>
          <p:spPr bwMode="auto">
            <a:xfrm flipV="1">
              <a:off x="1968759" y="3742715"/>
              <a:ext cx="2060020" cy="45719"/>
            </a:xfrm>
            <a:custGeom>
              <a:avLst/>
              <a:gdLst>
                <a:gd name="connsiteX0" fmla="*/ 122742 w 122742"/>
                <a:gd name="connsiteY0" fmla="*/ 0 h 545258"/>
                <a:gd name="connsiteX1" fmla="*/ 10774 w 122742"/>
                <a:gd name="connsiteY1" fmla="*/ 494523 h 545258"/>
                <a:gd name="connsiteX2" fmla="*/ 10774 w 122742"/>
                <a:gd name="connsiteY2" fmla="*/ 503853 h 54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742" h="545258">
                  <a:moveTo>
                    <a:pt x="122742" y="0"/>
                  </a:moveTo>
                  <a:cubicBezTo>
                    <a:pt x="85419" y="164841"/>
                    <a:pt x="29435" y="410548"/>
                    <a:pt x="10774" y="494523"/>
                  </a:cubicBezTo>
                  <a:cubicBezTo>
                    <a:pt x="-7887" y="578498"/>
                    <a:pt x="1443" y="541175"/>
                    <a:pt x="10774" y="50385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BEC15A9-4291-41C3-BA66-F117ED639585}"/>
                </a:ext>
              </a:extLst>
            </p:cNvPr>
            <p:cNvSpPr txBox="1"/>
            <p:nvPr/>
          </p:nvSpPr>
          <p:spPr>
            <a:xfrm>
              <a:off x="3057719" y="2044968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B8EEA64-7360-40C5-843A-9B14B385E0BD}"/>
                </a:ext>
              </a:extLst>
            </p:cNvPr>
            <p:cNvSpPr txBox="1"/>
            <p:nvPr/>
          </p:nvSpPr>
          <p:spPr>
            <a:xfrm>
              <a:off x="2840708" y="2583055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6294CAD-714F-4353-A29E-2E5874E00209}"/>
                </a:ext>
              </a:extLst>
            </p:cNvPr>
            <p:cNvSpPr txBox="1"/>
            <p:nvPr/>
          </p:nvSpPr>
          <p:spPr>
            <a:xfrm>
              <a:off x="1328631" y="2767721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B539CDA-DFEE-465F-99F4-342A64CDE751}"/>
                </a:ext>
              </a:extLst>
            </p:cNvPr>
            <p:cNvSpPr txBox="1"/>
            <p:nvPr/>
          </p:nvSpPr>
          <p:spPr>
            <a:xfrm>
              <a:off x="3042192" y="3089979"/>
              <a:ext cx="133350" cy="4639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38D0A99-213F-42BB-9EE3-6FDCAB26D86B}"/>
                </a:ext>
              </a:extLst>
            </p:cNvPr>
            <p:cNvSpPr txBox="1"/>
            <p:nvPr/>
          </p:nvSpPr>
          <p:spPr>
            <a:xfrm>
              <a:off x="2903493" y="3713642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5100FB6-BCE7-4C3A-BFC1-C244773F6484}"/>
                </a:ext>
              </a:extLst>
            </p:cNvPr>
            <p:cNvSpPr txBox="1"/>
            <p:nvPr/>
          </p:nvSpPr>
          <p:spPr>
            <a:xfrm>
              <a:off x="4154067" y="2779713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A46AAED-3A5B-4669-9D9F-06A1253CE904}"/>
                </a:ext>
              </a:extLst>
            </p:cNvPr>
            <p:cNvSpPr txBox="1"/>
            <p:nvPr/>
          </p:nvSpPr>
          <p:spPr>
            <a:xfrm>
              <a:off x="4762500" y="2862762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31004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9389FAD9-A3E1-4F86-ADEA-90953BA02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897642"/>
              </p:ext>
            </p:extLst>
          </p:nvPr>
        </p:nvGraphicFramePr>
        <p:xfrm>
          <a:off x="5257800" y="3790831"/>
          <a:ext cx="25146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13400765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836489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982998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70395283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48856427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03972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3144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293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8326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992993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363E8FC7-BC92-4D57-94AE-4EAA5FB0D8D7}"/>
              </a:ext>
            </a:extLst>
          </p:cNvPr>
          <p:cNvGraphicFramePr>
            <a:graphicFrameLocks noGrp="1"/>
          </p:cNvGraphicFramePr>
          <p:nvPr/>
        </p:nvGraphicFramePr>
        <p:xfrm>
          <a:off x="1726122" y="3790831"/>
          <a:ext cx="25146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13400765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836489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982998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70395283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48856427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03972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3144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4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293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8326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/>
                        <a:t>∞</a:t>
                      </a: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992993"/>
                  </a:ext>
                </a:extLst>
              </a:tr>
            </a:tbl>
          </a:graphicData>
        </a:graphic>
      </p:graphicFrame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marL="0" indent="0" eaLnBrk="1" hangingPunct="1">
              <a:buNone/>
            </a:pPr>
            <a:endParaRPr lang="en-US" altLang="en-US" sz="2400" dirty="0"/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04D81D55-7689-4CF5-80B1-5279B50F5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088" y="21336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/>
              <a:t>                                   </a:t>
            </a:r>
            <a:r>
              <a:rPr lang="en-US" altLang="en-US" sz="2400" kern="0" dirty="0">
                <a:solidFill>
                  <a:srgbClr val="00B050"/>
                </a:solidFill>
              </a:rPr>
              <a:t>Example: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                                  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1</a:t>
            </a:r>
            <a:r>
              <a:rPr lang="en-US" altLang="en-US" sz="2400" kern="0" dirty="0">
                <a:solidFill>
                  <a:srgbClr val="00B050"/>
                </a:solidFill>
              </a:rPr>
              <a:t>[2,3] = min(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0</a:t>
            </a:r>
            <a:r>
              <a:rPr lang="en-US" altLang="en-US" sz="2400" kern="0" dirty="0">
                <a:solidFill>
                  <a:srgbClr val="00B050"/>
                </a:solidFill>
              </a:rPr>
              <a:t>[2,3],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                                                   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0</a:t>
            </a:r>
            <a:r>
              <a:rPr lang="en-US" altLang="en-US" sz="2400" kern="0" dirty="0">
                <a:solidFill>
                  <a:srgbClr val="00B050"/>
                </a:solidFill>
              </a:rPr>
              <a:t>[2,1] +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0</a:t>
            </a:r>
            <a:r>
              <a:rPr lang="en-US" altLang="en-US" sz="2400" kern="0" dirty="0">
                <a:solidFill>
                  <a:srgbClr val="00B050"/>
                </a:solidFill>
              </a:rPr>
              <a:t>[1,3] 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                                              = min( 4, 2 + </a:t>
            </a:r>
            <a:r>
              <a:rPr lang="en-US" altLang="en-US" sz="2400" dirty="0">
                <a:solidFill>
                  <a:srgbClr val="00B050"/>
                </a:solidFill>
              </a:rPr>
              <a:t>∞ )</a:t>
            </a:r>
            <a:endParaRPr lang="en-US" altLang="en-US" sz="2400" kern="0" dirty="0">
              <a:solidFill>
                <a:srgbClr val="00B050"/>
              </a:solidFill>
            </a:endParaRPr>
          </a:p>
          <a:p>
            <a:pPr marL="0" indent="0" eaLnBrk="1" hangingPunct="1">
              <a:buFont typeface="Wingdings" pitchFamily="2" charset="2"/>
              <a:buNone/>
            </a:pPr>
            <a:endParaRPr lang="en-US" altLang="en-US" sz="2800" kern="0" dirty="0"/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endParaRPr lang="en-US" altLang="en-US" sz="800" kern="0" dirty="0"/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endParaRPr lang="en-US" altLang="en-US" sz="2400" kern="0" dirty="0"/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endParaRPr lang="en-US" altLang="en-US" sz="2000" kern="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kern="0" dirty="0">
                <a:solidFill>
                  <a:srgbClr val="FF0000"/>
                </a:solidFill>
              </a:rPr>
              <a:t>A</a:t>
            </a:r>
            <a:r>
              <a:rPr lang="en-US" altLang="en-US" sz="2400" b="1" kern="0" baseline="-25000" dirty="0">
                <a:solidFill>
                  <a:srgbClr val="FF0000"/>
                </a:solidFill>
              </a:rPr>
              <a:t>0</a:t>
            </a:r>
            <a:r>
              <a:rPr lang="en-US" altLang="en-US" sz="2400" b="1" kern="0" dirty="0">
                <a:solidFill>
                  <a:srgbClr val="FF0000"/>
                </a:solidFill>
              </a:rPr>
              <a:t>                                    A</a:t>
            </a:r>
            <a:r>
              <a:rPr lang="en-US" altLang="en-US" sz="2400" b="1" kern="0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Directed Graph and Adjacency Matrix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A31FFA-47CE-42D5-8B69-2F844DB75923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E9F025F-C3DE-419B-AB56-E28D708FE338}"/>
              </a:ext>
            </a:extLst>
          </p:cNvPr>
          <p:cNvGrpSpPr/>
          <p:nvPr/>
        </p:nvGrpSpPr>
        <p:grpSpPr>
          <a:xfrm>
            <a:off x="1219200" y="1997142"/>
            <a:ext cx="2895600" cy="1660458"/>
            <a:chOff x="1219200" y="1997142"/>
            <a:chExt cx="3676650" cy="2085832"/>
          </a:xfrm>
        </p:grpSpPr>
        <p:grpSp>
          <p:nvGrpSpPr>
            <p:cNvPr id="7" name="Group 6"/>
            <p:cNvGrpSpPr/>
            <p:nvPr/>
          </p:nvGrpSpPr>
          <p:grpSpPr>
            <a:xfrm>
              <a:off x="1600200" y="2040294"/>
              <a:ext cx="762000" cy="762000"/>
              <a:chOff x="2133600" y="2133600"/>
              <a:chExt cx="762000" cy="762000"/>
            </a:xfrm>
          </p:grpSpPr>
          <p:sp>
            <p:nvSpPr>
              <p:cNvPr id="5" name="Oval 4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2353338" y="232993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001683" y="3266930"/>
              <a:ext cx="762000" cy="762000"/>
              <a:chOff x="2133600" y="2133600"/>
              <a:chExt cx="762000" cy="762000"/>
            </a:xfrm>
          </p:grpSpPr>
          <p:sp>
            <p:nvSpPr>
              <p:cNvPr id="11" name="Oval 10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353338" y="2329934"/>
                <a:ext cx="33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3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1219200" y="3232666"/>
              <a:ext cx="762000" cy="762000"/>
              <a:chOff x="2133600" y="2133600"/>
              <a:chExt cx="762000" cy="762000"/>
            </a:xfrm>
          </p:grpSpPr>
          <p:sp>
            <p:nvSpPr>
              <p:cNvPr id="14" name="Oval 13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2353338" y="232993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2</a:t>
                </a: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4038600" y="1997142"/>
              <a:ext cx="762000" cy="762000"/>
              <a:chOff x="2133600" y="2133600"/>
              <a:chExt cx="762000" cy="762000"/>
            </a:xfrm>
          </p:grpSpPr>
          <p:sp>
            <p:nvSpPr>
              <p:cNvPr id="20" name="Oval 19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2353338" y="2329934"/>
                <a:ext cx="33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4</a:t>
                </a:r>
              </a:p>
            </p:txBody>
          </p:sp>
        </p:grpSp>
        <p:sp>
          <p:nvSpPr>
            <p:cNvPr id="8" name="Freeform 7"/>
            <p:cNvSpPr/>
            <p:nvPr/>
          </p:nvSpPr>
          <p:spPr bwMode="auto">
            <a:xfrm>
              <a:off x="2313992" y="2062042"/>
              <a:ext cx="1754155" cy="158644"/>
            </a:xfrm>
            <a:custGeom>
              <a:avLst/>
              <a:gdLst>
                <a:gd name="connsiteX0" fmla="*/ 0 w 1754155"/>
                <a:gd name="connsiteY0" fmla="*/ 158644 h 158644"/>
                <a:gd name="connsiteX1" fmla="*/ 886408 w 1754155"/>
                <a:gd name="connsiteY1" fmla="*/ 23 h 158644"/>
                <a:gd name="connsiteX2" fmla="*/ 1754155 w 1754155"/>
                <a:gd name="connsiteY2" fmla="*/ 149313 h 15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4155" h="158644">
                  <a:moveTo>
                    <a:pt x="0" y="158644"/>
                  </a:moveTo>
                  <a:cubicBezTo>
                    <a:pt x="297024" y="80111"/>
                    <a:pt x="594049" y="1578"/>
                    <a:pt x="886408" y="23"/>
                  </a:cubicBezTo>
                  <a:cubicBezTo>
                    <a:pt x="1178767" y="-1532"/>
                    <a:pt x="1466461" y="73890"/>
                    <a:pt x="1754155" y="14931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1553658" y="2667000"/>
              <a:ext cx="122742" cy="545258"/>
            </a:xfrm>
            <a:custGeom>
              <a:avLst/>
              <a:gdLst>
                <a:gd name="connsiteX0" fmla="*/ 122742 w 122742"/>
                <a:gd name="connsiteY0" fmla="*/ 0 h 545258"/>
                <a:gd name="connsiteX1" fmla="*/ 10774 w 122742"/>
                <a:gd name="connsiteY1" fmla="*/ 494523 h 545258"/>
                <a:gd name="connsiteX2" fmla="*/ 10774 w 122742"/>
                <a:gd name="connsiteY2" fmla="*/ 503853 h 54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742" h="545258">
                  <a:moveTo>
                    <a:pt x="122742" y="0"/>
                  </a:moveTo>
                  <a:cubicBezTo>
                    <a:pt x="85419" y="164841"/>
                    <a:pt x="29435" y="410548"/>
                    <a:pt x="10774" y="494523"/>
                  </a:cubicBezTo>
                  <a:cubicBezTo>
                    <a:pt x="-7887" y="578498"/>
                    <a:pt x="1443" y="541175"/>
                    <a:pt x="10774" y="50385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4581" name="Freeform 24580"/>
            <p:cNvSpPr/>
            <p:nvPr/>
          </p:nvSpPr>
          <p:spPr bwMode="auto">
            <a:xfrm>
              <a:off x="1981200" y="2677886"/>
              <a:ext cx="2183363" cy="963830"/>
            </a:xfrm>
            <a:custGeom>
              <a:avLst/>
              <a:gdLst>
                <a:gd name="connsiteX0" fmla="*/ 0 w 2183363"/>
                <a:gd name="connsiteY0" fmla="*/ 951722 h 963830"/>
                <a:gd name="connsiteX1" fmla="*/ 1119674 w 2183363"/>
                <a:gd name="connsiteY1" fmla="*/ 830424 h 963830"/>
                <a:gd name="connsiteX2" fmla="*/ 2183363 w 2183363"/>
                <a:gd name="connsiteY2" fmla="*/ 0 h 963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83363" h="963830">
                  <a:moveTo>
                    <a:pt x="0" y="951722"/>
                  </a:moveTo>
                  <a:cubicBezTo>
                    <a:pt x="377890" y="970383"/>
                    <a:pt x="755780" y="989044"/>
                    <a:pt x="1119674" y="830424"/>
                  </a:cubicBezTo>
                  <a:cubicBezTo>
                    <a:pt x="1483568" y="671804"/>
                    <a:pt x="1833465" y="335902"/>
                    <a:pt x="2183363" y="0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82" name="Freeform 24581"/>
            <p:cNvSpPr/>
            <p:nvPr/>
          </p:nvSpPr>
          <p:spPr bwMode="auto">
            <a:xfrm>
              <a:off x="1862858" y="2556588"/>
              <a:ext cx="2214620" cy="791598"/>
            </a:xfrm>
            <a:custGeom>
              <a:avLst/>
              <a:gdLst>
                <a:gd name="connsiteX0" fmla="*/ 0 w 699796"/>
                <a:gd name="connsiteY0" fmla="*/ 279918 h 279918"/>
                <a:gd name="connsiteX1" fmla="*/ 699796 w 699796"/>
                <a:gd name="connsiteY1" fmla="*/ 0 h 279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9796" h="279918">
                  <a:moveTo>
                    <a:pt x="0" y="279918"/>
                  </a:moveTo>
                  <a:lnTo>
                    <a:pt x="699796" y="0"/>
                  </a:ln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BF7E57F8-B291-486A-BD58-09E37B198A8B}"/>
                </a:ext>
              </a:extLst>
            </p:cNvPr>
            <p:cNvSpPr/>
            <p:nvPr/>
          </p:nvSpPr>
          <p:spPr bwMode="auto">
            <a:xfrm rot="5213813">
              <a:off x="4388281" y="2967047"/>
              <a:ext cx="617894" cy="158644"/>
            </a:xfrm>
            <a:custGeom>
              <a:avLst/>
              <a:gdLst>
                <a:gd name="connsiteX0" fmla="*/ 0 w 1754155"/>
                <a:gd name="connsiteY0" fmla="*/ 158644 h 158644"/>
                <a:gd name="connsiteX1" fmla="*/ 886408 w 1754155"/>
                <a:gd name="connsiteY1" fmla="*/ 23 h 158644"/>
                <a:gd name="connsiteX2" fmla="*/ 1754155 w 1754155"/>
                <a:gd name="connsiteY2" fmla="*/ 149313 h 15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4155" h="158644">
                  <a:moveTo>
                    <a:pt x="0" y="158644"/>
                  </a:moveTo>
                  <a:cubicBezTo>
                    <a:pt x="297024" y="80111"/>
                    <a:pt x="594049" y="1578"/>
                    <a:pt x="886408" y="23"/>
                  </a:cubicBezTo>
                  <a:cubicBezTo>
                    <a:pt x="1178767" y="-1532"/>
                    <a:pt x="1466461" y="73890"/>
                    <a:pt x="1754155" y="14931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5FAA8BAC-C084-45A9-8694-003BB3347A07}"/>
                </a:ext>
              </a:extLst>
            </p:cNvPr>
            <p:cNvSpPr/>
            <p:nvPr/>
          </p:nvSpPr>
          <p:spPr bwMode="auto">
            <a:xfrm rot="16200000">
              <a:off x="3889434" y="2976996"/>
              <a:ext cx="586537" cy="62983"/>
            </a:xfrm>
            <a:custGeom>
              <a:avLst/>
              <a:gdLst>
                <a:gd name="connsiteX0" fmla="*/ 0 w 1754155"/>
                <a:gd name="connsiteY0" fmla="*/ 158644 h 158644"/>
                <a:gd name="connsiteX1" fmla="*/ 886408 w 1754155"/>
                <a:gd name="connsiteY1" fmla="*/ 23 h 158644"/>
                <a:gd name="connsiteX2" fmla="*/ 1754155 w 1754155"/>
                <a:gd name="connsiteY2" fmla="*/ 149313 h 15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4155" h="158644">
                  <a:moveTo>
                    <a:pt x="0" y="158644"/>
                  </a:moveTo>
                  <a:cubicBezTo>
                    <a:pt x="297024" y="80111"/>
                    <a:pt x="594049" y="1578"/>
                    <a:pt x="886408" y="23"/>
                  </a:cubicBezTo>
                  <a:cubicBezTo>
                    <a:pt x="1178767" y="-1532"/>
                    <a:pt x="1466461" y="73890"/>
                    <a:pt x="1754155" y="14931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070DC5A6-1FEA-4728-84FB-23E744E925FF}"/>
                </a:ext>
              </a:extLst>
            </p:cNvPr>
            <p:cNvSpPr/>
            <p:nvPr/>
          </p:nvSpPr>
          <p:spPr bwMode="auto">
            <a:xfrm flipV="1">
              <a:off x="1968759" y="3742715"/>
              <a:ext cx="2060020" cy="45719"/>
            </a:xfrm>
            <a:custGeom>
              <a:avLst/>
              <a:gdLst>
                <a:gd name="connsiteX0" fmla="*/ 122742 w 122742"/>
                <a:gd name="connsiteY0" fmla="*/ 0 h 545258"/>
                <a:gd name="connsiteX1" fmla="*/ 10774 w 122742"/>
                <a:gd name="connsiteY1" fmla="*/ 494523 h 545258"/>
                <a:gd name="connsiteX2" fmla="*/ 10774 w 122742"/>
                <a:gd name="connsiteY2" fmla="*/ 503853 h 54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742" h="545258">
                  <a:moveTo>
                    <a:pt x="122742" y="0"/>
                  </a:moveTo>
                  <a:cubicBezTo>
                    <a:pt x="85419" y="164841"/>
                    <a:pt x="29435" y="410548"/>
                    <a:pt x="10774" y="494523"/>
                  </a:cubicBezTo>
                  <a:cubicBezTo>
                    <a:pt x="-7887" y="578498"/>
                    <a:pt x="1443" y="541175"/>
                    <a:pt x="10774" y="50385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BEC15A9-4291-41C3-BA66-F117ED639585}"/>
                </a:ext>
              </a:extLst>
            </p:cNvPr>
            <p:cNvSpPr txBox="1"/>
            <p:nvPr/>
          </p:nvSpPr>
          <p:spPr>
            <a:xfrm>
              <a:off x="3057719" y="2044968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B8EEA64-7360-40C5-843A-9B14B385E0BD}"/>
                </a:ext>
              </a:extLst>
            </p:cNvPr>
            <p:cNvSpPr txBox="1"/>
            <p:nvPr/>
          </p:nvSpPr>
          <p:spPr>
            <a:xfrm>
              <a:off x="2840708" y="2583055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6294CAD-714F-4353-A29E-2E5874E00209}"/>
                </a:ext>
              </a:extLst>
            </p:cNvPr>
            <p:cNvSpPr txBox="1"/>
            <p:nvPr/>
          </p:nvSpPr>
          <p:spPr>
            <a:xfrm>
              <a:off x="1328631" y="2767721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B539CDA-DFEE-465F-99F4-342A64CDE751}"/>
                </a:ext>
              </a:extLst>
            </p:cNvPr>
            <p:cNvSpPr txBox="1"/>
            <p:nvPr/>
          </p:nvSpPr>
          <p:spPr>
            <a:xfrm>
              <a:off x="3042192" y="3089979"/>
              <a:ext cx="133350" cy="4639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38D0A99-213F-42BB-9EE3-6FDCAB26D86B}"/>
                </a:ext>
              </a:extLst>
            </p:cNvPr>
            <p:cNvSpPr txBox="1"/>
            <p:nvPr/>
          </p:nvSpPr>
          <p:spPr>
            <a:xfrm>
              <a:off x="2903493" y="3713642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5100FB6-BCE7-4C3A-BFC1-C244773F6484}"/>
                </a:ext>
              </a:extLst>
            </p:cNvPr>
            <p:cNvSpPr txBox="1"/>
            <p:nvPr/>
          </p:nvSpPr>
          <p:spPr>
            <a:xfrm>
              <a:off x="4154067" y="2779713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A46AAED-3A5B-4669-9D9F-06A1253CE904}"/>
                </a:ext>
              </a:extLst>
            </p:cNvPr>
            <p:cNvSpPr txBox="1"/>
            <p:nvPr/>
          </p:nvSpPr>
          <p:spPr>
            <a:xfrm>
              <a:off x="4762500" y="2862762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4249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9389FAD9-A3E1-4F86-ADEA-90953BA02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443033"/>
              </p:ext>
            </p:extLst>
          </p:nvPr>
        </p:nvGraphicFramePr>
        <p:xfrm>
          <a:off x="5257800" y="3790831"/>
          <a:ext cx="25146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13400765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836489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982998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70395283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48856427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03972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3144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293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8326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992993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363E8FC7-BC92-4D57-94AE-4EAA5FB0D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218039"/>
              </p:ext>
            </p:extLst>
          </p:nvPr>
        </p:nvGraphicFramePr>
        <p:xfrm>
          <a:off x="1726122" y="3790831"/>
          <a:ext cx="25146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13400765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836489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982998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70395283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48856427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03972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3144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293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8326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992993"/>
                  </a:ext>
                </a:extLst>
              </a:tr>
            </a:tbl>
          </a:graphicData>
        </a:graphic>
      </p:graphicFrame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marL="0" indent="0" eaLnBrk="1" hangingPunct="1">
              <a:buNone/>
            </a:pPr>
            <a:endParaRPr lang="en-US" altLang="en-US" sz="2400" dirty="0"/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04D81D55-7689-4CF5-80B1-5279B50F5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088" y="21336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kern="0" dirty="0"/>
              <a:t>                                   </a:t>
            </a:r>
            <a:r>
              <a:rPr lang="en-US" altLang="en-US" sz="2400" kern="0" dirty="0">
                <a:solidFill>
                  <a:srgbClr val="00B050"/>
                </a:solidFill>
              </a:rPr>
              <a:t>Example: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                                  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2</a:t>
            </a:r>
            <a:r>
              <a:rPr lang="en-US" altLang="en-US" sz="2400" kern="0" dirty="0">
                <a:solidFill>
                  <a:srgbClr val="00B050"/>
                </a:solidFill>
              </a:rPr>
              <a:t>[1,3] = min(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1</a:t>
            </a:r>
            <a:r>
              <a:rPr lang="en-US" altLang="en-US" sz="2400" kern="0" dirty="0">
                <a:solidFill>
                  <a:srgbClr val="00B050"/>
                </a:solidFill>
              </a:rPr>
              <a:t>[1,3],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                                                   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1</a:t>
            </a:r>
            <a:r>
              <a:rPr lang="en-US" altLang="en-US" sz="2400" kern="0" dirty="0">
                <a:solidFill>
                  <a:srgbClr val="00B050"/>
                </a:solidFill>
              </a:rPr>
              <a:t>[1,2] +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1</a:t>
            </a:r>
            <a:r>
              <a:rPr lang="en-US" altLang="en-US" sz="2400" kern="0" dirty="0">
                <a:solidFill>
                  <a:srgbClr val="00B050"/>
                </a:solidFill>
              </a:rPr>
              <a:t>[2,3] 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                                              = min( 4, 2 + </a:t>
            </a:r>
            <a:r>
              <a:rPr lang="en-US" altLang="en-US" sz="2400" dirty="0">
                <a:solidFill>
                  <a:srgbClr val="00B050"/>
                </a:solidFill>
              </a:rPr>
              <a:t>∞ )</a:t>
            </a:r>
            <a:endParaRPr lang="en-US" altLang="en-US" sz="2400" kern="0" dirty="0">
              <a:solidFill>
                <a:srgbClr val="00B050"/>
              </a:solidFill>
            </a:endParaRPr>
          </a:p>
          <a:p>
            <a:pPr marL="0" indent="0" eaLnBrk="1" hangingPunct="1">
              <a:buFont typeface="Wingdings" pitchFamily="2" charset="2"/>
              <a:buNone/>
            </a:pPr>
            <a:endParaRPr lang="en-US" altLang="en-US" sz="2800" kern="0" dirty="0"/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endParaRPr lang="en-US" altLang="en-US" sz="800" kern="0" dirty="0"/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endParaRPr lang="en-US" altLang="en-US" sz="2400" kern="0" dirty="0"/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endParaRPr lang="en-US" altLang="en-US" sz="2000" kern="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kern="0" dirty="0">
                <a:solidFill>
                  <a:srgbClr val="FF0000"/>
                </a:solidFill>
              </a:rPr>
              <a:t>A</a:t>
            </a:r>
            <a:r>
              <a:rPr lang="en-US" altLang="en-US" sz="2400" b="1" kern="0" baseline="-25000" dirty="0">
                <a:solidFill>
                  <a:srgbClr val="FF0000"/>
                </a:solidFill>
              </a:rPr>
              <a:t>1</a:t>
            </a:r>
            <a:r>
              <a:rPr lang="en-US" altLang="en-US" sz="2400" b="1" kern="0" dirty="0">
                <a:solidFill>
                  <a:srgbClr val="FF0000"/>
                </a:solidFill>
              </a:rPr>
              <a:t>                                    A</a:t>
            </a:r>
            <a:r>
              <a:rPr lang="en-US" altLang="en-US" sz="2400" b="1" kern="0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Directed Graph and Adjacency Matrix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DB42D2-7E4B-4BDF-B380-C288B1DCC913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E9F025F-C3DE-419B-AB56-E28D708FE338}"/>
              </a:ext>
            </a:extLst>
          </p:cNvPr>
          <p:cNvGrpSpPr/>
          <p:nvPr/>
        </p:nvGrpSpPr>
        <p:grpSpPr>
          <a:xfrm>
            <a:off x="1219200" y="1997142"/>
            <a:ext cx="2895600" cy="1660458"/>
            <a:chOff x="1219200" y="1997142"/>
            <a:chExt cx="3676650" cy="2085832"/>
          </a:xfrm>
        </p:grpSpPr>
        <p:grpSp>
          <p:nvGrpSpPr>
            <p:cNvPr id="7" name="Group 6"/>
            <p:cNvGrpSpPr/>
            <p:nvPr/>
          </p:nvGrpSpPr>
          <p:grpSpPr>
            <a:xfrm>
              <a:off x="1600200" y="2040294"/>
              <a:ext cx="762000" cy="762000"/>
              <a:chOff x="2133600" y="2133600"/>
              <a:chExt cx="762000" cy="762000"/>
            </a:xfrm>
          </p:grpSpPr>
          <p:sp>
            <p:nvSpPr>
              <p:cNvPr id="5" name="Oval 4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2353338" y="232993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001683" y="3266930"/>
              <a:ext cx="762000" cy="762000"/>
              <a:chOff x="2133600" y="2133600"/>
              <a:chExt cx="762000" cy="762000"/>
            </a:xfrm>
          </p:grpSpPr>
          <p:sp>
            <p:nvSpPr>
              <p:cNvPr id="11" name="Oval 10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353338" y="2329934"/>
                <a:ext cx="33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3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1219200" y="3232666"/>
              <a:ext cx="762000" cy="762000"/>
              <a:chOff x="2133600" y="2133600"/>
              <a:chExt cx="762000" cy="762000"/>
            </a:xfrm>
          </p:grpSpPr>
          <p:sp>
            <p:nvSpPr>
              <p:cNvPr id="14" name="Oval 13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2353338" y="232993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2</a:t>
                </a: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4038600" y="1997142"/>
              <a:ext cx="762000" cy="762000"/>
              <a:chOff x="2133600" y="2133600"/>
              <a:chExt cx="762000" cy="762000"/>
            </a:xfrm>
          </p:grpSpPr>
          <p:sp>
            <p:nvSpPr>
              <p:cNvPr id="20" name="Oval 19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2353338" y="2329934"/>
                <a:ext cx="33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4</a:t>
                </a:r>
              </a:p>
            </p:txBody>
          </p:sp>
        </p:grpSp>
        <p:sp>
          <p:nvSpPr>
            <p:cNvPr id="8" name="Freeform 7"/>
            <p:cNvSpPr/>
            <p:nvPr/>
          </p:nvSpPr>
          <p:spPr bwMode="auto">
            <a:xfrm>
              <a:off x="2313992" y="2062042"/>
              <a:ext cx="1754155" cy="158644"/>
            </a:xfrm>
            <a:custGeom>
              <a:avLst/>
              <a:gdLst>
                <a:gd name="connsiteX0" fmla="*/ 0 w 1754155"/>
                <a:gd name="connsiteY0" fmla="*/ 158644 h 158644"/>
                <a:gd name="connsiteX1" fmla="*/ 886408 w 1754155"/>
                <a:gd name="connsiteY1" fmla="*/ 23 h 158644"/>
                <a:gd name="connsiteX2" fmla="*/ 1754155 w 1754155"/>
                <a:gd name="connsiteY2" fmla="*/ 149313 h 15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4155" h="158644">
                  <a:moveTo>
                    <a:pt x="0" y="158644"/>
                  </a:moveTo>
                  <a:cubicBezTo>
                    <a:pt x="297024" y="80111"/>
                    <a:pt x="594049" y="1578"/>
                    <a:pt x="886408" y="23"/>
                  </a:cubicBezTo>
                  <a:cubicBezTo>
                    <a:pt x="1178767" y="-1532"/>
                    <a:pt x="1466461" y="73890"/>
                    <a:pt x="1754155" y="14931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1553658" y="2667000"/>
              <a:ext cx="122742" cy="545258"/>
            </a:xfrm>
            <a:custGeom>
              <a:avLst/>
              <a:gdLst>
                <a:gd name="connsiteX0" fmla="*/ 122742 w 122742"/>
                <a:gd name="connsiteY0" fmla="*/ 0 h 545258"/>
                <a:gd name="connsiteX1" fmla="*/ 10774 w 122742"/>
                <a:gd name="connsiteY1" fmla="*/ 494523 h 545258"/>
                <a:gd name="connsiteX2" fmla="*/ 10774 w 122742"/>
                <a:gd name="connsiteY2" fmla="*/ 503853 h 54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742" h="545258">
                  <a:moveTo>
                    <a:pt x="122742" y="0"/>
                  </a:moveTo>
                  <a:cubicBezTo>
                    <a:pt x="85419" y="164841"/>
                    <a:pt x="29435" y="410548"/>
                    <a:pt x="10774" y="494523"/>
                  </a:cubicBezTo>
                  <a:cubicBezTo>
                    <a:pt x="-7887" y="578498"/>
                    <a:pt x="1443" y="541175"/>
                    <a:pt x="10774" y="50385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4581" name="Freeform 24580"/>
            <p:cNvSpPr/>
            <p:nvPr/>
          </p:nvSpPr>
          <p:spPr bwMode="auto">
            <a:xfrm>
              <a:off x="1981200" y="2677886"/>
              <a:ext cx="2183363" cy="963830"/>
            </a:xfrm>
            <a:custGeom>
              <a:avLst/>
              <a:gdLst>
                <a:gd name="connsiteX0" fmla="*/ 0 w 2183363"/>
                <a:gd name="connsiteY0" fmla="*/ 951722 h 963830"/>
                <a:gd name="connsiteX1" fmla="*/ 1119674 w 2183363"/>
                <a:gd name="connsiteY1" fmla="*/ 830424 h 963830"/>
                <a:gd name="connsiteX2" fmla="*/ 2183363 w 2183363"/>
                <a:gd name="connsiteY2" fmla="*/ 0 h 963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83363" h="963830">
                  <a:moveTo>
                    <a:pt x="0" y="951722"/>
                  </a:moveTo>
                  <a:cubicBezTo>
                    <a:pt x="377890" y="970383"/>
                    <a:pt x="755780" y="989044"/>
                    <a:pt x="1119674" y="830424"/>
                  </a:cubicBezTo>
                  <a:cubicBezTo>
                    <a:pt x="1483568" y="671804"/>
                    <a:pt x="1833465" y="335902"/>
                    <a:pt x="2183363" y="0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82" name="Freeform 24581"/>
            <p:cNvSpPr/>
            <p:nvPr/>
          </p:nvSpPr>
          <p:spPr bwMode="auto">
            <a:xfrm>
              <a:off x="1862858" y="2556588"/>
              <a:ext cx="2214620" cy="791598"/>
            </a:xfrm>
            <a:custGeom>
              <a:avLst/>
              <a:gdLst>
                <a:gd name="connsiteX0" fmla="*/ 0 w 699796"/>
                <a:gd name="connsiteY0" fmla="*/ 279918 h 279918"/>
                <a:gd name="connsiteX1" fmla="*/ 699796 w 699796"/>
                <a:gd name="connsiteY1" fmla="*/ 0 h 279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9796" h="279918">
                  <a:moveTo>
                    <a:pt x="0" y="279918"/>
                  </a:moveTo>
                  <a:lnTo>
                    <a:pt x="699796" y="0"/>
                  </a:ln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BF7E57F8-B291-486A-BD58-09E37B198A8B}"/>
                </a:ext>
              </a:extLst>
            </p:cNvPr>
            <p:cNvSpPr/>
            <p:nvPr/>
          </p:nvSpPr>
          <p:spPr bwMode="auto">
            <a:xfrm rot="5213813">
              <a:off x="4388281" y="2967047"/>
              <a:ext cx="617894" cy="158644"/>
            </a:xfrm>
            <a:custGeom>
              <a:avLst/>
              <a:gdLst>
                <a:gd name="connsiteX0" fmla="*/ 0 w 1754155"/>
                <a:gd name="connsiteY0" fmla="*/ 158644 h 158644"/>
                <a:gd name="connsiteX1" fmla="*/ 886408 w 1754155"/>
                <a:gd name="connsiteY1" fmla="*/ 23 h 158644"/>
                <a:gd name="connsiteX2" fmla="*/ 1754155 w 1754155"/>
                <a:gd name="connsiteY2" fmla="*/ 149313 h 15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4155" h="158644">
                  <a:moveTo>
                    <a:pt x="0" y="158644"/>
                  </a:moveTo>
                  <a:cubicBezTo>
                    <a:pt x="297024" y="80111"/>
                    <a:pt x="594049" y="1578"/>
                    <a:pt x="886408" y="23"/>
                  </a:cubicBezTo>
                  <a:cubicBezTo>
                    <a:pt x="1178767" y="-1532"/>
                    <a:pt x="1466461" y="73890"/>
                    <a:pt x="1754155" y="14931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5FAA8BAC-C084-45A9-8694-003BB3347A07}"/>
                </a:ext>
              </a:extLst>
            </p:cNvPr>
            <p:cNvSpPr/>
            <p:nvPr/>
          </p:nvSpPr>
          <p:spPr bwMode="auto">
            <a:xfrm rot="16200000">
              <a:off x="3889434" y="2976996"/>
              <a:ext cx="586537" cy="62983"/>
            </a:xfrm>
            <a:custGeom>
              <a:avLst/>
              <a:gdLst>
                <a:gd name="connsiteX0" fmla="*/ 0 w 1754155"/>
                <a:gd name="connsiteY0" fmla="*/ 158644 h 158644"/>
                <a:gd name="connsiteX1" fmla="*/ 886408 w 1754155"/>
                <a:gd name="connsiteY1" fmla="*/ 23 h 158644"/>
                <a:gd name="connsiteX2" fmla="*/ 1754155 w 1754155"/>
                <a:gd name="connsiteY2" fmla="*/ 149313 h 15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4155" h="158644">
                  <a:moveTo>
                    <a:pt x="0" y="158644"/>
                  </a:moveTo>
                  <a:cubicBezTo>
                    <a:pt x="297024" y="80111"/>
                    <a:pt x="594049" y="1578"/>
                    <a:pt x="886408" y="23"/>
                  </a:cubicBezTo>
                  <a:cubicBezTo>
                    <a:pt x="1178767" y="-1532"/>
                    <a:pt x="1466461" y="73890"/>
                    <a:pt x="1754155" y="14931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070DC5A6-1FEA-4728-84FB-23E744E925FF}"/>
                </a:ext>
              </a:extLst>
            </p:cNvPr>
            <p:cNvSpPr/>
            <p:nvPr/>
          </p:nvSpPr>
          <p:spPr bwMode="auto">
            <a:xfrm flipV="1">
              <a:off x="1968759" y="3742715"/>
              <a:ext cx="2060020" cy="45719"/>
            </a:xfrm>
            <a:custGeom>
              <a:avLst/>
              <a:gdLst>
                <a:gd name="connsiteX0" fmla="*/ 122742 w 122742"/>
                <a:gd name="connsiteY0" fmla="*/ 0 h 545258"/>
                <a:gd name="connsiteX1" fmla="*/ 10774 w 122742"/>
                <a:gd name="connsiteY1" fmla="*/ 494523 h 545258"/>
                <a:gd name="connsiteX2" fmla="*/ 10774 w 122742"/>
                <a:gd name="connsiteY2" fmla="*/ 503853 h 54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742" h="545258">
                  <a:moveTo>
                    <a:pt x="122742" y="0"/>
                  </a:moveTo>
                  <a:cubicBezTo>
                    <a:pt x="85419" y="164841"/>
                    <a:pt x="29435" y="410548"/>
                    <a:pt x="10774" y="494523"/>
                  </a:cubicBezTo>
                  <a:cubicBezTo>
                    <a:pt x="-7887" y="578498"/>
                    <a:pt x="1443" y="541175"/>
                    <a:pt x="10774" y="50385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BEC15A9-4291-41C3-BA66-F117ED639585}"/>
                </a:ext>
              </a:extLst>
            </p:cNvPr>
            <p:cNvSpPr txBox="1"/>
            <p:nvPr/>
          </p:nvSpPr>
          <p:spPr>
            <a:xfrm>
              <a:off x="3057719" y="2044968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B8EEA64-7360-40C5-843A-9B14B385E0BD}"/>
                </a:ext>
              </a:extLst>
            </p:cNvPr>
            <p:cNvSpPr txBox="1"/>
            <p:nvPr/>
          </p:nvSpPr>
          <p:spPr>
            <a:xfrm>
              <a:off x="2840708" y="2583055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6294CAD-714F-4353-A29E-2E5874E00209}"/>
                </a:ext>
              </a:extLst>
            </p:cNvPr>
            <p:cNvSpPr txBox="1"/>
            <p:nvPr/>
          </p:nvSpPr>
          <p:spPr>
            <a:xfrm>
              <a:off x="1328631" y="2767721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B539CDA-DFEE-465F-99F4-342A64CDE751}"/>
                </a:ext>
              </a:extLst>
            </p:cNvPr>
            <p:cNvSpPr txBox="1"/>
            <p:nvPr/>
          </p:nvSpPr>
          <p:spPr>
            <a:xfrm>
              <a:off x="3042192" y="3089979"/>
              <a:ext cx="133350" cy="4639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38D0A99-213F-42BB-9EE3-6FDCAB26D86B}"/>
                </a:ext>
              </a:extLst>
            </p:cNvPr>
            <p:cNvSpPr txBox="1"/>
            <p:nvPr/>
          </p:nvSpPr>
          <p:spPr>
            <a:xfrm>
              <a:off x="2903493" y="3713642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5100FB6-BCE7-4C3A-BFC1-C244773F6484}"/>
                </a:ext>
              </a:extLst>
            </p:cNvPr>
            <p:cNvSpPr txBox="1"/>
            <p:nvPr/>
          </p:nvSpPr>
          <p:spPr>
            <a:xfrm>
              <a:off x="4154067" y="2779713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A46AAED-3A5B-4669-9D9F-06A1253CE904}"/>
                </a:ext>
              </a:extLst>
            </p:cNvPr>
            <p:cNvSpPr txBox="1"/>
            <p:nvPr/>
          </p:nvSpPr>
          <p:spPr>
            <a:xfrm>
              <a:off x="4762500" y="2862762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9631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9389FAD9-A3E1-4F86-ADEA-90953BA020A4}"/>
              </a:ext>
            </a:extLst>
          </p:cNvPr>
          <p:cNvGraphicFramePr>
            <a:graphicFrameLocks noGrp="1"/>
          </p:cNvGraphicFramePr>
          <p:nvPr/>
        </p:nvGraphicFramePr>
        <p:xfrm>
          <a:off x="5257800" y="3790831"/>
          <a:ext cx="25146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13400765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836489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982998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70395283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48856427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03972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3144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293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8326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992993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363E8FC7-BC92-4D57-94AE-4EAA5FB0D8D7}"/>
              </a:ext>
            </a:extLst>
          </p:cNvPr>
          <p:cNvGraphicFramePr>
            <a:graphicFrameLocks noGrp="1"/>
          </p:cNvGraphicFramePr>
          <p:nvPr/>
        </p:nvGraphicFramePr>
        <p:xfrm>
          <a:off x="1726122" y="3790831"/>
          <a:ext cx="25146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13400765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836489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982998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70395283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48856427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03972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3144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293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8326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992993"/>
                  </a:ext>
                </a:extLst>
              </a:tr>
            </a:tbl>
          </a:graphicData>
        </a:graphic>
      </p:graphicFrame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marL="0" indent="0" eaLnBrk="1" hangingPunct="1">
              <a:buNone/>
            </a:pPr>
            <a:endParaRPr lang="en-US" altLang="en-US" sz="2400" dirty="0"/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04D81D55-7689-4CF5-80B1-5279B50F5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088" y="21336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kern="0" dirty="0"/>
              <a:t>                                   </a:t>
            </a:r>
            <a:r>
              <a:rPr lang="en-US" altLang="en-US" sz="2400" kern="0" dirty="0">
                <a:solidFill>
                  <a:srgbClr val="00B050"/>
                </a:solidFill>
              </a:rPr>
              <a:t>Example: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                                  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3</a:t>
            </a:r>
            <a:r>
              <a:rPr lang="en-US" altLang="en-US" sz="2400" kern="0" dirty="0">
                <a:solidFill>
                  <a:srgbClr val="00B050"/>
                </a:solidFill>
              </a:rPr>
              <a:t>[1,3] = min(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2</a:t>
            </a:r>
            <a:r>
              <a:rPr lang="en-US" altLang="en-US" sz="2400" kern="0" dirty="0">
                <a:solidFill>
                  <a:srgbClr val="00B050"/>
                </a:solidFill>
              </a:rPr>
              <a:t>[1,3],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                                                   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2</a:t>
            </a:r>
            <a:r>
              <a:rPr lang="en-US" altLang="en-US" sz="2400" kern="0" dirty="0">
                <a:solidFill>
                  <a:srgbClr val="00B050"/>
                </a:solidFill>
              </a:rPr>
              <a:t>[1,2] +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2</a:t>
            </a:r>
            <a:r>
              <a:rPr lang="en-US" altLang="en-US" sz="2400" kern="0" dirty="0">
                <a:solidFill>
                  <a:srgbClr val="00B050"/>
                </a:solidFill>
              </a:rPr>
              <a:t>[2,3] 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                                              = min( 4, 2 + </a:t>
            </a:r>
            <a:r>
              <a:rPr lang="en-US" altLang="en-US" sz="2400" dirty="0">
                <a:solidFill>
                  <a:srgbClr val="00B050"/>
                </a:solidFill>
              </a:rPr>
              <a:t>∞ )</a:t>
            </a:r>
            <a:endParaRPr lang="en-US" altLang="en-US" sz="2400" kern="0" dirty="0">
              <a:solidFill>
                <a:srgbClr val="00B050"/>
              </a:solidFill>
            </a:endParaRPr>
          </a:p>
          <a:p>
            <a:pPr marL="0" indent="0" eaLnBrk="1" hangingPunct="1">
              <a:buFont typeface="Wingdings" pitchFamily="2" charset="2"/>
              <a:buNone/>
            </a:pPr>
            <a:endParaRPr lang="en-US" altLang="en-US" sz="2800" kern="0" dirty="0"/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endParaRPr lang="en-US" altLang="en-US" sz="800" kern="0" dirty="0"/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endParaRPr lang="en-US" altLang="en-US" sz="2400" kern="0" dirty="0"/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endParaRPr lang="en-US" altLang="en-US" sz="2000" kern="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kern="0" dirty="0">
                <a:solidFill>
                  <a:srgbClr val="FF0000"/>
                </a:solidFill>
              </a:rPr>
              <a:t>A</a:t>
            </a:r>
            <a:r>
              <a:rPr lang="en-US" altLang="en-US" sz="2400" b="1" kern="0" baseline="-25000" dirty="0">
                <a:solidFill>
                  <a:srgbClr val="FF0000"/>
                </a:solidFill>
              </a:rPr>
              <a:t>2</a:t>
            </a:r>
            <a:r>
              <a:rPr lang="en-US" altLang="en-US" sz="2400" b="1" kern="0" dirty="0">
                <a:solidFill>
                  <a:srgbClr val="FF0000"/>
                </a:solidFill>
              </a:rPr>
              <a:t>                                    A</a:t>
            </a:r>
            <a:r>
              <a:rPr lang="en-US" altLang="en-US" sz="2400" b="1" kern="0" baseline="-250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Directed Graph and Adjacency Matrix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587AE4-E1C5-4F15-BA75-4E991C534ABC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E9F025F-C3DE-419B-AB56-E28D708FE338}"/>
              </a:ext>
            </a:extLst>
          </p:cNvPr>
          <p:cNvGrpSpPr/>
          <p:nvPr/>
        </p:nvGrpSpPr>
        <p:grpSpPr>
          <a:xfrm>
            <a:off x="1219200" y="1997142"/>
            <a:ext cx="2895600" cy="1660458"/>
            <a:chOff x="1219200" y="1997142"/>
            <a:chExt cx="3676650" cy="2085832"/>
          </a:xfrm>
        </p:grpSpPr>
        <p:grpSp>
          <p:nvGrpSpPr>
            <p:cNvPr id="7" name="Group 6"/>
            <p:cNvGrpSpPr/>
            <p:nvPr/>
          </p:nvGrpSpPr>
          <p:grpSpPr>
            <a:xfrm>
              <a:off x="1600200" y="2040294"/>
              <a:ext cx="762000" cy="762000"/>
              <a:chOff x="2133600" y="2133600"/>
              <a:chExt cx="762000" cy="762000"/>
            </a:xfrm>
          </p:grpSpPr>
          <p:sp>
            <p:nvSpPr>
              <p:cNvPr id="5" name="Oval 4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2353338" y="232993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001683" y="3266930"/>
              <a:ext cx="762000" cy="762000"/>
              <a:chOff x="2133600" y="2133600"/>
              <a:chExt cx="762000" cy="762000"/>
            </a:xfrm>
          </p:grpSpPr>
          <p:sp>
            <p:nvSpPr>
              <p:cNvPr id="11" name="Oval 10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353338" y="2329934"/>
                <a:ext cx="33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3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1219200" y="3232666"/>
              <a:ext cx="762000" cy="762000"/>
              <a:chOff x="2133600" y="2133600"/>
              <a:chExt cx="762000" cy="762000"/>
            </a:xfrm>
          </p:grpSpPr>
          <p:sp>
            <p:nvSpPr>
              <p:cNvPr id="14" name="Oval 13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2353338" y="232993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2</a:t>
                </a: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4038600" y="1997142"/>
              <a:ext cx="762000" cy="762000"/>
              <a:chOff x="2133600" y="2133600"/>
              <a:chExt cx="762000" cy="762000"/>
            </a:xfrm>
          </p:grpSpPr>
          <p:sp>
            <p:nvSpPr>
              <p:cNvPr id="20" name="Oval 19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2353338" y="2329934"/>
                <a:ext cx="33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4</a:t>
                </a:r>
              </a:p>
            </p:txBody>
          </p:sp>
        </p:grpSp>
        <p:sp>
          <p:nvSpPr>
            <p:cNvPr id="8" name="Freeform 7"/>
            <p:cNvSpPr/>
            <p:nvPr/>
          </p:nvSpPr>
          <p:spPr bwMode="auto">
            <a:xfrm>
              <a:off x="2313992" y="2062042"/>
              <a:ext cx="1754155" cy="158644"/>
            </a:xfrm>
            <a:custGeom>
              <a:avLst/>
              <a:gdLst>
                <a:gd name="connsiteX0" fmla="*/ 0 w 1754155"/>
                <a:gd name="connsiteY0" fmla="*/ 158644 h 158644"/>
                <a:gd name="connsiteX1" fmla="*/ 886408 w 1754155"/>
                <a:gd name="connsiteY1" fmla="*/ 23 h 158644"/>
                <a:gd name="connsiteX2" fmla="*/ 1754155 w 1754155"/>
                <a:gd name="connsiteY2" fmla="*/ 149313 h 15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4155" h="158644">
                  <a:moveTo>
                    <a:pt x="0" y="158644"/>
                  </a:moveTo>
                  <a:cubicBezTo>
                    <a:pt x="297024" y="80111"/>
                    <a:pt x="594049" y="1578"/>
                    <a:pt x="886408" y="23"/>
                  </a:cubicBezTo>
                  <a:cubicBezTo>
                    <a:pt x="1178767" y="-1532"/>
                    <a:pt x="1466461" y="73890"/>
                    <a:pt x="1754155" y="14931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1553658" y="2667000"/>
              <a:ext cx="122742" cy="545258"/>
            </a:xfrm>
            <a:custGeom>
              <a:avLst/>
              <a:gdLst>
                <a:gd name="connsiteX0" fmla="*/ 122742 w 122742"/>
                <a:gd name="connsiteY0" fmla="*/ 0 h 545258"/>
                <a:gd name="connsiteX1" fmla="*/ 10774 w 122742"/>
                <a:gd name="connsiteY1" fmla="*/ 494523 h 545258"/>
                <a:gd name="connsiteX2" fmla="*/ 10774 w 122742"/>
                <a:gd name="connsiteY2" fmla="*/ 503853 h 54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742" h="545258">
                  <a:moveTo>
                    <a:pt x="122742" y="0"/>
                  </a:moveTo>
                  <a:cubicBezTo>
                    <a:pt x="85419" y="164841"/>
                    <a:pt x="29435" y="410548"/>
                    <a:pt x="10774" y="494523"/>
                  </a:cubicBezTo>
                  <a:cubicBezTo>
                    <a:pt x="-7887" y="578498"/>
                    <a:pt x="1443" y="541175"/>
                    <a:pt x="10774" y="50385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4581" name="Freeform 24580"/>
            <p:cNvSpPr/>
            <p:nvPr/>
          </p:nvSpPr>
          <p:spPr bwMode="auto">
            <a:xfrm>
              <a:off x="1981200" y="2677886"/>
              <a:ext cx="2183363" cy="963830"/>
            </a:xfrm>
            <a:custGeom>
              <a:avLst/>
              <a:gdLst>
                <a:gd name="connsiteX0" fmla="*/ 0 w 2183363"/>
                <a:gd name="connsiteY0" fmla="*/ 951722 h 963830"/>
                <a:gd name="connsiteX1" fmla="*/ 1119674 w 2183363"/>
                <a:gd name="connsiteY1" fmla="*/ 830424 h 963830"/>
                <a:gd name="connsiteX2" fmla="*/ 2183363 w 2183363"/>
                <a:gd name="connsiteY2" fmla="*/ 0 h 963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83363" h="963830">
                  <a:moveTo>
                    <a:pt x="0" y="951722"/>
                  </a:moveTo>
                  <a:cubicBezTo>
                    <a:pt x="377890" y="970383"/>
                    <a:pt x="755780" y="989044"/>
                    <a:pt x="1119674" y="830424"/>
                  </a:cubicBezTo>
                  <a:cubicBezTo>
                    <a:pt x="1483568" y="671804"/>
                    <a:pt x="1833465" y="335902"/>
                    <a:pt x="2183363" y="0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82" name="Freeform 24581"/>
            <p:cNvSpPr/>
            <p:nvPr/>
          </p:nvSpPr>
          <p:spPr bwMode="auto">
            <a:xfrm>
              <a:off x="1862858" y="2556588"/>
              <a:ext cx="2214620" cy="791598"/>
            </a:xfrm>
            <a:custGeom>
              <a:avLst/>
              <a:gdLst>
                <a:gd name="connsiteX0" fmla="*/ 0 w 699796"/>
                <a:gd name="connsiteY0" fmla="*/ 279918 h 279918"/>
                <a:gd name="connsiteX1" fmla="*/ 699796 w 699796"/>
                <a:gd name="connsiteY1" fmla="*/ 0 h 279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9796" h="279918">
                  <a:moveTo>
                    <a:pt x="0" y="279918"/>
                  </a:moveTo>
                  <a:lnTo>
                    <a:pt x="699796" y="0"/>
                  </a:ln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BF7E57F8-B291-486A-BD58-09E37B198A8B}"/>
                </a:ext>
              </a:extLst>
            </p:cNvPr>
            <p:cNvSpPr/>
            <p:nvPr/>
          </p:nvSpPr>
          <p:spPr bwMode="auto">
            <a:xfrm rot="5213813">
              <a:off x="4388281" y="2967047"/>
              <a:ext cx="617894" cy="158644"/>
            </a:xfrm>
            <a:custGeom>
              <a:avLst/>
              <a:gdLst>
                <a:gd name="connsiteX0" fmla="*/ 0 w 1754155"/>
                <a:gd name="connsiteY0" fmla="*/ 158644 h 158644"/>
                <a:gd name="connsiteX1" fmla="*/ 886408 w 1754155"/>
                <a:gd name="connsiteY1" fmla="*/ 23 h 158644"/>
                <a:gd name="connsiteX2" fmla="*/ 1754155 w 1754155"/>
                <a:gd name="connsiteY2" fmla="*/ 149313 h 15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4155" h="158644">
                  <a:moveTo>
                    <a:pt x="0" y="158644"/>
                  </a:moveTo>
                  <a:cubicBezTo>
                    <a:pt x="297024" y="80111"/>
                    <a:pt x="594049" y="1578"/>
                    <a:pt x="886408" y="23"/>
                  </a:cubicBezTo>
                  <a:cubicBezTo>
                    <a:pt x="1178767" y="-1532"/>
                    <a:pt x="1466461" y="73890"/>
                    <a:pt x="1754155" y="14931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5FAA8BAC-C084-45A9-8694-003BB3347A07}"/>
                </a:ext>
              </a:extLst>
            </p:cNvPr>
            <p:cNvSpPr/>
            <p:nvPr/>
          </p:nvSpPr>
          <p:spPr bwMode="auto">
            <a:xfrm rot="16200000">
              <a:off x="3889434" y="2976996"/>
              <a:ext cx="586537" cy="62983"/>
            </a:xfrm>
            <a:custGeom>
              <a:avLst/>
              <a:gdLst>
                <a:gd name="connsiteX0" fmla="*/ 0 w 1754155"/>
                <a:gd name="connsiteY0" fmla="*/ 158644 h 158644"/>
                <a:gd name="connsiteX1" fmla="*/ 886408 w 1754155"/>
                <a:gd name="connsiteY1" fmla="*/ 23 h 158644"/>
                <a:gd name="connsiteX2" fmla="*/ 1754155 w 1754155"/>
                <a:gd name="connsiteY2" fmla="*/ 149313 h 15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4155" h="158644">
                  <a:moveTo>
                    <a:pt x="0" y="158644"/>
                  </a:moveTo>
                  <a:cubicBezTo>
                    <a:pt x="297024" y="80111"/>
                    <a:pt x="594049" y="1578"/>
                    <a:pt x="886408" y="23"/>
                  </a:cubicBezTo>
                  <a:cubicBezTo>
                    <a:pt x="1178767" y="-1532"/>
                    <a:pt x="1466461" y="73890"/>
                    <a:pt x="1754155" y="14931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070DC5A6-1FEA-4728-84FB-23E744E925FF}"/>
                </a:ext>
              </a:extLst>
            </p:cNvPr>
            <p:cNvSpPr/>
            <p:nvPr/>
          </p:nvSpPr>
          <p:spPr bwMode="auto">
            <a:xfrm flipV="1">
              <a:off x="1968759" y="3742715"/>
              <a:ext cx="2060020" cy="45719"/>
            </a:xfrm>
            <a:custGeom>
              <a:avLst/>
              <a:gdLst>
                <a:gd name="connsiteX0" fmla="*/ 122742 w 122742"/>
                <a:gd name="connsiteY0" fmla="*/ 0 h 545258"/>
                <a:gd name="connsiteX1" fmla="*/ 10774 w 122742"/>
                <a:gd name="connsiteY1" fmla="*/ 494523 h 545258"/>
                <a:gd name="connsiteX2" fmla="*/ 10774 w 122742"/>
                <a:gd name="connsiteY2" fmla="*/ 503853 h 54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742" h="545258">
                  <a:moveTo>
                    <a:pt x="122742" y="0"/>
                  </a:moveTo>
                  <a:cubicBezTo>
                    <a:pt x="85419" y="164841"/>
                    <a:pt x="29435" y="410548"/>
                    <a:pt x="10774" y="494523"/>
                  </a:cubicBezTo>
                  <a:cubicBezTo>
                    <a:pt x="-7887" y="578498"/>
                    <a:pt x="1443" y="541175"/>
                    <a:pt x="10774" y="50385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BEC15A9-4291-41C3-BA66-F117ED639585}"/>
                </a:ext>
              </a:extLst>
            </p:cNvPr>
            <p:cNvSpPr txBox="1"/>
            <p:nvPr/>
          </p:nvSpPr>
          <p:spPr>
            <a:xfrm>
              <a:off x="3057719" y="2044968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B8EEA64-7360-40C5-843A-9B14B385E0BD}"/>
                </a:ext>
              </a:extLst>
            </p:cNvPr>
            <p:cNvSpPr txBox="1"/>
            <p:nvPr/>
          </p:nvSpPr>
          <p:spPr>
            <a:xfrm>
              <a:off x="2840708" y="2583055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6294CAD-714F-4353-A29E-2E5874E00209}"/>
                </a:ext>
              </a:extLst>
            </p:cNvPr>
            <p:cNvSpPr txBox="1"/>
            <p:nvPr/>
          </p:nvSpPr>
          <p:spPr>
            <a:xfrm>
              <a:off x="1328631" y="2767721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B539CDA-DFEE-465F-99F4-342A64CDE751}"/>
                </a:ext>
              </a:extLst>
            </p:cNvPr>
            <p:cNvSpPr txBox="1"/>
            <p:nvPr/>
          </p:nvSpPr>
          <p:spPr>
            <a:xfrm>
              <a:off x="3042192" y="3089979"/>
              <a:ext cx="133350" cy="4639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38D0A99-213F-42BB-9EE3-6FDCAB26D86B}"/>
                </a:ext>
              </a:extLst>
            </p:cNvPr>
            <p:cNvSpPr txBox="1"/>
            <p:nvPr/>
          </p:nvSpPr>
          <p:spPr>
            <a:xfrm>
              <a:off x="2903493" y="3713642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5100FB6-BCE7-4C3A-BFC1-C244773F6484}"/>
                </a:ext>
              </a:extLst>
            </p:cNvPr>
            <p:cNvSpPr txBox="1"/>
            <p:nvPr/>
          </p:nvSpPr>
          <p:spPr>
            <a:xfrm>
              <a:off x="4154067" y="2779713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A46AAED-3A5B-4669-9D9F-06A1253CE904}"/>
                </a:ext>
              </a:extLst>
            </p:cNvPr>
            <p:cNvSpPr txBox="1"/>
            <p:nvPr/>
          </p:nvSpPr>
          <p:spPr>
            <a:xfrm>
              <a:off x="4762500" y="2862762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11737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9389FAD9-A3E1-4F86-ADEA-90953BA020A4}"/>
              </a:ext>
            </a:extLst>
          </p:cNvPr>
          <p:cNvGraphicFramePr>
            <a:graphicFrameLocks noGrp="1"/>
          </p:cNvGraphicFramePr>
          <p:nvPr/>
        </p:nvGraphicFramePr>
        <p:xfrm>
          <a:off x="5257800" y="3790831"/>
          <a:ext cx="25146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13400765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836489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982998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70395283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48856427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03972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3144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293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8326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992993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363E8FC7-BC92-4D57-94AE-4EAA5FB0D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236953"/>
              </p:ext>
            </p:extLst>
          </p:nvPr>
        </p:nvGraphicFramePr>
        <p:xfrm>
          <a:off x="1726122" y="3790831"/>
          <a:ext cx="25146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13400765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836489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982998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70395283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48856427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03972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3144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293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83267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992993"/>
                  </a:ext>
                </a:extLst>
              </a:tr>
            </a:tbl>
          </a:graphicData>
        </a:graphic>
      </p:graphicFrame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marL="0" indent="0" eaLnBrk="1" hangingPunct="1">
              <a:buNone/>
            </a:pPr>
            <a:endParaRPr lang="en-US" altLang="en-US" sz="2400" dirty="0"/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04D81D55-7689-4CF5-80B1-5279B50F5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088" y="21336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kern="0" dirty="0"/>
              <a:t>                                   </a:t>
            </a:r>
            <a:r>
              <a:rPr lang="en-US" altLang="en-US" sz="2400" kern="0" dirty="0">
                <a:solidFill>
                  <a:srgbClr val="00B050"/>
                </a:solidFill>
              </a:rPr>
              <a:t>Example: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                                  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4</a:t>
            </a:r>
            <a:r>
              <a:rPr lang="en-US" altLang="en-US" sz="2400" kern="0" dirty="0">
                <a:solidFill>
                  <a:srgbClr val="00B050"/>
                </a:solidFill>
              </a:rPr>
              <a:t>[1,3] = min(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3</a:t>
            </a:r>
            <a:r>
              <a:rPr lang="en-US" altLang="en-US" sz="2400" kern="0" dirty="0">
                <a:solidFill>
                  <a:srgbClr val="00B050"/>
                </a:solidFill>
              </a:rPr>
              <a:t>[1,3],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                                                   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3</a:t>
            </a:r>
            <a:r>
              <a:rPr lang="en-US" altLang="en-US" sz="2400" kern="0" dirty="0">
                <a:solidFill>
                  <a:srgbClr val="00B050"/>
                </a:solidFill>
              </a:rPr>
              <a:t>[1,4] + A</a:t>
            </a:r>
            <a:r>
              <a:rPr lang="en-US" altLang="en-US" sz="2400" kern="0" baseline="-25000" dirty="0">
                <a:solidFill>
                  <a:srgbClr val="00B050"/>
                </a:solidFill>
              </a:rPr>
              <a:t>3</a:t>
            </a:r>
            <a:r>
              <a:rPr lang="en-US" altLang="en-US" sz="2400" kern="0" dirty="0">
                <a:solidFill>
                  <a:srgbClr val="00B050"/>
                </a:solidFill>
              </a:rPr>
              <a:t>[4,3] 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kern="0" dirty="0">
                <a:solidFill>
                  <a:srgbClr val="00B050"/>
                </a:solidFill>
              </a:rPr>
              <a:t>                                              = min(</a:t>
            </a:r>
            <a:r>
              <a:rPr lang="en-US" altLang="en-US" sz="2400" dirty="0">
                <a:solidFill>
                  <a:srgbClr val="00B050"/>
                </a:solidFill>
              </a:rPr>
              <a:t>∞</a:t>
            </a:r>
            <a:r>
              <a:rPr lang="en-US" altLang="en-US" sz="2400" kern="0" dirty="0">
                <a:solidFill>
                  <a:srgbClr val="00B050"/>
                </a:solidFill>
              </a:rPr>
              <a:t>, 1 + </a:t>
            </a:r>
            <a:r>
              <a:rPr lang="en-US" altLang="en-US" sz="2400" dirty="0">
                <a:solidFill>
                  <a:srgbClr val="00B050"/>
                </a:solidFill>
              </a:rPr>
              <a:t>1 )</a:t>
            </a:r>
            <a:endParaRPr lang="en-US" altLang="en-US" sz="2400" kern="0" dirty="0">
              <a:solidFill>
                <a:srgbClr val="00B050"/>
              </a:solidFill>
            </a:endParaRPr>
          </a:p>
          <a:p>
            <a:pPr marL="0" indent="0" eaLnBrk="1" hangingPunct="1">
              <a:buFont typeface="Wingdings" pitchFamily="2" charset="2"/>
              <a:buNone/>
            </a:pPr>
            <a:endParaRPr lang="en-US" altLang="en-US" sz="2800" kern="0" dirty="0"/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endParaRPr lang="en-US" altLang="en-US" sz="800" kern="0" dirty="0"/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endParaRPr lang="en-US" altLang="en-US" sz="2400" kern="0" dirty="0"/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endParaRPr lang="en-US" altLang="en-US" sz="2000" kern="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kern="0" dirty="0">
                <a:solidFill>
                  <a:srgbClr val="FF0000"/>
                </a:solidFill>
              </a:rPr>
              <a:t>A</a:t>
            </a:r>
            <a:r>
              <a:rPr lang="en-US" altLang="en-US" sz="2400" b="1" kern="0" baseline="-25000" dirty="0">
                <a:solidFill>
                  <a:srgbClr val="FF0000"/>
                </a:solidFill>
              </a:rPr>
              <a:t>3</a:t>
            </a:r>
            <a:r>
              <a:rPr lang="en-US" altLang="en-US" sz="2400" b="1" kern="0" dirty="0">
                <a:solidFill>
                  <a:srgbClr val="FF0000"/>
                </a:solidFill>
              </a:rPr>
              <a:t>                                    A</a:t>
            </a:r>
            <a:r>
              <a:rPr lang="en-US" altLang="en-US" sz="2400" b="1" kern="0" baseline="-250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Directed Graph and Adjacency Matrix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9D327D9-496A-4701-A1D5-FF5BADB8E691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E9F025F-C3DE-419B-AB56-E28D708FE338}"/>
              </a:ext>
            </a:extLst>
          </p:cNvPr>
          <p:cNvGrpSpPr/>
          <p:nvPr/>
        </p:nvGrpSpPr>
        <p:grpSpPr>
          <a:xfrm>
            <a:off x="1219200" y="1997142"/>
            <a:ext cx="2895600" cy="1660458"/>
            <a:chOff x="1219200" y="1997142"/>
            <a:chExt cx="3676650" cy="2085832"/>
          </a:xfrm>
        </p:grpSpPr>
        <p:grpSp>
          <p:nvGrpSpPr>
            <p:cNvPr id="7" name="Group 6"/>
            <p:cNvGrpSpPr/>
            <p:nvPr/>
          </p:nvGrpSpPr>
          <p:grpSpPr>
            <a:xfrm>
              <a:off x="1600200" y="2040294"/>
              <a:ext cx="762000" cy="762000"/>
              <a:chOff x="2133600" y="2133600"/>
              <a:chExt cx="762000" cy="762000"/>
            </a:xfrm>
          </p:grpSpPr>
          <p:sp>
            <p:nvSpPr>
              <p:cNvPr id="5" name="Oval 4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2353338" y="232993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001683" y="3266930"/>
              <a:ext cx="762000" cy="762000"/>
              <a:chOff x="2133600" y="2133600"/>
              <a:chExt cx="762000" cy="762000"/>
            </a:xfrm>
          </p:grpSpPr>
          <p:sp>
            <p:nvSpPr>
              <p:cNvPr id="11" name="Oval 10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353338" y="2329934"/>
                <a:ext cx="33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3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1219200" y="3232666"/>
              <a:ext cx="762000" cy="762000"/>
              <a:chOff x="2133600" y="2133600"/>
              <a:chExt cx="762000" cy="762000"/>
            </a:xfrm>
          </p:grpSpPr>
          <p:sp>
            <p:nvSpPr>
              <p:cNvPr id="14" name="Oval 13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2353338" y="232993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2</a:t>
                </a: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4038600" y="1997142"/>
              <a:ext cx="762000" cy="762000"/>
              <a:chOff x="2133600" y="2133600"/>
              <a:chExt cx="762000" cy="762000"/>
            </a:xfrm>
          </p:grpSpPr>
          <p:sp>
            <p:nvSpPr>
              <p:cNvPr id="20" name="Oval 19"/>
              <p:cNvSpPr/>
              <p:nvPr/>
            </p:nvSpPr>
            <p:spPr bwMode="auto">
              <a:xfrm>
                <a:off x="2133600" y="2133600"/>
                <a:ext cx="762000" cy="762000"/>
              </a:xfrm>
              <a:prstGeom prst="ellipse">
                <a:avLst/>
              </a:prstGeom>
              <a:noFill/>
              <a:ln w="381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2353338" y="2329934"/>
                <a:ext cx="33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4</a:t>
                </a:r>
              </a:p>
            </p:txBody>
          </p:sp>
        </p:grpSp>
        <p:sp>
          <p:nvSpPr>
            <p:cNvPr id="8" name="Freeform 7"/>
            <p:cNvSpPr/>
            <p:nvPr/>
          </p:nvSpPr>
          <p:spPr bwMode="auto">
            <a:xfrm>
              <a:off x="2313992" y="2062042"/>
              <a:ext cx="1754155" cy="158644"/>
            </a:xfrm>
            <a:custGeom>
              <a:avLst/>
              <a:gdLst>
                <a:gd name="connsiteX0" fmla="*/ 0 w 1754155"/>
                <a:gd name="connsiteY0" fmla="*/ 158644 h 158644"/>
                <a:gd name="connsiteX1" fmla="*/ 886408 w 1754155"/>
                <a:gd name="connsiteY1" fmla="*/ 23 h 158644"/>
                <a:gd name="connsiteX2" fmla="*/ 1754155 w 1754155"/>
                <a:gd name="connsiteY2" fmla="*/ 149313 h 15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4155" h="158644">
                  <a:moveTo>
                    <a:pt x="0" y="158644"/>
                  </a:moveTo>
                  <a:cubicBezTo>
                    <a:pt x="297024" y="80111"/>
                    <a:pt x="594049" y="1578"/>
                    <a:pt x="886408" y="23"/>
                  </a:cubicBezTo>
                  <a:cubicBezTo>
                    <a:pt x="1178767" y="-1532"/>
                    <a:pt x="1466461" y="73890"/>
                    <a:pt x="1754155" y="14931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1553658" y="2667000"/>
              <a:ext cx="122742" cy="545258"/>
            </a:xfrm>
            <a:custGeom>
              <a:avLst/>
              <a:gdLst>
                <a:gd name="connsiteX0" fmla="*/ 122742 w 122742"/>
                <a:gd name="connsiteY0" fmla="*/ 0 h 545258"/>
                <a:gd name="connsiteX1" fmla="*/ 10774 w 122742"/>
                <a:gd name="connsiteY1" fmla="*/ 494523 h 545258"/>
                <a:gd name="connsiteX2" fmla="*/ 10774 w 122742"/>
                <a:gd name="connsiteY2" fmla="*/ 503853 h 54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742" h="545258">
                  <a:moveTo>
                    <a:pt x="122742" y="0"/>
                  </a:moveTo>
                  <a:cubicBezTo>
                    <a:pt x="85419" y="164841"/>
                    <a:pt x="29435" y="410548"/>
                    <a:pt x="10774" y="494523"/>
                  </a:cubicBezTo>
                  <a:cubicBezTo>
                    <a:pt x="-7887" y="578498"/>
                    <a:pt x="1443" y="541175"/>
                    <a:pt x="10774" y="50385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4581" name="Freeform 24580"/>
            <p:cNvSpPr/>
            <p:nvPr/>
          </p:nvSpPr>
          <p:spPr bwMode="auto">
            <a:xfrm>
              <a:off x="1981200" y="2677886"/>
              <a:ext cx="2183363" cy="963830"/>
            </a:xfrm>
            <a:custGeom>
              <a:avLst/>
              <a:gdLst>
                <a:gd name="connsiteX0" fmla="*/ 0 w 2183363"/>
                <a:gd name="connsiteY0" fmla="*/ 951722 h 963830"/>
                <a:gd name="connsiteX1" fmla="*/ 1119674 w 2183363"/>
                <a:gd name="connsiteY1" fmla="*/ 830424 h 963830"/>
                <a:gd name="connsiteX2" fmla="*/ 2183363 w 2183363"/>
                <a:gd name="connsiteY2" fmla="*/ 0 h 963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83363" h="963830">
                  <a:moveTo>
                    <a:pt x="0" y="951722"/>
                  </a:moveTo>
                  <a:cubicBezTo>
                    <a:pt x="377890" y="970383"/>
                    <a:pt x="755780" y="989044"/>
                    <a:pt x="1119674" y="830424"/>
                  </a:cubicBezTo>
                  <a:cubicBezTo>
                    <a:pt x="1483568" y="671804"/>
                    <a:pt x="1833465" y="335902"/>
                    <a:pt x="2183363" y="0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82" name="Freeform 24581"/>
            <p:cNvSpPr/>
            <p:nvPr/>
          </p:nvSpPr>
          <p:spPr bwMode="auto">
            <a:xfrm>
              <a:off x="1862858" y="2556588"/>
              <a:ext cx="2214620" cy="791598"/>
            </a:xfrm>
            <a:custGeom>
              <a:avLst/>
              <a:gdLst>
                <a:gd name="connsiteX0" fmla="*/ 0 w 699796"/>
                <a:gd name="connsiteY0" fmla="*/ 279918 h 279918"/>
                <a:gd name="connsiteX1" fmla="*/ 699796 w 699796"/>
                <a:gd name="connsiteY1" fmla="*/ 0 h 279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9796" h="279918">
                  <a:moveTo>
                    <a:pt x="0" y="279918"/>
                  </a:moveTo>
                  <a:lnTo>
                    <a:pt x="699796" y="0"/>
                  </a:ln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BF7E57F8-B291-486A-BD58-09E37B198A8B}"/>
                </a:ext>
              </a:extLst>
            </p:cNvPr>
            <p:cNvSpPr/>
            <p:nvPr/>
          </p:nvSpPr>
          <p:spPr bwMode="auto">
            <a:xfrm rot="5213813">
              <a:off x="4388281" y="2967047"/>
              <a:ext cx="617894" cy="158644"/>
            </a:xfrm>
            <a:custGeom>
              <a:avLst/>
              <a:gdLst>
                <a:gd name="connsiteX0" fmla="*/ 0 w 1754155"/>
                <a:gd name="connsiteY0" fmla="*/ 158644 h 158644"/>
                <a:gd name="connsiteX1" fmla="*/ 886408 w 1754155"/>
                <a:gd name="connsiteY1" fmla="*/ 23 h 158644"/>
                <a:gd name="connsiteX2" fmla="*/ 1754155 w 1754155"/>
                <a:gd name="connsiteY2" fmla="*/ 149313 h 15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4155" h="158644">
                  <a:moveTo>
                    <a:pt x="0" y="158644"/>
                  </a:moveTo>
                  <a:cubicBezTo>
                    <a:pt x="297024" y="80111"/>
                    <a:pt x="594049" y="1578"/>
                    <a:pt x="886408" y="23"/>
                  </a:cubicBezTo>
                  <a:cubicBezTo>
                    <a:pt x="1178767" y="-1532"/>
                    <a:pt x="1466461" y="73890"/>
                    <a:pt x="1754155" y="14931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5FAA8BAC-C084-45A9-8694-003BB3347A07}"/>
                </a:ext>
              </a:extLst>
            </p:cNvPr>
            <p:cNvSpPr/>
            <p:nvPr/>
          </p:nvSpPr>
          <p:spPr bwMode="auto">
            <a:xfrm rot="16200000">
              <a:off x="3889434" y="2976996"/>
              <a:ext cx="586537" cy="62983"/>
            </a:xfrm>
            <a:custGeom>
              <a:avLst/>
              <a:gdLst>
                <a:gd name="connsiteX0" fmla="*/ 0 w 1754155"/>
                <a:gd name="connsiteY0" fmla="*/ 158644 h 158644"/>
                <a:gd name="connsiteX1" fmla="*/ 886408 w 1754155"/>
                <a:gd name="connsiteY1" fmla="*/ 23 h 158644"/>
                <a:gd name="connsiteX2" fmla="*/ 1754155 w 1754155"/>
                <a:gd name="connsiteY2" fmla="*/ 149313 h 15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4155" h="158644">
                  <a:moveTo>
                    <a:pt x="0" y="158644"/>
                  </a:moveTo>
                  <a:cubicBezTo>
                    <a:pt x="297024" y="80111"/>
                    <a:pt x="594049" y="1578"/>
                    <a:pt x="886408" y="23"/>
                  </a:cubicBezTo>
                  <a:cubicBezTo>
                    <a:pt x="1178767" y="-1532"/>
                    <a:pt x="1466461" y="73890"/>
                    <a:pt x="1754155" y="14931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070DC5A6-1FEA-4728-84FB-23E744E925FF}"/>
                </a:ext>
              </a:extLst>
            </p:cNvPr>
            <p:cNvSpPr/>
            <p:nvPr/>
          </p:nvSpPr>
          <p:spPr bwMode="auto">
            <a:xfrm flipV="1">
              <a:off x="1968759" y="3742715"/>
              <a:ext cx="2060020" cy="45719"/>
            </a:xfrm>
            <a:custGeom>
              <a:avLst/>
              <a:gdLst>
                <a:gd name="connsiteX0" fmla="*/ 122742 w 122742"/>
                <a:gd name="connsiteY0" fmla="*/ 0 h 545258"/>
                <a:gd name="connsiteX1" fmla="*/ 10774 w 122742"/>
                <a:gd name="connsiteY1" fmla="*/ 494523 h 545258"/>
                <a:gd name="connsiteX2" fmla="*/ 10774 w 122742"/>
                <a:gd name="connsiteY2" fmla="*/ 503853 h 54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742" h="545258">
                  <a:moveTo>
                    <a:pt x="122742" y="0"/>
                  </a:moveTo>
                  <a:cubicBezTo>
                    <a:pt x="85419" y="164841"/>
                    <a:pt x="29435" y="410548"/>
                    <a:pt x="10774" y="494523"/>
                  </a:cubicBezTo>
                  <a:cubicBezTo>
                    <a:pt x="-7887" y="578498"/>
                    <a:pt x="1443" y="541175"/>
                    <a:pt x="10774" y="503853"/>
                  </a:cubicBezTo>
                </a:path>
              </a:pathLst>
            </a:custGeom>
            <a:noFill/>
            <a:ln w="28575" cap="sq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BEC15A9-4291-41C3-BA66-F117ED639585}"/>
                </a:ext>
              </a:extLst>
            </p:cNvPr>
            <p:cNvSpPr txBox="1"/>
            <p:nvPr/>
          </p:nvSpPr>
          <p:spPr>
            <a:xfrm>
              <a:off x="3057719" y="2044968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B8EEA64-7360-40C5-843A-9B14B385E0BD}"/>
                </a:ext>
              </a:extLst>
            </p:cNvPr>
            <p:cNvSpPr txBox="1"/>
            <p:nvPr/>
          </p:nvSpPr>
          <p:spPr>
            <a:xfrm>
              <a:off x="2840708" y="2583055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6294CAD-714F-4353-A29E-2E5874E00209}"/>
                </a:ext>
              </a:extLst>
            </p:cNvPr>
            <p:cNvSpPr txBox="1"/>
            <p:nvPr/>
          </p:nvSpPr>
          <p:spPr>
            <a:xfrm>
              <a:off x="1328631" y="2767721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B539CDA-DFEE-465F-99F4-342A64CDE751}"/>
                </a:ext>
              </a:extLst>
            </p:cNvPr>
            <p:cNvSpPr txBox="1"/>
            <p:nvPr/>
          </p:nvSpPr>
          <p:spPr>
            <a:xfrm>
              <a:off x="3042192" y="3089979"/>
              <a:ext cx="133350" cy="4639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38D0A99-213F-42BB-9EE3-6FDCAB26D86B}"/>
                </a:ext>
              </a:extLst>
            </p:cNvPr>
            <p:cNvSpPr txBox="1"/>
            <p:nvPr/>
          </p:nvSpPr>
          <p:spPr>
            <a:xfrm>
              <a:off x="2903493" y="3713642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5100FB6-BCE7-4C3A-BFC1-C244773F6484}"/>
                </a:ext>
              </a:extLst>
            </p:cNvPr>
            <p:cNvSpPr txBox="1"/>
            <p:nvPr/>
          </p:nvSpPr>
          <p:spPr>
            <a:xfrm>
              <a:off x="4154067" y="2779713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A46AAED-3A5B-4669-9D9F-06A1253CE904}"/>
                </a:ext>
              </a:extLst>
            </p:cNvPr>
            <p:cNvSpPr txBox="1"/>
            <p:nvPr/>
          </p:nvSpPr>
          <p:spPr>
            <a:xfrm>
              <a:off x="4762500" y="2862762"/>
              <a:ext cx="13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1207180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44761</TotalTime>
  <Words>3889</Words>
  <Application>Microsoft Office PowerPoint</Application>
  <PresentationFormat>On-screen Show (4:3)</PresentationFormat>
  <Paragraphs>908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Courier New</vt:lpstr>
      <vt:lpstr>Tahoma</vt:lpstr>
      <vt:lpstr>Times New Roman</vt:lpstr>
      <vt:lpstr>Wingdings</vt:lpstr>
      <vt:lpstr>Blends</vt:lpstr>
      <vt:lpstr>MSCF Programming Prep 46-900</vt:lpstr>
      <vt:lpstr>Dynamic Programming</vt:lpstr>
      <vt:lpstr>Motivation: Fibonacci Numbers</vt:lpstr>
      <vt:lpstr>Motivation: Fibonacci Numbers (cont.)</vt:lpstr>
      <vt:lpstr>Motivation: Fibonacci Numbers (cont.)</vt:lpstr>
      <vt:lpstr>Memoizing Fibonacci Numbers</vt:lpstr>
      <vt:lpstr>Dynamic Programming In A Nutshell</vt:lpstr>
      <vt:lpstr>Dynamic Programming In A Nutshell (cont.)</vt:lpstr>
      <vt:lpstr>Dynamic Programming: The Hard Part</vt:lpstr>
      <vt:lpstr>Example: Rod Cutting</vt:lpstr>
      <vt:lpstr>Example: Rod Cutting (cont.)</vt:lpstr>
      <vt:lpstr>Example: Rod Cutting (cont.)</vt:lpstr>
      <vt:lpstr>Rod Cutting Recursion</vt:lpstr>
      <vt:lpstr>Rod Cutting Recursion (cont.)</vt:lpstr>
      <vt:lpstr>Rod Cutting Recursion (cont.)</vt:lpstr>
      <vt:lpstr>Rod Cutting Recursion (cont.)</vt:lpstr>
      <vt:lpstr>Naïve Rod Cutting</vt:lpstr>
      <vt:lpstr>Rod Cutting with Memoization</vt:lpstr>
      <vt:lpstr>All Pairwise Shortest Paths</vt:lpstr>
      <vt:lpstr>Example Directed Graph and Adjacency Matrix</vt:lpstr>
      <vt:lpstr>Adjacency Matrix</vt:lpstr>
      <vt:lpstr>Recursion Step: Subproblems</vt:lpstr>
      <vt:lpstr>Recursion Step: Subproblems (cont.)</vt:lpstr>
      <vt:lpstr>Recursion Step: Subproblems (cont.)</vt:lpstr>
      <vt:lpstr>Example Directed Graph and Adjacency Matrix</vt:lpstr>
      <vt:lpstr>Example Directed Graph and Adjacency Matrix</vt:lpstr>
      <vt:lpstr>Example Directed Graph and Adjacency Matrix</vt:lpstr>
      <vt:lpstr>Example Directed Graph and Adjacency Matrix</vt:lpstr>
      <vt:lpstr>Example Directed Graph and Adjacency Matrix</vt:lpstr>
      <vt:lpstr>Example Directed Graph and Adjacency Matrix</vt:lpstr>
      <vt:lpstr>Example Directed Graph and Adjacency Matrix</vt:lpstr>
    </vt:vector>
  </TitlesOfParts>
  <Company>CMU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46-691</dc:title>
  <dc:creator>The Heinz School</dc:creator>
  <cp:lastModifiedBy>John</cp:lastModifiedBy>
  <cp:revision>743</cp:revision>
  <cp:lastPrinted>2021-08-02T19:24:35Z</cp:lastPrinted>
  <dcterms:created xsi:type="dcterms:W3CDTF">2003-08-31T19:53:38Z</dcterms:created>
  <dcterms:modified xsi:type="dcterms:W3CDTF">2021-08-03T01:12:26Z</dcterms:modified>
</cp:coreProperties>
</file>
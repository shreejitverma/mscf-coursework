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 id="2147483771" r:id="rId2"/>
    <p:sldMasterId id="2147483684" r:id="rId3"/>
  </p:sldMasterIdLst>
  <p:notesMasterIdLst>
    <p:notesMasterId r:id="rId41"/>
  </p:notesMasterIdLst>
  <p:sldIdLst>
    <p:sldId id="370" r:id="rId4"/>
    <p:sldId id="327" r:id="rId5"/>
    <p:sldId id="366" r:id="rId6"/>
    <p:sldId id="339" r:id="rId7"/>
    <p:sldId id="375" r:id="rId8"/>
    <p:sldId id="376" r:id="rId9"/>
    <p:sldId id="377" r:id="rId10"/>
    <p:sldId id="323" r:id="rId11"/>
    <p:sldId id="378" r:id="rId12"/>
    <p:sldId id="325" r:id="rId13"/>
    <p:sldId id="340" r:id="rId14"/>
    <p:sldId id="371" r:id="rId15"/>
    <p:sldId id="331" r:id="rId16"/>
    <p:sldId id="283" r:id="rId17"/>
    <p:sldId id="284" r:id="rId18"/>
    <p:sldId id="285" r:id="rId19"/>
    <p:sldId id="290" r:id="rId20"/>
    <p:sldId id="291" r:id="rId21"/>
    <p:sldId id="292" r:id="rId22"/>
    <p:sldId id="363" r:id="rId23"/>
    <p:sldId id="364" r:id="rId24"/>
    <p:sldId id="365" r:id="rId25"/>
    <p:sldId id="286" r:id="rId26"/>
    <p:sldId id="373" r:id="rId27"/>
    <p:sldId id="374" r:id="rId28"/>
    <p:sldId id="287" r:id="rId29"/>
    <p:sldId id="372" r:id="rId30"/>
    <p:sldId id="358" r:id="rId31"/>
    <p:sldId id="357" r:id="rId32"/>
    <p:sldId id="359" r:id="rId33"/>
    <p:sldId id="360" r:id="rId34"/>
    <p:sldId id="361" r:id="rId35"/>
    <p:sldId id="337" r:id="rId36"/>
    <p:sldId id="369" r:id="rId37"/>
    <p:sldId id="367" r:id="rId38"/>
    <p:sldId id="368" r:id="rId39"/>
    <p:sldId id="362" r:id="rId40"/>
  </p:sldIdLst>
  <p:sldSz cx="12192000" cy="6858000"/>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7" autoAdjust="0"/>
    <p:restoredTop sz="93792" autoAdjust="0"/>
  </p:normalViewPr>
  <p:slideViewPr>
    <p:cSldViewPr snapToGrid="0">
      <p:cViewPr varScale="1">
        <p:scale>
          <a:sx n="63" d="100"/>
          <a:sy n="63" d="100"/>
        </p:scale>
        <p:origin x="71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gs" Target="tags/tag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81600A-4D78-4D6D-ACB2-8270A6DA58DC}" type="doc">
      <dgm:prSet loTypeId="urn:microsoft.com/office/officeart/2008/layout/RadialCluster" loCatId="cycle" qsTypeId="urn:microsoft.com/office/officeart/2005/8/quickstyle/3d3" qsCatId="3D" csTypeId="urn:microsoft.com/office/officeart/2005/8/colors/accent6_2" csCatId="accent6" phldr="1"/>
      <dgm:spPr/>
      <dgm:t>
        <a:bodyPr/>
        <a:lstStyle/>
        <a:p>
          <a:endParaRPr lang="en-US"/>
        </a:p>
      </dgm:t>
    </dgm:pt>
    <dgm:pt modelId="{98E2C129-58B2-4944-89B5-9EF1464CBA69}">
      <dgm:prSet phldrT="[Text]" custT="1"/>
      <dgm:spPr>
        <a:solidFill>
          <a:schemeClr val="bg1">
            <a:lumMod val="65000"/>
          </a:schemeClr>
        </a:solidFill>
      </dgm:spPr>
      <dgm:t>
        <a:bodyPr/>
        <a:lstStyle/>
        <a:p>
          <a:r>
            <a:rPr lang="en-US" sz="1400" dirty="0"/>
            <a:t>Classifier</a:t>
          </a:r>
          <a:endParaRPr lang="en-US" sz="1050" dirty="0"/>
        </a:p>
      </dgm:t>
    </dgm:pt>
    <dgm:pt modelId="{91BD7766-2427-4D19-AED9-A97420C6EF67}" type="parTrans" cxnId="{D33E2643-0653-4424-86FB-75F0D79D6009}">
      <dgm:prSet/>
      <dgm:spPr/>
      <dgm:t>
        <a:bodyPr/>
        <a:lstStyle/>
        <a:p>
          <a:endParaRPr lang="en-US" sz="1200"/>
        </a:p>
      </dgm:t>
    </dgm:pt>
    <dgm:pt modelId="{D1ED695D-E8F4-4FAC-97CC-E4D4C1A1C32B}" type="sibTrans" cxnId="{D33E2643-0653-4424-86FB-75F0D79D6009}">
      <dgm:prSet/>
      <dgm:spPr/>
      <dgm:t>
        <a:bodyPr/>
        <a:lstStyle/>
        <a:p>
          <a:endParaRPr lang="en-US" sz="1200"/>
        </a:p>
      </dgm:t>
    </dgm:pt>
    <dgm:pt modelId="{C2D572A1-17A7-42D7-B2BE-4234947B19CF}">
      <dgm:prSet phldrT="[Text]" custT="1"/>
      <dgm:spPr>
        <a:solidFill>
          <a:schemeClr val="accent2"/>
        </a:solidFill>
      </dgm:spPr>
      <dgm:t>
        <a:bodyPr/>
        <a:lstStyle/>
        <a:p>
          <a:r>
            <a:rPr lang="en-US" sz="1200" dirty="0"/>
            <a:t>Concrete class</a:t>
          </a:r>
        </a:p>
      </dgm:t>
    </dgm:pt>
    <dgm:pt modelId="{3648F923-C152-4383-B98C-EAAB336AA2EC}" type="parTrans" cxnId="{A48B5735-4495-49E3-893B-01DF4E2079DC}">
      <dgm:prSet custT="1"/>
      <dgm:spPr/>
      <dgm:t>
        <a:bodyPr/>
        <a:lstStyle/>
        <a:p>
          <a:endParaRPr lang="en-US" sz="200"/>
        </a:p>
      </dgm:t>
    </dgm:pt>
    <dgm:pt modelId="{E6C79D7A-894E-4B2D-A2FA-9FACFC2E0424}" type="sibTrans" cxnId="{A48B5735-4495-49E3-893B-01DF4E2079DC}">
      <dgm:prSet/>
      <dgm:spPr/>
      <dgm:t>
        <a:bodyPr/>
        <a:lstStyle/>
        <a:p>
          <a:endParaRPr lang="en-US" sz="1200"/>
        </a:p>
      </dgm:t>
    </dgm:pt>
    <dgm:pt modelId="{FDF57CAB-2A0F-4C03-B0AB-D5FFE4F5CFF1}">
      <dgm:prSet phldrT="[Text]" custT="1"/>
      <dgm:spPr>
        <a:solidFill>
          <a:schemeClr val="accent2"/>
        </a:solidFill>
      </dgm:spPr>
      <dgm:t>
        <a:bodyPr/>
        <a:lstStyle/>
        <a:p>
          <a:r>
            <a:rPr lang="en-US" sz="1200" dirty="0"/>
            <a:t>Abstract class</a:t>
          </a:r>
        </a:p>
      </dgm:t>
    </dgm:pt>
    <dgm:pt modelId="{8C1C4D68-BA31-4E42-B9C0-4384878BBF8C}" type="parTrans" cxnId="{246F1CBF-AFF3-4987-8D79-5903F508B69E}">
      <dgm:prSet custT="1"/>
      <dgm:spPr/>
      <dgm:t>
        <a:bodyPr/>
        <a:lstStyle/>
        <a:p>
          <a:endParaRPr lang="en-US" sz="200"/>
        </a:p>
      </dgm:t>
    </dgm:pt>
    <dgm:pt modelId="{F00D2FF2-8821-4F82-9BBF-DA767246474C}" type="sibTrans" cxnId="{246F1CBF-AFF3-4987-8D79-5903F508B69E}">
      <dgm:prSet/>
      <dgm:spPr/>
      <dgm:t>
        <a:bodyPr/>
        <a:lstStyle/>
        <a:p>
          <a:endParaRPr lang="en-US" sz="1200"/>
        </a:p>
      </dgm:t>
    </dgm:pt>
    <dgm:pt modelId="{E7DAFF43-6B60-4DF7-8ABA-8BDCE17D68A3}">
      <dgm:prSet phldrT="[Text]" custT="1"/>
      <dgm:spPr>
        <a:solidFill>
          <a:schemeClr val="accent2"/>
        </a:solidFill>
      </dgm:spPr>
      <dgm:t>
        <a:bodyPr/>
        <a:lstStyle/>
        <a:p>
          <a:r>
            <a:rPr lang="en-US" sz="1200" dirty="0"/>
            <a:t>Interface</a:t>
          </a:r>
        </a:p>
      </dgm:t>
    </dgm:pt>
    <dgm:pt modelId="{A5C09B9D-1AB1-4BC4-A603-8D526EF0D41C}" type="parTrans" cxnId="{EC329093-6B18-4C89-831F-7E73A94BAAF5}">
      <dgm:prSet custT="1"/>
      <dgm:spPr/>
      <dgm:t>
        <a:bodyPr/>
        <a:lstStyle/>
        <a:p>
          <a:endParaRPr lang="en-US" sz="200"/>
        </a:p>
      </dgm:t>
    </dgm:pt>
    <dgm:pt modelId="{24C1FA94-9631-40F5-AC11-2C154E2B80BC}" type="sibTrans" cxnId="{EC329093-6B18-4C89-831F-7E73A94BAAF5}">
      <dgm:prSet/>
      <dgm:spPr/>
      <dgm:t>
        <a:bodyPr/>
        <a:lstStyle/>
        <a:p>
          <a:endParaRPr lang="en-US" sz="1200"/>
        </a:p>
      </dgm:t>
    </dgm:pt>
    <dgm:pt modelId="{F51C2AF7-4080-4458-85E7-DE62D362109B}">
      <dgm:prSet phldrT="[Text]" custT="1"/>
      <dgm:spPr/>
      <dgm:t>
        <a:bodyPr lIns="0" tIns="182880" rIns="0" bIns="0"/>
        <a:lstStyle/>
        <a:p>
          <a:r>
            <a:rPr lang="en-US" sz="1400" dirty="0"/>
            <a:t>Enumeration</a:t>
          </a:r>
        </a:p>
      </dgm:t>
    </dgm:pt>
    <dgm:pt modelId="{896E37CB-F347-489E-B710-21D4A4233B92}" type="parTrans" cxnId="{2F7B6C53-AA93-4EAE-B0EB-09BAE88A42B9}">
      <dgm:prSet custT="1"/>
      <dgm:spPr/>
      <dgm:t>
        <a:bodyPr/>
        <a:lstStyle/>
        <a:p>
          <a:endParaRPr lang="en-US" sz="200"/>
        </a:p>
      </dgm:t>
    </dgm:pt>
    <dgm:pt modelId="{30B1065F-1E0A-421A-892A-EF8CE4EBD761}" type="sibTrans" cxnId="{2F7B6C53-AA93-4EAE-B0EB-09BAE88A42B9}">
      <dgm:prSet/>
      <dgm:spPr/>
      <dgm:t>
        <a:bodyPr/>
        <a:lstStyle/>
        <a:p>
          <a:endParaRPr lang="en-US" sz="1200"/>
        </a:p>
      </dgm:t>
    </dgm:pt>
    <dgm:pt modelId="{74E8F189-666F-4F7B-A9CF-55C34D8D9EF1}">
      <dgm:prSet phldrT="[Text]" custT="1"/>
      <dgm:spPr/>
      <dgm:t>
        <a:bodyPr/>
        <a:lstStyle/>
        <a:p>
          <a:r>
            <a:rPr lang="en-US" sz="1200" dirty="0"/>
            <a:t>Generic class</a:t>
          </a:r>
        </a:p>
      </dgm:t>
    </dgm:pt>
    <dgm:pt modelId="{C38E454A-2446-4BB1-B3B9-490B000D0E2C}" type="parTrans" cxnId="{1C650FF1-4CE2-42AD-9EC6-819169EDD924}">
      <dgm:prSet custT="1"/>
      <dgm:spPr/>
      <dgm:t>
        <a:bodyPr/>
        <a:lstStyle/>
        <a:p>
          <a:endParaRPr lang="en-US" sz="200"/>
        </a:p>
      </dgm:t>
    </dgm:pt>
    <dgm:pt modelId="{30F52ECF-7668-420D-A54A-29FDF126685C}" type="sibTrans" cxnId="{1C650FF1-4CE2-42AD-9EC6-819169EDD924}">
      <dgm:prSet/>
      <dgm:spPr/>
      <dgm:t>
        <a:bodyPr/>
        <a:lstStyle/>
        <a:p>
          <a:endParaRPr lang="en-US" sz="1200"/>
        </a:p>
      </dgm:t>
    </dgm:pt>
    <dgm:pt modelId="{6B2FB90B-2B5F-42C3-82AF-C100E2B51A6A}">
      <dgm:prSet phldrT="[Text]" custT="1"/>
      <dgm:spPr/>
      <dgm:t>
        <a:bodyPr/>
        <a:lstStyle/>
        <a:p>
          <a:r>
            <a:rPr lang="en-US" sz="1200" dirty="0"/>
            <a:t>Active class</a:t>
          </a:r>
        </a:p>
      </dgm:t>
    </dgm:pt>
    <dgm:pt modelId="{651C5CBA-F4EA-4C28-AE38-FB7454B25540}" type="parTrans" cxnId="{F7F3B3B0-A39B-443A-9447-0D748BC4F03F}">
      <dgm:prSet custT="1"/>
      <dgm:spPr/>
      <dgm:t>
        <a:bodyPr/>
        <a:lstStyle/>
        <a:p>
          <a:endParaRPr lang="en-US" sz="200"/>
        </a:p>
      </dgm:t>
    </dgm:pt>
    <dgm:pt modelId="{AA5DFBF5-DA73-47EA-94D5-11274C822409}" type="sibTrans" cxnId="{F7F3B3B0-A39B-443A-9447-0D748BC4F03F}">
      <dgm:prSet/>
      <dgm:spPr/>
      <dgm:t>
        <a:bodyPr/>
        <a:lstStyle/>
        <a:p>
          <a:endParaRPr lang="en-US" sz="1200"/>
        </a:p>
      </dgm:t>
    </dgm:pt>
    <dgm:pt modelId="{1477F3B0-9932-4A0B-AF09-9DC8A176B705}" type="pres">
      <dgm:prSet presAssocID="{3981600A-4D78-4D6D-ACB2-8270A6DA58DC}" presName="Name0" presStyleCnt="0">
        <dgm:presLayoutVars>
          <dgm:chMax val="1"/>
          <dgm:chPref val="1"/>
          <dgm:dir/>
          <dgm:animOne val="branch"/>
          <dgm:animLvl val="lvl"/>
        </dgm:presLayoutVars>
      </dgm:prSet>
      <dgm:spPr/>
    </dgm:pt>
    <dgm:pt modelId="{046BDD32-2607-411C-898D-D2E2250BA495}" type="pres">
      <dgm:prSet presAssocID="{98E2C129-58B2-4944-89B5-9EF1464CBA69}" presName="singleCycle" presStyleCnt="0"/>
      <dgm:spPr/>
    </dgm:pt>
    <dgm:pt modelId="{E918C754-D703-4E46-AA59-36BB6A7A8A04}" type="pres">
      <dgm:prSet presAssocID="{98E2C129-58B2-4944-89B5-9EF1464CBA69}" presName="singleCenter" presStyleLbl="node1" presStyleIdx="0" presStyleCnt="7">
        <dgm:presLayoutVars>
          <dgm:chMax val="7"/>
          <dgm:chPref val="7"/>
        </dgm:presLayoutVars>
      </dgm:prSet>
      <dgm:spPr/>
    </dgm:pt>
    <dgm:pt modelId="{99A717FF-7E71-44F1-90B9-FC0A9241C687}" type="pres">
      <dgm:prSet presAssocID="{3648F923-C152-4383-B98C-EAAB336AA2EC}" presName="Name56" presStyleLbl="parChTrans1D2" presStyleIdx="0" presStyleCnt="6"/>
      <dgm:spPr/>
    </dgm:pt>
    <dgm:pt modelId="{1BB1C567-26C9-44DF-803D-E4FCFBA72B58}" type="pres">
      <dgm:prSet presAssocID="{C2D572A1-17A7-42D7-B2BE-4234947B19CF}" presName="text0" presStyleLbl="node1" presStyleIdx="1" presStyleCnt="7" custScaleX="133965">
        <dgm:presLayoutVars>
          <dgm:bulletEnabled val="1"/>
        </dgm:presLayoutVars>
      </dgm:prSet>
      <dgm:spPr/>
    </dgm:pt>
    <dgm:pt modelId="{2A5E938D-A71A-4C38-BCAD-C6C916FD0C18}" type="pres">
      <dgm:prSet presAssocID="{8C1C4D68-BA31-4E42-B9C0-4384878BBF8C}" presName="Name56" presStyleLbl="parChTrans1D2" presStyleIdx="1" presStyleCnt="6"/>
      <dgm:spPr/>
    </dgm:pt>
    <dgm:pt modelId="{7D4F880D-4478-489A-A3A0-BAA66F247AB4}" type="pres">
      <dgm:prSet presAssocID="{FDF57CAB-2A0F-4C03-B0AB-D5FFE4F5CFF1}" presName="text0" presStyleLbl="node1" presStyleIdx="2" presStyleCnt="7" custScaleX="133965">
        <dgm:presLayoutVars>
          <dgm:bulletEnabled val="1"/>
        </dgm:presLayoutVars>
      </dgm:prSet>
      <dgm:spPr/>
    </dgm:pt>
    <dgm:pt modelId="{E02C1351-1DE1-435A-83DE-DB729B347E90}" type="pres">
      <dgm:prSet presAssocID="{A5C09B9D-1AB1-4BC4-A603-8D526EF0D41C}" presName="Name56" presStyleLbl="parChTrans1D2" presStyleIdx="2" presStyleCnt="6"/>
      <dgm:spPr/>
    </dgm:pt>
    <dgm:pt modelId="{06E5EE26-8D1A-4637-A9FC-AA507419BF6C}" type="pres">
      <dgm:prSet presAssocID="{E7DAFF43-6B60-4DF7-8ABA-8BDCE17D68A3}" presName="text0" presStyleLbl="node1" presStyleIdx="3" presStyleCnt="7" custScaleX="133965">
        <dgm:presLayoutVars>
          <dgm:bulletEnabled val="1"/>
        </dgm:presLayoutVars>
      </dgm:prSet>
      <dgm:spPr/>
    </dgm:pt>
    <dgm:pt modelId="{89CEEAAD-851A-449C-B9F4-0AF98499D8E9}" type="pres">
      <dgm:prSet presAssocID="{896E37CB-F347-489E-B710-21D4A4233B92}" presName="Name56" presStyleLbl="parChTrans1D2" presStyleIdx="3" presStyleCnt="6"/>
      <dgm:spPr/>
    </dgm:pt>
    <dgm:pt modelId="{0237575F-467C-40BA-A3F0-C787916F0D17}" type="pres">
      <dgm:prSet presAssocID="{F51C2AF7-4080-4458-85E7-DE62D362109B}" presName="text0" presStyleLbl="node1" presStyleIdx="4" presStyleCnt="7" custScaleX="133965">
        <dgm:presLayoutVars>
          <dgm:bulletEnabled val="1"/>
        </dgm:presLayoutVars>
      </dgm:prSet>
      <dgm:spPr/>
    </dgm:pt>
    <dgm:pt modelId="{C4B436A9-1C8B-430B-9AA7-95B77183B680}" type="pres">
      <dgm:prSet presAssocID="{C38E454A-2446-4BB1-B3B9-490B000D0E2C}" presName="Name56" presStyleLbl="parChTrans1D2" presStyleIdx="4" presStyleCnt="6"/>
      <dgm:spPr/>
    </dgm:pt>
    <dgm:pt modelId="{98613D8E-50AE-4D45-A036-C90E618683CC}" type="pres">
      <dgm:prSet presAssocID="{74E8F189-666F-4F7B-A9CF-55C34D8D9EF1}" presName="text0" presStyleLbl="node1" presStyleIdx="5" presStyleCnt="7" custScaleX="133965">
        <dgm:presLayoutVars>
          <dgm:bulletEnabled val="1"/>
        </dgm:presLayoutVars>
      </dgm:prSet>
      <dgm:spPr/>
    </dgm:pt>
    <dgm:pt modelId="{058FBDAC-1A29-4311-ADB8-A2F11B3B9B23}" type="pres">
      <dgm:prSet presAssocID="{651C5CBA-F4EA-4C28-AE38-FB7454B25540}" presName="Name56" presStyleLbl="parChTrans1D2" presStyleIdx="5" presStyleCnt="6"/>
      <dgm:spPr/>
    </dgm:pt>
    <dgm:pt modelId="{6AACF286-C9C2-42D6-A961-F5ACDFDA7193}" type="pres">
      <dgm:prSet presAssocID="{6B2FB90B-2B5F-42C3-82AF-C100E2B51A6A}" presName="text0" presStyleLbl="node1" presStyleIdx="6" presStyleCnt="7" custScaleX="133965">
        <dgm:presLayoutVars>
          <dgm:bulletEnabled val="1"/>
        </dgm:presLayoutVars>
      </dgm:prSet>
      <dgm:spPr/>
    </dgm:pt>
  </dgm:ptLst>
  <dgm:cxnLst>
    <dgm:cxn modelId="{FC81AC0D-40D3-476C-9B98-3BCD86196F84}" type="presOf" srcId="{8C1C4D68-BA31-4E42-B9C0-4384878BBF8C}" destId="{2A5E938D-A71A-4C38-BCAD-C6C916FD0C18}" srcOrd="0" destOrd="0" presId="urn:microsoft.com/office/officeart/2008/layout/RadialCluster"/>
    <dgm:cxn modelId="{457F762A-2681-428D-B16C-09843AE7A875}" type="presOf" srcId="{98E2C129-58B2-4944-89B5-9EF1464CBA69}" destId="{E918C754-D703-4E46-AA59-36BB6A7A8A04}" srcOrd="0" destOrd="0" presId="urn:microsoft.com/office/officeart/2008/layout/RadialCluster"/>
    <dgm:cxn modelId="{1B28E72A-BDAA-4EC7-85BC-38FB5B13DBEF}" type="presOf" srcId="{FDF57CAB-2A0F-4C03-B0AB-D5FFE4F5CFF1}" destId="{7D4F880D-4478-489A-A3A0-BAA66F247AB4}" srcOrd="0" destOrd="0" presId="urn:microsoft.com/office/officeart/2008/layout/RadialCluster"/>
    <dgm:cxn modelId="{A48B5735-4495-49E3-893B-01DF4E2079DC}" srcId="{98E2C129-58B2-4944-89B5-9EF1464CBA69}" destId="{C2D572A1-17A7-42D7-B2BE-4234947B19CF}" srcOrd="0" destOrd="0" parTransId="{3648F923-C152-4383-B98C-EAAB336AA2EC}" sibTransId="{E6C79D7A-894E-4B2D-A2FA-9FACFC2E0424}"/>
    <dgm:cxn modelId="{D33E2643-0653-4424-86FB-75F0D79D6009}" srcId="{3981600A-4D78-4D6D-ACB2-8270A6DA58DC}" destId="{98E2C129-58B2-4944-89B5-9EF1464CBA69}" srcOrd="0" destOrd="0" parTransId="{91BD7766-2427-4D19-AED9-A97420C6EF67}" sibTransId="{D1ED695D-E8F4-4FAC-97CC-E4D4C1A1C32B}"/>
    <dgm:cxn modelId="{93434343-E68F-47C0-A6C9-ACCC9924091E}" type="presOf" srcId="{A5C09B9D-1AB1-4BC4-A603-8D526EF0D41C}" destId="{E02C1351-1DE1-435A-83DE-DB729B347E90}" srcOrd="0" destOrd="0" presId="urn:microsoft.com/office/officeart/2008/layout/RadialCluster"/>
    <dgm:cxn modelId="{ED54F66E-66CB-4503-A514-AB3893782237}" type="presOf" srcId="{651C5CBA-F4EA-4C28-AE38-FB7454B25540}" destId="{058FBDAC-1A29-4311-ADB8-A2F11B3B9B23}" srcOrd="0" destOrd="0" presId="urn:microsoft.com/office/officeart/2008/layout/RadialCluster"/>
    <dgm:cxn modelId="{034A8650-95EC-428E-8206-36BC241FC490}" type="presOf" srcId="{3648F923-C152-4383-B98C-EAAB336AA2EC}" destId="{99A717FF-7E71-44F1-90B9-FC0A9241C687}" srcOrd="0" destOrd="0" presId="urn:microsoft.com/office/officeart/2008/layout/RadialCluster"/>
    <dgm:cxn modelId="{2F7B6C53-AA93-4EAE-B0EB-09BAE88A42B9}" srcId="{98E2C129-58B2-4944-89B5-9EF1464CBA69}" destId="{F51C2AF7-4080-4458-85E7-DE62D362109B}" srcOrd="3" destOrd="0" parTransId="{896E37CB-F347-489E-B710-21D4A4233B92}" sibTransId="{30B1065F-1E0A-421A-892A-EF8CE4EBD761}"/>
    <dgm:cxn modelId="{EC329093-6B18-4C89-831F-7E73A94BAAF5}" srcId="{98E2C129-58B2-4944-89B5-9EF1464CBA69}" destId="{E7DAFF43-6B60-4DF7-8ABA-8BDCE17D68A3}" srcOrd="2" destOrd="0" parTransId="{A5C09B9D-1AB1-4BC4-A603-8D526EF0D41C}" sibTransId="{24C1FA94-9631-40F5-AC11-2C154E2B80BC}"/>
    <dgm:cxn modelId="{ACF5A399-8B14-4417-861A-56F8436D715D}" type="presOf" srcId="{C2D572A1-17A7-42D7-B2BE-4234947B19CF}" destId="{1BB1C567-26C9-44DF-803D-E4FCFBA72B58}" srcOrd="0" destOrd="0" presId="urn:microsoft.com/office/officeart/2008/layout/RadialCluster"/>
    <dgm:cxn modelId="{FDD208A3-7651-4CAE-A49E-2DE1F6A59D3A}" type="presOf" srcId="{6B2FB90B-2B5F-42C3-82AF-C100E2B51A6A}" destId="{6AACF286-C9C2-42D6-A961-F5ACDFDA7193}" srcOrd="0" destOrd="0" presId="urn:microsoft.com/office/officeart/2008/layout/RadialCluster"/>
    <dgm:cxn modelId="{F7F3B3B0-A39B-443A-9447-0D748BC4F03F}" srcId="{98E2C129-58B2-4944-89B5-9EF1464CBA69}" destId="{6B2FB90B-2B5F-42C3-82AF-C100E2B51A6A}" srcOrd="5" destOrd="0" parTransId="{651C5CBA-F4EA-4C28-AE38-FB7454B25540}" sibTransId="{AA5DFBF5-DA73-47EA-94D5-11274C822409}"/>
    <dgm:cxn modelId="{0D1CABB5-4CFB-471B-A957-E89D74E79F2E}" type="presOf" srcId="{C38E454A-2446-4BB1-B3B9-490B000D0E2C}" destId="{C4B436A9-1C8B-430B-9AA7-95B77183B680}" srcOrd="0" destOrd="0" presId="urn:microsoft.com/office/officeart/2008/layout/RadialCluster"/>
    <dgm:cxn modelId="{246F1CBF-AFF3-4987-8D79-5903F508B69E}" srcId="{98E2C129-58B2-4944-89B5-9EF1464CBA69}" destId="{FDF57CAB-2A0F-4C03-B0AB-D5FFE4F5CFF1}" srcOrd="1" destOrd="0" parTransId="{8C1C4D68-BA31-4E42-B9C0-4384878BBF8C}" sibTransId="{F00D2FF2-8821-4F82-9BBF-DA767246474C}"/>
    <dgm:cxn modelId="{9A6CDAC8-695E-44D3-AB9A-87F031840062}" type="presOf" srcId="{E7DAFF43-6B60-4DF7-8ABA-8BDCE17D68A3}" destId="{06E5EE26-8D1A-4637-A9FC-AA507419BF6C}" srcOrd="0" destOrd="0" presId="urn:microsoft.com/office/officeart/2008/layout/RadialCluster"/>
    <dgm:cxn modelId="{7DFD0AD0-9C94-449E-9517-9B79D368C301}" type="presOf" srcId="{F51C2AF7-4080-4458-85E7-DE62D362109B}" destId="{0237575F-467C-40BA-A3F0-C787916F0D17}" srcOrd="0" destOrd="0" presId="urn:microsoft.com/office/officeart/2008/layout/RadialCluster"/>
    <dgm:cxn modelId="{43F0AEDA-56B4-4768-8EDF-25D17B52697B}" type="presOf" srcId="{3981600A-4D78-4D6D-ACB2-8270A6DA58DC}" destId="{1477F3B0-9932-4A0B-AF09-9DC8A176B705}" srcOrd="0" destOrd="0" presId="urn:microsoft.com/office/officeart/2008/layout/RadialCluster"/>
    <dgm:cxn modelId="{1C650FF1-4CE2-42AD-9EC6-819169EDD924}" srcId="{98E2C129-58B2-4944-89B5-9EF1464CBA69}" destId="{74E8F189-666F-4F7B-A9CF-55C34D8D9EF1}" srcOrd="4" destOrd="0" parTransId="{C38E454A-2446-4BB1-B3B9-490B000D0E2C}" sibTransId="{30F52ECF-7668-420D-A54A-29FDF126685C}"/>
    <dgm:cxn modelId="{D9D3ABF5-0738-48BF-A0F0-0424525A5D58}" type="presOf" srcId="{74E8F189-666F-4F7B-A9CF-55C34D8D9EF1}" destId="{98613D8E-50AE-4D45-A036-C90E618683CC}" srcOrd="0" destOrd="0" presId="urn:microsoft.com/office/officeart/2008/layout/RadialCluster"/>
    <dgm:cxn modelId="{988B06FB-5DB6-4796-98B5-0DC1711D7C5B}" type="presOf" srcId="{896E37CB-F347-489E-B710-21D4A4233B92}" destId="{89CEEAAD-851A-449C-B9F4-0AF98499D8E9}" srcOrd="0" destOrd="0" presId="urn:microsoft.com/office/officeart/2008/layout/RadialCluster"/>
    <dgm:cxn modelId="{C49334A6-CF90-4ECA-BC7F-ED6D9410D265}" type="presParOf" srcId="{1477F3B0-9932-4A0B-AF09-9DC8A176B705}" destId="{046BDD32-2607-411C-898D-D2E2250BA495}" srcOrd="0" destOrd="0" presId="urn:microsoft.com/office/officeart/2008/layout/RadialCluster"/>
    <dgm:cxn modelId="{18488E6A-BC76-4CD1-9925-76B7C067E4EF}" type="presParOf" srcId="{046BDD32-2607-411C-898D-D2E2250BA495}" destId="{E918C754-D703-4E46-AA59-36BB6A7A8A04}" srcOrd="0" destOrd="0" presId="urn:microsoft.com/office/officeart/2008/layout/RadialCluster"/>
    <dgm:cxn modelId="{E4AC4B07-E6C1-45E3-8207-08D20AF32FC7}" type="presParOf" srcId="{046BDD32-2607-411C-898D-D2E2250BA495}" destId="{99A717FF-7E71-44F1-90B9-FC0A9241C687}" srcOrd="1" destOrd="0" presId="urn:microsoft.com/office/officeart/2008/layout/RadialCluster"/>
    <dgm:cxn modelId="{E0237BC9-29ED-460D-82C2-8B7AA87A88E8}" type="presParOf" srcId="{046BDD32-2607-411C-898D-D2E2250BA495}" destId="{1BB1C567-26C9-44DF-803D-E4FCFBA72B58}" srcOrd="2" destOrd="0" presId="urn:microsoft.com/office/officeart/2008/layout/RadialCluster"/>
    <dgm:cxn modelId="{8E166EB8-B973-4F88-9F77-48A8D20A2B2D}" type="presParOf" srcId="{046BDD32-2607-411C-898D-D2E2250BA495}" destId="{2A5E938D-A71A-4C38-BCAD-C6C916FD0C18}" srcOrd="3" destOrd="0" presId="urn:microsoft.com/office/officeart/2008/layout/RadialCluster"/>
    <dgm:cxn modelId="{ACD522AE-9E52-47EB-9117-A5A144F541F6}" type="presParOf" srcId="{046BDD32-2607-411C-898D-D2E2250BA495}" destId="{7D4F880D-4478-489A-A3A0-BAA66F247AB4}" srcOrd="4" destOrd="0" presId="urn:microsoft.com/office/officeart/2008/layout/RadialCluster"/>
    <dgm:cxn modelId="{41CD077E-B76E-40D8-9E1E-EF0D17F43BC9}" type="presParOf" srcId="{046BDD32-2607-411C-898D-D2E2250BA495}" destId="{E02C1351-1DE1-435A-83DE-DB729B347E90}" srcOrd="5" destOrd="0" presId="urn:microsoft.com/office/officeart/2008/layout/RadialCluster"/>
    <dgm:cxn modelId="{9226E532-A45A-4625-8277-68E8DF19A2CF}" type="presParOf" srcId="{046BDD32-2607-411C-898D-D2E2250BA495}" destId="{06E5EE26-8D1A-4637-A9FC-AA507419BF6C}" srcOrd="6" destOrd="0" presId="urn:microsoft.com/office/officeart/2008/layout/RadialCluster"/>
    <dgm:cxn modelId="{2EFA051C-2436-448E-864A-B3C08E910C9F}" type="presParOf" srcId="{046BDD32-2607-411C-898D-D2E2250BA495}" destId="{89CEEAAD-851A-449C-B9F4-0AF98499D8E9}" srcOrd="7" destOrd="0" presId="urn:microsoft.com/office/officeart/2008/layout/RadialCluster"/>
    <dgm:cxn modelId="{36EEA4AD-EEB4-41F8-868F-3273A46C584F}" type="presParOf" srcId="{046BDD32-2607-411C-898D-D2E2250BA495}" destId="{0237575F-467C-40BA-A3F0-C787916F0D17}" srcOrd="8" destOrd="0" presId="urn:microsoft.com/office/officeart/2008/layout/RadialCluster"/>
    <dgm:cxn modelId="{B532D2E5-A876-437E-AF76-DDA299B5A1CD}" type="presParOf" srcId="{046BDD32-2607-411C-898D-D2E2250BA495}" destId="{C4B436A9-1C8B-430B-9AA7-95B77183B680}" srcOrd="9" destOrd="0" presId="urn:microsoft.com/office/officeart/2008/layout/RadialCluster"/>
    <dgm:cxn modelId="{7C5AB860-9674-422E-8F5D-CAAED9088AC1}" type="presParOf" srcId="{046BDD32-2607-411C-898D-D2E2250BA495}" destId="{98613D8E-50AE-4D45-A036-C90E618683CC}" srcOrd="10" destOrd="0" presId="urn:microsoft.com/office/officeart/2008/layout/RadialCluster"/>
    <dgm:cxn modelId="{3D9AF714-6FC6-48EF-8167-17871A0F5A79}" type="presParOf" srcId="{046BDD32-2607-411C-898D-D2E2250BA495}" destId="{058FBDAC-1A29-4311-ADB8-A2F11B3B9B23}" srcOrd="11" destOrd="0" presId="urn:microsoft.com/office/officeart/2008/layout/RadialCluster"/>
    <dgm:cxn modelId="{6CB1B2DA-7698-49A1-B1C5-6FA4DD90638F}" type="presParOf" srcId="{046BDD32-2607-411C-898D-D2E2250BA495}" destId="{6AACF286-C9C2-42D6-A961-F5ACDFDA7193}" srcOrd="12" destOrd="0" presId="urn:microsoft.com/office/officeart/2008/layout/RadialCluster"/>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18C754-D703-4E46-AA59-36BB6A7A8A04}">
      <dsp:nvSpPr>
        <dsp:cNvPr id="0" name=""/>
        <dsp:cNvSpPr/>
      </dsp:nvSpPr>
      <dsp:spPr>
        <a:xfrm>
          <a:off x="1458052" y="1320892"/>
          <a:ext cx="1132193" cy="1132193"/>
        </a:xfrm>
        <a:prstGeom prst="roundRect">
          <a:avLst/>
        </a:prstGeom>
        <a:solidFill>
          <a:schemeClr val="bg1">
            <a:lumMod val="6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kern="1200" dirty="0"/>
            <a:t>Classifier</a:t>
          </a:r>
          <a:endParaRPr lang="en-US" sz="1050" kern="1200" dirty="0"/>
        </a:p>
      </dsp:txBody>
      <dsp:txXfrm>
        <a:off x="1513321" y="1376161"/>
        <a:ext cx="1021655" cy="1021655"/>
      </dsp:txXfrm>
    </dsp:sp>
    <dsp:sp modelId="{99A717FF-7E71-44F1-90B9-FC0A9241C687}">
      <dsp:nvSpPr>
        <dsp:cNvPr id="0" name=""/>
        <dsp:cNvSpPr/>
      </dsp:nvSpPr>
      <dsp:spPr>
        <a:xfrm rot="16200000">
          <a:off x="1743149" y="1039893"/>
          <a:ext cx="561998" cy="0"/>
        </a:xfrm>
        <a:custGeom>
          <a:avLst/>
          <a:gdLst/>
          <a:ahLst/>
          <a:cxnLst/>
          <a:rect l="0" t="0" r="0" b="0"/>
          <a:pathLst>
            <a:path>
              <a:moveTo>
                <a:pt x="0" y="0"/>
              </a:moveTo>
              <a:lnTo>
                <a:pt x="561998" y="0"/>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BB1C567-26C9-44DF-803D-E4FCFBA72B58}">
      <dsp:nvSpPr>
        <dsp:cNvPr id="0" name=""/>
        <dsp:cNvSpPr/>
      </dsp:nvSpPr>
      <dsp:spPr>
        <a:xfrm>
          <a:off x="1516039" y="324"/>
          <a:ext cx="1016218" cy="758569"/>
        </a:xfrm>
        <a:prstGeom prst="roundRect">
          <a:avLst/>
        </a:prstGeom>
        <a:solidFill>
          <a:schemeClr val="accent2"/>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Concrete class</a:t>
          </a:r>
        </a:p>
      </dsp:txBody>
      <dsp:txXfrm>
        <a:off x="1553069" y="37354"/>
        <a:ext cx="942158" cy="684509"/>
      </dsp:txXfrm>
    </dsp:sp>
    <dsp:sp modelId="{2A5E938D-A71A-4C38-BCAD-C6C916FD0C18}">
      <dsp:nvSpPr>
        <dsp:cNvPr id="0" name=""/>
        <dsp:cNvSpPr/>
      </dsp:nvSpPr>
      <dsp:spPr>
        <a:xfrm rot="19800000">
          <a:off x="2572360" y="1493404"/>
          <a:ext cx="266994" cy="0"/>
        </a:xfrm>
        <a:custGeom>
          <a:avLst/>
          <a:gdLst/>
          <a:ahLst/>
          <a:cxnLst/>
          <a:rect l="0" t="0" r="0" b="0"/>
          <a:pathLst>
            <a:path>
              <a:moveTo>
                <a:pt x="0" y="0"/>
              </a:moveTo>
              <a:lnTo>
                <a:pt x="266994" y="0"/>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7D4F880D-4478-489A-A3A0-BAA66F247AB4}">
      <dsp:nvSpPr>
        <dsp:cNvPr id="0" name=""/>
        <dsp:cNvSpPr/>
      </dsp:nvSpPr>
      <dsp:spPr>
        <a:xfrm>
          <a:off x="2821469" y="754014"/>
          <a:ext cx="1016218" cy="758569"/>
        </a:xfrm>
        <a:prstGeom prst="roundRect">
          <a:avLst/>
        </a:prstGeom>
        <a:solidFill>
          <a:schemeClr val="accent2"/>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Abstract class</a:t>
          </a:r>
        </a:p>
      </dsp:txBody>
      <dsp:txXfrm>
        <a:off x="2858499" y="791044"/>
        <a:ext cx="942158" cy="684509"/>
      </dsp:txXfrm>
    </dsp:sp>
    <dsp:sp modelId="{E02C1351-1DE1-435A-83DE-DB729B347E90}">
      <dsp:nvSpPr>
        <dsp:cNvPr id="0" name=""/>
        <dsp:cNvSpPr/>
      </dsp:nvSpPr>
      <dsp:spPr>
        <a:xfrm rot="1800000">
          <a:off x="2572360" y="2280574"/>
          <a:ext cx="266994" cy="0"/>
        </a:xfrm>
        <a:custGeom>
          <a:avLst/>
          <a:gdLst/>
          <a:ahLst/>
          <a:cxnLst/>
          <a:rect l="0" t="0" r="0" b="0"/>
          <a:pathLst>
            <a:path>
              <a:moveTo>
                <a:pt x="0" y="0"/>
              </a:moveTo>
              <a:lnTo>
                <a:pt x="266994" y="0"/>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6E5EE26-8D1A-4637-A9FC-AA507419BF6C}">
      <dsp:nvSpPr>
        <dsp:cNvPr id="0" name=""/>
        <dsp:cNvSpPr/>
      </dsp:nvSpPr>
      <dsp:spPr>
        <a:xfrm>
          <a:off x="2821469" y="2261394"/>
          <a:ext cx="1016218" cy="758569"/>
        </a:xfrm>
        <a:prstGeom prst="roundRect">
          <a:avLst/>
        </a:prstGeom>
        <a:solidFill>
          <a:schemeClr val="accent2"/>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Interface</a:t>
          </a:r>
        </a:p>
      </dsp:txBody>
      <dsp:txXfrm>
        <a:off x="2858499" y="2298424"/>
        <a:ext cx="942158" cy="684509"/>
      </dsp:txXfrm>
    </dsp:sp>
    <dsp:sp modelId="{89CEEAAD-851A-449C-B9F4-0AF98499D8E9}">
      <dsp:nvSpPr>
        <dsp:cNvPr id="0" name=""/>
        <dsp:cNvSpPr/>
      </dsp:nvSpPr>
      <dsp:spPr>
        <a:xfrm rot="5400000">
          <a:off x="1743149" y="2734085"/>
          <a:ext cx="561998" cy="0"/>
        </a:xfrm>
        <a:custGeom>
          <a:avLst/>
          <a:gdLst/>
          <a:ahLst/>
          <a:cxnLst/>
          <a:rect l="0" t="0" r="0" b="0"/>
          <a:pathLst>
            <a:path>
              <a:moveTo>
                <a:pt x="0" y="0"/>
              </a:moveTo>
              <a:lnTo>
                <a:pt x="561998" y="0"/>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237575F-467C-40BA-A3F0-C787916F0D17}">
      <dsp:nvSpPr>
        <dsp:cNvPr id="0" name=""/>
        <dsp:cNvSpPr/>
      </dsp:nvSpPr>
      <dsp:spPr>
        <a:xfrm>
          <a:off x="1516039" y="3015084"/>
          <a:ext cx="1016218" cy="758569"/>
        </a:xfrm>
        <a:prstGeom prst="round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18288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Enumeration</a:t>
          </a:r>
        </a:p>
      </dsp:txBody>
      <dsp:txXfrm>
        <a:off x="1553069" y="3052114"/>
        <a:ext cx="942158" cy="684509"/>
      </dsp:txXfrm>
    </dsp:sp>
    <dsp:sp modelId="{C4B436A9-1C8B-430B-9AA7-95B77183B680}">
      <dsp:nvSpPr>
        <dsp:cNvPr id="0" name=""/>
        <dsp:cNvSpPr/>
      </dsp:nvSpPr>
      <dsp:spPr>
        <a:xfrm rot="9000000">
          <a:off x="1208943" y="2280574"/>
          <a:ext cx="266994" cy="0"/>
        </a:xfrm>
        <a:custGeom>
          <a:avLst/>
          <a:gdLst/>
          <a:ahLst/>
          <a:cxnLst/>
          <a:rect l="0" t="0" r="0" b="0"/>
          <a:pathLst>
            <a:path>
              <a:moveTo>
                <a:pt x="0" y="0"/>
              </a:moveTo>
              <a:lnTo>
                <a:pt x="266994" y="0"/>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8613D8E-50AE-4D45-A036-C90E618683CC}">
      <dsp:nvSpPr>
        <dsp:cNvPr id="0" name=""/>
        <dsp:cNvSpPr/>
      </dsp:nvSpPr>
      <dsp:spPr>
        <a:xfrm>
          <a:off x="210610" y="2261394"/>
          <a:ext cx="1016218" cy="758569"/>
        </a:xfrm>
        <a:prstGeom prst="round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Generic class</a:t>
          </a:r>
        </a:p>
      </dsp:txBody>
      <dsp:txXfrm>
        <a:off x="247640" y="2298424"/>
        <a:ext cx="942158" cy="684509"/>
      </dsp:txXfrm>
    </dsp:sp>
    <dsp:sp modelId="{058FBDAC-1A29-4311-ADB8-A2F11B3B9B23}">
      <dsp:nvSpPr>
        <dsp:cNvPr id="0" name=""/>
        <dsp:cNvSpPr/>
      </dsp:nvSpPr>
      <dsp:spPr>
        <a:xfrm rot="12600000">
          <a:off x="1208943" y="1493404"/>
          <a:ext cx="266994" cy="0"/>
        </a:xfrm>
        <a:custGeom>
          <a:avLst/>
          <a:gdLst/>
          <a:ahLst/>
          <a:cxnLst/>
          <a:rect l="0" t="0" r="0" b="0"/>
          <a:pathLst>
            <a:path>
              <a:moveTo>
                <a:pt x="0" y="0"/>
              </a:moveTo>
              <a:lnTo>
                <a:pt x="266994" y="0"/>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AACF286-C9C2-42D6-A961-F5ACDFDA7193}">
      <dsp:nvSpPr>
        <dsp:cNvPr id="0" name=""/>
        <dsp:cNvSpPr/>
      </dsp:nvSpPr>
      <dsp:spPr>
        <a:xfrm>
          <a:off x="210610" y="754014"/>
          <a:ext cx="1016218" cy="758569"/>
        </a:xfrm>
        <a:prstGeom prst="roundRect">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Active class</a:t>
          </a:r>
        </a:p>
      </dsp:txBody>
      <dsp:txXfrm>
        <a:off x="247640" y="791044"/>
        <a:ext cx="942158" cy="684509"/>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55D01-2561-40F9-BF24-E9119F93018F}" type="datetimeFigureOut">
              <a:rPr lang="en-US" smtClean="0"/>
              <a:t>8/19/2021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3991A8-D3B4-4BA5-B6DD-DC66D2AF4E4B}" type="slidenum">
              <a:rPr lang="en-US" smtClean="0"/>
              <a:t>‹#›</a:t>
            </a:fld>
            <a:endParaRPr lang="en-US"/>
          </a:p>
        </p:txBody>
      </p:sp>
    </p:spTree>
    <p:extLst>
      <p:ext uri="{BB962C8B-B14F-4D97-AF65-F5344CB8AC3E}">
        <p14:creationId xmlns:p14="http://schemas.microsoft.com/office/powerpoint/2010/main" val="1288995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Variation</a:t>
            </a:r>
            <a:r>
              <a:rPr lang="en-US" baseline="0" dirty="0"/>
              <a:t> point: variety of ways in which you can do one thing. For e.g. an eBook reader can read Pdf, HTML, MS-Word-Doc, etc. </a:t>
            </a:r>
          </a:p>
          <a:p>
            <a:r>
              <a:rPr lang="en-US" baseline="0" dirty="0"/>
              <a:t>Evolution point: variety of things that can be done. For e.g. eBook reader can also give features such as bookmarking, searching, highlighting, etc. </a:t>
            </a:r>
            <a:endParaRPr lang="en-US" dirty="0"/>
          </a:p>
        </p:txBody>
      </p:sp>
      <p:sp>
        <p:nvSpPr>
          <p:cNvPr id="4" name="Slide Number Placeholder 3"/>
          <p:cNvSpPr>
            <a:spLocks noGrp="1"/>
          </p:cNvSpPr>
          <p:nvPr>
            <p:ph type="sldNum" sz="quarter" idx="10"/>
          </p:nvPr>
        </p:nvSpPr>
        <p:spPr/>
        <p:txBody>
          <a:bodyPr/>
          <a:lstStyle/>
          <a:p>
            <a:fld id="{7056E4FD-46AE-48C3-8339-C0A31B8F8B38}" type="slidenum">
              <a:rPr lang="en-US" smtClean="0"/>
              <a:t>4</a:t>
            </a:fld>
            <a:endParaRPr lang="en-US"/>
          </a:p>
        </p:txBody>
      </p:sp>
    </p:spTree>
    <p:extLst>
      <p:ext uri="{BB962C8B-B14F-4D97-AF65-F5344CB8AC3E}">
        <p14:creationId xmlns:p14="http://schemas.microsoft.com/office/powerpoint/2010/main" val="284455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Broadly speaking, object oriented approach provides</a:t>
            </a:r>
            <a:r>
              <a:rPr lang="en-US" sz="1100" baseline="0" dirty="0"/>
              <a:t> two mechanisms of software reuse – white-box through inheritance and black-box through composition. As inheritance is established in the code, it is static in nature as its frozen at compile time. Object composition, because of things such as polymorphism or reflection, is decided at run time and hence is dynamic.   </a:t>
            </a:r>
          </a:p>
          <a:p>
            <a:r>
              <a:rPr lang="en-US" sz="1100" u="sng" baseline="0" dirty="0"/>
              <a:t>Inheritance</a:t>
            </a:r>
            <a:r>
              <a:rPr lang="en-US" sz="1100" baseline="0" dirty="0"/>
              <a:t>: simple to understand and use. It breaks encapsulation. If parent class changes, it forces child class to change unless child class has overridden parent’s methods, or parent class is a pure abstract class. So when reusing a child-class, you have to make sure parent class doesn’t change or the change doesn’t impact the child class. (example: living with your parents impacts how you live </a:t>
            </a:r>
            <a:r>
              <a:rPr lang="en-US" sz="1100" baseline="0" dirty="0">
                <a:sym typeface="Wingdings" panose="05000000000000000000" pitchFamily="2" charset="2"/>
              </a:rPr>
              <a:t> )</a:t>
            </a:r>
          </a:p>
          <a:p>
            <a:r>
              <a:rPr lang="en-US" sz="1100" u="sng" baseline="0" dirty="0">
                <a:sym typeface="Wingdings" panose="05000000000000000000" pitchFamily="2" charset="2"/>
              </a:rPr>
              <a:t>Composition</a:t>
            </a:r>
            <a:r>
              <a:rPr lang="en-US" sz="1100" baseline="0" dirty="0">
                <a:sym typeface="Wingdings" panose="05000000000000000000" pitchFamily="2" charset="2"/>
              </a:rPr>
              <a:t>: requires carefully designed interfaces. But it doesn’t break encapsulation. </a:t>
            </a:r>
          </a:p>
          <a:p>
            <a:r>
              <a:rPr lang="en-US" sz="1100" baseline="0" dirty="0">
                <a:sym typeface="Wingdings" panose="05000000000000000000" pitchFamily="2" charset="2"/>
              </a:rPr>
              <a:t>Therefore: Favor object composition over class inheritance. </a:t>
            </a:r>
          </a:p>
          <a:p>
            <a:r>
              <a:rPr lang="en-US" sz="1100" baseline="0" dirty="0">
                <a:sym typeface="Wingdings" panose="05000000000000000000" pitchFamily="2" charset="2"/>
              </a:rPr>
              <a:t>However, object composition is harder for humans to understand. Also, dynamic reuse may cause performance inefficiencies. </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7056E4FD-46AE-48C3-8339-C0A31B8F8B38}" type="slidenum">
              <a:rPr lang="en-US" smtClean="0"/>
              <a:t>11</a:t>
            </a:fld>
            <a:endParaRPr lang="en-US"/>
          </a:p>
        </p:txBody>
      </p:sp>
    </p:spTree>
    <p:extLst>
      <p:ext uri="{BB962C8B-B14F-4D97-AF65-F5344CB8AC3E}">
        <p14:creationId xmlns:p14="http://schemas.microsoft.com/office/powerpoint/2010/main" val="2621214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Broadly speaking, object oriented approach provides</a:t>
            </a:r>
            <a:r>
              <a:rPr lang="en-US" sz="1100" baseline="0" dirty="0"/>
              <a:t> two mechanisms of software reuse – white-box through inheritance and black-box through composition. As inheritance is established in the code, it is static in nature as its frozen at compile time. Object composition, because of things such as polymorphism or reflection, is decided at run time and hence is dynamic.   </a:t>
            </a:r>
          </a:p>
          <a:p>
            <a:r>
              <a:rPr lang="en-US" sz="1100" u="sng" baseline="0" dirty="0"/>
              <a:t>Inheritance</a:t>
            </a:r>
            <a:r>
              <a:rPr lang="en-US" sz="1100" baseline="0" dirty="0"/>
              <a:t>: simple to understand and use. It breaks encapsulation. If parent class changes, it forces child class to change unless child class has overridden parent’s methods, or parent class is a pure abstract class. So when reusing a child-class, you have to make sure parent class doesn’t change or the change doesn’t impact the child class. (example: living with your parents impacts how you live </a:t>
            </a:r>
            <a:r>
              <a:rPr lang="en-US" sz="1100" baseline="0" dirty="0">
                <a:sym typeface="Wingdings" panose="05000000000000000000" pitchFamily="2" charset="2"/>
              </a:rPr>
              <a:t> )</a:t>
            </a:r>
          </a:p>
          <a:p>
            <a:r>
              <a:rPr lang="en-US" sz="1100" u="sng" baseline="0" dirty="0">
                <a:sym typeface="Wingdings" panose="05000000000000000000" pitchFamily="2" charset="2"/>
              </a:rPr>
              <a:t>Composition</a:t>
            </a:r>
            <a:r>
              <a:rPr lang="en-US" sz="1100" baseline="0" dirty="0">
                <a:sym typeface="Wingdings" panose="05000000000000000000" pitchFamily="2" charset="2"/>
              </a:rPr>
              <a:t>: requires carefully designed interfaces. But it doesn’t break encapsulation. </a:t>
            </a:r>
          </a:p>
          <a:p>
            <a:r>
              <a:rPr lang="en-US" sz="1100" baseline="0" dirty="0">
                <a:sym typeface="Wingdings" panose="05000000000000000000" pitchFamily="2" charset="2"/>
              </a:rPr>
              <a:t>Therefore: Favor object composition over class inheritance. </a:t>
            </a:r>
          </a:p>
          <a:p>
            <a:r>
              <a:rPr lang="en-US" sz="1100" baseline="0" dirty="0">
                <a:sym typeface="Wingdings" panose="05000000000000000000" pitchFamily="2" charset="2"/>
              </a:rPr>
              <a:t>However, object composition is harder for humans to understand. Also, dynamic reuse may cause performance inefficiencies. </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7056E4FD-46AE-48C3-8339-C0A31B8F8B38}" type="slidenum">
              <a:rPr lang="en-US" smtClean="0"/>
              <a:t>12</a:t>
            </a:fld>
            <a:endParaRPr lang="en-US"/>
          </a:p>
        </p:txBody>
      </p:sp>
    </p:spTree>
    <p:extLst>
      <p:ext uri="{BB962C8B-B14F-4D97-AF65-F5344CB8AC3E}">
        <p14:creationId xmlns:p14="http://schemas.microsoft.com/office/powerpoint/2010/main" val="964723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56E4FD-46AE-48C3-8339-C0A31B8F8B38}" type="slidenum">
              <a:rPr lang="en-US" smtClean="0"/>
              <a:t>13</a:t>
            </a:fld>
            <a:endParaRPr lang="en-US"/>
          </a:p>
        </p:txBody>
      </p:sp>
    </p:spTree>
    <p:extLst>
      <p:ext uri="{BB962C8B-B14F-4D97-AF65-F5344CB8AC3E}">
        <p14:creationId xmlns:p14="http://schemas.microsoft.com/office/powerpoint/2010/main" val="989968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a:t>
            </a:r>
            <a:r>
              <a:rPr lang="en-US" baseline="0" dirty="0"/>
              <a:t> a scenario where you want to work with a stack that gives only push and pop methods. This stack can be implemented by using, say an array of Objects. However, as a client, your program doesn’t need to know anything about array of Objects. The </a:t>
            </a:r>
            <a:r>
              <a:rPr lang="en-US" baseline="0" dirty="0" err="1"/>
              <a:t>ArrayDeque</a:t>
            </a:r>
            <a:r>
              <a:rPr lang="en-US" baseline="0" dirty="0"/>
              <a:t> takes the array of Object elements and implements the push and pop methods on that array. Therefore, the array has been ‘adapted’ or ‘wrapped’ by </a:t>
            </a:r>
            <a:r>
              <a:rPr lang="en-US" baseline="0" dirty="0" err="1"/>
              <a:t>ArrayDeque</a:t>
            </a:r>
            <a:r>
              <a:rPr lang="en-US" baseline="0"/>
              <a:t> class to </a:t>
            </a:r>
            <a:r>
              <a:rPr lang="en-US" baseline="0" dirty="0"/>
              <a:t>behave like a stack. </a:t>
            </a:r>
            <a:endParaRPr lang="en-US" dirty="0"/>
          </a:p>
        </p:txBody>
      </p:sp>
      <p:sp>
        <p:nvSpPr>
          <p:cNvPr id="4" name="Slide Number Placeholder 3"/>
          <p:cNvSpPr>
            <a:spLocks noGrp="1"/>
          </p:cNvSpPr>
          <p:nvPr>
            <p:ph type="sldNum" sz="quarter" idx="10"/>
          </p:nvPr>
        </p:nvSpPr>
        <p:spPr/>
        <p:txBody>
          <a:bodyPr/>
          <a:lstStyle/>
          <a:p>
            <a:fld id="{7056E4FD-46AE-48C3-8339-C0A31B8F8B38}" type="slidenum">
              <a:rPr lang="en-US" smtClean="0"/>
              <a:t>32</a:t>
            </a:fld>
            <a:endParaRPr lang="en-US"/>
          </a:p>
        </p:txBody>
      </p:sp>
    </p:spTree>
    <p:extLst>
      <p:ext uri="{BB962C8B-B14F-4D97-AF65-F5344CB8AC3E}">
        <p14:creationId xmlns:p14="http://schemas.microsoft.com/office/powerpoint/2010/main" val="3927048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Slide Number Placeholder 3"/>
          <p:cNvSpPr>
            <a:spLocks noGrp="1"/>
          </p:cNvSpPr>
          <p:nvPr>
            <p:ph type="sldNum" sz="quarter" idx="10"/>
          </p:nvPr>
        </p:nvSpPr>
        <p:spPr/>
        <p:txBody>
          <a:bodyPr/>
          <a:lstStyle/>
          <a:p>
            <a:fld id="{7056E4FD-46AE-48C3-8339-C0A31B8F8B38}" type="slidenum">
              <a:rPr lang="en-US" smtClean="0"/>
              <a:t>34</a:t>
            </a:fld>
            <a:endParaRPr lang="en-US"/>
          </a:p>
        </p:txBody>
      </p:sp>
    </p:spTree>
    <p:extLst>
      <p:ext uri="{BB962C8B-B14F-4D97-AF65-F5344CB8AC3E}">
        <p14:creationId xmlns:p14="http://schemas.microsoft.com/office/powerpoint/2010/main" val="2397009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A4A0E90-5898-41B7-A736-197C0A1C7CFD}" type="datetime1">
              <a:rPr lang="en-US" smtClean="0"/>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2747841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31304" y="145775"/>
            <a:ext cx="11582400" cy="583096"/>
          </a:xfrm>
        </p:spPr>
        <p:txBody>
          <a:bodyPr>
            <a:noAutofit/>
          </a:bodyPr>
          <a:lstStyle>
            <a:lvl1pPr>
              <a:defRPr sz="3200"/>
            </a:lvl1pPr>
          </a:lstStyle>
          <a:p>
            <a:r>
              <a:rPr lang="en-US"/>
              <a:t>Click to edit Master title style</a:t>
            </a:r>
          </a:p>
        </p:txBody>
      </p:sp>
      <p:sp>
        <p:nvSpPr>
          <p:cNvPr id="3" name="Content Placeholder 2"/>
          <p:cNvSpPr>
            <a:spLocks noGrp="1"/>
          </p:cNvSpPr>
          <p:nvPr>
            <p:ph idx="1"/>
          </p:nvPr>
        </p:nvSpPr>
        <p:spPr>
          <a:xfrm>
            <a:off x="331304" y="861391"/>
            <a:ext cx="11582400" cy="5315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821A17-B675-4F83-B394-7DF412E4F132}" type="datetime1">
              <a:rPr lang="en-US" smtClean="0"/>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3816269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809FC6-9C7A-4EF6-82B5-7AE9E6B7B624}" type="datetime1">
              <a:rPr lang="en-US" smtClean="0"/>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91054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415F36E-F789-466B-9467-8420374818EA}" type="datetime1">
              <a:rPr lang="en-US" smtClean="0"/>
              <a:t>8/19/2021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3765308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BEFA02-C12F-41DD-9B83-7D39F875EDEE}" type="datetime1">
              <a:rPr lang="en-US" smtClean="0"/>
              <a:t>8/19/2021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2615404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3E667A-AE46-43A4-A16E-6F5310C101CE}" type="datetime1">
              <a:rPr lang="en-US" smtClean="0"/>
              <a:t>8/19/2021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3003464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45B5A1-9A24-47FF-A26F-0C41B8DFA90A}" type="datetime1">
              <a:rPr lang="en-US" smtClean="0"/>
              <a:t>8/19/2021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4067882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09483C-F838-46F6-946C-8022BF679E11}" type="datetime1">
              <a:rPr lang="en-US" smtClean="0"/>
              <a:t>8/19/2021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4158339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EB2460-AD21-4B51-AE5E-212AA2EE6BE4}" type="datetime1">
              <a:rPr lang="en-US" smtClean="0"/>
              <a:t>8/19/2021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2744813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F1DB80-1606-42AC-9351-1D5467FCA29F}" type="datetime1">
              <a:rPr lang="en-US" smtClean="0"/>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178830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85C0CC-424F-4F13-9DFF-185AA4C28A5F}" type="datetime1">
              <a:rPr lang="en-US" smtClean="0"/>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0AC81A-0762-4854-947E-801A7DA89C28}" type="slidenum">
              <a:rPr lang="en-US" smtClean="0"/>
              <a:t>‹#›</a:t>
            </a:fld>
            <a:endParaRPr lang="en-US"/>
          </a:p>
        </p:txBody>
      </p:sp>
    </p:spTree>
    <p:extLst>
      <p:ext uri="{BB962C8B-B14F-4D97-AF65-F5344CB8AC3E}">
        <p14:creationId xmlns:p14="http://schemas.microsoft.com/office/powerpoint/2010/main" val="613871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48DB7-20C5-4CBB-AEC7-D2C1AC834C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71F8D-B952-4F89-A5A8-08E46FCCC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56D2E2-BDBC-4CE7-8E29-9B372B328C28}"/>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5" name="Footer Placeholder 4">
            <a:extLst>
              <a:ext uri="{FF2B5EF4-FFF2-40B4-BE49-F238E27FC236}">
                <a16:creationId xmlns:a16="http://schemas.microsoft.com/office/drawing/2014/main" id="{B20286DD-DBE7-4916-927B-9B482FBC35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0F3CF-B5F6-4179-A28C-6B8CBF2F0A6E}"/>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37063534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5F30-56AA-4AF3-8F70-EE59D6E03E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71E4D8-FBE0-4634-BE3C-88256B8A1B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7D111D-513C-4CA2-B5E3-F22060ACD401}"/>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5" name="Footer Placeholder 4">
            <a:extLst>
              <a:ext uri="{FF2B5EF4-FFF2-40B4-BE49-F238E27FC236}">
                <a16:creationId xmlns:a16="http://schemas.microsoft.com/office/drawing/2014/main" id="{CBCA4B14-206E-4CA2-8615-45F465EB4E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1D5CF-C76F-42D3-9A29-D0ECA28068FD}"/>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5712718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66300-5638-4503-8572-EA4AB139FD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843950-FAAD-44E9-8F0D-36DE38A5F2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F1341A-1F12-4FC6-B1AE-D97B65054B50}"/>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5" name="Footer Placeholder 4">
            <a:extLst>
              <a:ext uri="{FF2B5EF4-FFF2-40B4-BE49-F238E27FC236}">
                <a16:creationId xmlns:a16="http://schemas.microsoft.com/office/drawing/2014/main" id="{A91E1311-1633-491E-B35E-EF21F19EB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7001FB-4B63-4AD5-B762-F89A9455BE96}"/>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2922464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6E8F1-B217-42C3-91FE-63DA62DF30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D9B80A-EF54-4F98-859C-B9DBF5A13B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706A81-E10F-4D53-A85B-4C657123F0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6F1C1B-CEAA-44E9-856E-5F1FB5578150}"/>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6" name="Footer Placeholder 5">
            <a:extLst>
              <a:ext uri="{FF2B5EF4-FFF2-40B4-BE49-F238E27FC236}">
                <a16:creationId xmlns:a16="http://schemas.microsoft.com/office/drawing/2014/main" id="{859B6C97-65AB-49CF-8CCE-2C2570DF6E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A5E579-991E-411A-A3CD-6DA99E8F5807}"/>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1426841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93DF8-DC50-4717-9A99-27EE42D07D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5C4641-3983-4C5B-B085-3D893DCBA7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31515C-A4E3-44B2-86E2-FA7F3AA55C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37148B-8E05-4D80-834F-44B1F9BC92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A4A5D5-D45F-4005-86BA-17860B826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4A3D37-5E9C-475A-8254-1E2511866E09}"/>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8" name="Footer Placeholder 7">
            <a:extLst>
              <a:ext uri="{FF2B5EF4-FFF2-40B4-BE49-F238E27FC236}">
                <a16:creationId xmlns:a16="http://schemas.microsoft.com/office/drawing/2014/main" id="{40103FEE-1C56-4AC5-89B3-6AAB3ACF2B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994F05-C703-46CA-A24D-BD85B45B6534}"/>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231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108E5-8B09-48CE-8C99-E82EB3DCC7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7E331C-E345-47EA-9797-44F5E0A84740}"/>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4" name="Footer Placeholder 3">
            <a:extLst>
              <a:ext uri="{FF2B5EF4-FFF2-40B4-BE49-F238E27FC236}">
                <a16:creationId xmlns:a16="http://schemas.microsoft.com/office/drawing/2014/main" id="{0910AD98-8972-436D-AD26-3F1DED66B4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11E750-912A-409B-A946-A7D7216DDFC8}"/>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3897479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187296-6D19-442C-9315-12DF5355E6DA}"/>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3" name="Footer Placeholder 2">
            <a:extLst>
              <a:ext uri="{FF2B5EF4-FFF2-40B4-BE49-F238E27FC236}">
                <a16:creationId xmlns:a16="http://schemas.microsoft.com/office/drawing/2014/main" id="{02347E6E-1738-4E7E-88DD-D2DED28E81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2E8459-39E0-4B49-8ED1-DFB06B225821}"/>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29020596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02A1C-984F-4973-BBE3-3EE74FBBF9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8187F7-0159-4022-9F0F-5457CBAA20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FCFC36-E394-4B90-AE67-DD475CC61F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1D5C10-3657-4411-B677-D0C7FFDF1169}"/>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6" name="Footer Placeholder 5">
            <a:extLst>
              <a:ext uri="{FF2B5EF4-FFF2-40B4-BE49-F238E27FC236}">
                <a16:creationId xmlns:a16="http://schemas.microsoft.com/office/drawing/2014/main" id="{D18F3CCA-0D83-4B0D-A143-BC987AF382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43088B-FD83-427C-825F-0C02A91EC61A}"/>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37562622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C218D-7771-4C19-9391-B67C8BA93E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03DB2E-8401-43D8-81ED-666906E674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4B9114-A076-4D34-BDD8-973A49B9C0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AE7336-3C6A-4460-8C9C-D318783CA4D6}"/>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6" name="Footer Placeholder 5">
            <a:extLst>
              <a:ext uri="{FF2B5EF4-FFF2-40B4-BE49-F238E27FC236}">
                <a16:creationId xmlns:a16="http://schemas.microsoft.com/office/drawing/2014/main" id="{037FABD1-E3AF-49BB-B7C8-69C63A8D6B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4DD30A-998F-4311-B9F4-E4F695FB2F59}"/>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2755448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AE9C-85BB-4EAE-AA5C-CD0AA9506D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D7EA6A-7830-4D18-B90C-8EA0575679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28E84B-2EBA-4E13-9CA5-641CDC42B19E}"/>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5" name="Footer Placeholder 4">
            <a:extLst>
              <a:ext uri="{FF2B5EF4-FFF2-40B4-BE49-F238E27FC236}">
                <a16:creationId xmlns:a16="http://schemas.microsoft.com/office/drawing/2014/main" id="{DCC1734D-5747-4095-84EF-DA01078B0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FECD1F-5B69-4C84-AFDC-2271316BF620}"/>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17257361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2CA059-4B31-420E-97A6-7AE55C35B9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9493D4-15BA-4A0B-8DF0-EAD2341CE3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2472F2-F63C-4CFC-BCBF-2F59F452B52F}"/>
              </a:ext>
            </a:extLst>
          </p:cNvPr>
          <p:cNvSpPr>
            <a:spLocks noGrp="1"/>
          </p:cNvSpPr>
          <p:nvPr>
            <p:ph type="dt" sz="half" idx="10"/>
          </p:nvPr>
        </p:nvSpPr>
        <p:spPr/>
        <p:txBody>
          <a:bodyPr/>
          <a:lstStyle/>
          <a:p>
            <a:fld id="{6775B70D-93D7-4D6F-95EF-E37E754BAEB5}" type="datetimeFigureOut">
              <a:rPr lang="en-US" smtClean="0"/>
              <a:t>8/19/2021</a:t>
            </a:fld>
            <a:endParaRPr lang="en-US"/>
          </a:p>
        </p:txBody>
      </p:sp>
      <p:sp>
        <p:nvSpPr>
          <p:cNvPr id="5" name="Footer Placeholder 4">
            <a:extLst>
              <a:ext uri="{FF2B5EF4-FFF2-40B4-BE49-F238E27FC236}">
                <a16:creationId xmlns:a16="http://schemas.microsoft.com/office/drawing/2014/main" id="{445489A6-4827-4EB3-816C-65B59F08C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9296E7-4859-4017-9564-AC29EC139665}"/>
              </a:ext>
            </a:extLst>
          </p:cNvPr>
          <p:cNvSpPr>
            <a:spLocks noGrp="1"/>
          </p:cNvSpPr>
          <p:nvPr>
            <p:ph type="sldNum" sz="quarter" idx="12"/>
          </p:nvPr>
        </p:nvSpPr>
        <p:spPr/>
        <p:txBody>
          <a:bodyPr/>
          <a:lstStyle/>
          <a:p>
            <a:fld id="{12E1D6E2-7AEA-441D-81F3-2BB9FA0453D2}" type="slidenum">
              <a:rPr lang="en-US" smtClean="0"/>
              <a:t>‹#›</a:t>
            </a:fld>
            <a:endParaRPr lang="en-US"/>
          </a:p>
        </p:txBody>
      </p:sp>
    </p:spTree>
    <p:extLst>
      <p:ext uri="{BB962C8B-B14F-4D97-AF65-F5344CB8AC3E}">
        <p14:creationId xmlns:p14="http://schemas.microsoft.com/office/powerpoint/2010/main" val="31821526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for Graphics">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1977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43C95C-A4F6-4974-854F-BAC01F32A3EF}" type="datetime1">
              <a:rPr lang="en-US" smtClean="0"/>
              <a:t>8/19/2021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0AC81A-0762-4854-947E-801A7DA89C28}" type="slidenum">
              <a:rPr lang="en-US" smtClean="0"/>
              <a:t>‹#›</a:t>
            </a:fld>
            <a:endParaRPr lang="en-US"/>
          </a:p>
        </p:txBody>
      </p:sp>
    </p:spTree>
    <p:extLst>
      <p:ext uri="{BB962C8B-B14F-4D97-AF65-F5344CB8AC3E}">
        <p14:creationId xmlns:p14="http://schemas.microsoft.com/office/powerpoint/2010/main" val="381525609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63C2FF-94C1-4931-A95D-430E1EF26C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610ADD-F94C-4D43-B5A6-D670A2DEE9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998E92-0C34-4CC8-A0A2-BEFC3B30A1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75B70D-93D7-4D6F-95EF-E37E754BAEB5}" type="datetimeFigureOut">
              <a:rPr lang="en-US" smtClean="0"/>
              <a:t>8/19/2021</a:t>
            </a:fld>
            <a:endParaRPr lang="en-US"/>
          </a:p>
        </p:txBody>
      </p:sp>
      <p:sp>
        <p:nvSpPr>
          <p:cNvPr id="5" name="Footer Placeholder 4">
            <a:extLst>
              <a:ext uri="{FF2B5EF4-FFF2-40B4-BE49-F238E27FC236}">
                <a16:creationId xmlns:a16="http://schemas.microsoft.com/office/drawing/2014/main" id="{DBF1B8B0-3D63-4B5D-A417-59D97BA56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50284D-1CD6-4AC4-800E-F6AC09C096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E1D6E2-7AEA-441D-81F3-2BB9FA0453D2}" type="slidenum">
              <a:rPr lang="en-US" smtClean="0"/>
              <a:t>‹#›</a:t>
            </a:fld>
            <a:endParaRPr lang="en-US"/>
          </a:p>
        </p:txBody>
      </p:sp>
    </p:spTree>
    <p:extLst>
      <p:ext uri="{BB962C8B-B14F-4D97-AF65-F5344CB8AC3E}">
        <p14:creationId xmlns:p14="http://schemas.microsoft.com/office/powerpoint/2010/main" val="2778611847"/>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229138"/>
      </p:ext>
    </p:extLst>
  </p:cSld>
  <p:clrMap bg1="lt1" tx1="dk1" bg2="lt2" tx2="dk2" accent1="accent1" accent2="accent2" accent3="accent3" accent4="accent4" accent5="accent5" accent6="accent6" hlink="hlink" folHlink="folHlink"/>
  <p:sldLayoutIdLst>
    <p:sldLayoutId id="2147483685" r:id="rId1"/>
  </p:sldLayoutIdLst>
  <p:txStyles>
    <p:titleStyle>
      <a:lvl1pPr algn="l" defTabSz="91467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71" indent="-228671" algn="l" defTabSz="914676"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6004" indent="-228671" algn="l" defTabSz="914676"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342" indent="-228671" algn="l" defTabSz="914676"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680" indent="-228671" algn="l" defTabSz="914676"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8018" indent="-228671" algn="l" defTabSz="914676"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5356" indent="-228671" algn="l" defTabSz="914676"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2694" indent="-228671" algn="l" defTabSz="914676"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30031" indent="-228671" algn="l" defTabSz="914676"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7364" indent="-228671" algn="l" defTabSz="914676"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676" rtl="0" eaLnBrk="1" latinLnBrk="0" hangingPunct="1">
        <a:defRPr sz="1800" kern="1200">
          <a:solidFill>
            <a:schemeClr val="tx1"/>
          </a:solidFill>
          <a:latin typeface="+mn-lt"/>
          <a:ea typeface="+mn-ea"/>
          <a:cs typeface="+mn-cs"/>
        </a:defRPr>
      </a:lvl1pPr>
      <a:lvl2pPr marL="457338" algn="l" defTabSz="914676" rtl="0" eaLnBrk="1" latinLnBrk="0" hangingPunct="1">
        <a:defRPr sz="1800" kern="1200">
          <a:solidFill>
            <a:schemeClr val="tx1"/>
          </a:solidFill>
          <a:latin typeface="+mn-lt"/>
          <a:ea typeface="+mn-ea"/>
          <a:cs typeface="+mn-cs"/>
        </a:defRPr>
      </a:lvl2pPr>
      <a:lvl3pPr marL="914676" algn="l" defTabSz="914676" rtl="0" eaLnBrk="1" latinLnBrk="0" hangingPunct="1">
        <a:defRPr sz="1800" kern="1200">
          <a:solidFill>
            <a:schemeClr val="tx1"/>
          </a:solidFill>
          <a:latin typeface="+mn-lt"/>
          <a:ea typeface="+mn-ea"/>
          <a:cs typeface="+mn-cs"/>
        </a:defRPr>
      </a:lvl3pPr>
      <a:lvl4pPr marL="1372014" algn="l" defTabSz="914676" rtl="0" eaLnBrk="1" latinLnBrk="0" hangingPunct="1">
        <a:defRPr sz="1800" kern="1200">
          <a:solidFill>
            <a:schemeClr val="tx1"/>
          </a:solidFill>
          <a:latin typeface="+mn-lt"/>
          <a:ea typeface="+mn-ea"/>
          <a:cs typeface="+mn-cs"/>
        </a:defRPr>
      </a:lvl4pPr>
      <a:lvl5pPr marL="1829351" algn="l" defTabSz="914676" rtl="0" eaLnBrk="1" latinLnBrk="0" hangingPunct="1">
        <a:defRPr sz="1800" kern="1200">
          <a:solidFill>
            <a:schemeClr val="tx1"/>
          </a:solidFill>
          <a:latin typeface="+mn-lt"/>
          <a:ea typeface="+mn-ea"/>
          <a:cs typeface="+mn-cs"/>
        </a:defRPr>
      </a:lvl5pPr>
      <a:lvl6pPr marL="2286684" algn="l" defTabSz="914676" rtl="0" eaLnBrk="1" latinLnBrk="0" hangingPunct="1">
        <a:defRPr sz="1800" kern="1200">
          <a:solidFill>
            <a:schemeClr val="tx1"/>
          </a:solidFill>
          <a:latin typeface="+mn-lt"/>
          <a:ea typeface="+mn-ea"/>
          <a:cs typeface="+mn-cs"/>
        </a:defRPr>
      </a:lvl6pPr>
      <a:lvl7pPr marL="2744027" algn="l" defTabSz="914676" rtl="0" eaLnBrk="1" latinLnBrk="0" hangingPunct="1">
        <a:defRPr sz="1800" kern="1200">
          <a:solidFill>
            <a:schemeClr val="tx1"/>
          </a:solidFill>
          <a:latin typeface="+mn-lt"/>
          <a:ea typeface="+mn-ea"/>
          <a:cs typeface="+mn-cs"/>
        </a:defRPr>
      </a:lvl7pPr>
      <a:lvl8pPr marL="3201360" algn="l" defTabSz="914676" rtl="0" eaLnBrk="1" latinLnBrk="0" hangingPunct="1">
        <a:defRPr sz="1800" kern="1200">
          <a:solidFill>
            <a:schemeClr val="tx1"/>
          </a:solidFill>
          <a:latin typeface="+mn-lt"/>
          <a:ea typeface="+mn-ea"/>
          <a:cs typeface="+mn-cs"/>
        </a:defRPr>
      </a:lvl8pPr>
      <a:lvl9pPr marL="3658698" algn="l" defTabSz="91467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emf"/><Relationship Id="rId7" Type="http://schemas.openxmlformats.org/officeDocument/2006/relationships/diagramQuickStyle" Target="../diagrams/quickStyle1.xml"/><Relationship Id="rId2" Type="http://schemas.openxmlformats.org/officeDocument/2006/relationships/image" Target="../media/image1.png"/><Relationship Id="rId1" Type="http://schemas.openxmlformats.org/officeDocument/2006/relationships/slideLayout" Target="../slideLayouts/slideLayout23.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emf"/><Relationship Id="rId9" Type="http://schemas.microsoft.com/office/2007/relationships/diagramDrawing" Target="../diagrams/drawing1.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tutorialspoint.com/python_design_patterns/python_design_patterns_singleton.ht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geeksforgeeks.org/singleton-pattern-in-python-a-complete-guide/"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33.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8A5DDE-87E2-4FF9-9390-F1DD38B96004}"/>
              </a:ext>
            </a:extLst>
          </p:cNvPr>
          <p:cNvSpPr>
            <a:spLocks noGrp="1"/>
          </p:cNvSpPr>
          <p:nvPr>
            <p:ph type="ctrTitle"/>
          </p:nvPr>
        </p:nvSpPr>
        <p:spPr>
          <a:xfrm>
            <a:off x="838199" y="4525347"/>
            <a:ext cx="6801321" cy="1737360"/>
          </a:xfrm>
        </p:spPr>
        <p:txBody>
          <a:bodyPr anchor="ctr">
            <a:normAutofit/>
          </a:bodyPr>
          <a:lstStyle/>
          <a:p>
            <a:pPr algn="l"/>
            <a:br>
              <a:rPr lang="en-US" dirty="0"/>
            </a:br>
            <a:r>
              <a:rPr lang="en-US" dirty="0"/>
              <a:t>Design Patterns</a:t>
            </a:r>
          </a:p>
        </p:txBody>
      </p:sp>
      <p:sp>
        <p:nvSpPr>
          <p:cNvPr id="3" name="Subtitle 2">
            <a:extLst>
              <a:ext uri="{FF2B5EF4-FFF2-40B4-BE49-F238E27FC236}">
                <a16:creationId xmlns:a16="http://schemas.microsoft.com/office/drawing/2014/main" id="{3612A84D-D76D-4B0D-8990-0123C7AD4591}"/>
              </a:ext>
            </a:extLst>
          </p:cNvPr>
          <p:cNvSpPr>
            <a:spLocks noGrp="1"/>
          </p:cNvSpPr>
          <p:nvPr>
            <p:ph type="subTitle" idx="1"/>
          </p:nvPr>
        </p:nvSpPr>
        <p:spPr>
          <a:xfrm>
            <a:off x="7961258" y="4525347"/>
            <a:ext cx="3258675" cy="1737360"/>
          </a:xfrm>
        </p:spPr>
        <p:txBody>
          <a:bodyPr anchor="ctr">
            <a:normAutofit/>
          </a:bodyPr>
          <a:lstStyle/>
          <a:p>
            <a:pPr algn="l"/>
            <a:r>
              <a:rPr lang="en-US" dirty="0"/>
              <a:t>Summer 2021</a:t>
            </a:r>
          </a:p>
        </p:txBody>
      </p:sp>
      <p:sp>
        <p:nvSpPr>
          <p:cNvPr id="10"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0797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Principles &amp; Patterns</a:t>
            </a:r>
            <a:endParaRPr lang="en-US" dirty="0"/>
          </a:p>
        </p:txBody>
      </p:sp>
      <p:sp>
        <p:nvSpPr>
          <p:cNvPr id="3" name="Content Placeholder 2"/>
          <p:cNvSpPr>
            <a:spLocks noGrp="1"/>
          </p:cNvSpPr>
          <p:nvPr>
            <p:ph idx="1"/>
          </p:nvPr>
        </p:nvSpPr>
        <p:spPr/>
        <p:txBody>
          <a:bodyPr>
            <a:normAutofit/>
          </a:bodyPr>
          <a:lstStyle/>
          <a:p>
            <a:r>
              <a:rPr lang="en-US" sz="2000" dirty="0">
                <a:solidFill>
                  <a:srgbClr val="0070C0"/>
                </a:solidFill>
              </a:rPr>
              <a:t>Principle</a:t>
            </a:r>
            <a:r>
              <a:rPr lang="en-US" sz="2000" dirty="0"/>
              <a:t>: </a:t>
            </a:r>
            <a:r>
              <a:rPr lang="en-US" sz="2000" i="1" dirty="0"/>
              <a:t>a fundamental truth or proposition that serves as the foundation for a system of belief or behavior or for a chain of reasoning</a:t>
            </a:r>
            <a:r>
              <a:rPr lang="en-US" sz="2000" dirty="0"/>
              <a:t>. (dictionary.com)</a:t>
            </a:r>
          </a:p>
          <a:p>
            <a:r>
              <a:rPr lang="en-US" sz="2000" dirty="0">
                <a:solidFill>
                  <a:srgbClr val="0070C0"/>
                </a:solidFill>
              </a:rPr>
              <a:t>Pattern</a:t>
            </a:r>
            <a:r>
              <a:rPr lang="en-US" sz="2000" dirty="0"/>
              <a:t>: a repeated design </a:t>
            </a:r>
          </a:p>
          <a:p>
            <a:endParaRPr lang="en-US" sz="2000" dirty="0"/>
          </a:p>
          <a:p>
            <a:r>
              <a:rPr lang="en-US" sz="2000" dirty="0"/>
              <a:t>Design pattern: a repeatable solution to a commonly occurring problem </a:t>
            </a:r>
          </a:p>
          <a:p>
            <a:pPr lvl="1"/>
            <a:r>
              <a:rPr lang="en-US" sz="1600" dirty="0"/>
              <a:t>the idea originally introduced by  Christopher Alexander in </a:t>
            </a:r>
            <a:r>
              <a:rPr lang="en-US" sz="1600" i="1" dirty="0">
                <a:hlinkClick r:id="rId2" action="ppaction://hlinksldjump"/>
              </a:rPr>
              <a:t>A Pattern Language: Towns, Buildings, Construction</a:t>
            </a:r>
            <a:r>
              <a:rPr lang="en-US" sz="1600" i="1" dirty="0"/>
              <a:t>. (1977)</a:t>
            </a:r>
          </a:p>
          <a:p>
            <a:r>
              <a:rPr lang="en-US" sz="2000" dirty="0"/>
              <a:t>In general, a pattern has four essential elements</a:t>
            </a:r>
          </a:p>
          <a:p>
            <a:pPr lvl="1"/>
            <a:r>
              <a:rPr lang="en-US" sz="2000" dirty="0"/>
              <a:t>Name</a:t>
            </a:r>
          </a:p>
          <a:p>
            <a:pPr lvl="1"/>
            <a:r>
              <a:rPr lang="en-US" sz="2000" dirty="0"/>
              <a:t>Problem</a:t>
            </a:r>
          </a:p>
          <a:p>
            <a:pPr lvl="1"/>
            <a:r>
              <a:rPr lang="en-US" sz="2000" dirty="0"/>
              <a:t>Solution</a:t>
            </a:r>
          </a:p>
          <a:p>
            <a:pPr lvl="1"/>
            <a:r>
              <a:rPr lang="en-US" sz="2000" dirty="0"/>
              <a:t>Consequences</a:t>
            </a:r>
          </a:p>
          <a:p>
            <a:r>
              <a:rPr lang="en-US" sz="2000" dirty="0"/>
              <a:t>Supports chunking and incorporating that concept into our understanding and memory</a:t>
            </a:r>
          </a:p>
          <a:p>
            <a:r>
              <a:rPr lang="en-US" sz="2000" dirty="0"/>
              <a:t>Facilitates communication</a:t>
            </a:r>
          </a:p>
          <a:p>
            <a:pPr lvl="1"/>
            <a:endParaRPr lang="en-US" sz="2000" dirty="0"/>
          </a:p>
          <a:p>
            <a:endParaRPr lang="en-US" sz="2000" dirty="0"/>
          </a:p>
          <a:p>
            <a:endParaRPr lang="en-US" sz="2000" i="1" dirty="0"/>
          </a:p>
        </p:txBody>
      </p:sp>
      <p:sp>
        <p:nvSpPr>
          <p:cNvPr id="4" name="Slide Number Placeholder 3"/>
          <p:cNvSpPr>
            <a:spLocks noGrp="1"/>
          </p:cNvSpPr>
          <p:nvPr>
            <p:ph type="sldNum" sz="quarter" idx="12"/>
          </p:nvPr>
        </p:nvSpPr>
        <p:spPr/>
        <p:txBody>
          <a:bodyPr/>
          <a:lstStyle/>
          <a:p>
            <a:fld id="{9F1A4D64-A005-48D8-BBA4-82C0A2806572}" type="slidenum">
              <a:rPr lang="en-US" smtClean="0"/>
              <a:t>2</a:t>
            </a:fld>
            <a:endParaRPr lang="en-US"/>
          </a:p>
        </p:txBody>
      </p:sp>
    </p:spTree>
    <p:extLst>
      <p:ext uri="{BB962C8B-B14F-4D97-AF65-F5344CB8AC3E}">
        <p14:creationId xmlns:p14="http://schemas.microsoft.com/office/powerpoint/2010/main" val="126407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 Design Patterns and Principles</a:t>
            </a:r>
          </a:p>
        </p:txBody>
      </p:sp>
      <p:sp>
        <p:nvSpPr>
          <p:cNvPr id="6" name="Slide Number Placeholder 5"/>
          <p:cNvSpPr>
            <a:spLocks noGrp="1"/>
          </p:cNvSpPr>
          <p:nvPr>
            <p:ph type="sldNum" sz="quarter" idx="12"/>
          </p:nvPr>
        </p:nvSpPr>
        <p:spPr/>
        <p:txBody>
          <a:bodyPr/>
          <a:lstStyle/>
          <a:p>
            <a:fld id="{9F1A4D64-A005-48D8-BBA4-82C0A2806572}" type="slidenum">
              <a:rPr lang="en-US" smtClean="0"/>
              <a:t>3</a:t>
            </a:fld>
            <a:endParaRPr lang="en-US"/>
          </a:p>
        </p:txBody>
      </p:sp>
      <p:graphicFrame>
        <p:nvGraphicFramePr>
          <p:cNvPr id="27" name="Table 27">
            <a:extLst>
              <a:ext uri="{FF2B5EF4-FFF2-40B4-BE49-F238E27FC236}">
                <a16:creationId xmlns:a16="http://schemas.microsoft.com/office/drawing/2014/main" id="{B123343C-2D99-4434-8C31-B18AF0A4F88D}"/>
              </a:ext>
            </a:extLst>
          </p:cNvPr>
          <p:cNvGraphicFramePr>
            <a:graphicFrameLocks noGrp="1"/>
          </p:cNvGraphicFramePr>
          <p:nvPr/>
        </p:nvGraphicFramePr>
        <p:xfrm>
          <a:off x="4425511" y="1421496"/>
          <a:ext cx="7007193" cy="1437640"/>
        </p:xfrm>
        <a:graphic>
          <a:graphicData uri="http://schemas.openxmlformats.org/drawingml/2006/table">
            <a:tbl>
              <a:tblPr firstRow="1" bandRow="1">
                <a:tableStyleId>{3B4B98B0-60AC-42C2-AFA5-B58CD77FA1E5}</a:tableStyleId>
              </a:tblPr>
              <a:tblGrid>
                <a:gridCol w="1867302">
                  <a:extLst>
                    <a:ext uri="{9D8B030D-6E8A-4147-A177-3AD203B41FA5}">
                      <a16:colId xmlns:a16="http://schemas.microsoft.com/office/drawing/2014/main" val="1889728143"/>
                    </a:ext>
                  </a:extLst>
                </a:gridCol>
                <a:gridCol w="2002055">
                  <a:extLst>
                    <a:ext uri="{9D8B030D-6E8A-4147-A177-3AD203B41FA5}">
                      <a16:colId xmlns:a16="http://schemas.microsoft.com/office/drawing/2014/main" val="1100457954"/>
                    </a:ext>
                  </a:extLst>
                </a:gridCol>
                <a:gridCol w="3137836">
                  <a:extLst>
                    <a:ext uri="{9D8B030D-6E8A-4147-A177-3AD203B41FA5}">
                      <a16:colId xmlns:a16="http://schemas.microsoft.com/office/drawing/2014/main" val="2052051428"/>
                    </a:ext>
                  </a:extLst>
                </a:gridCol>
              </a:tblGrid>
              <a:tr h="370840">
                <a:tc>
                  <a:txBody>
                    <a:bodyPr/>
                    <a:lstStyle/>
                    <a:p>
                      <a:r>
                        <a:rPr lang="en-US" sz="1600" dirty="0"/>
                        <a:t>Creational</a:t>
                      </a:r>
                    </a:p>
                  </a:txBody>
                  <a:tcPr/>
                </a:tc>
                <a:tc>
                  <a:txBody>
                    <a:bodyPr/>
                    <a:lstStyle/>
                    <a:p>
                      <a:r>
                        <a:rPr lang="en-US" sz="1600" dirty="0"/>
                        <a:t>Structural</a:t>
                      </a:r>
                    </a:p>
                  </a:txBody>
                  <a:tcPr/>
                </a:tc>
                <a:tc>
                  <a:txBody>
                    <a:bodyPr/>
                    <a:lstStyle/>
                    <a:p>
                      <a:r>
                        <a:rPr lang="en-US" sz="1600" dirty="0"/>
                        <a:t>Behavioral</a:t>
                      </a:r>
                    </a:p>
                  </a:txBody>
                  <a:tcPr/>
                </a:tc>
                <a:extLst>
                  <a:ext uri="{0D108BD9-81ED-4DB2-BD59-A6C34878D82A}">
                    <a16:rowId xmlns:a16="http://schemas.microsoft.com/office/drawing/2014/main" val="575791220"/>
                  </a:ext>
                </a:extLst>
              </a:tr>
              <a:tr h="370840">
                <a:tc>
                  <a:txBody>
                    <a:bodyPr/>
                    <a:lstStyle/>
                    <a:p>
                      <a:r>
                        <a:rPr lang="en-US" sz="1600" dirty="0"/>
                        <a:t>Abstract factory, Builder, Factory method, Prototype, Singleton</a:t>
                      </a:r>
                    </a:p>
                  </a:txBody>
                  <a:tcPr/>
                </a:tc>
                <a:tc>
                  <a:txBody>
                    <a:bodyPr/>
                    <a:lstStyle/>
                    <a:p>
                      <a:r>
                        <a:rPr lang="en-US" sz="1600" dirty="0"/>
                        <a:t>Adapter, Bridge, Composite, Decorator, Façade, Flyweight, Proxy</a:t>
                      </a:r>
                    </a:p>
                  </a:txBody>
                  <a:tcPr/>
                </a:tc>
                <a:tc>
                  <a:txBody>
                    <a:bodyPr/>
                    <a:lstStyle/>
                    <a:p>
                      <a:r>
                        <a:rPr lang="en-US" sz="1600" dirty="0"/>
                        <a:t>Chain of responsibility, Command, Interpreter, Iterator, Mediator, Memento, Observer, State, Strategy, Template method, Visitor</a:t>
                      </a:r>
                    </a:p>
                  </a:txBody>
                  <a:tcPr/>
                </a:tc>
                <a:extLst>
                  <a:ext uri="{0D108BD9-81ED-4DB2-BD59-A6C34878D82A}">
                    <a16:rowId xmlns:a16="http://schemas.microsoft.com/office/drawing/2014/main" val="379887646"/>
                  </a:ext>
                </a:extLst>
              </a:tr>
            </a:tbl>
          </a:graphicData>
        </a:graphic>
      </p:graphicFrame>
      <p:sp>
        <p:nvSpPr>
          <p:cNvPr id="7" name="TextBox 6">
            <a:extLst>
              <a:ext uri="{FF2B5EF4-FFF2-40B4-BE49-F238E27FC236}">
                <a16:creationId xmlns:a16="http://schemas.microsoft.com/office/drawing/2014/main" id="{010E2DE7-CAA5-41B8-9729-668A31888437}"/>
              </a:ext>
            </a:extLst>
          </p:cNvPr>
          <p:cNvSpPr txBox="1"/>
          <p:nvPr/>
        </p:nvSpPr>
        <p:spPr>
          <a:xfrm>
            <a:off x="1035519" y="1421496"/>
            <a:ext cx="1964064" cy="369332"/>
          </a:xfrm>
          <a:prstGeom prst="rect">
            <a:avLst/>
          </a:prstGeom>
          <a:noFill/>
        </p:spPr>
        <p:txBody>
          <a:bodyPr wrap="none" rtlCol="0">
            <a:spAutoFit/>
          </a:bodyPr>
          <a:lstStyle/>
          <a:p>
            <a:r>
              <a:rPr lang="en-US" b="1" dirty="0" err="1">
                <a:solidFill>
                  <a:schemeClr val="accent1"/>
                </a:solidFill>
              </a:rPr>
              <a:t>GoF</a:t>
            </a:r>
            <a:r>
              <a:rPr lang="en-US" dirty="0"/>
              <a:t> (Gang of Four)</a:t>
            </a:r>
          </a:p>
        </p:txBody>
      </p:sp>
      <p:sp>
        <p:nvSpPr>
          <p:cNvPr id="8" name="TextBox 7">
            <a:extLst>
              <a:ext uri="{FF2B5EF4-FFF2-40B4-BE49-F238E27FC236}">
                <a16:creationId xmlns:a16="http://schemas.microsoft.com/office/drawing/2014/main" id="{73A10347-A7B5-413C-98A7-0882F399C785}"/>
              </a:ext>
            </a:extLst>
          </p:cNvPr>
          <p:cNvSpPr txBox="1"/>
          <p:nvPr/>
        </p:nvSpPr>
        <p:spPr>
          <a:xfrm>
            <a:off x="971549" y="3245216"/>
            <a:ext cx="3181351" cy="923330"/>
          </a:xfrm>
          <a:prstGeom prst="rect">
            <a:avLst/>
          </a:prstGeom>
          <a:noFill/>
        </p:spPr>
        <p:txBody>
          <a:bodyPr wrap="square" rtlCol="0">
            <a:spAutoFit/>
          </a:bodyPr>
          <a:lstStyle/>
          <a:p>
            <a:r>
              <a:rPr lang="en-US" b="1" dirty="0">
                <a:solidFill>
                  <a:schemeClr val="accent1"/>
                </a:solidFill>
              </a:rPr>
              <a:t>GRASP</a:t>
            </a:r>
            <a:r>
              <a:rPr lang="en-US" dirty="0"/>
              <a:t> (General Responsibility Assignment Software Patterns </a:t>
            </a:r>
            <a:r>
              <a:rPr lang="en-US" i="1" dirty="0"/>
              <a:t>or Principles</a:t>
            </a:r>
            <a:r>
              <a:rPr lang="en-US" dirty="0"/>
              <a:t>)</a:t>
            </a:r>
          </a:p>
        </p:txBody>
      </p:sp>
      <p:sp>
        <p:nvSpPr>
          <p:cNvPr id="9" name="TextBox 8">
            <a:extLst>
              <a:ext uri="{FF2B5EF4-FFF2-40B4-BE49-F238E27FC236}">
                <a16:creationId xmlns:a16="http://schemas.microsoft.com/office/drawing/2014/main" id="{4D25F030-5948-40FA-9A3C-C5C383E5C5E5}"/>
              </a:ext>
            </a:extLst>
          </p:cNvPr>
          <p:cNvSpPr txBox="1"/>
          <p:nvPr/>
        </p:nvSpPr>
        <p:spPr>
          <a:xfrm>
            <a:off x="4340697" y="3250934"/>
            <a:ext cx="7127404" cy="646331"/>
          </a:xfrm>
          <a:prstGeom prst="rect">
            <a:avLst/>
          </a:prstGeom>
          <a:noFill/>
        </p:spPr>
        <p:txBody>
          <a:bodyPr wrap="square" rtlCol="0">
            <a:spAutoFit/>
          </a:bodyPr>
          <a:lstStyle/>
          <a:p>
            <a:pPr lvl="0">
              <a:defRPr/>
            </a:pPr>
            <a:r>
              <a:rPr lang="en-US" dirty="0"/>
              <a:t>Creator, Information Expert, Low Coupling, Controller, High Cohesion, Polymorphism, Pure Fabrication, Indirection, Protected variations</a:t>
            </a:r>
          </a:p>
        </p:txBody>
      </p:sp>
      <p:sp>
        <p:nvSpPr>
          <p:cNvPr id="10" name="TextBox 9">
            <a:extLst>
              <a:ext uri="{FF2B5EF4-FFF2-40B4-BE49-F238E27FC236}">
                <a16:creationId xmlns:a16="http://schemas.microsoft.com/office/drawing/2014/main" id="{3FF20680-3A93-443C-9850-6BD794FD8D30}"/>
              </a:ext>
            </a:extLst>
          </p:cNvPr>
          <p:cNvSpPr txBox="1"/>
          <p:nvPr/>
        </p:nvSpPr>
        <p:spPr>
          <a:xfrm>
            <a:off x="971549" y="4282846"/>
            <a:ext cx="3181351" cy="369332"/>
          </a:xfrm>
          <a:prstGeom prst="rect">
            <a:avLst/>
          </a:prstGeom>
          <a:noFill/>
        </p:spPr>
        <p:txBody>
          <a:bodyPr wrap="square" rtlCol="0">
            <a:spAutoFit/>
          </a:bodyPr>
          <a:lstStyle/>
          <a:p>
            <a:r>
              <a:rPr lang="en-US" b="1" dirty="0">
                <a:solidFill>
                  <a:schemeClr val="accent1"/>
                </a:solidFill>
              </a:rPr>
              <a:t>DRY</a:t>
            </a:r>
            <a:r>
              <a:rPr lang="en-US" dirty="0"/>
              <a:t> (Don’t Repeat Yourself)</a:t>
            </a:r>
          </a:p>
        </p:txBody>
      </p:sp>
      <p:sp>
        <p:nvSpPr>
          <p:cNvPr id="11" name="TextBox 10">
            <a:extLst>
              <a:ext uri="{FF2B5EF4-FFF2-40B4-BE49-F238E27FC236}">
                <a16:creationId xmlns:a16="http://schemas.microsoft.com/office/drawing/2014/main" id="{B69DC356-A783-470A-9EE7-C9E832FD20BD}"/>
              </a:ext>
            </a:extLst>
          </p:cNvPr>
          <p:cNvSpPr txBox="1"/>
          <p:nvPr/>
        </p:nvSpPr>
        <p:spPr>
          <a:xfrm>
            <a:off x="971547" y="4747604"/>
            <a:ext cx="3301564" cy="369332"/>
          </a:xfrm>
          <a:prstGeom prst="rect">
            <a:avLst/>
          </a:prstGeom>
          <a:noFill/>
        </p:spPr>
        <p:txBody>
          <a:bodyPr wrap="square" rtlCol="0">
            <a:spAutoFit/>
          </a:bodyPr>
          <a:lstStyle/>
          <a:p>
            <a:r>
              <a:rPr lang="en-US" b="1" dirty="0">
                <a:solidFill>
                  <a:schemeClr val="accent1"/>
                </a:solidFill>
              </a:rPr>
              <a:t>YAGNI</a:t>
            </a:r>
            <a:r>
              <a:rPr lang="en-US" dirty="0"/>
              <a:t> (You </a:t>
            </a:r>
            <a:r>
              <a:rPr lang="en-US" dirty="0" err="1"/>
              <a:t>Ain’t</a:t>
            </a:r>
            <a:r>
              <a:rPr lang="en-US" dirty="0"/>
              <a:t> </a:t>
            </a:r>
            <a:r>
              <a:rPr lang="en-US" dirty="0" err="1"/>
              <a:t>Gonna</a:t>
            </a:r>
            <a:r>
              <a:rPr lang="en-US" dirty="0"/>
              <a:t> Need It)</a:t>
            </a:r>
          </a:p>
        </p:txBody>
      </p:sp>
      <p:sp>
        <p:nvSpPr>
          <p:cNvPr id="12" name="TextBox 11">
            <a:extLst>
              <a:ext uri="{FF2B5EF4-FFF2-40B4-BE49-F238E27FC236}">
                <a16:creationId xmlns:a16="http://schemas.microsoft.com/office/drawing/2014/main" id="{A57EDF32-717A-44FD-9606-50E0F6E7D851}"/>
              </a:ext>
            </a:extLst>
          </p:cNvPr>
          <p:cNvSpPr txBox="1"/>
          <p:nvPr/>
        </p:nvSpPr>
        <p:spPr>
          <a:xfrm>
            <a:off x="971549" y="5238156"/>
            <a:ext cx="3181351" cy="369332"/>
          </a:xfrm>
          <a:prstGeom prst="rect">
            <a:avLst/>
          </a:prstGeom>
          <a:noFill/>
        </p:spPr>
        <p:txBody>
          <a:bodyPr wrap="square" rtlCol="0">
            <a:spAutoFit/>
          </a:bodyPr>
          <a:lstStyle/>
          <a:p>
            <a:r>
              <a:rPr lang="en-US" b="1" dirty="0">
                <a:solidFill>
                  <a:schemeClr val="accent1"/>
                </a:solidFill>
              </a:rPr>
              <a:t>SOLID</a:t>
            </a:r>
          </a:p>
        </p:txBody>
      </p:sp>
      <p:sp>
        <p:nvSpPr>
          <p:cNvPr id="13" name="TextBox 12">
            <a:extLst>
              <a:ext uri="{FF2B5EF4-FFF2-40B4-BE49-F238E27FC236}">
                <a16:creationId xmlns:a16="http://schemas.microsoft.com/office/drawing/2014/main" id="{18E5F3E6-CFFC-45FF-B2A2-2B9546FE9B48}"/>
              </a:ext>
            </a:extLst>
          </p:cNvPr>
          <p:cNvSpPr txBox="1"/>
          <p:nvPr/>
        </p:nvSpPr>
        <p:spPr>
          <a:xfrm>
            <a:off x="4340697" y="5224862"/>
            <a:ext cx="7127404" cy="646331"/>
          </a:xfrm>
          <a:prstGeom prst="rect">
            <a:avLst/>
          </a:prstGeom>
          <a:noFill/>
        </p:spPr>
        <p:txBody>
          <a:bodyPr wrap="square" rtlCol="0">
            <a:spAutoFit/>
          </a:bodyPr>
          <a:lstStyle/>
          <a:p>
            <a:r>
              <a:rPr lang="en-US" dirty="0"/>
              <a:t>Single responsibility, Open-close, </a:t>
            </a:r>
            <a:r>
              <a:rPr lang="en-US" dirty="0" err="1"/>
              <a:t>Liskov</a:t>
            </a:r>
            <a:r>
              <a:rPr lang="en-US" dirty="0"/>
              <a:t> substitution, Interface segregation, Dependency inversion</a:t>
            </a:r>
          </a:p>
        </p:txBody>
      </p:sp>
      <p:sp>
        <p:nvSpPr>
          <p:cNvPr id="4" name="Rectangle 3">
            <a:extLst>
              <a:ext uri="{FF2B5EF4-FFF2-40B4-BE49-F238E27FC236}">
                <a16:creationId xmlns:a16="http://schemas.microsoft.com/office/drawing/2014/main" id="{3D8A88CF-F053-4EBB-B4F9-1391F5FE2DC0}"/>
              </a:ext>
            </a:extLst>
          </p:cNvPr>
          <p:cNvSpPr/>
          <p:nvPr/>
        </p:nvSpPr>
        <p:spPr>
          <a:xfrm>
            <a:off x="847725" y="1258651"/>
            <a:ext cx="10744200" cy="184940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53A6522-40FE-4DEB-AFAA-51736E1EFA66}"/>
              </a:ext>
            </a:extLst>
          </p:cNvPr>
          <p:cNvSpPr/>
          <p:nvPr/>
        </p:nvSpPr>
        <p:spPr>
          <a:xfrm>
            <a:off x="847725" y="3108059"/>
            <a:ext cx="10744200" cy="108906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76A0BDA-7368-433A-889B-BD11C03D52D0}"/>
              </a:ext>
            </a:extLst>
          </p:cNvPr>
          <p:cNvSpPr/>
          <p:nvPr/>
        </p:nvSpPr>
        <p:spPr>
          <a:xfrm>
            <a:off x="847725" y="4196471"/>
            <a:ext cx="10744200" cy="493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E938325-093E-4F71-9FD9-3411D2392EF4}"/>
              </a:ext>
            </a:extLst>
          </p:cNvPr>
          <p:cNvSpPr/>
          <p:nvPr/>
        </p:nvSpPr>
        <p:spPr>
          <a:xfrm>
            <a:off x="847725" y="4683163"/>
            <a:ext cx="10744200" cy="49302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EBEC671-B517-42CF-BB07-6512AA681CBC}"/>
              </a:ext>
            </a:extLst>
          </p:cNvPr>
          <p:cNvSpPr/>
          <p:nvPr/>
        </p:nvSpPr>
        <p:spPr>
          <a:xfrm>
            <a:off x="847725" y="5169205"/>
            <a:ext cx="10744200" cy="811749"/>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254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patterns or principles?</a:t>
            </a:r>
          </a:p>
        </p:txBody>
      </p:sp>
      <p:sp>
        <p:nvSpPr>
          <p:cNvPr id="3" name="Content Placeholder 2"/>
          <p:cNvSpPr>
            <a:spLocks noGrp="1"/>
          </p:cNvSpPr>
          <p:nvPr>
            <p:ph idx="1"/>
          </p:nvPr>
        </p:nvSpPr>
        <p:spPr>
          <a:xfrm>
            <a:off x="1274245" y="1223550"/>
            <a:ext cx="9643509" cy="3575164"/>
          </a:xfrm>
        </p:spPr>
        <p:txBody>
          <a:bodyPr>
            <a:normAutofit/>
          </a:bodyPr>
          <a:lstStyle/>
          <a:p>
            <a:r>
              <a:rPr lang="en-US" sz="2000" dirty="0"/>
              <a:t>Change happens!</a:t>
            </a:r>
          </a:p>
          <a:p>
            <a:r>
              <a:rPr lang="en-US" sz="2000" dirty="0"/>
              <a:t>Two points of change</a:t>
            </a:r>
          </a:p>
          <a:p>
            <a:pPr lvl="1"/>
            <a:r>
              <a:rPr lang="en-US" sz="2000" dirty="0">
                <a:solidFill>
                  <a:srgbClr val="0070C0"/>
                </a:solidFill>
              </a:rPr>
              <a:t>Variation point</a:t>
            </a:r>
            <a:r>
              <a:rPr lang="en-US" sz="2000" dirty="0"/>
              <a:t>: Variations in the existing, </a:t>
            </a:r>
            <a:r>
              <a:rPr lang="en-US" sz="2000" dirty="0">
                <a:solidFill>
                  <a:srgbClr val="0070C0"/>
                </a:solidFill>
              </a:rPr>
              <a:t>current</a:t>
            </a:r>
            <a:r>
              <a:rPr lang="en-US" sz="2000" dirty="0"/>
              <a:t> system or requirements, e.g., file formats for an e-reader</a:t>
            </a:r>
          </a:p>
          <a:p>
            <a:pPr lvl="1"/>
            <a:r>
              <a:rPr lang="en-US" sz="2000" dirty="0">
                <a:solidFill>
                  <a:srgbClr val="0070C0"/>
                </a:solidFill>
              </a:rPr>
              <a:t>Evolution point</a:t>
            </a:r>
            <a:r>
              <a:rPr lang="en-US" sz="2000" dirty="0"/>
              <a:t>: Speculative points of variation that may arise in the </a:t>
            </a:r>
            <a:r>
              <a:rPr lang="en-US" sz="2000" dirty="0">
                <a:solidFill>
                  <a:srgbClr val="0070C0"/>
                </a:solidFill>
              </a:rPr>
              <a:t>future</a:t>
            </a:r>
            <a:r>
              <a:rPr lang="en-US" sz="2000" dirty="0"/>
              <a:t>, but which are not present in the existing requirements</a:t>
            </a:r>
          </a:p>
          <a:p>
            <a:r>
              <a:rPr lang="en-US" sz="2000" dirty="0"/>
              <a:t>Sometimes the cost of speculative “future-proofing” at evolution points outweighs the cost incurred by a simple, more brittle design that is reworked as necessary in response to the true change pressures. </a:t>
            </a:r>
          </a:p>
          <a:p>
            <a:endParaRPr lang="en-US" sz="2000" dirty="0"/>
          </a:p>
        </p:txBody>
      </p:sp>
      <p:grpSp>
        <p:nvGrpSpPr>
          <p:cNvPr id="16" name="Group 15"/>
          <p:cNvGrpSpPr/>
          <p:nvPr/>
        </p:nvGrpSpPr>
        <p:grpSpPr>
          <a:xfrm>
            <a:off x="465245" y="4556185"/>
            <a:ext cx="11314517" cy="1474415"/>
            <a:chOff x="718457" y="5072743"/>
            <a:chExt cx="11314517" cy="1474415"/>
          </a:xfrm>
        </p:grpSpPr>
        <p:sp>
          <p:nvSpPr>
            <p:cNvPr id="4" name="Left-Right Arrow 3"/>
            <p:cNvSpPr/>
            <p:nvPr/>
          </p:nvSpPr>
          <p:spPr>
            <a:xfrm>
              <a:off x="718457" y="5072743"/>
              <a:ext cx="11314517" cy="892628"/>
            </a:xfrm>
            <a:prstGeom prst="lef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dirty="0">
                  <a:solidFill>
                    <a:srgbClr val="0070C0"/>
                  </a:solidFill>
                </a:rPr>
                <a:t>Brittle design				Balanced design 			Flexible, generalized design</a:t>
              </a:r>
            </a:p>
          </p:txBody>
        </p:sp>
        <p:sp>
          <p:nvSpPr>
            <p:cNvPr id="5" name="TextBox 4"/>
            <p:cNvSpPr txBox="1"/>
            <p:nvPr/>
          </p:nvSpPr>
          <p:spPr>
            <a:xfrm>
              <a:off x="833718" y="6177826"/>
              <a:ext cx="824841" cy="369332"/>
            </a:xfrm>
            <a:prstGeom prst="rect">
              <a:avLst/>
            </a:prstGeom>
            <a:noFill/>
          </p:spPr>
          <p:txBody>
            <a:bodyPr wrap="none" rtlCol="0">
              <a:spAutoFit/>
            </a:bodyPr>
            <a:lstStyle/>
            <a:p>
              <a:r>
                <a:rPr lang="en-US" dirty="0"/>
                <a:t>Novice</a:t>
              </a:r>
            </a:p>
          </p:txBody>
        </p:sp>
        <p:sp>
          <p:nvSpPr>
            <p:cNvPr id="6" name="TextBox 5"/>
            <p:cNvSpPr txBox="1"/>
            <p:nvPr/>
          </p:nvSpPr>
          <p:spPr>
            <a:xfrm>
              <a:off x="10578732" y="6177826"/>
              <a:ext cx="1404936" cy="369332"/>
            </a:xfrm>
            <a:prstGeom prst="rect">
              <a:avLst/>
            </a:prstGeom>
            <a:noFill/>
          </p:spPr>
          <p:txBody>
            <a:bodyPr wrap="none" rtlCol="0">
              <a:spAutoFit/>
            </a:bodyPr>
            <a:lstStyle/>
            <a:p>
              <a:r>
                <a:rPr lang="en-US" dirty="0"/>
                <a:t>Intermediate</a:t>
              </a:r>
            </a:p>
          </p:txBody>
        </p:sp>
        <p:sp>
          <p:nvSpPr>
            <p:cNvPr id="7" name="TextBox 6"/>
            <p:cNvSpPr txBox="1"/>
            <p:nvPr/>
          </p:nvSpPr>
          <p:spPr>
            <a:xfrm>
              <a:off x="5439914" y="6176963"/>
              <a:ext cx="790601" cy="369332"/>
            </a:xfrm>
            <a:prstGeom prst="rect">
              <a:avLst/>
            </a:prstGeom>
            <a:noFill/>
          </p:spPr>
          <p:txBody>
            <a:bodyPr wrap="none" rtlCol="0">
              <a:spAutoFit/>
            </a:bodyPr>
            <a:lstStyle/>
            <a:p>
              <a:r>
                <a:rPr lang="en-US" dirty="0"/>
                <a:t>Expert</a:t>
              </a:r>
            </a:p>
          </p:txBody>
        </p:sp>
        <p:cxnSp>
          <p:nvCxnSpPr>
            <p:cNvPr id="9" name="Straight Arrow Connector 8"/>
            <p:cNvCxnSpPr>
              <a:stCxn id="5" idx="0"/>
            </p:cNvCxnSpPr>
            <p:nvPr/>
          </p:nvCxnSpPr>
          <p:spPr>
            <a:xfrm flipH="1" flipV="1">
              <a:off x="1246138" y="5620871"/>
              <a:ext cx="1" cy="5569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0"/>
            </p:cNvCxnSpPr>
            <p:nvPr/>
          </p:nvCxnSpPr>
          <p:spPr>
            <a:xfrm flipV="1">
              <a:off x="5835215" y="5620871"/>
              <a:ext cx="17119" cy="5560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11043709" y="5620871"/>
              <a:ext cx="17119" cy="5560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Slide Number Placeholder 7"/>
          <p:cNvSpPr>
            <a:spLocks noGrp="1"/>
          </p:cNvSpPr>
          <p:nvPr>
            <p:ph type="sldNum" sz="quarter" idx="12"/>
          </p:nvPr>
        </p:nvSpPr>
        <p:spPr/>
        <p:txBody>
          <a:bodyPr/>
          <a:lstStyle/>
          <a:p>
            <a:fld id="{9F1A4D64-A005-48D8-BBA4-82C0A2806572}" type="slidenum">
              <a:rPr lang="en-US" smtClean="0"/>
              <a:t>4</a:t>
            </a:fld>
            <a:endParaRPr lang="en-US"/>
          </a:p>
        </p:txBody>
      </p:sp>
    </p:spTree>
    <p:extLst>
      <p:ext uri="{BB962C8B-B14F-4D97-AF65-F5344CB8AC3E}">
        <p14:creationId xmlns:p14="http://schemas.microsoft.com/office/powerpoint/2010/main" val="184550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70832636-9EFD-4C2D-86A1-7E235B3C2849}"/>
              </a:ext>
            </a:extLst>
          </p:cNvPr>
          <p:cNvGrpSpPr/>
          <p:nvPr/>
        </p:nvGrpSpPr>
        <p:grpSpPr>
          <a:xfrm>
            <a:off x="754368" y="1577096"/>
            <a:ext cx="3168058" cy="3524713"/>
            <a:chOff x="754368" y="1577096"/>
            <a:chExt cx="3168058" cy="3524713"/>
          </a:xfrm>
        </p:grpSpPr>
        <p:sp>
          <p:nvSpPr>
            <p:cNvPr id="16" name="Freeform: Shape 15">
              <a:extLst>
                <a:ext uri="{FF2B5EF4-FFF2-40B4-BE49-F238E27FC236}">
                  <a16:creationId xmlns:a16="http://schemas.microsoft.com/office/drawing/2014/main" id="{DECE98CB-C374-4722-AEE5-E9BC70EFB3A0}"/>
                </a:ext>
              </a:extLst>
            </p:cNvPr>
            <p:cNvSpPr/>
            <p:nvPr/>
          </p:nvSpPr>
          <p:spPr>
            <a:xfrm>
              <a:off x="1334076" y="3339453"/>
              <a:ext cx="686907" cy="1472502"/>
            </a:xfrm>
            <a:custGeom>
              <a:avLst/>
              <a:gdLst>
                <a:gd name="connsiteX0" fmla="*/ 0 w 686907"/>
                <a:gd name="connsiteY0" fmla="*/ 0 h 1472502"/>
                <a:gd name="connsiteX1" fmla="*/ 343453 w 686907"/>
                <a:gd name="connsiteY1" fmla="*/ 0 h 1472502"/>
                <a:gd name="connsiteX2" fmla="*/ 343453 w 686907"/>
                <a:gd name="connsiteY2" fmla="*/ 1472502 h 1472502"/>
                <a:gd name="connsiteX3" fmla="*/ 686907 w 686907"/>
                <a:gd name="connsiteY3" fmla="*/ 1472502 h 1472502"/>
              </a:gdLst>
              <a:ahLst/>
              <a:cxnLst>
                <a:cxn ang="0">
                  <a:pos x="connsiteX0" y="connsiteY0"/>
                </a:cxn>
                <a:cxn ang="0">
                  <a:pos x="connsiteX1" y="connsiteY1"/>
                </a:cxn>
                <a:cxn ang="0">
                  <a:pos x="connsiteX2" y="connsiteY2"/>
                </a:cxn>
                <a:cxn ang="0">
                  <a:pos x="connsiteX3" y="connsiteY3"/>
                </a:cxn>
              </a:cxnLst>
              <a:rect l="l" t="t" r="r" b="b"/>
              <a:pathLst>
                <a:path w="686907" h="1472502">
                  <a:moveTo>
                    <a:pt x="0" y="0"/>
                  </a:moveTo>
                  <a:lnTo>
                    <a:pt x="343453" y="0"/>
                  </a:lnTo>
                  <a:lnTo>
                    <a:pt x="343453" y="1472502"/>
                  </a:lnTo>
                  <a:lnTo>
                    <a:pt x="686907" y="1472502"/>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spcFirstLastPara="0" vert="horz" wrap="square" lIns="315533" tIns="695630" rIns="315532" bIns="695630"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23" name="Freeform: Shape 22">
              <a:extLst>
                <a:ext uri="{FF2B5EF4-FFF2-40B4-BE49-F238E27FC236}">
                  <a16:creationId xmlns:a16="http://schemas.microsoft.com/office/drawing/2014/main" id="{4AF6C596-CE6C-422D-977E-1A4913800AC6}"/>
                </a:ext>
              </a:extLst>
            </p:cNvPr>
            <p:cNvSpPr/>
            <p:nvPr/>
          </p:nvSpPr>
          <p:spPr>
            <a:xfrm>
              <a:off x="1334076" y="1866950"/>
              <a:ext cx="677286" cy="1472502"/>
            </a:xfrm>
            <a:custGeom>
              <a:avLst/>
              <a:gdLst>
                <a:gd name="connsiteX0" fmla="*/ 0 w 677286"/>
                <a:gd name="connsiteY0" fmla="*/ 1472502 h 1472502"/>
                <a:gd name="connsiteX1" fmla="*/ 338643 w 677286"/>
                <a:gd name="connsiteY1" fmla="*/ 1472502 h 1472502"/>
                <a:gd name="connsiteX2" fmla="*/ 338643 w 677286"/>
                <a:gd name="connsiteY2" fmla="*/ 0 h 1472502"/>
                <a:gd name="connsiteX3" fmla="*/ 677286 w 677286"/>
                <a:gd name="connsiteY3" fmla="*/ 0 h 1472502"/>
              </a:gdLst>
              <a:ahLst/>
              <a:cxnLst>
                <a:cxn ang="0">
                  <a:pos x="connsiteX0" y="connsiteY0"/>
                </a:cxn>
                <a:cxn ang="0">
                  <a:pos x="connsiteX1" y="connsiteY1"/>
                </a:cxn>
                <a:cxn ang="0">
                  <a:pos x="connsiteX2" y="connsiteY2"/>
                </a:cxn>
                <a:cxn ang="0">
                  <a:pos x="connsiteX3" y="connsiteY3"/>
                </a:cxn>
              </a:cxnLst>
              <a:rect l="l" t="t" r="r" b="b"/>
              <a:pathLst>
                <a:path w="677286" h="1472502">
                  <a:moveTo>
                    <a:pt x="0" y="1472502"/>
                  </a:moveTo>
                  <a:lnTo>
                    <a:pt x="338643" y="1472502"/>
                  </a:lnTo>
                  <a:lnTo>
                    <a:pt x="338643" y="0"/>
                  </a:lnTo>
                  <a:lnTo>
                    <a:pt x="677286" y="0"/>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spcFirstLastPara="0" vert="horz" wrap="square" lIns="310823" tIns="695732" rIns="310824" bIns="695731"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24" name="Freeform: Shape 23">
              <a:extLst>
                <a:ext uri="{FF2B5EF4-FFF2-40B4-BE49-F238E27FC236}">
                  <a16:creationId xmlns:a16="http://schemas.microsoft.com/office/drawing/2014/main" id="{7274A94C-E718-4F9D-BE68-AC6656C463A0}"/>
                </a:ext>
              </a:extLst>
            </p:cNvPr>
            <p:cNvSpPr/>
            <p:nvPr/>
          </p:nvSpPr>
          <p:spPr>
            <a:xfrm rot="16200000">
              <a:off x="-481326" y="3049599"/>
              <a:ext cx="3051096" cy="579708"/>
            </a:xfrm>
            <a:custGeom>
              <a:avLst/>
              <a:gdLst>
                <a:gd name="connsiteX0" fmla="*/ 0 w 3051096"/>
                <a:gd name="connsiteY0" fmla="*/ 0 h 579708"/>
                <a:gd name="connsiteX1" fmla="*/ 3051096 w 3051096"/>
                <a:gd name="connsiteY1" fmla="*/ 0 h 579708"/>
                <a:gd name="connsiteX2" fmla="*/ 3051096 w 3051096"/>
                <a:gd name="connsiteY2" fmla="*/ 579708 h 579708"/>
                <a:gd name="connsiteX3" fmla="*/ 0 w 3051096"/>
                <a:gd name="connsiteY3" fmla="*/ 579708 h 579708"/>
                <a:gd name="connsiteX4" fmla="*/ 0 w 3051096"/>
                <a:gd name="connsiteY4" fmla="*/ 0 h 579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1096" h="579708">
                  <a:moveTo>
                    <a:pt x="0" y="0"/>
                  </a:moveTo>
                  <a:lnTo>
                    <a:pt x="3051096" y="0"/>
                  </a:lnTo>
                  <a:lnTo>
                    <a:pt x="3051096" y="579708"/>
                  </a:lnTo>
                  <a:lnTo>
                    <a:pt x="0" y="579708"/>
                  </a:lnTo>
                  <a:lnTo>
                    <a:pt x="0" y="0"/>
                  </a:lnTo>
                  <a:close/>
                </a:path>
              </a:pathLst>
            </a:custGeom>
            <a:solidFill>
              <a:schemeClr val="bg1">
                <a:lumMod val="50000"/>
              </a:schemeClr>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10160" tIns="10159" rIns="10159"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UML Diagrams</a:t>
              </a:r>
            </a:p>
          </p:txBody>
        </p:sp>
        <p:sp>
          <p:nvSpPr>
            <p:cNvPr id="25" name="Freeform: Shape 24">
              <a:extLst>
                <a:ext uri="{FF2B5EF4-FFF2-40B4-BE49-F238E27FC236}">
                  <a16:creationId xmlns:a16="http://schemas.microsoft.com/office/drawing/2014/main" id="{FA4C6B25-E99B-4B43-B488-1A8216475DDD}"/>
                </a:ext>
              </a:extLst>
            </p:cNvPr>
            <p:cNvSpPr/>
            <p:nvPr/>
          </p:nvSpPr>
          <p:spPr>
            <a:xfrm>
              <a:off x="2011362" y="1577096"/>
              <a:ext cx="1901443" cy="579708"/>
            </a:xfrm>
            <a:custGeom>
              <a:avLst/>
              <a:gdLst>
                <a:gd name="connsiteX0" fmla="*/ 0 w 1901443"/>
                <a:gd name="connsiteY0" fmla="*/ 0 h 579708"/>
                <a:gd name="connsiteX1" fmla="*/ 1901443 w 1901443"/>
                <a:gd name="connsiteY1" fmla="*/ 0 h 579708"/>
                <a:gd name="connsiteX2" fmla="*/ 1901443 w 1901443"/>
                <a:gd name="connsiteY2" fmla="*/ 579708 h 579708"/>
                <a:gd name="connsiteX3" fmla="*/ 0 w 1901443"/>
                <a:gd name="connsiteY3" fmla="*/ 579708 h 579708"/>
                <a:gd name="connsiteX4" fmla="*/ 0 w 1901443"/>
                <a:gd name="connsiteY4" fmla="*/ 0 h 579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1443" h="579708">
                  <a:moveTo>
                    <a:pt x="0" y="0"/>
                  </a:moveTo>
                  <a:lnTo>
                    <a:pt x="1901443" y="0"/>
                  </a:lnTo>
                  <a:lnTo>
                    <a:pt x="1901443" y="579708"/>
                  </a:lnTo>
                  <a:lnTo>
                    <a:pt x="0" y="579708"/>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Structure</a:t>
              </a:r>
            </a:p>
          </p:txBody>
        </p:sp>
        <p:sp>
          <p:nvSpPr>
            <p:cNvPr id="32" name="Freeform: Shape 31">
              <a:extLst>
                <a:ext uri="{FF2B5EF4-FFF2-40B4-BE49-F238E27FC236}">
                  <a16:creationId xmlns:a16="http://schemas.microsoft.com/office/drawing/2014/main" id="{8BD3E9E1-2F6D-4E46-BDEC-1459FA9EC161}"/>
                </a:ext>
              </a:extLst>
            </p:cNvPr>
            <p:cNvSpPr/>
            <p:nvPr/>
          </p:nvSpPr>
          <p:spPr>
            <a:xfrm>
              <a:off x="2020983" y="4522101"/>
              <a:ext cx="1901443" cy="579708"/>
            </a:xfrm>
            <a:custGeom>
              <a:avLst/>
              <a:gdLst>
                <a:gd name="connsiteX0" fmla="*/ 0 w 1901443"/>
                <a:gd name="connsiteY0" fmla="*/ 0 h 579708"/>
                <a:gd name="connsiteX1" fmla="*/ 1901443 w 1901443"/>
                <a:gd name="connsiteY1" fmla="*/ 0 h 579708"/>
                <a:gd name="connsiteX2" fmla="*/ 1901443 w 1901443"/>
                <a:gd name="connsiteY2" fmla="*/ 579708 h 579708"/>
                <a:gd name="connsiteX3" fmla="*/ 0 w 1901443"/>
                <a:gd name="connsiteY3" fmla="*/ 579708 h 579708"/>
                <a:gd name="connsiteX4" fmla="*/ 0 w 1901443"/>
                <a:gd name="connsiteY4" fmla="*/ 0 h 579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1443" h="579708">
                  <a:moveTo>
                    <a:pt x="0" y="0"/>
                  </a:moveTo>
                  <a:lnTo>
                    <a:pt x="1901443" y="0"/>
                  </a:lnTo>
                  <a:lnTo>
                    <a:pt x="1901443" y="579708"/>
                  </a:lnTo>
                  <a:lnTo>
                    <a:pt x="0" y="579708"/>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Behavior</a:t>
              </a:r>
            </a:p>
          </p:txBody>
        </p:sp>
      </p:grpSp>
      <p:grpSp>
        <p:nvGrpSpPr>
          <p:cNvPr id="42" name="Group 41">
            <a:extLst>
              <a:ext uri="{FF2B5EF4-FFF2-40B4-BE49-F238E27FC236}">
                <a16:creationId xmlns:a16="http://schemas.microsoft.com/office/drawing/2014/main" id="{D4D0903F-1083-4AB6-A651-67C5EE6F8181}"/>
              </a:ext>
            </a:extLst>
          </p:cNvPr>
          <p:cNvGrpSpPr/>
          <p:nvPr/>
        </p:nvGrpSpPr>
        <p:grpSpPr>
          <a:xfrm>
            <a:off x="3912805" y="172411"/>
            <a:ext cx="3764667" cy="5745082"/>
            <a:chOff x="3912805" y="172411"/>
            <a:chExt cx="3764667" cy="5745082"/>
          </a:xfrm>
        </p:grpSpPr>
        <p:sp>
          <p:nvSpPr>
            <p:cNvPr id="12" name="Freeform: Shape 11">
              <a:extLst>
                <a:ext uri="{FF2B5EF4-FFF2-40B4-BE49-F238E27FC236}">
                  <a16:creationId xmlns:a16="http://schemas.microsoft.com/office/drawing/2014/main" id="{35C383E6-CA0E-4C15-AEFA-32EFB65F5CF1}"/>
                </a:ext>
              </a:extLst>
            </p:cNvPr>
            <p:cNvSpPr/>
            <p:nvPr/>
          </p:nvSpPr>
          <p:spPr>
            <a:xfrm>
              <a:off x="3922427" y="4811956"/>
              <a:ext cx="1156153" cy="883501"/>
            </a:xfrm>
            <a:custGeom>
              <a:avLst/>
              <a:gdLst>
                <a:gd name="connsiteX0" fmla="*/ 0 w 1156153"/>
                <a:gd name="connsiteY0" fmla="*/ 0 h 883501"/>
                <a:gd name="connsiteX1" fmla="*/ 578076 w 1156153"/>
                <a:gd name="connsiteY1" fmla="*/ 0 h 883501"/>
                <a:gd name="connsiteX2" fmla="*/ 578076 w 1156153"/>
                <a:gd name="connsiteY2" fmla="*/ 883501 h 883501"/>
                <a:gd name="connsiteX3" fmla="*/ 1156153 w 1156153"/>
                <a:gd name="connsiteY3" fmla="*/ 883501 h 883501"/>
              </a:gdLst>
              <a:ahLst/>
              <a:cxnLst>
                <a:cxn ang="0">
                  <a:pos x="connsiteX0" y="connsiteY0"/>
                </a:cxn>
                <a:cxn ang="0">
                  <a:pos x="connsiteX1" y="connsiteY1"/>
                </a:cxn>
                <a:cxn ang="0">
                  <a:pos x="connsiteX2" y="connsiteY2"/>
                </a:cxn>
                <a:cxn ang="0">
                  <a:pos x="connsiteX3" y="connsiteY3"/>
                </a:cxn>
              </a:cxnLst>
              <a:rect l="l" t="t" r="r" b="b"/>
              <a:pathLst>
                <a:path w="1156153" h="883501">
                  <a:moveTo>
                    <a:pt x="0" y="0"/>
                  </a:moveTo>
                  <a:lnTo>
                    <a:pt x="578076" y="0"/>
                  </a:lnTo>
                  <a:lnTo>
                    <a:pt x="578076" y="883501"/>
                  </a:lnTo>
                  <a:lnTo>
                    <a:pt x="1156153" y="883501"/>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54399" tIns="405373" rIns="554400" bIns="405374"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13" name="Freeform: Shape 12">
              <a:extLst>
                <a:ext uri="{FF2B5EF4-FFF2-40B4-BE49-F238E27FC236}">
                  <a16:creationId xmlns:a16="http://schemas.microsoft.com/office/drawing/2014/main" id="{AE9D8D70-00B5-43F1-A430-00053DDB4A0D}"/>
                </a:ext>
              </a:extLst>
            </p:cNvPr>
            <p:cNvSpPr/>
            <p:nvPr/>
          </p:nvSpPr>
          <p:spPr>
            <a:xfrm>
              <a:off x="3922427" y="4811956"/>
              <a:ext cx="1156153" cy="294500"/>
            </a:xfrm>
            <a:custGeom>
              <a:avLst/>
              <a:gdLst>
                <a:gd name="connsiteX0" fmla="*/ 0 w 1156153"/>
                <a:gd name="connsiteY0" fmla="*/ 0 h 294500"/>
                <a:gd name="connsiteX1" fmla="*/ 578076 w 1156153"/>
                <a:gd name="connsiteY1" fmla="*/ 0 h 294500"/>
                <a:gd name="connsiteX2" fmla="*/ 578076 w 1156153"/>
                <a:gd name="connsiteY2" fmla="*/ 294500 h 294500"/>
                <a:gd name="connsiteX3" fmla="*/ 1156153 w 1156153"/>
                <a:gd name="connsiteY3" fmla="*/ 294500 h 294500"/>
              </a:gdLst>
              <a:ahLst/>
              <a:cxnLst>
                <a:cxn ang="0">
                  <a:pos x="connsiteX0" y="connsiteY0"/>
                </a:cxn>
                <a:cxn ang="0">
                  <a:pos x="connsiteX1" y="connsiteY1"/>
                </a:cxn>
                <a:cxn ang="0">
                  <a:pos x="connsiteX2" y="connsiteY2"/>
                </a:cxn>
                <a:cxn ang="0">
                  <a:pos x="connsiteX3" y="connsiteY3"/>
                </a:cxn>
              </a:cxnLst>
              <a:rect l="l" t="t" r="r" b="b"/>
              <a:pathLst>
                <a:path w="1156153" h="294500">
                  <a:moveTo>
                    <a:pt x="0" y="0"/>
                  </a:moveTo>
                  <a:lnTo>
                    <a:pt x="578076" y="0"/>
                  </a:lnTo>
                  <a:lnTo>
                    <a:pt x="578076" y="294500"/>
                  </a:lnTo>
                  <a:lnTo>
                    <a:pt x="1156153" y="294500"/>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60950" tIns="117423" rIns="560950" bIns="117424"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14" name="Freeform: Shape 13">
              <a:extLst>
                <a:ext uri="{FF2B5EF4-FFF2-40B4-BE49-F238E27FC236}">
                  <a16:creationId xmlns:a16="http://schemas.microsoft.com/office/drawing/2014/main" id="{A9FE2AA7-E066-41C5-B599-053632CC4BC4}"/>
                </a:ext>
              </a:extLst>
            </p:cNvPr>
            <p:cNvSpPr/>
            <p:nvPr/>
          </p:nvSpPr>
          <p:spPr>
            <a:xfrm>
              <a:off x="3922427" y="4517455"/>
              <a:ext cx="1156153" cy="294500"/>
            </a:xfrm>
            <a:custGeom>
              <a:avLst/>
              <a:gdLst>
                <a:gd name="connsiteX0" fmla="*/ 0 w 1156153"/>
                <a:gd name="connsiteY0" fmla="*/ 294500 h 294500"/>
                <a:gd name="connsiteX1" fmla="*/ 578076 w 1156153"/>
                <a:gd name="connsiteY1" fmla="*/ 294500 h 294500"/>
                <a:gd name="connsiteX2" fmla="*/ 578076 w 1156153"/>
                <a:gd name="connsiteY2" fmla="*/ 0 h 294500"/>
                <a:gd name="connsiteX3" fmla="*/ 1156153 w 1156153"/>
                <a:gd name="connsiteY3" fmla="*/ 0 h 294500"/>
              </a:gdLst>
              <a:ahLst/>
              <a:cxnLst>
                <a:cxn ang="0">
                  <a:pos x="connsiteX0" y="connsiteY0"/>
                </a:cxn>
                <a:cxn ang="0">
                  <a:pos x="connsiteX1" y="connsiteY1"/>
                </a:cxn>
                <a:cxn ang="0">
                  <a:pos x="connsiteX2" y="connsiteY2"/>
                </a:cxn>
                <a:cxn ang="0">
                  <a:pos x="connsiteX3" y="connsiteY3"/>
                </a:cxn>
              </a:cxnLst>
              <a:rect l="l" t="t" r="r" b="b"/>
              <a:pathLst>
                <a:path w="1156153" h="294500">
                  <a:moveTo>
                    <a:pt x="0" y="294500"/>
                  </a:moveTo>
                  <a:lnTo>
                    <a:pt x="578076" y="294500"/>
                  </a:lnTo>
                  <a:lnTo>
                    <a:pt x="578076" y="0"/>
                  </a:lnTo>
                  <a:lnTo>
                    <a:pt x="1156153" y="0"/>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60950" tIns="117423" rIns="560950" bIns="117424"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15" name="Freeform: Shape 14">
              <a:extLst>
                <a:ext uri="{FF2B5EF4-FFF2-40B4-BE49-F238E27FC236}">
                  <a16:creationId xmlns:a16="http://schemas.microsoft.com/office/drawing/2014/main" id="{52A4D2C8-56B6-422F-9737-F3BA60AC3068}"/>
                </a:ext>
              </a:extLst>
            </p:cNvPr>
            <p:cNvSpPr/>
            <p:nvPr/>
          </p:nvSpPr>
          <p:spPr>
            <a:xfrm>
              <a:off x="3922427" y="3928454"/>
              <a:ext cx="1156153" cy="883501"/>
            </a:xfrm>
            <a:custGeom>
              <a:avLst/>
              <a:gdLst>
                <a:gd name="connsiteX0" fmla="*/ 0 w 1156153"/>
                <a:gd name="connsiteY0" fmla="*/ 883501 h 883501"/>
                <a:gd name="connsiteX1" fmla="*/ 578076 w 1156153"/>
                <a:gd name="connsiteY1" fmla="*/ 883501 h 883501"/>
                <a:gd name="connsiteX2" fmla="*/ 578076 w 1156153"/>
                <a:gd name="connsiteY2" fmla="*/ 0 h 883501"/>
                <a:gd name="connsiteX3" fmla="*/ 1156153 w 1156153"/>
                <a:gd name="connsiteY3" fmla="*/ 0 h 883501"/>
              </a:gdLst>
              <a:ahLst/>
              <a:cxnLst>
                <a:cxn ang="0">
                  <a:pos x="connsiteX0" y="connsiteY0"/>
                </a:cxn>
                <a:cxn ang="0">
                  <a:pos x="connsiteX1" y="connsiteY1"/>
                </a:cxn>
                <a:cxn ang="0">
                  <a:pos x="connsiteX2" y="connsiteY2"/>
                </a:cxn>
                <a:cxn ang="0">
                  <a:pos x="connsiteX3" y="connsiteY3"/>
                </a:cxn>
              </a:cxnLst>
              <a:rect l="l" t="t" r="r" b="b"/>
              <a:pathLst>
                <a:path w="1156153" h="883501">
                  <a:moveTo>
                    <a:pt x="0" y="883501"/>
                  </a:moveTo>
                  <a:lnTo>
                    <a:pt x="578076" y="883501"/>
                  </a:lnTo>
                  <a:lnTo>
                    <a:pt x="578076" y="0"/>
                  </a:lnTo>
                  <a:lnTo>
                    <a:pt x="1156153" y="0"/>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54399" tIns="405374" rIns="554400" bIns="405373"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17" name="Freeform: Shape 16">
              <a:extLst>
                <a:ext uri="{FF2B5EF4-FFF2-40B4-BE49-F238E27FC236}">
                  <a16:creationId xmlns:a16="http://schemas.microsoft.com/office/drawing/2014/main" id="{BF5AE926-5BC2-4CB0-AC24-B4EF3994BD85}"/>
                </a:ext>
              </a:extLst>
            </p:cNvPr>
            <p:cNvSpPr/>
            <p:nvPr/>
          </p:nvSpPr>
          <p:spPr>
            <a:xfrm>
              <a:off x="3912805" y="1866950"/>
              <a:ext cx="1165774" cy="1472502"/>
            </a:xfrm>
            <a:custGeom>
              <a:avLst/>
              <a:gdLst>
                <a:gd name="connsiteX0" fmla="*/ 0 w 1165774"/>
                <a:gd name="connsiteY0" fmla="*/ 0 h 1472502"/>
                <a:gd name="connsiteX1" fmla="*/ 582887 w 1165774"/>
                <a:gd name="connsiteY1" fmla="*/ 0 h 1472502"/>
                <a:gd name="connsiteX2" fmla="*/ 582887 w 1165774"/>
                <a:gd name="connsiteY2" fmla="*/ 1472502 h 1472502"/>
                <a:gd name="connsiteX3" fmla="*/ 1165774 w 1165774"/>
                <a:gd name="connsiteY3" fmla="*/ 1472502 h 1472502"/>
              </a:gdLst>
              <a:ahLst/>
              <a:cxnLst>
                <a:cxn ang="0">
                  <a:pos x="connsiteX0" y="connsiteY0"/>
                </a:cxn>
                <a:cxn ang="0">
                  <a:pos x="connsiteX1" y="connsiteY1"/>
                </a:cxn>
                <a:cxn ang="0">
                  <a:pos x="connsiteX2" y="connsiteY2"/>
                </a:cxn>
                <a:cxn ang="0">
                  <a:pos x="connsiteX3" y="connsiteY3"/>
                </a:cxn>
              </a:cxnLst>
              <a:rect l="l" t="t" r="r" b="b"/>
              <a:pathLst>
                <a:path w="1165774" h="1472502">
                  <a:moveTo>
                    <a:pt x="0" y="0"/>
                  </a:moveTo>
                  <a:lnTo>
                    <a:pt x="582887" y="0"/>
                  </a:lnTo>
                  <a:lnTo>
                    <a:pt x="582887" y="1472502"/>
                  </a:lnTo>
                  <a:lnTo>
                    <a:pt x="1165774" y="1472502"/>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48635" tIns="689299" rIns="548634" bIns="689298"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18" name="Freeform: Shape 17">
              <a:extLst>
                <a:ext uri="{FF2B5EF4-FFF2-40B4-BE49-F238E27FC236}">
                  <a16:creationId xmlns:a16="http://schemas.microsoft.com/office/drawing/2014/main" id="{D9F22A9F-31F8-41E9-83EF-64407539217F}"/>
                </a:ext>
              </a:extLst>
            </p:cNvPr>
            <p:cNvSpPr/>
            <p:nvPr/>
          </p:nvSpPr>
          <p:spPr>
            <a:xfrm>
              <a:off x="3912805" y="1866950"/>
              <a:ext cx="1165774" cy="883501"/>
            </a:xfrm>
            <a:custGeom>
              <a:avLst/>
              <a:gdLst>
                <a:gd name="connsiteX0" fmla="*/ 0 w 1165774"/>
                <a:gd name="connsiteY0" fmla="*/ 0 h 883501"/>
                <a:gd name="connsiteX1" fmla="*/ 582887 w 1165774"/>
                <a:gd name="connsiteY1" fmla="*/ 0 h 883501"/>
                <a:gd name="connsiteX2" fmla="*/ 582887 w 1165774"/>
                <a:gd name="connsiteY2" fmla="*/ 883501 h 883501"/>
                <a:gd name="connsiteX3" fmla="*/ 1165774 w 1165774"/>
                <a:gd name="connsiteY3" fmla="*/ 883501 h 883501"/>
              </a:gdLst>
              <a:ahLst/>
              <a:cxnLst>
                <a:cxn ang="0">
                  <a:pos x="connsiteX0" y="connsiteY0"/>
                </a:cxn>
                <a:cxn ang="0">
                  <a:pos x="connsiteX1" y="connsiteY1"/>
                </a:cxn>
                <a:cxn ang="0">
                  <a:pos x="connsiteX2" y="connsiteY2"/>
                </a:cxn>
                <a:cxn ang="0">
                  <a:pos x="connsiteX3" y="connsiteY3"/>
                </a:cxn>
              </a:cxnLst>
              <a:rect l="l" t="t" r="r" b="b"/>
              <a:pathLst>
                <a:path w="1165774" h="883501">
                  <a:moveTo>
                    <a:pt x="0" y="0"/>
                  </a:moveTo>
                  <a:lnTo>
                    <a:pt x="582887" y="0"/>
                  </a:lnTo>
                  <a:lnTo>
                    <a:pt x="582887" y="883501"/>
                  </a:lnTo>
                  <a:lnTo>
                    <a:pt x="1165774" y="883501"/>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59019" tIns="405183" rIns="559019" bIns="405182"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19" name="Freeform: Shape 18">
              <a:extLst>
                <a:ext uri="{FF2B5EF4-FFF2-40B4-BE49-F238E27FC236}">
                  <a16:creationId xmlns:a16="http://schemas.microsoft.com/office/drawing/2014/main" id="{8757827C-1E63-4985-85AB-F9753B5F14E2}"/>
                </a:ext>
              </a:extLst>
            </p:cNvPr>
            <p:cNvSpPr/>
            <p:nvPr/>
          </p:nvSpPr>
          <p:spPr>
            <a:xfrm>
              <a:off x="3912805" y="1866950"/>
              <a:ext cx="1165774" cy="294500"/>
            </a:xfrm>
            <a:custGeom>
              <a:avLst/>
              <a:gdLst>
                <a:gd name="connsiteX0" fmla="*/ 0 w 1165774"/>
                <a:gd name="connsiteY0" fmla="*/ 0 h 294500"/>
                <a:gd name="connsiteX1" fmla="*/ 582887 w 1165774"/>
                <a:gd name="connsiteY1" fmla="*/ 0 h 294500"/>
                <a:gd name="connsiteX2" fmla="*/ 582887 w 1165774"/>
                <a:gd name="connsiteY2" fmla="*/ 294500 h 294500"/>
                <a:gd name="connsiteX3" fmla="*/ 1165774 w 1165774"/>
                <a:gd name="connsiteY3" fmla="*/ 294500 h 294500"/>
              </a:gdLst>
              <a:ahLst/>
              <a:cxnLst>
                <a:cxn ang="0">
                  <a:pos x="connsiteX0" y="connsiteY0"/>
                </a:cxn>
                <a:cxn ang="0">
                  <a:pos x="connsiteX1" y="connsiteY1"/>
                </a:cxn>
                <a:cxn ang="0">
                  <a:pos x="connsiteX2" y="connsiteY2"/>
                </a:cxn>
                <a:cxn ang="0">
                  <a:pos x="connsiteX3" y="connsiteY3"/>
                </a:cxn>
              </a:cxnLst>
              <a:rect l="l" t="t" r="r" b="b"/>
              <a:pathLst>
                <a:path w="1165774" h="294500">
                  <a:moveTo>
                    <a:pt x="0" y="0"/>
                  </a:moveTo>
                  <a:lnTo>
                    <a:pt x="582887" y="0"/>
                  </a:lnTo>
                  <a:lnTo>
                    <a:pt x="582887" y="294500"/>
                  </a:lnTo>
                  <a:lnTo>
                    <a:pt x="1165774" y="294500"/>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65528" tIns="117191" rIns="565527" bIns="117190"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20" name="Freeform: Shape 19">
              <a:extLst>
                <a:ext uri="{FF2B5EF4-FFF2-40B4-BE49-F238E27FC236}">
                  <a16:creationId xmlns:a16="http://schemas.microsoft.com/office/drawing/2014/main" id="{D156E084-46D1-494A-945F-F9C3A2176DEE}"/>
                </a:ext>
              </a:extLst>
            </p:cNvPr>
            <p:cNvSpPr/>
            <p:nvPr/>
          </p:nvSpPr>
          <p:spPr>
            <a:xfrm>
              <a:off x="3912805" y="1572450"/>
              <a:ext cx="1165774" cy="294500"/>
            </a:xfrm>
            <a:custGeom>
              <a:avLst/>
              <a:gdLst>
                <a:gd name="connsiteX0" fmla="*/ 0 w 1165774"/>
                <a:gd name="connsiteY0" fmla="*/ 294500 h 294500"/>
                <a:gd name="connsiteX1" fmla="*/ 582887 w 1165774"/>
                <a:gd name="connsiteY1" fmla="*/ 294500 h 294500"/>
                <a:gd name="connsiteX2" fmla="*/ 582887 w 1165774"/>
                <a:gd name="connsiteY2" fmla="*/ 0 h 294500"/>
                <a:gd name="connsiteX3" fmla="*/ 1165774 w 1165774"/>
                <a:gd name="connsiteY3" fmla="*/ 0 h 294500"/>
              </a:gdLst>
              <a:ahLst/>
              <a:cxnLst>
                <a:cxn ang="0">
                  <a:pos x="connsiteX0" y="connsiteY0"/>
                </a:cxn>
                <a:cxn ang="0">
                  <a:pos x="connsiteX1" y="connsiteY1"/>
                </a:cxn>
                <a:cxn ang="0">
                  <a:pos x="connsiteX2" y="connsiteY2"/>
                </a:cxn>
                <a:cxn ang="0">
                  <a:pos x="connsiteX3" y="connsiteY3"/>
                </a:cxn>
              </a:cxnLst>
              <a:rect l="l" t="t" r="r" b="b"/>
              <a:pathLst>
                <a:path w="1165774" h="294500">
                  <a:moveTo>
                    <a:pt x="0" y="294500"/>
                  </a:moveTo>
                  <a:lnTo>
                    <a:pt x="582887" y="294500"/>
                  </a:lnTo>
                  <a:lnTo>
                    <a:pt x="582887" y="0"/>
                  </a:lnTo>
                  <a:lnTo>
                    <a:pt x="1165774" y="0"/>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65528" tIns="117190" rIns="565527" bIns="117191"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21" name="Freeform: Shape 20">
              <a:extLst>
                <a:ext uri="{FF2B5EF4-FFF2-40B4-BE49-F238E27FC236}">
                  <a16:creationId xmlns:a16="http://schemas.microsoft.com/office/drawing/2014/main" id="{73CCAA42-0FDA-41EC-9908-6423A3632932}"/>
                </a:ext>
              </a:extLst>
            </p:cNvPr>
            <p:cNvSpPr/>
            <p:nvPr/>
          </p:nvSpPr>
          <p:spPr>
            <a:xfrm>
              <a:off x="3912805" y="983449"/>
              <a:ext cx="1165774" cy="883501"/>
            </a:xfrm>
            <a:custGeom>
              <a:avLst/>
              <a:gdLst>
                <a:gd name="connsiteX0" fmla="*/ 0 w 1165774"/>
                <a:gd name="connsiteY0" fmla="*/ 883501 h 883501"/>
                <a:gd name="connsiteX1" fmla="*/ 582887 w 1165774"/>
                <a:gd name="connsiteY1" fmla="*/ 883501 h 883501"/>
                <a:gd name="connsiteX2" fmla="*/ 582887 w 1165774"/>
                <a:gd name="connsiteY2" fmla="*/ 0 h 883501"/>
                <a:gd name="connsiteX3" fmla="*/ 1165774 w 1165774"/>
                <a:gd name="connsiteY3" fmla="*/ 0 h 883501"/>
              </a:gdLst>
              <a:ahLst/>
              <a:cxnLst>
                <a:cxn ang="0">
                  <a:pos x="connsiteX0" y="connsiteY0"/>
                </a:cxn>
                <a:cxn ang="0">
                  <a:pos x="connsiteX1" y="connsiteY1"/>
                </a:cxn>
                <a:cxn ang="0">
                  <a:pos x="connsiteX2" y="connsiteY2"/>
                </a:cxn>
                <a:cxn ang="0">
                  <a:pos x="connsiteX3" y="connsiteY3"/>
                </a:cxn>
              </a:cxnLst>
              <a:rect l="l" t="t" r="r" b="b"/>
              <a:pathLst>
                <a:path w="1165774" h="883501">
                  <a:moveTo>
                    <a:pt x="0" y="883501"/>
                  </a:moveTo>
                  <a:lnTo>
                    <a:pt x="582887" y="883501"/>
                  </a:lnTo>
                  <a:lnTo>
                    <a:pt x="582887" y="0"/>
                  </a:lnTo>
                  <a:lnTo>
                    <a:pt x="1165774" y="0"/>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59019" tIns="405182" rIns="559019" bIns="405183"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22" name="Freeform: Shape 21">
              <a:extLst>
                <a:ext uri="{FF2B5EF4-FFF2-40B4-BE49-F238E27FC236}">
                  <a16:creationId xmlns:a16="http://schemas.microsoft.com/office/drawing/2014/main" id="{992D767B-234D-4950-AD5D-3A4ADA4E5D08}"/>
                </a:ext>
              </a:extLst>
            </p:cNvPr>
            <p:cNvSpPr/>
            <p:nvPr/>
          </p:nvSpPr>
          <p:spPr>
            <a:xfrm>
              <a:off x="3912805" y="394448"/>
              <a:ext cx="1165774" cy="1472502"/>
            </a:xfrm>
            <a:custGeom>
              <a:avLst/>
              <a:gdLst>
                <a:gd name="connsiteX0" fmla="*/ 0 w 1165774"/>
                <a:gd name="connsiteY0" fmla="*/ 1472502 h 1472502"/>
                <a:gd name="connsiteX1" fmla="*/ 582887 w 1165774"/>
                <a:gd name="connsiteY1" fmla="*/ 1472502 h 1472502"/>
                <a:gd name="connsiteX2" fmla="*/ 582887 w 1165774"/>
                <a:gd name="connsiteY2" fmla="*/ 0 h 1472502"/>
                <a:gd name="connsiteX3" fmla="*/ 1165774 w 1165774"/>
                <a:gd name="connsiteY3" fmla="*/ 0 h 1472502"/>
              </a:gdLst>
              <a:ahLst/>
              <a:cxnLst>
                <a:cxn ang="0">
                  <a:pos x="connsiteX0" y="connsiteY0"/>
                </a:cxn>
                <a:cxn ang="0">
                  <a:pos x="connsiteX1" y="connsiteY1"/>
                </a:cxn>
                <a:cxn ang="0">
                  <a:pos x="connsiteX2" y="connsiteY2"/>
                </a:cxn>
                <a:cxn ang="0">
                  <a:pos x="connsiteX3" y="connsiteY3"/>
                </a:cxn>
              </a:cxnLst>
              <a:rect l="l" t="t" r="r" b="b"/>
              <a:pathLst>
                <a:path w="1165774" h="1472502">
                  <a:moveTo>
                    <a:pt x="0" y="1472502"/>
                  </a:moveTo>
                  <a:lnTo>
                    <a:pt x="582887" y="1472502"/>
                  </a:lnTo>
                  <a:lnTo>
                    <a:pt x="582887" y="0"/>
                  </a:lnTo>
                  <a:lnTo>
                    <a:pt x="1165774" y="0"/>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txBody>
            <a:bodyPr spcFirstLastPara="0" vert="horz" wrap="square" lIns="548635" tIns="689298" rIns="548634" bIns="689299"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26" name="Freeform: Shape 25">
              <a:extLst>
                <a:ext uri="{FF2B5EF4-FFF2-40B4-BE49-F238E27FC236}">
                  <a16:creationId xmlns:a16="http://schemas.microsoft.com/office/drawing/2014/main" id="{AA81F9DF-D3E1-4DCE-B9E5-D2C3FED9B89B}"/>
                </a:ext>
              </a:extLst>
            </p:cNvPr>
            <p:cNvSpPr/>
            <p:nvPr/>
          </p:nvSpPr>
          <p:spPr>
            <a:xfrm>
              <a:off x="5078580" y="172411"/>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a:t>Class diagram</a:t>
              </a:r>
              <a:endParaRPr lang="en-US" sz="1600" b="0" kern="1200" dirty="0"/>
            </a:p>
          </p:txBody>
        </p:sp>
        <p:sp>
          <p:nvSpPr>
            <p:cNvPr id="27" name="Freeform: Shape 26">
              <a:extLst>
                <a:ext uri="{FF2B5EF4-FFF2-40B4-BE49-F238E27FC236}">
                  <a16:creationId xmlns:a16="http://schemas.microsoft.com/office/drawing/2014/main" id="{1D1B654B-6923-4E10-9E85-4710DF78D517}"/>
                </a:ext>
              </a:extLst>
            </p:cNvPr>
            <p:cNvSpPr/>
            <p:nvPr/>
          </p:nvSpPr>
          <p:spPr>
            <a:xfrm>
              <a:off x="5078580" y="761412"/>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a:t>Component diagram</a:t>
              </a:r>
              <a:endParaRPr lang="en-US" sz="1600" b="0" kern="1200" dirty="0"/>
            </a:p>
          </p:txBody>
        </p:sp>
        <p:sp>
          <p:nvSpPr>
            <p:cNvPr id="28" name="Freeform: Shape 27">
              <a:extLst>
                <a:ext uri="{FF2B5EF4-FFF2-40B4-BE49-F238E27FC236}">
                  <a16:creationId xmlns:a16="http://schemas.microsoft.com/office/drawing/2014/main" id="{55A317C9-BB7E-4D9C-AAF8-1006C1337987}"/>
                </a:ext>
              </a:extLst>
            </p:cNvPr>
            <p:cNvSpPr/>
            <p:nvPr/>
          </p:nvSpPr>
          <p:spPr>
            <a:xfrm>
              <a:off x="5078580" y="1350413"/>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a:t>Object diagram</a:t>
              </a:r>
              <a:endParaRPr lang="en-US" sz="1600" b="0" kern="1200" dirty="0"/>
            </a:p>
          </p:txBody>
        </p:sp>
        <p:sp>
          <p:nvSpPr>
            <p:cNvPr id="29" name="Freeform: Shape 28">
              <a:extLst>
                <a:ext uri="{FF2B5EF4-FFF2-40B4-BE49-F238E27FC236}">
                  <a16:creationId xmlns:a16="http://schemas.microsoft.com/office/drawing/2014/main" id="{4BA1B703-A776-4FD6-85C9-C0581C9002B0}"/>
                </a:ext>
              </a:extLst>
            </p:cNvPr>
            <p:cNvSpPr/>
            <p:nvPr/>
          </p:nvSpPr>
          <p:spPr>
            <a:xfrm>
              <a:off x="5078580" y="1939414"/>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a:t>Composite structure diagram</a:t>
              </a:r>
              <a:endParaRPr lang="en-US" sz="1600" b="0" kern="1200" dirty="0"/>
            </a:p>
          </p:txBody>
        </p:sp>
        <p:sp>
          <p:nvSpPr>
            <p:cNvPr id="30" name="Freeform: Shape 29">
              <a:extLst>
                <a:ext uri="{FF2B5EF4-FFF2-40B4-BE49-F238E27FC236}">
                  <a16:creationId xmlns:a16="http://schemas.microsoft.com/office/drawing/2014/main" id="{A5EF9CDD-74EA-4D1A-A445-7EB0BE3CE569}"/>
                </a:ext>
              </a:extLst>
            </p:cNvPr>
            <p:cNvSpPr/>
            <p:nvPr/>
          </p:nvSpPr>
          <p:spPr>
            <a:xfrm>
              <a:off x="5078580" y="2528415"/>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a:t>Package diagram</a:t>
              </a:r>
              <a:endParaRPr lang="en-US" sz="1600" b="0" kern="1200" dirty="0"/>
            </a:p>
          </p:txBody>
        </p:sp>
        <p:sp>
          <p:nvSpPr>
            <p:cNvPr id="31" name="Freeform: Shape 30">
              <a:extLst>
                <a:ext uri="{FF2B5EF4-FFF2-40B4-BE49-F238E27FC236}">
                  <a16:creationId xmlns:a16="http://schemas.microsoft.com/office/drawing/2014/main" id="{B431CE64-4FC0-4B49-94EE-C9AC9334C483}"/>
                </a:ext>
              </a:extLst>
            </p:cNvPr>
            <p:cNvSpPr/>
            <p:nvPr/>
          </p:nvSpPr>
          <p:spPr>
            <a:xfrm>
              <a:off x="5078580" y="3117416"/>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a:t>Deployment diagram</a:t>
              </a:r>
              <a:endParaRPr lang="en-US" sz="1600" b="0" kern="1200" dirty="0"/>
            </a:p>
          </p:txBody>
        </p:sp>
        <p:sp>
          <p:nvSpPr>
            <p:cNvPr id="33" name="Freeform: Shape 32">
              <a:extLst>
                <a:ext uri="{FF2B5EF4-FFF2-40B4-BE49-F238E27FC236}">
                  <a16:creationId xmlns:a16="http://schemas.microsoft.com/office/drawing/2014/main" id="{C373AABC-7D6E-4EE4-95D7-CD94D3CF5CEE}"/>
                </a:ext>
              </a:extLst>
            </p:cNvPr>
            <p:cNvSpPr/>
            <p:nvPr/>
          </p:nvSpPr>
          <p:spPr>
            <a:xfrm>
              <a:off x="5078580" y="3706417"/>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Use case diagram</a:t>
              </a:r>
            </a:p>
          </p:txBody>
        </p:sp>
        <p:sp>
          <p:nvSpPr>
            <p:cNvPr id="34" name="Freeform: Shape 33">
              <a:extLst>
                <a:ext uri="{FF2B5EF4-FFF2-40B4-BE49-F238E27FC236}">
                  <a16:creationId xmlns:a16="http://schemas.microsoft.com/office/drawing/2014/main" id="{35ED93D9-895E-4836-A7CB-FD991ECE74CD}"/>
                </a:ext>
              </a:extLst>
            </p:cNvPr>
            <p:cNvSpPr/>
            <p:nvPr/>
          </p:nvSpPr>
          <p:spPr>
            <a:xfrm>
              <a:off x="5078580" y="4295418"/>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a:t>Activity diagram</a:t>
              </a:r>
              <a:endParaRPr lang="en-US" sz="1600" b="0" kern="1200" dirty="0"/>
            </a:p>
          </p:txBody>
        </p:sp>
        <p:sp>
          <p:nvSpPr>
            <p:cNvPr id="35" name="Freeform: Shape 34">
              <a:extLst>
                <a:ext uri="{FF2B5EF4-FFF2-40B4-BE49-F238E27FC236}">
                  <a16:creationId xmlns:a16="http://schemas.microsoft.com/office/drawing/2014/main" id="{78217840-B884-4030-B686-7D1B08D21247}"/>
                </a:ext>
              </a:extLst>
            </p:cNvPr>
            <p:cNvSpPr/>
            <p:nvPr/>
          </p:nvSpPr>
          <p:spPr>
            <a:xfrm>
              <a:off x="5078580" y="4884419"/>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a:t>State machine diagram</a:t>
              </a:r>
              <a:endParaRPr lang="en-US" sz="1600" b="0" kern="1200" dirty="0"/>
            </a:p>
          </p:txBody>
        </p:sp>
        <p:sp>
          <p:nvSpPr>
            <p:cNvPr id="36" name="Freeform: Shape 35">
              <a:extLst>
                <a:ext uri="{FF2B5EF4-FFF2-40B4-BE49-F238E27FC236}">
                  <a16:creationId xmlns:a16="http://schemas.microsoft.com/office/drawing/2014/main" id="{283188F4-AC18-46E9-9028-8CE0470754C3}"/>
                </a:ext>
              </a:extLst>
            </p:cNvPr>
            <p:cNvSpPr/>
            <p:nvPr/>
          </p:nvSpPr>
          <p:spPr>
            <a:xfrm>
              <a:off x="5078580" y="5473420"/>
              <a:ext cx="2598892" cy="444073"/>
            </a:xfrm>
            <a:custGeom>
              <a:avLst/>
              <a:gdLst>
                <a:gd name="connsiteX0" fmla="*/ 0 w 2598892"/>
                <a:gd name="connsiteY0" fmla="*/ 0 h 444073"/>
                <a:gd name="connsiteX1" fmla="*/ 2598892 w 2598892"/>
                <a:gd name="connsiteY1" fmla="*/ 0 h 444073"/>
                <a:gd name="connsiteX2" fmla="*/ 2598892 w 2598892"/>
                <a:gd name="connsiteY2" fmla="*/ 444073 h 444073"/>
                <a:gd name="connsiteX3" fmla="*/ 0 w 2598892"/>
                <a:gd name="connsiteY3" fmla="*/ 444073 h 444073"/>
                <a:gd name="connsiteX4" fmla="*/ 0 w 2598892"/>
                <a:gd name="connsiteY4" fmla="*/ 0 h 444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892" h="444073">
                  <a:moveTo>
                    <a:pt x="0" y="0"/>
                  </a:moveTo>
                  <a:lnTo>
                    <a:pt x="2598892" y="0"/>
                  </a:lnTo>
                  <a:lnTo>
                    <a:pt x="2598892" y="444073"/>
                  </a:lnTo>
                  <a:lnTo>
                    <a:pt x="0" y="44407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Interaction</a:t>
              </a:r>
            </a:p>
          </p:txBody>
        </p:sp>
      </p:grpSp>
      <p:grpSp>
        <p:nvGrpSpPr>
          <p:cNvPr id="43" name="Group 42">
            <a:extLst>
              <a:ext uri="{FF2B5EF4-FFF2-40B4-BE49-F238E27FC236}">
                <a16:creationId xmlns:a16="http://schemas.microsoft.com/office/drawing/2014/main" id="{6A7880CE-79CF-4057-9B80-6F16B6DBB976}"/>
              </a:ext>
            </a:extLst>
          </p:cNvPr>
          <p:cNvGrpSpPr/>
          <p:nvPr/>
        </p:nvGrpSpPr>
        <p:grpSpPr>
          <a:xfrm>
            <a:off x="7677473" y="4705327"/>
            <a:ext cx="2835014" cy="1980260"/>
            <a:chOff x="7677473" y="4705327"/>
            <a:chExt cx="2835014" cy="1980260"/>
          </a:xfrm>
        </p:grpSpPr>
        <p:sp>
          <p:nvSpPr>
            <p:cNvPr id="4" name="Freeform: Shape 3">
              <a:extLst>
                <a:ext uri="{FF2B5EF4-FFF2-40B4-BE49-F238E27FC236}">
                  <a16:creationId xmlns:a16="http://schemas.microsoft.com/office/drawing/2014/main" id="{9AC144C8-ABCC-4384-BE9C-5E1F30F66EEC}"/>
                </a:ext>
              </a:extLst>
            </p:cNvPr>
            <p:cNvSpPr/>
            <p:nvPr/>
          </p:nvSpPr>
          <p:spPr>
            <a:xfrm>
              <a:off x="7677473" y="5695457"/>
              <a:ext cx="380288" cy="796945"/>
            </a:xfrm>
            <a:custGeom>
              <a:avLst/>
              <a:gdLst>
                <a:gd name="connsiteX0" fmla="*/ 0 w 380288"/>
                <a:gd name="connsiteY0" fmla="*/ 0 h 796945"/>
                <a:gd name="connsiteX1" fmla="*/ 190144 w 380288"/>
                <a:gd name="connsiteY1" fmla="*/ 0 h 796945"/>
                <a:gd name="connsiteX2" fmla="*/ 190144 w 380288"/>
                <a:gd name="connsiteY2" fmla="*/ 796945 h 796945"/>
                <a:gd name="connsiteX3" fmla="*/ 380288 w 380288"/>
                <a:gd name="connsiteY3" fmla="*/ 796945 h 796945"/>
              </a:gdLst>
              <a:ahLst/>
              <a:cxnLst>
                <a:cxn ang="0">
                  <a:pos x="connsiteX0" y="connsiteY0"/>
                </a:cxn>
                <a:cxn ang="0">
                  <a:pos x="connsiteX1" y="connsiteY1"/>
                </a:cxn>
                <a:cxn ang="0">
                  <a:pos x="connsiteX2" y="connsiteY2"/>
                </a:cxn>
                <a:cxn ang="0">
                  <a:pos x="connsiteX3" y="connsiteY3"/>
                </a:cxn>
              </a:cxnLst>
              <a:rect l="l" t="t" r="r" b="b"/>
              <a:pathLst>
                <a:path w="380288" h="796945">
                  <a:moveTo>
                    <a:pt x="0" y="0"/>
                  </a:moveTo>
                  <a:lnTo>
                    <a:pt x="190144" y="0"/>
                  </a:lnTo>
                  <a:lnTo>
                    <a:pt x="190144" y="796945"/>
                  </a:lnTo>
                  <a:lnTo>
                    <a:pt x="380288" y="796945"/>
                  </a:lnTo>
                </a:path>
              </a:pathLst>
            </a:custGeom>
            <a:noFill/>
          </p:spPr>
          <p:style>
            <a:lnRef idx="2">
              <a:schemeClr val="accent2">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spcFirstLastPara="0" vert="horz" wrap="square" lIns="180768" tIns="376397" rIns="180769" bIns="376397"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5" name="Freeform: Shape 4">
              <a:extLst>
                <a:ext uri="{FF2B5EF4-FFF2-40B4-BE49-F238E27FC236}">
                  <a16:creationId xmlns:a16="http://schemas.microsoft.com/office/drawing/2014/main" id="{504BB2BC-A52D-4677-AA78-7BF335F92251}"/>
                </a:ext>
              </a:extLst>
            </p:cNvPr>
            <p:cNvSpPr/>
            <p:nvPr/>
          </p:nvSpPr>
          <p:spPr>
            <a:xfrm>
              <a:off x="7677473" y="5695457"/>
              <a:ext cx="380288" cy="265648"/>
            </a:xfrm>
            <a:custGeom>
              <a:avLst/>
              <a:gdLst>
                <a:gd name="connsiteX0" fmla="*/ 0 w 380288"/>
                <a:gd name="connsiteY0" fmla="*/ 0 h 265648"/>
                <a:gd name="connsiteX1" fmla="*/ 190144 w 380288"/>
                <a:gd name="connsiteY1" fmla="*/ 0 h 265648"/>
                <a:gd name="connsiteX2" fmla="*/ 190144 w 380288"/>
                <a:gd name="connsiteY2" fmla="*/ 265648 h 265648"/>
                <a:gd name="connsiteX3" fmla="*/ 380288 w 380288"/>
                <a:gd name="connsiteY3" fmla="*/ 265648 h 265648"/>
              </a:gdLst>
              <a:ahLst/>
              <a:cxnLst>
                <a:cxn ang="0">
                  <a:pos x="connsiteX0" y="connsiteY0"/>
                </a:cxn>
                <a:cxn ang="0">
                  <a:pos x="connsiteX1" y="connsiteY1"/>
                </a:cxn>
                <a:cxn ang="0">
                  <a:pos x="connsiteX2" y="connsiteY2"/>
                </a:cxn>
                <a:cxn ang="0">
                  <a:pos x="connsiteX3" y="connsiteY3"/>
                </a:cxn>
              </a:cxnLst>
              <a:rect l="l" t="t" r="r" b="b"/>
              <a:pathLst>
                <a:path w="380288" h="265648">
                  <a:moveTo>
                    <a:pt x="0" y="0"/>
                  </a:moveTo>
                  <a:lnTo>
                    <a:pt x="190144" y="0"/>
                  </a:lnTo>
                  <a:lnTo>
                    <a:pt x="190144" y="265648"/>
                  </a:lnTo>
                  <a:lnTo>
                    <a:pt x="380288" y="265648"/>
                  </a:lnTo>
                </a:path>
              </a:pathLst>
            </a:custGeom>
            <a:noFill/>
          </p:spPr>
          <p:style>
            <a:lnRef idx="2">
              <a:schemeClr val="accent2">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spcFirstLastPara="0" vert="horz" wrap="square" lIns="191247" tIns="121227" rIns="191247" bIns="121227"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10" name="Freeform: Shape 9">
              <a:extLst>
                <a:ext uri="{FF2B5EF4-FFF2-40B4-BE49-F238E27FC236}">
                  <a16:creationId xmlns:a16="http://schemas.microsoft.com/office/drawing/2014/main" id="{5ACECA7D-9901-4594-862D-FAC7F2283672}"/>
                </a:ext>
              </a:extLst>
            </p:cNvPr>
            <p:cNvSpPr/>
            <p:nvPr/>
          </p:nvSpPr>
          <p:spPr>
            <a:xfrm>
              <a:off x="7677473" y="5429809"/>
              <a:ext cx="380288" cy="265648"/>
            </a:xfrm>
            <a:custGeom>
              <a:avLst/>
              <a:gdLst>
                <a:gd name="connsiteX0" fmla="*/ 0 w 380288"/>
                <a:gd name="connsiteY0" fmla="*/ 265648 h 265648"/>
                <a:gd name="connsiteX1" fmla="*/ 190144 w 380288"/>
                <a:gd name="connsiteY1" fmla="*/ 265648 h 265648"/>
                <a:gd name="connsiteX2" fmla="*/ 190144 w 380288"/>
                <a:gd name="connsiteY2" fmla="*/ 0 h 265648"/>
                <a:gd name="connsiteX3" fmla="*/ 380288 w 380288"/>
                <a:gd name="connsiteY3" fmla="*/ 0 h 265648"/>
              </a:gdLst>
              <a:ahLst/>
              <a:cxnLst>
                <a:cxn ang="0">
                  <a:pos x="connsiteX0" y="connsiteY0"/>
                </a:cxn>
                <a:cxn ang="0">
                  <a:pos x="connsiteX1" y="connsiteY1"/>
                </a:cxn>
                <a:cxn ang="0">
                  <a:pos x="connsiteX2" y="connsiteY2"/>
                </a:cxn>
                <a:cxn ang="0">
                  <a:pos x="connsiteX3" y="connsiteY3"/>
                </a:cxn>
              </a:cxnLst>
              <a:rect l="l" t="t" r="r" b="b"/>
              <a:pathLst>
                <a:path w="380288" h="265648">
                  <a:moveTo>
                    <a:pt x="0" y="265648"/>
                  </a:moveTo>
                  <a:lnTo>
                    <a:pt x="190144" y="265648"/>
                  </a:lnTo>
                  <a:lnTo>
                    <a:pt x="190144" y="0"/>
                  </a:lnTo>
                  <a:lnTo>
                    <a:pt x="380288" y="0"/>
                  </a:lnTo>
                </a:path>
              </a:pathLst>
            </a:custGeom>
            <a:noFill/>
          </p:spPr>
          <p:style>
            <a:lnRef idx="2">
              <a:schemeClr val="accent2">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spcFirstLastPara="0" vert="horz" wrap="square" lIns="191247" tIns="121227" rIns="191247" bIns="121227"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11" name="Freeform: Shape 10">
              <a:extLst>
                <a:ext uri="{FF2B5EF4-FFF2-40B4-BE49-F238E27FC236}">
                  <a16:creationId xmlns:a16="http://schemas.microsoft.com/office/drawing/2014/main" id="{0F11C534-9967-42BC-AE53-8BC234C826FF}"/>
                </a:ext>
              </a:extLst>
            </p:cNvPr>
            <p:cNvSpPr/>
            <p:nvPr/>
          </p:nvSpPr>
          <p:spPr>
            <a:xfrm>
              <a:off x="7677473" y="4898512"/>
              <a:ext cx="380288" cy="796945"/>
            </a:xfrm>
            <a:custGeom>
              <a:avLst/>
              <a:gdLst>
                <a:gd name="connsiteX0" fmla="*/ 0 w 380288"/>
                <a:gd name="connsiteY0" fmla="*/ 796945 h 796945"/>
                <a:gd name="connsiteX1" fmla="*/ 190144 w 380288"/>
                <a:gd name="connsiteY1" fmla="*/ 796945 h 796945"/>
                <a:gd name="connsiteX2" fmla="*/ 190144 w 380288"/>
                <a:gd name="connsiteY2" fmla="*/ 0 h 796945"/>
                <a:gd name="connsiteX3" fmla="*/ 380288 w 380288"/>
                <a:gd name="connsiteY3" fmla="*/ 0 h 796945"/>
              </a:gdLst>
              <a:ahLst/>
              <a:cxnLst>
                <a:cxn ang="0">
                  <a:pos x="connsiteX0" y="connsiteY0"/>
                </a:cxn>
                <a:cxn ang="0">
                  <a:pos x="connsiteX1" y="connsiteY1"/>
                </a:cxn>
                <a:cxn ang="0">
                  <a:pos x="connsiteX2" y="connsiteY2"/>
                </a:cxn>
                <a:cxn ang="0">
                  <a:pos x="connsiteX3" y="connsiteY3"/>
                </a:cxn>
              </a:cxnLst>
              <a:rect l="l" t="t" r="r" b="b"/>
              <a:pathLst>
                <a:path w="380288" h="796945">
                  <a:moveTo>
                    <a:pt x="0" y="796945"/>
                  </a:moveTo>
                  <a:lnTo>
                    <a:pt x="190144" y="796945"/>
                  </a:lnTo>
                  <a:lnTo>
                    <a:pt x="190144" y="0"/>
                  </a:lnTo>
                  <a:lnTo>
                    <a:pt x="380288" y="0"/>
                  </a:lnTo>
                </a:path>
              </a:pathLst>
            </a:custGeom>
            <a:noFill/>
          </p:spPr>
          <p:style>
            <a:lnRef idx="2">
              <a:schemeClr val="accent2">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spcFirstLastPara="0" vert="horz" wrap="square" lIns="180768" tIns="376397" rIns="180769" bIns="376397" numCol="1" spcCol="1270" anchor="ctr" anchorCtr="0">
              <a:noAutofit/>
            </a:bodyPr>
            <a:lstStyle/>
            <a:p>
              <a:pPr marL="0" lvl="0" indent="0" algn="ctr" defTabSz="711200">
                <a:lnSpc>
                  <a:spcPct val="90000"/>
                </a:lnSpc>
                <a:spcBef>
                  <a:spcPct val="0"/>
                </a:spcBef>
                <a:spcAft>
                  <a:spcPct val="35000"/>
                </a:spcAft>
                <a:buNone/>
              </a:pPr>
              <a:endParaRPr lang="en-US" sz="1600" b="0" kern="1200"/>
            </a:p>
          </p:txBody>
        </p:sp>
        <p:sp>
          <p:nvSpPr>
            <p:cNvPr id="37" name="Freeform: Shape 36">
              <a:extLst>
                <a:ext uri="{FF2B5EF4-FFF2-40B4-BE49-F238E27FC236}">
                  <a16:creationId xmlns:a16="http://schemas.microsoft.com/office/drawing/2014/main" id="{F7119518-4400-491D-A4F9-451EE70981EB}"/>
                </a:ext>
              </a:extLst>
            </p:cNvPr>
            <p:cNvSpPr/>
            <p:nvPr/>
          </p:nvSpPr>
          <p:spPr>
            <a:xfrm>
              <a:off x="8057762" y="4705327"/>
              <a:ext cx="2454725" cy="386369"/>
            </a:xfrm>
            <a:custGeom>
              <a:avLst/>
              <a:gdLst>
                <a:gd name="connsiteX0" fmla="*/ 0 w 2454725"/>
                <a:gd name="connsiteY0" fmla="*/ 0 h 386369"/>
                <a:gd name="connsiteX1" fmla="*/ 2454725 w 2454725"/>
                <a:gd name="connsiteY1" fmla="*/ 0 h 386369"/>
                <a:gd name="connsiteX2" fmla="*/ 2454725 w 2454725"/>
                <a:gd name="connsiteY2" fmla="*/ 386369 h 386369"/>
                <a:gd name="connsiteX3" fmla="*/ 0 w 2454725"/>
                <a:gd name="connsiteY3" fmla="*/ 386369 h 386369"/>
                <a:gd name="connsiteX4" fmla="*/ 0 w 2454725"/>
                <a:gd name="connsiteY4" fmla="*/ 0 h 386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725" h="386369">
                  <a:moveTo>
                    <a:pt x="0" y="0"/>
                  </a:moveTo>
                  <a:lnTo>
                    <a:pt x="2454725" y="0"/>
                  </a:lnTo>
                  <a:lnTo>
                    <a:pt x="2454725" y="386369"/>
                  </a:lnTo>
                  <a:lnTo>
                    <a:pt x="0" y="386369"/>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Sequence diagram</a:t>
              </a:r>
            </a:p>
          </p:txBody>
        </p:sp>
        <p:sp>
          <p:nvSpPr>
            <p:cNvPr id="38" name="Freeform: Shape 37">
              <a:extLst>
                <a:ext uri="{FF2B5EF4-FFF2-40B4-BE49-F238E27FC236}">
                  <a16:creationId xmlns:a16="http://schemas.microsoft.com/office/drawing/2014/main" id="{70A040C6-955F-4EAE-BA98-D58F202580E7}"/>
                </a:ext>
              </a:extLst>
            </p:cNvPr>
            <p:cNvSpPr/>
            <p:nvPr/>
          </p:nvSpPr>
          <p:spPr>
            <a:xfrm>
              <a:off x="8057762" y="5236624"/>
              <a:ext cx="2454725" cy="386369"/>
            </a:xfrm>
            <a:custGeom>
              <a:avLst/>
              <a:gdLst>
                <a:gd name="connsiteX0" fmla="*/ 0 w 2454725"/>
                <a:gd name="connsiteY0" fmla="*/ 0 h 386369"/>
                <a:gd name="connsiteX1" fmla="*/ 2454725 w 2454725"/>
                <a:gd name="connsiteY1" fmla="*/ 0 h 386369"/>
                <a:gd name="connsiteX2" fmla="*/ 2454725 w 2454725"/>
                <a:gd name="connsiteY2" fmla="*/ 386369 h 386369"/>
                <a:gd name="connsiteX3" fmla="*/ 0 w 2454725"/>
                <a:gd name="connsiteY3" fmla="*/ 386369 h 386369"/>
                <a:gd name="connsiteX4" fmla="*/ 0 w 2454725"/>
                <a:gd name="connsiteY4" fmla="*/ 0 h 386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725" h="386369">
                  <a:moveTo>
                    <a:pt x="0" y="0"/>
                  </a:moveTo>
                  <a:lnTo>
                    <a:pt x="2454725" y="0"/>
                  </a:lnTo>
                  <a:lnTo>
                    <a:pt x="2454725" y="386369"/>
                  </a:lnTo>
                  <a:lnTo>
                    <a:pt x="0" y="386369"/>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0" tIns="10160" rIns="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Communication diagram</a:t>
              </a:r>
            </a:p>
          </p:txBody>
        </p:sp>
        <p:sp>
          <p:nvSpPr>
            <p:cNvPr id="39" name="Freeform: Shape 38">
              <a:extLst>
                <a:ext uri="{FF2B5EF4-FFF2-40B4-BE49-F238E27FC236}">
                  <a16:creationId xmlns:a16="http://schemas.microsoft.com/office/drawing/2014/main" id="{F81D6D7A-3AF0-4161-A58E-06B3A9B3975F}"/>
                </a:ext>
              </a:extLst>
            </p:cNvPr>
            <p:cNvSpPr/>
            <p:nvPr/>
          </p:nvSpPr>
          <p:spPr>
            <a:xfrm>
              <a:off x="8057762" y="5767921"/>
              <a:ext cx="2454725" cy="386369"/>
            </a:xfrm>
            <a:custGeom>
              <a:avLst/>
              <a:gdLst>
                <a:gd name="connsiteX0" fmla="*/ 0 w 2454725"/>
                <a:gd name="connsiteY0" fmla="*/ 0 h 386369"/>
                <a:gd name="connsiteX1" fmla="*/ 2454725 w 2454725"/>
                <a:gd name="connsiteY1" fmla="*/ 0 h 386369"/>
                <a:gd name="connsiteX2" fmla="*/ 2454725 w 2454725"/>
                <a:gd name="connsiteY2" fmla="*/ 386369 h 386369"/>
                <a:gd name="connsiteX3" fmla="*/ 0 w 2454725"/>
                <a:gd name="connsiteY3" fmla="*/ 386369 h 386369"/>
                <a:gd name="connsiteX4" fmla="*/ 0 w 2454725"/>
                <a:gd name="connsiteY4" fmla="*/ 0 h 386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725" h="386369">
                  <a:moveTo>
                    <a:pt x="0" y="0"/>
                  </a:moveTo>
                  <a:lnTo>
                    <a:pt x="2454725" y="0"/>
                  </a:lnTo>
                  <a:lnTo>
                    <a:pt x="2454725" y="386369"/>
                  </a:lnTo>
                  <a:lnTo>
                    <a:pt x="0" y="386369"/>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Timing diagram</a:t>
              </a:r>
            </a:p>
          </p:txBody>
        </p:sp>
        <p:sp>
          <p:nvSpPr>
            <p:cNvPr id="40" name="Freeform: Shape 39">
              <a:extLst>
                <a:ext uri="{FF2B5EF4-FFF2-40B4-BE49-F238E27FC236}">
                  <a16:creationId xmlns:a16="http://schemas.microsoft.com/office/drawing/2014/main" id="{537E00B8-51A4-4B35-996C-1CFD8E2CAC8E}"/>
                </a:ext>
              </a:extLst>
            </p:cNvPr>
            <p:cNvSpPr/>
            <p:nvPr/>
          </p:nvSpPr>
          <p:spPr>
            <a:xfrm>
              <a:off x="8057762" y="6299218"/>
              <a:ext cx="2454725" cy="386369"/>
            </a:xfrm>
            <a:custGeom>
              <a:avLst/>
              <a:gdLst>
                <a:gd name="connsiteX0" fmla="*/ 0 w 2454725"/>
                <a:gd name="connsiteY0" fmla="*/ 0 h 386369"/>
                <a:gd name="connsiteX1" fmla="*/ 2454725 w 2454725"/>
                <a:gd name="connsiteY1" fmla="*/ 0 h 386369"/>
                <a:gd name="connsiteX2" fmla="*/ 2454725 w 2454725"/>
                <a:gd name="connsiteY2" fmla="*/ 386369 h 386369"/>
                <a:gd name="connsiteX3" fmla="*/ 0 w 2454725"/>
                <a:gd name="connsiteY3" fmla="*/ 386369 h 386369"/>
                <a:gd name="connsiteX4" fmla="*/ 0 w 2454725"/>
                <a:gd name="connsiteY4" fmla="*/ 0 h 386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725" h="386369">
                  <a:moveTo>
                    <a:pt x="0" y="0"/>
                  </a:moveTo>
                  <a:lnTo>
                    <a:pt x="2454725" y="0"/>
                  </a:lnTo>
                  <a:lnTo>
                    <a:pt x="2454725" y="386369"/>
                  </a:lnTo>
                  <a:lnTo>
                    <a:pt x="0" y="386369"/>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Interaction overview diagram</a:t>
              </a:r>
            </a:p>
          </p:txBody>
        </p:sp>
      </p:grpSp>
      <p:sp>
        <p:nvSpPr>
          <p:cNvPr id="2" name="Oval 1">
            <a:extLst>
              <a:ext uri="{FF2B5EF4-FFF2-40B4-BE49-F238E27FC236}">
                <a16:creationId xmlns:a16="http://schemas.microsoft.com/office/drawing/2014/main" id="{DFC6AC69-DE48-499B-A9C1-7D64C3119929}"/>
              </a:ext>
            </a:extLst>
          </p:cNvPr>
          <p:cNvSpPr/>
          <p:nvPr/>
        </p:nvSpPr>
        <p:spPr>
          <a:xfrm>
            <a:off x="4788131" y="58189"/>
            <a:ext cx="3269630" cy="68846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237BD19-5B24-4E7D-8AD5-C18BFF0CE85B}"/>
              </a:ext>
            </a:extLst>
          </p:cNvPr>
          <p:cNvSpPr/>
          <p:nvPr/>
        </p:nvSpPr>
        <p:spPr>
          <a:xfrm>
            <a:off x="7677472" y="4560191"/>
            <a:ext cx="3269630" cy="68846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678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enerated by PlantUML">
            <a:extLst>
              <a:ext uri="{FF2B5EF4-FFF2-40B4-BE49-F238E27FC236}">
                <a16:creationId xmlns:a16="http://schemas.microsoft.com/office/drawing/2014/main" id="{6A92C2DA-E1FC-4C2B-92EB-529041F814FF}"/>
              </a:ext>
            </a:extLst>
          </p:cNvPr>
          <p:cNvPicPr/>
          <p:nvPr/>
        </p:nvPicPr>
        <p:blipFill>
          <a:blip r:embed="rId2">
            <a:extLst>
              <a:ext uri="{28A0092B-C50C-407E-A947-70E740481C1C}">
                <a14:useLocalDpi xmlns:a14="http://schemas.microsoft.com/office/drawing/2010/main" val="0"/>
              </a:ext>
            </a:extLst>
          </a:blip>
          <a:stretch>
            <a:fillRect/>
          </a:stretch>
        </p:blipFill>
        <p:spPr>
          <a:xfrm>
            <a:off x="8343020" y="3343175"/>
            <a:ext cx="3037104" cy="2151537"/>
          </a:xfrm>
          <a:prstGeom prst="rect">
            <a:avLst/>
          </a:prstGeom>
        </p:spPr>
      </p:pic>
      <p:pic>
        <p:nvPicPr>
          <p:cNvPr id="3" name="Picture 2">
            <a:extLst>
              <a:ext uri="{FF2B5EF4-FFF2-40B4-BE49-F238E27FC236}">
                <a16:creationId xmlns:a16="http://schemas.microsoft.com/office/drawing/2014/main" id="{1E6BF14D-BDC4-4390-800F-A9C774738A5A}"/>
              </a:ext>
            </a:extLst>
          </p:cNvPr>
          <p:cNvPicPr>
            <a:picLocks noChangeAspect="1"/>
          </p:cNvPicPr>
          <p:nvPr/>
        </p:nvPicPr>
        <p:blipFill>
          <a:blip r:embed="rId3"/>
          <a:stretch>
            <a:fillRect/>
          </a:stretch>
        </p:blipFill>
        <p:spPr>
          <a:xfrm>
            <a:off x="8401209" y="1186492"/>
            <a:ext cx="2856131" cy="1739942"/>
          </a:xfrm>
          <a:prstGeom prst="rect">
            <a:avLst/>
          </a:prstGeom>
        </p:spPr>
      </p:pic>
      <p:pic>
        <p:nvPicPr>
          <p:cNvPr id="4" name="Picture 3">
            <a:extLst>
              <a:ext uri="{FF2B5EF4-FFF2-40B4-BE49-F238E27FC236}">
                <a16:creationId xmlns:a16="http://schemas.microsoft.com/office/drawing/2014/main" id="{E5AE84F2-9F51-4F05-97C8-EE5F3D6EA401}"/>
              </a:ext>
            </a:extLst>
          </p:cNvPr>
          <p:cNvPicPr>
            <a:picLocks noChangeAspect="1"/>
          </p:cNvPicPr>
          <p:nvPr/>
        </p:nvPicPr>
        <p:blipFill>
          <a:blip r:embed="rId4"/>
          <a:stretch>
            <a:fillRect/>
          </a:stretch>
        </p:blipFill>
        <p:spPr>
          <a:xfrm>
            <a:off x="934660" y="2449833"/>
            <a:ext cx="2009445" cy="1435318"/>
          </a:xfrm>
          <a:prstGeom prst="rect">
            <a:avLst/>
          </a:prstGeom>
        </p:spPr>
      </p:pic>
      <p:graphicFrame>
        <p:nvGraphicFramePr>
          <p:cNvPr id="5" name="Diagram 4">
            <a:extLst>
              <a:ext uri="{FF2B5EF4-FFF2-40B4-BE49-F238E27FC236}">
                <a16:creationId xmlns:a16="http://schemas.microsoft.com/office/drawing/2014/main" id="{CECFA0D8-FCD5-4BA7-A9B3-04AB523F7A4C}"/>
              </a:ext>
            </a:extLst>
          </p:cNvPr>
          <p:cNvGraphicFramePr/>
          <p:nvPr>
            <p:extLst>
              <p:ext uri="{D42A27DB-BD31-4B8C-83A1-F6EECF244321}">
                <p14:modId xmlns:p14="http://schemas.microsoft.com/office/powerpoint/2010/main" val="3137678569"/>
              </p:ext>
            </p:extLst>
          </p:nvPr>
        </p:nvGraphicFramePr>
        <p:xfrm>
          <a:off x="3790792" y="1346661"/>
          <a:ext cx="4048298" cy="37739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69475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AFAAF1EC-8F27-4971-9053-5FF744B7A29D}"/>
              </a:ext>
            </a:extLst>
          </p:cNvPr>
          <p:cNvSpPr/>
          <p:nvPr/>
        </p:nvSpPr>
        <p:spPr>
          <a:xfrm>
            <a:off x="8489720" y="1048874"/>
            <a:ext cx="3454799" cy="110839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B973726-0BF7-4D4C-AC81-3ED44869B83F}"/>
              </a:ext>
            </a:extLst>
          </p:cNvPr>
          <p:cNvSpPr/>
          <p:nvPr/>
        </p:nvSpPr>
        <p:spPr>
          <a:xfrm>
            <a:off x="228600" y="448733"/>
            <a:ext cx="3945467" cy="60367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1C7706D-9F4A-4FAC-93A3-52FBFEB66B7C}"/>
              </a:ext>
            </a:extLst>
          </p:cNvPr>
          <p:cNvSpPr/>
          <p:nvPr/>
        </p:nvSpPr>
        <p:spPr>
          <a:xfrm>
            <a:off x="4544252" y="1018507"/>
            <a:ext cx="3454799" cy="110839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27F0D5BC-0AA1-40A9-A68E-43EC25D65ADA}"/>
              </a:ext>
            </a:extLst>
          </p:cNvPr>
          <p:cNvGrpSpPr/>
          <p:nvPr/>
        </p:nvGrpSpPr>
        <p:grpSpPr>
          <a:xfrm>
            <a:off x="582472" y="3643922"/>
            <a:ext cx="3083700" cy="2500055"/>
            <a:chOff x="1685672" y="2546827"/>
            <a:chExt cx="4263368" cy="3808177"/>
          </a:xfrm>
        </p:grpSpPr>
        <p:pic>
          <p:nvPicPr>
            <p:cNvPr id="4" name="Picture 3" descr="Generated by PlantUML">
              <a:extLst>
                <a:ext uri="{FF2B5EF4-FFF2-40B4-BE49-F238E27FC236}">
                  <a16:creationId xmlns:a16="http://schemas.microsoft.com/office/drawing/2014/main" id="{B5BFA34D-7FAD-43BD-9921-15E095E69F91}"/>
                </a:ext>
              </a:extLst>
            </p:cNvPr>
            <p:cNvPicPr/>
            <p:nvPr/>
          </p:nvPicPr>
          <p:blipFill>
            <a:blip r:embed="rId2">
              <a:extLst>
                <a:ext uri="{28A0092B-C50C-407E-A947-70E740481C1C}">
                  <a14:useLocalDpi xmlns:a14="http://schemas.microsoft.com/office/drawing/2010/main" val="0"/>
                </a:ext>
              </a:extLst>
            </a:blip>
            <a:stretch>
              <a:fillRect/>
            </a:stretch>
          </p:blipFill>
          <p:spPr>
            <a:xfrm>
              <a:off x="1718334" y="4590659"/>
              <a:ext cx="4230706" cy="1764345"/>
            </a:xfrm>
            <a:prstGeom prst="rect">
              <a:avLst/>
            </a:prstGeom>
          </p:spPr>
        </p:pic>
        <p:pic>
          <p:nvPicPr>
            <p:cNvPr id="5" name="Picture 4" descr="Generated by PlantUML">
              <a:extLst>
                <a:ext uri="{FF2B5EF4-FFF2-40B4-BE49-F238E27FC236}">
                  <a16:creationId xmlns:a16="http://schemas.microsoft.com/office/drawing/2014/main" id="{10147133-CC01-4985-998F-B147B2C97021}"/>
                </a:ext>
              </a:extLst>
            </p:cNvPr>
            <p:cNvPicPr/>
            <p:nvPr/>
          </p:nvPicPr>
          <p:blipFill>
            <a:blip r:embed="rId3">
              <a:extLst>
                <a:ext uri="{28A0092B-C50C-407E-A947-70E740481C1C}">
                  <a14:useLocalDpi xmlns:a14="http://schemas.microsoft.com/office/drawing/2010/main" val="0"/>
                </a:ext>
              </a:extLst>
            </a:blip>
            <a:stretch>
              <a:fillRect/>
            </a:stretch>
          </p:blipFill>
          <p:spPr>
            <a:xfrm>
              <a:off x="1685672" y="2546827"/>
              <a:ext cx="4263368" cy="1764345"/>
            </a:xfrm>
            <a:prstGeom prst="rect">
              <a:avLst/>
            </a:prstGeom>
          </p:spPr>
        </p:pic>
        <p:grpSp>
          <p:nvGrpSpPr>
            <p:cNvPr id="6" name="Group 5">
              <a:extLst>
                <a:ext uri="{FF2B5EF4-FFF2-40B4-BE49-F238E27FC236}">
                  <a16:creationId xmlns:a16="http://schemas.microsoft.com/office/drawing/2014/main" id="{47112C68-51E3-491C-B934-DAB010BDE27E}"/>
                </a:ext>
              </a:extLst>
            </p:cNvPr>
            <p:cNvGrpSpPr/>
            <p:nvPr/>
          </p:nvGrpSpPr>
          <p:grpSpPr>
            <a:xfrm>
              <a:off x="3262195" y="3112006"/>
              <a:ext cx="251852" cy="2272575"/>
              <a:chOff x="3262195" y="3112006"/>
              <a:chExt cx="251852" cy="2272575"/>
            </a:xfrm>
          </p:grpSpPr>
          <p:sp>
            <p:nvSpPr>
              <p:cNvPr id="7" name="Isosceles Triangle 6">
                <a:extLst>
                  <a:ext uri="{FF2B5EF4-FFF2-40B4-BE49-F238E27FC236}">
                    <a16:creationId xmlns:a16="http://schemas.microsoft.com/office/drawing/2014/main" id="{ED810D08-FB15-4C93-B76E-93B792E180D6}"/>
                  </a:ext>
                </a:extLst>
              </p:cNvPr>
              <p:cNvSpPr/>
              <p:nvPr/>
            </p:nvSpPr>
            <p:spPr>
              <a:xfrm rot="5400000">
                <a:off x="3257603" y="5169754"/>
                <a:ext cx="219419" cy="210236"/>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8B149E2A-2F92-4026-8B84-2963FFAF1B69}"/>
                  </a:ext>
                </a:extLst>
              </p:cNvPr>
              <p:cNvSpPr/>
              <p:nvPr/>
            </p:nvSpPr>
            <p:spPr>
              <a:xfrm rot="5400000">
                <a:off x="3299219" y="3116598"/>
                <a:ext cx="219419" cy="210236"/>
              </a:xfrm>
              <a:prstGeom prst="triangl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9" name="Picture 8" descr="Generated by PlantUML">
            <a:extLst>
              <a:ext uri="{FF2B5EF4-FFF2-40B4-BE49-F238E27FC236}">
                <a16:creationId xmlns:a16="http://schemas.microsoft.com/office/drawing/2014/main" id="{12F81084-6178-4E73-AB8B-3F4967B9CEB2}"/>
              </a:ext>
            </a:extLst>
          </p:cNvPr>
          <p:cNvPicPr/>
          <p:nvPr/>
        </p:nvPicPr>
        <p:blipFill>
          <a:blip r:embed="rId4">
            <a:extLst>
              <a:ext uri="{28A0092B-C50C-407E-A947-70E740481C1C}">
                <a14:useLocalDpi xmlns:a14="http://schemas.microsoft.com/office/drawing/2010/main" val="0"/>
              </a:ext>
            </a:extLst>
          </a:blip>
          <a:stretch>
            <a:fillRect/>
          </a:stretch>
        </p:blipFill>
        <p:spPr>
          <a:xfrm>
            <a:off x="606096" y="2237826"/>
            <a:ext cx="2976101" cy="1158286"/>
          </a:xfrm>
          <a:prstGeom prst="rect">
            <a:avLst/>
          </a:prstGeom>
        </p:spPr>
      </p:pic>
      <p:grpSp>
        <p:nvGrpSpPr>
          <p:cNvPr id="33" name="Group 32">
            <a:extLst>
              <a:ext uri="{FF2B5EF4-FFF2-40B4-BE49-F238E27FC236}">
                <a16:creationId xmlns:a16="http://schemas.microsoft.com/office/drawing/2014/main" id="{944942E8-6931-4862-AA9E-1EE05D91B3B7}"/>
              </a:ext>
            </a:extLst>
          </p:cNvPr>
          <p:cNvGrpSpPr/>
          <p:nvPr/>
        </p:nvGrpSpPr>
        <p:grpSpPr>
          <a:xfrm>
            <a:off x="516466" y="508287"/>
            <a:ext cx="3065731" cy="1546056"/>
            <a:chOff x="516466" y="508287"/>
            <a:chExt cx="3065731" cy="1546056"/>
          </a:xfrm>
        </p:grpSpPr>
        <p:sp>
          <p:nvSpPr>
            <p:cNvPr id="24" name="Rectangle 23">
              <a:extLst>
                <a:ext uri="{FF2B5EF4-FFF2-40B4-BE49-F238E27FC236}">
                  <a16:creationId xmlns:a16="http://schemas.microsoft.com/office/drawing/2014/main" id="{34B5A9DF-BD2C-4C38-A050-826C3EF74D44}"/>
                </a:ext>
              </a:extLst>
            </p:cNvPr>
            <p:cNvSpPr/>
            <p:nvPr/>
          </p:nvSpPr>
          <p:spPr>
            <a:xfrm>
              <a:off x="516466" y="945950"/>
              <a:ext cx="3065731" cy="110839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Generated by PlantUML">
              <a:extLst>
                <a:ext uri="{FF2B5EF4-FFF2-40B4-BE49-F238E27FC236}">
                  <a16:creationId xmlns:a16="http://schemas.microsoft.com/office/drawing/2014/main" id="{179C77A5-BF80-48D7-8F29-F3B0A433818A}"/>
                </a:ext>
              </a:extLst>
            </p:cNvPr>
            <p:cNvPicPr/>
            <p:nvPr/>
          </p:nvPicPr>
          <p:blipFill>
            <a:blip r:embed="rId5">
              <a:extLst>
                <a:ext uri="{28A0092B-C50C-407E-A947-70E740481C1C}">
                  <a14:useLocalDpi xmlns:a14="http://schemas.microsoft.com/office/drawing/2010/main" val="0"/>
                </a:ext>
              </a:extLst>
            </a:blip>
            <a:stretch>
              <a:fillRect/>
            </a:stretch>
          </p:blipFill>
          <p:spPr>
            <a:xfrm>
              <a:off x="606096" y="1018507"/>
              <a:ext cx="2879162" cy="971509"/>
            </a:xfrm>
            <a:prstGeom prst="rect">
              <a:avLst/>
            </a:prstGeom>
          </p:spPr>
        </p:pic>
        <p:sp>
          <p:nvSpPr>
            <p:cNvPr id="10" name="TextBox 9">
              <a:extLst>
                <a:ext uri="{FF2B5EF4-FFF2-40B4-BE49-F238E27FC236}">
                  <a16:creationId xmlns:a16="http://schemas.microsoft.com/office/drawing/2014/main" id="{16EE83D4-D026-4458-AF5E-9F74C9C31AFE}"/>
                </a:ext>
              </a:extLst>
            </p:cNvPr>
            <p:cNvSpPr txBox="1"/>
            <p:nvPr/>
          </p:nvSpPr>
          <p:spPr>
            <a:xfrm>
              <a:off x="960295" y="508287"/>
              <a:ext cx="1403782" cy="400110"/>
            </a:xfrm>
            <a:prstGeom prst="rect">
              <a:avLst/>
            </a:prstGeom>
            <a:noFill/>
          </p:spPr>
          <p:txBody>
            <a:bodyPr wrap="none" rtlCol="0">
              <a:spAutoFit/>
            </a:bodyPr>
            <a:lstStyle/>
            <a:p>
              <a:r>
                <a:rPr lang="en-US" sz="2000" b="1" dirty="0"/>
                <a:t>Association</a:t>
              </a:r>
            </a:p>
          </p:txBody>
        </p:sp>
      </p:grpSp>
      <p:pic>
        <p:nvPicPr>
          <p:cNvPr id="12" name="Picture 11" descr="Generated by PlantUML">
            <a:extLst>
              <a:ext uri="{FF2B5EF4-FFF2-40B4-BE49-F238E27FC236}">
                <a16:creationId xmlns:a16="http://schemas.microsoft.com/office/drawing/2014/main" id="{B52AEA73-0F6D-410D-9A7F-12FE8470972D}"/>
              </a:ext>
            </a:extLst>
          </p:cNvPr>
          <p:cNvPicPr/>
          <p:nvPr/>
        </p:nvPicPr>
        <p:blipFill>
          <a:blip r:embed="rId6">
            <a:extLst>
              <a:ext uri="{28A0092B-C50C-407E-A947-70E740481C1C}">
                <a14:useLocalDpi xmlns:a14="http://schemas.microsoft.com/office/drawing/2010/main" val="0"/>
              </a:ext>
            </a:extLst>
          </a:blip>
          <a:stretch>
            <a:fillRect/>
          </a:stretch>
        </p:blipFill>
        <p:spPr>
          <a:xfrm>
            <a:off x="4743416" y="1090855"/>
            <a:ext cx="3056467" cy="971509"/>
          </a:xfrm>
          <a:prstGeom prst="rect">
            <a:avLst/>
          </a:prstGeom>
        </p:spPr>
      </p:pic>
      <p:sp>
        <p:nvSpPr>
          <p:cNvPr id="17" name="TextBox 16">
            <a:extLst>
              <a:ext uri="{FF2B5EF4-FFF2-40B4-BE49-F238E27FC236}">
                <a16:creationId xmlns:a16="http://schemas.microsoft.com/office/drawing/2014/main" id="{C8C16A78-D2B7-4252-82F2-BA9AD6389F74}"/>
              </a:ext>
            </a:extLst>
          </p:cNvPr>
          <p:cNvSpPr txBox="1"/>
          <p:nvPr/>
        </p:nvSpPr>
        <p:spPr>
          <a:xfrm>
            <a:off x="4695626" y="538868"/>
            <a:ext cx="3596241" cy="400110"/>
          </a:xfrm>
          <a:prstGeom prst="rect">
            <a:avLst/>
          </a:prstGeom>
          <a:noFill/>
        </p:spPr>
        <p:txBody>
          <a:bodyPr wrap="none" rtlCol="0">
            <a:spAutoFit/>
          </a:bodyPr>
          <a:lstStyle/>
          <a:p>
            <a:r>
              <a:rPr lang="en-US" sz="2000" b="1" dirty="0"/>
              <a:t>Aggregation (shared ownership)</a:t>
            </a:r>
          </a:p>
        </p:txBody>
      </p:sp>
      <p:pic>
        <p:nvPicPr>
          <p:cNvPr id="19" name="Picture 18" descr="Generated by PlantUML">
            <a:extLst>
              <a:ext uri="{FF2B5EF4-FFF2-40B4-BE49-F238E27FC236}">
                <a16:creationId xmlns:a16="http://schemas.microsoft.com/office/drawing/2014/main" id="{88B02BF4-47EA-44D6-895F-B35ACBF213E4}"/>
              </a:ext>
            </a:extLst>
          </p:cNvPr>
          <p:cNvPicPr/>
          <p:nvPr/>
        </p:nvPicPr>
        <p:blipFill>
          <a:blip r:embed="rId7">
            <a:extLst>
              <a:ext uri="{28A0092B-C50C-407E-A947-70E740481C1C}">
                <a14:useLocalDpi xmlns:a14="http://schemas.microsoft.com/office/drawing/2010/main" val="0"/>
              </a:ext>
            </a:extLst>
          </a:blip>
          <a:stretch>
            <a:fillRect/>
          </a:stretch>
        </p:blipFill>
        <p:spPr>
          <a:xfrm>
            <a:off x="4743416" y="2174815"/>
            <a:ext cx="3244310" cy="1040184"/>
          </a:xfrm>
          <a:prstGeom prst="rect">
            <a:avLst/>
          </a:prstGeom>
        </p:spPr>
      </p:pic>
      <p:pic>
        <p:nvPicPr>
          <p:cNvPr id="22" name="Picture 21" descr="Generated by PlantUML">
            <a:extLst>
              <a:ext uri="{FF2B5EF4-FFF2-40B4-BE49-F238E27FC236}">
                <a16:creationId xmlns:a16="http://schemas.microsoft.com/office/drawing/2014/main" id="{D629700D-75A0-4272-9C5E-5FD533D18A48}"/>
              </a:ext>
            </a:extLst>
          </p:cNvPr>
          <p:cNvPicPr/>
          <p:nvPr/>
        </p:nvPicPr>
        <p:blipFill>
          <a:blip r:embed="rId8">
            <a:extLst>
              <a:ext uri="{28A0092B-C50C-407E-A947-70E740481C1C}">
                <a14:useLocalDpi xmlns:a14="http://schemas.microsoft.com/office/drawing/2010/main" val="0"/>
              </a:ext>
            </a:extLst>
          </a:blip>
          <a:stretch>
            <a:fillRect/>
          </a:stretch>
        </p:blipFill>
        <p:spPr>
          <a:xfrm>
            <a:off x="4810761" y="5102587"/>
            <a:ext cx="3244310" cy="1294379"/>
          </a:xfrm>
          <a:prstGeom prst="rect">
            <a:avLst/>
          </a:prstGeom>
        </p:spPr>
      </p:pic>
      <p:sp>
        <p:nvSpPr>
          <p:cNvPr id="28" name="Rectangle 27">
            <a:extLst>
              <a:ext uri="{FF2B5EF4-FFF2-40B4-BE49-F238E27FC236}">
                <a16:creationId xmlns:a16="http://schemas.microsoft.com/office/drawing/2014/main" id="{0645842E-50A0-41A7-A651-C38D79C4C60C}"/>
              </a:ext>
            </a:extLst>
          </p:cNvPr>
          <p:cNvSpPr/>
          <p:nvPr/>
        </p:nvSpPr>
        <p:spPr>
          <a:xfrm>
            <a:off x="4705517" y="3985812"/>
            <a:ext cx="3454799" cy="110839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Generated by PlantUML">
            <a:extLst>
              <a:ext uri="{FF2B5EF4-FFF2-40B4-BE49-F238E27FC236}">
                <a16:creationId xmlns:a16="http://schemas.microsoft.com/office/drawing/2014/main" id="{99DDFBCC-B040-4BAB-9E2E-D02F9E8B4D46}"/>
              </a:ext>
            </a:extLst>
          </p:cNvPr>
          <p:cNvPicPr/>
          <p:nvPr/>
        </p:nvPicPr>
        <p:blipFill>
          <a:blip r:embed="rId9">
            <a:extLst>
              <a:ext uri="{28A0092B-C50C-407E-A947-70E740481C1C}">
                <a14:useLocalDpi xmlns:a14="http://schemas.microsoft.com/office/drawing/2010/main" val="0"/>
              </a:ext>
            </a:extLst>
          </a:blip>
          <a:stretch>
            <a:fillRect/>
          </a:stretch>
        </p:blipFill>
        <p:spPr>
          <a:xfrm>
            <a:off x="4814120" y="4144870"/>
            <a:ext cx="3218997" cy="844388"/>
          </a:xfrm>
          <a:prstGeom prst="rect">
            <a:avLst/>
          </a:prstGeom>
        </p:spPr>
      </p:pic>
      <p:sp>
        <p:nvSpPr>
          <p:cNvPr id="30" name="TextBox 29">
            <a:extLst>
              <a:ext uri="{FF2B5EF4-FFF2-40B4-BE49-F238E27FC236}">
                <a16:creationId xmlns:a16="http://schemas.microsoft.com/office/drawing/2014/main" id="{E869A6FA-038D-4D8A-A44B-4897DD1ED58E}"/>
              </a:ext>
            </a:extLst>
          </p:cNvPr>
          <p:cNvSpPr txBox="1"/>
          <p:nvPr/>
        </p:nvSpPr>
        <p:spPr>
          <a:xfrm>
            <a:off x="4589508" y="3577320"/>
            <a:ext cx="3552126" cy="400110"/>
          </a:xfrm>
          <a:prstGeom prst="rect">
            <a:avLst/>
          </a:prstGeom>
          <a:noFill/>
        </p:spPr>
        <p:txBody>
          <a:bodyPr wrap="none" rtlCol="0">
            <a:spAutoFit/>
          </a:bodyPr>
          <a:lstStyle>
            <a:defPPr>
              <a:defRPr lang="en-US"/>
            </a:defPPr>
            <a:lvl1pPr>
              <a:defRPr sz="2000" b="1"/>
            </a:lvl1pPr>
          </a:lstStyle>
          <a:p>
            <a:r>
              <a:rPr lang="en-US" dirty="0"/>
              <a:t>Composition (single ownership)</a:t>
            </a:r>
          </a:p>
        </p:txBody>
      </p:sp>
      <p:sp>
        <p:nvSpPr>
          <p:cNvPr id="32" name="Rectangle 31">
            <a:extLst>
              <a:ext uri="{FF2B5EF4-FFF2-40B4-BE49-F238E27FC236}">
                <a16:creationId xmlns:a16="http://schemas.microsoft.com/office/drawing/2014/main" id="{D5A3A537-D86B-499B-8D41-68D6456FBDC2}"/>
              </a:ext>
            </a:extLst>
          </p:cNvPr>
          <p:cNvSpPr/>
          <p:nvPr/>
        </p:nvSpPr>
        <p:spPr>
          <a:xfrm>
            <a:off x="4360993" y="448733"/>
            <a:ext cx="3945468" cy="60367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6A7FE4C-A833-47C3-A52B-EAC819F752DC}"/>
              </a:ext>
            </a:extLst>
          </p:cNvPr>
          <p:cNvSpPr txBox="1"/>
          <p:nvPr/>
        </p:nvSpPr>
        <p:spPr>
          <a:xfrm>
            <a:off x="8579682" y="513158"/>
            <a:ext cx="3123740" cy="400110"/>
          </a:xfrm>
          <a:prstGeom prst="rect">
            <a:avLst/>
          </a:prstGeom>
          <a:noFill/>
        </p:spPr>
        <p:txBody>
          <a:bodyPr wrap="none" rtlCol="0">
            <a:spAutoFit/>
          </a:bodyPr>
          <a:lstStyle>
            <a:defPPr>
              <a:defRPr lang="en-US"/>
            </a:defPPr>
            <a:lvl1pPr>
              <a:defRPr sz="2000" b="1"/>
            </a:lvl1pPr>
          </a:lstStyle>
          <a:p>
            <a:r>
              <a:rPr lang="en-US" dirty="0"/>
              <a:t>Inheritance (generalization)</a:t>
            </a:r>
          </a:p>
        </p:txBody>
      </p:sp>
      <p:sp>
        <p:nvSpPr>
          <p:cNvPr id="36" name="Rectangle 35">
            <a:extLst>
              <a:ext uri="{FF2B5EF4-FFF2-40B4-BE49-F238E27FC236}">
                <a16:creationId xmlns:a16="http://schemas.microsoft.com/office/drawing/2014/main" id="{77567F0F-0206-4995-96A3-321083B4AECF}"/>
              </a:ext>
            </a:extLst>
          </p:cNvPr>
          <p:cNvSpPr/>
          <p:nvPr/>
        </p:nvSpPr>
        <p:spPr>
          <a:xfrm>
            <a:off x="8420843" y="436264"/>
            <a:ext cx="3624299" cy="603673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descr="Generated by PlantUML">
            <a:extLst>
              <a:ext uri="{FF2B5EF4-FFF2-40B4-BE49-F238E27FC236}">
                <a16:creationId xmlns:a16="http://schemas.microsoft.com/office/drawing/2014/main" id="{85FE195E-06D4-45B7-A545-AF6D4FDA86FB}"/>
              </a:ext>
            </a:extLst>
          </p:cNvPr>
          <p:cNvPicPr/>
          <p:nvPr/>
        </p:nvPicPr>
        <p:blipFill>
          <a:blip r:embed="rId10">
            <a:extLst>
              <a:ext uri="{28A0092B-C50C-407E-A947-70E740481C1C}">
                <a14:useLocalDpi xmlns:a14="http://schemas.microsoft.com/office/drawing/2010/main" val="0"/>
              </a:ext>
            </a:extLst>
          </a:blip>
          <a:stretch>
            <a:fillRect/>
          </a:stretch>
        </p:blipFill>
        <p:spPr>
          <a:xfrm>
            <a:off x="9119062" y="1064709"/>
            <a:ext cx="1955482" cy="1062191"/>
          </a:xfrm>
          <a:prstGeom prst="rect">
            <a:avLst/>
          </a:prstGeom>
        </p:spPr>
      </p:pic>
      <p:pic>
        <p:nvPicPr>
          <p:cNvPr id="41" name="Picture 40" descr="Generated by PlantUML">
            <a:extLst>
              <a:ext uri="{FF2B5EF4-FFF2-40B4-BE49-F238E27FC236}">
                <a16:creationId xmlns:a16="http://schemas.microsoft.com/office/drawing/2014/main" id="{4EF90CC8-8F16-47A1-B2EA-1AC6C3A9FD81}"/>
              </a:ext>
            </a:extLst>
          </p:cNvPr>
          <p:cNvPicPr/>
          <p:nvPr/>
        </p:nvPicPr>
        <p:blipFill>
          <a:blip r:embed="rId11">
            <a:extLst>
              <a:ext uri="{28A0092B-C50C-407E-A947-70E740481C1C}">
                <a14:useLocalDpi xmlns:a14="http://schemas.microsoft.com/office/drawing/2010/main" val="0"/>
              </a:ext>
            </a:extLst>
          </a:blip>
          <a:stretch>
            <a:fillRect/>
          </a:stretch>
        </p:blipFill>
        <p:spPr>
          <a:xfrm>
            <a:off x="8744253" y="2292873"/>
            <a:ext cx="2705100" cy="1152525"/>
          </a:xfrm>
          <a:prstGeom prst="rect">
            <a:avLst/>
          </a:prstGeom>
        </p:spPr>
      </p:pic>
    </p:spTree>
    <p:extLst>
      <p:ext uri="{BB962C8B-B14F-4D97-AF65-F5344CB8AC3E}">
        <p14:creationId xmlns:p14="http://schemas.microsoft.com/office/powerpoint/2010/main" val="255638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0" grpId="1" animBg="1"/>
      <p:bldP spid="25" grpId="0" animBg="1"/>
      <p:bldP spid="17" grpId="0"/>
      <p:bldP spid="28" grpId="0" animBg="1"/>
      <p:bldP spid="30" grpId="0"/>
      <p:bldP spid="32" grpId="0" animBg="1"/>
      <p:bldP spid="35" grpId="0"/>
      <p:bldP spid="36" grpId="0" animBg="1"/>
      <p:bldP spid="36"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key concepts</a:t>
            </a:r>
          </a:p>
        </p:txBody>
      </p:sp>
      <p:sp>
        <p:nvSpPr>
          <p:cNvPr id="3" name="Content Placeholder 2"/>
          <p:cNvSpPr>
            <a:spLocks noGrp="1"/>
          </p:cNvSpPr>
          <p:nvPr>
            <p:ph idx="1"/>
          </p:nvPr>
        </p:nvSpPr>
        <p:spPr>
          <a:xfrm>
            <a:off x="838200" y="1183341"/>
            <a:ext cx="6285807" cy="5330670"/>
          </a:xfrm>
        </p:spPr>
        <p:txBody>
          <a:bodyPr>
            <a:normAutofit/>
          </a:bodyPr>
          <a:lstStyle/>
          <a:p>
            <a:pPr marL="342900" indent="-342900">
              <a:buFont typeface="+mj-lt"/>
              <a:buAutoNum type="arabicPeriod"/>
            </a:pPr>
            <a:r>
              <a:rPr lang="en-US" sz="2000" b="1" dirty="0"/>
              <a:t>Coupling</a:t>
            </a:r>
            <a:r>
              <a:rPr lang="en-US" sz="2000" dirty="0"/>
              <a:t>: </a:t>
            </a:r>
            <a:r>
              <a:rPr lang="en-US" sz="2000" i="1" dirty="0">
                <a:solidFill>
                  <a:srgbClr val="5B9BD5"/>
                </a:solidFill>
              </a:rPr>
              <a:t>interdependence</a:t>
            </a:r>
          </a:p>
          <a:p>
            <a:pPr lvl="1"/>
            <a:r>
              <a:rPr lang="en-US" sz="2000" dirty="0"/>
              <a:t>measures how strongly one element is </a:t>
            </a:r>
            <a:r>
              <a:rPr lang="en-US" sz="2000" u="sng" dirty="0"/>
              <a:t>connected to, has knowledge of, or depends on </a:t>
            </a:r>
            <a:r>
              <a:rPr lang="en-US" sz="2000" dirty="0"/>
              <a:t>other elements. Common forms of coupling between X and Y</a:t>
            </a:r>
          </a:p>
          <a:p>
            <a:pPr lvl="2"/>
            <a:r>
              <a:rPr lang="en-US" dirty="0"/>
              <a:t>Association: X uses Y</a:t>
            </a:r>
          </a:p>
          <a:p>
            <a:pPr lvl="3"/>
            <a:r>
              <a:rPr lang="en-US" dirty="0"/>
              <a:t>X has a member variable as a reference to Y, or </a:t>
            </a:r>
          </a:p>
          <a:p>
            <a:pPr lvl="3"/>
            <a:r>
              <a:rPr lang="en-US" dirty="0"/>
              <a:t>X calls on Y’s methods</a:t>
            </a:r>
          </a:p>
          <a:p>
            <a:pPr lvl="2"/>
            <a:r>
              <a:rPr lang="en-US" dirty="0"/>
              <a:t>Inheritance: X inherits from Y </a:t>
            </a:r>
          </a:p>
          <a:p>
            <a:pPr lvl="3"/>
            <a:r>
              <a:rPr lang="en-US" dirty="0"/>
              <a:t>X is a direct or indirect subclass of Y </a:t>
            </a:r>
          </a:p>
          <a:p>
            <a:pPr lvl="2"/>
            <a:r>
              <a:rPr lang="en-US" dirty="0"/>
              <a:t>Implementation: X implements Y </a:t>
            </a:r>
          </a:p>
          <a:p>
            <a:pPr lvl="3"/>
            <a:r>
              <a:rPr lang="en-US" dirty="0"/>
              <a:t>Y is an interface and X implements Y </a:t>
            </a:r>
          </a:p>
          <a:p>
            <a:pPr marL="342900" indent="-342900">
              <a:buFont typeface="+mj-lt"/>
              <a:buAutoNum type="arabicPeriod"/>
            </a:pPr>
            <a:endParaRPr lang="en-US" sz="2000" b="1" dirty="0"/>
          </a:p>
        </p:txBody>
      </p:sp>
      <p:sp>
        <p:nvSpPr>
          <p:cNvPr id="4" name="Slide Number Placeholder 3"/>
          <p:cNvSpPr>
            <a:spLocks noGrp="1"/>
          </p:cNvSpPr>
          <p:nvPr>
            <p:ph type="sldNum" sz="quarter" idx="12"/>
          </p:nvPr>
        </p:nvSpPr>
        <p:spPr/>
        <p:txBody>
          <a:bodyPr/>
          <a:lstStyle/>
          <a:p>
            <a:fld id="{9F1A4D64-A005-48D8-BBA4-82C0A2806572}" type="slidenum">
              <a:rPr lang="en-US" smtClean="0"/>
              <a:t>8</a:t>
            </a:fld>
            <a:endParaRPr lang="en-US"/>
          </a:p>
        </p:txBody>
      </p:sp>
      <p:pic>
        <p:nvPicPr>
          <p:cNvPr id="8" name="Picture 7" descr="Generated by PlantUML">
            <a:extLst>
              <a:ext uri="{FF2B5EF4-FFF2-40B4-BE49-F238E27FC236}">
                <a16:creationId xmlns:a16="http://schemas.microsoft.com/office/drawing/2014/main" id="{F9E9488E-9097-4EC2-88F0-D295D3AB766E}"/>
              </a:ext>
            </a:extLst>
          </p:cNvPr>
          <p:cNvPicPr/>
          <p:nvPr/>
        </p:nvPicPr>
        <p:blipFill>
          <a:blip r:embed="rId2">
            <a:extLst>
              <a:ext uri="{28A0092B-C50C-407E-A947-70E740481C1C}">
                <a14:useLocalDpi xmlns:a14="http://schemas.microsoft.com/office/drawing/2010/main" val="0"/>
              </a:ext>
            </a:extLst>
          </a:blip>
          <a:stretch>
            <a:fillRect/>
          </a:stretch>
        </p:blipFill>
        <p:spPr>
          <a:xfrm>
            <a:off x="7670164" y="1293146"/>
            <a:ext cx="4013835" cy="3908774"/>
          </a:xfrm>
          <a:prstGeom prst="rect">
            <a:avLst/>
          </a:prstGeom>
        </p:spPr>
      </p:pic>
    </p:spTree>
    <p:extLst>
      <p:ext uri="{BB962C8B-B14F-4D97-AF65-F5344CB8AC3E}">
        <p14:creationId xmlns:p14="http://schemas.microsoft.com/office/powerpoint/2010/main" val="324756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key concepts</a:t>
            </a:r>
          </a:p>
        </p:txBody>
      </p:sp>
      <p:sp>
        <p:nvSpPr>
          <p:cNvPr id="3" name="Content Placeholder 2"/>
          <p:cNvSpPr>
            <a:spLocks noGrp="1"/>
          </p:cNvSpPr>
          <p:nvPr>
            <p:ph idx="1"/>
          </p:nvPr>
        </p:nvSpPr>
        <p:spPr>
          <a:xfrm>
            <a:off x="751841" y="1183341"/>
            <a:ext cx="5841944" cy="5330670"/>
          </a:xfrm>
        </p:spPr>
        <p:txBody>
          <a:bodyPr>
            <a:normAutofit/>
          </a:bodyPr>
          <a:lstStyle/>
          <a:p>
            <a:pPr marL="457200" indent="-457200">
              <a:buFont typeface="+mj-lt"/>
              <a:buAutoNum type="arabicPeriod" startAt="2"/>
            </a:pPr>
            <a:r>
              <a:rPr lang="en-US" sz="2000" b="1" dirty="0"/>
              <a:t>Cohesion</a:t>
            </a:r>
            <a:r>
              <a:rPr lang="en-US" sz="2000" dirty="0"/>
              <a:t>: </a:t>
            </a:r>
            <a:r>
              <a:rPr lang="en-US" sz="2000" i="1" dirty="0">
                <a:solidFill>
                  <a:srgbClr val="5B9BD5"/>
                </a:solidFill>
              </a:rPr>
              <a:t>focus</a:t>
            </a:r>
          </a:p>
          <a:p>
            <a:pPr lvl="1"/>
            <a:r>
              <a:rPr lang="en-US" sz="2000" dirty="0"/>
              <a:t>measures how functionally related the operations of a software elements are. </a:t>
            </a:r>
          </a:p>
          <a:p>
            <a:pPr lvl="1"/>
            <a:r>
              <a:rPr lang="en-US" sz="2000" dirty="0"/>
              <a:t>measured as </a:t>
            </a:r>
            <a:r>
              <a:rPr lang="en-US" sz="2000" i="1" dirty="0"/>
              <a:t>degree of similarity </a:t>
            </a:r>
            <a:r>
              <a:rPr lang="en-US" sz="2000" dirty="0"/>
              <a:t>of methods.</a:t>
            </a:r>
          </a:p>
          <a:p>
            <a:pPr marL="342900" indent="-342900">
              <a:buFont typeface="+mj-lt"/>
              <a:buAutoNum type="arabicPeriod" startAt="2"/>
            </a:pPr>
            <a:endParaRPr lang="en-US" sz="2000" b="1" dirty="0"/>
          </a:p>
          <a:p>
            <a:pPr marL="342900" indent="-342900">
              <a:buFont typeface="+mj-lt"/>
              <a:buAutoNum type="arabicPeriod" startAt="2"/>
            </a:pPr>
            <a:endParaRPr lang="en-US" sz="2000" b="1" dirty="0"/>
          </a:p>
          <a:p>
            <a:pPr marL="342900" indent="-342900">
              <a:buFont typeface="+mj-lt"/>
              <a:buAutoNum type="arabicPeriod" startAt="2"/>
            </a:pPr>
            <a:endParaRPr lang="en-US" sz="2000" b="1" dirty="0"/>
          </a:p>
          <a:p>
            <a:pPr marL="342900" indent="-342900">
              <a:buFont typeface="+mj-lt"/>
              <a:buAutoNum type="arabicPeriod" startAt="2"/>
            </a:pPr>
            <a:endParaRPr lang="en-US" sz="2000" b="1" dirty="0"/>
          </a:p>
          <a:p>
            <a:pPr marL="342900" indent="-342900">
              <a:buFont typeface="+mj-lt"/>
              <a:buAutoNum type="arabicPeriod" startAt="2"/>
            </a:pPr>
            <a:endParaRPr lang="en-US" sz="2000" b="1" dirty="0"/>
          </a:p>
          <a:p>
            <a:pPr marL="342900" indent="-342900">
              <a:buFont typeface="+mj-lt"/>
              <a:buAutoNum type="arabicPeriod" startAt="2"/>
            </a:pPr>
            <a:r>
              <a:rPr lang="en-US" sz="2000" b="1" dirty="0"/>
              <a:t>Modularity</a:t>
            </a:r>
          </a:p>
          <a:p>
            <a:pPr lvl="2"/>
            <a:r>
              <a:rPr lang="en-US" dirty="0"/>
              <a:t>Property of a system that has been decomposed into a set of </a:t>
            </a:r>
            <a:r>
              <a:rPr lang="en-US" u="sng" dirty="0"/>
              <a:t>highly cohesive </a:t>
            </a:r>
            <a:r>
              <a:rPr lang="en-US" dirty="0"/>
              <a:t>and </a:t>
            </a:r>
            <a:r>
              <a:rPr lang="en-US" u="sng" dirty="0"/>
              <a:t>loosely coupled</a:t>
            </a:r>
            <a:r>
              <a:rPr lang="en-US" dirty="0"/>
              <a:t> modules. </a:t>
            </a:r>
          </a:p>
        </p:txBody>
      </p:sp>
      <p:sp>
        <p:nvSpPr>
          <p:cNvPr id="4" name="Slide Number Placeholder 3"/>
          <p:cNvSpPr>
            <a:spLocks noGrp="1"/>
          </p:cNvSpPr>
          <p:nvPr>
            <p:ph type="sldNum" sz="quarter" idx="12"/>
          </p:nvPr>
        </p:nvSpPr>
        <p:spPr/>
        <p:txBody>
          <a:bodyPr/>
          <a:lstStyle/>
          <a:p>
            <a:fld id="{9F1A4D64-A005-48D8-BBA4-82C0A2806572}" type="slidenum">
              <a:rPr lang="en-US" smtClean="0"/>
              <a:t>9</a:t>
            </a:fld>
            <a:endParaRPr lang="en-US"/>
          </a:p>
        </p:txBody>
      </p:sp>
      <p:pic>
        <p:nvPicPr>
          <p:cNvPr id="9" name="Picture 8" descr="Generated by PlantUML">
            <a:extLst>
              <a:ext uri="{FF2B5EF4-FFF2-40B4-BE49-F238E27FC236}">
                <a16:creationId xmlns:a16="http://schemas.microsoft.com/office/drawing/2014/main" id="{8967E73C-9EF5-4B59-978D-22A4F8A07E23}"/>
              </a:ext>
            </a:extLst>
          </p:cNvPr>
          <p:cNvPicPr/>
          <p:nvPr/>
        </p:nvPicPr>
        <p:blipFill>
          <a:blip r:embed="rId2">
            <a:extLst>
              <a:ext uri="{28A0092B-C50C-407E-A947-70E740481C1C}">
                <a14:useLocalDpi xmlns:a14="http://schemas.microsoft.com/office/drawing/2010/main" val="0"/>
              </a:ext>
            </a:extLst>
          </a:blip>
          <a:stretch>
            <a:fillRect/>
          </a:stretch>
        </p:blipFill>
        <p:spPr>
          <a:xfrm>
            <a:off x="7383146" y="4133728"/>
            <a:ext cx="3440430" cy="2380283"/>
          </a:xfrm>
          <a:prstGeom prst="rect">
            <a:avLst/>
          </a:prstGeom>
        </p:spPr>
      </p:pic>
      <p:pic>
        <p:nvPicPr>
          <p:cNvPr id="7" name="Picture 6" descr="Generated by PlantUML">
            <a:extLst>
              <a:ext uri="{FF2B5EF4-FFF2-40B4-BE49-F238E27FC236}">
                <a16:creationId xmlns:a16="http://schemas.microsoft.com/office/drawing/2014/main" id="{DF2B9865-6032-4C57-997E-2573FED42645}"/>
              </a:ext>
            </a:extLst>
          </p:cNvPr>
          <p:cNvPicPr/>
          <p:nvPr/>
        </p:nvPicPr>
        <p:blipFill>
          <a:blip r:embed="rId3">
            <a:extLst>
              <a:ext uri="{28A0092B-C50C-407E-A947-70E740481C1C}">
                <a14:useLocalDpi xmlns:a14="http://schemas.microsoft.com/office/drawing/2010/main" val="0"/>
              </a:ext>
            </a:extLst>
          </a:blip>
          <a:stretch>
            <a:fillRect/>
          </a:stretch>
        </p:blipFill>
        <p:spPr>
          <a:xfrm>
            <a:off x="7124008" y="508000"/>
            <a:ext cx="3705918" cy="3215930"/>
          </a:xfrm>
          <a:prstGeom prst="rect">
            <a:avLst/>
          </a:prstGeom>
        </p:spPr>
      </p:pic>
    </p:spTree>
    <p:extLst>
      <p:ext uri="{BB962C8B-B14F-4D97-AF65-F5344CB8AC3E}">
        <p14:creationId xmlns:p14="http://schemas.microsoft.com/office/powerpoint/2010/main" val="2802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Implications of coupling and cohesion</a:t>
            </a:r>
          </a:p>
        </p:txBody>
      </p:sp>
      <p:sp>
        <p:nvSpPr>
          <p:cNvPr id="3" name="Content Placeholder 2"/>
          <p:cNvSpPr>
            <a:spLocks noGrp="1"/>
          </p:cNvSpPr>
          <p:nvPr>
            <p:ph idx="1"/>
          </p:nvPr>
        </p:nvSpPr>
        <p:spPr>
          <a:xfrm>
            <a:off x="1056640" y="795130"/>
            <a:ext cx="9519920" cy="6062870"/>
          </a:xfrm>
        </p:spPr>
        <p:txBody>
          <a:bodyPr>
            <a:noAutofit/>
          </a:bodyPr>
          <a:lstStyle/>
          <a:p>
            <a:endParaRPr lang="en-US" sz="1800" dirty="0"/>
          </a:p>
          <a:p>
            <a:r>
              <a:rPr lang="en-US" sz="1800" dirty="0"/>
              <a:t>High coupling </a:t>
            </a:r>
          </a:p>
          <a:p>
            <a:pPr lvl="1"/>
            <a:r>
              <a:rPr lang="en-US" sz="1800" dirty="0"/>
              <a:t>detrimental to modular design and prevents reuse </a:t>
            </a:r>
          </a:p>
          <a:p>
            <a:pPr lvl="1"/>
            <a:r>
              <a:rPr lang="en-US" sz="1800" dirty="0"/>
              <a:t>makes one part of software sensitive to changes in other parts and therefore maintenance is more difficult</a:t>
            </a:r>
          </a:p>
          <a:p>
            <a:pPr lvl="1"/>
            <a:r>
              <a:rPr lang="en-US" sz="1800" dirty="0"/>
              <a:t>requires more rigorous testing </a:t>
            </a:r>
          </a:p>
          <a:p>
            <a:r>
              <a:rPr lang="en-US" sz="1800" dirty="0"/>
              <a:t>Low Cohesion</a:t>
            </a:r>
          </a:p>
          <a:p>
            <a:pPr lvl="1"/>
            <a:r>
              <a:rPr lang="en-US" sz="1800" dirty="0"/>
              <a:t>Increases complexity, thereby increasing the likelihood of errors during the development process</a:t>
            </a:r>
          </a:p>
          <a:p>
            <a:endParaRPr lang="en-US" sz="1800" dirty="0"/>
          </a:p>
          <a:p>
            <a:pPr marL="0" indent="0">
              <a:buNone/>
            </a:pPr>
            <a:r>
              <a:rPr lang="en-US" sz="1800" dirty="0"/>
              <a:t>Some thumb rules</a:t>
            </a:r>
          </a:p>
          <a:p>
            <a:pPr lvl="1"/>
            <a:r>
              <a:rPr lang="en-US" sz="1800" dirty="0"/>
              <a:t>A moderate degree of coupling between classes is normal and necessary for creating OO systems</a:t>
            </a:r>
          </a:p>
          <a:p>
            <a:pPr lvl="1"/>
            <a:r>
              <a:rPr lang="en-US" sz="1800" dirty="0"/>
              <a:t>High coupling to stable elements is seldom a problem (e.g. library classes)</a:t>
            </a:r>
          </a:p>
          <a:p>
            <a:pPr lvl="1"/>
            <a:r>
              <a:rPr lang="en-US" sz="1800" dirty="0"/>
              <a:t>A class with high cohesion has a relatively small number of methods with highly related functionality</a:t>
            </a:r>
          </a:p>
          <a:p>
            <a:pPr lvl="1"/>
            <a:r>
              <a:rPr lang="en-US" sz="1800" dirty="0"/>
              <a:t>Low coupling and high cohesion increases reuse potential</a:t>
            </a:r>
          </a:p>
          <a:p>
            <a:pPr lvl="1"/>
            <a:r>
              <a:rPr lang="en-US" sz="1800" dirty="0"/>
              <a:t>Often low cohesion causes high coupling and vice-versa</a:t>
            </a:r>
          </a:p>
        </p:txBody>
      </p:sp>
      <p:sp>
        <p:nvSpPr>
          <p:cNvPr id="4" name="Slide Number Placeholder 3"/>
          <p:cNvSpPr>
            <a:spLocks noGrp="1"/>
          </p:cNvSpPr>
          <p:nvPr>
            <p:ph type="sldNum" sz="quarter" idx="12"/>
          </p:nvPr>
        </p:nvSpPr>
        <p:spPr/>
        <p:txBody>
          <a:bodyPr/>
          <a:lstStyle/>
          <a:p>
            <a:fld id="{9F1A4D64-A005-48D8-BBA4-82C0A2806572}" type="slidenum">
              <a:rPr lang="en-US" smtClean="0"/>
              <a:t>10</a:t>
            </a:fld>
            <a:endParaRPr lang="en-US"/>
          </a:p>
        </p:txBody>
      </p:sp>
    </p:spTree>
    <p:extLst>
      <p:ext uri="{BB962C8B-B14F-4D97-AF65-F5344CB8AC3E}">
        <p14:creationId xmlns:p14="http://schemas.microsoft.com/office/powerpoint/2010/main" val="136851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Mechanisms</a:t>
            </a:r>
          </a:p>
        </p:txBody>
      </p:sp>
      <p:sp>
        <p:nvSpPr>
          <p:cNvPr id="3" name="Content Placeholder 2"/>
          <p:cNvSpPr>
            <a:spLocks noGrp="1"/>
          </p:cNvSpPr>
          <p:nvPr>
            <p:ph idx="1"/>
          </p:nvPr>
        </p:nvSpPr>
        <p:spPr>
          <a:xfrm>
            <a:off x="742244" y="1602670"/>
            <a:ext cx="10188992" cy="3327982"/>
          </a:xfrm>
        </p:spPr>
        <p:txBody>
          <a:bodyPr>
            <a:noAutofit/>
          </a:bodyPr>
          <a:lstStyle/>
          <a:p>
            <a:r>
              <a:rPr lang="en-US" sz="1800" dirty="0">
                <a:solidFill>
                  <a:srgbClr val="0070C0"/>
                </a:solidFill>
              </a:rPr>
              <a:t>White-box reuse</a:t>
            </a:r>
            <a:r>
              <a:rPr lang="en-US" sz="1800" dirty="0"/>
              <a:t>: class inheritance (breaks encapsulation)</a:t>
            </a:r>
          </a:p>
          <a:p>
            <a:pPr lvl="1"/>
            <a:r>
              <a:rPr lang="en-US" sz="1800" dirty="0"/>
              <a:t>Defined statically at compile time </a:t>
            </a:r>
          </a:p>
          <a:p>
            <a:pPr lvl="1"/>
            <a:r>
              <a:rPr lang="en-US" sz="1800" dirty="0"/>
              <a:t>Allows modifying the implementation being reused by sub-classing and overriding </a:t>
            </a:r>
          </a:p>
          <a:p>
            <a:endParaRPr lang="en-US" sz="1800" dirty="0">
              <a:solidFill>
                <a:srgbClr val="0070C0"/>
              </a:solidFill>
            </a:endParaRPr>
          </a:p>
          <a:p>
            <a:r>
              <a:rPr lang="en-US" sz="1800" dirty="0">
                <a:solidFill>
                  <a:srgbClr val="0070C0"/>
                </a:solidFill>
              </a:rPr>
              <a:t>Black-box reuse</a:t>
            </a:r>
            <a:r>
              <a:rPr lang="en-US" sz="1800" dirty="0"/>
              <a:t>: object composition</a:t>
            </a:r>
          </a:p>
          <a:p>
            <a:pPr lvl="1"/>
            <a:r>
              <a:rPr lang="en-US" sz="1800" dirty="0"/>
              <a:t>Defined dynamically at run time through objects acquiring references to other objects</a:t>
            </a:r>
          </a:p>
          <a:p>
            <a:pPr lvl="2"/>
            <a:r>
              <a:rPr lang="en-US" sz="1800" dirty="0"/>
              <a:t>New functionality is obtained by assembling or ‘composing’ objects to get more complex functionality.</a:t>
            </a:r>
          </a:p>
          <a:p>
            <a:pPr lvl="2"/>
            <a:r>
              <a:rPr lang="en-US" sz="1800" dirty="0"/>
              <a:t>Requires carefully designed interfaces. Any object can be replaced at run-time as long as it has the same ‘interface’.  </a:t>
            </a:r>
          </a:p>
          <a:p>
            <a:pPr lvl="1"/>
            <a:endParaRPr lang="en-US" sz="1800" dirty="0"/>
          </a:p>
        </p:txBody>
      </p:sp>
      <p:sp>
        <p:nvSpPr>
          <p:cNvPr id="7" name="Slide Number Placeholder 6"/>
          <p:cNvSpPr>
            <a:spLocks noGrp="1"/>
          </p:cNvSpPr>
          <p:nvPr>
            <p:ph type="sldNum" sz="quarter" idx="12"/>
          </p:nvPr>
        </p:nvSpPr>
        <p:spPr/>
        <p:txBody>
          <a:bodyPr/>
          <a:lstStyle/>
          <a:p>
            <a:fld id="{9F1A4D64-A005-48D8-BBA4-82C0A2806572}" type="slidenum">
              <a:rPr lang="en-US" smtClean="0"/>
              <a:t>11</a:t>
            </a:fld>
            <a:endParaRPr lang="en-US"/>
          </a:p>
        </p:txBody>
      </p:sp>
    </p:spTree>
    <p:extLst>
      <p:ext uri="{BB962C8B-B14F-4D97-AF65-F5344CB8AC3E}">
        <p14:creationId xmlns:p14="http://schemas.microsoft.com/office/powerpoint/2010/main" val="66151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Mechanisms</a:t>
            </a:r>
          </a:p>
        </p:txBody>
      </p:sp>
      <p:sp>
        <p:nvSpPr>
          <p:cNvPr id="5" name="Rounded Rectangular Callout 4"/>
          <p:cNvSpPr/>
          <p:nvPr/>
        </p:nvSpPr>
        <p:spPr>
          <a:xfrm>
            <a:off x="2253706" y="1219132"/>
            <a:ext cx="8270208" cy="975699"/>
          </a:xfrm>
          <a:prstGeom prst="wedgeRoundRectCallout">
            <a:avLst>
              <a:gd name="adj1" fmla="val 6668"/>
              <a:gd name="adj2" fmla="val 102855"/>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solidFill>
                  <a:schemeClr val="tx1"/>
                </a:solidFill>
              </a:rPr>
              <a:t>Window class keeps a reference to an instance of another class – Shape. </a:t>
            </a:r>
          </a:p>
          <a:p>
            <a:pPr marL="285750" indent="-285750">
              <a:buFont typeface="Arial" panose="020B0604020202020204" pitchFamily="34" charset="0"/>
              <a:buChar char="•"/>
            </a:pPr>
            <a:r>
              <a:rPr lang="en-US" sz="1600" dirty="0">
                <a:solidFill>
                  <a:schemeClr val="tx1"/>
                </a:solidFill>
              </a:rPr>
              <a:t>It delegates its ‘operations’ such as Area() to the Rectangle instance. </a:t>
            </a:r>
          </a:p>
          <a:p>
            <a:pPr marL="285750" indent="-285750">
              <a:buFont typeface="Arial" panose="020B0604020202020204" pitchFamily="34" charset="0"/>
              <a:buChar char="•"/>
            </a:pPr>
            <a:r>
              <a:rPr lang="en-US" sz="1600" dirty="0">
                <a:solidFill>
                  <a:schemeClr val="tx1"/>
                </a:solidFill>
              </a:rPr>
              <a:t>Rectangle object can be replaced with Circle at run time and Window will become circular</a:t>
            </a:r>
          </a:p>
        </p:txBody>
      </p:sp>
      <p:sp>
        <p:nvSpPr>
          <p:cNvPr id="3" name="Content Placeholder 2"/>
          <p:cNvSpPr>
            <a:spLocks noGrp="1"/>
          </p:cNvSpPr>
          <p:nvPr>
            <p:ph idx="1"/>
          </p:nvPr>
        </p:nvSpPr>
        <p:spPr>
          <a:xfrm>
            <a:off x="1147368" y="4794766"/>
            <a:ext cx="9552741" cy="1511684"/>
          </a:xfrm>
        </p:spPr>
        <p:txBody>
          <a:bodyPr>
            <a:noAutofit/>
          </a:bodyPr>
          <a:lstStyle/>
          <a:p>
            <a:r>
              <a:rPr lang="en-US" sz="1600" dirty="0">
                <a:solidFill>
                  <a:srgbClr val="0070C0"/>
                </a:solidFill>
              </a:rPr>
              <a:t>Favor object composition over class inheritance</a:t>
            </a:r>
          </a:p>
          <a:p>
            <a:pPr lvl="1"/>
            <a:r>
              <a:rPr lang="en-US" sz="1600" dirty="0">
                <a:solidFill>
                  <a:srgbClr val="0070C0"/>
                </a:solidFill>
              </a:rPr>
              <a:t>Delegation</a:t>
            </a:r>
            <a:r>
              <a:rPr lang="en-US" sz="1600" dirty="0"/>
              <a:t>: a way of making composition as powerful for reuse as inheritance</a:t>
            </a:r>
          </a:p>
          <a:p>
            <a:pPr lvl="2"/>
            <a:r>
              <a:rPr lang="en-US" sz="1600" dirty="0"/>
              <a:t>Extreme example of object composition</a:t>
            </a:r>
          </a:p>
          <a:p>
            <a:pPr lvl="2"/>
            <a:r>
              <a:rPr lang="en-US" sz="1600" dirty="0"/>
              <a:t>Two objects involved in handling a request: A receiving object delegates operations to its delegate</a:t>
            </a:r>
          </a:p>
          <a:p>
            <a:r>
              <a:rPr lang="en-US" sz="1600" dirty="0">
                <a:solidFill>
                  <a:srgbClr val="0070C0"/>
                </a:solidFill>
              </a:rPr>
              <a:t>Program to an interface, not an implementation: </a:t>
            </a:r>
            <a:r>
              <a:rPr lang="en-US" sz="1600" dirty="0"/>
              <a:t>Don’t declare variables to be instances of concrete classes</a:t>
            </a:r>
          </a:p>
        </p:txBody>
      </p:sp>
      <p:sp>
        <p:nvSpPr>
          <p:cNvPr id="7" name="Slide Number Placeholder 6"/>
          <p:cNvSpPr>
            <a:spLocks noGrp="1"/>
          </p:cNvSpPr>
          <p:nvPr>
            <p:ph type="sldNum" sz="quarter" idx="12"/>
          </p:nvPr>
        </p:nvSpPr>
        <p:spPr/>
        <p:txBody>
          <a:bodyPr/>
          <a:lstStyle/>
          <a:p>
            <a:fld id="{9F1A4D64-A005-48D8-BBA4-82C0A2806572}" type="slidenum">
              <a:rPr lang="en-US" smtClean="0"/>
              <a:t>12</a:t>
            </a:fld>
            <a:endParaRPr lang="en-US"/>
          </a:p>
        </p:txBody>
      </p:sp>
      <p:grpSp>
        <p:nvGrpSpPr>
          <p:cNvPr id="26" name="Group 25">
            <a:extLst>
              <a:ext uri="{FF2B5EF4-FFF2-40B4-BE49-F238E27FC236}">
                <a16:creationId xmlns:a16="http://schemas.microsoft.com/office/drawing/2014/main" id="{5132C8EA-C2F7-4A90-AA62-7AFF10194BFC}"/>
              </a:ext>
            </a:extLst>
          </p:cNvPr>
          <p:cNvGrpSpPr/>
          <p:nvPr/>
        </p:nvGrpSpPr>
        <p:grpSpPr>
          <a:xfrm>
            <a:off x="1857715" y="2639382"/>
            <a:ext cx="1832938" cy="1693729"/>
            <a:chOff x="743809" y="1333173"/>
            <a:chExt cx="1832938" cy="1693729"/>
          </a:xfrm>
        </p:grpSpPr>
        <p:sp>
          <p:nvSpPr>
            <p:cNvPr id="8" name="Rectangle 7">
              <a:extLst>
                <a:ext uri="{FF2B5EF4-FFF2-40B4-BE49-F238E27FC236}">
                  <a16:creationId xmlns:a16="http://schemas.microsoft.com/office/drawing/2014/main" id="{78621A4A-039E-4203-836F-EA677D1E1CCB}"/>
                </a:ext>
              </a:extLst>
            </p:cNvPr>
            <p:cNvSpPr/>
            <p:nvPr/>
          </p:nvSpPr>
          <p:spPr>
            <a:xfrm>
              <a:off x="1065919" y="2652829"/>
              <a:ext cx="1188720" cy="3740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Window</a:t>
              </a:r>
            </a:p>
          </p:txBody>
        </p:sp>
        <p:sp>
          <p:nvSpPr>
            <p:cNvPr id="9" name="Rectangle 8">
              <a:extLst>
                <a:ext uri="{FF2B5EF4-FFF2-40B4-BE49-F238E27FC236}">
                  <a16:creationId xmlns:a16="http://schemas.microsoft.com/office/drawing/2014/main" id="{B8CB75A6-09AF-473F-9B2C-3104E53E54E4}"/>
                </a:ext>
              </a:extLst>
            </p:cNvPr>
            <p:cNvSpPr/>
            <p:nvPr/>
          </p:nvSpPr>
          <p:spPr>
            <a:xfrm>
              <a:off x="1065919" y="1682434"/>
              <a:ext cx="1188720" cy="3740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Rectangle</a:t>
              </a:r>
            </a:p>
          </p:txBody>
        </p:sp>
        <p:sp>
          <p:nvSpPr>
            <p:cNvPr id="12" name="Isosceles Triangle 11">
              <a:extLst>
                <a:ext uri="{FF2B5EF4-FFF2-40B4-BE49-F238E27FC236}">
                  <a16:creationId xmlns:a16="http://schemas.microsoft.com/office/drawing/2014/main" id="{20D3352D-FF23-47DB-8F1A-D487DCD37F79}"/>
                </a:ext>
              </a:extLst>
            </p:cNvPr>
            <p:cNvSpPr/>
            <p:nvPr/>
          </p:nvSpPr>
          <p:spPr>
            <a:xfrm>
              <a:off x="1578458" y="2091529"/>
              <a:ext cx="163641" cy="179109"/>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986C6CF0-F86C-416D-8C19-CCC36B0588F4}"/>
                </a:ext>
              </a:extLst>
            </p:cNvPr>
            <p:cNvCxnSpPr>
              <a:stCxn id="12" idx="3"/>
              <a:endCxn id="8" idx="0"/>
            </p:cNvCxnSpPr>
            <p:nvPr/>
          </p:nvCxnSpPr>
          <p:spPr>
            <a:xfrm>
              <a:off x="1660279" y="2270638"/>
              <a:ext cx="0" cy="382191"/>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F28BA83-6476-4C1F-85A1-5E0522A1AF2D}"/>
                </a:ext>
              </a:extLst>
            </p:cNvPr>
            <p:cNvSpPr txBox="1"/>
            <p:nvPr/>
          </p:nvSpPr>
          <p:spPr>
            <a:xfrm>
              <a:off x="743809" y="1333173"/>
              <a:ext cx="1832938" cy="307777"/>
            </a:xfrm>
            <a:prstGeom prst="rect">
              <a:avLst/>
            </a:prstGeom>
            <a:noFill/>
          </p:spPr>
          <p:txBody>
            <a:bodyPr wrap="none" rtlCol="0">
              <a:spAutoFit/>
            </a:bodyPr>
            <a:lstStyle/>
            <a:p>
              <a:r>
                <a:rPr lang="en-US" sz="1400" dirty="0"/>
                <a:t>Window is a Rectangle</a:t>
              </a:r>
            </a:p>
          </p:txBody>
        </p:sp>
      </p:grpSp>
      <p:grpSp>
        <p:nvGrpSpPr>
          <p:cNvPr id="27" name="Group 26">
            <a:extLst>
              <a:ext uri="{FF2B5EF4-FFF2-40B4-BE49-F238E27FC236}">
                <a16:creationId xmlns:a16="http://schemas.microsoft.com/office/drawing/2014/main" id="{136986A9-3345-4934-8C1E-3B046709B7C4}"/>
              </a:ext>
            </a:extLst>
          </p:cNvPr>
          <p:cNvGrpSpPr/>
          <p:nvPr/>
        </p:nvGrpSpPr>
        <p:grpSpPr>
          <a:xfrm>
            <a:off x="5720619" y="2726557"/>
            <a:ext cx="2889981" cy="1700580"/>
            <a:chOff x="3206019" y="1364812"/>
            <a:chExt cx="2889981" cy="1700580"/>
          </a:xfrm>
        </p:grpSpPr>
        <p:sp>
          <p:nvSpPr>
            <p:cNvPr id="15" name="Rectangle 14">
              <a:extLst>
                <a:ext uri="{FF2B5EF4-FFF2-40B4-BE49-F238E27FC236}">
                  <a16:creationId xmlns:a16="http://schemas.microsoft.com/office/drawing/2014/main" id="{42CECB71-DA77-4C15-A76B-A0ADC7975ED4}"/>
                </a:ext>
              </a:extLst>
            </p:cNvPr>
            <p:cNvSpPr/>
            <p:nvPr/>
          </p:nvSpPr>
          <p:spPr>
            <a:xfrm>
              <a:off x="3206019" y="1698602"/>
              <a:ext cx="1188720" cy="3740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Window</a:t>
              </a:r>
            </a:p>
          </p:txBody>
        </p:sp>
        <p:sp>
          <p:nvSpPr>
            <p:cNvPr id="16" name="Rectangle 15">
              <a:extLst>
                <a:ext uri="{FF2B5EF4-FFF2-40B4-BE49-F238E27FC236}">
                  <a16:creationId xmlns:a16="http://schemas.microsoft.com/office/drawing/2014/main" id="{D22280E4-4B94-4296-8ABC-9B815B553B89}"/>
                </a:ext>
              </a:extLst>
            </p:cNvPr>
            <p:cNvSpPr/>
            <p:nvPr/>
          </p:nvSpPr>
          <p:spPr>
            <a:xfrm>
              <a:off x="4907280" y="2691319"/>
              <a:ext cx="1188720" cy="3740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Rectangle</a:t>
              </a:r>
            </a:p>
          </p:txBody>
        </p:sp>
        <p:sp>
          <p:nvSpPr>
            <p:cNvPr id="17" name="Isosceles Triangle 16">
              <a:extLst>
                <a:ext uri="{FF2B5EF4-FFF2-40B4-BE49-F238E27FC236}">
                  <a16:creationId xmlns:a16="http://schemas.microsoft.com/office/drawing/2014/main" id="{B584A05E-E54C-48DC-B6E1-F721C154272E}"/>
                </a:ext>
              </a:extLst>
            </p:cNvPr>
            <p:cNvSpPr/>
            <p:nvPr/>
          </p:nvSpPr>
          <p:spPr>
            <a:xfrm>
              <a:off x="5430812" y="2101458"/>
              <a:ext cx="163641" cy="179109"/>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2CB437A5-EAC2-4BD4-AAD2-B7E83F7B546F}"/>
                </a:ext>
              </a:extLst>
            </p:cNvPr>
            <p:cNvCxnSpPr>
              <a:cxnSpLocks/>
              <a:stCxn id="17" idx="3"/>
              <a:endCxn id="16" idx="0"/>
            </p:cNvCxnSpPr>
            <p:nvPr/>
          </p:nvCxnSpPr>
          <p:spPr>
            <a:xfrm flipH="1">
              <a:off x="5501640" y="2280567"/>
              <a:ext cx="10993" cy="410752"/>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E22286B-8367-421B-BB11-DA179DCEBCF4}"/>
                </a:ext>
              </a:extLst>
            </p:cNvPr>
            <p:cNvSpPr/>
            <p:nvPr/>
          </p:nvSpPr>
          <p:spPr>
            <a:xfrm>
              <a:off x="4907280" y="1717456"/>
              <a:ext cx="1188720" cy="3740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Shape</a:t>
              </a:r>
            </a:p>
          </p:txBody>
        </p:sp>
        <p:sp>
          <p:nvSpPr>
            <p:cNvPr id="20" name="Flowchart: Decision 19">
              <a:extLst>
                <a:ext uri="{FF2B5EF4-FFF2-40B4-BE49-F238E27FC236}">
                  <a16:creationId xmlns:a16="http://schemas.microsoft.com/office/drawing/2014/main" id="{E9945E8D-45F3-418B-BFEA-A7199FBB4FD5}"/>
                </a:ext>
              </a:extLst>
            </p:cNvPr>
            <p:cNvSpPr/>
            <p:nvPr/>
          </p:nvSpPr>
          <p:spPr>
            <a:xfrm>
              <a:off x="4394739" y="1836350"/>
              <a:ext cx="238369" cy="131975"/>
            </a:xfrm>
            <a:prstGeom prst="flowChartDecision">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22" name="Straight Connector 21">
              <a:extLst>
                <a:ext uri="{FF2B5EF4-FFF2-40B4-BE49-F238E27FC236}">
                  <a16:creationId xmlns:a16="http://schemas.microsoft.com/office/drawing/2014/main" id="{9D6F02F5-4E33-48CB-8D3C-E33A9EA88F7B}"/>
                </a:ext>
              </a:extLst>
            </p:cNvPr>
            <p:cNvCxnSpPr>
              <a:stCxn id="20" idx="3"/>
              <a:endCxn id="19" idx="1"/>
            </p:cNvCxnSpPr>
            <p:nvPr/>
          </p:nvCxnSpPr>
          <p:spPr>
            <a:xfrm>
              <a:off x="4633108" y="1902338"/>
              <a:ext cx="274172" cy="2155"/>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45978C9-90DA-41F3-A7A2-949A29AB67BB}"/>
                </a:ext>
              </a:extLst>
            </p:cNvPr>
            <p:cNvSpPr txBox="1"/>
            <p:nvPr/>
          </p:nvSpPr>
          <p:spPr>
            <a:xfrm>
              <a:off x="3747118" y="1364812"/>
              <a:ext cx="1703608" cy="307777"/>
            </a:xfrm>
            <a:prstGeom prst="rect">
              <a:avLst/>
            </a:prstGeom>
            <a:noFill/>
          </p:spPr>
          <p:txBody>
            <a:bodyPr wrap="none" rtlCol="0">
              <a:spAutoFit/>
            </a:bodyPr>
            <a:lstStyle/>
            <a:p>
              <a:r>
                <a:rPr lang="en-US" sz="1400" dirty="0"/>
                <a:t>Window has a Shape</a:t>
              </a:r>
            </a:p>
          </p:txBody>
        </p:sp>
      </p:grpSp>
    </p:spTree>
    <p:extLst>
      <p:ext uri="{BB962C8B-B14F-4D97-AF65-F5344CB8AC3E}">
        <p14:creationId xmlns:p14="http://schemas.microsoft.com/office/powerpoint/2010/main" val="384624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07827" y="280193"/>
            <a:ext cx="11750675" cy="442913"/>
          </a:xfrm>
        </p:spPr>
        <p:txBody>
          <a:bodyPr>
            <a:normAutofit fontScale="90000"/>
          </a:bodyPr>
          <a:lstStyle/>
          <a:p>
            <a:r>
              <a:rPr lang="en-US" dirty="0"/>
              <a:t>Design Pattern Relationships</a:t>
            </a:r>
          </a:p>
        </p:txBody>
      </p:sp>
      <p:pic>
        <p:nvPicPr>
          <p:cNvPr id="5" name="Picture 4"/>
          <p:cNvPicPr>
            <a:picLocks noChangeAspect="1"/>
          </p:cNvPicPr>
          <p:nvPr/>
        </p:nvPicPr>
        <p:blipFill>
          <a:blip r:embed="rId3"/>
          <a:stretch>
            <a:fillRect/>
          </a:stretch>
        </p:blipFill>
        <p:spPr>
          <a:xfrm>
            <a:off x="3581401" y="839308"/>
            <a:ext cx="4825972" cy="5517042"/>
          </a:xfrm>
          <a:prstGeom prst="rect">
            <a:avLst/>
          </a:prstGeom>
        </p:spPr>
      </p:pic>
      <p:sp>
        <p:nvSpPr>
          <p:cNvPr id="10" name="TextBox 9"/>
          <p:cNvSpPr txBox="1"/>
          <p:nvPr/>
        </p:nvSpPr>
        <p:spPr>
          <a:xfrm>
            <a:off x="5807129" y="6488668"/>
            <a:ext cx="1312988" cy="369332"/>
          </a:xfrm>
          <a:prstGeom prst="rect">
            <a:avLst/>
          </a:prstGeom>
          <a:noFill/>
        </p:spPr>
        <p:txBody>
          <a:bodyPr wrap="none" rtlCol="0">
            <a:spAutoFit/>
          </a:bodyPr>
          <a:lstStyle/>
          <a:p>
            <a:r>
              <a:rPr lang="en-US" dirty="0"/>
              <a:t>Source: </a:t>
            </a:r>
            <a:r>
              <a:rPr lang="en-US" dirty="0" err="1"/>
              <a:t>GoF</a:t>
            </a:r>
            <a:endParaRPr lang="en-US" dirty="0"/>
          </a:p>
        </p:txBody>
      </p:sp>
      <p:sp>
        <p:nvSpPr>
          <p:cNvPr id="3" name="Slide Number Placeholder 2"/>
          <p:cNvSpPr>
            <a:spLocks noGrp="1"/>
          </p:cNvSpPr>
          <p:nvPr>
            <p:ph type="sldNum" sz="quarter" idx="12"/>
          </p:nvPr>
        </p:nvSpPr>
        <p:spPr/>
        <p:txBody>
          <a:bodyPr/>
          <a:lstStyle/>
          <a:p>
            <a:fld id="{9F1A4D64-A005-48D8-BBA4-82C0A2806572}" type="slidenum">
              <a:rPr lang="en-US" smtClean="0"/>
              <a:t>13</a:t>
            </a:fld>
            <a:endParaRPr lang="en-US"/>
          </a:p>
        </p:txBody>
      </p:sp>
    </p:spTree>
    <p:extLst>
      <p:ext uri="{BB962C8B-B14F-4D97-AF65-F5344CB8AC3E}">
        <p14:creationId xmlns:p14="http://schemas.microsoft.com/office/powerpoint/2010/main" val="3152182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Strategy Pattern </a:t>
            </a:r>
          </a:p>
        </p:txBody>
      </p:sp>
      <p:sp>
        <p:nvSpPr>
          <p:cNvPr id="3" name="Content Placeholder 2"/>
          <p:cNvSpPr>
            <a:spLocks noGrp="1"/>
          </p:cNvSpPr>
          <p:nvPr>
            <p:ph idx="1"/>
          </p:nvPr>
        </p:nvSpPr>
        <p:spPr>
          <a:xfrm>
            <a:off x="588997" y="861391"/>
            <a:ext cx="4656333" cy="5315572"/>
          </a:xfrm>
        </p:spPr>
        <p:txBody>
          <a:bodyPr>
            <a:normAutofit lnSpcReduction="10000"/>
          </a:bodyPr>
          <a:lstStyle/>
          <a:p>
            <a:r>
              <a:rPr lang="en-US" sz="1800" dirty="0"/>
              <a:t>Problem: Varying behavior across inheritance tree</a:t>
            </a:r>
          </a:p>
          <a:p>
            <a:r>
              <a:rPr lang="en-US" sz="1800" dirty="0"/>
              <a:t>Pattern Intent</a:t>
            </a:r>
          </a:p>
          <a:p>
            <a:pPr lvl="1"/>
            <a:r>
              <a:rPr lang="en-US" sz="1800" dirty="0"/>
              <a:t>Define a family of algorithms, encapsulate each one, and make them interchangeable. Strategy </a:t>
            </a:r>
            <a:r>
              <a:rPr lang="en-US" sz="1800" u="sng" dirty="0"/>
              <a:t>lets the algorithm vary independently </a:t>
            </a:r>
            <a:r>
              <a:rPr lang="en-US" sz="1800" dirty="0"/>
              <a:t>from clients that use it.</a:t>
            </a:r>
          </a:p>
          <a:p>
            <a:r>
              <a:rPr lang="en-US" sz="1800" dirty="0"/>
              <a:t>AKA: </a:t>
            </a:r>
            <a:r>
              <a:rPr lang="en-US" sz="1800" dirty="0">
                <a:solidFill>
                  <a:srgbClr val="0070C0"/>
                </a:solidFill>
              </a:rPr>
              <a:t>Policy</a:t>
            </a:r>
          </a:p>
          <a:p>
            <a:endParaRPr lang="en-US" sz="1800" dirty="0"/>
          </a:p>
          <a:p>
            <a:r>
              <a:rPr lang="en-US" sz="1800" dirty="0"/>
              <a:t>Identify behaviors that vary across related classes</a:t>
            </a:r>
          </a:p>
          <a:p>
            <a:r>
              <a:rPr lang="en-US" sz="1800" dirty="0"/>
              <a:t>Define a common interface for those behaviors</a:t>
            </a:r>
          </a:p>
          <a:p>
            <a:r>
              <a:rPr lang="en-US" sz="1800" dirty="0"/>
              <a:t>Create concrete classes that implement this interface differently</a:t>
            </a:r>
          </a:p>
          <a:p>
            <a:r>
              <a:rPr lang="en-US" sz="1800" dirty="0"/>
              <a:t>Make the Client ‘composed of’ one of these concrete classes as its ‘Strategy’</a:t>
            </a:r>
          </a:p>
        </p:txBody>
      </p:sp>
      <p:sp>
        <p:nvSpPr>
          <p:cNvPr id="4" name="Slide Number Placeholder 3"/>
          <p:cNvSpPr>
            <a:spLocks noGrp="1"/>
          </p:cNvSpPr>
          <p:nvPr>
            <p:ph type="sldNum" sz="quarter" idx="12"/>
          </p:nvPr>
        </p:nvSpPr>
        <p:spPr/>
        <p:txBody>
          <a:bodyPr/>
          <a:lstStyle/>
          <a:p>
            <a:fld id="{E60AC81A-0762-4854-947E-801A7DA89C28}" type="slidenum">
              <a:rPr lang="en-US" smtClean="0"/>
              <a:t>14</a:t>
            </a:fld>
            <a:endParaRPr lang="en-US"/>
          </a:p>
        </p:txBody>
      </p:sp>
      <p:pic>
        <p:nvPicPr>
          <p:cNvPr id="6" name="Picture 5"/>
          <p:cNvPicPr>
            <a:picLocks noChangeAspect="1"/>
          </p:cNvPicPr>
          <p:nvPr/>
        </p:nvPicPr>
        <p:blipFill>
          <a:blip r:embed="rId2"/>
          <a:stretch>
            <a:fillRect/>
          </a:stretch>
        </p:blipFill>
        <p:spPr>
          <a:xfrm>
            <a:off x="5935215" y="3467784"/>
            <a:ext cx="5791119" cy="2709179"/>
          </a:xfrm>
          <a:prstGeom prst="rect">
            <a:avLst/>
          </a:prstGeom>
          <a:ln>
            <a:solidFill>
              <a:schemeClr val="accent1"/>
            </a:solidFill>
          </a:ln>
        </p:spPr>
      </p:pic>
      <p:pic>
        <p:nvPicPr>
          <p:cNvPr id="7" name="Picture 6"/>
          <p:cNvPicPr>
            <a:picLocks noChangeAspect="1"/>
          </p:cNvPicPr>
          <p:nvPr/>
        </p:nvPicPr>
        <p:blipFill>
          <a:blip r:embed="rId3"/>
          <a:stretch>
            <a:fillRect/>
          </a:stretch>
        </p:blipFill>
        <p:spPr>
          <a:xfrm>
            <a:off x="5822388" y="861391"/>
            <a:ext cx="5980146" cy="1890276"/>
          </a:xfrm>
          <a:prstGeom prst="rect">
            <a:avLst/>
          </a:prstGeom>
          <a:ln>
            <a:solidFill>
              <a:schemeClr val="accent1"/>
            </a:solidFill>
          </a:ln>
        </p:spPr>
      </p:pic>
    </p:spTree>
    <p:extLst>
      <p:ext uri="{BB962C8B-B14F-4D97-AF65-F5344CB8AC3E}">
        <p14:creationId xmlns:p14="http://schemas.microsoft.com/office/powerpoint/2010/main" val="2312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descr="Generated by PlantUML">
            <a:extLst>
              <a:ext uri="{FF2B5EF4-FFF2-40B4-BE49-F238E27FC236}">
                <a16:creationId xmlns:a16="http://schemas.microsoft.com/office/drawing/2014/main" id="{4CEB87A9-45E2-4768-865D-B21419962888}"/>
              </a:ext>
            </a:extLst>
          </p:cNvPr>
          <p:cNvPicPr/>
          <p:nvPr/>
        </p:nvPicPr>
        <p:blipFill>
          <a:blip r:embed="rId2">
            <a:extLst>
              <a:ext uri="{28A0092B-C50C-407E-A947-70E740481C1C}">
                <a14:useLocalDpi xmlns:a14="http://schemas.microsoft.com/office/drawing/2010/main" val="0"/>
              </a:ext>
            </a:extLst>
          </a:blip>
          <a:stretch>
            <a:fillRect/>
          </a:stretch>
        </p:blipFill>
        <p:spPr>
          <a:xfrm>
            <a:off x="5482998" y="1031105"/>
            <a:ext cx="5019539" cy="3062938"/>
          </a:xfrm>
          <a:prstGeom prst="rect">
            <a:avLst/>
          </a:prstGeom>
        </p:spPr>
      </p:pic>
      <p:sp>
        <p:nvSpPr>
          <p:cNvPr id="4" name="Title 3"/>
          <p:cNvSpPr>
            <a:spLocks noGrp="1"/>
          </p:cNvSpPr>
          <p:nvPr>
            <p:ph type="title"/>
          </p:nvPr>
        </p:nvSpPr>
        <p:spPr>
          <a:xfrm>
            <a:off x="331304" y="145775"/>
            <a:ext cx="3707296" cy="583096"/>
          </a:xfrm>
        </p:spPr>
        <p:txBody>
          <a:bodyPr/>
          <a:lstStyle/>
          <a:p>
            <a:r>
              <a:rPr lang="en-US" dirty="0"/>
              <a:t>Strategy Pattern </a:t>
            </a:r>
          </a:p>
        </p:txBody>
      </p:sp>
      <p:sp>
        <p:nvSpPr>
          <p:cNvPr id="5" name="Content Placeholder 4"/>
          <p:cNvSpPr>
            <a:spLocks noGrp="1"/>
          </p:cNvSpPr>
          <p:nvPr>
            <p:ph idx="1"/>
          </p:nvPr>
        </p:nvSpPr>
        <p:spPr>
          <a:xfrm>
            <a:off x="331304" y="861390"/>
            <a:ext cx="4840154" cy="2676371"/>
          </a:xfrm>
        </p:spPr>
        <p:txBody>
          <a:bodyPr>
            <a:noAutofit/>
          </a:bodyPr>
          <a:lstStyle/>
          <a:p>
            <a:pPr marL="0" indent="0">
              <a:buNone/>
            </a:pPr>
            <a:r>
              <a:rPr lang="en-US" sz="1800" dirty="0"/>
              <a:t>Example: For a </a:t>
            </a:r>
            <a:r>
              <a:rPr lang="en-US" sz="1800" dirty="0" err="1"/>
              <a:t>MediaPlayer</a:t>
            </a:r>
            <a:endParaRPr lang="en-US" sz="1800" dirty="0"/>
          </a:p>
          <a:p>
            <a:r>
              <a:rPr lang="en-US" sz="1800" dirty="0"/>
              <a:t>Different media have different ‘play’ behaviors. </a:t>
            </a:r>
          </a:p>
          <a:p>
            <a:r>
              <a:rPr lang="en-US" sz="1800" dirty="0"/>
              <a:t>In future, we may want </a:t>
            </a:r>
          </a:p>
          <a:p>
            <a:pPr lvl="1"/>
            <a:r>
              <a:rPr lang="en-US" sz="1600" dirty="0"/>
              <a:t>Professional media that has play() with transcript</a:t>
            </a:r>
          </a:p>
          <a:p>
            <a:pPr lvl="1"/>
            <a:r>
              <a:rPr lang="en-US" sz="1600" dirty="0"/>
              <a:t>Text, then ‘Can't play! Just display!’ behavior code will be duplicated</a:t>
            </a:r>
          </a:p>
          <a:p>
            <a:pPr marL="0" indent="0">
              <a:buNone/>
            </a:pPr>
            <a:endParaRPr lang="en-US" sz="1800" dirty="0"/>
          </a:p>
        </p:txBody>
      </p:sp>
      <p:sp>
        <p:nvSpPr>
          <p:cNvPr id="2" name="Slide Number Placeholder 1"/>
          <p:cNvSpPr>
            <a:spLocks noGrp="1"/>
          </p:cNvSpPr>
          <p:nvPr>
            <p:ph type="sldNum" sz="quarter" idx="12"/>
          </p:nvPr>
        </p:nvSpPr>
        <p:spPr>
          <a:xfrm>
            <a:off x="8229600" y="6356350"/>
            <a:ext cx="2743200" cy="365125"/>
          </a:xfrm>
        </p:spPr>
        <p:txBody>
          <a:bodyPr/>
          <a:lstStyle/>
          <a:p>
            <a:fld id="{E60AC81A-0762-4854-947E-801A7DA89C28}" type="slidenum">
              <a:rPr lang="en-US" smtClean="0"/>
              <a:t>15</a:t>
            </a:fld>
            <a:endParaRPr lang="en-US"/>
          </a:p>
        </p:txBody>
      </p:sp>
      <p:grpSp>
        <p:nvGrpSpPr>
          <p:cNvPr id="39" name="Group 38">
            <a:extLst>
              <a:ext uri="{FF2B5EF4-FFF2-40B4-BE49-F238E27FC236}">
                <a16:creationId xmlns:a16="http://schemas.microsoft.com/office/drawing/2014/main" id="{7239BC03-DC83-4A01-B1BE-9AB14D2C8281}"/>
              </a:ext>
            </a:extLst>
          </p:cNvPr>
          <p:cNvGrpSpPr/>
          <p:nvPr/>
        </p:nvGrpSpPr>
        <p:grpSpPr>
          <a:xfrm>
            <a:off x="1151975" y="3624153"/>
            <a:ext cx="10888418" cy="2360177"/>
            <a:chOff x="1151975" y="3066804"/>
            <a:chExt cx="10888418" cy="2360177"/>
          </a:xfrm>
        </p:grpSpPr>
        <p:grpSp>
          <p:nvGrpSpPr>
            <p:cNvPr id="6" name="Group 5"/>
            <p:cNvGrpSpPr/>
            <p:nvPr/>
          </p:nvGrpSpPr>
          <p:grpSpPr>
            <a:xfrm>
              <a:off x="1151975" y="3066804"/>
              <a:ext cx="7734526" cy="2359110"/>
              <a:chOff x="2067620" y="3973581"/>
              <a:chExt cx="7734526" cy="2359110"/>
            </a:xfrm>
          </p:grpSpPr>
          <p:sp>
            <p:nvSpPr>
              <p:cNvPr id="12" name="Oval 11"/>
              <p:cNvSpPr/>
              <p:nvPr/>
            </p:nvSpPr>
            <p:spPr>
              <a:xfrm>
                <a:off x="8590440" y="3996603"/>
                <a:ext cx="1211706" cy="361169"/>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067620" y="5594027"/>
                <a:ext cx="3153427" cy="738664"/>
              </a:xfrm>
              <a:prstGeom prst="rect">
                <a:avLst/>
              </a:prstGeom>
              <a:noFill/>
              <a:ln>
                <a:solidFill>
                  <a:schemeClr val="bg1">
                    <a:lumMod val="50000"/>
                  </a:schemeClr>
                </a:solidFill>
              </a:ln>
            </p:spPr>
            <p:txBody>
              <a:bodyPr wrap="none" rtlCol="0">
                <a:spAutoFit/>
              </a:bodyPr>
              <a:lstStyle/>
              <a:p>
                <a:r>
                  <a:rPr lang="en-US" sz="1050" dirty="0">
                    <a:solidFill>
                      <a:srgbClr val="646464"/>
                    </a:solidFill>
                    <a:latin typeface="Consolas" panose="020B0609020204030204" pitchFamily="49" charset="0"/>
                  </a:rPr>
                  <a:t>@Override</a:t>
                </a:r>
              </a:p>
              <a:p>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 play() {</a:t>
                </a:r>
              </a:p>
              <a:p>
                <a:pPr lvl="1"/>
                <a:r>
                  <a:rPr lang="en-US" sz="1050" dirty="0" err="1">
                    <a:solidFill>
                      <a:srgbClr val="000000"/>
                    </a:solidFill>
                    <a:latin typeface="Consolas" panose="020B0609020204030204" pitchFamily="49" charset="0"/>
                  </a:rPr>
                  <a:t>System.</a:t>
                </a:r>
                <a:r>
                  <a:rPr lang="en-US" sz="1050" i="1" dirty="0" err="1">
                    <a:solidFill>
                      <a:srgbClr val="0000C0"/>
                    </a:solidFill>
                    <a:latin typeface="Consolas" panose="020B0609020204030204" pitchFamily="49" charset="0"/>
                  </a:rPr>
                  <a:t>out</a:t>
                </a:r>
                <a:r>
                  <a:rPr lang="en-US" sz="1050" i="1" dirty="0" err="1">
                    <a:solidFill>
                      <a:srgbClr val="000000"/>
                    </a:solidFill>
                    <a:latin typeface="Consolas" panose="020B0609020204030204" pitchFamily="49" charset="0"/>
                  </a:rPr>
                  <a:t>.println</a:t>
                </a:r>
                <a:r>
                  <a:rPr lang="en-US" sz="1050" i="1" dirty="0">
                    <a:solidFill>
                      <a:srgbClr val="000000"/>
                    </a:solidFill>
                    <a:latin typeface="Consolas" panose="020B0609020204030204" pitchFamily="49" charset="0"/>
                  </a:rPr>
                  <a:t>(</a:t>
                </a:r>
                <a:r>
                  <a:rPr lang="en-US" sz="1050" i="1" dirty="0">
                    <a:solidFill>
                      <a:srgbClr val="2A00FF"/>
                    </a:solidFill>
                    <a:latin typeface="Consolas" panose="020B0609020204030204" pitchFamily="49" charset="0"/>
                  </a:rPr>
                  <a:t>"Playing mp4"</a:t>
                </a:r>
                <a:r>
                  <a:rPr lang="en-US" sz="1050" i="1"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a:t>
                </a:r>
                <a:endParaRPr lang="en-US" sz="1050" dirty="0"/>
              </a:p>
            </p:txBody>
          </p:sp>
          <p:cxnSp>
            <p:nvCxnSpPr>
              <p:cNvPr id="19" name="Straight Arrow Connector 18"/>
              <p:cNvCxnSpPr>
                <a:cxnSpLocks/>
                <a:stCxn id="13" idx="4"/>
                <a:endCxn id="17" idx="0"/>
              </p:cNvCxnSpPr>
              <p:nvPr/>
            </p:nvCxnSpPr>
            <p:spPr>
              <a:xfrm flipH="1">
                <a:off x="3644334" y="4382884"/>
                <a:ext cx="4134292" cy="1211143"/>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a:stCxn id="12" idx="3"/>
                <a:endCxn id="16" idx="0"/>
              </p:cNvCxnSpPr>
              <p:nvPr/>
            </p:nvCxnSpPr>
            <p:spPr>
              <a:xfrm flipH="1">
                <a:off x="7011645" y="4304880"/>
                <a:ext cx="1756245" cy="129021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7136721" y="3973581"/>
                <a:ext cx="1283810" cy="409303"/>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p:cNvSpPr txBox="1"/>
            <p:nvPr/>
          </p:nvSpPr>
          <p:spPr>
            <a:xfrm>
              <a:off x="4519286" y="4688317"/>
              <a:ext cx="3153427" cy="738664"/>
            </a:xfrm>
            <a:prstGeom prst="rect">
              <a:avLst/>
            </a:prstGeom>
            <a:noFill/>
            <a:ln>
              <a:solidFill>
                <a:schemeClr val="bg1">
                  <a:lumMod val="50000"/>
                </a:schemeClr>
              </a:solidFill>
            </a:ln>
          </p:spPr>
          <p:txBody>
            <a:bodyPr wrap="none" rtlCol="0">
              <a:spAutoFit/>
            </a:bodyPr>
            <a:lstStyle/>
            <a:p>
              <a:r>
                <a:rPr lang="en-US" sz="1050" dirty="0">
                  <a:solidFill>
                    <a:srgbClr val="646464"/>
                  </a:solidFill>
                  <a:latin typeface="Consolas" panose="020B0609020204030204" pitchFamily="49" charset="0"/>
                </a:rPr>
                <a:t>@Override</a:t>
              </a:r>
            </a:p>
            <a:p>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 play() {</a:t>
              </a:r>
            </a:p>
            <a:p>
              <a:pPr lvl="1"/>
              <a:r>
                <a:rPr lang="en-US" sz="1050" dirty="0" err="1">
                  <a:solidFill>
                    <a:srgbClr val="000000"/>
                  </a:solidFill>
                  <a:latin typeface="Consolas" panose="020B0609020204030204" pitchFamily="49" charset="0"/>
                </a:rPr>
                <a:t>System.</a:t>
              </a:r>
              <a:r>
                <a:rPr lang="en-US" sz="1050" i="1" dirty="0" err="1">
                  <a:solidFill>
                    <a:srgbClr val="0000C0"/>
                  </a:solidFill>
                  <a:latin typeface="Consolas" panose="020B0609020204030204" pitchFamily="49" charset="0"/>
                </a:rPr>
                <a:t>out</a:t>
              </a:r>
              <a:r>
                <a:rPr lang="en-US" sz="1050" i="1" dirty="0" err="1">
                  <a:solidFill>
                    <a:srgbClr val="000000"/>
                  </a:solidFill>
                  <a:latin typeface="Consolas" panose="020B0609020204030204" pitchFamily="49" charset="0"/>
                </a:rPr>
                <a:t>.println</a:t>
              </a:r>
              <a:r>
                <a:rPr lang="en-US" sz="1050" i="1" dirty="0">
                  <a:solidFill>
                    <a:srgbClr val="000000"/>
                  </a:solidFill>
                  <a:latin typeface="Consolas" panose="020B0609020204030204" pitchFamily="49" charset="0"/>
                </a:rPr>
                <a:t>(</a:t>
              </a:r>
              <a:r>
                <a:rPr lang="en-US" sz="1050" i="1" dirty="0">
                  <a:solidFill>
                    <a:srgbClr val="2A00FF"/>
                  </a:solidFill>
                  <a:latin typeface="Consolas" panose="020B0609020204030204" pitchFamily="49" charset="0"/>
                </a:rPr>
                <a:t>"Playing mp3"</a:t>
              </a:r>
              <a:r>
                <a:rPr lang="en-US" sz="1050" i="1"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a:t>
              </a:r>
              <a:endParaRPr lang="en-US" sz="1050" dirty="0"/>
            </a:p>
          </p:txBody>
        </p:sp>
        <p:grpSp>
          <p:nvGrpSpPr>
            <p:cNvPr id="31" name="Group 30"/>
            <p:cNvGrpSpPr/>
            <p:nvPr/>
          </p:nvGrpSpPr>
          <p:grpSpPr>
            <a:xfrm>
              <a:off x="7854632" y="3089826"/>
              <a:ext cx="4185761" cy="2337155"/>
              <a:chOff x="8019061" y="3121415"/>
              <a:chExt cx="4185761" cy="2337155"/>
            </a:xfrm>
          </p:grpSpPr>
          <p:sp>
            <p:nvSpPr>
              <p:cNvPr id="11" name="Oval 10"/>
              <p:cNvSpPr/>
              <p:nvPr/>
            </p:nvSpPr>
            <p:spPr>
              <a:xfrm>
                <a:off x="9424795" y="3121415"/>
                <a:ext cx="1158731" cy="386281"/>
              </a:xfrm>
              <a:prstGeom prst="ellipse">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019061" y="4719906"/>
                <a:ext cx="4185761" cy="738664"/>
              </a:xfrm>
              <a:prstGeom prst="rect">
                <a:avLst/>
              </a:prstGeom>
              <a:noFill/>
              <a:ln>
                <a:solidFill>
                  <a:schemeClr val="bg1">
                    <a:lumMod val="50000"/>
                  </a:schemeClr>
                </a:solidFill>
              </a:ln>
            </p:spPr>
            <p:txBody>
              <a:bodyPr wrap="none" rtlCol="0">
                <a:spAutoFit/>
              </a:bodyPr>
              <a:lstStyle/>
              <a:p>
                <a:r>
                  <a:rPr lang="en-US" sz="1050" dirty="0">
                    <a:solidFill>
                      <a:srgbClr val="646464"/>
                    </a:solidFill>
                    <a:latin typeface="Consolas" panose="020B0609020204030204" pitchFamily="49" charset="0"/>
                  </a:rPr>
                  <a:t>@Override</a:t>
                </a:r>
              </a:p>
              <a:p>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 play() {</a:t>
                </a:r>
              </a:p>
              <a:p>
                <a:pPr lvl="1"/>
                <a:r>
                  <a:rPr lang="en-US" sz="1050" dirty="0" err="1">
                    <a:solidFill>
                      <a:srgbClr val="000000"/>
                    </a:solidFill>
                    <a:latin typeface="Consolas" panose="020B0609020204030204" pitchFamily="49" charset="0"/>
                  </a:rPr>
                  <a:t>System.</a:t>
                </a:r>
                <a:r>
                  <a:rPr lang="en-US" sz="1050" i="1" dirty="0" err="1">
                    <a:solidFill>
                      <a:srgbClr val="0000C0"/>
                    </a:solidFill>
                    <a:latin typeface="Consolas" panose="020B0609020204030204" pitchFamily="49" charset="0"/>
                  </a:rPr>
                  <a:t>out</a:t>
                </a:r>
                <a:r>
                  <a:rPr lang="en-US" sz="1050" i="1" dirty="0" err="1">
                    <a:solidFill>
                      <a:srgbClr val="000000"/>
                    </a:solidFill>
                    <a:latin typeface="Consolas" panose="020B0609020204030204" pitchFamily="49" charset="0"/>
                  </a:rPr>
                  <a:t>.println</a:t>
                </a:r>
                <a:r>
                  <a:rPr lang="en-US" sz="1050" i="1" dirty="0">
                    <a:solidFill>
                      <a:srgbClr val="000000"/>
                    </a:solidFill>
                    <a:latin typeface="Consolas" panose="020B0609020204030204" pitchFamily="49" charset="0"/>
                  </a:rPr>
                  <a:t>(</a:t>
                </a:r>
                <a:r>
                  <a:rPr lang="en-US" sz="1050" i="1" dirty="0">
                    <a:solidFill>
                      <a:srgbClr val="2A00FF"/>
                    </a:solidFill>
                    <a:latin typeface="Consolas" panose="020B0609020204030204" pitchFamily="49" charset="0"/>
                  </a:rPr>
                  <a:t>"Can't play! Just display!"</a:t>
                </a:r>
                <a:r>
                  <a:rPr lang="en-US" sz="1050" i="1"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a:t>
                </a:r>
                <a:endParaRPr lang="en-US" sz="1050" dirty="0"/>
              </a:p>
            </p:txBody>
          </p:sp>
          <p:cxnSp>
            <p:nvCxnSpPr>
              <p:cNvPr id="18" name="Straight Arrow Connector 17"/>
              <p:cNvCxnSpPr>
                <a:cxnSpLocks/>
                <a:stCxn id="11" idx="4"/>
                <a:endCxn id="8" idx="0"/>
              </p:cNvCxnSpPr>
              <p:nvPr/>
            </p:nvCxnSpPr>
            <p:spPr>
              <a:xfrm>
                <a:off x="10004161" y="3507696"/>
                <a:ext cx="107781" cy="121221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9755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304" y="145775"/>
            <a:ext cx="3521173" cy="583096"/>
          </a:xfrm>
        </p:spPr>
        <p:txBody>
          <a:bodyPr/>
          <a:lstStyle/>
          <a:p>
            <a:r>
              <a:rPr lang="en-US" dirty="0"/>
              <a:t>Strategy Pattern </a:t>
            </a:r>
          </a:p>
        </p:txBody>
      </p:sp>
      <p:sp>
        <p:nvSpPr>
          <p:cNvPr id="2" name="Slide Number Placeholder 1"/>
          <p:cNvSpPr>
            <a:spLocks noGrp="1"/>
          </p:cNvSpPr>
          <p:nvPr>
            <p:ph type="sldNum" sz="quarter" idx="12"/>
          </p:nvPr>
        </p:nvSpPr>
        <p:spPr/>
        <p:txBody>
          <a:bodyPr/>
          <a:lstStyle/>
          <a:p>
            <a:fld id="{E60AC81A-0762-4854-947E-801A7DA89C28}" type="slidenum">
              <a:rPr lang="en-US" smtClean="0"/>
              <a:t>16</a:t>
            </a:fld>
            <a:endParaRPr lang="en-US"/>
          </a:p>
        </p:txBody>
      </p:sp>
      <p:pic>
        <p:nvPicPr>
          <p:cNvPr id="23" name="Picture 22" descr="Generated by PlantUML">
            <a:extLst>
              <a:ext uri="{FF2B5EF4-FFF2-40B4-BE49-F238E27FC236}">
                <a16:creationId xmlns:a16="http://schemas.microsoft.com/office/drawing/2014/main" id="{B6125C81-D449-4196-8DF0-8B4F37D7CAAE}"/>
              </a:ext>
            </a:extLst>
          </p:cNvPr>
          <p:cNvPicPr/>
          <p:nvPr/>
        </p:nvPicPr>
        <p:blipFill>
          <a:blip r:embed="rId2">
            <a:extLst>
              <a:ext uri="{28A0092B-C50C-407E-A947-70E740481C1C}">
                <a14:useLocalDpi xmlns:a14="http://schemas.microsoft.com/office/drawing/2010/main" val="0"/>
              </a:ext>
            </a:extLst>
          </a:blip>
          <a:stretch>
            <a:fillRect/>
          </a:stretch>
        </p:blipFill>
        <p:spPr>
          <a:xfrm>
            <a:off x="2177194" y="1759813"/>
            <a:ext cx="8388531" cy="2166314"/>
          </a:xfrm>
          <a:prstGeom prst="rect">
            <a:avLst/>
          </a:prstGeom>
        </p:spPr>
      </p:pic>
      <p:sp>
        <p:nvSpPr>
          <p:cNvPr id="6" name="TextBox 5">
            <a:extLst>
              <a:ext uri="{FF2B5EF4-FFF2-40B4-BE49-F238E27FC236}">
                <a16:creationId xmlns:a16="http://schemas.microsoft.com/office/drawing/2014/main" id="{297C7362-338B-4086-BB21-D0E1BD79F870}"/>
              </a:ext>
            </a:extLst>
          </p:cNvPr>
          <p:cNvSpPr txBox="1"/>
          <p:nvPr/>
        </p:nvSpPr>
        <p:spPr>
          <a:xfrm>
            <a:off x="548639" y="1091323"/>
            <a:ext cx="4743606" cy="369332"/>
          </a:xfrm>
          <a:prstGeom prst="rect">
            <a:avLst/>
          </a:prstGeom>
          <a:noFill/>
        </p:spPr>
        <p:txBody>
          <a:bodyPr wrap="none" rtlCol="0">
            <a:spAutoFit/>
          </a:bodyPr>
          <a:lstStyle/>
          <a:p>
            <a:r>
              <a:rPr lang="en-US" dirty="0" err="1">
                <a:latin typeface="Consolas" panose="020B0609020204030204" pitchFamily="49" charset="0"/>
              </a:rPr>
              <a:t>mediaList.get</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r>
              <a:rPr lang="en-US" dirty="0" err="1">
                <a:latin typeface="Consolas" panose="020B0609020204030204" pitchFamily="49" charset="0"/>
              </a:rPr>
              <a:t>playBehavior.play</a:t>
            </a:r>
            <a:r>
              <a:rPr lang="en-US" dirty="0">
                <a:latin typeface="Consolas" panose="020B0609020204030204" pitchFamily="49" charset="0"/>
              </a:rPr>
              <a:t>()</a:t>
            </a:r>
          </a:p>
        </p:txBody>
      </p:sp>
      <p:grpSp>
        <p:nvGrpSpPr>
          <p:cNvPr id="47" name="Group 46">
            <a:extLst>
              <a:ext uri="{FF2B5EF4-FFF2-40B4-BE49-F238E27FC236}">
                <a16:creationId xmlns:a16="http://schemas.microsoft.com/office/drawing/2014/main" id="{02BE3DAB-4A7A-487D-8D13-4164CDBAAF93}"/>
              </a:ext>
            </a:extLst>
          </p:cNvPr>
          <p:cNvGrpSpPr/>
          <p:nvPr/>
        </p:nvGrpSpPr>
        <p:grpSpPr>
          <a:xfrm>
            <a:off x="331304" y="3886246"/>
            <a:ext cx="5846927" cy="1842410"/>
            <a:chOff x="331304" y="3886246"/>
            <a:chExt cx="5846927" cy="1842410"/>
          </a:xfrm>
        </p:grpSpPr>
        <p:sp>
          <p:nvSpPr>
            <p:cNvPr id="25" name="TextBox 24">
              <a:extLst>
                <a:ext uri="{FF2B5EF4-FFF2-40B4-BE49-F238E27FC236}">
                  <a16:creationId xmlns:a16="http://schemas.microsoft.com/office/drawing/2014/main" id="{9DD263D9-DC49-4A5C-B99E-E0EAEBA4BA83}"/>
                </a:ext>
              </a:extLst>
            </p:cNvPr>
            <p:cNvSpPr txBox="1"/>
            <p:nvPr/>
          </p:nvSpPr>
          <p:spPr>
            <a:xfrm>
              <a:off x="331304" y="4134906"/>
              <a:ext cx="2858475" cy="577081"/>
            </a:xfrm>
            <a:prstGeom prst="rect">
              <a:avLst/>
            </a:prstGeom>
            <a:noFill/>
            <a:ln>
              <a:solidFill>
                <a:schemeClr val="bg1">
                  <a:lumMod val="50000"/>
                </a:schemeClr>
              </a:solidFill>
            </a:ln>
          </p:spPr>
          <p:txBody>
            <a:bodyPr wrap="none" rtlCol="0">
              <a:spAutoFit/>
            </a:bodyPr>
            <a:lstStyle/>
            <a:p>
              <a:r>
                <a:rPr lang="en-US" sz="1050" dirty="0">
                  <a:latin typeface="Consolas" panose="020B0609020204030204" pitchFamily="49" charset="0"/>
                </a:rPr>
                <a:t>Video() {</a:t>
              </a:r>
            </a:p>
            <a:p>
              <a:pPr lvl="1"/>
              <a:r>
                <a:rPr lang="en-US" sz="1050" dirty="0" err="1">
                  <a:latin typeface="Consolas" panose="020B0609020204030204" pitchFamily="49" charset="0"/>
                </a:rPr>
                <a:t>playBehavior</a:t>
              </a:r>
              <a:r>
                <a:rPr lang="en-US" sz="1050" dirty="0">
                  <a:latin typeface="Consolas" panose="020B0609020204030204" pitchFamily="49" charset="0"/>
                </a:rPr>
                <a:t> = new </a:t>
              </a:r>
              <a:r>
                <a:rPr lang="en-US" sz="1050" dirty="0" err="1">
                  <a:latin typeface="Consolas" panose="020B0609020204030204" pitchFamily="49" charset="0"/>
                </a:rPr>
                <a:t>VideoPlay</a:t>
              </a:r>
              <a:r>
                <a:rPr lang="en-US" sz="1050" dirty="0">
                  <a:latin typeface="Consolas" panose="020B0609020204030204" pitchFamily="49" charset="0"/>
                </a:rPr>
                <a:t>()</a:t>
              </a:r>
            </a:p>
            <a:p>
              <a:r>
                <a:rPr lang="en-US" sz="1050" dirty="0">
                  <a:latin typeface="Consolas" panose="020B0609020204030204" pitchFamily="49" charset="0"/>
                </a:rPr>
                <a:t>}</a:t>
              </a:r>
            </a:p>
          </p:txBody>
        </p:sp>
        <p:sp>
          <p:nvSpPr>
            <p:cNvPr id="27" name="TextBox 26">
              <a:extLst>
                <a:ext uri="{FF2B5EF4-FFF2-40B4-BE49-F238E27FC236}">
                  <a16:creationId xmlns:a16="http://schemas.microsoft.com/office/drawing/2014/main" id="{83692B9C-88DF-496D-B629-F1D53C8D3D20}"/>
                </a:ext>
              </a:extLst>
            </p:cNvPr>
            <p:cNvSpPr txBox="1"/>
            <p:nvPr/>
          </p:nvSpPr>
          <p:spPr>
            <a:xfrm>
              <a:off x="1861408" y="4632225"/>
              <a:ext cx="2858475" cy="577081"/>
            </a:xfrm>
            <a:prstGeom prst="rect">
              <a:avLst/>
            </a:prstGeom>
            <a:solidFill>
              <a:schemeClr val="bg1"/>
            </a:solidFill>
            <a:ln>
              <a:solidFill>
                <a:schemeClr val="bg1">
                  <a:lumMod val="50000"/>
                </a:schemeClr>
              </a:solidFill>
            </a:ln>
          </p:spPr>
          <p:txBody>
            <a:bodyPr wrap="none" rtlCol="0">
              <a:spAutoFit/>
            </a:bodyPr>
            <a:lstStyle>
              <a:defPPr>
                <a:defRPr lang="en-US"/>
              </a:defPPr>
              <a:lvl1pPr>
                <a:defRPr sz="1050">
                  <a:latin typeface="Consolas" panose="020B0609020204030204" pitchFamily="49" charset="0"/>
                </a:defRPr>
              </a:lvl1pPr>
              <a:lvl2pPr lvl="1">
                <a:defRPr sz="1050">
                  <a:latin typeface="Consolas" panose="020B0609020204030204" pitchFamily="49" charset="0"/>
                </a:defRPr>
              </a:lvl2pPr>
            </a:lstStyle>
            <a:p>
              <a:r>
                <a:rPr lang="en-US" dirty="0"/>
                <a:t>Audio() {</a:t>
              </a:r>
            </a:p>
            <a:p>
              <a:pPr lvl="1"/>
              <a:r>
                <a:rPr lang="en-US" dirty="0" err="1"/>
                <a:t>playBehavior</a:t>
              </a:r>
              <a:r>
                <a:rPr lang="en-US" dirty="0"/>
                <a:t> = new </a:t>
              </a:r>
              <a:r>
                <a:rPr lang="en-US" dirty="0" err="1"/>
                <a:t>AudioPlay</a:t>
              </a:r>
              <a:r>
                <a:rPr lang="en-US" dirty="0"/>
                <a:t>()</a:t>
              </a:r>
            </a:p>
            <a:p>
              <a:r>
                <a:rPr lang="en-US" dirty="0"/>
                <a:t>}</a:t>
              </a:r>
            </a:p>
          </p:txBody>
        </p:sp>
        <p:sp>
          <p:nvSpPr>
            <p:cNvPr id="28" name="TextBox 27">
              <a:extLst>
                <a:ext uri="{FF2B5EF4-FFF2-40B4-BE49-F238E27FC236}">
                  <a16:creationId xmlns:a16="http://schemas.microsoft.com/office/drawing/2014/main" id="{E00B43CA-D4C2-48FD-A3BC-503F65A6EB46}"/>
                </a:ext>
              </a:extLst>
            </p:cNvPr>
            <p:cNvSpPr txBox="1"/>
            <p:nvPr/>
          </p:nvSpPr>
          <p:spPr>
            <a:xfrm>
              <a:off x="3319756" y="5151575"/>
              <a:ext cx="2858475" cy="577081"/>
            </a:xfrm>
            <a:prstGeom prst="rect">
              <a:avLst/>
            </a:prstGeom>
            <a:solidFill>
              <a:schemeClr val="bg1"/>
            </a:solidFill>
            <a:ln>
              <a:solidFill>
                <a:schemeClr val="bg1">
                  <a:lumMod val="50000"/>
                </a:schemeClr>
              </a:solidFill>
            </a:ln>
          </p:spPr>
          <p:txBody>
            <a:bodyPr wrap="none" rtlCol="0">
              <a:spAutoFit/>
            </a:bodyPr>
            <a:lstStyle>
              <a:defPPr>
                <a:defRPr lang="en-US"/>
              </a:defPPr>
              <a:lvl1pPr>
                <a:defRPr sz="1050">
                  <a:latin typeface="Consolas" panose="020B0609020204030204" pitchFamily="49" charset="0"/>
                </a:defRPr>
              </a:lvl1pPr>
              <a:lvl2pPr lvl="1">
                <a:defRPr sz="1050">
                  <a:latin typeface="Consolas" panose="020B0609020204030204" pitchFamily="49" charset="0"/>
                </a:defRPr>
              </a:lvl2pPr>
            </a:lstStyle>
            <a:p>
              <a:r>
                <a:rPr lang="en-US" dirty="0"/>
                <a:t>Image() {</a:t>
              </a:r>
            </a:p>
            <a:p>
              <a:pPr lvl="1"/>
              <a:r>
                <a:rPr lang="en-US" dirty="0" err="1"/>
                <a:t>playBehavior</a:t>
              </a:r>
              <a:r>
                <a:rPr lang="en-US" dirty="0"/>
                <a:t> = new </a:t>
              </a:r>
              <a:r>
                <a:rPr lang="en-US" dirty="0" err="1"/>
                <a:t>ImagePlay</a:t>
              </a:r>
              <a:r>
                <a:rPr lang="en-US" dirty="0"/>
                <a:t>()</a:t>
              </a:r>
            </a:p>
            <a:p>
              <a:r>
                <a:rPr lang="en-US" dirty="0"/>
                <a:t>}</a:t>
              </a:r>
            </a:p>
          </p:txBody>
        </p:sp>
        <p:cxnSp>
          <p:nvCxnSpPr>
            <p:cNvPr id="16" name="Straight Connector 15">
              <a:extLst>
                <a:ext uri="{FF2B5EF4-FFF2-40B4-BE49-F238E27FC236}">
                  <a16:creationId xmlns:a16="http://schemas.microsoft.com/office/drawing/2014/main" id="{5626E5E1-61D3-49B5-A86C-D74368295468}"/>
                </a:ext>
              </a:extLst>
            </p:cNvPr>
            <p:cNvCxnSpPr>
              <a:endCxn id="25" idx="0"/>
            </p:cNvCxnSpPr>
            <p:nvPr/>
          </p:nvCxnSpPr>
          <p:spPr>
            <a:xfrm flipH="1">
              <a:off x="1760542" y="3926127"/>
              <a:ext cx="1294970" cy="208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BB2B3CB-BD99-4B65-8D4C-E47C24F2DA38}"/>
                </a:ext>
              </a:extLst>
            </p:cNvPr>
            <p:cNvCxnSpPr>
              <a:endCxn id="27" idx="0"/>
            </p:cNvCxnSpPr>
            <p:nvPr/>
          </p:nvCxnSpPr>
          <p:spPr>
            <a:xfrm flipH="1">
              <a:off x="3290646" y="3915112"/>
              <a:ext cx="1220396" cy="717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0D5EBDD-92D6-4049-B93B-1528BF507D22}"/>
                </a:ext>
              </a:extLst>
            </p:cNvPr>
            <p:cNvCxnSpPr>
              <a:cxnSpLocks/>
              <a:endCxn id="28" idx="0"/>
            </p:cNvCxnSpPr>
            <p:nvPr/>
          </p:nvCxnSpPr>
          <p:spPr>
            <a:xfrm flipH="1">
              <a:off x="4748994" y="3886246"/>
              <a:ext cx="868038" cy="126532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E35F102E-E327-4F9D-8466-B13D57BF60CE}"/>
              </a:ext>
            </a:extLst>
          </p:cNvPr>
          <p:cNvGrpSpPr/>
          <p:nvPr/>
        </p:nvGrpSpPr>
        <p:grpSpPr>
          <a:xfrm>
            <a:off x="5457173" y="3905201"/>
            <a:ext cx="6480374" cy="2451149"/>
            <a:chOff x="5457173" y="3905201"/>
            <a:chExt cx="6480374" cy="2451149"/>
          </a:xfrm>
        </p:grpSpPr>
        <p:sp>
          <p:nvSpPr>
            <p:cNvPr id="31" name="TextBox 30">
              <a:extLst>
                <a:ext uri="{FF2B5EF4-FFF2-40B4-BE49-F238E27FC236}">
                  <a16:creationId xmlns:a16="http://schemas.microsoft.com/office/drawing/2014/main" id="{2FF4FCB8-3F47-4E92-BE34-DFC97A547228}"/>
                </a:ext>
              </a:extLst>
            </p:cNvPr>
            <p:cNvSpPr txBox="1"/>
            <p:nvPr/>
          </p:nvSpPr>
          <p:spPr>
            <a:xfrm>
              <a:off x="5457173" y="4182101"/>
              <a:ext cx="3153427" cy="738664"/>
            </a:xfrm>
            <a:prstGeom prst="rect">
              <a:avLst/>
            </a:prstGeom>
            <a:noFill/>
            <a:ln>
              <a:solidFill>
                <a:schemeClr val="bg1">
                  <a:lumMod val="50000"/>
                </a:schemeClr>
              </a:solidFill>
            </a:ln>
          </p:spPr>
          <p:txBody>
            <a:bodyPr wrap="none" rtlCol="0">
              <a:spAutoFit/>
            </a:bodyPr>
            <a:lstStyle/>
            <a:p>
              <a:r>
                <a:rPr lang="en-US" sz="1050" dirty="0">
                  <a:solidFill>
                    <a:srgbClr val="646464"/>
                  </a:solidFill>
                  <a:latin typeface="Consolas" panose="020B0609020204030204" pitchFamily="49" charset="0"/>
                </a:rPr>
                <a:t>@Override</a:t>
              </a:r>
            </a:p>
            <a:p>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 play() {</a:t>
              </a:r>
            </a:p>
            <a:p>
              <a:pPr lvl="1"/>
              <a:r>
                <a:rPr lang="en-US" sz="1050" dirty="0" err="1">
                  <a:solidFill>
                    <a:srgbClr val="000000"/>
                  </a:solidFill>
                  <a:latin typeface="Consolas" panose="020B0609020204030204" pitchFamily="49" charset="0"/>
                </a:rPr>
                <a:t>System.</a:t>
              </a:r>
              <a:r>
                <a:rPr lang="en-US" sz="1050" i="1" dirty="0" err="1">
                  <a:solidFill>
                    <a:srgbClr val="0000C0"/>
                  </a:solidFill>
                  <a:latin typeface="Consolas" panose="020B0609020204030204" pitchFamily="49" charset="0"/>
                </a:rPr>
                <a:t>out</a:t>
              </a:r>
              <a:r>
                <a:rPr lang="en-US" sz="1050" i="1" dirty="0" err="1">
                  <a:solidFill>
                    <a:srgbClr val="000000"/>
                  </a:solidFill>
                  <a:latin typeface="Consolas" panose="020B0609020204030204" pitchFamily="49" charset="0"/>
                </a:rPr>
                <a:t>.println</a:t>
              </a:r>
              <a:r>
                <a:rPr lang="en-US" sz="1050" i="1" dirty="0">
                  <a:solidFill>
                    <a:srgbClr val="000000"/>
                  </a:solidFill>
                  <a:latin typeface="Consolas" panose="020B0609020204030204" pitchFamily="49" charset="0"/>
                </a:rPr>
                <a:t>(</a:t>
              </a:r>
              <a:r>
                <a:rPr lang="en-US" sz="1050" i="1" dirty="0">
                  <a:solidFill>
                    <a:srgbClr val="2A00FF"/>
                  </a:solidFill>
                  <a:latin typeface="Consolas" panose="020B0609020204030204" pitchFamily="49" charset="0"/>
                </a:rPr>
                <a:t>"Playing mp4"</a:t>
              </a:r>
              <a:r>
                <a:rPr lang="en-US" sz="1050" i="1"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a:t>
              </a:r>
              <a:endParaRPr lang="en-US" sz="1400" dirty="0"/>
            </a:p>
          </p:txBody>
        </p:sp>
        <p:sp>
          <p:nvSpPr>
            <p:cNvPr id="33" name="TextBox 32">
              <a:extLst>
                <a:ext uri="{FF2B5EF4-FFF2-40B4-BE49-F238E27FC236}">
                  <a16:creationId xmlns:a16="http://schemas.microsoft.com/office/drawing/2014/main" id="{7D3A3422-85B6-44B8-AAEC-8ED2A8C6CECF}"/>
                </a:ext>
              </a:extLst>
            </p:cNvPr>
            <p:cNvSpPr txBox="1"/>
            <p:nvPr/>
          </p:nvSpPr>
          <p:spPr>
            <a:xfrm>
              <a:off x="7412298" y="4729863"/>
              <a:ext cx="3153427" cy="738664"/>
            </a:xfrm>
            <a:prstGeom prst="rect">
              <a:avLst/>
            </a:prstGeom>
            <a:solidFill>
              <a:schemeClr val="bg1"/>
            </a:solidFill>
            <a:ln>
              <a:solidFill>
                <a:schemeClr val="bg1">
                  <a:lumMod val="50000"/>
                </a:schemeClr>
              </a:solidFill>
            </a:ln>
          </p:spPr>
          <p:txBody>
            <a:bodyPr wrap="none" rtlCol="0">
              <a:spAutoFit/>
            </a:bodyPr>
            <a:lstStyle/>
            <a:p>
              <a:r>
                <a:rPr lang="en-US" sz="1050" dirty="0">
                  <a:solidFill>
                    <a:srgbClr val="646464"/>
                  </a:solidFill>
                  <a:latin typeface="Consolas" panose="020B0609020204030204" pitchFamily="49" charset="0"/>
                </a:rPr>
                <a:t>@Override</a:t>
              </a:r>
            </a:p>
            <a:p>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 play() {</a:t>
              </a:r>
            </a:p>
            <a:p>
              <a:pPr lvl="1"/>
              <a:r>
                <a:rPr lang="en-US" sz="1050" dirty="0" err="1">
                  <a:solidFill>
                    <a:srgbClr val="000000"/>
                  </a:solidFill>
                  <a:latin typeface="Consolas" panose="020B0609020204030204" pitchFamily="49" charset="0"/>
                </a:rPr>
                <a:t>System.</a:t>
              </a:r>
              <a:r>
                <a:rPr lang="en-US" sz="1050" i="1" dirty="0" err="1">
                  <a:solidFill>
                    <a:srgbClr val="0000C0"/>
                  </a:solidFill>
                  <a:latin typeface="Consolas" panose="020B0609020204030204" pitchFamily="49" charset="0"/>
                </a:rPr>
                <a:t>out</a:t>
              </a:r>
              <a:r>
                <a:rPr lang="en-US" sz="1050" i="1" dirty="0" err="1">
                  <a:solidFill>
                    <a:srgbClr val="000000"/>
                  </a:solidFill>
                  <a:latin typeface="Consolas" panose="020B0609020204030204" pitchFamily="49" charset="0"/>
                </a:rPr>
                <a:t>.println</a:t>
              </a:r>
              <a:r>
                <a:rPr lang="en-US" sz="1050" i="1" dirty="0">
                  <a:solidFill>
                    <a:srgbClr val="000000"/>
                  </a:solidFill>
                  <a:latin typeface="Consolas" panose="020B0609020204030204" pitchFamily="49" charset="0"/>
                </a:rPr>
                <a:t>(</a:t>
              </a:r>
              <a:r>
                <a:rPr lang="en-US" sz="1050" i="1" dirty="0">
                  <a:solidFill>
                    <a:srgbClr val="2A00FF"/>
                  </a:solidFill>
                  <a:latin typeface="Consolas" panose="020B0609020204030204" pitchFamily="49" charset="0"/>
                </a:rPr>
                <a:t>"Playing mp3"</a:t>
              </a:r>
              <a:r>
                <a:rPr lang="en-US" sz="1050" i="1"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a:t>
              </a:r>
              <a:endParaRPr lang="en-US" sz="1400" dirty="0"/>
            </a:p>
          </p:txBody>
        </p:sp>
        <p:sp>
          <p:nvSpPr>
            <p:cNvPr id="35" name="TextBox 34">
              <a:extLst>
                <a:ext uri="{FF2B5EF4-FFF2-40B4-BE49-F238E27FC236}">
                  <a16:creationId xmlns:a16="http://schemas.microsoft.com/office/drawing/2014/main" id="{EA2F5FF8-0F93-4F5E-9FD0-40683D9C1B73}"/>
                </a:ext>
              </a:extLst>
            </p:cNvPr>
            <p:cNvSpPr txBox="1"/>
            <p:nvPr/>
          </p:nvSpPr>
          <p:spPr>
            <a:xfrm>
              <a:off x="7751786" y="5617686"/>
              <a:ext cx="4185761" cy="738664"/>
            </a:xfrm>
            <a:prstGeom prst="rect">
              <a:avLst/>
            </a:prstGeom>
            <a:solidFill>
              <a:schemeClr val="bg1"/>
            </a:solidFill>
            <a:ln>
              <a:solidFill>
                <a:schemeClr val="bg1">
                  <a:lumMod val="50000"/>
                </a:schemeClr>
              </a:solidFill>
            </a:ln>
          </p:spPr>
          <p:txBody>
            <a:bodyPr wrap="none" rtlCol="0">
              <a:spAutoFit/>
            </a:bodyPr>
            <a:lstStyle/>
            <a:p>
              <a:r>
                <a:rPr lang="en-US" sz="1050" dirty="0">
                  <a:solidFill>
                    <a:srgbClr val="646464"/>
                  </a:solidFill>
                  <a:latin typeface="Consolas" panose="020B0609020204030204" pitchFamily="49" charset="0"/>
                </a:rPr>
                <a:t>@Override</a:t>
              </a:r>
            </a:p>
            <a:p>
              <a:r>
                <a:rPr lang="en-US" sz="1050" dirty="0">
                  <a:solidFill>
                    <a:srgbClr val="7F0055"/>
                  </a:solidFill>
                  <a:latin typeface="Consolas" panose="020B0609020204030204" pitchFamily="49" charset="0"/>
                </a:rPr>
                <a:t>void</a:t>
              </a:r>
              <a:r>
                <a:rPr lang="en-US" sz="1050" dirty="0">
                  <a:solidFill>
                    <a:srgbClr val="000000"/>
                  </a:solidFill>
                  <a:latin typeface="Consolas" panose="020B0609020204030204" pitchFamily="49" charset="0"/>
                </a:rPr>
                <a:t> play() {</a:t>
              </a:r>
            </a:p>
            <a:p>
              <a:pPr lvl="1"/>
              <a:r>
                <a:rPr lang="en-US" sz="1050" dirty="0" err="1">
                  <a:solidFill>
                    <a:srgbClr val="000000"/>
                  </a:solidFill>
                  <a:latin typeface="Consolas" panose="020B0609020204030204" pitchFamily="49" charset="0"/>
                </a:rPr>
                <a:t>System.</a:t>
              </a:r>
              <a:r>
                <a:rPr lang="en-US" sz="1050" i="1" dirty="0" err="1">
                  <a:solidFill>
                    <a:srgbClr val="0000C0"/>
                  </a:solidFill>
                  <a:latin typeface="Consolas" panose="020B0609020204030204" pitchFamily="49" charset="0"/>
                </a:rPr>
                <a:t>out</a:t>
              </a:r>
              <a:r>
                <a:rPr lang="en-US" sz="1050" i="1" dirty="0" err="1">
                  <a:solidFill>
                    <a:srgbClr val="000000"/>
                  </a:solidFill>
                  <a:latin typeface="Consolas" panose="020B0609020204030204" pitchFamily="49" charset="0"/>
                </a:rPr>
                <a:t>.println</a:t>
              </a:r>
              <a:r>
                <a:rPr lang="en-US" sz="1050" i="1" dirty="0">
                  <a:solidFill>
                    <a:srgbClr val="000000"/>
                  </a:solidFill>
                  <a:latin typeface="Consolas" panose="020B0609020204030204" pitchFamily="49" charset="0"/>
                </a:rPr>
                <a:t>(</a:t>
              </a:r>
              <a:r>
                <a:rPr lang="en-US" sz="1050" i="1" dirty="0">
                  <a:solidFill>
                    <a:srgbClr val="2A00FF"/>
                  </a:solidFill>
                  <a:latin typeface="Consolas" panose="020B0609020204030204" pitchFamily="49" charset="0"/>
                </a:rPr>
                <a:t>"Can't play! Just display!"</a:t>
              </a:r>
              <a:r>
                <a:rPr lang="en-US" sz="1050" i="1"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a:t>
              </a:r>
              <a:endParaRPr lang="en-US" sz="1400" dirty="0"/>
            </a:p>
          </p:txBody>
        </p:sp>
        <p:cxnSp>
          <p:nvCxnSpPr>
            <p:cNvPr id="38" name="Straight Connector 37">
              <a:extLst>
                <a:ext uri="{FF2B5EF4-FFF2-40B4-BE49-F238E27FC236}">
                  <a16:creationId xmlns:a16="http://schemas.microsoft.com/office/drawing/2014/main" id="{757D76C8-FCBC-45D8-B7DF-A3052B3BFF8E}"/>
                </a:ext>
              </a:extLst>
            </p:cNvPr>
            <p:cNvCxnSpPr>
              <a:endCxn id="31" idx="0"/>
            </p:cNvCxnSpPr>
            <p:nvPr/>
          </p:nvCxnSpPr>
          <p:spPr>
            <a:xfrm>
              <a:off x="6851099" y="3905201"/>
              <a:ext cx="182788" cy="2769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A74C691-5F80-460B-8C31-048AE1C3EC82}"/>
                </a:ext>
              </a:extLst>
            </p:cNvPr>
            <p:cNvCxnSpPr>
              <a:stCxn id="33" idx="0"/>
            </p:cNvCxnSpPr>
            <p:nvPr/>
          </p:nvCxnSpPr>
          <p:spPr>
            <a:xfrm flipH="1" flipV="1">
              <a:off x="8464731" y="3915112"/>
              <a:ext cx="524281" cy="81475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8DCB352-CA51-4028-8B9B-8D7EC57ACBCC}"/>
                </a:ext>
              </a:extLst>
            </p:cNvPr>
            <p:cNvCxnSpPr>
              <a:cxnSpLocks/>
            </p:cNvCxnSpPr>
            <p:nvPr/>
          </p:nvCxnSpPr>
          <p:spPr>
            <a:xfrm>
              <a:off x="9962606" y="3926127"/>
              <a:ext cx="1974941" cy="169155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id="{0189038E-ACE1-44D4-9CA4-55FF0AF3AAF2}"/>
              </a:ext>
            </a:extLst>
          </p:cNvPr>
          <p:cNvCxnSpPr>
            <a:endCxn id="6" idx="2"/>
          </p:cNvCxnSpPr>
          <p:nvPr/>
        </p:nvCxnSpPr>
        <p:spPr>
          <a:xfrm flipV="1">
            <a:off x="2873829" y="1460655"/>
            <a:ext cx="46613" cy="29915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7541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304" y="145775"/>
            <a:ext cx="5424037" cy="583096"/>
          </a:xfrm>
        </p:spPr>
        <p:txBody>
          <a:bodyPr/>
          <a:lstStyle/>
          <a:p>
            <a:r>
              <a:rPr lang="en-US" dirty="0"/>
              <a:t>Strategy Pattern: Clock Example</a:t>
            </a:r>
          </a:p>
        </p:txBody>
      </p:sp>
      <p:sp>
        <p:nvSpPr>
          <p:cNvPr id="5" name="Content Placeholder 4"/>
          <p:cNvSpPr>
            <a:spLocks noGrp="1"/>
          </p:cNvSpPr>
          <p:nvPr>
            <p:ph idx="1"/>
          </p:nvPr>
        </p:nvSpPr>
        <p:spPr>
          <a:xfrm>
            <a:off x="582285" y="1029666"/>
            <a:ext cx="9199930" cy="5691809"/>
          </a:xfrm>
        </p:spPr>
        <p:txBody>
          <a:bodyPr>
            <a:normAutofit/>
          </a:bodyPr>
          <a:lstStyle/>
          <a:p>
            <a:pPr marL="0" indent="0">
              <a:buNone/>
            </a:pPr>
            <a:r>
              <a:rPr lang="en-US" sz="1800" dirty="0"/>
              <a:t>Problem: </a:t>
            </a:r>
          </a:p>
          <a:p>
            <a:r>
              <a:rPr lang="en-US" sz="1400" dirty="0"/>
              <a:t>Too much variation in alarm-setting behavior across various clocks</a:t>
            </a:r>
          </a:p>
          <a:p>
            <a:r>
              <a:rPr lang="en-US" sz="1400" dirty="0"/>
              <a:t>Future devices may have different alarm behaviors, e.g. a </a:t>
            </a:r>
            <a:r>
              <a:rPr lang="en-US" sz="1400" dirty="0" err="1"/>
              <a:t>MicrowaveClock</a:t>
            </a:r>
            <a:r>
              <a:rPr lang="en-US" sz="1400" dirty="0"/>
              <a:t> with phone app to set alarm</a:t>
            </a:r>
          </a:p>
          <a:p>
            <a:pPr marL="0" indent="0">
              <a:buNone/>
            </a:pPr>
            <a:endParaRPr lang="en-US" sz="1400" dirty="0"/>
          </a:p>
          <a:p>
            <a:pPr lvl="1"/>
            <a:endParaRPr lang="en-US" sz="1000" dirty="0"/>
          </a:p>
          <a:p>
            <a:pPr marL="0" indent="0">
              <a:buNone/>
            </a:pPr>
            <a:endParaRPr lang="en-US" sz="1400" dirty="0"/>
          </a:p>
          <a:p>
            <a:pPr marL="0" indent="0">
              <a:buNone/>
            </a:pPr>
            <a:endParaRPr lang="en-US" sz="1400" dirty="0"/>
          </a:p>
        </p:txBody>
      </p:sp>
      <p:sp>
        <p:nvSpPr>
          <p:cNvPr id="2" name="Slide Number Placeholder 1"/>
          <p:cNvSpPr>
            <a:spLocks noGrp="1"/>
          </p:cNvSpPr>
          <p:nvPr>
            <p:ph type="sldNum" sz="quarter" idx="12"/>
          </p:nvPr>
        </p:nvSpPr>
        <p:spPr/>
        <p:txBody>
          <a:bodyPr/>
          <a:lstStyle/>
          <a:p>
            <a:fld id="{E60AC81A-0762-4854-947E-801A7DA89C28}" type="slidenum">
              <a:rPr lang="en-US" smtClean="0"/>
              <a:t>17</a:t>
            </a:fld>
            <a:endParaRPr lang="en-US"/>
          </a:p>
        </p:txBody>
      </p:sp>
      <p:grpSp>
        <p:nvGrpSpPr>
          <p:cNvPr id="30" name="Group 29"/>
          <p:cNvGrpSpPr/>
          <p:nvPr/>
        </p:nvGrpSpPr>
        <p:grpSpPr>
          <a:xfrm>
            <a:off x="1896453" y="2195401"/>
            <a:ext cx="7717775" cy="4526074"/>
            <a:chOff x="3966882" y="858679"/>
            <a:chExt cx="7717775" cy="4526074"/>
          </a:xfrm>
        </p:grpSpPr>
        <p:grpSp>
          <p:nvGrpSpPr>
            <p:cNvPr id="28" name="Group 27"/>
            <p:cNvGrpSpPr/>
            <p:nvPr/>
          </p:nvGrpSpPr>
          <p:grpSpPr>
            <a:xfrm>
              <a:off x="4195302" y="4290051"/>
              <a:ext cx="7329710" cy="1094702"/>
              <a:chOff x="3160055" y="4911210"/>
              <a:chExt cx="8319251" cy="1291006"/>
            </a:xfrm>
          </p:grpSpPr>
          <p:sp>
            <p:nvSpPr>
              <p:cNvPr id="8" name="TextBox 7"/>
              <p:cNvSpPr txBox="1"/>
              <p:nvPr/>
            </p:nvSpPr>
            <p:spPr>
              <a:xfrm>
                <a:off x="3160055" y="5177117"/>
                <a:ext cx="1600503" cy="369332"/>
              </a:xfrm>
              <a:prstGeom prst="rect">
                <a:avLst/>
              </a:prstGeom>
              <a:noFill/>
            </p:spPr>
            <p:txBody>
              <a:bodyPr wrap="none" rtlCol="0">
                <a:spAutoFit/>
              </a:bodyPr>
              <a:lstStyle/>
              <a:p>
                <a:r>
                  <a:rPr lang="en-US" dirty="0"/>
                  <a:t>Can’t set alarm</a:t>
                </a:r>
              </a:p>
            </p:txBody>
          </p:sp>
          <p:cxnSp>
            <p:nvCxnSpPr>
              <p:cNvPr id="10" name="Straight Arrow Connector 9"/>
              <p:cNvCxnSpPr>
                <a:stCxn id="8" idx="0"/>
              </p:cNvCxnSpPr>
              <p:nvPr/>
            </p:nvCxnSpPr>
            <p:spPr>
              <a:xfrm flipH="1" flipV="1">
                <a:off x="3671047" y="4929225"/>
                <a:ext cx="289260" cy="2478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0"/>
              </p:cNvCxnSpPr>
              <p:nvPr/>
            </p:nvCxnSpPr>
            <p:spPr>
              <a:xfrm flipV="1">
                <a:off x="3960307" y="4911210"/>
                <a:ext cx="1155243" cy="2659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470542" y="5141086"/>
                <a:ext cx="1521929" cy="663934"/>
              </a:xfrm>
              <a:prstGeom prst="rect">
                <a:avLst/>
              </a:prstGeom>
              <a:noFill/>
            </p:spPr>
            <p:txBody>
              <a:bodyPr wrap="square" rtlCol="0">
                <a:spAutoFit/>
              </a:bodyPr>
              <a:lstStyle/>
              <a:p>
                <a:r>
                  <a:rPr lang="en-US" dirty="0"/>
                  <a:t>Wind clock to set alarm</a:t>
                </a:r>
              </a:p>
            </p:txBody>
          </p:sp>
          <p:cxnSp>
            <p:nvCxnSpPr>
              <p:cNvPr id="15" name="Straight Arrow Connector 14"/>
              <p:cNvCxnSpPr>
                <a:stCxn id="14" idx="0"/>
              </p:cNvCxnSpPr>
              <p:nvPr/>
            </p:nvCxnSpPr>
            <p:spPr>
              <a:xfrm flipV="1">
                <a:off x="6231507" y="4929225"/>
                <a:ext cx="102058" cy="211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094529" y="5113313"/>
                <a:ext cx="1383474" cy="1088903"/>
              </a:xfrm>
              <a:prstGeom prst="rect">
                <a:avLst/>
              </a:prstGeom>
              <a:noFill/>
            </p:spPr>
            <p:txBody>
              <a:bodyPr wrap="square" rtlCol="0">
                <a:spAutoFit/>
              </a:bodyPr>
              <a:lstStyle/>
              <a:p>
                <a:r>
                  <a:rPr lang="en-US" dirty="0"/>
                  <a:t>Use phone app to set alarm</a:t>
                </a:r>
              </a:p>
            </p:txBody>
          </p:sp>
          <p:sp>
            <p:nvSpPr>
              <p:cNvPr id="18" name="TextBox 17"/>
              <p:cNvSpPr txBox="1"/>
              <p:nvPr/>
            </p:nvSpPr>
            <p:spPr>
              <a:xfrm>
                <a:off x="8510954" y="5141086"/>
                <a:ext cx="1256093" cy="646331"/>
              </a:xfrm>
              <a:prstGeom prst="rect">
                <a:avLst/>
              </a:prstGeom>
              <a:noFill/>
            </p:spPr>
            <p:txBody>
              <a:bodyPr wrap="square" rtlCol="0">
                <a:spAutoFit/>
              </a:bodyPr>
              <a:lstStyle/>
              <a:p>
                <a:r>
                  <a:rPr lang="en-US" dirty="0"/>
                  <a:t>Set alarm on device</a:t>
                </a:r>
              </a:p>
            </p:txBody>
          </p:sp>
          <p:sp>
            <p:nvSpPr>
              <p:cNvPr id="19" name="TextBox 18"/>
              <p:cNvSpPr txBox="1"/>
              <p:nvPr/>
            </p:nvSpPr>
            <p:spPr>
              <a:xfrm>
                <a:off x="10223213" y="5122114"/>
                <a:ext cx="1256093" cy="646331"/>
              </a:xfrm>
              <a:prstGeom prst="rect">
                <a:avLst/>
              </a:prstGeom>
              <a:noFill/>
            </p:spPr>
            <p:txBody>
              <a:bodyPr wrap="square" rtlCol="0">
                <a:spAutoFit/>
              </a:bodyPr>
              <a:lstStyle/>
              <a:p>
                <a:r>
                  <a:rPr lang="en-US" dirty="0"/>
                  <a:t>Set alarm on device</a:t>
                </a:r>
              </a:p>
            </p:txBody>
          </p:sp>
          <p:cxnSp>
            <p:nvCxnSpPr>
              <p:cNvPr id="20" name="Straight Arrow Connector 19"/>
              <p:cNvCxnSpPr>
                <a:stCxn id="17" idx="0"/>
              </p:cNvCxnSpPr>
              <p:nvPr/>
            </p:nvCxnSpPr>
            <p:spPr>
              <a:xfrm flipH="1" flipV="1">
                <a:off x="7722579" y="4929225"/>
                <a:ext cx="63687" cy="184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8" idx="0"/>
              </p:cNvCxnSpPr>
              <p:nvPr/>
            </p:nvCxnSpPr>
            <p:spPr>
              <a:xfrm flipV="1">
                <a:off x="9139001" y="4929225"/>
                <a:ext cx="147916" cy="211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9" idx="0"/>
              </p:cNvCxnSpPr>
              <p:nvPr/>
            </p:nvCxnSpPr>
            <p:spPr>
              <a:xfrm flipV="1">
                <a:off x="10851260" y="4915339"/>
                <a:ext cx="69373" cy="2067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29" name="Picture 28"/>
            <p:cNvPicPr>
              <a:picLocks noChangeAspect="1"/>
            </p:cNvPicPr>
            <p:nvPr/>
          </p:nvPicPr>
          <p:blipFill>
            <a:blip r:embed="rId2"/>
            <a:stretch>
              <a:fillRect/>
            </a:stretch>
          </p:blipFill>
          <p:spPr>
            <a:xfrm>
              <a:off x="3966882" y="858679"/>
              <a:ext cx="7717775" cy="3433759"/>
            </a:xfrm>
            <a:prstGeom prst="rect">
              <a:avLst/>
            </a:prstGeom>
          </p:spPr>
        </p:pic>
      </p:grpSp>
    </p:spTree>
    <p:extLst>
      <p:ext uri="{BB962C8B-B14F-4D97-AF65-F5344CB8AC3E}">
        <p14:creationId xmlns:p14="http://schemas.microsoft.com/office/powerpoint/2010/main" val="2488534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304" y="145775"/>
            <a:ext cx="5424037" cy="583096"/>
          </a:xfrm>
        </p:spPr>
        <p:txBody>
          <a:bodyPr/>
          <a:lstStyle/>
          <a:p>
            <a:r>
              <a:rPr lang="en-US" dirty="0"/>
              <a:t>Strategy Pattern: Clock Example</a:t>
            </a:r>
          </a:p>
        </p:txBody>
      </p:sp>
      <p:sp>
        <p:nvSpPr>
          <p:cNvPr id="5" name="Content Placeholder 4"/>
          <p:cNvSpPr>
            <a:spLocks noGrp="1"/>
          </p:cNvSpPr>
          <p:nvPr>
            <p:ph idx="1"/>
          </p:nvPr>
        </p:nvSpPr>
        <p:spPr>
          <a:xfrm>
            <a:off x="667449" y="847103"/>
            <a:ext cx="10686351" cy="5691809"/>
          </a:xfrm>
        </p:spPr>
        <p:txBody>
          <a:bodyPr>
            <a:normAutofit/>
          </a:bodyPr>
          <a:lstStyle/>
          <a:p>
            <a:pPr marL="0" indent="0">
              <a:buNone/>
            </a:pPr>
            <a:r>
              <a:rPr lang="en-US" sz="1400" dirty="0"/>
              <a:t>Solution: </a:t>
            </a:r>
          </a:p>
          <a:p>
            <a:r>
              <a:rPr lang="en-US" sz="1400" dirty="0"/>
              <a:t>Create interface </a:t>
            </a:r>
            <a:r>
              <a:rPr lang="en-US" sz="1400" dirty="0" err="1"/>
              <a:t>AlarmBehavior</a:t>
            </a:r>
            <a:r>
              <a:rPr lang="en-US" sz="1400" dirty="0"/>
              <a:t>. Implement it with concrete classes</a:t>
            </a:r>
          </a:p>
          <a:p>
            <a:pPr lvl="1"/>
            <a:r>
              <a:rPr lang="en-US" sz="1000" dirty="0" err="1"/>
              <a:t>NoAlarmBehavior</a:t>
            </a:r>
            <a:endParaRPr lang="en-US" sz="1000" dirty="0"/>
          </a:p>
          <a:p>
            <a:pPr lvl="1"/>
            <a:r>
              <a:rPr lang="en-US" sz="1000" dirty="0" err="1"/>
              <a:t>WindAlarmBehavior</a:t>
            </a:r>
            <a:endParaRPr lang="en-US" sz="1000" dirty="0"/>
          </a:p>
          <a:p>
            <a:pPr lvl="1"/>
            <a:r>
              <a:rPr lang="en-US" sz="1000" dirty="0" err="1"/>
              <a:t>AlarmAppBehavior</a:t>
            </a:r>
            <a:endParaRPr lang="en-US" sz="1000" dirty="0"/>
          </a:p>
          <a:p>
            <a:pPr lvl="1"/>
            <a:r>
              <a:rPr lang="en-US" sz="1000" dirty="0" err="1"/>
              <a:t>DeviceAlarmBehavior</a:t>
            </a:r>
            <a:endParaRPr lang="en-US" sz="1000" dirty="0"/>
          </a:p>
          <a:p>
            <a:r>
              <a:rPr lang="en-US" sz="1400" dirty="0"/>
              <a:t>Define </a:t>
            </a:r>
            <a:r>
              <a:rPr lang="en-US" sz="1400" dirty="0" err="1"/>
              <a:t>AlarmBehavior</a:t>
            </a:r>
            <a:r>
              <a:rPr lang="en-US" sz="1400" dirty="0"/>
              <a:t> as </a:t>
            </a:r>
            <a:r>
              <a:rPr lang="en-US" sz="1400" dirty="0" err="1"/>
              <a:t>memberVariable</a:t>
            </a:r>
            <a:r>
              <a:rPr lang="en-US" sz="1400" dirty="0"/>
              <a:t> in Clock. Pass an instance of appropriate alarm behavior when constructing an instance of Clock</a:t>
            </a:r>
          </a:p>
          <a:p>
            <a:pPr lvl="1"/>
            <a:endParaRPr lang="en-US" sz="1000" dirty="0"/>
          </a:p>
          <a:p>
            <a:pPr marL="0" indent="0">
              <a:buNone/>
            </a:pPr>
            <a:endParaRPr lang="en-US" sz="1400" dirty="0"/>
          </a:p>
          <a:p>
            <a:pPr marL="0" indent="0">
              <a:buNone/>
            </a:pPr>
            <a:endParaRPr lang="en-US" sz="1400" dirty="0"/>
          </a:p>
        </p:txBody>
      </p:sp>
      <p:sp>
        <p:nvSpPr>
          <p:cNvPr id="2" name="Slide Number Placeholder 1"/>
          <p:cNvSpPr>
            <a:spLocks noGrp="1"/>
          </p:cNvSpPr>
          <p:nvPr>
            <p:ph type="sldNum" sz="quarter" idx="12"/>
          </p:nvPr>
        </p:nvSpPr>
        <p:spPr/>
        <p:txBody>
          <a:bodyPr/>
          <a:lstStyle/>
          <a:p>
            <a:fld id="{E60AC81A-0762-4854-947E-801A7DA89C28}" type="slidenum">
              <a:rPr lang="en-US" smtClean="0"/>
              <a:t>18</a:t>
            </a:fld>
            <a:endParaRPr lang="en-US"/>
          </a:p>
        </p:txBody>
      </p:sp>
      <p:pic>
        <p:nvPicPr>
          <p:cNvPr id="3" name="Picture 2"/>
          <p:cNvPicPr>
            <a:picLocks noChangeAspect="1"/>
          </p:cNvPicPr>
          <p:nvPr/>
        </p:nvPicPr>
        <p:blipFill>
          <a:blip r:embed="rId2"/>
          <a:stretch>
            <a:fillRect/>
          </a:stretch>
        </p:blipFill>
        <p:spPr>
          <a:xfrm>
            <a:off x="667449" y="2861498"/>
            <a:ext cx="9210845" cy="3859977"/>
          </a:xfrm>
          <a:prstGeom prst="rect">
            <a:avLst/>
          </a:prstGeom>
        </p:spPr>
      </p:pic>
    </p:spTree>
    <p:extLst>
      <p:ext uri="{BB962C8B-B14F-4D97-AF65-F5344CB8AC3E}">
        <p14:creationId xmlns:p14="http://schemas.microsoft.com/office/powerpoint/2010/main" val="2655400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peech Bubble: Rectangle with Corners Rounded 10">
            <a:extLst>
              <a:ext uri="{FF2B5EF4-FFF2-40B4-BE49-F238E27FC236}">
                <a16:creationId xmlns:a16="http://schemas.microsoft.com/office/drawing/2014/main" id="{CD23CE8A-2B00-40D1-BEDC-6F3E978F56F7}"/>
              </a:ext>
            </a:extLst>
          </p:cNvPr>
          <p:cNvSpPr/>
          <p:nvPr/>
        </p:nvSpPr>
        <p:spPr>
          <a:xfrm>
            <a:off x="4669144" y="3273869"/>
            <a:ext cx="3668031" cy="1264024"/>
          </a:xfrm>
          <a:prstGeom prst="wedgeRoundRectCallout">
            <a:avLst>
              <a:gd name="adj1" fmla="val -42266"/>
              <a:gd name="adj2" fmla="val 120480"/>
              <a:gd name="adj3" fmla="val 1666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158C2346-7BEC-4066-B790-1CCECC832082}"/>
              </a:ext>
            </a:extLst>
          </p:cNvPr>
          <p:cNvSpPr/>
          <p:nvPr/>
        </p:nvSpPr>
        <p:spPr>
          <a:xfrm>
            <a:off x="8421733" y="3246239"/>
            <a:ext cx="3321185" cy="1264024"/>
          </a:xfrm>
          <a:prstGeom prst="wedgeRoundRectCallout">
            <a:avLst>
              <a:gd name="adj1" fmla="val 2948"/>
              <a:gd name="adj2" fmla="val 123317"/>
              <a:gd name="adj3" fmla="val 1666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peech Bubble: Rectangle with Corners Rounded 8">
            <a:extLst>
              <a:ext uri="{FF2B5EF4-FFF2-40B4-BE49-F238E27FC236}">
                <a16:creationId xmlns:a16="http://schemas.microsoft.com/office/drawing/2014/main" id="{68BE2FBB-FDD8-4D32-9E5B-83D879FDB6CB}"/>
              </a:ext>
            </a:extLst>
          </p:cNvPr>
          <p:cNvSpPr/>
          <p:nvPr/>
        </p:nvSpPr>
        <p:spPr>
          <a:xfrm>
            <a:off x="8206030" y="1685364"/>
            <a:ext cx="3044675" cy="1264024"/>
          </a:xfrm>
          <a:prstGeom prst="wedgeRoundRectCallout">
            <a:avLst>
              <a:gd name="adj1" fmla="val 28765"/>
              <a:gd name="adj2" fmla="val -74556"/>
              <a:gd name="adj3" fmla="val 1666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peech Bubble: Rectangle with Corners Rounded 5">
            <a:extLst>
              <a:ext uri="{FF2B5EF4-FFF2-40B4-BE49-F238E27FC236}">
                <a16:creationId xmlns:a16="http://schemas.microsoft.com/office/drawing/2014/main" id="{5F08F30F-AA54-4E59-834E-585E4A1E6A25}"/>
              </a:ext>
            </a:extLst>
          </p:cNvPr>
          <p:cNvSpPr/>
          <p:nvPr/>
        </p:nvSpPr>
        <p:spPr>
          <a:xfrm>
            <a:off x="5468471" y="1685364"/>
            <a:ext cx="1963270" cy="1264024"/>
          </a:xfrm>
          <a:prstGeom prst="wedgeRoundRectCallout">
            <a:avLst>
              <a:gd name="adj1" fmla="val 37653"/>
              <a:gd name="adj2" fmla="val -72428"/>
              <a:gd name="adj3" fmla="val 1666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Abstract factory / Factory method pattern: Clock factory</a:t>
            </a:r>
          </a:p>
        </p:txBody>
      </p:sp>
      <p:sp>
        <p:nvSpPr>
          <p:cNvPr id="3" name="Content Placeholder 2"/>
          <p:cNvSpPr>
            <a:spLocks noGrp="1"/>
          </p:cNvSpPr>
          <p:nvPr>
            <p:ph idx="1"/>
          </p:nvPr>
        </p:nvSpPr>
        <p:spPr>
          <a:xfrm>
            <a:off x="533641" y="861391"/>
            <a:ext cx="3926600" cy="5606644"/>
          </a:xfrm>
        </p:spPr>
        <p:txBody>
          <a:bodyPr>
            <a:normAutofit/>
          </a:bodyPr>
          <a:lstStyle/>
          <a:p>
            <a:r>
              <a:rPr lang="en-US" sz="1600" dirty="0"/>
              <a:t>How will you create Digital and Analog clocks?</a:t>
            </a:r>
          </a:p>
          <a:p>
            <a:endParaRPr lang="en-US" sz="1600" dirty="0"/>
          </a:p>
          <a:p>
            <a:r>
              <a:rPr lang="en-US" sz="1600" dirty="0"/>
              <a:t>First create the factories:</a:t>
            </a:r>
          </a:p>
          <a:p>
            <a:pPr marL="0" indent="0">
              <a:buNone/>
            </a:pPr>
            <a:r>
              <a:rPr lang="en-US" sz="1600" dirty="0" err="1">
                <a:solidFill>
                  <a:srgbClr val="7030A0"/>
                </a:solidFill>
              </a:rPr>
              <a:t>ClockFactory</a:t>
            </a:r>
            <a:r>
              <a:rPr lang="en-US" sz="1600" dirty="0">
                <a:solidFill>
                  <a:srgbClr val="7030A0"/>
                </a:solidFill>
              </a:rPr>
              <a:t> </a:t>
            </a:r>
            <a:r>
              <a:rPr lang="en-US" sz="1600" dirty="0" err="1">
                <a:solidFill>
                  <a:srgbClr val="7030A0"/>
                </a:solidFill>
              </a:rPr>
              <a:t>dcf</a:t>
            </a:r>
            <a:r>
              <a:rPr lang="en-US" sz="1600" dirty="0">
                <a:solidFill>
                  <a:srgbClr val="7030A0"/>
                </a:solidFill>
              </a:rPr>
              <a:t> = new </a:t>
            </a:r>
            <a:r>
              <a:rPr lang="en-US" sz="1600" dirty="0" err="1">
                <a:solidFill>
                  <a:srgbClr val="7030A0"/>
                </a:solidFill>
              </a:rPr>
              <a:t>DigitalClockFactory</a:t>
            </a:r>
            <a:r>
              <a:rPr lang="en-US" sz="1600" dirty="0">
                <a:solidFill>
                  <a:srgbClr val="7030A0"/>
                </a:solidFill>
              </a:rPr>
              <a:t>()</a:t>
            </a:r>
          </a:p>
          <a:p>
            <a:pPr marL="0" indent="0">
              <a:buNone/>
            </a:pPr>
            <a:r>
              <a:rPr lang="en-US" sz="1600" dirty="0" err="1">
                <a:solidFill>
                  <a:srgbClr val="7030A0"/>
                </a:solidFill>
              </a:rPr>
              <a:t>ClockFactory</a:t>
            </a:r>
            <a:r>
              <a:rPr lang="en-US" sz="1600" dirty="0">
                <a:solidFill>
                  <a:srgbClr val="7030A0"/>
                </a:solidFill>
              </a:rPr>
              <a:t> </a:t>
            </a:r>
            <a:r>
              <a:rPr lang="en-US" sz="1600" dirty="0" err="1">
                <a:solidFill>
                  <a:srgbClr val="7030A0"/>
                </a:solidFill>
              </a:rPr>
              <a:t>acf</a:t>
            </a:r>
            <a:r>
              <a:rPr lang="en-US" sz="1600" dirty="0">
                <a:solidFill>
                  <a:srgbClr val="7030A0"/>
                </a:solidFill>
              </a:rPr>
              <a:t> = new </a:t>
            </a:r>
            <a:r>
              <a:rPr lang="en-US" sz="1600" dirty="0" err="1">
                <a:solidFill>
                  <a:srgbClr val="7030A0"/>
                </a:solidFill>
              </a:rPr>
              <a:t>AnalogClockFactory</a:t>
            </a:r>
            <a:r>
              <a:rPr lang="en-US" sz="1600" dirty="0">
                <a:solidFill>
                  <a:srgbClr val="7030A0"/>
                </a:solidFill>
              </a:rPr>
              <a:t>()</a:t>
            </a:r>
          </a:p>
          <a:p>
            <a:endParaRPr lang="en-US" sz="1600" dirty="0"/>
          </a:p>
          <a:p>
            <a:r>
              <a:rPr lang="en-US" sz="1600" dirty="0"/>
              <a:t>Then ask the specific factory to create its clock</a:t>
            </a:r>
          </a:p>
          <a:p>
            <a:r>
              <a:rPr lang="en-US" sz="1600" dirty="0"/>
              <a:t>For Digital clock, </a:t>
            </a:r>
          </a:p>
          <a:p>
            <a:pPr marL="0" indent="0">
              <a:buNone/>
            </a:pPr>
            <a:r>
              <a:rPr lang="en-US" sz="1600" dirty="0">
                <a:solidFill>
                  <a:srgbClr val="7030A0"/>
                </a:solidFill>
              </a:rPr>
              <a:t>Clock clock = </a:t>
            </a:r>
            <a:r>
              <a:rPr lang="en-US" sz="1600" dirty="0" err="1">
                <a:solidFill>
                  <a:srgbClr val="7030A0"/>
                </a:solidFill>
              </a:rPr>
              <a:t>dcf.createClock</a:t>
            </a:r>
            <a:r>
              <a:rPr lang="en-US" sz="1600" dirty="0">
                <a:solidFill>
                  <a:srgbClr val="7030A0"/>
                </a:solidFill>
              </a:rPr>
              <a:t>();</a:t>
            </a:r>
          </a:p>
          <a:p>
            <a:endParaRPr lang="en-US" sz="1600" dirty="0"/>
          </a:p>
          <a:p>
            <a:r>
              <a:rPr lang="en-US" sz="1600" dirty="0"/>
              <a:t>For Analog clock,</a:t>
            </a:r>
          </a:p>
          <a:p>
            <a:pPr marL="0" indent="0">
              <a:buNone/>
            </a:pPr>
            <a:r>
              <a:rPr lang="en-US" sz="1600" dirty="0">
                <a:solidFill>
                  <a:srgbClr val="7030A0"/>
                </a:solidFill>
              </a:rPr>
              <a:t>Clock clock = </a:t>
            </a:r>
            <a:r>
              <a:rPr lang="en-US" sz="1600" dirty="0" err="1">
                <a:solidFill>
                  <a:srgbClr val="7030A0"/>
                </a:solidFill>
              </a:rPr>
              <a:t>acf.createClock</a:t>
            </a:r>
            <a:r>
              <a:rPr lang="en-US" sz="1600" dirty="0">
                <a:solidFill>
                  <a:srgbClr val="7030A0"/>
                </a:solidFill>
              </a:rPr>
              <a:t>();</a:t>
            </a:r>
          </a:p>
          <a:p>
            <a:endParaRPr lang="en-US" sz="1600" dirty="0"/>
          </a:p>
        </p:txBody>
      </p:sp>
      <p:sp>
        <p:nvSpPr>
          <p:cNvPr id="4" name="Slide Number Placeholder 3"/>
          <p:cNvSpPr>
            <a:spLocks noGrp="1"/>
          </p:cNvSpPr>
          <p:nvPr>
            <p:ph type="sldNum" sz="quarter" idx="12"/>
          </p:nvPr>
        </p:nvSpPr>
        <p:spPr/>
        <p:txBody>
          <a:bodyPr/>
          <a:lstStyle/>
          <a:p>
            <a:fld id="{E60AC81A-0762-4854-947E-801A7DA89C28}" type="slidenum">
              <a:rPr lang="en-US" smtClean="0"/>
              <a:t>19</a:t>
            </a:fld>
            <a:endParaRPr lang="en-US"/>
          </a:p>
        </p:txBody>
      </p:sp>
      <p:pic>
        <p:nvPicPr>
          <p:cNvPr id="8" name="Picture 7"/>
          <p:cNvPicPr>
            <a:picLocks noChangeAspect="1"/>
          </p:cNvPicPr>
          <p:nvPr/>
        </p:nvPicPr>
        <p:blipFill>
          <a:blip r:embed="rId2"/>
          <a:stretch>
            <a:fillRect/>
          </a:stretch>
        </p:blipFill>
        <p:spPr>
          <a:xfrm>
            <a:off x="4753702" y="1878382"/>
            <a:ext cx="6904658" cy="3294254"/>
          </a:xfrm>
          <a:prstGeom prst="rect">
            <a:avLst/>
          </a:prstGeom>
        </p:spPr>
      </p:pic>
      <p:sp>
        <p:nvSpPr>
          <p:cNvPr id="5" name="TextBox 4">
            <a:extLst>
              <a:ext uri="{FF2B5EF4-FFF2-40B4-BE49-F238E27FC236}">
                <a16:creationId xmlns:a16="http://schemas.microsoft.com/office/drawing/2014/main" id="{1F3678F5-9E0A-47FF-8B96-FFDF09D78ACC}"/>
              </a:ext>
            </a:extLst>
          </p:cNvPr>
          <p:cNvSpPr txBox="1"/>
          <p:nvPr/>
        </p:nvSpPr>
        <p:spPr>
          <a:xfrm>
            <a:off x="6614486" y="1081024"/>
            <a:ext cx="1509003" cy="338554"/>
          </a:xfrm>
          <a:prstGeom prst="rect">
            <a:avLst/>
          </a:prstGeom>
          <a:noFill/>
        </p:spPr>
        <p:txBody>
          <a:bodyPr wrap="none" rtlCol="0">
            <a:spAutoFit/>
          </a:bodyPr>
          <a:lstStyle/>
          <a:p>
            <a:r>
              <a:rPr lang="en-US" sz="1600" dirty="0"/>
              <a:t>Abstract factory</a:t>
            </a:r>
          </a:p>
        </p:txBody>
      </p:sp>
      <p:sp>
        <p:nvSpPr>
          <p:cNvPr id="10" name="TextBox 9">
            <a:extLst>
              <a:ext uri="{FF2B5EF4-FFF2-40B4-BE49-F238E27FC236}">
                <a16:creationId xmlns:a16="http://schemas.microsoft.com/office/drawing/2014/main" id="{EEB0EE34-EDA1-46E4-BC2E-19033DE12C00}"/>
              </a:ext>
            </a:extLst>
          </p:cNvPr>
          <p:cNvSpPr txBox="1"/>
          <p:nvPr/>
        </p:nvSpPr>
        <p:spPr>
          <a:xfrm>
            <a:off x="9982200" y="1049959"/>
            <a:ext cx="1579600" cy="338554"/>
          </a:xfrm>
          <a:prstGeom prst="rect">
            <a:avLst/>
          </a:prstGeom>
          <a:noFill/>
        </p:spPr>
        <p:txBody>
          <a:bodyPr wrap="none" rtlCol="0">
            <a:spAutoFit/>
          </a:bodyPr>
          <a:lstStyle/>
          <a:p>
            <a:r>
              <a:rPr lang="en-US" sz="1600" dirty="0"/>
              <a:t>Abstract product</a:t>
            </a:r>
          </a:p>
        </p:txBody>
      </p:sp>
      <p:sp>
        <p:nvSpPr>
          <p:cNvPr id="12" name="TextBox 11">
            <a:extLst>
              <a:ext uri="{FF2B5EF4-FFF2-40B4-BE49-F238E27FC236}">
                <a16:creationId xmlns:a16="http://schemas.microsoft.com/office/drawing/2014/main" id="{5EF68B8E-4A52-454B-BEC2-024DE350059D}"/>
              </a:ext>
            </a:extLst>
          </p:cNvPr>
          <p:cNvSpPr txBox="1"/>
          <p:nvPr/>
        </p:nvSpPr>
        <p:spPr>
          <a:xfrm>
            <a:off x="4355380" y="5425939"/>
            <a:ext cx="1703543" cy="338554"/>
          </a:xfrm>
          <a:prstGeom prst="rect">
            <a:avLst/>
          </a:prstGeom>
          <a:noFill/>
        </p:spPr>
        <p:txBody>
          <a:bodyPr wrap="none" rtlCol="0">
            <a:spAutoFit/>
          </a:bodyPr>
          <a:lstStyle/>
          <a:p>
            <a:r>
              <a:rPr lang="en-US" sz="1600" dirty="0"/>
              <a:t>Concrete factories</a:t>
            </a:r>
          </a:p>
        </p:txBody>
      </p:sp>
      <p:sp>
        <p:nvSpPr>
          <p:cNvPr id="13" name="TextBox 12">
            <a:extLst>
              <a:ext uri="{FF2B5EF4-FFF2-40B4-BE49-F238E27FC236}">
                <a16:creationId xmlns:a16="http://schemas.microsoft.com/office/drawing/2014/main" id="{DF3EC5FE-DA34-4031-9315-2D8710DD6989}"/>
              </a:ext>
            </a:extLst>
          </p:cNvPr>
          <p:cNvSpPr txBox="1"/>
          <p:nvPr/>
        </p:nvSpPr>
        <p:spPr>
          <a:xfrm>
            <a:off x="9729904" y="5365654"/>
            <a:ext cx="1719060" cy="338554"/>
          </a:xfrm>
          <a:prstGeom prst="rect">
            <a:avLst/>
          </a:prstGeom>
          <a:noFill/>
        </p:spPr>
        <p:txBody>
          <a:bodyPr wrap="none" rtlCol="0">
            <a:spAutoFit/>
          </a:bodyPr>
          <a:lstStyle/>
          <a:p>
            <a:r>
              <a:rPr lang="en-US" sz="1600" dirty="0"/>
              <a:t>Concrete products</a:t>
            </a:r>
          </a:p>
        </p:txBody>
      </p:sp>
    </p:spTree>
    <p:extLst>
      <p:ext uri="{BB962C8B-B14F-4D97-AF65-F5344CB8AC3E}">
        <p14:creationId xmlns:p14="http://schemas.microsoft.com/office/powerpoint/2010/main" val="862844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E760D-81ED-493D-BF1A-DAA3BBFE1412}"/>
              </a:ext>
            </a:extLst>
          </p:cNvPr>
          <p:cNvSpPr>
            <a:spLocks noGrp="1"/>
          </p:cNvSpPr>
          <p:nvPr>
            <p:ph type="title"/>
          </p:nvPr>
        </p:nvSpPr>
        <p:spPr/>
        <p:txBody>
          <a:bodyPr/>
          <a:lstStyle/>
          <a:p>
            <a:r>
              <a:rPr lang="en-US" dirty="0"/>
              <a:t>Abstract Factory Pattern: University</a:t>
            </a:r>
          </a:p>
        </p:txBody>
      </p:sp>
      <p:sp>
        <p:nvSpPr>
          <p:cNvPr id="4" name="Slide Number Placeholder 3">
            <a:extLst>
              <a:ext uri="{FF2B5EF4-FFF2-40B4-BE49-F238E27FC236}">
                <a16:creationId xmlns:a16="http://schemas.microsoft.com/office/drawing/2014/main" id="{D242CC46-12C8-4E2F-B370-5FBE8C8BB6FD}"/>
              </a:ext>
            </a:extLst>
          </p:cNvPr>
          <p:cNvSpPr>
            <a:spLocks noGrp="1"/>
          </p:cNvSpPr>
          <p:nvPr>
            <p:ph type="sldNum" sz="quarter" idx="12"/>
          </p:nvPr>
        </p:nvSpPr>
        <p:spPr/>
        <p:txBody>
          <a:bodyPr/>
          <a:lstStyle/>
          <a:p>
            <a:fld id="{E60AC81A-0762-4854-947E-801A7DA89C28}" type="slidenum">
              <a:rPr lang="en-US" smtClean="0"/>
              <a:t>20</a:t>
            </a:fld>
            <a:endParaRPr lang="en-US"/>
          </a:p>
        </p:txBody>
      </p:sp>
      <p:pic>
        <p:nvPicPr>
          <p:cNvPr id="12" name="Picture 11">
            <a:extLst>
              <a:ext uri="{FF2B5EF4-FFF2-40B4-BE49-F238E27FC236}">
                <a16:creationId xmlns:a16="http://schemas.microsoft.com/office/drawing/2014/main" id="{A3422A3D-9949-4043-82A5-A6A35E445DFE}"/>
              </a:ext>
            </a:extLst>
          </p:cNvPr>
          <p:cNvPicPr>
            <a:picLocks noChangeAspect="1"/>
          </p:cNvPicPr>
          <p:nvPr/>
        </p:nvPicPr>
        <p:blipFill>
          <a:blip r:embed="rId2"/>
          <a:stretch>
            <a:fillRect/>
          </a:stretch>
        </p:blipFill>
        <p:spPr>
          <a:xfrm>
            <a:off x="1252652" y="1001485"/>
            <a:ext cx="9355417" cy="5563235"/>
          </a:xfrm>
          <a:prstGeom prst="rect">
            <a:avLst/>
          </a:prstGeom>
        </p:spPr>
      </p:pic>
    </p:spTree>
    <p:extLst>
      <p:ext uri="{BB962C8B-B14F-4D97-AF65-F5344CB8AC3E}">
        <p14:creationId xmlns:p14="http://schemas.microsoft.com/office/powerpoint/2010/main" val="689479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42CC46-12C8-4E2F-B370-5FBE8C8BB6FD}"/>
              </a:ext>
            </a:extLst>
          </p:cNvPr>
          <p:cNvSpPr>
            <a:spLocks noGrp="1"/>
          </p:cNvSpPr>
          <p:nvPr>
            <p:ph type="sldNum" sz="quarter" idx="12"/>
          </p:nvPr>
        </p:nvSpPr>
        <p:spPr/>
        <p:txBody>
          <a:bodyPr/>
          <a:lstStyle/>
          <a:p>
            <a:fld id="{E60AC81A-0762-4854-947E-801A7DA89C28}" type="slidenum">
              <a:rPr lang="en-US" smtClean="0"/>
              <a:t>21</a:t>
            </a:fld>
            <a:endParaRPr lang="en-US"/>
          </a:p>
        </p:txBody>
      </p:sp>
      <p:pic>
        <p:nvPicPr>
          <p:cNvPr id="6" name="Picture 5">
            <a:extLst>
              <a:ext uri="{FF2B5EF4-FFF2-40B4-BE49-F238E27FC236}">
                <a16:creationId xmlns:a16="http://schemas.microsoft.com/office/drawing/2014/main" id="{AFCD8D48-5FFB-4833-B408-B1A60218ABB6}"/>
              </a:ext>
            </a:extLst>
          </p:cNvPr>
          <p:cNvPicPr>
            <a:picLocks noChangeAspect="1"/>
          </p:cNvPicPr>
          <p:nvPr/>
        </p:nvPicPr>
        <p:blipFill>
          <a:blip r:embed="rId2"/>
          <a:stretch>
            <a:fillRect/>
          </a:stretch>
        </p:blipFill>
        <p:spPr>
          <a:xfrm>
            <a:off x="90266" y="147121"/>
            <a:ext cx="6915150" cy="857250"/>
          </a:xfrm>
          <a:prstGeom prst="rect">
            <a:avLst/>
          </a:prstGeom>
          <a:ln>
            <a:solidFill>
              <a:schemeClr val="accent1"/>
            </a:solidFill>
          </a:ln>
        </p:spPr>
      </p:pic>
      <p:pic>
        <p:nvPicPr>
          <p:cNvPr id="7" name="Picture 6">
            <a:extLst>
              <a:ext uri="{FF2B5EF4-FFF2-40B4-BE49-F238E27FC236}">
                <a16:creationId xmlns:a16="http://schemas.microsoft.com/office/drawing/2014/main" id="{9859B827-AA35-4A9F-8B10-D64983EAE8C3}"/>
              </a:ext>
            </a:extLst>
          </p:cNvPr>
          <p:cNvPicPr>
            <a:picLocks noChangeAspect="1"/>
          </p:cNvPicPr>
          <p:nvPr/>
        </p:nvPicPr>
        <p:blipFill>
          <a:blip r:embed="rId3"/>
          <a:stretch>
            <a:fillRect/>
          </a:stretch>
        </p:blipFill>
        <p:spPr>
          <a:xfrm>
            <a:off x="196592" y="2405700"/>
            <a:ext cx="5629275" cy="2019300"/>
          </a:xfrm>
          <a:prstGeom prst="rect">
            <a:avLst/>
          </a:prstGeom>
          <a:ln>
            <a:solidFill>
              <a:schemeClr val="accent1"/>
            </a:solidFill>
          </a:ln>
        </p:spPr>
      </p:pic>
      <p:pic>
        <p:nvPicPr>
          <p:cNvPr id="8" name="Picture 7">
            <a:extLst>
              <a:ext uri="{FF2B5EF4-FFF2-40B4-BE49-F238E27FC236}">
                <a16:creationId xmlns:a16="http://schemas.microsoft.com/office/drawing/2014/main" id="{D2432BBF-0A31-4D15-A22A-C6994728B033}"/>
              </a:ext>
            </a:extLst>
          </p:cNvPr>
          <p:cNvPicPr>
            <a:picLocks noChangeAspect="1"/>
          </p:cNvPicPr>
          <p:nvPr/>
        </p:nvPicPr>
        <p:blipFill>
          <a:blip r:embed="rId4"/>
          <a:stretch>
            <a:fillRect/>
          </a:stretch>
        </p:blipFill>
        <p:spPr>
          <a:xfrm>
            <a:off x="193489" y="4549603"/>
            <a:ext cx="8542695" cy="2171872"/>
          </a:xfrm>
          <a:prstGeom prst="rect">
            <a:avLst/>
          </a:prstGeom>
          <a:ln>
            <a:solidFill>
              <a:schemeClr val="accent1"/>
            </a:solidFill>
          </a:ln>
        </p:spPr>
      </p:pic>
      <p:pic>
        <p:nvPicPr>
          <p:cNvPr id="9" name="Picture 8">
            <a:extLst>
              <a:ext uri="{FF2B5EF4-FFF2-40B4-BE49-F238E27FC236}">
                <a16:creationId xmlns:a16="http://schemas.microsoft.com/office/drawing/2014/main" id="{2514FFC0-FB3A-407B-9CAF-82F8CE40D6D5}"/>
              </a:ext>
            </a:extLst>
          </p:cNvPr>
          <p:cNvPicPr>
            <a:picLocks noChangeAspect="1"/>
          </p:cNvPicPr>
          <p:nvPr/>
        </p:nvPicPr>
        <p:blipFill>
          <a:blip r:embed="rId5"/>
          <a:stretch>
            <a:fillRect/>
          </a:stretch>
        </p:blipFill>
        <p:spPr>
          <a:xfrm>
            <a:off x="5445116" y="4182537"/>
            <a:ext cx="6330968" cy="1574438"/>
          </a:xfrm>
          <a:prstGeom prst="rect">
            <a:avLst/>
          </a:prstGeom>
          <a:ln>
            <a:solidFill>
              <a:schemeClr val="accent1"/>
            </a:solidFill>
          </a:ln>
        </p:spPr>
      </p:pic>
      <p:pic>
        <p:nvPicPr>
          <p:cNvPr id="13" name="Picture 12">
            <a:extLst>
              <a:ext uri="{FF2B5EF4-FFF2-40B4-BE49-F238E27FC236}">
                <a16:creationId xmlns:a16="http://schemas.microsoft.com/office/drawing/2014/main" id="{EFADBBBB-1767-4A70-AF7F-C848363240B8}"/>
              </a:ext>
            </a:extLst>
          </p:cNvPr>
          <p:cNvPicPr>
            <a:picLocks noChangeAspect="1"/>
          </p:cNvPicPr>
          <p:nvPr/>
        </p:nvPicPr>
        <p:blipFill>
          <a:blip r:embed="rId6"/>
          <a:stretch>
            <a:fillRect/>
          </a:stretch>
        </p:blipFill>
        <p:spPr>
          <a:xfrm>
            <a:off x="470475" y="712093"/>
            <a:ext cx="6067425" cy="1543050"/>
          </a:xfrm>
          <a:prstGeom prst="rect">
            <a:avLst/>
          </a:prstGeom>
          <a:ln>
            <a:solidFill>
              <a:srgbClr val="00B0F0"/>
            </a:solidFill>
          </a:ln>
        </p:spPr>
      </p:pic>
      <p:pic>
        <p:nvPicPr>
          <p:cNvPr id="14" name="Picture 13">
            <a:extLst>
              <a:ext uri="{FF2B5EF4-FFF2-40B4-BE49-F238E27FC236}">
                <a16:creationId xmlns:a16="http://schemas.microsoft.com/office/drawing/2014/main" id="{9830B9ED-2800-4F14-9F35-47940A5386D1}"/>
              </a:ext>
            </a:extLst>
          </p:cNvPr>
          <p:cNvPicPr>
            <a:picLocks noChangeAspect="1"/>
          </p:cNvPicPr>
          <p:nvPr/>
        </p:nvPicPr>
        <p:blipFill>
          <a:blip r:embed="rId7"/>
          <a:stretch>
            <a:fillRect/>
          </a:stretch>
        </p:blipFill>
        <p:spPr>
          <a:xfrm>
            <a:off x="6129559" y="1764779"/>
            <a:ext cx="5972175" cy="1657350"/>
          </a:xfrm>
          <a:prstGeom prst="rect">
            <a:avLst/>
          </a:prstGeom>
          <a:ln>
            <a:solidFill>
              <a:srgbClr val="00B0F0"/>
            </a:solidFill>
          </a:ln>
        </p:spPr>
      </p:pic>
    </p:spTree>
    <p:extLst>
      <p:ext uri="{BB962C8B-B14F-4D97-AF65-F5344CB8AC3E}">
        <p14:creationId xmlns:p14="http://schemas.microsoft.com/office/powerpoint/2010/main" val="3845822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8907795-DA00-4D4B-B167-616400CE5ED2}"/>
              </a:ext>
            </a:extLst>
          </p:cNvPr>
          <p:cNvPicPr>
            <a:picLocks noChangeAspect="1"/>
          </p:cNvPicPr>
          <p:nvPr/>
        </p:nvPicPr>
        <p:blipFill>
          <a:blip r:embed="rId2"/>
          <a:stretch>
            <a:fillRect/>
          </a:stretch>
        </p:blipFill>
        <p:spPr>
          <a:xfrm>
            <a:off x="0" y="25935"/>
            <a:ext cx="3927988" cy="2377023"/>
          </a:xfrm>
          <a:prstGeom prst="rect">
            <a:avLst/>
          </a:prstGeom>
          <a:ln>
            <a:solidFill>
              <a:srgbClr val="00B0F0"/>
            </a:solidFill>
          </a:ln>
        </p:spPr>
      </p:pic>
      <p:sp>
        <p:nvSpPr>
          <p:cNvPr id="12" name="TextBox 11">
            <a:extLst>
              <a:ext uri="{FF2B5EF4-FFF2-40B4-BE49-F238E27FC236}">
                <a16:creationId xmlns:a16="http://schemas.microsoft.com/office/drawing/2014/main" id="{6C3A2BA9-8B3E-4425-8F36-A2522C582A81}"/>
              </a:ext>
            </a:extLst>
          </p:cNvPr>
          <p:cNvSpPr txBox="1"/>
          <p:nvPr/>
        </p:nvSpPr>
        <p:spPr>
          <a:xfrm>
            <a:off x="4444411" y="53828"/>
            <a:ext cx="1350434" cy="1200329"/>
          </a:xfrm>
          <a:prstGeom prst="rect">
            <a:avLst/>
          </a:prstGeom>
          <a:noFill/>
          <a:ln>
            <a:solidFill>
              <a:srgbClr val="00B0F0"/>
            </a:solidFill>
          </a:ln>
        </p:spPr>
        <p:txBody>
          <a:bodyPr wrap="none" rtlCol="0">
            <a:spAutoFit/>
          </a:bodyPr>
          <a:lstStyle/>
          <a:p>
            <a:r>
              <a:rPr lang="en-US" dirty="0"/>
              <a:t>Janet, MISM</a:t>
            </a:r>
          </a:p>
          <a:p>
            <a:r>
              <a:rPr lang="en-US" dirty="0"/>
              <a:t>John, MISM</a:t>
            </a:r>
          </a:p>
          <a:p>
            <a:r>
              <a:rPr lang="en-US" dirty="0"/>
              <a:t>Bill, MBA</a:t>
            </a:r>
          </a:p>
          <a:p>
            <a:r>
              <a:rPr lang="en-US" dirty="0"/>
              <a:t>Jill, MBA</a:t>
            </a:r>
          </a:p>
        </p:txBody>
      </p:sp>
      <p:pic>
        <p:nvPicPr>
          <p:cNvPr id="13" name="Picture 12">
            <a:extLst>
              <a:ext uri="{FF2B5EF4-FFF2-40B4-BE49-F238E27FC236}">
                <a16:creationId xmlns:a16="http://schemas.microsoft.com/office/drawing/2014/main" id="{2A42DD31-93A4-481C-8D6A-813CDEC6B698}"/>
              </a:ext>
            </a:extLst>
          </p:cNvPr>
          <p:cNvPicPr>
            <a:picLocks noChangeAspect="1"/>
          </p:cNvPicPr>
          <p:nvPr/>
        </p:nvPicPr>
        <p:blipFill>
          <a:blip r:embed="rId3"/>
          <a:stretch>
            <a:fillRect/>
          </a:stretch>
        </p:blipFill>
        <p:spPr>
          <a:xfrm>
            <a:off x="7804298" y="132265"/>
            <a:ext cx="3924300" cy="990600"/>
          </a:xfrm>
          <a:prstGeom prst="rect">
            <a:avLst/>
          </a:prstGeom>
          <a:ln>
            <a:solidFill>
              <a:srgbClr val="00B0F0"/>
            </a:solidFill>
          </a:ln>
        </p:spPr>
      </p:pic>
      <p:grpSp>
        <p:nvGrpSpPr>
          <p:cNvPr id="17" name="Group 16">
            <a:extLst>
              <a:ext uri="{FF2B5EF4-FFF2-40B4-BE49-F238E27FC236}">
                <a16:creationId xmlns:a16="http://schemas.microsoft.com/office/drawing/2014/main" id="{44FA2166-31F4-4D97-B498-FA2469503BA5}"/>
              </a:ext>
            </a:extLst>
          </p:cNvPr>
          <p:cNvGrpSpPr/>
          <p:nvPr/>
        </p:nvGrpSpPr>
        <p:grpSpPr>
          <a:xfrm>
            <a:off x="2988750" y="1781175"/>
            <a:ext cx="9191625" cy="5076825"/>
            <a:chOff x="2988750" y="1781175"/>
            <a:chExt cx="9191625" cy="5076825"/>
          </a:xfrm>
        </p:grpSpPr>
        <p:pic>
          <p:nvPicPr>
            <p:cNvPr id="16" name="Picture 15">
              <a:extLst>
                <a:ext uri="{FF2B5EF4-FFF2-40B4-BE49-F238E27FC236}">
                  <a16:creationId xmlns:a16="http://schemas.microsoft.com/office/drawing/2014/main" id="{4ECE1478-2F40-457C-AE07-77B07807264F}"/>
                </a:ext>
              </a:extLst>
            </p:cNvPr>
            <p:cNvPicPr>
              <a:picLocks noChangeAspect="1"/>
            </p:cNvPicPr>
            <p:nvPr/>
          </p:nvPicPr>
          <p:blipFill>
            <a:blip r:embed="rId4"/>
            <a:stretch>
              <a:fillRect/>
            </a:stretch>
          </p:blipFill>
          <p:spPr>
            <a:xfrm>
              <a:off x="2988750" y="1781175"/>
              <a:ext cx="9191625" cy="5076825"/>
            </a:xfrm>
            <a:prstGeom prst="rect">
              <a:avLst/>
            </a:prstGeom>
            <a:ln>
              <a:solidFill>
                <a:srgbClr val="00B0F0"/>
              </a:solidFill>
            </a:ln>
          </p:spPr>
        </p:pic>
        <p:sp>
          <p:nvSpPr>
            <p:cNvPr id="11" name="Rectangle: Rounded Corners 10">
              <a:extLst>
                <a:ext uri="{FF2B5EF4-FFF2-40B4-BE49-F238E27FC236}">
                  <a16:creationId xmlns:a16="http://schemas.microsoft.com/office/drawing/2014/main" id="{DE8FAB65-B223-4586-87C6-77DD79343B41}"/>
                </a:ext>
              </a:extLst>
            </p:cNvPr>
            <p:cNvSpPr/>
            <p:nvPr/>
          </p:nvSpPr>
          <p:spPr>
            <a:xfrm>
              <a:off x="4401879" y="4177816"/>
              <a:ext cx="6804837" cy="494415"/>
            </a:xfrm>
            <a:prstGeom prst="round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D2031F33-51C4-4CF1-A55D-20A93CBCCE8E}"/>
              </a:ext>
            </a:extLst>
          </p:cNvPr>
          <p:cNvSpPr txBox="1"/>
          <p:nvPr/>
        </p:nvSpPr>
        <p:spPr>
          <a:xfrm>
            <a:off x="4475188" y="1254157"/>
            <a:ext cx="1319657" cy="369332"/>
          </a:xfrm>
          <a:prstGeom prst="rect">
            <a:avLst/>
          </a:prstGeom>
          <a:noFill/>
        </p:spPr>
        <p:txBody>
          <a:bodyPr wrap="none" rtlCol="0">
            <a:spAutoFit/>
          </a:bodyPr>
          <a:lstStyle/>
          <a:p>
            <a:r>
              <a:rPr lang="en-US" dirty="0"/>
              <a:t>Students.txt</a:t>
            </a:r>
          </a:p>
        </p:txBody>
      </p:sp>
      <p:sp>
        <p:nvSpPr>
          <p:cNvPr id="19" name="TextBox 18">
            <a:extLst>
              <a:ext uri="{FF2B5EF4-FFF2-40B4-BE49-F238E27FC236}">
                <a16:creationId xmlns:a16="http://schemas.microsoft.com/office/drawing/2014/main" id="{178EF6D3-8826-459D-836A-1EDB69C8D011}"/>
              </a:ext>
            </a:extLst>
          </p:cNvPr>
          <p:cNvSpPr txBox="1"/>
          <p:nvPr/>
        </p:nvSpPr>
        <p:spPr>
          <a:xfrm>
            <a:off x="8686632" y="1122865"/>
            <a:ext cx="856325" cy="369332"/>
          </a:xfrm>
          <a:prstGeom prst="rect">
            <a:avLst/>
          </a:prstGeom>
          <a:noFill/>
        </p:spPr>
        <p:txBody>
          <a:bodyPr wrap="none" rtlCol="0">
            <a:spAutoFit/>
          </a:bodyPr>
          <a:lstStyle/>
          <a:p>
            <a:r>
              <a:rPr lang="en-US" dirty="0"/>
              <a:t>Output</a:t>
            </a:r>
          </a:p>
        </p:txBody>
      </p:sp>
    </p:spTree>
    <p:extLst>
      <p:ext uri="{BB962C8B-B14F-4D97-AF65-F5344CB8AC3E}">
        <p14:creationId xmlns:p14="http://schemas.microsoft.com/office/powerpoint/2010/main" val="33454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304" y="145775"/>
            <a:ext cx="3521173" cy="583096"/>
          </a:xfrm>
        </p:spPr>
        <p:txBody>
          <a:bodyPr/>
          <a:lstStyle/>
          <a:p>
            <a:r>
              <a:rPr lang="en-US" dirty="0"/>
              <a:t>Singleton Pattern </a:t>
            </a:r>
          </a:p>
        </p:txBody>
      </p:sp>
      <p:sp>
        <p:nvSpPr>
          <p:cNvPr id="2" name="Slide Number Placeholder 1"/>
          <p:cNvSpPr>
            <a:spLocks noGrp="1"/>
          </p:cNvSpPr>
          <p:nvPr>
            <p:ph type="sldNum" sz="quarter" idx="12"/>
          </p:nvPr>
        </p:nvSpPr>
        <p:spPr/>
        <p:txBody>
          <a:bodyPr/>
          <a:lstStyle/>
          <a:p>
            <a:fld id="{E60AC81A-0762-4854-947E-801A7DA89C28}" type="slidenum">
              <a:rPr lang="en-US" smtClean="0"/>
              <a:t>23</a:t>
            </a:fld>
            <a:endParaRPr lang="en-US"/>
          </a:p>
        </p:txBody>
      </p:sp>
      <p:sp>
        <p:nvSpPr>
          <p:cNvPr id="21" name="Content Placeholder 2"/>
          <p:cNvSpPr txBox="1">
            <a:spLocks/>
          </p:cNvSpPr>
          <p:nvPr/>
        </p:nvSpPr>
        <p:spPr>
          <a:xfrm>
            <a:off x="331303" y="3300549"/>
            <a:ext cx="11022497" cy="28764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Problem: Restricting the number of instances of a class</a:t>
            </a:r>
          </a:p>
          <a:p>
            <a:r>
              <a:rPr lang="en-US" sz="1800" dirty="0"/>
              <a:t>Pattern Intent: Ensures a class has </a:t>
            </a:r>
            <a:r>
              <a:rPr lang="en-US" sz="1800" u="sng" dirty="0"/>
              <a:t>only one instance </a:t>
            </a:r>
            <a:r>
              <a:rPr lang="en-US" sz="1800" dirty="0"/>
              <a:t>and provides a </a:t>
            </a:r>
            <a:r>
              <a:rPr lang="en-US" sz="1800" u="sng" dirty="0"/>
              <a:t>global access point </a:t>
            </a:r>
            <a:r>
              <a:rPr lang="en-US" sz="1800" dirty="0"/>
              <a:t>to it. </a:t>
            </a:r>
          </a:p>
          <a:p>
            <a:endParaRPr lang="en-US" sz="1800" dirty="0"/>
          </a:p>
          <a:p>
            <a:r>
              <a:rPr lang="en-US" sz="1800" dirty="0"/>
              <a:t>Steps:</a:t>
            </a:r>
          </a:p>
          <a:p>
            <a:pPr lvl="1"/>
            <a:r>
              <a:rPr lang="en-US" sz="1600" dirty="0"/>
              <a:t>Create private constructor of the singleton class</a:t>
            </a:r>
          </a:p>
          <a:p>
            <a:pPr lvl="1"/>
            <a:r>
              <a:rPr lang="en-US" sz="1600" dirty="0"/>
              <a:t>Make a private static member variable X of the class-type itself</a:t>
            </a:r>
          </a:p>
          <a:p>
            <a:pPr lvl="1"/>
            <a:r>
              <a:rPr lang="en-US" sz="1600" dirty="0"/>
              <a:t>Create a public static method </a:t>
            </a:r>
            <a:r>
              <a:rPr lang="en-US" sz="1600" dirty="0" err="1"/>
              <a:t>getInstance</a:t>
            </a:r>
            <a:r>
              <a:rPr lang="en-US" sz="1600" dirty="0"/>
              <a:t>() that returns a reference to the instance of singleton class</a:t>
            </a:r>
          </a:p>
          <a:p>
            <a:pPr lvl="1"/>
            <a:r>
              <a:rPr lang="en-US" sz="1600" dirty="0" err="1"/>
              <a:t>getInstance</a:t>
            </a:r>
            <a:r>
              <a:rPr lang="en-US" sz="1600" dirty="0"/>
              <a:t>() should instantiate the singleton class only when X is null</a:t>
            </a:r>
          </a:p>
        </p:txBody>
      </p:sp>
      <p:pic>
        <p:nvPicPr>
          <p:cNvPr id="3" name="Picture 2"/>
          <p:cNvPicPr>
            <a:picLocks noChangeAspect="1"/>
          </p:cNvPicPr>
          <p:nvPr/>
        </p:nvPicPr>
        <p:blipFill>
          <a:blip r:embed="rId2"/>
          <a:stretch>
            <a:fillRect/>
          </a:stretch>
        </p:blipFill>
        <p:spPr>
          <a:xfrm>
            <a:off x="3060654" y="1227364"/>
            <a:ext cx="5038725" cy="1828800"/>
          </a:xfrm>
          <a:prstGeom prst="rect">
            <a:avLst/>
          </a:prstGeom>
        </p:spPr>
      </p:pic>
    </p:spTree>
    <p:extLst>
      <p:ext uri="{BB962C8B-B14F-4D97-AF65-F5344CB8AC3E}">
        <p14:creationId xmlns:p14="http://schemas.microsoft.com/office/powerpoint/2010/main" val="405631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65AA-2C5A-4B88-992D-EAC02FB5D1BC}"/>
              </a:ext>
            </a:extLst>
          </p:cNvPr>
          <p:cNvSpPr>
            <a:spLocks noGrp="1"/>
          </p:cNvSpPr>
          <p:nvPr>
            <p:ph type="title"/>
          </p:nvPr>
        </p:nvSpPr>
        <p:spPr/>
        <p:txBody>
          <a:bodyPr/>
          <a:lstStyle/>
          <a:p>
            <a:r>
              <a:rPr lang="en-US" dirty="0"/>
              <a:t>Singleton in Python 1</a:t>
            </a:r>
          </a:p>
        </p:txBody>
      </p:sp>
      <p:sp>
        <p:nvSpPr>
          <p:cNvPr id="3" name="Content Placeholder 2">
            <a:extLst>
              <a:ext uri="{FF2B5EF4-FFF2-40B4-BE49-F238E27FC236}">
                <a16:creationId xmlns:a16="http://schemas.microsoft.com/office/drawing/2014/main" id="{D0839101-9301-4E0A-9EB7-02A433AAC8BB}"/>
              </a:ext>
            </a:extLst>
          </p:cNvPr>
          <p:cNvSpPr>
            <a:spLocks noGrp="1"/>
          </p:cNvSpPr>
          <p:nvPr>
            <p:ph idx="1"/>
          </p:nvPr>
        </p:nvSpPr>
        <p:spPr>
          <a:xfrm>
            <a:off x="331304" y="861391"/>
            <a:ext cx="4467119" cy="5315572"/>
          </a:xfrm>
        </p:spPr>
        <p:txBody>
          <a:bodyPr>
            <a:normAutofit fontScale="47500" lnSpcReduction="20000"/>
          </a:bodyPr>
          <a:lstStyle/>
          <a:p>
            <a:pPr marL="0" indent="0">
              <a:buNone/>
            </a:pPr>
            <a:r>
              <a:rPr lang="en-US" dirty="0"/>
              <a:t>class Singleton:</a:t>
            </a:r>
          </a:p>
          <a:p>
            <a:pPr marL="0" indent="0">
              <a:buNone/>
            </a:pPr>
            <a:r>
              <a:rPr lang="en-US" dirty="0"/>
              <a:t>   __instance = None</a:t>
            </a:r>
          </a:p>
          <a:p>
            <a:pPr marL="0" indent="0">
              <a:buNone/>
            </a:pPr>
            <a:r>
              <a:rPr lang="en-US" dirty="0"/>
              <a:t>   @staticmethod </a:t>
            </a:r>
          </a:p>
          <a:p>
            <a:pPr marL="0" indent="0">
              <a:buNone/>
            </a:pPr>
            <a:r>
              <a:rPr lang="en-US" dirty="0"/>
              <a:t>   def </a:t>
            </a:r>
            <a:r>
              <a:rPr lang="en-US" dirty="0" err="1"/>
              <a:t>getInstance</a:t>
            </a:r>
            <a:r>
              <a:rPr lang="en-US" dirty="0"/>
              <a:t>():</a:t>
            </a:r>
          </a:p>
          <a:p>
            <a:pPr marL="0" indent="0">
              <a:buNone/>
            </a:pPr>
            <a:r>
              <a:rPr lang="en-US" dirty="0"/>
              <a:t>      </a:t>
            </a:r>
            <a:r>
              <a:rPr lang="en-US" dirty="0">
                <a:solidFill>
                  <a:srgbClr val="92D050"/>
                </a:solidFill>
              </a:rPr>
              <a:t>""" Static access method. """</a:t>
            </a:r>
          </a:p>
          <a:p>
            <a:pPr marL="0" indent="0">
              <a:buNone/>
            </a:pPr>
            <a:r>
              <a:rPr lang="en-US" dirty="0"/>
              <a:t>      if </a:t>
            </a:r>
            <a:r>
              <a:rPr lang="en-US" dirty="0" err="1"/>
              <a:t>Singleton.__instance</a:t>
            </a:r>
            <a:r>
              <a:rPr lang="en-US" dirty="0"/>
              <a:t> == None:</a:t>
            </a:r>
          </a:p>
          <a:p>
            <a:pPr marL="0" indent="0">
              <a:buNone/>
            </a:pPr>
            <a:r>
              <a:rPr lang="en-US" dirty="0"/>
              <a:t>         Singleton()</a:t>
            </a:r>
          </a:p>
          <a:p>
            <a:pPr marL="0" indent="0">
              <a:buNone/>
            </a:pPr>
            <a:r>
              <a:rPr lang="en-US" dirty="0"/>
              <a:t>      return </a:t>
            </a:r>
            <a:r>
              <a:rPr lang="en-US" dirty="0" err="1"/>
              <a:t>Singleton.__instance</a:t>
            </a:r>
            <a:endParaRPr lang="en-US" dirty="0"/>
          </a:p>
          <a:p>
            <a:pPr marL="0" indent="0">
              <a:buNone/>
            </a:pPr>
            <a:r>
              <a:rPr lang="en-US" dirty="0"/>
              <a:t>   def __</a:t>
            </a:r>
            <a:r>
              <a:rPr lang="en-US" dirty="0" err="1"/>
              <a:t>init</a:t>
            </a:r>
            <a:r>
              <a:rPr lang="en-US" dirty="0"/>
              <a:t>__(self):</a:t>
            </a:r>
          </a:p>
          <a:p>
            <a:pPr marL="0" indent="0">
              <a:buNone/>
            </a:pPr>
            <a:r>
              <a:rPr lang="en-US" dirty="0"/>
              <a:t>      </a:t>
            </a:r>
            <a:r>
              <a:rPr lang="en-US" dirty="0">
                <a:solidFill>
                  <a:srgbClr val="92D050"/>
                </a:solidFill>
              </a:rPr>
              <a:t>""" Virtually private constructor. """</a:t>
            </a:r>
          </a:p>
          <a:p>
            <a:pPr marL="0" indent="0">
              <a:buNone/>
            </a:pPr>
            <a:r>
              <a:rPr lang="en-US" dirty="0"/>
              <a:t>      if </a:t>
            </a:r>
            <a:r>
              <a:rPr lang="en-US" dirty="0" err="1"/>
              <a:t>Singleton.__instance</a:t>
            </a:r>
            <a:r>
              <a:rPr lang="en-US" dirty="0"/>
              <a:t> != None:</a:t>
            </a:r>
          </a:p>
          <a:p>
            <a:pPr marL="0" indent="0">
              <a:buNone/>
            </a:pPr>
            <a:r>
              <a:rPr lang="en-US" dirty="0"/>
              <a:t>         raise Exception("This class is a singleton!")</a:t>
            </a:r>
          </a:p>
          <a:p>
            <a:pPr marL="0" indent="0">
              <a:buNone/>
            </a:pPr>
            <a:r>
              <a:rPr lang="en-US" dirty="0"/>
              <a:t>      else:</a:t>
            </a:r>
          </a:p>
          <a:p>
            <a:pPr marL="0" indent="0">
              <a:buNone/>
            </a:pPr>
            <a:r>
              <a:rPr lang="en-US" dirty="0"/>
              <a:t>         </a:t>
            </a:r>
            <a:r>
              <a:rPr lang="en-US" dirty="0" err="1"/>
              <a:t>Singleton.__instance</a:t>
            </a:r>
            <a:r>
              <a:rPr lang="en-US" dirty="0"/>
              <a:t> = self</a:t>
            </a:r>
          </a:p>
          <a:p>
            <a:pPr marL="0" indent="0">
              <a:buNone/>
            </a:pPr>
            <a:r>
              <a:rPr lang="en-US" dirty="0"/>
              <a:t>s = Singleton()</a:t>
            </a:r>
          </a:p>
          <a:p>
            <a:pPr marL="0" indent="0">
              <a:buNone/>
            </a:pPr>
            <a:r>
              <a:rPr lang="en-US" dirty="0"/>
              <a:t>print (s)</a:t>
            </a:r>
          </a:p>
          <a:p>
            <a:pPr marL="0" indent="0">
              <a:buNone/>
            </a:pPr>
            <a:r>
              <a:rPr lang="en-US" dirty="0"/>
              <a:t>s = </a:t>
            </a:r>
            <a:r>
              <a:rPr lang="en-US" dirty="0" err="1"/>
              <a:t>Singleton.getInstance</a:t>
            </a:r>
            <a:r>
              <a:rPr lang="en-US" dirty="0"/>
              <a:t>()</a:t>
            </a:r>
          </a:p>
          <a:p>
            <a:pPr marL="0" indent="0">
              <a:buNone/>
            </a:pPr>
            <a:r>
              <a:rPr lang="en-US" dirty="0"/>
              <a:t>print (s)</a:t>
            </a:r>
          </a:p>
          <a:p>
            <a:pPr marL="0" indent="0">
              <a:buNone/>
            </a:pPr>
            <a:r>
              <a:rPr lang="en-US" dirty="0"/>
              <a:t>s = Singleton()</a:t>
            </a:r>
          </a:p>
          <a:p>
            <a:pPr marL="0" indent="0">
              <a:buNone/>
            </a:pPr>
            <a:r>
              <a:rPr lang="en-US" dirty="0"/>
              <a:t>print (s)</a:t>
            </a:r>
          </a:p>
        </p:txBody>
      </p:sp>
      <p:sp>
        <p:nvSpPr>
          <p:cNvPr id="4" name="Slide Number Placeholder 3">
            <a:extLst>
              <a:ext uri="{FF2B5EF4-FFF2-40B4-BE49-F238E27FC236}">
                <a16:creationId xmlns:a16="http://schemas.microsoft.com/office/drawing/2014/main" id="{74657A15-6195-42D9-94B7-56136F85EF84}"/>
              </a:ext>
            </a:extLst>
          </p:cNvPr>
          <p:cNvSpPr>
            <a:spLocks noGrp="1"/>
          </p:cNvSpPr>
          <p:nvPr>
            <p:ph type="sldNum" sz="quarter" idx="12"/>
          </p:nvPr>
        </p:nvSpPr>
        <p:spPr/>
        <p:txBody>
          <a:bodyPr/>
          <a:lstStyle/>
          <a:p>
            <a:fld id="{E60AC81A-0762-4854-947E-801A7DA89C28}" type="slidenum">
              <a:rPr lang="en-US" smtClean="0"/>
              <a:t>24</a:t>
            </a:fld>
            <a:endParaRPr lang="en-US"/>
          </a:p>
        </p:txBody>
      </p:sp>
      <p:sp>
        <p:nvSpPr>
          <p:cNvPr id="6" name="TextBox 5">
            <a:extLst>
              <a:ext uri="{FF2B5EF4-FFF2-40B4-BE49-F238E27FC236}">
                <a16:creationId xmlns:a16="http://schemas.microsoft.com/office/drawing/2014/main" id="{CE8373C4-333C-4B5E-AB11-D8E56D9B0AEA}"/>
              </a:ext>
            </a:extLst>
          </p:cNvPr>
          <p:cNvSpPr txBox="1"/>
          <p:nvPr/>
        </p:nvSpPr>
        <p:spPr>
          <a:xfrm>
            <a:off x="836023" y="6176963"/>
            <a:ext cx="9781396" cy="369332"/>
          </a:xfrm>
          <a:prstGeom prst="rect">
            <a:avLst/>
          </a:prstGeom>
          <a:noFill/>
        </p:spPr>
        <p:txBody>
          <a:bodyPr wrap="none" rtlCol="0">
            <a:spAutoFit/>
          </a:bodyPr>
          <a:lstStyle/>
          <a:p>
            <a:r>
              <a:rPr lang="en-US" dirty="0"/>
              <a:t>Ref: </a:t>
            </a:r>
            <a:r>
              <a:rPr lang="en-US" dirty="0">
                <a:hlinkClick r:id="rId2"/>
              </a:rPr>
              <a:t>https://www.tutorialspoint.com/python_design_patterns/python_design_patterns_singleton.htm</a:t>
            </a:r>
            <a:r>
              <a:rPr lang="en-US" dirty="0"/>
              <a:t> </a:t>
            </a:r>
          </a:p>
        </p:txBody>
      </p:sp>
      <p:sp>
        <p:nvSpPr>
          <p:cNvPr id="8" name="TextBox 7">
            <a:extLst>
              <a:ext uri="{FF2B5EF4-FFF2-40B4-BE49-F238E27FC236}">
                <a16:creationId xmlns:a16="http://schemas.microsoft.com/office/drawing/2014/main" id="{E7939B5E-708F-4287-9238-D23F2C81F481}"/>
              </a:ext>
            </a:extLst>
          </p:cNvPr>
          <p:cNvSpPr txBox="1"/>
          <p:nvPr/>
        </p:nvSpPr>
        <p:spPr>
          <a:xfrm>
            <a:off x="6644639" y="1837508"/>
            <a:ext cx="4774825" cy="2308324"/>
          </a:xfrm>
          <a:prstGeom prst="rect">
            <a:avLst/>
          </a:prstGeom>
          <a:noFill/>
        </p:spPr>
        <p:txBody>
          <a:bodyPr wrap="square" rtlCol="0">
            <a:spAutoFit/>
          </a:bodyPr>
          <a:lstStyle/>
          <a:p>
            <a:r>
              <a:rPr lang="en-US" dirty="0"/>
              <a:t>&lt;__</a:t>
            </a:r>
            <a:r>
              <a:rPr lang="en-US" dirty="0" err="1"/>
              <a:t>main__.Singleton</a:t>
            </a:r>
            <a:r>
              <a:rPr lang="en-US" dirty="0"/>
              <a:t> object at 0x03E11958&gt;</a:t>
            </a:r>
          </a:p>
          <a:p>
            <a:r>
              <a:rPr lang="en-US" dirty="0"/>
              <a:t>&lt;__</a:t>
            </a:r>
            <a:r>
              <a:rPr lang="en-US" dirty="0" err="1"/>
              <a:t>main__.Singleton</a:t>
            </a:r>
            <a:r>
              <a:rPr lang="en-US" dirty="0"/>
              <a:t> object at 0x03E11958&gt;</a:t>
            </a:r>
          </a:p>
          <a:p>
            <a:r>
              <a:rPr lang="en-US" dirty="0">
                <a:solidFill>
                  <a:srgbClr val="FF0000"/>
                </a:solidFill>
              </a:rPr>
              <a:t>Traceback (most recent call last):</a:t>
            </a:r>
          </a:p>
          <a:p>
            <a:r>
              <a:rPr lang="en-US" dirty="0">
                <a:solidFill>
                  <a:srgbClr val="FF0000"/>
                </a:solidFill>
              </a:rPr>
              <a:t>  File "C:/…/Singleton.py", line 19, in &lt;module&gt;</a:t>
            </a:r>
          </a:p>
          <a:p>
            <a:r>
              <a:rPr lang="en-US" dirty="0">
                <a:solidFill>
                  <a:srgbClr val="FF0000"/>
                </a:solidFill>
              </a:rPr>
              <a:t>    s = Singleton()</a:t>
            </a:r>
          </a:p>
          <a:p>
            <a:r>
              <a:rPr lang="en-US" dirty="0">
                <a:solidFill>
                  <a:srgbClr val="FF0000"/>
                </a:solidFill>
              </a:rPr>
              <a:t>  File "C:/…/Singleton.py", line 12, in __</a:t>
            </a:r>
            <a:r>
              <a:rPr lang="en-US" dirty="0" err="1">
                <a:solidFill>
                  <a:srgbClr val="FF0000"/>
                </a:solidFill>
              </a:rPr>
              <a:t>init</a:t>
            </a:r>
            <a:r>
              <a:rPr lang="en-US" dirty="0">
                <a:solidFill>
                  <a:srgbClr val="FF0000"/>
                </a:solidFill>
              </a:rPr>
              <a:t>__</a:t>
            </a:r>
          </a:p>
          <a:p>
            <a:r>
              <a:rPr lang="en-US" dirty="0">
                <a:solidFill>
                  <a:srgbClr val="FF0000"/>
                </a:solidFill>
              </a:rPr>
              <a:t>    raise Exception("This class is a singleton!")</a:t>
            </a:r>
          </a:p>
          <a:p>
            <a:r>
              <a:rPr lang="en-US" dirty="0">
                <a:solidFill>
                  <a:srgbClr val="FF0000"/>
                </a:solidFill>
              </a:rPr>
              <a:t>Exception: This class is a singleton!</a:t>
            </a:r>
          </a:p>
        </p:txBody>
      </p:sp>
    </p:spTree>
    <p:extLst>
      <p:ext uri="{BB962C8B-B14F-4D97-AF65-F5344CB8AC3E}">
        <p14:creationId xmlns:p14="http://schemas.microsoft.com/office/powerpoint/2010/main" val="3283068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65AA-2C5A-4B88-992D-EAC02FB5D1BC}"/>
              </a:ext>
            </a:extLst>
          </p:cNvPr>
          <p:cNvSpPr>
            <a:spLocks noGrp="1"/>
          </p:cNvSpPr>
          <p:nvPr>
            <p:ph type="title"/>
          </p:nvPr>
        </p:nvSpPr>
        <p:spPr/>
        <p:txBody>
          <a:bodyPr/>
          <a:lstStyle/>
          <a:p>
            <a:r>
              <a:rPr lang="en-US" dirty="0"/>
              <a:t>Singleton in Python 2</a:t>
            </a:r>
          </a:p>
        </p:txBody>
      </p:sp>
      <p:sp>
        <p:nvSpPr>
          <p:cNvPr id="3" name="Content Placeholder 2">
            <a:extLst>
              <a:ext uri="{FF2B5EF4-FFF2-40B4-BE49-F238E27FC236}">
                <a16:creationId xmlns:a16="http://schemas.microsoft.com/office/drawing/2014/main" id="{D0839101-9301-4E0A-9EB7-02A433AAC8BB}"/>
              </a:ext>
            </a:extLst>
          </p:cNvPr>
          <p:cNvSpPr>
            <a:spLocks noGrp="1"/>
          </p:cNvSpPr>
          <p:nvPr>
            <p:ph idx="1"/>
          </p:nvPr>
        </p:nvSpPr>
        <p:spPr>
          <a:xfrm>
            <a:off x="331304" y="861391"/>
            <a:ext cx="5660193" cy="5315572"/>
          </a:xfrm>
        </p:spPr>
        <p:txBody>
          <a:bodyPr>
            <a:normAutofit fontScale="77500" lnSpcReduction="20000"/>
          </a:bodyPr>
          <a:lstStyle/>
          <a:p>
            <a:pPr marL="0" indent="0">
              <a:buNone/>
            </a:pPr>
            <a:r>
              <a:rPr lang="en-US" dirty="0"/>
              <a:t>class </a:t>
            </a:r>
            <a:r>
              <a:rPr lang="en-US" dirty="0" err="1"/>
              <a:t>SingletonClass</a:t>
            </a:r>
            <a:r>
              <a:rPr lang="en-US" dirty="0"/>
              <a:t>(object):</a:t>
            </a:r>
          </a:p>
          <a:p>
            <a:pPr marL="0" indent="0">
              <a:buNone/>
            </a:pPr>
            <a:r>
              <a:rPr lang="en-US" dirty="0"/>
              <a:t>  def __new__(</a:t>
            </a:r>
            <a:r>
              <a:rPr lang="en-US" dirty="0" err="1"/>
              <a:t>cls</a:t>
            </a:r>
            <a:r>
              <a:rPr lang="en-US" dirty="0"/>
              <a:t>):</a:t>
            </a:r>
          </a:p>
          <a:p>
            <a:pPr marL="0" indent="0">
              <a:buNone/>
            </a:pPr>
            <a:r>
              <a:rPr lang="en-US" dirty="0"/>
              <a:t>    if not </a:t>
            </a:r>
            <a:r>
              <a:rPr lang="en-US" dirty="0" err="1"/>
              <a:t>hasattr</a:t>
            </a:r>
            <a:r>
              <a:rPr lang="en-US" dirty="0"/>
              <a:t>(</a:t>
            </a:r>
            <a:r>
              <a:rPr lang="en-US" dirty="0" err="1"/>
              <a:t>cls</a:t>
            </a:r>
            <a:r>
              <a:rPr lang="en-US" dirty="0"/>
              <a:t>, 'instance'):</a:t>
            </a:r>
          </a:p>
          <a:p>
            <a:pPr marL="0" indent="0">
              <a:buNone/>
            </a:pPr>
            <a:r>
              <a:rPr lang="en-US" dirty="0"/>
              <a:t>      </a:t>
            </a:r>
            <a:r>
              <a:rPr lang="en-US" dirty="0" err="1"/>
              <a:t>cls.instance</a:t>
            </a:r>
            <a:r>
              <a:rPr lang="en-US" dirty="0"/>
              <a:t> = super(</a:t>
            </a:r>
            <a:r>
              <a:rPr lang="en-US" dirty="0" err="1"/>
              <a:t>SingletonClass</a:t>
            </a:r>
            <a:r>
              <a:rPr lang="en-US" dirty="0"/>
              <a:t>, </a:t>
            </a:r>
            <a:r>
              <a:rPr lang="en-US" dirty="0" err="1"/>
              <a:t>cls</a:t>
            </a:r>
            <a:r>
              <a:rPr lang="en-US" dirty="0"/>
              <a:t>).__new__(</a:t>
            </a:r>
            <a:r>
              <a:rPr lang="en-US" dirty="0" err="1"/>
              <a:t>cls</a:t>
            </a:r>
            <a:r>
              <a:rPr lang="en-US" dirty="0"/>
              <a:t>)</a:t>
            </a:r>
          </a:p>
          <a:p>
            <a:pPr marL="0" indent="0">
              <a:buNone/>
            </a:pPr>
            <a:r>
              <a:rPr lang="en-US" dirty="0"/>
              <a:t>    return </a:t>
            </a:r>
            <a:r>
              <a:rPr lang="en-US" dirty="0" err="1"/>
              <a:t>cls.instance</a:t>
            </a:r>
            <a:endParaRPr lang="en-US" dirty="0"/>
          </a:p>
          <a:p>
            <a:pPr marL="0" indent="0">
              <a:buNone/>
            </a:pPr>
            <a:r>
              <a:rPr lang="en-US" dirty="0"/>
              <a:t>   </a:t>
            </a:r>
          </a:p>
          <a:p>
            <a:pPr marL="0" indent="0">
              <a:buNone/>
            </a:pPr>
            <a:r>
              <a:rPr lang="en-US" dirty="0"/>
              <a:t>singleton = </a:t>
            </a:r>
            <a:r>
              <a:rPr lang="en-US" dirty="0" err="1"/>
              <a:t>SingletonClass</a:t>
            </a:r>
            <a:r>
              <a:rPr lang="en-US" dirty="0"/>
              <a:t>()</a:t>
            </a:r>
          </a:p>
          <a:p>
            <a:pPr marL="0" indent="0">
              <a:buNone/>
            </a:pPr>
            <a:r>
              <a:rPr lang="en-US" dirty="0" err="1"/>
              <a:t>new_singleton</a:t>
            </a:r>
            <a:r>
              <a:rPr lang="en-US" dirty="0"/>
              <a:t> = </a:t>
            </a:r>
            <a:r>
              <a:rPr lang="en-US" dirty="0" err="1"/>
              <a:t>SingletonClass</a:t>
            </a:r>
            <a:r>
              <a:rPr lang="en-US" dirty="0"/>
              <a:t>()</a:t>
            </a:r>
          </a:p>
          <a:p>
            <a:pPr marL="0" indent="0">
              <a:buNone/>
            </a:pPr>
            <a:r>
              <a:rPr lang="en-US" dirty="0"/>
              <a:t> </a:t>
            </a:r>
          </a:p>
          <a:p>
            <a:pPr marL="0" indent="0">
              <a:buNone/>
            </a:pPr>
            <a:r>
              <a:rPr lang="en-US" dirty="0"/>
              <a:t>print(singleton is </a:t>
            </a:r>
            <a:r>
              <a:rPr lang="en-US" dirty="0" err="1"/>
              <a:t>new_singleton</a:t>
            </a:r>
            <a:r>
              <a:rPr lang="en-US" dirty="0"/>
              <a:t>)</a:t>
            </a:r>
          </a:p>
          <a:p>
            <a:pPr marL="0" indent="0">
              <a:buNone/>
            </a:pPr>
            <a:r>
              <a:rPr lang="en-US" dirty="0"/>
              <a:t> </a:t>
            </a:r>
          </a:p>
          <a:p>
            <a:pPr marL="0" indent="0">
              <a:buNone/>
            </a:pPr>
            <a:r>
              <a:rPr lang="en-US" dirty="0" err="1"/>
              <a:t>singleton.singl_variable</a:t>
            </a:r>
            <a:r>
              <a:rPr lang="en-US" dirty="0"/>
              <a:t> = "Singleton Variable"</a:t>
            </a:r>
          </a:p>
          <a:p>
            <a:pPr marL="0" indent="0">
              <a:buNone/>
            </a:pPr>
            <a:r>
              <a:rPr lang="en-US" dirty="0"/>
              <a:t>print(</a:t>
            </a:r>
            <a:r>
              <a:rPr lang="en-US" dirty="0" err="1"/>
              <a:t>new_singleton.singl_variable</a:t>
            </a:r>
            <a:r>
              <a:rPr lang="en-US" dirty="0"/>
              <a:t>)</a:t>
            </a:r>
          </a:p>
        </p:txBody>
      </p:sp>
      <p:sp>
        <p:nvSpPr>
          <p:cNvPr id="4" name="Slide Number Placeholder 3">
            <a:extLst>
              <a:ext uri="{FF2B5EF4-FFF2-40B4-BE49-F238E27FC236}">
                <a16:creationId xmlns:a16="http://schemas.microsoft.com/office/drawing/2014/main" id="{74657A15-6195-42D9-94B7-56136F85EF84}"/>
              </a:ext>
            </a:extLst>
          </p:cNvPr>
          <p:cNvSpPr>
            <a:spLocks noGrp="1"/>
          </p:cNvSpPr>
          <p:nvPr>
            <p:ph type="sldNum" sz="quarter" idx="12"/>
          </p:nvPr>
        </p:nvSpPr>
        <p:spPr/>
        <p:txBody>
          <a:bodyPr/>
          <a:lstStyle/>
          <a:p>
            <a:fld id="{E60AC81A-0762-4854-947E-801A7DA89C28}" type="slidenum">
              <a:rPr lang="en-US" smtClean="0"/>
              <a:t>25</a:t>
            </a:fld>
            <a:endParaRPr lang="en-US"/>
          </a:p>
        </p:txBody>
      </p:sp>
      <p:sp>
        <p:nvSpPr>
          <p:cNvPr id="6" name="TextBox 5">
            <a:extLst>
              <a:ext uri="{FF2B5EF4-FFF2-40B4-BE49-F238E27FC236}">
                <a16:creationId xmlns:a16="http://schemas.microsoft.com/office/drawing/2014/main" id="{CE8373C4-333C-4B5E-AB11-D8E56D9B0AEA}"/>
              </a:ext>
            </a:extLst>
          </p:cNvPr>
          <p:cNvSpPr txBox="1"/>
          <p:nvPr/>
        </p:nvSpPr>
        <p:spPr>
          <a:xfrm>
            <a:off x="836023" y="6176963"/>
            <a:ext cx="8074711" cy="369332"/>
          </a:xfrm>
          <a:prstGeom prst="rect">
            <a:avLst/>
          </a:prstGeom>
          <a:noFill/>
        </p:spPr>
        <p:txBody>
          <a:bodyPr wrap="none" rtlCol="0">
            <a:spAutoFit/>
          </a:bodyPr>
          <a:lstStyle/>
          <a:p>
            <a:r>
              <a:rPr lang="en-US" dirty="0"/>
              <a:t>Ref: </a:t>
            </a:r>
            <a:r>
              <a:rPr lang="en-US" dirty="0">
                <a:hlinkClick r:id="rId2"/>
              </a:rPr>
              <a:t>https://www.geeksforgeeks.org/singleton-pattern-in-python-a-complete-guide/</a:t>
            </a:r>
            <a:r>
              <a:rPr lang="en-US" dirty="0"/>
              <a:t> </a:t>
            </a:r>
          </a:p>
        </p:txBody>
      </p:sp>
      <p:sp>
        <p:nvSpPr>
          <p:cNvPr id="8" name="TextBox 7">
            <a:extLst>
              <a:ext uri="{FF2B5EF4-FFF2-40B4-BE49-F238E27FC236}">
                <a16:creationId xmlns:a16="http://schemas.microsoft.com/office/drawing/2014/main" id="{E7939B5E-708F-4287-9238-D23F2C81F481}"/>
              </a:ext>
            </a:extLst>
          </p:cNvPr>
          <p:cNvSpPr txBox="1"/>
          <p:nvPr/>
        </p:nvSpPr>
        <p:spPr>
          <a:xfrm>
            <a:off x="6552850" y="3196011"/>
            <a:ext cx="4800950" cy="646331"/>
          </a:xfrm>
          <a:prstGeom prst="rect">
            <a:avLst/>
          </a:prstGeom>
          <a:noFill/>
        </p:spPr>
        <p:txBody>
          <a:bodyPr wrap="square" rtlCol="0">
            <a:spAutoFit/>
          </a:bodyPr>
          <a:lstStyle/>
          <a:p>
            <a:r>
              <a:rPr lang="en-US" dirty="0"/>
              <a:t>True</a:t>
            </a:r>
          </a:p>
          <a:p>
            <a:r>
              <a:rPr lang="en-US" dirty="0"/>
              <a:t>Singleton Variable</a:t>
            </a:r>
            <a:endParaRPr lang="en-US" dirty="0">
              <a:solidFill>
                <a:srgbClr val="FF0000"/>
              </a:solidFill>
            </a:endParaRPr>
          </a:p>
        </p:txBody>
      </p:sp>
    </p:spTree>
    <p:extLst>
      <p:ext uri="{BB962C8B-B14F-4D97-AF65-F5344CB8AC3E}">
        <p14:creationId xmlns:p14="http://schemas.microsoft.com/office/powerpoint/2010/main" val="26028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304" y="145775"/>
            <a:ext cx="3521173" cy="583096"/>
          </a:xfrm>
        </p:spPr>
        <p:txBody>
          <a:bodyPr/>
          <a:lstStyle/>
          <a:p>
            <a:r>
              <a:rPr lang="en-US" dirty="0"/>
              <a:t>Singleton Pattern </a:t>
            </a:r>
          </a:p>
        </p:txBody>
      </p:sp>
      <p:sp>
        <p:nvSpPr>
          <p:cNvPr id="2" name="Slide Number Placeholder 1"/>
          <p:cNvSpPr>
            <a:spLocks noGrp="1"/>
          </p:cNvSpPr>
          <p:nvPr>
            <p:ph type="sldNum" sz="quarter" idx="12"/>
          </p:nvPr>
        </p:nvSpPr>
        <p:spPr/>
        <p:txBody>
          <a:bodyPr/>
          <a:lstStyle/>
          <a:p>
            <a:fld id="{E60AC81A-0762-4854-947E-801A7DA89C28}" type="slidenum">
              <a:rPr lang="en-US" smtClean="0"/>
              <a:t>26</a:t>
            </a:fld>
            <a:endParaRPr lang="en-US"/>
          </a:p>
        </p:txBody>
      </p:sp>
      <p:sp>
        <p:nvSpPr>
          <p:cNvPr id="21" name="Content Placeholder 2"/>
          <p:cNvSpPr txBox="1">
            <a:spLocks/>
          </p:cNvSpPr>
          <p:nvPr/>
        </p:nvSpPr>
        <p:spPr>
          <a:xfrm>
            <a:off x="331303" y="861391"/>
            <a:ext cx="5393221" cy="5315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Example: a Game using a </a:t>
            </a:r>
            <a:r>
              <a:rPr lang="en-US" sz="1800" dirty="0" err="1"/>
              <a:t>MediaPlayer</a:t>
            </a:r>
            <a:endParaRPr lang="en-US" sz="1800" dirty="0"/>
          </a:p>
        </p:txBody>
      </p:sp>
      <p:sp>
        <p:nvSpPr>
          <p:cNvPr id="8" name="TextBox 7"/>
          <p:cNvSpPr txBox="1"/>
          <p:nvPr/>
        </p:nvSpPr>
        <p:spPr>
          <a:xfrm>
            <a:off x="457172" y="1304791"/>
            <a:ext cx="5824597" cy="2062103"/>
          </a:xfrm>
          <a:prstGeom prst="rect">
            <a:avLst/>
          </a:prstGeom>
          <a:noFill/>
          <a:ln>
            <a:solidFill>
              <a:schemeClr val="bg1">
                <a:lumMod val="75000"/>
              </a:schemeClr>
            </a:solidFill>
          </a:ln>
        </p:spPr>
        <p:txBody>
          <a:bodyPr wrap="square" rtlCol="0">
            <a:spAutoFit/>
          </a:bodyPr>
          <a:lstStyle/>
          <a:p>
            <a:r>
              <a:rPr lang="en-US" sz="1600" dirty="0">
                <a:solidFill>
                  <a:srgbClr val="7F0055"/>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class</a:t>
            </a:r>
            <a:r>
              <a:rPr lang="en-US" sz="1600" dirty="0">
                <a:solidFill>
                  <a:srgbClr val="000000"/>
                </a:solidFill>
                <a:latin typeface="Consolas" panose="020B0609020204030204" pitchFamily="49" charset="0"/>
              </a:rPr>
              <a:t> Game {</a:t>
            </a:r>
          </a:p>
          <a:p>
            <a:pPr lvl="1"/>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r>
              <a:rPr lang="en-US" sz="1600" dirty="0" err="1">
                <a:solidFill>
                  <a:srgbClr val="6A3E3E"/>
                </a:solidFill>
                <a:latin typeface="Consolas" panose="020B0609020204030204" pitchFamily="49" charset="0"/>
              </a:rPr>
              <a:t>mp</a:t>
            </a:r>
            <a:r>
              <a:rPr lang="en-US" sz="1600" dirty="0">
                <a:solidFill>
                  <a:srgbClr val="6A3E3E"/>
                </a:solidFill>
                <a:latin typeface="Consolas" panose="020B0609020204030204" pitchFamily="49" charset="0"/>
              </a:rPr>
              <a:t>;</a:t>
            </a:r>
            <a:endParaRPr lang="en-US" sz="1600" dirty="0">
              <a:solidFill>
                <a:srgbClr val="7F0055"/>
              </a:solidFill>
              <a:latin typeface="Consolas" panose="020B0609020204030204" pitchFamily="49" charset="0"/>
            </a:endParaRPr>
          </a:p>
          <a:p>
            <a:pPr lvl="1"/>
            <a:r>
              <a:rPr lang="en-US" sz="1600" dirty="0">
                <a:solidFill>
                  <a:srgbClr val="7F0055"/>
                </a:solidFill>
                <a:latin typeface="Consolas" panose="020B0609020204030204" pitchFamily="49" charset="0"/>
              </a:rPr>
              <a:t>void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playGame</a:t>
            </a:r>
            <a:r>
              <a:rPr lang="en-US" sz="1600" dirty="0">
                <a:solidFill>
                  <a:srgbClr val="000000"/>
                </a:solidFill>
                <a:latin typeface="Consolas" panose="020B0609020204030204" pitchFamily="49" charset="0"/>
              </a:rPr>
              <a:t>() {</a:t>
            </a:r>
          </a:p>
          <a:p>
            <a:pPr lvl="2"/>
            <a:r>
              <a:rPr lang="en-US" sz="1600" dirty="0" err="1">
                <a:solidFill>
                  <a:srgbClr val="6A3E3E"/>
                </a:solidFill>
                <a:latin typeface="Consolas" panose="020B0609020204030204" pitchFamily="49" charset="0"/>
              </a:rPr>
              <a:t>mp</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MediaPlayer.</a:t>
            </a:r>
            <a:r>
              <a:rPr lang="en-US" sz="1600" i="1" dirty="0" err="1">
                <a:solidFill>
                  <a:srgbClr val="000000"/>
                </a:solidFill>
                <a:latin typeface="Consolas" panose="020B0609020204030204" pitchFamily="49" charset="0"/>
              </a:rPr>
              <a:t>getMediaPlayerInstance</a:t>
            </a:r>
            <a:r>
              <a:rPr lang="en-US" sz="1600" i="1" dirty="0">
                <a:solidFill>
                  <a:srgbClr val="000000"/>
                </a:solidFill>
                <a:latin typeface="Consolas" panose="020B0609020204030204" pitchFamily="49" charset="0"/>
              </a:rPr>
              <a:t>();</a:t>
            </a:r>
          </a:p>
          <a:p>
            <a:pPr lvl="2"/>
            <a:r>
              <a:rPr lang="en-US" sz="1600" dirty="0">
                <a:solidFill>
                  <a:srgbClr val="92D05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pPr lvl="1"/>
            <a:r>
              <a:rPr lang="en-US" sz="1600" dirty="0">
                <a:solidFill>
                  <a:srgbClr val="92D050"/>
                </a:solidFill>
                <a:latin typeface="Consolas" panose="020B0609020204030204" pitchFamily="49" charset="0"/>
              </a:rPr>
              <a:t>//…other methods</a:t>
            </a:r>
          </a:p>
          <a:p>
            <a:r>
              <a:rPr lang="en-US" sz="1600" dirty="0">
                <a:solidFill>
                  <a:srgbClr val="000000"/>
                </a:solidFill>
                <a:latin typeface="Consolas" panose="020B0609020204030204" pitchFamily="49" charset="0"/>
              </a:rPr>
              <a:t>}</a:t>
            </a:r>
            <a:endParaRPr lang="en-US" sz="1600" dirty="0"/>
          </a:p>
        </p:txBody>
      </p:sp>
      <p:sp>
        <p:nvSpPr>
          <p:cNvPr id="7" name="TextBox 6"/>
          <p:cNvSpPr txBox="1"/>
          <p:nvPr/>
        </p:nvSpPr>
        <p:spPr>
          <a:xfrm>
            <a:off x="838200" y="3245703"/>
            <a:ext cx="6481261" cy="3293209"/>
          </a:xfrm>
          <a:prstGeom prst="rect">
            <a:avLst/>
          </a:prstGeom>
          <a:solidFill>
            <a:schemeClr val="bg1"/>
          </a:solidFill>
          <a:ln>
            <a:solidFill>
              <a:schemeClr val="bg1">
                <a:lumMod val="75000"/>
              </a:schemeClr>
            </a:solidFill>
          </a:ln>
        </p:spPr>
        <p:txBody>
          <a:bodyPr wrap="none" rtlCol="0">
            <a:spAutoFit/>
          </a:bodyPr>
          <a:lstStyle/>
          <a:p>
            <a:r>
              <a:rPr lang="en-US" sz="1600" dirty="0">
                <a:solidFill>
                  <a:srgbClr val="7F0055"/>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p>
          <a:p>
            <a:pPr lvl="1"/>
            <a:r>
              <a:rPr lang="en-US" sz="1600" dirty="0">
                <a:solidFill>
                  <a:srgbClr val="7F0055"/>
                </a:solidFill>
                <a:latin typeface="Consolas" panose="020B0609020204030204" pitchFamily="49" charset="0"/>
              </a:rPr>
              <a:t>private static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r>
              <a:rPr lang="en-US" sz="1600" i="1" dirty="0" err="1">
                <a:solidFill>
                  <a:srgbClr val="0000C0"/>
                </a:solidFill>
                <a:latin typeface="Consolas" panose="020B0609020204030204" pitchFamily="49" charset="0"/>
              </a:rPr>
              <a:t>mediaPlayer</a:t>
            </a:r>
            <a:r>
              <a:rPr lang="en-US" sz="1600" i="1" dirty="0">
                <a:solidFill>
                  <a:srgbClr val="000000"/>
                </a:solidFill>
                <a:latin typeface="Consolas" panose="020B0609020204030204" pitchFamily="49" charset="0"/>
              </a:rPr>
              <a:t>;</a:t>
            </a:r>
          </a:p>
          <a:p>
            <a:pPr lvl="1"/>
            <a:endParaRPr lang="en-US" sz="1600" dirty="0">
              <a:latin typeface="Consolas" panose="020B0609020204030204" pitchFamily="49" charset="0"/>
            </a:endParaRPr>
          </a:p>
          <a:p>
            <a:pPr lvl="1"/>
            <a:r>
              <a:rPr lang="en-US" sz="1600" dirty="0">
                <a:solidFill>
                  <a:srgbClr val="7F0055"/>
                </a:solidFill>
                <a:latin typeface="Consolas" panose="020B0609020204030204" pitchFamily="49" charset="0"/>
              </a:rPr>
              <a:t>private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p>
          <a:p>
            <a:pPr lvl="1"/>
            <a:endParaRPr lang="en-US" sz="1600" dirty="0">
              <a:latin typeface="Consolas" panose="020B0609020204030204" pitchFamily="49" charset="0"/>
            </a:endParaRPr>
          </a:p>
          <a:p>
            <a:pPr lvl="1"/>
            <a:r>
              <a:rPr lang="en-US" sz="1600" dirty="0">
                <a:solidFill>
                  <a:srgbClr val="7F0055"/>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static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getMediaPlayerInstance</a:t>
            </a:r>
            <a:r>
              <a:rPr lang="en-US" sz="1600" dirty="0">
                <a:solidFill>
                  <a:srgbClr val="000000"/>
                </a:solidFill>
                <a:latin typeface="Consolas" panose="020B0609020204030204" pitchFamily="49" charset="0"/>
              </a:rPr>
              <a:t>() {</a:t>
            </a:r>
          </a:p>
          <a:p>
            <a:pPr lvl="2"/>
            <a:r>
              <a:rPr lang="en-US" sz="1600" dirty="0">
                <a:solidFill>
                  <a:srgbClr val="7F0055"/>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i="1" dirty="0" err="1">
                <a:solidFill>
                  <a:srgbClr val="0000C0"/>
                </a:solidFill>
                <a:latin typeface="Consolas" panose="020B0609020204030204" pitchFamily="49" charset="0"/>
              </a:rPr>
              <a:t>mediaPlayer</a:t>
            </a:r>
            <a:r>
              <a:rPr lang="en-US" sz="1600" i="1" dirty="0">
                <a:solidFill>
                  <a:srgbClr val="000000"/>
                </a:solidFill>
                <a:latin typeface="Consolas" panose="020B0609020204030204" pitchFamily="49" charset="0"/>
              </a:rPr>
              <a:t> == </a:t>
            </a:r>
            <a:r>
              <a:rPr lang="en-US" sz="1600" i="1" dirty="0">
                <a:solidFill>
                  <a:srgbClr val="7F0055"/>
                </a:solidFill>
                <a:latin typeface="Consolas" panose="020B0609020204030204" pitchFamily="49" charset="0"/>
              </a:rPr>
              <a:t>null</a:t>
            </a:r>
            <a:r>
              <a:rPr lang="en-US" sz="1600" i="1" dirty="0">
                <a:solidFill>
                  <a:srgbClr val="000000"/>
                </a:solidFill>
                <a:latin typeface="Consolas" panose="020B0609020204030204" pitchFamily="49" charset="0"/>
              </a:rPr>
              <a:t>) {</a:t>
            </a:r>
          </a:p>
          <a:p>
            <a:pPr lvl="3"/>
            <a:r>
              <a:rPr lang="en-US" sz="1600" i="1" dirty="0" err="1">
                <a:solidFill>
                  <a:srgbClr val="0000C0"/>
                </a:solidFill>
                <a:latin typeface="Consolas" panose="020B0609020204030204" pitchFamily="49" charset="0"/>
              </a:rPr>
              <a:t>mediaPlayer</a:t>
            </a:r>
            <a:r>
              <a:rPr lang="en-US" sz="1600" i="1" dirty="0">
                <a:solidFill>
                  <a:srgbClr val="000000"/>
                </a:solidFill>
                <a:latin typeface="Consolas" panose="020B0609020204030204" pitchFamily="49" charset="0"/>
              </a:rPr>
              <a:t> = </a:t>
            </a:r>
            <a:r>
              <a:rPr lang="en-US" sz="1600" i="1" dirty="0">
                <a:solidFill>
                  <a:srgbClr val="7F0055"/>
                </a:solidFill>
                <a:latin typeface="Consolas" panose="020B0609020204030204" pitchFamily="49" charset="0"/>
              </a:rPr>
              <a:t>new</a:t>
            </a:r>
            <a:r>
              <a:rPr lang="en-US" sz="1600" i="1" dirty="0">
                <a:solidFill>
                  <a:srgbClr val="000000"/>
                </a:solidFill>
                <a:latin typeface="Consolas" panose="020B0609020204030204" pitchFamily="49" charset="0"/>
              </a:rPr>
              <a:t> </a:t>
            </a:r>
            <a:r>
              <a:rPr lang="en-US" sz="1600" i="1" dirty="0" err="1">
                <a:solidFill>
                  <a:srgbClr val="000000"/>
                </a:solidFill>
                <a:latin typeface="Consolas" panose="020B0609020204030204" pitchFamily="49" charset="0"/>
              </a:rPr>
              <a:t>MediaPlayer</a:t>
            </a:r>
            <a:r>
              <a:rPr lang="en-US" sz="1600" i="1" dirty="0">
                <a:solidFill>
                  <a:srgbClr val="000000"/>
                </a:solidFill>
                <a:latin typeface="Consolas" panose="020B0609020204030204" pitchFamily="49" charset="0"/>
              </a:rPr>
              <a:t>();</a:t>
            </a:r>
          </a:p>
          <a:p>
            <a:pPr lvl="2"/>
            <a:r>
              <a:rPr lang="en-US" sz="1600" dirty="0">
                <a:solidFill>
                  <a:srgbClr val="000000"/>
                </a:solidFill>
                <a:latin typeface="Consolas" panose="020B0609020204030204" pitchFamily="49" charset="0"/>
              </a:rPr>
              <a:t>}</a:t>
            </a:r>
          </a:p>
          <a:p>
            <a:pPr lvl="2"/>
            <a:r>
              <a:rPr lang="en-US" sz="1600" dirty="0">
                <a:solidFill>
                  <a:srgbClr val="7F0055"/>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i="1" dirty="0" err="1">
                <a:solidFill>
                  <a:srgbClr val="0000C0"/>
                </a:solidFill>
                <a:latin typeface="Consolas" panose="020B0609020204030204" pitchFamily="49" charset="0"/>
              </a:rPr>
              <a:t>mediaPlayer</a:t>
            </a:r>
            <a:r>
              <a:rPr lang="en-US" sz="1600" i="1"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pPr lvl="1"/>
            <a:r>
              <a:rPr lang="en-US" sz="1600" dirty="0">
                <a:solidFill>
                  <a:srgbClr val="92D05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p>
        </p:txBody>
      </p:sp>
      <p:pic>
        <p:nvPicPr>
          <p:cNvPr id="12" name="Picture 11" descr="Generated by PlantUML">
            <a:extLst>
              <a:ext uri="{FF2B5EF4-FFF2-40B4-BE49-F238E27FC236}">
                <a16:creationId xmlns:a16="http://schemas.microsoft.com/office/drawing/2014/main" id="{EAA380B0-4E3E-458A-8995-DFF584ADF6D6}"/>
              </a:ext>
            </a:extLst>
          </p:cNvPr>
          <p:cNvPicPr/>
          <p:nvPr/>
        </p:nvPicPr>
        <p:blipFill>
          <a:blip r:embed="rId2">
            <a:extLst>
              <a:ext uri="{28A0092B-C50C-407E-A947-70E740481C1C}">
                <a14:useLocalDpi xmlns:a14="http://schemas.microsoft.com/office/drawing/2010/main" val="0"/>
              </a:ext>
            </a:extLst>
          </a:blip>
          <a:stretch>
            <a:fillRect/>
          </a:stretch>
        </p:blipFill>
        <p:spPr>
          <a:xfrm>
            <a:off x="7700489" y="939666"/>
            <a:ext cx="3938786" cy="4259986"/>
          </a:xfrm>
          <a:prstGeom prst="rect">
            <a:avLst/>
          </a:prstGeom>
        </p:spPr>
      </p:pic>
    </p:spTree>
    <p:extLst>
      <p:ext uri="{BB962C8B-B14F-4D97-AF65-F5344CB8AC3E}">
        <p14:creationId xmlns:p14="http://schemas.microsoft.com/office/powerpoint/2010/main" val="2093347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8"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304" y="145775"/>
            <a:ext cx="3521173" cy="583096"/>
          </a:xfrm>
        </p:spPr>
        <p:txBody>
          <a:bodyPr/>
          <a:lstStyle/>
          <a:p>
            <a:r>
              <a:rPr lang="en-US" dirty="0"/>
              <a:t>Singleton Pattern </a:t>
            </a:r>
          </a:p>
        </p:txBody>
      </p:sp>
      <p:sp>
        <p:nvSpPr>
          <p:cNvPr id="2" name="Slide Number Placeholder 1"/>
          <p:cNvSpPr>
            <a:spLocks noGrp="1"/>
          </p:cNvSpPr>
          <p:nvPr>
            <p:ph type="sldNum" sz="quarter" idx="12"/>
          </p:nvPr>
        </p:nvSpPr>
        <p:spPr/>
        <p:txBody>
          <a:bodyPr/>
          <a:lstStyle/>
          <a:p>
            <a:fld id="{E60AC81A-0762-4854-947E-801A7DA89C28}" type="slidenum">
              <a:rPr lang="en-US" smtClean="0"/>
              <a:t>27</a:t>
            </a:fld>
            <a:endParaRPr lang="en-US"/>
          </a:p>
        </p:txBody>
      </p:sp>
      <p:sp>
        <p:nvSpPr>
          <p:cNvPr id="7" name="TextBox 6"/>
          <p:cNvSpPr txBox="1"/>
          <p:nvPr/>
        </p:nvSpPr>
        <p:spPr>
          <a:xfrm>
            <a:off x="498566" y="1016309"/>
            <a:ext cx="7939994" cy="3293209"/>
          </a:xfrm>
          <a:prstGeom prst="rect">
            <a:avLst/>
          </a:prstGeom>
          <a:solidFill>
            <a:schemeClr val="bg1"/>
          </a:solidFill>
          <a:ln>
            <a:solidFill>
              <a:schemeClr val="bg1">
                <a:lumMod val="75000"/>
              </a:schemeClr>
            </a:solidFill>
          </a:ln>
        </p:spPr>
        <p:txBody>
          <a:bodyPr wrap="none" rtlCol="0">
            <a:spAutoFit/>
          </a:bodyPr>
          <a:lstStyle/>
          <a:p>
            <a:r>
              <a:rPr lang="en-US" sz="1600" dirty="0">
                <a:solidFill>
                  <a:srgbClr val="7F0055"/>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p>
          <a:p>
            <a:pPr lvl="1"/>
            <a:r>
              <a:rPr lang="en-US" sz="1600" dirty="0">
                <a:solidFill>
                  <a:srgbClr val="7F0055"/>
                </a:solidFill>
                <a:latin typeface="Consolas" panose="020B0609020204030204" pitchFamily="49" charset="0"/>
              </a:rPr>
              <a:t>private static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r>
              <a:rPr lang="en-US" sz="1600" i="1" dirty="0" err="1">
                <a:solidFill>
                  <a:srgbClr val="0000C0"/>
                </a:solidFill>
                <a:latin typeface="Consolas" panose="020B0609020204030204" pitchFamily="49" charset="0"/>
              </a:rPr>
              <a:t>mediaPlayer</a:t>
            </a:r>
            <a:r>
              <a:rPr lang="en-US" sz="1600" i="1" dirty="0">
                <a:solidFill>
                  <a:srgbClr val="000000"/>
                </a:solidFill>
                <a:latin typeface="Consolas" panose="020B0609020204030204" pitchFamily="49" charset="0"/>
              </a:rPr>
              <a:t>;</a:t>
            </a:r>
          </a:p>
          <a:p>
            <a:pPr lvl="1"/>
            <a:endParaRPr lang="en-US" sz="1600" dirty="0">
              <a:latin typeface="Consolas" panose="020B0609020204030204" pitchFamily="49" charset="0"/>
            </a:endParaRPr>
          </a:p>
          <a:p>
            <a:pPr lvl="1"/>
            <a:r>
              <a:rPr lang="en-US" sz="1600" dirty="0">
                <a:solidFill>
                  <a:srgbClr val="7F0055"/>
                </a:solidFill>
                <a:latin typeface="Consolas" panose="020B0609020204030204" pitchFamily="49" charset="0"/>
              </a:rPr>
              <a:t>private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p>
          <a:p>
            <a:pPr lvl="1"/>
            <a:endParaRPr lang="en-US" sz="1600" dirty="0">
              <a:latin typeface="Consolas" panose="020B0609020204030204" pitchFamily="49" charset="0"/>
            </a:endParaRPr>
          </a:p>
          <a:p>
            <a:pPr lvl="1"/>
            <a:r>
              <a:rPr lang="en-US" sz="1600" dirty="0">
                <a:solidFill>
                  <a:srgbClr val="7F0055"/>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static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synchronized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getMediaPlayerInstance</a:t>
            </a:r>
            <a:r>
              <a:rPr lang="en-US" sz="1600" dirty="0">
                <a:solidFill>
                  <a:srgbClr val="000000"/>
                </a:solidFill>
                <a:latin typeface="Consolas" panose="020B0609020204030204" pitchFamily="49" charset="0"/>
              </a:rPr>
              <a:t>() {</a:t>
            </a:r>
          </a:p>
          <a:p>
            <a:pPr lvl="2"/>
            <a:r>
              <a:rPr lang="en-US" sz="1600" dirty="0">
                <a:solidFill>
                  <a:srgbClr val="7F0055"/>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i="1" dirty="0" err="1">
                <a:solidFill>
                  <a:srgbClr val="0000C0"/>
                </a:solidFill>
                <a:latin typeface="Consolas" panose="020B0609020204030204" pitchFamily="49" charset="0"/>
              </a:rPr>
              <a:t>mediaPlayer</a:t>
            </a:r>
            <a:r>
              <a:rPr lang="en-US" sz="1600" i="1" dirty="0">
                <a:solidFill>
                  <a:srgbClr val="000000"/>
                </a:solidFill>
                <a:latin typeface="Consolas" panose="020B0609020204030204" pitchFamily="49" charset="0"/>
              </a:rPr>
              <a:t> == </a:t>
            </a:r>
            <a:r>
              <a:rPr lang="en-US" sz="1600" i="1" dirty="0">
                <a:solidFill>
                  <a:srgbClr val="7F0055"/>
                </a:solidFill>
                <a:latin typeface="Consolas" panose="020B0609020204030204" pitchFamily="49" charset="0"/>
              </a:rPr>
              <a:t>null</a:t>
            </a:r>
            <a:r>
              <a:rPr lang="en-US" sz="1600" i="1" dirty="0">
                <a:solidFill>
                  <a:srgbClr val="000000"/>
                </a:solidFill>
                <a:latin typeface="Consolas" panose="020B0609020204030204" pitchFamily="49" charset="0"/>
              </a:rPr>
              <a:t>) {</a:t>
            </a:r>
          </a:p>
          <a:p>
            <a:pPr lvl="3"/>
            <a:r>
              <a:rPr lang="en-US" sz="1600" i="1" dirty="0" err="1">
                <a:solidFill>
                  <a:srgbClr val="0000C0"/>
                </a:solidFill>
                <a:latin typeface="Consolas" panose="020B0609020204030204" pitchFamily="49" charset="0"/>
              </a:rPr>
              <a:t>mediaPlayer</a:t>
            </a:r>
            <a:r>
              <a:rPr lang="en-US" sz="1600" i="1" dirty="0">
                <a:solidFill>
                  <a:srgbClr val="000000"/>
                </a:solidFill>
                <a:latin typeface="Consolas" panose="020B0609020204030204" pitchFamily="49" charset="0"/>
              </a:rPr>
              <a:t> = </a:t>
            </a:r>
            <a:r>
              <a:rPr lang="en-US" sz="1600" i="1" dirty="0">
                <a:solidFill>
                  <a:srgbClr val="7F0055"/>
                </a:solidFill>
                <a:latin typeface="Consolas" panose="020B0609020204030204" pitchFamily="49" charset="0"/>
              </a:rPr>
              <a:t>new</a:t>
            </a:r>
            <a:r>
              <a:rPr lang="en-US" sz="1600" i="1" dirty="0">
                <a:solidFill>
                  <a:srgbClr val="000000"/>
                </a:solidFill>
                <a:latin typeface="Consolas" panose="020B0609020204030204" pitchFamily="49" charset="0"/>
              </a:rPr>
              <a:t> </a:t>
            </a:r>
            <a:r>
              <a:rPr lang="en-US" sz="1600" i="1" dirty="0" err="1">
                <a:solidFill>
                  <a:srgbClr val="000000"/>
                </a:solidFill>
                <a:latin typeface="Consolas" panose="020B0609020204030204" pitchFamily="49" charset="0"/>
              </a:rPr>
              <a:t>MediaPlayer</a:t>
            </a:r>
            <a:r>
              <a:rPr lang="en-US" sz="1600" i="1" dirty="0">
                <a:solidFill>
                  <a:srgbClr val="000000"/>
                </a:solidFill>
                <a:latin typeface="Consolas" panose="020B0609020204030204" pitchFamily="49" charset="0"/>
              </a:rPr>
              <a:t>();</a:t>
            </a:r>
          </a:p>
          <a:p>
            <a:pPr lvl="2"/>
            <a:r>
              <a:rPr lang="en-US" sz="1600" dirty="0">
                <a:solidFill>
                  <a:srgbClr val="000000"/>
                </a:solidFill>
                <a:latin typeface="Consolas" panose="020B0609020204030204" pitchFamily="49" charset="0"/>
              </a:rPr>
              <a:t>}</a:t>
            </a:r>
          </a:p>
          <a:p>
            <a:pPr lvl="2"/>
            <a:r>
              <a:rPr lang="en-US" sz="1600" dirty="0">
                <a:solidFill>
                  <a:srgbClr val="7F0055"/>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i="1" dirty="0" err="1">
                <a:solidFill>
                  <a:srgbClr val="0000C0"/>
                </a:solidFill>
                <a:latin typeface="Consolas" panose="020B0609020204030204" pitchFamily="49" charset="0"/>
              </a:rPr>
              <a:t>mediaPlayer</a:t>
            </a:r>
            <a:r>
              <a:rPr lang="en-US" sz="1600" i="1"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pPr lvl="1"/>
            <a:r>
              <a:rPr lang="en-US" sz="1600" dirty="0">
                <a:solidFill>
                  <a:srgbClr val="92D05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p>
        </p:txBody>
      </p:sp>
      <p:pic>
        <p:nvPicPr>
          <p:cNvPr id="12" name="Picture 11" descr="Generated by PlantUML">
            <a:extLst>
              <a:ext uri="{FF2B5EF4-FFF2-40B4-BE49-F238E27FC236}">
                <a16:creationId xmlns:a16="http://schemas.microsoft.com/office/drawing/2014/main" id="{EAA380B0-4E3E-458A-8995-DFF584ADF6D6}"/>
              </a:ext>
            </a:extLst>
          </p:cNvPr>
          <p:cNvPicPr/>
          <p:nvPr/>
        </p:nvPicPr>
        <p:blipFill>
          <a:blip r:embed="rId2">
            <a:extLst>
              <a:ext uri="{28A0092B-C50C-407E-A947-70E740481C1C}">
                <a14:useLocalDpi xmlns:a14="http://schemas.microsoft.com/office/drawing/2010/main" val="0"/>
              </a:ext>
            </a:extLst>
          </a:blip>
          <a:stretch>
            <a:fillRect/>
          </a:stretch>
        </p:blipFill>
        <p:spPr>
          <a:xfrm>
            <a:off x="9344297" y="347485"/>
            <a:ext cx="2417360" cy="2883396"/>
          </a:xfrm>
          <a:prstGeom prst="rect">
            <a:avLst/>
          </a:prstGeom>
        </p:spPr>
      </p:pic>
      <p:sp>
        <p:nvSpPr>
          <p:cNvPr id="9" name="Oval 8">
            <a:extLst>
              <a:ext uri="{FF2B5EF4-FFF2-40B4-BE49-F238E27FC236}">
                <a16:creationId xmlns:a16="http://schemas.microsoft.com/office/drawing/2014/main" id="{AD33104F-8C90-4D4A-9360-4A1FFDD5C4DD}"/>
              </a:ext>
            </a:extLst>
          </p:cNvPr>
          <p:cNvSpPr/>
          <p:nvPr/>
        </p:nvSpPr>
        <p:spPr>
          <a:xfrm>
            <a:off x="2534194" y="2194561"/>
            <a:ext cx="1480457" cy="391885"/>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4CA9B5-421E-459C-B0C1-A21427C104E1}"/>
              </a:ext>
            </a:extLst>
          </p:cNvPr>
          <p:cNvSpPr txBox="1"/>
          <p:nvPr/>
        </p:nvSpPr>
        <p:spPr>
          <a:xfrm>
            <a:off x="1817915" y="3984367"/>
            <a:ext cx="7378943" cy="2554545"/>
          </a:xfrm>
          <a:prstGeom prst="rect">
            <a:avLst/>
          </a:prstGeom>
          <a:solidFill>
            <a:schemeClr val="bg1"/>
          </a:solidFill>
          <a:ln>
            <a:solidFill>
              <a:schemeClr val="bg1">
                <a:lumMod val="75000"/>
              </a:schemeClr>
            </a:solidFill>
          </a:ln>
        </p:spPr>
        <p:txBody>
          <a:bodyPr wrap="none" rtlCol="0">
            <a:spAutoFit/>
          </a:bodyPr>
          <a:lstStyle/>
          <a:p>
            <a:r>
              <a:rPr lang="en-US" sz="1600" dirty="0">
                <a:solidFill>
                  <a:srgbClr val="7F0055"/>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p>
          <a:p>
            <a:pPr lvl="1"/>
            <a:r>
              <a:rPr lang="en-US" sz="1600" dirty="0">
                <a:solidFill>
                  <a:srgbClr val="7F0055"/>
                </a:solidFill>
                <a:latin typeface="Consolas" panose="020B0609020204030204" pitchFamily="49" charset="0"/>
              </a:rPr>
              <a:t>private static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r>
              <a:rPr lang="en-US" sz="1600" i="1" dirty="0" err="1">
                <a:solidFill>
                  <a:srgbClr val="0000C0"/>
                </a:solidFill>
                <a:latin typeface="Consolas" panose="020B0609020204030204" pitchFamily="49" charset="0"/>
              </a:rPr>
              <a:t>mediaPlayer</a:t>
            </a:r>
            <a:r>
              <a:rPr lang="en-US" sz="1600" i="1" dirty="0">
                <a:solidFill>
                  <a:srgbClr val="0000C0"/>
                </a:solidFill>
                <a:latin typeface="Consolas" panose="020B0609020204030204" pitchFamily="49" charset="0"/>
              </a:rPr>
              <a:t> = </a:t>
            </a:r>
            <a:r>
              <a:rPr lang="en-US" sz="1600" i="1" dirty="0">
                <a:solidFill>
                  <a:srgbClr val="7F0055"/>
                </a:solidFill>
                <a:latin typeface="Consolas" panose="020B0609020204030204" pitchFamily="49" charset="0"/>
              </a:rPr>
              <a:t>new</a:t>
            </a:r>
            <a:r>
              <a:rPr lang="en-US" sz="1600" i="1" dirty="0">
                <a:solidFill>
                  <a:srgbClr val="000000"/>
                </a:solidFill>
                <a:latin typeface="Consolas" panose="020B0609020204030204" pitchFamily="49" charset="0"/>
              </a:rPr>
              <a:t> </a:t>
            </a:r>
            <a:r>
              <a:rPr lang="en-US" sz="1600" i="1" dirty="0" err="1">
                <a:solidFill>
                  <a:srgbClr val="000000"/>
                </a:solidFill>
                <a:latin typeface="Consolas" panose="020B0609020204030204" pitchFamily="49" charset="0"/>
              </a:rPr>
              <a:t>MediaPlayer</a:t>
            </a:r>
            <a:r>
              <a:rPr lang="en-US" sz="1600" i="1" dirty="0">
                <a:solidFill>
                  <a:srgbClr val="000000"/>
                </a:solidFill>
                <a:latin typeface="Consolas" panose="020B0609020204030204" pitchFamily="49" charset="0"/>
              </a:rPr>
              <a:t>();;</a:t>
            </a:r>
          </a:p>
          <a:p>
            <a:pPr lvl="1"/>
            <a:endParaRPr lang="en-US" sz="1600" dirty="0">
              <a:latin typeface="Consolas" panose="020B0609020204030204" pitchFamily="49" charset="0"/>
            </a:endParaRPr>
          </a:p>
          <a:p>
            <a:pPr lvl="1"/>
            <a:r>
              <a:rPr lang="en-US" sz="1600" dirty="0">
                <a:solidFill>
                  <a:srgbClr val="7F0055"/>
                </a:solidFill>
                <a:latin typeface="Consolas" panose="020B0609020204030204" pitchFamily="49" charset="0"/>
              </a:rPr>
              <a:t>private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p>
          <a:p>
            <a:pPr lvl="1"/>
            <a:endParaRPr lang="en-US" sz="1600" dirty="0">
              <a:latin typeface="Consolas" panose="020B0609020204030204" pitchFamily="49" charset="0"/>
            </a:endParaRPr>
          </a:p>
          <a:p>
            <a:pPr lvl="1"/>
            <a:r>
              <a:rPr lang="en-US" sz="1600" dirty="0">
                <a:solidFill>
                  <a:srgbClr val="7F0055"/>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static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MediaPlayer</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getMediaPlayerInstance</a:t>
            </a:r>
            <a:r>
              <a:rPr lang="en-US" sz="1600" dirty="0">
                <a:solidFill>
                  <a:srgbClr val="000000"/>
                </a:solidFill>
                <a:latin typeface="Consolas" panose="020B0609020204030204" pitchFamily="49" charset="0"/>
              </a:rPr>
              <a:t>() {</a:t>
            </a:r>
          </a:p>
          <a:p>
            <a:pPr lvl="2"/>
            <a:r>
              <a:rPr lang="en-US" sz="1600" dirty="0">
                <a:solidFill>
                  <a:srgbClr val="7F0055"/>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i="1" dirty="0" err="1">
                <a:solidFill>
                  <a:srgbClr val="0000C0"/>
                </a:solidFill>
                <a:latin typeface="Consolas" panose="020B0609020204030204" pitchFamily="49" charset="0"/>
              </a:rPr>
              <a:t>mediaPlayer</a:t>
            </a:r>
            <a:r>
              <a:rPr lang="en-US" sz="1600" i="1"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pPr lvl="1"/>
            <a:r>
              <a:rPr lang="en-US" sz="1600" dirty="0">
                <a:solidFill>
                  <a:srgbClr val="92D05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p>
        </p:txBody>
      </p:sp>
      <p:sp>
        <p:nvSpPr>
          <p:cNvPr id="16" name="Oval 15">
            <a:extLst>
              <a:ext uri="{FF2B5EF4-FFF2-40B4-BE49-F238E27FC236}">
                <a16:creationId xmlns:a16="http://schemas.microsoft.com/office/drawing/2014/main" id="{DB25BB71-B7ED-4501-A19B-36157373105A}"/>
              </a:ext>
            </a:extLst>
          </p:cNvPr>
          <p:cNvSpPr/>
          <p:nvPr/>
        </p:nvSpPr>
        <p:spPr>
          <a:xfrm>
            <a:off x="6653325" y="4205071"/>
            <a:ext cx="2438424" cy="391885"/>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D9F438F-6904-45BD-B975-54313DF20132}"/>
              </a:ext>
            </a:extLst>
          </p:cNvPr>
          <p:cNvSpPr txBox="1"/>
          <p:nvPr/>
        </p:nvSpPr>
        <p:spPr>
          <a:xfrm>
            <a:off x="8789214" y="3556580"/>
            <a:ext cx="1937390" cy="369332"/>
          </a:xfrm>
          <a:prstGeom prst="rect">
            <a:avLst/>
          </a:prstGeom>
          <a:noFill/>
        </p:spPr>
        <p:txBody>
          <a:bodyPr wrap="none" rtlCol="0">
            <a:spAutoFit/>
          </a:bodyPr>
          <a:lstStyle/>
          <a:p>
            <a:r>
              <a:rPr lang="en-US" dirty="0">
                <a:solidFill>
                  <a:schemeClr val="accent2"/>
                </a:solidFill>
              </a:rPr>
              <a:t>Eager instantiation</a:t>
            </a:r>
          </a:p>
        </p:txBody>
      </p:sp>
      <p:cxnSp>
        <p:nvCxnSpPr>
          <p:cNvPr id="18" name="Straight Arrow Connector 17">
            <a:extLst>
              <a:ext uri="{FF2B5EF4-FFF2-40B4-BE49-F238E27FC236}">
                <a16:creationId xmlns:a16="http://schemas.microsoft.com/office/drawing/2014/main" id="{AD5D1B29-91F0-4277-9C68-AF900A06A75D}"/>
              </a:ext>
            </a:extLst>
          </p:cNvPr>
          <p:cNvCxnSpPr>
            <a:stCxn id="10" idx="2"/>
            <a:endCxn id="16" idx="7"/>
          </p:cNvCxnSpPr>
          <p:nvPr/>
        </p:nvCxnSpPr>
        <p:spPr>
          <a:xfrm flipH="1">
            <a:off x="8734650" y="3925912"/>
            <a:ext cx="1023259" cy="336549"/>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786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5" grpId="0" animBg="1"/>
      <p:bldP spid="16" grpId="0" animBg="1"/>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Memento Pattern</a:t>
            </a:r>
          </a:p>
        </p:txBody>
      </p:sp>
      <p:pic>
        <p:nvPicPr>
          <p:cNvPr id="4" name="Picture 3"/>
          <p:cNvPicPr>
            <a:picLocks noChangeAspect="1"/>
          </p:cNvPicPr>
          <p:nvPr/>
        </p:nvPicPr>
        <p:blipFill>
          <a:blip r:embed="rId2"/>
          <a:stretch>
            <a:fillRect/>
          </a:stretch>
        </p:blipFill>
        <p:spPr>
          <a:xfrm>
            <a:off x="2869887" y="731286"/>
            <a:ext cx="6493789" cy="5990189"/>
          </a:xfrm>
          <a:prstGeom prst="rect">
            <a:avLst/>
          </a:prstGeom>
        </p:spPr>
      </p:pic>
      <p:sp>
        <p:nvSpPr>
          <p:cNvPr id="5" name="Slide Number Placeholder 4"/>
          <p:cNvSpPr>
            <a:spLocks noGrp="1"/>
          </p:cNvSpPr>
          <p:nvPr>
            <p:ph type="sldNum" sz="quarter" idx="12"/>
          </p:nvPr>
        </p:nvSpPr>
        <p:spPr/>
        <p:txBody>
          <a:bodyPr/>
          <a:lstStyle/>
          <a:p>
            <a:fld id="{9F1A4D64-A005-48D8-BBA4-82C0A2806572}" type="slidenum">
              <a:rPr lang="en-US" smtClean="0"/>
              <a:t>28</a:t>
            </a:fld>
            <a:endParaRPr lang="en-US"/>
          </a:p>
        </p:txBody>
      </p:sp>
    </p:spTree>
    <p:extLst>
      <p:ext uri="{BB962C8B-B14F-4D97-AF65-F5344CB8AC3E}">
        <p14:creationId xmlns:p14="http://schemas.microsoft.com/office/powerpoint/2010/main" val="3329603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059985" y="2720033"/>
            <a:ext cx="5903786" cy="3631262"/>
          </a:xfrm>
          <a:prstGeom prst="rect">
            <a:avLst/>
          </a:prstGeom>
        </p:spPr>
      </p:pic>
      <p:sp>
        <p:nvSpPr>
          <p:cNvPr id="2" name="Title 1"/>
          <p:cNvSpPr>
            <a:spLocks noGrp="1"/>
          </p:cNvSpPr>
          <p:nvPr>
            <p:ph type="title"/>
          </p:nvPr>
        </p:nvSpPr>
        <p:spPr/>
        <p:txBody>
          <a:bodyPr/>
          <a:lstStyle/>
          <a:p>
            <a:r>
              <a:rPr lang="en-US" dirty="0"/>
              <a:t>Memento</a:t>
            </a:r>
          </a:p>
        </p:txBody>
      </p:sp>
      <p:sp>
        <p:nvSpPr>
          <p:cNvPr id="3" name="Content Placeholder 2"/>
          <p:cNvSpPr>
            <a:spLocks noGrp="1"/>
          </p:cNvSpPr>
          <p:nvPr>
            <p:ph idx="1"/>
          </p:nvPr>
        </p:nvSpPr>
        <p:spPr>
          <a:xfrm>
            <a:off x="251791" y="795130"/>
            <a:ext cx="5346017" cy="5381833"/>
          </a:xfrm>
        </p:spPr>
        <p:txBody>
          <a:bodyPr>
            <a:normAutofit/>
          </a:bodyPr>
          <a:lstStyle/>
          <a:p>
            <a:r>
              <a:rPr lang="en-US" sz="1800" dirty="0"/>
              <a:t>Intent: Without violating encapsulation, </a:t>
            </a:r>
            <a:r>
              <a:rPr lang="en-US" sz="1800" dirty="0">
                <a:solidFill>
                  <a:schemeClr val="accent1"/>
                </a:solidFill>
              </a:rPr>
              <a:t>capture and externalize an object’s internal state </a:t>
            </a:r>
            <a:r>
              <a:rPr lang="en-US" sz="1800" dirty="0"/>
              <a:t>so that the object can be restored to this state later.</a:t>
            </a:r>
          </a:p>
          <a:p>
            <a:r>
              <a:rPr lang="en-US" sz="1800" dirty="0"/>
              <a:t>Also known as </a:t>
            </a:r>
            <a:r>
              <a:rPr lang="en-US" sz="1800" dirty="0">
                <a:solidFill>
                  <a:schemeClr val="accent1"/>
                </a:solidFill>
              </a:rPr>
              <a:t>Token</a:t>
            </a:r>
          </a:p>
          <a:p>
            <a:r>
              <a:rPr lang="en-US" sz="1800" dirty="0"/>
              <a:t>Participants</a:t>
            </a:r>
          </a:p>
          <a:p>
            <a:pPr lvl="1"/>
            <a:r>
              <a:rPr lang="en-US" sz="1800" dirty="0">
                <a:solidFill>
                  <a:schemeClr val="accent1"/>
                </a:solidFill>
              </a:rPr>
              <a:t>Memento</a:t>
            </a:r>
          </a:p>
          <a:p>
            <a:pPr lvl="2"/>
            <a:r>
              <a:rPr lang="en-US" sz="1800" dirty="0"/>
              <a:t>Stores internal state of the Originator object (state may be partial)</a:t>
            </a:r>
          </a:p>
          <a:p>
            <a:pPr lvl="1"/>
            <a:r>
              <a:rPr lang="en-US" sz="1800" dirty="0">
                <a:solidFill>
                  <a:schemeClr val="accent1"/>
                </a:solidFill>
              </a:rPr>
              <a:t>Originator</a:t>
            </a:r>
          </a:p>
          <a:p>
            <a:pPr lvl="2"/>
            <a:r>
              <a:rPr lang="en-US" sz="1800" dirty="0"/>
              <a:t>Creates a memento containing a snapshot of its current internal state</a:t>
            </a:r>
          </a:p>
          <a:p>
            <a:pPr lvl="2"/>
            <a:r>
              <a:rPr lang="en-US" sz="1800" dirty="0"/>
              <a:t>Uses the memento to restore its internal state</a:t>
            </a:r>
          </a:p>
          <a:p>
            <a:pPr lvl="1"/>
            <a:r>
              <a:rPr lang="en-US" sz="1800" dirty="0">
                <a:solidFill>
                  <a:schemeClr val="accent1"/>
                </a:solidFill>
              </a:rPr>
              <a:t>Caretaker</a:t>
            </a:r>
          </a:p>
          <a:p>
            <a:pPr lvl="2"/>
            <a:r>
              <a:rPr lang="en-US" sz="1800" dirty="0"/>
              <a:t>Responsible for memento’s safekeeping</a:t>
            </a:r>
          </a:p>
          <a:p>
            <a:pPr lvl="2"/>
            <a:r>
              <a:rPr lang="en-US" sz="1800" dirty="0"/>
              <a:t>Never operates or examines the memento contents</a:t>
            </a:r>
          </a:p>
          <a:p>
            <a:endParaRPr lang="en-US" sz="1800" dirty="0"/>
          </a:p>
          <a:p>
            <a:endParaRPr lang="en-US" sz="1800" dirty="0"/>
          </a:p>
        </p:txBody>
      </p:sp>
      <p:pic>
        <p:nvPicPr>
          <p:cNvPr id="4" name="Picture 3"/>
          <p:cNvPicPr>
            <a:picLocks noChangeAspect="1"/>
          </p:cNvPicPr>
          <p:nvPr/>
        </p:nvPicPr>
        <p:blipFill>
          <a:blip r:embed="rId3"/>
          <a:stretch>
            <a:fillRect/>
          </a:stretch>
        </p:blipFill>
        <p:spPr>
          <a:xfrm>
            <a:off x="6799006" y="139839"/>
            <a:ext cx="4425745" cy="2408126"/>
          </a:xfrm>
          <a:prstGeom prst="rect">
            <a:avLst/>
          </a:prstGeom>
        </p:spPr>
      </p:pic>
      <p:sp>
        <p:nvSpPr>
          <p:cNvPr id="6" name="Oval Callout 5"/>
          <p:cNvSpPr/>
          <p:nvPr/>
        </p:nvSpPr>
        <p:spPr>
          <a:xfrm>
            <a:off x="10398841" y="6351295"/>
            <a:ext cx="1651819" cy="466522"/>
          </a:xfrm>
          <a:prstGeom prst="wedgeEllipseCallout">
            <a:avLst>
              <a:gd name="adj1" fmla="val -21470"/>
              <a:gd name="adj2" fmla="val -136665"/>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Caretaker</a:t>
            </a:r>
          </a:p>
        </p:txBody>
      </p:sp>
      <p:sp>
        <p:nvSpPr>
          <p:cNvPr id="7" name="Oval Callout 6"/>
          <p:cNvSpPr/>
          <p:nvPr/>
        </p:nvSpPr>
        <p:spPr>
          <a:xfrm>
            <a:off x="4601496" y="6178583"/>
            <a:ext cx="1651819" cy="466522"/>
          </a:xfrm>
          <a:prstGeom prst="wedgeEllipseCallout">
            <a:avLst>
              <a:gd name="adj1" fmla="val 44601"/>
              <a:gd name="adj2" fmla="val -19673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Originator</a:t>
            </a:r>
          </a:p>
        </p:txBody>
      </p:sp>
      <p:sp>
        <p:nvSpPr>
          <p:cNvPr id="8" name="Oval Callout 7"/>
          <p:cNvSpPr/>
          <p:nvPr/>
        </p:nvSpPr>
        <p:spPr>
          <a:xfrm>
            <a:off x="5597809" y="2724151"/>
            <a:ext cx="1651819" cy="466522"/>
          </a:xfrm>
          <a:prstGeom prst="wedgeEllipseCallout">
            <a:avLst>
              <a:gd name="adj1" fmla="val 92815"/>
              <a:gd name="adj2" fmla="val 11919"/>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Memento</a:t>
            </a:r>
          </a:p>
        </p:txBody>
      </p:sp>
      <p:sp>
        <p:nvSpPr>
          <p:cNvPr id="9" name="Slide Number Placeholder 8"/>
          <p:cNvSpPr>
            <a:spLocks noGrp="1"/>
          </p:cNvSpPr>
          <p:nvPr>
            <p:ph type="sldNum" sz="quarter" idx="12"/>
          </p:nvPr>
        </p:nvSpPr>
        <p:spPr/>
        <p:txBody>
          <a:bodyPr/>
          <a:lstStyle/>
          <a:p>
            <a:fld id="{9F1A4D64-A005-48D8-BBA4-82C0A2806572}" type="slidenum">
              <a:rPr lang="en-US" smtClean="0"/>
              <a:t>29</a:t>
            </a:fld>
            <a:endParaRPr lang="en-US"/>
          </a:p>
        </p:txBody>
      </p:sp>
    </p:spTree>
    <p:extLst>
      <p:ext uri="{BB962C8B-B14F-4D97-AF65-F5344CB8AC3E}">
        <p14:creationId xmlns:p14="http://schemas.microsoft.com/office/powerpoint/2010/main" val="2316465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Memento Example</a:t>
            </a:r>
          </a:p>
        </p:txBody>
      </p:sp>
      <p:sp>
        <p:nvSpPr>
          <p:cNvPr id="4" name="Slide Number Placeholder 3"/>
          <p:cNvSpPr>
            <a:spLocks noGrp="1"/>
          </p:cNvSpPr>
          <p:nvPr>
            <p:ph type="sldNum" sz="quarter" idx="12"/>
          </p:nvPr>
        </p:nvSpPr>
        <p:spPr/>
        <p:txBody>
          <a:bodyPr/>
          <a:lstStyle/>
          <a:p>
            <a:fld id="{9F1A4D64-A005-48D8-BBA4-82C0A2806572}" type="slidenum">
              <a:rPr lang="en-US" smtClean="0"/>
              <a:t>30</a:t>
            </a:fld>
            <a:endParaRPr lang="en-US"/>
          </a:p>
        </p:txBody>
      </p:sp>
      <p:sp>
        <p:nvSpPr>
          <p:cNvPr id="5" name="TextBox 4"/>
          <p:cNvSpPr txBox="1"/>
          <p:nvPr/>
        </p:nvSpPr>
        <p:spPr>
          <a:xfrm>
            <a:off x="130133" y="660400"/>
            <a:ext cx="6630341" cy="5078313"/>
          </a:xfrm>
          <a:prstGeom prst="rect">
            <a:avLst/>
          </a:prstGeom>
          <a:noFill/>
          <a:ln>
            <a:solidFill>
              <a:schemeClr val="bg1">
                <a:lumMod val="65000"/>
              </a:schemeClr>
            </a:solidFill>
          </a:ln>
        </p:spPr>
        <p:txBody>
          <a:bodyPr wrap="none" rtlCol="0">
            <a:spAutoFit/>
          </a:bodyPr>
          <a:lstStyle/>
          <a:p>
            <a:r>
              <a:rPr lang="en-US" sz="1200" dirty="0">
                <a:solidFill>
                  <a:srgbClr val="7F0055"/>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class</a:t>
            </a:r>
            <a:r>
              <a:rPr lang="en-US" sz="1200" dirty="0">
                <a:solidFill>
                  <a:srgbClr val="000000"/>
                </a:solidFill>
                <a:latin typeface="Consolas" panose="020B0609020204030204" pitchFamily="49" charset="0"/>
              </a:rPr>
              <a:t> Player {</a:t>
            </a:r>
          </a:p>
          <a:p>
            <a:pPr lvl="1"/>
            <a:r>
              <a:rPr lang="en-US" sz="1200" dirty="0">
                <a:solidFill>
                  <a:srgbClr val="92D050"/>
                </a:solidFill>
                <a:latin typeface="Consolas" panose="020B0609020204030204" pitchFamily="49" charset="0"/>
              </a:rPr>
              <a:t>//data not stored in history</a:t>
            </a:r>
          </a:p>
          <a:p>
            <a:pPr lvl="1"/>
            <a:r>
              <a:rPr lang="en-US" sz="1200" dirty="0">
                <a:solidFill>
                  <a:srgbClr val="7F0055"/>
                </a:solidFill>
                <a:latin typeface="Consolas" panose="020B0609020204030204" pitchFamily="49" charset="0"/>
              </a:rPr>
              <a:t>private</a:t>
            </a:r>
            <a:r>
              <a:rPr lang="en-US" sz="1200" dirty="0">
                <a:solidFill>
                  <a:srgbClr val="000000"/>
                </a:solidFill>
                <a:latin typeface="Consolas" panose="020B0609020204030204" pitchFamily="49" charset="0"/>
              </a:rPr>
              <a:t> String </a:t>
            </a:r>
            <a:r>
              <a:rPr lang="en-US" sz="1200" dirty="0">
                <a:solidFill>
                  <a:srgbClr val="0000C0"/>
                </a:solidFill>
                <a:latin typeface="Consolas" panose="020B0609020204030204" pitchFamily="49" charset="0"/>
              </a:rPr>
              <a:t>name</a:t>
            </a:r>
            <a:r>
              <a:rPr lang="en-US" sz="1200"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private</a:t>
            </a:r>
            <a:r>
              <a:rPr lang="en-US" sz="1200" dirty="0">
                <a:solidFill>
                  <a:srgbClr val="000000"/>
                </a:solidFill>
                <a:latin typeface="Consolas" panose="020B0609020204030204" pitchFamily="49" charset="0"/>
              </a:rPr>
              <a:t> Date </a:t>
            </a:r>
            <a:r>
              <a:rPr lang="en-US" sz="1200" dirty="0" err="1">
                <a:solidFill>
                  <a:srgbClr val="0000C0"/>
                </a:solidFill>
                <a:latin typeface="Consolas" panose="020B0609020204030204" pitchFamily="49" charset="0"/>
              </a:rPr>
              <a:t>dob</a:t>
            </a:r>
            <a:r>
              <a:rPr lang="en-US" sz="1200"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private</a:t>
            </a:r>
            <a:r>
              <a:rPr lang="en-US" sz="1200" dirty="0">
                <a:solidFill>
                  <a:srgbClr val="000000"/>
                </a:solidFill>
                <a:latin typeface="Consolas" panose="020B0609020204030204" pitchFamily="49" charset="0"/>
              </a:rPr>
              <a:t> String </a:t>
            </a:r>
            <a:r>
              <a:rPr lang="en-US" sz="1200" dirty="0" err="1">
                <a:solidFill>
                  <a:srgbClr val="0000C0"/>
                </a:solidFill>
                <a:latin typeface="Consolas" panose="020B0609020204030204" pitchFamily="49" charset="0"/>
              </a:rPr>
              <a:t>ssn</a:t>
            </a:r>
            <a:r>
              <a:rPr lang="en-US" sz="1200" dirty="0">
                <a:solidFill>
                  <a:srgbClr val="000000"/>
                </a:solidFill>
                <a:latin typeface="Consolas" panose="020B0609020204030204" pitchFamily="49" charset="0"/>
              </a:rPr>
              <a:t>;</a:t>
            </a:r>
          </a:p>
          <a:p>
            <a:pPr lvl="1"/>
            <a:endParaRPr lang="en-US" sz="1200" dirty="0">
              <a:solidFill>
                <a:srgbClr val="3F7F5F"/>
              </a:solidFill>
              <a:latin typeface="Consolas" panose="020B0609020204030204" pitchFamily="49" charset="0"/>
            </a:endParaRPr>
          </a:p>
          <a:p>
            <a:pPr lvl="1"/>
            <a:r>
              <a:rPr lang="en-US" sz="1200" dirty="0">
                <a:solidFill>
                  <a:srgbClr val="92D050"/>
                </a:solidFill>
                <a:latin typeface="Consolas" panose="020B0609020204030204" pitchFamily="49" charset="0"/>
              </a:rPr>
              <a:t>//data to be stored in history</a:t>
            </a:r>
          </a:p>
          <a:p>
            <a:pPr lvl="1"/>
            <a:r>
              <a:rPr lang="en-US" sz="1200" dirty="0">
                <a:solidFill>
                  <a:srgbClr val="7F0055"/>
                </a:solidFill>
                <a:latin typeface="Consolas" panose="020B0609020204030204" pitchFamily="49" charset="0"/>
              </a:rPr>
              <a:t>private</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double</a:t>
            </a:r>
            <a:r>
              <a:rPr lang="en-US" sz="1200" dirty="0">
                <a:solidFill>
                  <a:srgbClr val="000000"/>
                </a:solidFill>
                <a:latin typeface="Consolas" panose="020B0609020204030204" pitchFamily="49" charset="0"/>
              </a:rPr>
              <a:t> </a:t>
            </a:r>
            <a:r>
              <a:rPr lang="en-US" sz="1200" dirty="0">
                <a:solidFill>
                  <a:srgbClr val="0000C0"/>
                </a:solidFill>
                <a:latin typeface="Consolas" panose="020B0609020204030204" pitchFamily="49" charset="0"/>
              </a:rPr>
              <a:t>score</a:t>
            </a:r>
            <a:r>
              <a:rPr lang="en-US" sz="1200"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private</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double</a:t>
            </a:r>
            <a:r>
              <a:rPr lang="en-US" sz="1200" dirty="0">
                <a:solidFill>
                  <a:srgbClr val="000000"/>
                </a:solidFill>
                <a:latin typeface="Consolas" panose="020B0609020204030204" pitchFamily="49" charset="0"/>
              </a:rPr>
              <a:t> </a:t>
            </a:r>
            <a:r>
              <a:rPr lang="en-US" sz="1200" i="1" dirty="0" err="1">
                <a:solidFill>
                  <a:srgbClr val="0000C0"/>
                </a:solidFill>
                <a:latin typeface="Consolas" panose="020B0609020204030204" pitchFamily="49" charset="0"/>
              </a:rPr>
              <a:t>averageScore</a:t>
            </a:r>
            <a:r>
              <a:rPr lang="en-US" sz="1200" i="1"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private</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err="1">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i="1" dirty="0" err="1">
                <a:solidFill>
                  <a:srgbClr val="0000C0"/>
                </a:solidFill>
                <a:latin typeface="Consolas" panose="020B0609020204030204" pitchFamily="49" charset="0"/>
              </a:rPr>
              <a:t>countPlayed</a:t>
            </a:r>
            <a:r>
              <a:rPr lang="en-US" sz="1200" i="1" dirty="0">
                <a:solidFill>
                  <a:srgbClr val="000000"/>
                </a:solidFill>
                <a:latin typeface="Consolas" panose="020B0609020204030204" pitchFamily="49" charset="0"/>
              </a:rPr>
              <a:t>;</a:t>
            </a:r>
          </a:p>
          <a:p>
            <a:pPr lvl="1"/>
            <a:endParaRPr lang="en-US" sz="1200" dirty="0">
              <a:solidFill>
                <a:srgbClr val="7F0055"/>
              </a:solidFill>
              <a:latin typeface="Consolas" panose="020B0609020204030204" pitchFamily="49" charset="0"/>
            </a:endParaRPr>
          </a:p>
          <a:p>
            <a:pPr lvl="1"/>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play() {</a:t>
            </a:r>
          </a:p>
          <a:p>
            <a:pPr lvl="2"/>
            <a:r>
              <a:rPr lang="en-US" sz="1200" dirty="0">
                <a:solidFill>
                  <a:srgbClr val="0000C0"/>
                </a:solidFill>
                <a:latin typeface="Consolas" panose="020B0609020204030204" pitchFamily="49" charset="0"/>
              </a:rPr>
              <a:t>score</a:t>
            </a:r>
            <a:r>
              <a:rPr lang="en-US" sz="1200" dirty="0">
                <a:solidFill>
                  <a:srgbClr val="000000"/>
                </a:solidFill>
                <a:latin typeface="Consolas" panose="020B0609020204030204" pitchFamily="49" charset="0"/>
              </a:rPr>
              <a:t> = (</a:t>
            </a:r>
            <a:r>
              <a:rPr lang="en-US" sz="1200" dirty="0">
                <a:solidFill>
                  <a:srgbClr val="7F0055"/>
                </a:solidFill>
                <a:latin typeface="Consolas" panose="020B0609020204030204" pitchFamily="49" charset="0"/>
              </a:rPr>
              <a:t>new</a:t>
            </a:r>
            <a:r>
              <a:rPr lang="en-US" sz="1200" dirty="0">
                <a:solidFill>
                  <a:srgbClr val="000000"/>
                </a:solidFill>
                <a:latin typeface="Consolas" panose="020B0609020204030204" pitchFamily="49" charset="0"/>
              </a:rPr>
              <a:t> Random()).</a:t>
            </a:r>
            <a:r>
              <a:rPr lang="en-US" sz="1200" dirty="0" err="1">
                <a:solidFill>
                  <a:srgbClr val="000000"/>
                </a:solidFill>
                <a:latin typeface="Consolas" panose="020B0609020204030204" pitchFamily="49" charset="0"/>
              </a:rPr>
              <a:t>nextInt</a:t>
            </a:r>
            <a:r>
              <a:rPr lang="en-US" sz="1200" dirty="0">
                <a:solidFill>
                  <a:srgbClr val="000000"/>
                </a:solidFill>
                <a:latin typeface="Consolas" panose="020B0609020204030204" pitchFamily="49" charset="0"/>
              </a:rPr>
              <a:t>(10); </a:t>
            </a:r>
            <a:r>
              <a:rPr lang="en-US" sz="1200" dirty="0">
                <a:solidFill>
                  <a:srgbClr val="92D050"/>
                </a:solidFill>
                <a:latin typeface="Consolas" panose="020B0609020204030204" pitchFamily="49" charset="0"/>
              </a:rPr>
              <a:t>//some score</a:t>
            </a:r>
            <a:endParaRPr lang="en-US" sz="1200" dirty="0">
              <a:solidFill>
                <a:srgbClr val="000000"/>
              </a:solidFill>
              <a:latin typeface="Consolas" panose="020B0609020204030204" pitchFamily="49" charset="0"/>
            </a:endParaRPr>
          </a:p>
          <a:p>
            <a:pPr lvl="2"/>
            <a:r>
              <a:rPr lang="en-US" sz="1200" i="1" dirty="0" err="1">
                <a:solidFill>
                  <a:srgbClr val="0000C0"/>
                </a:solidFill>
                <a:latin typeface="Consolas" panose="020B0609020204030204" pitchFamily="49" charset="0"/>
              </a:rPr>
              <a:t>averageScore</a:t>
            </a:r>
            <a:r>
              <a:rPr lang="en-US" sz="1200" i="1" dirty="0">
                <a:solidFill>
                  <a:srgbClr val="000000"/>
                </a:solidFill>
                <a:latin typeface="Consolas" panose="020B0609020204030204" pitchFamily="49" charset="0"/>
              </a:rPr>
              <a:t> = (</a:t>
            </a:r>
            <a:r>
              <a:rPr lang="en-US" sz="1200" i="1" dirty="0" err="1">
                <a:solidFill>
                  <a:srgbClr val="0000C0"/>
                </a:solidFill>
                <a:latin typeface="Consolas" panose="020B0609020204030204" pitchFamily="49" charset="0"/>
              </a:rPr>
              <a:t>averageScore</a:t>
            </a:r>
            <a:r>
              <a:rPr lang="en-US" sz="1200" i="1" dirty="0">
                <a:solidFill>
                  <a:srgbClr val="000000"/>
                </a:solidFill>
                <a:latin typeface="Consolas" panose="020B0609020204030204" pitchFamily="49" charset="0"/>
              </a:rPr>
              <a:t>*</a:t>
            </a:r>
            <a:r>
              <a:rPr lang="en-US" sz="1200" i="1" dirty="0" err="1">
                <a:solidFill>
                  <a:srgbClr val="0000C0"/>
                </a:solidFill>
                <a:latin typeface="Consolas" panose="020B0609020204030204" pitchFamily="49" charset="0"/>
              </a:rPr>
              <a:t>countPlayed</a:t>
            </a:r>
            <a:r>
              <a:rPr lang="en-US" sz="1200" i="1" dirty="0">
                <a:solidFill>
                  <a:srgbClr val="000000"/>
                </a:solidFill>
                <a:latin typeface="Consolas" panose="020B0609020204030204" pitchFamily="49" charset="0"/>
              </a:rPr>
              <a:t> + </a:t>
            </a:r>
            <a:r>
              <a:rPr lang="en-US" sz="1200" i="1" dirty="0">
                <a:solidFill>
                  <a:srgbClr val="0000C0"/>
                </a:solidFill>
                <a:latin typeface="Consolas" panose="020B0609020204030204" pitchFamily="49" charset="0"/>
              </a:rPr>
              <a:t>score</a:t>
            </a:r>
            <a:r>
              <a:rPr lang="en-US" sz="1200" i="1" dirty="0">
                <a:solidFill>
                  <a:srgbClr val="000000"/>
                </a:solidFill>
                <a:latin typeface="Consolas" panose="020B0609020204030204" pitchFamily="49" charset="0"/>
              </a:rPr>
              <a:t>)/ ++</a:t>
            </a:r>
            <a:r>
              <a:rPr lang="en-US" sz="1200" i="1" dirty="0" err="1">
                <a:solidFill>
                  <a:srgbClr val="0000C0"/>
                </a:solidFill>
                <a:latin typeface="Consolas" panose="020B0609020204030204" pitchFamily="49" charset="0"/>
              </a:rPr>
              <a:t>countPlayed</a:t>
            </a:r>
            <a:r>
              <a:rPr lang="en-US" sz="1200" i="1" dirty="0">
                <a:solidFill>
                  <a:srgbClr val="000000"/>
                </a:solidFill>
                <a:latin typeface="Consolas" panose="020B0609020204030204" pitchFamily="49" charset="0"/>
              </a:rPr>
              <a:t>;</a:t>
            </a:r>
          </a:p>
          <a:p>
            <a:pPr lvl="2"/>
            <a:r>
              <a:rPr lang="en-US" sz="1200" dirty="0" err="1">
                <a:solidFill>
                  <a:srgbClr val="000000"/>
                </a:solidFill>
                <a:latin typeface="Consolas" panose="020B0609020204030204" pitchFamily="49" charset="0"/>
              </a:rPr>
              <a:t>capturePlayerState</a:t>
            </a:r>
            <a:r>
              <a:rPr lang="en-US" sz="1200" dirty="0">
                <a:solidFill>
                  <a:srgbClr val="000000"/>
                </a:solidFill>
                <a:latin typeface="Consolas" panose="020B0609020204030204" pitchFamily="49" charset="0"/>
              </a:rPr>
              <a:t>();  </a:t>
            </a:r>
            <a:endParaRPr lang="en-US" sz="1200" dirty="0">
              <a:solidFill>
                <a:srgbClr val="3F7F5F"/>
              </a:solidFill>
              <a:latin typeface="Consolas" panose="020B0609020204030204" pitchFamily="49" charset="0"/>
            </a:endParaRPr>
          </a:p>
          <a:p>
            <a:pPr lvl="1"/>
            <a:r>
              <a:rPr lang="en-US" sz="1200"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capturePlayerState</a:t>
            </a:r>
            <a:r>
              <a:rPr lang="en-US" sz="1200" dirty="0">
                <a:solidFill>
                  <a:srgbClr val="000000"/>
                </a:solidFill>
                <a:latin typeface="Consolas" panose="020B0609020204030204" pitchFamily="49" charset="0"/>
              </a:rPr>
              <a:t>() {</a:t>
            </a:r>
          </a:p>
          <a:p>
            <a:pPr lvl="2"/>
            <a:r>
              <a:rPr lang="en-US" sz="1200" dirty="0" err="1">
                <a:solidFill>
                  <a:srgbClr val="000000"/>
                </a:solidFill>
                <a:latin typeface="Consolas" panose="020B0609020204030204" pitchFamily="49" charset="0"/>
              </a:rPr>
              <a:t>PlayerState</a:t>
            </a:r>
            <a:r>
              <a:rPr lang="en-US" sz="1200" dirty="0">
                <a:solidFill>
                  <a:srgbClr val="000000"/>
                </a:solidFill>
                <a:latin typeface="Consolas" panose="020B0609020204030204" pitchFamily="49" charset="0"/>
              </a:rPr>
              <a:t> </a:t>
            </a:r>
            <a:r>
              <a:rPr lang="en-US" sz="1200" dirty="0" err="1">
                <a:solidFill>
                  <a:srgbClr val="6A3E3E"/>
                </a:solidFill>
                <a:latin typeface="Consolas" panose="020B0609020204030204" pitchFamily="49" charset="0"/>
              </a:rPr>
              <a:t>ps</a:t>
            </a:r>
            <a:r>
              <a:rPr lang="en-US" sz="1200" dirty="0">
                <a:solidFill>
                  <a:srgbClr val="000000"/>
                </a:solidFill>
                <a:latin typeface="Consolas" panose="020B0609020204030204" pitchFamily="49" charset="0"/>
              </a:rPr>
              <a:t> = </a:t>
            </a:r>
            <a:r>
              <a:rPr lang="en-US" sz="1200" dirty="0">
                <a:solidFill>
                  <a:srgbClr val="7F0055"/>
                </a:solidFill>
                <a:latin typeface="Consolas" panose="020B0609020204030204" pitchFamily="49" charset="0"/>
              </a:rPr>
              <a:t>new</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PlayerState</a:t>
            </a:r>
            <a:r>
              <a:rPr lang="en-US" sz="1200" dirty="0">
                <a:solidFill>
                  <a:srgbClr val="000000"/>
                </a:solidFill>
                <a:latin typeface="Consolas" panose="020B0609020204030204" pitchFamily="49" charset="0"/>
              </a:rPr>
              <a:t>();</a:t>
            </a:r>
          </a:p>
          <a:p>
            <a:pPr lvl="2"/>
            <a:r>
              <a:rPr lang="en-US" sz="1200" dirty="0" err="1">
                <a:solidFill>
                  <a:srgbClr val="6A3E3E"/>
                </a:solidFill>
                <a:latin typeface="Consolas" panose="020B0609020204030204" pitchFamily="49" charset="0"/>
              </a:rPr>
              <a:t>ps</a:t>
            </a:r>
            <a:r>
              <a:rPr lang="en-US" sz="1200" dirty="0" err="1">
                <a:solidFill>
                  <a:srgbClr val="000000"/>
                </a:solidFill>
                <a:latin typeface="Consolas" panose="020B0609020204030204" pitchFamily="49" charset="0"/>
              </a:rPr>
              <a:t>.setState</a:t>
            </a:r>
            <a:r>
              <a:rPr lang="en-US" sz="1200" dirty="0">
                <a:solidFill>
                  <a:srgbClr val="000000"/>
                </a:solidFill>
                <a:latin typeface="Consolas" panose="020B0609020204030204" pitchFamily="49" charset="0"/>
              </a:rPr>
              <a:t>(</a:t>
            </a:r>
            <a:r>
              <a:rPr lang="en-US" sz="1200" dirty="0">
                <a:solidFill>
                  <a:srgbClr val="0000C0"/>
                </a:solidFill>
                <a:latin typeface="Consolas" panose="020B0609020204030204" pitchFamily="49" charset="0"/>
              </a:rPr>
              <a:t>score</a:t>
            </a:r>
            <a:r>
              <a:rPr lang="en-US" sz="1200" dirty="0">
                <a:solidFill>
                  <a:srgbClr val="000000"/>
                </a:solidFill>
                <a:latin typeface="Consolas" panose="020B0609020204030204" pitchFamily="49" charset="0"/>
              </a:rPr>
              <a:t>, </a:t>
            </a:r>
            <a:r>
              <a:rPr lang="en-US" sz="1200" i="1" dirty="0" err="1">
                <a:solidFill>
                  <a:srgbClr val="0000C0"/>
                </a:solidFill>
                <a:latin typeface="Consolas" panose="020B0609020204030204" pitchFamily="49" charset="0"/>
              </a:rPr>
              <a:t>averageScore</a:t>
            </a:r>
            <a:r>
              <a:rPr lang="en-US" sz="1200" i="1" dirty="0">
                <a:solidFill>
                  <a:srgbClr val="000000"/>
                </a:solidFill>
                <a:latin typeface="Consolas" panose="020B0609020204030204" pitchFamily="49" charset="0"/>
              </a:rPr>
              <a:t>, </a:t>
            </a:r>
            <a:r>
              <a:rPr lang="en-US" sz="1200" i="1" dirty="0" err="1">
                <a:solidFill>
                  <a:srgbClr val="0000C0"/>
                </a:solidFill>
                <a:latin typeface="Consolas" panose="020B0609020204030204" pitchFamily="49" charset="0"/>
              </a:rPr>
              <a:t>countPlayed</a:t>
            </a:r>
            <a:r>
              <a:rPr lang="en-US" sz="1200" i="1" dirty="0">
                <a:solidFill>
                  <a:srgbClr val="000000"/>
                </a:solidFill>
                <a:latin typeface="Consolas" panose="020B0609020204030204" pitchFamily="49" charset="0"/>
              </a:rPr>
              <a:t>);</a:t>
            </a:r>
          </a:p>
          <a:p>
            <a:pPr lvl="2"/>
            <a:r>
              <a:rPr lang="en-US" sz="1200" dirty="0" err="1">
                <a:solidFill>
                  <a:srgbClr val="000000"/>
                </a:solidFill>
                <a:latin typeface="Consolas" panose="020B0609020204030204" pitchFamily="49" charset="0"/>
              </a:rPr>
              <a:t>Game.</a:t>
            </a:r>
            <a:r>
              <a:rPr lang="en-US" sz="1200" i="1" dirty="0" err="1">
                <a:solidFill>
                  <a:srgbClr val="0000C0"/>
                </a:solidFill>
                <a:latin typeface="Consolas" panose="020B0609020204030204" pitchFamily="49" charset="0"/>
              </a:rPr>
              <a:t>playerStates</a:t>
            </a:r>
            <a:r>
              <a:rPr lang="en-US" sz="1200" i="1" dirty="0" err="1">
                <a:solidFill>
                  <a:srgbClr val="000000"/>
                </a:solidFill>
                <a:latin typeface="Consolas" panose="020B0609020204030204" pitchFamily="49" charset="0"/>
              </a:rPr>
              <a:t>.add</a:t>
            </a:r>
            <a:r>
              <a:rPr lang="en-US" sz="1200" i="1" dirty="0">
                <a:solidFill>
                  <a:srgbClr val="000000"/>
                </a:solidFill>
                <a:latin typeface="Consolas" panose="020B0609020204030204" pitchFamily="49" charset="0"/>
              </a:rPr>
              <a:t>(</a:t>
            </a:r>
            <a:r>
              <a:rPr lang="en-US" sz="1200" i="1" dirty="0" err="1">
                <a:solidFill>
                  <a:srgbClr val="6A3E3E"/>
                </a:solidFill>
                <a:latin typeface="Consolas" panose="020B0609020204030204" pitchFamily="49" charset="0"/>
              </a:rPr>
              <a:t>ps</a:t>
            </a:r>
            <a:r>
              <a:rPr lang="en-US" sz="1200" i="1"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restoreToPlayerState</a:t>
            </a:r>
            <a:r>
              <a:rPr lang="en-US" sz="1200" dirty="0">
                <a:solidFill>
                  <a:srgbClr val="000000"/>
                </a:solidFill>
                <a:latin typeface="Consolas" panose="020B0609020204030204" pitchFamily="49" charset="0"/>
              </a:rPr>
              <a:t>(</a:t>
            </a:r>
            <a:r>
              <a:rPr lang="en-US" sz="1200" dirty="0" err="1">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a:solidFill>
                  <a:srgbClr val="6A3E3E"/>
                </a:solidFill>
                <a:latin typeface="Consolas" panose="020B0609020204030204" pitchFamily="49" charset="0"/>
              </a:rPr>
              <a:t>state</a:t>
            </a:r>
            <a:r>
              <a:rPr lang="en-US" sz="1200" dirty="0">
                <a:solidFill>
                  <a:srgbClr val="000000"/>
                </a:solidFill>
                <a:latin typeface="Consolas" panose="020B0609020204030204" pitchFamily="49" charset="0"/>
              </a:rPr>
              <a:t>) {</a:t>
            </a:r>
          </a:p>
          <a:p>
            <a:pPr lvl="2"/>
            <a:r>
              <a:rPr lang="en-US" sz="1200" dirty="0">
                <a:solidFill>
                  <a:srgbClr val="7F0055"/>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6A3E3E"/>
                </a:solidFill>
                <a:latin typeface="Consolas" panose="020B0609020204030204" pitchFamily="49" charset="0"/>
              </a:rPr>
              <a:t>i</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Game.</a:t>
            </a:r>
            <a:r>
              <a:rPr lang="en-US" sz="1200" i="1" dirty="0" err="1">
                <a:solidFill>
                  <a:srgbClr val="0000C0"/>
                </a:solidFill>
                <a:latin typeface="Consolas" panose="020B0609020204030204" pitchFamily="49" charset="0"/>
              </a:rPr>
              <a:t>playerStates</a:t>
            </a:r>
            <a:r>
              <a:rPr lang="en-US" sz="1200" i="1" dirty="0" err="1">
                <a:solidFill>
                  <a:srgbClr val="000000"/>
                </a:solidFill>
                <a:latin typeface="Consolas" panose="020B0609020204030204" pitchFamily="49" charset="0"/>
              </a:rPr>
              <a:t>.size</a:t>
            </a:r>
            <a:r>
              <a:rPr lang="en-US" sz="1200" i="1" dirty="0">
                <a:solidFill>
                  <a:srgbClr val="000000"/>
                </a:solidFill>
                <a:latin typeface="Consolas" panose="020B0609020204030204" pitchFamily="49" charset="0"/>
              </a:rPr>
              <a:t>()-1; </a:t>
            </a:r>
            <a:r>
              <a:rPr lang="en-US" sz="1200" i="1" dirty="0" err="1">
                <a:solidFill>
                  <a:srgbClr val="6A3E3E"/>
                </a:solidFill>
                <a:latin typeface="Consolas" panose="020B0609020204030204" pitchFamily="49" charset="0"/>
              </a:rPr>
              <a:t>i</a:t>
            </a:r>
            <a:r>
              <a:rPr lang="en-US" sz="1200" i="1" dirty="0">
                <a:solidFill>
                  <a:srgbClr val="000000"/>
                </a:solidFill>
                <a:latin typeface="Consolas" panose="020B0609020204030204" pitchFamily="49" charset="0"/>
              </a:rPr>
              <a:t> &gt; </a:t>
            </a:r>
            <a:r>
              <a:rPr lang="en-US" sz="1200" i="1" dirty="0">
                <a:solidFill>
                  <a:srgbClr val="6A3E3E"/>
                </a:solidFill>
                <a:latin typeface="Consolas" panose="020B0609020204030204" pitchFamily="49" charset="0"/>
              </a:rPr>
              <a:t>state</a:t>
            </a:r>
            <a:r>
              <a:rPr lang="en-US" sz="1200" i="1" dirty="0">
                <a:solidFill>
                  <a:srgbClr val="000000"/>
                </a:solidFill>
                <a:latin typeface="Consolas" panose="020B0609020204030204" pitchFamily="49" charset="0"/>
              </a:rPr>
              <a:t>-1; </a:t>
            </a:r>
            <a:r>
              <a:rPr lang="en-US" sz="1200" i="1" dirty="0" err="1">
                <a:solidFill>
                  <a:srgbClr val="6A3E3E"/>
                </a:solidFill>
                <a:latin typeface="Consolas" panose="020B0609020204030204" pitchFamily="49" charset="0"/>
              </a:rPr>
              <a:t>i</a:t>
            </a:r>
            <a:r>
              <a:rPr lang="en-US" sz="1200" i="1" dirty="0">
                <a:solidFill>
                  <a:srgbClr val="000000"/>
                </a:solidFill>
                <a:latin typeface="Consolas" panose="020B0609020204030204" pitchFamily="49" charset="0"/>
              </a:rPr>
              <a:t>--)</a:t>
            </a:r>
          </a:p>
          <a:p>
            <a:pPr lvl="2"/>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Game.</a:t>
            </a:r>
            <a:r>
              <a:rPr lang="en-US" sz="1200" i="1" dirty="0" err="1">
                <a:solidFill>
                  <a:srgbClr val="0000C0"/>
                </a:solidFill>
                <a:latin typeface="Consolas" panose="020B0609020204030204" pitchFamily="49" charset="0"/>
              </a:rPr>
              <a:t>playerStates</a:t>
            </a:r>
            <a:r>
              <a:rPr lang="en-US" sz="1200" i="1" dirty="0" err="1">
                <a:solidFill>
                  <a:srgbClr val="000000"/>
                </a:solidFill>
                <a:latin typeface="Consolas" panose="020B0609020204030204" pitchFamily="49" charset="0"/>
              </a:rPr>
              <a:t>.remove</a:t>
            </a:r>
            <a:r>
              <a:rPr lang="en-US" sz="1200" i="1" dirty="0">
                <a:solidFill>
                  <a:srgbClr val="000000"/>
                </a:solidFill>
                <a:latin typeface="Consolas" panose="020B0609020204030204" pitchFamily="49" charset="0"/>
              </a:rPr>
              <a:t>(</a:t>
            </a:r>
            <a:r>
              <a:rPr lang="en-US" sz="1200" i="1" dirty="0" err="1">
                <a:solidFill>
                  <a:srgbClr val="6A3E3E"/>
                </a:solidFill>
                <a:latin typeface="Consolas" panose="020B0609020204030204" pitchFamily="49" charset="0"/>
              </a:rPr>
              <a:t>i</a:t>
            </a:r>
            <a:r>
              <a:rPr lang="en-US" sz="1200" i="1"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a:t>
            </a:r>
            <a:endParaRPr lang="en-US" sz="1200" dirty="0"/>
          </a:p>
        </p:txBody>
      </p:sp>
      <p:sp>
        <p:nvSpPr>
          <p:cNvPr id="6" name="TextBox 5"/>
          <p:cNvSpPr txBox="1"/>
          <p:nvPr/>
        </p:nvSpPr>
        <p:spPr>
          <a:xfrm>
            <a:off x="5588000" y="139839"/>
            <a:ext cx="6338595" cy="2862322"/>
          </a:xfrm>
          <a:prstGeom prst="rect">
            <a:avLst/>
          </a:prstGeom>
          <a:solidFill>
            <a:schemeClr val="bg1"/>
          </a:solidFill>
          <a:ln>
            <a:solidFill>
              <a:schemeClr val="bg1">
                <a:lumMod val="65000"/>
              </a:schemeClr>
            </a:solidFill>
          </a:ln>
        </p:spPr>
        <p:txBody>
          <a:bodyPr wrap="none" rtlCol="0">
            <a:spAutoFit/>
          </a:bodyPr>
          <a:lstStyle/>
          <a:p>
            <a:r>
              <a:rPr lang="en-US" sz="1200" dirty="0">
                <a:solidFill>
                  <a:srgbClr val="7F0055"/>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class</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PlayerState</a:t>
            </a:r>
            <a:r>
              <a:rPr lang="en-US" sz="1200" dirty="0">
                <a:solidFill>
                  <a:srgbClr val="000000"/>
                </a:solidFill>
                <a:latin typeface="Consolas" panose="020B0609020204030204" pitchFamily="49" charset="0"/>
              </a:rPr>
              <a:t> {</a:t>
            </a:r>
          </a:p>
          <a:p>
            <a:pPr lvl="1"/>
            <a:r>
              <a:rPr lang="en-US" sz="1200" dirty="0">
                <a:solidFill>
                  <a:srgbClr val="7F0055"/>
                </a:solidFill>
                <a:latin typeface="Consolas" panose="020B0609020204030204" pitchFamily="49" charset="0"/>
              </a:rPr>
              <a:t>double</a:t>
            </a:r>
            <a:r>
              <a:rPr lang="en-US" sz="1200" dirty="0">
                <a:solidFill>
                  <a:srgbClr val="000000"/>
                </a:solidFill>
                <a:latin typeface="Consolas" panose="020B0609020204030204" pitchFamily="49" charset="0"/>
              </a:rPr>
              <a:t> </a:t>
            </a:r>
            <a:r>
              <a:rPr lang="en-US" sz="1200" dirty="0">
                <a:solidFill>
                  <a:srgbClr val="0000C0"/>
                </a:solidFill>
                <a:latin typeface="Consolas" panose="020B0609020204030204" pitchFamily="49" charset="0"/>
              </a:rPr>
              <a:t>score</a:t>
            </a:r>
            <a:r>
              <a:rPr lang="en-US" sz="1200"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double</a:t>
            </a:r>
            <a:r>
              <a:rPr lang="en-US" sz="1200" dirty="0">
                <a:solidFill>
                  <a:srgbClr val="000000"/>
                </a:solidFill>
                <a:latin typeface="Consolas" panose="020B0609020204030204" pitchFamily="49" charset="0"/>
              </a:rPr>
              <a:t> </a:t>
            </a:r>
            <a:r>
              <a:rPr lang="en-US" sz="1200" dirty="0" err="1">
                <a:solidFill>
                  <a:srgbClr val="0000C0"/>
                </a:solidFill>
                <a:latin typeface="Consolas" panose="020B0609020204030204" pitchFamily="49" charset="0"/>
              </a:rPr>
              <a:t>averageScore</a:t>
            </a:r>
            <a:r>
              <a:rPr lang="en-US" sz="1200" dirty="0">
                <a:solidFill>
                  <a:srgbClr val="000000"/>
                </a:solidFill>
                <a:latin typeface="Consolas" panose="020B0609020204030204" pitchFamily="49" charset="0"/>
              </a:rPr>
              <a:t>;</a:t>
            </a:r>
          </a:p>
          <a:p>
            <a:pPr lvl="1"/>
            <a:r>
              <a:rPr lang="en-US" sz="1200" dirty="0" err="1">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C0"/>
                </a:solidFill>
                <a:latin typeface="Consolas" panose="020B0609020204030204" pitchFamily="49" charset="0"/>
              </a:rPr>
              <a:t>countPlayed</a:t>
            </a:r>
            <a:r>
              <a:rPr lang="en-US" sz="1200" dirty="0">
                <a:solidFill>
                  <a:srgbClr val="000000"/>
                </a:solidFill>
                <a:latin typeface="Consolas" panose="020B0609020204030204" pitchFamily="49" charset="0"/>
              </a:rPr>
              <a:t>;</a:t>
            </a:r>
          </a:p>
          <a:p>
            <a:pPr lvl="1"/>
            <a:endParaRPr lang="en-US" sz="1200" dirty="0">
              <a:latin typeface="Consolas" panose="020B0609020204030204" pitchFamily="49" charset="0"/>
            </a:endParaRPr>
          </a:p>
          <a:p>
            <a:pPr lvl="1"/>
            <a:r>
              <a:rPr lang="en-US" sz="1200" dirty="0" err="1">
                <a:solidFill>
                  <a:srgbClr val="000000"/>
                </a:solidFill>
                <a:latin typeface="Consolas" panose="020B0609020204030204" pitchFamily="49" charset="0"/>
              </a:rPr>
              <a:t>PlayerState</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getState</a:t>
            </a:r>
            <a:r>
              <a:rPr lang="en-US" sz="1200" dirty="0">
                <a:solidFill>
                  <a:srgbClr val="000000"/>
                </a:solidFill>
                <a:latin typeface="Consolas" panose="020B0609020204030204" pitchFamily="49" charset="0"/>
              </a:rPr>
              <a:t>() {</a:t>
            </a:r>
          </a:p>
          <a:p>
            <a:pPr lvl="2"/>
            <a:r>
              <a:rPr lang="en-US" sz="1200" dirty="0">
                <a:solidFill>
                  <a:srgbClr val="7F0055"/>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this</a:t>
            </a:r>
            <a:r>
              <a:rPr lang="en-US" sz="1200"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a:t>
            </a:r>
          </a:p>
          <a:p>
            <a:pPr lvl="1"/>
            <a:endParaRPr lang="en-US" sz="1200" dirty="0">
              <a:latin typeface="Consolas" panose="020B0609020204030204" pitchFamily="49" charset="0"/>
            </a:endParaRPr>
          </a:p>
          <a:p>
            <a:pPr lvl="1"/>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setState</a:t>
            </a:r>
            <a:r>
              <a:rPr lang="en-US" sz="1200" dirty="0">
                <a:solidFill>
                  <a:srgbClr val="000000"/>
                </a:solidFill>
                <a:latin typeface="Consolas" panose="020B0609020204030204" pitchFamily="49" charset="0"/>
              </a:rPr>
              <a:t>(</a:t>
            </a:r>
            <a:r>
              <a:rPr lang="en-US" sz="1200" dirty="0">
                <a:solidFill>
                  <a:srgbClr val="7F0055"/>
                </a:solidFill>
                <a:latin typeface="Consolas" panose="020B0609020204030204" pitchFamily="49" charset="0"/>
              </a:rPr>
              <a:t>double</a:t>
            </a:r>
            <a:r>
              <a:rPr lang="en-US" sz="1200" dirty="0">
                <a:solidFill>
                  <a:srgbClr val="000000"/>
                </a:solidFill>
                <a:latin typeface="Consolas" panose="020B0609020204030204" pitchFamily="49" charset="0"/>
              </a:rPr>
              <a:t> </a:t>
            </a:r>
            <a:r>
              <a:rPr lang="en-US" sz="1200" dirty="0">
                <a:solidFill>
                  <a:srgbClr val="6A3E3E"/>
                </a:solidFill>
                <a:latin typeface="Consolas" panose="020B0609020204030204" pitchFamily="49" charset="0"/>
              </a:rPr>
              <a:t>score</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double</a:t>
            </a:r>
            <a:r>
              <a:rPr lang="en-US" sz="1200" dirty="0">
                <a:solidFill>
                  <a:srgbClr val="000000"/>
                </a:solidFill>
                <a:latin typeface="Consolas" panose="020B0609020204030204" pitchFamily="49" charset="0"/>
              </a:rPr>
              <a:t> </a:t>
            </a:r>
            <a:r>
              <a:rPr lang="en-US" sz="1200" dirty="0" err="1">
                <a:solidFill>
                  <a:srgbClr val="6A3E3E"/>
                </a:solidFill>
                <a:latin typeface="Consolas" panose="020B0609020204030204" pitchFamily="49" charset="0"/>
              </a:rPr>
              <a:t>averageScore</a:t>
            </a:r>
            <a:r>
              <a:rPr lang="en-US" sz="1200" dirty="0">
                <a:solidFill>
                  <a:srgbClr val="000000"/>
                </a:solidFill>
                <a:latin typeface="Consolas" panose="020B0609020204030204" pitchFamily="49" charset="0"/>
              </a:rPr>
              <a:t>, </a:t>
            </a:r>
            <a:r>
              <a:rPr lang="en-US" sz="1200" dirty="0" err="1">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6A3E3E"/>
                </a:solidFill>
                <a:latin typeface="Consolas" panose="020B0609020204030204" pitchFamily="49" charset="0"/>
              </a:rPr>
              <a:t>countPlayed</a:t>
            </a:r>
            <a:r>
              <a:rPr lang="en-US" sz="1200" dirty="0">
                <a:solidFill>
                  <a:srgbClr val="000000"/>
                </a:solidFill>
                <a:latin typeface="Consolas" panose="020B0609020204030204" pitchFamily="49" charset="0"/>
              </a:rPr>
              <a:t>) {</a:t>
            </a:r>
          </a:p>
          <a:p>
            <a:pPr lvl="2"/>
            <a:r>
              <a:rPr lang="en-US" sz="1200" dirty="0" err="1">
                <a:solidFill>
                  <a:srgbClr val="7F0055"/>
                </a:solidFill>
                <a:latin typeface="Consolas" panose="020B0609020204030204" pitchFamily="49" charset="0"/>
              </a:rPr>
              <a:t>this</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score</a:t>
            </a:r>
            <a:r>
              <a:rPr lang="en-US" sz="1200" dirty="0">
                <a:solidFill>
                  <a:srgbClr val="000000"/>
                </a:solidFill>
                <a:latin typeface="Consolas" panose="020B0609020204030204" pitchFamily="49" charset="0"/>
              </a:rPr>
              <a:t> = </a:t>
            </a:r>
            <a:r>
              <a:rPr lang="en-US" sz="1200" dirty="0">
                <a:solidFill>
                  <a:srgbClr val="6A3E3E"/>
                </a:solidFill>
                <a:latin typeface="Consolas" panose="020B0609020204030204" pitchFamily="49" charset="0"/>
              </a:rPr>
              <a:t>score</a:t>
            </a:r>
            <a:r>
              <a:rPr lang="en-US" sz="1200" dirty="0">
                <a:solidFill>
                  <a:srgbClr val="000000"/>
                </a:solidFill>
                <a:latin typeface="Consolas" panose="020B0609020204030204" pitchFamily="49" charset="0"/>
              </a:rPr>
              <a:t>;</a:t>
            </a:r>
          </a:p>
          <a:p>
            <a:pPr lvl="2"/>
            <a:r>
              <a:rPr lang="en-US" sz="1200" dirty="0" err="1">
                <a:solidFill>
                  <a:srgbClr val="7F0055"/>
                </a:solidFill>
                <a:latin typeface="Consolas" panose="020B0609020204030204" pitchFamily="49" charset="0"/>
              </a:rPr>
              <a:t>this</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averageScore</a:t>
            </a:r>
            <a:r>
              <a:rPr lang="en-US" sz="1200" dirty="0">
                <a:solidFill>
                  <a:srgbClr val="000000"/>
                </a:solidFill>
                <a:latin typeface="Consolas" panose="020B0609020204030204" pitchFamily="49" charset="0"/>
              </a:rPr>
              <a:t> = </a:t>
            </a:r>
            <a:r>
              <a:rPr lang="en-US" sz="1200" dirty="0" err="1">
                <a:solidFill>
                  <a:srgbClr val="6A3E3E"/>
                </a:solidFill>
                <a:latin typeface="Consolas" panose="020B0609020204030204" pitchFamily="49" charset="0"/>
              </a:rPr>
              <a:t>averageScore</a:t>
            </a:r>
            <a:r>
              <a:rPr lang="en-US" sz="1200" dirty="0">
                <a:solidFill>
                  <a:srgbClr val="000000"/>
                </a:solidFill>
                <a:latin typeface="Consolas" panose="020B0609020204030204" pitchFamily="49" charset="0"/>
              </a:rPr>
              <a:t>;</a:t>
            </a:r>
          </a:p>
          <a:p>
            <a:pPr lvl="2"/>
            <a:r>
              <a:rPr lang="en-US" sz="1200" dirty="0" err="1">
                <a:solidFill>
                  <a:srgbClr val="7F0055"/>
                </a:solidFill>
                <a:latin typeface="Consolas" panose="020B0609020204030204" pitchFamily="49" charset="0"/>
              </a:rPr>
              <a:t>this</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countPlayed</a:t>
            </a:r>
            <a:r>
              <a:rPr lang="en-US" sz="1200" dirty="0">
                <a:solidFill>
                  <a:srgbClr val="000000"/>
                </a:solidFill>
                <a:latin typeface="Consolas" panose="020B0609020204030204" pitchFamily="49" charset="0"/>
              </a:rPr>
              <a:t> = </a:t>
            </a:r>
            <a:r>
              <a:rPr lang="en-US" sz="1200" dirty="0" err="1">
                <a:solidFill>
                  <a:srgbClr val="6A3E3E"/>
                </a:solidFill>
                <a:latin typeface="Consolas" panose="020B0609020204030204" pitchFamily="49" charset="0"/>
              </a:rPr>
              <a:t>countPlayed</a:t>
            </a:r>
            <a:r>
              <a:rPr lang="en-US" sz="1200"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a:t>
            </a:r>
            <a:endParaRPr lang="en-US" sz="1200" dirty="0"/>
          </a:p>
        </p:txBody>
      </p:sp>
      <p:grpSp>
        <p:nvGrpSpPr>
          <p:cNvPr id="3" name="Group 2"/>
          <p:cNvGrpSpPr/>
          <p:nvPr/>
        </p:nvGrpSpPr>
        <p:grpSpPr>
          <a:xfrm>
            <a:off x="8155709" y="406400"/>
            <a:ext cx="2691269" cy="508000"/>
            <a:chOff x="8155709" y="406400"/>
            <a:chExt cx="2691269" cy="508000"/>
          </a:xfrm>
        </p:grpSpPr>
        <p:sp>
          <p:nvSpPr>
            <p:cNvPr id="8" name="Right Brace 7"/>
            <p:cNvSpPr/>
            <p:nvPr/>
          </p:nvSpPr>
          <p:spPr>
            <a:xfrm>
              <a:off x="8155709" y="406400"/>
              <a:ext cx="249382" cy="508000"/>
            </a:xfrm>
            <a:prstGeom prst="rightBrace">
              <a:avLst/>
            </a:prstGeom>
            <a:ln>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8405091" y="475734"/>
              <a:ext cx="2441887" cy="307777"/>
            </a:xfrm>
            <a:prstGeom prst="rect">
              <a:avLst/>
            </a:prstGeom>
            <a:noFill/>
          </p:spPr>
          <p:txBody>
            <a:bodyPr wrap="none" rtlCol="0">
              <a:spAutoFit/>
            </a:bodyPr>
            <a:lstStyle/>
            <a:p>
              <a:r>
                <a:rPr lang="en-US" sz="1400" dirty="0">
                  <a:solidFill>
                    <a:srgbClr val="92D050"/>
                  </a:solidFill>
                </a:rPr>
                <a:t>These should ideally be private</a:t>
              </a:r>
            </a:p>
          </p:txBody>
        </p:sp>
      </p:grpSp>
      <p:pic>
        <p:nvPicPr>
          <p:cNvPr id="10" name="Picture 9"/>
          <p:cNvPicPr>
            <a:picLocks noChangeAspect="1"/>
          </p:cNvPicPr>
          <p:nvPr/>
        </p:nvPicPr>
        <p:blipFill>
          <a:blip r:embed="rId2"/>
          <a:stretch>
            <a:fillRect/>
          </a:stretch>
        </p:blipFill>
        <p:spPr>
          <a:xfrm>
            <a:off x="6479449" y="4080684"/>
            <a:ext cx="5594928" cy="2777316"/>
          </a:xfrm>
          <a:prstGeom prst="rect">
            <a:avLst/>
          </a:prstGeom>
        </p:spPr>
      </p:pic>
    </p:spTree>
    <p:extLst>
      <p:ext uri="{BB962C8B-B14F-4D97-AF65-F5344CB8AC3E}">
        <p14:creationId xmlns:p14="http://schemas.microsoft.com/office/powerpoint/2010/main" val="133755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Memento Example</a:t>
            </a:r>
          </a:p>
        </p:txBody>
      </p:sp>
      <p:sp>
        <p:nvSpPr>
          <p:cNvPr id="4" name="Slide Number Placeholder 3"/>
          <p:cNvSpPr>
            <a:spLocks noGrp="1"/>
          </p:cNvSpPr>
          <p:nvPr>
            <p:ph type="sldNum" sz="quarter" idx="12"/>
          </p:nvPr>
        </p:nvSpPr>
        <p:spPr/>
        <p:txBody>
          <a:bodyPr/>
          <a:lstStyle/>
          <a:p>
            <a:fld id="{9F1A4D64-A005-48D8-BBA4-82C0A2806572}" type="slidenum">
              <a:rPr lang="en-US" smtClean="0"/>
              <a:t>31</a:t>
            </a:fld>
            <a:endParaRPr lang="en-US"/>
          </a:p>
        </p:txBody>
      </p:sp>
      <p:sp>
        <p:nvSpPr>
          <p:cNvPr id="7" name="TextBox 6"/>
          <p:cNvSpPr txBox="1"/>
          <p:nvPr/>
        </p:nvSpPr>
        <p:spPr>
          <a:xfrm>
            <a:off x="166253" y="807105"/>
            <a:ext cx="10867077" cy="5262979"/>
          </a:xfrm>
          <a:prstGeom prst="rect">
            <a:avLst/>
          </a:prstGeom>
          <a:noFill/>
          <a:ln>
            <a:solidFill>
              <a:schemeClr val="bg1">
                <a:lumMod val="65000"/>
              </a:schemeClr>
            </a:solidFill>
          </a:ln>
        </p:spPr>
        <p:txBody>
          <a:bodyPr wrap="none" rtlCol="0">
            <a:spAutoFit/>
          </a:bodyPr>
          <a:lstStyle/>
          <a:p>
            <a:r>
              <a:rPr lang="en-US" sz="1200" dirty="0">
                <a:solidFill>
                  <a:srgbClr val="7F0055"/>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class</a:t>
            </a:r>
            <a:r>
              <a:rPr lang="en-US" sz="1200" dirty="0">
                <a:solidFill>
                  <a:srgbClr val="000000"/>
                </a:solidFill>
                <a:latin typeface="Consolas" panose="020B0609020204030204" pitchFamily="49" charset="0"/>
              </a:rPr>
              <a:t> Game {</a:t>
            </a:r>
          </a:p>
          <a:p>
            <a:pPr lvl="1"/>
            <a:r>
              <a:rPr lang="en-US" sz="1200" dirty="0">
                <a:solidFill>
                  <a:srgbClr val="7F0055"/>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final</a:t>
            </a:r>
            <a:r>
              <a:rPr lang="en-US" sz="1200" dirty="0">
                <a:solidFill>
                  <a:srgbClr val="000000"/>
                </a:solidFill>
                <a:latin typeface="Consolas" panose="020B0609020204030204" pitchFamily="49" charset="0"/>
              </a:rPr>
              <a:t> </a:t>
            </a:r>
            <a:r>
              <a:rPr lang="en-US" sz="1200" dirty="0" err="1">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i="1" dirty="0">
                <a:solidFill>
                  <a:srgbClr val="0000C0"/>
                </a:solidFill>
                <a:latin typeface="Consolas" panose="020B0609020204030204" pitchFamily="49" charset="0"/>
              </a:rPr>
              <a:t>MAX_STATES</a:t>
            </a:r>
            <a:r>
              <a:rPr lang="en-US" sz="1200" i="1" dirty="0">
                <a:solidFill>
                  <a:srgbClr val="000000"/>
                </a:solidFill>
                <a:latin typeface="Consolas" panose="020B0609020204030204" pitchFamily="49" charset="0"/>
              </a:rPr>
              <a:t> = 5;</a:t>
            </a:r>
          </a:p>
          <a:p>
            <a:pPr lvl="1"/>
            <a:r>
              <a:rPr lang="en-US" sz="1200" dirty="0">
                <a:solidFill>
                  <a:srgbClr val="7F0055"/>
                </a:solidFill>
                <a:latin typeface="Consolas" panose="020B0609020204030204" pitchFamily="49" charset="0"/>
              </a:rPr>
              <a:t>static</a:t>
            </a:r>
            <a:r>
              <a:rPr lang="en-US" sz="1200" dirty="0">
                <a:solidFill>
                  <a:srgbClr val="000000"/>
                </a:solidFill>
                <a:latin typeface="Consolas" panose="020B0609020204030204" pitchFamily="49" charset="0"/>
              </a:rPr>
              <a:t> List&lt;</a:t>
            </a:r>
            <a:r>
              <a:rPr lang="en-US" sz="1200" dirty="0" err="1">
                <a:solidFill>
                  <a:srgbClr val="000000"/>
                </a:solidFill>
                <a:latin typeface="Consolas" panose="020B0609020204030204" pitchFamily="49" charset="0"/>
              </a:rPr>
              <a:t>PlayerState</a:t>
            </a:r>
            <a:r>
              <a:rPr lang="en-US" sz="1200" dirty="0">
                <a:solidFill>
                  <a:srgbClr val="000000"/>
                </a:solidFill>
                <a:latin typeface="Consolas" panose="020B0609020204030204" pitchFamily="49" charset="0"/>
              </a:rPr>
              <a:t>&gt; </a:t>
            </a:r>
            <a:r>
              <a:rPr lang="en-US" sz="1200" i="1" dirty="0" err="1">
                <a:solidFill>
                  <a:srgbClr val="0000C0"/>
                </a:solidFill>
                <a:latin typeface="Consolas" panose="020B0609020204030204" pitchFamily="49" charset="0"/>
              </a:rPr>
              <a:t>playerStates</a:t>
            </a:r>
            <a:r>
              <a:rPr lang="en-US" sz="1200" i="1" dirty="0">
                <a:solidFill>
                  <a:srgbClr val="000000"/>
                </a:solidFill>
                <a:latin typeface="Consolas" panose="020B0609020204030204" pitchFamily="49" charset="0"/>
              </a:rPr>
              <a:t> = </a:t>
            </a:r>
            <a:r>
              <a:rPr lang="en-US" sz="1200" i="1" dirty="0">
                <a:solidFill>
                  <a:srgbClr val="7F0055"/>
                </a:solidFill>
                <a:latin typeface="Consolas" panose="020B0609020204030204" pitchFamily="49" charset="0"/>
              </a:rPr>
              <a:t>new</a:t>
            </a:r>
            <a:r>
              <a:rPr lang="en-US" sz="1200" i="1" dirty="0">
                <a:solidFill>
                  <a:srgbClr val="000000"/>
                </a:solidFill>
                <a:latin typeface="Consolas" panose="020B0609020204030204" pitchFamily="49" charset="0"/>
              </a:rPr>
              <a:t> </a:t>
            </a:r>
            <a:r>
              <a:rPr lang="en-US" sz="1200" i="1" dirty="0" err="1">
                <a:solidFill>
                  <a:srgbClr val="000000"/>
                </a:solidFill>
                <a:latin typeface="Consolas" panose="020B0609020204030204" pitchFamily="49" charset="0"/>
              </a:rPr>
              <a:t>ArrayList</a:t>
            </a:r>
            <a:r>
              <a:rPr lang="en-US" sz="1200" i="1" dirty="0">
                <a:solidFill>
                  <a:srgbClr val="000000"/>
                </a:solidFill>
                <a:latin typeface="Consolas" panose="020B0609020204030204" pitchFamily="49" charset="0"/>
              </a:rPr>
              <a:t>&lt;&gt;(</a:t>
            </a:r>
            <a:r>
              <a:rPr lang="en-US" sz="1200" i="1" dirty="0">
                <a:solidFill>
                  <a:srgbClr val="0000C0"/>
                </a:solidFill>
                <a:latin typeface="Consolas" panose="020B0609020204030204" pitchFamily="49" charset="0"/>
              </a:rPr>
              <a:t>MAX_STATES</a:t>
            </a:r>
            <a:r>
              <a:rPr lang="en-US" sz="1200" i="1"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static</a:t>
            </a:r>
            <a:r>
              <a:rPr lang="en-US" sz="1200" dirty="0">
                <a:solidFill>
                  <a:srgbClr val="000000"/>
                </a:solidFill>
                <a:latin typeface="Consolas" panose="020B0609020204030204" pitchFamily="49" charset="0"/>
              </a:rPr>
              <a:t> Player </a:t>
            </a:r>
            <a:r>
              <a:rPr lang="en-US" sz="1200" i="1" dirty="0" err="1">
                <a:solidFill>
                  <a:srgbClr val="0000C0"/>
                </a:solidFill>
                <a:latin typeface="Consolas" panose="020B0609020204030204" pitchFamily="49" charset="0"/>
              </a:rPr>
              <a:t>player</a:t>
            </a:r>
            <a:r>
              <a:rPr lang="en-US" sz="1200" i="1" dirty="0">
                <a:solidFill>
                  <a:srgbClr val="000000"/>
                </a:solidFill>
                <a:latin typeface="Consolas" panose="020B0609020204030204" pitchFamily="49" charset="0"/>
              </a:rPr>
              <a:t> = </a:t>
            </a:r>
            <a:r>
              <a:rPr lang="en-US" sz="1200" i="1" dirty="0">
                <a:solidFill>
                  <a:srgbClr val="7F0055"/>
                </a:solidFill>
                <a:latin typeface="Consolas" panose="020B0609020204030204" pitchFamily="49" charset="0"/>
              </a:rPr>
              <a:t>new</a:t>
            </a:r>
            <a:r>
              <a:rPr lang="en-US" sz="1200" i="1" dirty="0">
                <a:solidFill>
                  <a:srgbClr val="000000"/>
                </a:solidFill>
                <a:latin typeface="Consolas" panose="020B0609020204030204" pitchFamily="49" charset="0"/>
              </a:rPr>
              <a:t> Player();</a:t>
            </a:r>
          </a:p>
          <a:p>
            <a:pPr lvl="1"/>
            <a:endParaRPr lang="en-US" sz="1200" dirty="0">
              <a:latin typeface="Consolas" panose="020B0609020204030204" pitchFamily="49" charset="0"/>
            </a:endParaRPr>
          </a:p>
          <a:p>
            <a:pPr lvl="1"/>
            <a:r>
              <a:rPr lang="en-US" sz="1200" dirty="0">
                <a:solidFill>
                  <a:srgbClr val="7F0055"/>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main(String[] </a:t>
            </a:r>
            <a:r>
              <a:rPr lang="en-US" sz="1200" dirty="0" err="1">
                <a:solidFill>
                  <a:srgbClr val="6A3E3E"/>
                </a:solidFill>
                <a:latin typeface="Consolas" panose="020B0609020204030204" pitchFamily="49" charset="0"/>
              </a:rPr>
              <a:t>args</a:t>
            </a:r>
            <a:r>
              <a:rPr lang="en-US" sz="1200" dirty="0">
                <a:solidFill>
                  <a:srgbClr val="000000"/>
                </a:solidFill>
                <a:latin typeface="Consolas" panose="020B0609020204030204" pitchFamily="49" charset="0"/>
              </a:rPr>
              <a:t>) {</a:t>
            </a:r>
          </a:p>
          <a:p>
            <a:pPr lvl="2"/>
            <a:r>
              <a:rPr lang="en-US" sz="1200" dirty="0">
                <a:solidFill>
                  <a:srgbClr val="000000"/>
                </a:solidFill>
                <a:latin typeface="Consolas" panose="020B0609020204030204" pitchFamily="49" charset="0"/>
              </a:rPr>
              <a:t>Game </a:t>
            </a:r>
            <a:r>
              <a:rPr lang="en-US" sz="1200" dirty="0" err="1">
                <a:solidFill>
                  <a:srgbClr val="6A3E3E"/>
                </a:solidFill>
                <a:latin typeface="Consolas" panose="020B0609020204030204" pitchFamily="49" charset="0"/>
              </a:rPr>
              <a:t>game</a:t>
            </a:r>
            <a:r>
              <a:rPr lang="en-US" sz="1200" dirty="0">
                <a:solidFill>
                  <a:srgbClr val="000000"/>
                </a:solidFill>
                <a:latin typeface="Consolas" panose="020B0609020204030204" pitchFamily="49" charset="0"/>
              </a:rPr>
              <a:t> = </a:t>
            </a:r>
            <a:r>
              <a:rPr lang="en-US" sz="1200" dirty="0">
                <a:solidFill>
                  <a:srgbClr val="7F0055"/>
                </a:solidFill>
                <a:latin typeface="Consolas" panose="020B0609020204030204" pitchFamily="49" charset="0"/>
              </a:rPr>
              <a:t>new</a:t>
            </a:r>
            <a:r>
              <a:rPr lang="en-US" sz="1200" dirty="0">
                <a:solidFill>
                  <a:srgbClr val="000000"/>
                </a:solidFill>
                <a:latin typeface="Consolas" panose="020B0609020204030204" pitchFamily="49" charset="0"/>
              </a:rPr>
              <a:t> Game();</a:t>
            </a:r>
          </a:p>
          <a:p>
            <a:pPr lvl="2"/>
            <a:r>
              <a:rPr lang="en-US" sz="1200" dirty="0" err="1">
                <a:solidFill>
                  <a:srgbClr val="6A3E3E"/>
                </a:solidFill>
                <a:latin typeface="Consolas" panose="020B0609020204030204" pitchFamily="49" charset="0"/>
              </a:rPr>
              <a:t>game</a:t>
            </a:r>
            <a:r>
              <a:rPr lang="en-US" sz="1200" dirty="0" err="1">
                <a:solidFill>
                  <a:srgbClr val="000000"/>
                </a:solidFill>
                <a:latin typeface="Consolas" panose="020B0609020204030204" pitchFamily="49" charset="0"/>
              </a:rPr>
              <a:t>.play</a:t>
            </a:r>
            <a:r>
              <a:rPr lang="en-US" sz="1200" dirty="0">
                <a:solidFill>
                  <a:srgbClr val="000000"/>
                </a:solidFill>
                <a:latin typeface="Consolas" panose="020B0609020204030204" pitchFamily="49" charset="0"/>
              </a:rPr>
              <a:t>();</a:t>
            </a:r>
          </a:p>
          <a:p>
            <a:pPr lvl="2"/>
            <a:r>
              <a:rPr lang="en-US" sz="1200" dirty="0" err="1">
                <a:solidFill>
                  <a:srgbClr val="6A3E3E"/>
                </a:solidFill>
                <a:latin typeface="Consolas" panose="020B0609020204030204" pitchFamily="49" charset="0"/>
              </a:rPr>
              <a:t>game</a:t>
            </a:r>
            <a:r>
              <a:rPr lang="en-US" sz="1200" dirty="0" err="1">
                <a:solidFill>
                  <a:srgbClr val="000000"/>
                </a:solidFill>
                <a:latin typeface="Consolas" panose="020B0609020204030204" pitchFamily="49" charset="0"/>
              </a:rPr>
              <a:t>.prinHistory</a:t>
            </a:r>
            <a:r>
              <a:rPr lang="en-US" sz="1200" dirty="0">
                <a:solidFill>
                  <a:srgbClr val="000000"/>
                </a:solidFill>
                <a:latin typeface="Consolas" panose="020B0609020204030204" pitchFamily="49" charset="0"/>
              </a:rPr>
              <a:t>();</a:t>
            </a:r>
          </a:p>
          <a:p>
            <a:pPr lvl="2"/>
            <a:r>
              <a:rPr lang="en-US" sz="1200" dirty="0" err="1">
                <a:solidFill>
                  <a:srgbClr val="000000"/>
                </a:solidFill>
                <a:latin typeface="Consolas" panose="020B0609020204030204" pitchFamily="49" charset="0"/>
              </a:rPr>
              <a:t>System.</a:t>
            </a:r>
            <a:r>
              <a:rPr lang="en-US" sz="1200" i="1" dirty="0" err="1">
                <a:solidFill>
                  <a:srgbClr val="0000C0"/>
                </a:solidFill>
                <a:latin typeface="Consolas" panose="020B0609020204030204" pitchFamily="49" charset="0"/>
              </a:rPr>
              <a:t>out</a:t>
            </a:r>
            <a:r>
              <a:rPr lang="en-US" sz="1200" i="1" dirty="0" err="1">
                <a:solidFill>
                  <a:srgbClr val="000000"/>
                </a:solidFill>
                <a:latin typeface="Consolas" panose="020B0609020204030204" pitchFamily="49" charset="0"/>
              </a:rPr>
              <a:t>.println</a:t>
            </a:r>
            <a:r>
              <a:rPr lang="en-US" sz="1200" i="1" dirty="0">
                <a:solidFill>
                  <a:srgbClr val="000000"/>
                </a:solidFill>
                <a:latin typeface="Consolas" panose="020B0609020204030204" pitchFamily="49" charset="0"/>
              </a:rPr>
              <a:t>(</a:t>
            </a:r>
            <a:r>
              <a:rPr lang="en-US" sz="1200" i="1" dirty="0">
                <a:solidFill>
                  <a:srgbClr val="2A00FF"/>
                </a:solidFill>
                <a:latin typeface="Consolas" panose="020B0609020204030204" pitchFamily="49" charset="0"/>
              </a:rPr>
              <a:t>"To which round you want to restore? "</a:t>
            </a:r>
            <a:r>
              <a:rPr lang="en-US" sz="1200" i="1" dirty="0">
                <a:solidFill>
                  <a:srgbClr val="000000"/>
                </a:solidFill>
                <a:latin typeface="Consolas" panose="020B0609020204030204" pitchFamily="49" charset="0"/>
              </a:rPr>
              <a:t>);</a:t>
            </a:r>
          </a:p>
          <a:p>
            <a:pPr lvl="2"/>
            <a:r>
              <a:rPr lang="en-US" sz="1200" dirty="0" err="1">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a:solidFill>
                  <a:srgbClr val="6A3E3E"/>
                </a:solidFill>
                <a:latin typeface="Consolas" panose="020B0609020204030204" pitchFamily="49" charset="0"/>
              </a:rPr>
              <a:t>state</a:t>
            </a:r>
            <a:r>
              <a:rPr lang="en-US" sz="1200" dirty="0">
                <a:solidFill>
                  <a:srgbClr val="000000"/>
                </a:solidFill>
                <a:latin typeface="Consolas" panose="020B0609020204030204" pitchFamily="49" charset="0"/>
              </a:rPr>
              <a:t> = (</a:t>
            </a:r>
            <a:r>
              <a:rPr lang="en-US" sz="1200" dirty="0">
                <a:solidFill>
                  <a:srgbClr val="7F0055"/>
                </a:solidFill>
                <a:latin typeface="Consolas" panose="020B0609020204030204" pitchFamily="49" charset="0"/>
              </a:rPr>
              <a:t>new</a:t>
            </a:r>
            <a:r>
              <a:rPr lang="en-US" sz="1200" dirty="0">
                <a:solidFill>
                  <a:srgbClr val="000000"/>
                </a:solidFill>
                <a:latin typeface="Consolas" panose="020B0609020204030204" pitchFamily="49" charset="0"/>
              </a:rPr>
              <a:t> Scanner(System.</a:t>
            </a:r>
            <a:r>
              <a:rPr lang="en-US" sz="1200" i="1" dirty="0">
                <a:solidFill>
                  <a:srgbClr val="0000C0"/>
                </a:solidFill>
                <a:latin typeface="Consolas" panose="020B0609020204030204" pitchFamily="49" charset="0"/>
              </a:rPr>
              <a:t>in</a:t>
            </a:r>
            <a:r>
              <a:rPr lang="en-US" sz="1200" i="1" dirty="0">
                <a:solidFill>
                  <a:srgbClr val="000000"/>
                </a:solidFill>
                <a:latin typeface="Consolas" panose="020B0609020204030204" pitchFamily="49" charset="0"/>
              </a:rPr>
              <a:t>)).</a:t>
            </a:r>
            <a:r>
              <a:rPr lang="en-US" sz="1200" i="1" dirty="0" err="1">
                <a:solidFill>
                  <a:srgbClr val="000000"/>
                </a:solidFill>
                <a:latin typeface="Consolas" panose="020B0609020204030204" pitchFamily="49" charset="0"/>
              </a:rPr>
              <a:t>nextInt</a:t>
            </a:r>
            <a:r>
              <a:rPr lang="en-US" sz="1200" i="1" dirty="0">
                <a:solidFill>
                  <a:srgbClr val="000000"/>
                </a:solidFill>
                <a:latin typeface="Consolas" panose="020B0609020204030204" pitchFamily="49" charset="0"/>
              </a:rPr>
              <a:t>();</a:t>
            </a:r>
          </a:p>
          <a:p>
            <a:pPr lvl="2"/>
            <a:r>
              <a:rPr lang="en-US" sz="1200" dirty="0" err="1">
                <a:solidFill>
                  <a:srgbClr val="6A3E3E"/>
                </a:solidFill>
                <a:latin typeface="Consolas" panose="020B0609020204030204" pitchFamily="49" charset="0"/>
              </a:rPr>
              <a:t>game</a:t>
            </a:r>
            <a:r>
              <a:rPr lang="en-US" sz="1200" dirty="0" err="1">
                <a:solidFill>
                  <a:srgbClr val="000000"/>
                </a:solidFill>
                <a:latin typeface="Consolas" panose="020B0609020204030204" pitchFamily="49" charset="0"/>
              </a:rPr>
              <a:t>.restore</a:t>
            </a:r>
            <a:r>
              <a:rPr lang="en-US" sz="1200" dirty="0">
                <a:solidFill>
                  <a:srgbClr val="000000"/>
                </a:solidFill>
                <a:latin typeface="Consolas" panose="020B0609020204030204" pitchFamily="49" charset="0"/>
              </a:rPr>
              <a:t>(</a:t>
            </a:r>
            <a:r>
              <a:rPr lang="en-US" sz="1200" dirty="0">
                <a:solidFill>
                  <a:srgbClr val="6A3E3E"/>
                </a:solidFill>
                <a:latin typeface="Consolas" panose="020B0609020204030204" pitchFamily="49" charset="0"/>
              </a:rPr>
              <a:t>state</a:t>
            </a:r>
            <a:r>
              <a:rPr lang="en-US" sz="1200" dirty="0">
                <a:solidFill>
                  <a:srgbClr val="000000"/>
                </a:solidFill>
                <a:latin typeface="Consolas" panose="020B0609020204030204" pitchFamily="49" charset="0"/>
              </a:rPr>
              <a:t>);</a:t>
            </a:r>
          </a:p>
          <a:p>
            <a:pPr lvl="2"/>
            <a:r>
              <a:rPr lang="en-US" sz="1200" dirty="0" err="1">
                <a:solidFill>
                  <a:srgbClr val="6A3E3E"/>
                </a:solidFill>
                <a:latin typeface="Consolas" panose="020B0609020204030204" pitchFamily="49" charset="0"/>
              </a:rPr>
              <a:t>game</a:t>
            </a:r>
            <a:r>
              <a:rPr lang="en-US" sz="1200" dirty="0" err="1">
                <a:solidFill>
                  <a:srgbClr val="000000"/>
                </a:solidFill>
                <a:latin typeface="Consolas" panose="020B0609020204030204" pitchFamily="49" charset="0"/>
              </a:rPr>
              <a:t>.prinHistory</a:t>
            </a:r>
            <a:r>
              <a:rPr lang="en-US" sz="1200"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play() {</a:t>
            </a:r>
          </a:p>
          <a:p>
            <a:pPr lvl="2"/>
            <a:r>
              <a:rPr lang="en-US" sz="1200" dirty="0">
                <a:solidFill>
                  <a:srgbClr val="7F0055"/>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a:solidFill>
                  <a:srgbClr val="6A3E3E"/>
                </a:solidFill>
                <a:latin typeface="Consolas" panose="020B0609020204030204" pitchFamily="49" charset="0"/>
              </a:rPr>
              <a:t>count</a:t>
            </a:r>
            <a:r>
              <a:rPr lang="en-US" sz="1200" dirty="0">
                <a:solidFill>
                  <a:srgbClr val="000000"/>
                </a:solidFill>
                <a:latin typeface="Consolas" panose="020B0609020204030204" pitchFamily="49" charset="0"/>
              </a:rPr>
              <a:t> = 0; </a:t>
            </a:r>
            <a:r>
              <a:rPr lang="en-US" sz="1200" dirty="0">
                <a:solidFill>
                  <a:srgbClr val="6A3E3E"/>
                </a:solidFill>
                <a:latin typeface="Consolas" panose="020B0609020204030204" pitchFamily="49" charset="0"/>
              </a:rPr>
              <a:t>count</a:t>
            </a:r>
            <a:r>
              <a:rPr lang="en-US" sz="1200" dirty="0">
                <a:solidFill>
                  <a:srgbClr val="000000"/>
                </a:solidFill>
                <a:latin typeface="Consolas" panose="020B0609020204030204" pitchFamily="49" charset="0"/>
              </a:rPr>
              <a:t> &lt; </a:t>
            </a:r>
            <a:r>
              <a:rPr lang="en-US" sz="1200" i="1" dirty="0">
                <a:solidFill>
                  <a:srgbClr val="0000C0"/>
                </a:solidFill>
                <a:latin typeface="Consolas" panose="020B0609020204030204" pitchFamily="49" charset="0"/>
              </a:rPr>
              <a:t>MAX_STATES</a:t>
            </a:r>
            <a:r>
              <a:rPr lang="en-US" sz="1200" i="1" dirty="0">
                <a:solidFill>
                  <a:srgbClr val="000000"/>
                </a:solidFill>
                <a:latin typeface="Consolas" panose="020B0609020204030204" pitchFamily="49" charset="0"/>
              </a:rPr>
              <a:t>; </a:t>
            </a:r>
            <a:r>
              <a:rPr lang="en-US" sz="1200" i="1" dirty="0">
                <a:solidFill>
                  <a:srgbClr val="6A3E3E"/>
                </a:solidFill>
                <a:latin typeface="Consolas" panose="020B0609020204030204" pitchFamily="49" charset="0"/>
              </a:rPr>
              <a:t>count</a:t>
            </a:r>
            <a:r>
              <a:rPr lang="en-US" sz="1200" i="1" dirty="0">
                <a:solidFill>
                  <a:srgbClr val="000000"/>
                </a:solidFill>
                <a:latin typeface="Consolas" panose="020B0609020204030204" pitchFamily="49" charset="0"/>
              </a:rPr>
              <a:t>++) {</a:t>
            </a:r>
          </a:p>
          <a:p>
            <a:pPr lvl="3"/>
            <a:r>
              <a:rPr lang="en-US" sz="1200" i="1" dirty="0" err="1">
                <a:solidFill>
                  <a:srgbClr val="0000C0"/>
                </a:solidFill>
                <a:latin typeface="Consolas" panose="020B0609020204030204" pitchFamily="49" charset="0"/>
              </a:rPr>
              <a:t>player</a:t>
            </a:r>
            <a:r>
              <a:rPr lang="en-US" sz="1200" i="1" dirty="0" err="1">
                <a:solidFill>
                  <a:srgbClr val="000000"/>
                </a:solidFill>
                <a:latin typeface="Consolas" panose="020B0609020204030204" pitchFamily="49" charset="0"/>
              </a:rPr>
              <a:t>.play</a:t>
            </a:r>
            <a:r>
              <a:rPr lang="en-US" sz="1200" i="1"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	}</a:t>
            </a:r>
          </a:p>
          <a:p>
            <a:pPr lvl="1"/>
            <a:r>
              <a:rPr lang="en-US" sz="1200"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restore(</a:t>
            </a:r>
            <a:r>
              <a:rPr lang="en-US" sz="1200" dirty="0" err="1">
                <a:solidFill>
                  <a:srgbClr val="7F0055"/>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a:solidFill>
                  <a:srgbClr val="6A3E3E"/>
                </a:solidFill>
                <a:latin typeface="Consolas" panose="020B0609020204030204" pitchFamily="49" charset="0"/>
              </a:rPr>
              <a:t>state</a:t>
            </a:r>
            <a:r>
              <a:rPr lang="en-US" sz="1200" dirty="0">
                <a:solidFill>
                  <a:srgbClr val="000000"/>
                </a:solidFill>
                <a:latin typeface="Consolas" panose="020B0609020204030204" pitchFamily="49" charset="0"/>
              </a:rPr>
              <a:t>) {</a:t>
            </a:r>
          </a:p>
          <a:p>
            <a:pPr lvl="2"/>
            <a:r>
              <a:rPr lang="en-US" sz="1200" i="1" dirty="0" err="1">
                <a:solidFill>
                  <a:srgbClr val="0000C0"/>
                </a:solidFill>
                <a:latin typeface="Consolas" panose="020B0609020204030204" pitchFamily="49" charset="0"/>
              </a:rPr>
              <a:t>player</a:t>
            </a:r>
            <a:r>
              <a:rPr lang="en-US" sz="1200" i="1" dirty="0" err="1">
                <a:solidFill>
                  <a:srgbClr val="000000"/>
                </a:solidFill>
                <a:latin typeface="Consolas" panose="020B0609020204030204" pitchFamily="49" charset="0"/>
              </a:rPr>
              <a:t>.restoreToPlayerState</a:t>
            </a:r>
            <a:r>
              <a:rPr lang="en-US" sz="1200" i="1" dirty="0">
                <a:solidFill>
                  <a:srgbClr val="000000"/>
                </a:solidFill>
                <a:latin typeface="Consolas" panose="020B0609020204030204" pitchFamily="49" charset="0"/>
              </a:rPr>
              <a:t>(</a:t>
            </a:r>
            <a:r>
              <a:rPr lang="en-US" sz="1200" i="1" dirty="0">
                <a:solidFill>
                  <a:srgbClr val="6A3E3E"/>
                </a:solidFill>
                <a:latin typeface="Consolas" panose="020B0609020204030204" pitchFamily="49" charset="0"/>
              </a:rPr>
              <a:t>state</a:t>
            </a:r>
            <a:r>
              <a:rPr lang="en-US" sz="1200" i="1"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a:t>
            </a:r>
          </a:p>
          <a:p>
            <a:pPr lvl="1"/>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prinHistory</a:t>
            </a:r>
            <a:r>
              <a:rPr lang="en-US" sz="1200" dirty="0">
                <a:solidFill>
                  <a:srgbClr val="000000"/>
                </a:solidFill>
                <a:latin typeface="Consolas" panose="020B0609020204030204" pitchFamily="49" charset="0"/>
              </a:rPr>
              <a:t>() {</a:t>
            </a:r>
          </a:p>
          <a:p>
            <a:pPr lvl="2"/>
            <a:r>
              <a:rPr lang="en-US" sz="1200" dirty="0">
                <a:solidFill>
                  <a:srgbClr val="7F0055"/>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PlayerState</a:t>
            </a:r>
            <a:r>
              <a:rPr lang="en-US" sz="1200" dirty="0">
                <a:solidFill>
                  <a:srgbClr val="000000"/>
                </a:solidFill>
                <a:latin typeface="Consolas" panose="020B0609020204030204" pitchFamily="49" charset="0"/>
              </a:rPr>
              <a:t> </a:t>
            </a:r>
            <a:r>
              <a:rPr lang="en-US" sz="1200" dirty="0" err="1">
                <a:solidFill>
                  <a:srgbClr val="6A3E3E"/>
                </a:solidFill>
                <a:latin typeface="Consolas" panose="020B0609020204030204" pitchFamily="49" charset="0"/>
              </a:rPr>
              <a:t>ps</a:t>
            </a:r>
            <a:r>
              <a:rPr lang="en-US" sz="1200" dirty="0">
                <a:solidFill>
                  <a:srgbClr val="000000"/>
                </a:solidFill>
                <a:latin typeface="Consolas" panose="020B0609020204030204" pitchFamily="49" charset="0"/>
              </a:rPr>
              <a:t> : </a:t>
            </a:r>
            <a:r>
              <a:rPr lang="en-US" sz="1200" i="1" dirty="0" err="1">
                <a:solidFill>
                  <a:srgbClr val="0000C0"/>
                </a:solidFill>
                <a:latin typeface="Consolas" panose="020B0609020204030204" pitchFamily="49" charset="0"/>
              </a:rPr>
              <a:t>playerStates</a:t>
            </a:r>
            <a:r>
              <a:rPr lang="en-US" sz="1200" i="1" dirty="0">
                <a:solidFill>
                  <a:srgbClr val="000000"/>
                </a:solidFill>
                <a:latin typeface="Consolas" panose="020B0609020204030204" pitchFamily="49" charset="0"/>
              </a:rPr>
              <a:t>) {</a:t>
            </a:r>
          </a:p>
          <a:p>
            <a:pPr lvl="2"/>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System.</a:t>
            </a:r>
            <a:r>
              <a:rPr lang="en-US" sz="1200" i="1" dirty="0" err="1">
                <a:solidFill>
                  <a:srgbClr val="0000C0"/>
                </a:solidFill>
                <a:latin typeface="Consolas" panose="020B0609020204030204" pitchFamily="49" charset="0"/>
              </a:rPr>
              <a:t>out</a:t>
            </a:r>
            <a:r>
              <a:rPr lang="en-US" sz="1200" i="1" dirty="0" err="1">
                <a:solidFill>
                  <a:srgbClr val="000000"/>
                </a:solidFill>
                <a:latin typeface="Consolas" panose="020B0609020204030204" pitchFamily="49" charset="0"/>
              </a:rPr>
              <a:t>.printf</a:t>
            </a:r>
            <a:r>
              <a:rPr lang="en-US" sz="1200" i="1" dirty="0">
                <a:solidFill>
                  <a:srgbClr val="000000"/>
                </a:solidFill>
                <a:latin typeface="Consolas" panose="020B0609020204030204" pitchFamily="49" charset="0"/>
              </a:rPr>
              <a:t>(</a:t>
            </a:r>
            <a:r>
              <a:rPr lang="en-US" sz="1200" i="1" dirty="0">
                <a:solidFill>
                  <a:srgbClr val="2A00FF"/>
                </a:solidFill>
                <a:latin typeface="Consolas" panose="020B0609020204030204" pitchFamily="49" charset="0"/>
              </a:rPr>
              <a:t>"Round: %d, Score: %.1f, Average: %.1f%n"</a:t>
            </a:r>
            <a:r>
              <a:rPr lang="en-US" sz="1200" i="1" dirty="0">
                <a:solidFill>
                  <a:srgbClr val="000000"/>
                </a:solidFill>
                <a:latin typeface="Consolas" panose="020B0609020204030204" pitchFamily="49" charset="0"/>
              </a:rPr>
              <a:t>, </a:t>
            </a:r>
            <a:r>
              <a:rPr lang="en-US" sz="1200" i="1" dirty="0" err="1">
                <a:solidFill>
                  <a:srgbClr val="6A3E3E"/>
                </a:solidFill>
                <a:latin typeface="Consolas" panose="020B0609020204030204" pitchFamily="49" charset="0"/>
              </a:rPr>
              <a:t>ps</a:t>
            </a:r>
            <a:r>
              <a:rPr lang="en-US" sz="1200" i="1" dirty="0" err="1">
                <a:solidFill>
                  <a:srgbClr val="000000"/>
                </a:solidFill>
                <a:latin typeface="Consolas" panose="020B0609020204030204" pitchFamily="49" charset="0"/>
              </a:rPr>
              <a:t>.</a:t>
            </a:r>
            <a:r>
              <a:rPr lang="en-US" sz="1200" i="1" dirty="0" err="1">
                <a:solidFill>
                  <a:srgbClr val="0000C0"/>
                </a:solidFill>
                <a:latin typeface="Consolas" panose="020B0609020204030204" pitchFamily="49" charset="0"/>
              </a:rPr>
              <a:t>countPlayed</a:t>
            </a:r>
            <a:r>
              <a:rPr lang="en-US" sz="1200" i="1" dirty="0">
                <a:solidFill>
                  <a:srgbClr val="000000"/>
                </a:solidFill>
                <a:latin typeface="Consolas" panose="020B0609020204030204" pitchFamily="49" charset="0"/>
              </a:rPr>
              <a:t>, </a:t>
            </a:r>
            <a:r>
              <a:rPr lang="en-US" sz="1200" i="1" dirty="0" err="1">
                <a:solidFill>
                  <a:srgbClr val="6A3E3E"/>
                </a:solidFill>
                <a:latin typeface="Consolas" panose="020B0609020204030204" pitchFamily="49" charset="0"/>
              </a:rPr>
              <a:t>ps</a:t>
            </a:r>
            <a:r>
              <a:rPr lang="en-US" sz="1200" i="1" dirty="0" err="1">
                <a:solidFill>
                  <a:srgbClr val="000000"/>
                </a:solidFill>
                <a:latin typeface="Consolas" panose="020B0609020204030204" pitchFamily="49" charset="0"/>
              </a:rPr>
              <a:t>.</a:t>
            </a:r>
            <a:r>
              <a:rPr lang="en-US" sz="1200" i="1" dirty="0" err="1">
                <a:solidFill>
                  <a:srgbClr val="0000C0"/>
                </a:solidFill>
                <a:latin typeface="Consolas" panose="020B0609020204030204" pitchFamily="49" charset="0"/>
              </a:rPr>
              <a:t>score</a:t>
            </a:r>
            <a:r>
              <a:rPr lang="en-US" sz="1200" i="1" dirty="0">
                <a:solidFill>
                  <a:srgbClr val="000000"/>
                </a:solidFill>
                <a:latin typeface="Consolas" panose="020B0609020204030204" pitchFamily="49" charset="0"/>
              </a:rPr>
              <a:t>, </a:t>
            </a:r>
            <a:r>
              <a:rPr lang="en-US" sz="1200" i="1" dirty="0" err="1">
                <a:solidFill>
                  <a:srgbClr val="6A3E3E"/>
                </a:solidFill>
                <a:latin typeface="Consolas" panose="020B0609020204030204" pitchFamily="49" charset="0"/>
              </a:rPr>
              <a:t>ps</a:t>
            </a:r>
            <a:r>
              <a:rPr lang="en-US" sz="1200" i="1" dirty="0" err="1">
                <a:solidFill>
                  <a:srgbClr val="000000"/>
                </a:solidFill>
                <a:latin typeface="Consolas" panose="020B0609020204030204" pitchFamily="49" charset="0"/>
              </a:rPr>
              <a:t>.</a:t>
            </a:r>
            <a:r>
              <a:rPr lang="en-US" sz="1200" i="1" dirty="0" err="1">
                <a:solidFill>
                  <a:srgbClr val="0000C0"/>
                </a:solidFill>
                <a:latin typeface="Consolas" panose="020B0609020204030204" pitchFamily="49" charset="0"/>
              </a:rPr>
              <a:t>averageScore</a:t>
            </a:r>
            <a:r>
              <a:rPr lang="en-US" sz="1200" i="1"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	}</a:t>
            </a:r>
          </a:p>
          <a:p>
            <a:pPr lvl="1"/>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a:t>
            </a:r>
            <a:endParaRPr lang="en-US" sz="1200" dirty="0"/>
          </a:p>
        </p:txBody>
      </p:sp>
      <p:pic>
        <p:nvPicPr>
          <p:cNvPr id="8" name="Picture 7"/>
          <p:cNvPicPr>
            <a:picLocks noChangeAspect="1"/>
          </p:cNvPicPr>
          <p:nvPr/>
        </p:nvPicPr>
        <p:blipFill>
          <a:blip r:embed="rId2"/>
          <a:stretch>
            <a:fillRect/>
          </a:stretch>
        </p:blipFill>
        <p:spPr>
          <a:xfrm>
            <a:off x="8739477" y="816302"/>
            <a:ext cx="3228975" cy="1771650"/>
          </a:xfrm>
          <a:prstGeom prst="rect">
            <a:avLst/>
          </a:prstGeom>
          <a:ln>
            <a:solidFill>
              <a:schemeClr val="bg1">
                <a:lumMod val="65000"/>
              </a:schemeClr>
            </a:solidFill>
          </a:ln>
        </p:spPr>
      </p:pic>
      <p:pic>
        <p:nvPicPr>
          <p:cNvPr id="9" name="Picture 8"/>
          <p:cNvPicPr>
            <a:picLocks noChangeAspect="1"/>
          </p:cNvPicPr>
          <p:nvPr/>
        </p:nvPicPr>
        <p:blipFill>
          <a:blip r:embed="rId3"/>
          <a:stretch>
            <a:fillRect/>
          </a:stretch>
        </p:blipFill>
        <p:spPr>
          <a:xfrm>
            <a:off x="8739477" y="2794654"/>
            <a:ext cx="3228975" cy="1989950"/>
          </a:xfrm>
          <a:prstGeom prst="rect">
            <a:avLst/>
          </a:prstGeom>
          <a:ln>
            <a:solidFill>
              <a:schemeClr val="bg1">
                <a:lumMod val="65000"/>
              </a:schemeClr>
            </a:solidFill>
          </a:ln>
        </p:spPr>
      </p:pic>
    </p:spTree>
    <p:extLst>
      <p:ext uri="{BB962C8B-B14F-4D97-AF65-F5344CB8AC3E}">
        <p14:creationId xmlns:p14="http://schemas.microsoft.com/office/powerpoint/2010/main" val="4224686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90A5FE-4A87-403B-A807-CF80778EF6E2}"/>
              </a:ext>
            </a:extLst>
          </p:cNvPr>
          <p:cNvGrpSpPr/>
          <p:nvPr/>
        </p:nvGrpSpPr>
        <p:grpSpPr>
          <a:xfrm>
            <a:off x="4343400" y="3095677"/>
            <a:ext cx="4409940" cy="2724097"/>
            <a:chOff x="4343400" y="3095677"/>
            <a:chExt cx="4409940" cy="2724097"/>
          </a:xfrm>
        </p:grpSpPr>
        <p:sp>
          <p:nvSpPr>
            <p:cNvPr id="8" name="Speech Bubble: Rectangle with Corners Rounded 7">
              <a:extLst>
                <a:ext uri="{FF2B5EF4-FFF2-40B4-BE49-F238E27FC236}">
                  <a16:creationId xmlns:a16="http://schemas.microsoft.com/office/drawing/2014/main" id="{0EEDA90A-F291-4D78-80A8-B19018259286}"/>
                </a:ext>
              </a:extLst>
            </p:cNvPr>
            <p:cNvSpPr/>
            <p:nvPr/>
          </p:nvSpPr>
          <p:spPr>
            <a:xfrm>
              <a:off x="4343400" y="3095677"/>
              <a:ext cx="1181100" cy="2724097"/>
            </a:xfrm>
            <a:prstGeom prst="wedgeRoundRectCallout">
              <a:avLst>
                <a:gd name="adj1" fmla="val 253635"/>
                <a:gd name="adj2" fmla="val 39876"/>
                <a:gd name="adj3" fmla="val 1666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D0714B5-2CDB-447C-ADEB-B585762B397B}"/>
                </a:ext>
              </a:extLst>
            </p:cNvPr>
            <p:cNvSpPr txBox="1"/>
            <p:nvPr/>
          </p:nvSpPr>
          <p:spPr>
            <a:xfrm>
              <a:off x="7973190" y="5407682"/>
              <a:ext cx="780150" cy="338554"/>
            </a:xfrm>
            <a:prstGeom prst="rect">
              <a:avLst/>
            </a:prstGeom>
            <a:noFill/>
          </p:spPr>
          <p:txBody>
            <a:bodyPr wrap="none" rtlCol="0">
              <a:spAutoFit/>
            </a:bodyPr>
            <a:lstStyle/>
            <a:p>
              <a:r>
                <a:rPr lang="en-US" sz="1600" dirty="0">
                  <a:solidFill>
                    <a:srgbClr val="FFC000"/>
                  </a:solidFill>
                </a:rPr>
                <a:t>Targets</a:t>
              </a:r>
            </a:p>
          </p:txBody>
        </p:sp>
      </p:grpSp>
      <p:grpSp>
        <p:nvGrpSpPr>
          <p:cNvPr id="14" name="Group 13">
            <a:extLst>
              <a:ext uri="{FF2B5EF4-FFF2-40B4-BE49-F238E27FC236}">
                <a16:creationId xmlns:a16="http://schemas.microsoft.com/office/drawing/2014/main" id="{39F606D2-D3F7-4F02-9686-2C9968AF7619}"/>
              </a:ext>
            </a:extLst>
          </p:cNvPr>
          <p:cNvGrpSpPr/>
          <p:nvPr/>
        </p:nvGrpSpPr>
        <p:grpSpPr>
          <a:xfrm>
            <a:off x="2244273" y="4219575"/>
            <a:ext cx="6804868" cy="2624466"/>
            <a:chOff x="2244273" y="4219575"/>
            <a:chExt cx="6804868" cy="2624466"/>
          </a:xfrm>
        </p:grpSpPr>
        <p:sp>
          <p:nvSpPr>
            <p:cNvPr id="12" name="Speech Bubble: Rectangle with Corners Rounded 11">
              <a:extLst>
                <a:ext uri="{FF2B5EF4-FFF2-40B4-BE49-F238E27FC236}">
                  <a16:creationId xmlns:a16="http://schemas.microsoft.com/office/drawing/2014/main" id="{D0235156-9251-4A42-A91D-1528635C4F03}"/>
                </a:ext>
              </a:extLst>
            </p:cNvPr>
            <p:cNvSpPr/>
            <p:nvPr/>
          </p:nvSpPr>
          <p:spPr>
            <a:xfrm>
              <a:off x="2244273" y="4219575"/>
              <a:ext cx="1594302" cy="2491944"/>
            </a:xfrm>
            <a:prstGeom prst="wedgeRoundRectCallout">
              <a:avLst>
                <a:gd name="adj1" fmla="val 321653"/>
                <a:gd name="adj2" fmla="val 50308"/>
                <a:gd name="adj3" fmla="val 1666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6BDB8C89-C4F5-4A64-9172-F9F91C69FA35}"/>
                </a:ext>
              </a:extLst>
            </p:cNvPr>
            <p:cNvSpPr txBox="1"/>
            <p:nvPr/>
          </p:nvSpPr>
          <p:spPr>
            <a:xfrm>
              <a:off x="8116065" y="6505487"/>
              <a:ext cx="933076" cy="338554"/>
            </a:xfrm>
            <a:prstGeom prst="rect">
              <a:avLst/>
            </a:prstGeom>
            <a:noFill/>
          </p:spPr>
          <p:txBody>
            <a:bodyPr wrap="none" rtlCol="0">
              <a:spAutoFit/>
            </a:bodyPr>
            <a:lstStyle/>
            <a:p>
              <a:r>
                <a:rPr lang="en-US" sz="1600" dirty="0">
                  <a:solidFill>
                    <a:srgbClr val="FFC000"/>
                  </a:solidFill>
                </a:rPr>
                <a:t>Adapters</a:t>
              </a:r>
            </a:p>
          </p:txBody>
        </p:sp>
      </p:grpSp>
      <p:grpSp>
        <p:nvGrpSpPr>
          <p:cNvPr id="4" name="Group 3">
            <a:extLst>
              <a:ext uri="{FF2B5EF4-FFF2-40B4-BE49-F238E27FC236}">
                <a16:creationId xmlns:a16="http://schemas.microsoft.com/office/drawing/2014/main" id="{DF026AE5-6C7E-42AB-9C15-9A84F8BE6486}"/>
              </a:ext>
            </a:extLst>
          </p:cNvPr>
          <p:cNvGrpSpPr/>
          <p:nvPr/>
        </p:nvGrpSpPr>
        <p:grpSpPr>
          <a:xfrm>
            <a:off x="211957" y="2688576"/>
            <a:ext cx="3626618" cy="2573736"/>
            <a:chOff x="211957" y="2688576"/>
            <a:chExt cx="3626618" cy="2573736"/>
          </a:xfrm>
        </p:grpSpPr>
        <p:sp>
          <p:nvSpPr>
            <p:cNvPr id="10" name="Speech Bubble: Rectangle with Corners Rounded 9">
              <a:extLst>
                <a:ext uri="{FF2B5EF4-FFF2-40B4-BE49-F238E27FC236}">
                  <a16:creationId xmlns:a16="http://schemas.microsoft.com/office/drawing/2014/main" id="{FEE42F25-C930-41BC-A562-6DE4D27C7D10}"/>
                </a:ext>
              </a:extLst>
            </p:cNvPr>
            <p:cNvSpPr/>
            <p:nvPr/>
          </p:nvSpPr>
          <p:spPr>
            <a:xfrm>
              <a:off x="211957" y="3110056"/>
              <a:ext cx="1594302" cy="2152256"/>
            </a:xfrm>
            <a:prstGeom prst="wedgeRoundRectCallout">
              <a:avLst>
                <a:gd name="adj1" fmla="val 118004"/>
                <a:gd name="adj2" fmla="val -57929"/>
                <a:gd name="adj3" fmla="val 1666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7BFAC856-8C73-4DBD-8AEE-1D3B8A469D6D}"/>
                </a:ext>
              </a:extLst>
            </p:cNvPr>
            <p:cNvSpPr txBox="1"/>
            <p:nvPr/>
          </p:nvSpPr>
          <p:spPr>
            <a:xfrm>
              <a:off x="2862346" y="2688576"/>
              <a:ext cx="976229" cy="369332"/>
            </a:xfrm>
            <a:prstGeom prst="rect">
              <a:avLst/>
            </a:prstGeom>
            <a:noFill/>
          </p:spPr>
          <p:txBody>
            <a:bodyPr wrap="none" rtlCol="0">
              <a:spAutoFit/>
            </a:bodyPr>
            <a:lstStyle/>
            <a:p>
              <a:r>
                <a:rPr lang="en-US" dirty="0" err="1">
                  <a:solidFill>
                    <a:srgbClr val="FFC000"/>
                  </a:solidFill>
                </a:rPr>
                <a:t>Adaptee</a:t>
              </a:r>
              <a:endParaRPr lang="en-US" dirty="0">
                <a:solidFill>
                  <a:srgbClr val="FFC000"/>
                </a:solidFill>
              </a:endParaRPr>
            </a:p>
          </p:txBody>
        </p:sp>
      </p:grpSp>
      <p:sp>
        <p:nvSpPr>
          <p:cNvPr id="5" name="Title 4"/>
          <p:cNvSpPr>
            <a:spLocks noGrp="1"/>
          </p:cNvSpPr>
          <p:nvPr>
            <p:ph type="title"/>
          </p:nvPr>
        </p:nvSpPr>
        <p:spPr>
          <a:xfrm>
            <a:off x="251791" y="104328"/>
            <a:ext cx="7383005" cy="469762"/>
          </a:xfrm>
        </p:spPr>
        <p:txBody>
          <a:bodyPr/>
          <a:lstStyle/>
          <a:p>
            <a:r>
              <a:rPr lang="en-US" dirty="0"/>
              <a:t>Adapter Pattern </a:t>
            </a:r>
          </a:p>
        </p:txBody>
      </p:sp>
      <p:sp>
        <p:nvSpPr>
          <p:cNvPr id="6" name="Content Placeholder 5"/>
          <p:cNvSpPr>
            <a:spLocks noGrp="1"/>
          </p:cNvSpPr>
          <p:nvPr>
            <p:ph idx="1"/>
          </p:nvPr>
        </p:nvSpPr>
        <p:spPr>
          <a:xfrm>
            <a:off x="251791" y="795131"/>
            <a:ext cx="6779323" cy="2152256"/>
          </a:xfrm>
        </p:spPr>
        <p:txBody>
          <a:bodyPr>
            <a:noAutofit/>
          </a:bodyPr>
          <a:lstStyle/>
          <a:p>
            <a:r>
              <a:rPr lang="en-US" sz="1600" dirty="0"/>
              <a:t>Intent: Convert the interface of a class into another interface client expects. </a:t>
            </a:r>
          </a:p>
          <a:p>
            <a:r>
              <a:rPr lang="en-US" sz="1600" dirty="0"/>
              <a:t>AKA </a:t>
            </a:r>
            <a:r>
              <a:rPr lang="en-US" sz="1600" dirty="0">
                <a:solidFill>
                  <a:srgbClr val="0070C0"/>
                </a:solidFill>
              </a:rPr>
              <a:t>wrapper</a:t>
            </a:r>
          </a:p>
          <a:p>
            <a:r>
              <a:rPr lang="en-US" sz="1600" dirty="0"/>
              <a:t>Participant</a:t>
            </a:r>
          </a:p>
          <a:p>
            <a:pPr lvl="1"/>
            <a:r>
              <a:rPr lang="en-US" sz="1600" dirty="0"/>
              <a:t>Target – defines the </a:t>
            </a:r>
            <a:r>
              <a:rPr lang="en-US" sz="1600" u="sng" dirty="0"/>
              <a:t>domain-specific interface </a:t>
            </a:r>
            <a:r>
              <a:rPr lang="en-US" sz="1600" dirty="0"/>
              <a:t>which Client uses</a:t>
            </a:r>
          </a:p>
          <a:p>
            <a:pPr lvl="1"/>
            <a:r>
              <a:rPr lang="en-US" sz="1600" dirty="0" err="1"/>
              <a:t>Adaptee</a:t>
            </a:r>
            <a:r>
              <a:rPr lang="en-US" sz="1600" dirty="0"/>
              <a:t> – defines an </a:t>
            </a:r>
            <a:r>
              <a:rPr lang="en-US" sz="1600" u="sng" dirty="0"/>
              <a:t>existing interface </a:t>
            </a:r>
            <a:r>
              <a:rPr lang="en-US" sz="1600" dirty="0"/>
              <a:t>that needs adapting</a:t>
            </a:r>
          </a:p>
          <a:p>
            <a:pPr lvl="1"/>
            <a:r>
              <a:rPr lang="en-US" sz="1600" dirty="0"/>
              <a:t>Adapter – adapts the interface of </a:t>
            </a:r>
            <a:r>
              <a:rPr lang="en-US" sz="1600" dirty="0" err="1"/>
              <a:t>Adaptee</a:t>
            </a:r>
            <a:r>
              <a:rPr lang="en-US" sz="1600" dirty="0"/>
              <a:t> to the Target interface</a:t>
            </a:r>
          </a:p>
          <a:p>
            <a:pPr lvl="1"/>
            <a:endParaRPr lang="en-US" sz="1600" dirty="0"/>
          </a:p>
        </p:txBody>
      </p:sp>
      <p:pic>
        <p:nvPicPr>
          <p:cNvPr id="2" name="Picture 1"/>
          <p:cNvPicPr>
            <a:picLocks noChangeAspect="1"/>
          </p:cNvPicPr>
          <p:nvPr/>
        </p:nvPicPr>
        <p:blipFill>
          <a:blip r:embed="rId3"/>
          <a:stretch>
            <a:fillRect/>
          </a:stretch>
        </p:blipFill>
        <p:spPr>
          <a:xfrm>
            <a:off x="7031114" y="875931"/>
            <a:ext cx="5160885" cy="3517733"/>
          </a:xfrm>
          <a:prstGeom prst="rect">
            <a:avLst/>
          </a:prstGeom>
        </p:spPr>
      </p:pic>
      <p:pic>
        <p:nvPicPr>
          <p:cNvPr id="7" name="Picture 6"/>
          <p:cNvPicPr>
            <a:picLocks noChangeAspect="1"/>
          </p:cNvPicPr>
          <p:nvPr/>
        </p:nvPicPr>
        <p:blipFill>
          <a:blip r:embed="rId4"/>
          <a:stretch>
            <a:fillRect/>
          </a:stretch>
        </p:blipFill>
        <p:spPr>
          <a:xfrm>
            <a:off x="211957" y="3168428"/>
            <a:ext cx="7411670" cy="3543091"/>
          </a:xfrm>
          <a:prstGeom prst="rect">
            <a:avLst/>
          </a:prstGeom>
          <a:ln>
            <a:noFill/>
          </a:ln>
        </p:spPr>
      </p:pic>
      <p:sp>
        <p:nvSpPr>
          <p:cNvPr id="3" name="Slide Number Placeholder 2"/>
          <p:cNvSpPr>
            <a:spLocks noGrp="1"/>
          </p:cNvSpPr>
          <p:nvPr>
            <p:ph type="sldNum" sz="quarter" idx="12"/>
          </p:nvPr>
        </p:nvSpPr>
        <p:spPr/>
        <p:txBody>
          <a:bodyPr/>
          <a:lstStyle/>
          <a:p>
            <a:fld id="{9F1A4D64-A005-48D8-BBA4-82C0A2806572}" type="slidenum">
              <a:rPr lang="en-US" smtClean="0"/>
              <a:t>32</a:t>
            </a:fld>
            <a:endParaRPr lang="en-US"/>
          </a:p>
        </p:txBody>
      </p:sp>
    </p:spTree>
    <p:extLst>
      <p:ext uri="{BB962C8B-B14F-4D97-AF65-F5344CB8AC3E}">
        <p14:creationId xmlns:p14="http://schemas.microsoft.com/office/powerpoint/2010/main" val="25238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Iterator Pattern</a:t>
            </a:r>
          </a:p>
        </p:txBody>
      </p:sp>
      <p:sp>
        <p:nvSpPr>
          <p:cNvPr id="3" name="Content Placeholder 2"/>
          <p:cNvSpPr>
            <a:spLocks noGrp="1"/>
          </p:cNvSpPr>
          <p:nvPr>
            <p:ph idx="1"/>
          </p:nvPr>
        </p:nvSpPr>
        <p:spPr>
          <a:xfrm>
            <a:off x="251791" y="795130"/>
            <a:ext cx="6979317" cy="5381833"/>
          </a:xfrm>
        </p:spPr>
        <p:txBody>
          <a:bodyPr>
            <a:normAutofit/>
          </a:bodyPr>
          <a:lstStyle/>
          <a:p>
            <a:r>
              <a:rPr lang="en-US" sz="1600" dirty="0"/>
              <a:t>Intent: Provide a way to access the elements of an aggregate object sequentially without exposing its underlying representation</a:t>
            </a:r>
          </a:p>
          <a:p>
            <a:r>
              <a:rPr lang="en-US" sz="1600" dirty="0"/>
              <a:t>Also known as </a:t>
            </a:r>
            <a:r>
              <a:rPr lang="en-US" sz="1600" dirty="0">
                <a:solidFill>
                  <a:srgbClr val="0070C0"/>
                </a:solidFill>
              </a:rPr>
              <a:t>cursor</a:t>
            </a:r>
          </a:p>
          <a:p>
            <a:r>
              <a:rPr lang="en-US" sz="1600" dirty="0"/>
              <a:t>Participants</a:t>
            </a:r>
          </a:p>
          <a:p>
            <a:pPr lvl="1"/>
            <a:r>
              <a:rPr lang="en-US" sz="1600" dirty="0"/>
              <a:t>Iterator – defines an interface for accessing and traversing elements </a:t>
            </a:r>
          </a:p>
          <a:p>
            <a:pPr lvl="1"/>
            <a:r>
              <a:rPr lang="en-US" sz="1600" dirty="0" err="1"/>
              <a:t>ConcreteIterator</a:t>
            </a:r>
            <a:r>
              <a:rPr lang="en-US" sz="1600" dirty="0"/>
              <a:t> </a:t>
            </a:r>
          </a:p>
          <a:p>
            <a:pPr lvl="2"/>
            <a:r>
              <a:rPr lang="en-US" sz="1600" dirty="0"/>
              <a:t>Implements the iterator interface</a:t>
            </a:r>
          </a:p>
          <a:p>
            <a:pPr lvl="2"/>
            <a:r>
              <a:rPr lang="en-US" sz="1600" dirty="0"/>
              <a:t>Keeps track of the current position in the traversal of the aggregate</a:t>
            </a:r>
          </a:p>
          <a:p>
            <a:pPr lvl="1"/>
            <a:r>
              <a:rPr lang="en-US" sz="1600" dirty="0"/>
              <a:t>Aggregate – defines an interface for creating an Iterator object</a:t>
            </a:r>
          </a:p>
          <a:p>
            <a:pPr lvl="1"/>
            <a:r>
              <a:rPr lang="en-US" sz="1600" dirty="0" err="1"/>
              <a:t>ConcreteAggregate</a:t>
            </a:r>
            <a:r>
              <a:rPr lang="en-US" sz="1600" dirty="0"/>
              <a:t> – implements the Iterator creation interface to return an instance of the proper </a:t>
            </a:r>
            <a:r>
              <a:rPr lang="en-US" sz="1600" dirty="0" err="1"/>
              <a:t>ConcreteIterator</a:t>
            </a:r>
            <a:endParaRPr lang="en-US" sz="1600" dirty="0"/>
          </a:p>
          <a:p>
            <a:pPr lvl="2"/>
            <a:endParaRPr lang="en-US" sz="1600" dirty="0"/>
          </a:p>
          <a:p>
            <a:pPr lvl="2"/>
            <a:endParaRPr lang="en-US" sz="1600" dirty="0"/>
          </a:p>
        </p:txBody>
      </p:sp>
      <p:sp>
        <p:nvSpPr>
          <p:cNvPr id="7" name="TextBox 6"/>
          <p:cNvSpPr txBox="1"/>
          <p:nvPr/>
        </p:nvSpPr>
        <p:spPr>
          <a:xfrm>
            <a:off x="8662735" y="6488668"/>
            <a:ext cx="2313967" cy="369332"/>
          </a:xfrm>
          <a:prstGeom prst="rect">
            <a:avLst/>
          </a:prstGeom>
          <a:noFill/>
        </p:spPr>
        <p:txBody>
          <a:bodyPr wrap="none" rtlCol="0">
            <a:spAutoFit/>
          </a:bodyPr>
          <a:lstStyle/>
          <a:p>
            <a:r>
              <a:rPr lang="en-US" dirty="0"/>
              <a:t>Iterator pattern in Java</a:t>
            </a:r>
          </a:p>
        </p:txBody>
      </p:sp>
      <p:pic>
        <p:nvPicPr>
          <p:cNvPr id="8" name="Picture 7"/>
          <p:cNvPicPr>
            <a:picLocks noChangeAspect="1"/>
          </p:cNvPicPr>
          <p:nvPr/>
        </p:nvPicPr>
        <p:blipFill>
          <a:blip r:embed="rId2"/>
          <a:stretch>
            <a:fillRect/>
          </a:stretch>
        </p:blipFill>
        <p:spPr>
          <a:xfrm>
            <a:off x="7799975" y="139839"/>
            <a:ext cx="4039485" cy="6224532"/>
          </a:xfrm>
          <a:prstGeom prst="rect">
            <a:avLst/>
          </a:prstGeom>
        </p:spPr>
      </p:pic>
      <p:sp>
        <p:nvSpPr>
          <p:cNvPr id="4" name="Slide Number Placeholder 3"/>
          <p:cNvSpPr>
            <a:spLocks noGrp="1"/>
          </p:cNvSpPr>
          <p:nvPr>
            <p:ph type="sldNum" sz="quarter" idx="12"/>
          </p:nvPr>
        </p:nvSpPr>
        <p:spPr/>
        <p:txBody>
          <a:bodyPr/>
          <a:lstStyle/>
          <a:p>
            <a:fld id="{9F1A4D64-A005-48D8-BBA4-82C0A2806572}" type="slidenum">
              <a:rPr lang="en-US" smtClean="0"/>
              <a:t>33</a:t>
            </a:fld>
            <a:endParaRPr lang="en-US"/>
          </a:p>
        </p:txBody>
      </p:sp>
    </p:spTree>
    <p:extLst>
      <p:ext uri="{BB962C8B-B14F-4D97-AF65-F5344CB8AC3E}">
        <p14:creationId xmlns:p14="http://schemas.microsoft.com/office/powerpoint/2010/main" val="101219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Visitor Pattern</a:t>
            </a:r>
          </a:p>
        </p:txBody>
      </p:sp>
      <p:sp>
        <p:nvSpPr>
          <p:cNvPr id="5" name="Slide Number Placeholder 4"/>
          <p:cNvSpPr>
            <a:spLocks noGrp="1"/>
          </p:cNvSpPr>
          <p:nvPr>
            <p:ph type="sldNum" sz="quarter" idx="12"/>
          </p:nvPr>
        </p:nvSpPr>
        <p:spPr/>
        <p:txBody>
          <a:bodyPr/>
          <a:lstStyle/>
          <a:p>
            <a:fld id="{9F1A4D64-A005-48D8-BBA4-82C0A2806572}" type="slidenum">
              <a:rPr lang="en-US" smtClean="0"/>
              <a:t>34</a:t>
            </a:fld>
            <a:endParaRPr lang="en-US"/>
          </a:p>
        </p:txBody>
      </p:sp>
      <p:pic>
        <p:nvPicPr>
          <p:cNvPr id="10" name="Picture 9" descr="Generated by PlantUML">
            <a:extLst>
              <a:ext uri="{FF2B5EF4-FFF2-40B4-BE49-F238E27FC236}">
                <a16:creationId xmlns:a16="http://schemas.microsoft.com/office/drawing/2014/main" id="{22ACC34B-8A84-4A79-A11D-A38EF78EE4C4}"/>
              </a:ext>
            </a:extLst>
          </p:cNvPr>
          <p:cNvPicPr/>
          <p:nvPr/>
        </p:nvPicPr>
        <p:blipFill>
          <a:blip r:embed="rId3">
            <a:extLst>
              <a:ext uri="{28A0092B-C50C-407E-A947-70E740481C1C}">
                <a14:useLocalDpi xmlns:a14="http://schemas.microsoft.com/office/drawing/2010/main" val="0"/>
              </a:ext>
            </a:extLst>
          </a:blip>
          <a:stretch>
            <a:fillRect/>
          </a:stretch>
        </p:blipFill>
        <p:spPr>
          <a:xfrm>
            <a:off x="2348345" y="1279449"/>
            <a:ext cx="7107382" cy="4029099"/>
          </a:xfrm>
          <a:prstGeom prst="rect">
            <a:avLst/>
          </a:prstGeom>
        </p:spPr>
      </p:pic>
    </p:spTree>
    <p:extLst>
      <p:ext uri="{BB962C8B-B14F-4D97-AF65-F5344CB8AC3E}">
        <p14:creationId xmlns:p14="http://schemas.microsoft.com/office/powerpoint/2010/main" val="1817326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03508-8991-4B4D-9280-51C01CE98D83}"/>
              </a:ext>
            </a:extLst>
          </p:cNvPr>
          <p:cNvSpPr>
            <a:spLocks noGrp="1"/>
          </p:cNvSpPr>
          <p:nvPr>
            <p:ph type="title"/>
          </p:nvPr>
        </p:nvSpPr>
        <p:spPr/>
        <p:txBody>
          <a:bodyPr/>
          <a:lstStyle/>
          <a:p>
            <a:r>
              <a:rPr lang="en-US" dirty="0"/>
              <a:t>Visitor Pattern</a:t>
            </a:r>
          </a:p>
        </p:txBody>
      </p:sp>
      <p:sp>
        <p:nvSpPr>
          <p:cNvPr id="4" name="Slide Number Placeholder 3">
            <a:extLst>
              <a:ext uri="{FF2B5EF4-FFF2-40B4-BE49-F238E27FC236}">
                <a16:creationId xmlns:a16="http://schemas.microsoft.com/office/drawing/2014/main" id="{D7E86872-CB10-48C3-BE3F-22FAD9CE68F7}"/>
              </a:ext>
            </a:extLst>
          </p:cNvPr>
          <p:cNvSpPr>
            <a:spLocks noGrp="1"/>
          </p:cNvSpPr>
          <p:nvPr>
            <p:ph type="sldNum" sz="quarter" idx="12"/>
          </p:nvPr>
        </p:nvSpPr>
        <p:spPr/>
        <p:txBody>
          <a:bodyPr/>
          <a:lstStyle/>
          <a:p>
            <a:fld id="{E60AC81A-0762-4854-947E-801A7DA89C28}" type="slidenum">
              <a:rPr lang="en-US" smtClean="0"/>
              <a:t>35</a:t>
            </a:fld>
            <a:endParaRPr lang="en-US"/>
          </a:p>
        </p:txBody>
      </p:sp>
      <p:sp>
        <p:nvSpPr>
          <p:cNvPr id="8" name="TextBox 7">
            <a:extLst>
              <a:ext uri="{FF2B5EF4-FFF2-40B4-BE49-F238E27FC236}">
                <a16:creationId xmlns:a16="http://schemas.microsoft.com/office/drawing/2014/main" id="{FF773145-3F92-47E7-8E84-6F69D351C76D}"/>
              </a:ext>
            </a:extLst>
          </p:cNvPr>
          <p:cNvSpPr txBox="1"/>
          <p:nvPr/>
        </p:nvSpPr>
        <p:spPr>
          <a:xfrm>
            <a:off x="331304" y="880454"/>
            <a:ext cx="4798108" cy="1077218"/>
          </a:xfrm>
          <a:prstGeom prst="rect">
            <a:avLst/>
          </a:prstGeom>
          <a:noFill/>
          <a:ln>
            <a:solidFill>
              <a:schemeClr val="bg1">
                <a:lumMod val="85000"/>
              </a:schemeClr>
            </a:solidFill>
          </a:ln>
        </p:spPr>
        <p:txBody>
          <a:bodyPr wrap="none" rtlCol="0">
            <a:spAutoFit/>
          </a:bodyPr>
          <a:lstStyle/>
          <a:p>
            <a:r>
              <a:rPr lang="en-US" sz="1600" b="1" dirty="0">
                <a:solidFill>
                  <a:srgbClr val="7F0055"/>
                </a:solidFill>
                <a:latin typeface="Consolas" panose="020B0609020204030204" pitchFamily="49" charset="0"/>
              </a:rPr>
              <a:t>public</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abstract</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class</a:t>
            </a:r>
            <a:r>
              <a:rPr lang="en-US" sz="1600" b="1" dirty="0">
                <a:solidFill>
                  <a:srgbClr val="000000"/>
                </a:solidFill>
                <a:latin typeface="Consolas" panose="020B0609020204030204" pitchFamily="49" charset="0"/>
              </a:rPr>
              <a:t> Shopper {</a:t>
            </a:r>
          </a:p>
          <a:p>
            <a:pPr lvl="1"/>
            <a:r>
              <a:rPr lang="en-US" sz="1600" b="1" dirty="0">
                <a:solidFill>
                  <a:srgbClr val="7F0055"/>
                </a:solidFill>
                <a:latin typeface="Consolas" panose="020B0609020204030204" pitchFamily="49" charset="0"/>
              </a:rPr>
              <a:t>abstract</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void</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visitJewelleryStore</a:t>
            </a:r>
            <a:r>
              <a:rPr lang="en-US" sz="1600" b="1" dirty="0">
                <a:solidFill>
                  <a:srgbClr val="000000"/>
                </a:solidFill>
                <a:latin typeface="Consolas" panose="020B0609020204030204" pitchFamily="49" charset="0"/>
              </a:rPr>
              <a:t>() ;</a:t>
            </a:r>
          </a:p>
          <a:p>
            <a:pPr lvl="1"/>
            <a:r>
              <a:rPr lang="en-US" sz="1600" b="1" dirty="0">
                <a:solidFill>
                  <a:srgbClr val="7F0055"/>
                </a:solidFill>
                <a:latin typeface="Consolas" panose="020B0609020204030204" pitchFamily="49" charset="0"/>
              </a:rPr>
              <a:t>abstract</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void</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visitShoeStore</a:t>
            </a:r>
            <a:r>
              <a:rPr lang="en-US" sz="1600" b="1"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dirty="0"/>
          </a:p>
        </p:txBody>
      </p:sp>
      <p:sp>
        <p:nvSpPr>
          <p:cNvPr id="9" name="TextBox 8">
            <a:extLst>
              <a:ext uri="{FF2B5EF4-FFF2-40B4-BE49-F238E27FC236}">
                <a16:creationId xmlns:a16="http://schemas.microsoft.com/office/drawing/2014/main" id="{89874AF4-F206-470F-BDC7-843F542D94AB}"/>
              </a:ext>
            </a:extLst>
          </p:cNvPr>
          <p:cNvSpPr txBox="1"/>
          <p:nvPr/>
        </p:nvSpPr>
        <p:spPr>
          <a:xfrm>
            <a:off x="331304" y="1971446"/>
            <a:ext cx="7167347" cy="2554545"/>
          </a:xfrm>
          <a:prstGeom prst="rect">
            <a:avLst/>
          </a:prstGeom>
          <a:noFill/>
          <a:ln>
            <a:solidFill>
              <a:schemeClr val="bg1">
                <a:lumMod val="85000"/>
              </a:schemeClr>
            </a:solidFill>
          </a:ln>
        </p:spPr>
        <p:txBody>
          <a:bodyPr wrap="none" rtlCol="0">
            <a:spAutoFit/>
          </a:bodyPr>
          <a:lstStyle/>
          <a:p>
            <a:r>
              <a:rPr lang="en-US" sz="1600" b="1" dirty="0">
                <a:solidFill>
                  <a:srgbClr val="7F0055"/>
                </a:solidFill>
                <a:latin typeface="Consolas" panose="020B0609020204030204" pitchFamily="49" charset="0"/>
              </a:rPr>
              <a:t>public</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class</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FashionShopper</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extends</a:t>
            </a:r>
            <a:r>
              <a:rPr lang="en-US" sz="1600" b="1" dirty="0">
                <a:solidFill>
                  <a:srgbClr val="000000"/>
                </a:solidFill>
                <a:latin typeface="Consolas" panose="020B0609020204030204" pitchFamily="49" charset="0"/>
              </a:rPr>
              <a:t> Shopper{</a:t>
            </a:r>
          </a:p>
          <a:p>
            <a:pPr lvl="1"/>
            <a:r>
              <a:rPr lang="en-US" sz="1600" dirty="0">
                <a:solidFill>
                  <a:srgbClr val="646464"/>
                </a:solidFill>
                <a:latin typeface="Consolas" panose="020B0609020204030204" pitchFamily="49" charset="0"/>
              </a:rPr>
              <a:t>@Override</a:t>
            </a:r>
          </a:p>
          <a:p>
            <a:pPr lvl="1"/>
            <a:r>
              <a:rPr lang="en-US" sz="1600" b="1" dirty="0">
                <a:solidFill>
                  <a:srgbClr val="7F0055"/>
                </a:solidFill>
                <a:latin typeface="Consolas" panose="020B0609020204030204" pitchFamily="49" charset="0"/>
              </a:rPr>
              <a:t>void</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visitJewelleryStore</a:t>
            </a:r>
            <a:r>
              <a:rPr lang="en-US" sz="1600" b="1" dirty="0">
                <a:solidFill>
                  <a:srgbClr val="000000"/>
                </a:solidFill>
                <a:latin typeface="Consolas" panose="020B0609020204030204" pitchFamily="49" charset="0"/>
              </a:rPr>
              <a:t>() {</a:t>
            </a:r>
          </a:p>
          <a:p>
            <a:pPr lvl="2"/>
            <a:r>
              <a:rPr lang="en-US" sz="1600" dirty="0" err="1">
                <a:solidFill>
                  <a:srgbClr val="000000"/>
                </a:solidFill>
                <a:latin typeface="Consolas" panose="020B0609020204030204" pitchFamily="49" charset="0"/>
              </a:rPr>
              <a:t>System.</a:t>
            </a:r>
            <a:r>
              <a:rPr lang="en-US" sz="1600" b="1" i="1" dirty="0" err="1">
                <a:solidFill>
                  <a:srgbClr val="0000C0"/>
                </a:solidFill>
                <a:latin typeface="Consolas" panose="020B0609020204030204" pitchFamily="49" charset="0"/>
              </a:rPr>
              <a:t>out</a:t>
            </a:r>
            <a:r>
              <a:rPr lang="en-US" sz="1600" b="1" i="1" dirty="0" err="1">
                <a:solidFill>
                  <a:srgbClr val="000000"/>
                </a:solidFill>
                <a:latin typeface="Consolas" panose="020B0609020204030204" pitchFamily="49" charset="0"/>
              </a:rPr>
              <a:t>.println</a:t>
            </a:r>
            <a:r>
              <a:rPr lang="en-US" sz="1600" b="1" i="1" dirty="0">
                <a:solidFill>
                  <a:srgbClr val="000000"/>
                </a:solidFill>
                <a:latin typeface="Consolas" panose="020B0609020204030204" pitchFamily="49" charset="0"/>
              </a:rPr>
              <a:t>(</a:t>
            </a:r>
            <a:r>
              <a:rPr lang="en-US" sz="1600" b="1" i="1" dirty="0">
                <a:solidFill>
                  <a:srgbClr val="2A00FF"/>
                </a:solidFill>
                <a:latin typeface="Consolas" panose="020B0609020204030204" pitchFamily="49" charset="0"/>
              </a:rPr>
              <a:t>"What's the latest in Jewelry?"</a:t>
            </a:r>
            <a:r>
              <a:rPr lang="en-US" sz="1600" b="1" i="1"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pPr lvl="1"/>
            <a:r>
              <a:rPr lang="en-US" sz="1600" dirty="0">
                <a:solidFill>
                  <a:srgbClr val="646464"/>
                </a:solidFill>
                <a:latin typeface="Consolas" panose="020B0609020204030204" pitchFamily="49" charset="0"/>
              </a:rPr>
              <a:t>@Override</a:t>
            </a:r>
          </a:p>
          <a:p>
            <a:pPr lvl="1"/>
            <a:r>
              <a:rPr lang="en-US" sz="1600" b="1" dirty="0">
                <a:solidFill>
                  <a:srgbClr val="7F0055"/>
                </a:solidFill>
                <a:latin typeface="Consolas" panose="020B0609020204030204" pitchFamily="49" charset="0"/>
              </a:rPr>
              <a:t>void</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visitShoeStore</a:t>
            </a:r>
            <a:r>
              <a:rPr lang="en-US" sz="1600" b="1" dirty="0">
                <a:solidFill>
                  <a:srgbClr val="000000"/>
                </a:solidFill>
                <a:latin typeface="Consolas" panose="020B0609020204030204" pitchFamily="49" charset="0"/>
              </a:rPr>
              <a:t>() {</a:t>
            </a:r>
          </a:p>
          <a:p>
            <a:pPr lvl="2"/>
            <a:r>
              <a:rPr lang="en-US" sz="1600" dirty="0" err="1">
                <a:solidFill>
                  <a:srgbClr val="000000"/>
                </a:solidFill>
                <a:latin typeface="Consolas" panose="020B0609020204030204" pitchFamily="49" charset="0"/>
              </a:rPr>
              <a:t>System.</a:t>
            </a:r>
            <a:r>
              <a:rPr lang="en-US" sz="1600" b="1" i="1" dirty="0" err="1">
                <a:solidFill>
                  <a:srgbClr val="0000C0"/>
                </a:solidFill>
                <a:latin typeface="Consolas" panose="020B0609020204030204" pitchFamily="49" charset="0"/>
              </a:rPr>
              <a:t>out</a:t>
            </a:r>
            <a:r>
              <a:rPr lang="en-US" sz="1600" b="1" i="1" dirty="0" err="1">
                <a:solidFill>
                  <a:srgbClr val="000000"/>
                </a:solidFill>
                <a:latin typeface="Consolas" panose="020B0609020204030204" pitchFamily="49" charset="0"/>
              </a:rPr>
              <a:t>.println</a:t>
            </a:r>
            <a:r>
              <a:rPr lang="en-US" sz="1600" b="1" i="1" dirty="0">
                <a:solidFill>
                  <a:srgbClr val="000000"/>
                </a:solidFill>
                <a:latin typeface="Consolas" panose="020B0609020204030204" pitchFamily="49" charset="0"/>
              </a:rPr>
              <a:t>(</a:t>
            </a:r>
            <a:r>
              <a:rPr lang="en-US" sz="1600" b="1" i="1" dirty="0">
                <a:solidFill>
                  <a:srgbClr val="2A00FF"/>
                </a:solidFill>
                <a:latin typeface="Consolas" panose="020B0609020204030204" pitchFamily="49" charset="0"/>
              </a:rPr>
              <a:t>"What's the latest in Shoes?"</a:t>
            </a:r>
            <a:r>
              <a:rPr lang="en-US" sz="1600" b="1" i="1"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dirty="0"/>
          </a:p>
        </p:txBody>
      </p:sp>
      <p:sp>
        <p:nvSpPr>
          <p:cNvPr id="11" name="TextBox 10">
            <a:extLst>
              <a:ext uri="{FF2B5EF4-FFF2-40B4-BE49-F238E27FC236}">
                <a16:creationId xmlns:a16="http://schemas.microsoft.com/office/drawing/2014/main" id="{FBE8D64A-FEFD-4B42-BAB5-0CCE1460F085}"/>
              </a:ext>
            </a:extLst>
          </p:cNvPr>
          <p:cNvSpPr txBox="1"/>
          <p:nvPr/>
        </p:nvSpPr>
        <p:spPr>
          <a:xfrm>
            <a:off x="3309326" y="4087663"/>
            <a:ext cx="6830716" cy="2554545"/>
          </a:xfrm>
          <a:prstGeom prst="rect">
            <a:avLst/>
          </a:prstGeom>
          <a:solidFill>
            <a:schemeClr val="bg1"/>
          </a:solidFill>
          <a:ln>
            <a:solidFill>
              <a:schemeClr val="bg1">
                <a:lumMod val="85000"/>
              </a:schemeClr>
            </a:solidFill>
          </a:ln>
        </p:spPr>
        <p:txBody>
          <a:bodyPr wrap="none" rtlCol="0">
            <a:spAutoFit/>
          </a:bodyPr>
          <a:lstStyle/>
          <a:p>
            <a:r>
              <a:rPr lang="en-US" sz="1600" b="1" dirty="0">
                <a:solidFill>
                  <a:srgbClr val="7F0055"/>
                </a:solidFill>
                <a:latin typeface="Consolas" panose="020B0609020204030204" pitchFamily="49" charset="0"/>
              </a:rPr>
              <a:t>public</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class</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FrugalShopper</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extends</a:t>
            </a:r>
            <a:r>
              <a:rPr lang="en-US" sz="1600" b="1" dirty="0">
                <a:solidFill>
                  <a:srgbClr val="000000"/>
                </a:solidFill>
                <a:latin typeface="Consolas" panose="020B0609020204030204" pitchFamily="49" charset="0"/>
              </a:rPr>
              <a:t> Shopper{</a:t>
            </a:r>
          </a:p>
          <a:p>
            <a:pPr lvl="1"/>
            <a:r>
              <a:rPr lang="en-US" sz="1600" dirty="0">
                <a:solidFill>
                  <a:srgbClr val="646464"/>
                </a:solidFill>
                <a:latin typeface="Consolas" panose="020B0609020204030204" pitchFamily="49" charset="0"/>
              </a:rPr>
              <a:t>@Override</a:t>
            </a:r>
          </a:p>
          <a:p>
            <a:pPr lvl="1"/>
            <a:r>
              <a:rPr lang="en-US" sz="1600" b="1" dirty="0">
                <a:solidFill>
                  <a:srgbClr val="7F0055"/>
                </a:solidFill>
                <a:latin typeface="Consolas" panose="020B0609020204030204" pitchFamily="49" charset="0"/>
              </a:rPr>
              <a:t>void</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visitJewelleryStore</a:t>
            </a:r>
            <a:r>
              <a:rPr lang="en-US" sz="1600" b="1" dirty="0">
                <a:solidFill>
                  <a:srgbClr val="000000"/>
                </a:solidFill>
                <a:latin typeface="Consolas" panose="020B0609020204030204" pitchFamily="49" charset="0"/>
              </a:rPr>
              <a:t>() {</a:t>
            </a:r>
          </a:p>
          <a:p>
            <a:pPr lvl="2"/>
            <a:r>
              <a:rPr lang="en-US" sz="1600" dirty="0" err="1">
                <a:solidFill>
                  <a:srgbClr val="000000"/>
                </a:solidFill>
                <a:latin typeface="Consolas" panose="020B0609020204030204" pitchFamily="49" charset="0"/>
              </a:rPr>
              <a:t>System.</a:t>
            </a:r>
            <a:r>
              <a:rPr lang="en-US" sz="1600" b="1" i="1" dirty="0" err="1">
                <a:solidFill>
                  <a:srgbClr val="0000C0"/>
                </a:solidFill>
                <a:latin typeface="Consolas" panose="020B0609020204030204" pitchFamily="49" charset="0"/>
              </a:rPr>
              <a:t>out</a:t>
            </a:r>
            <a:r>
              <a:rPr lang="en-US" sz="1600" b="1" i="1" dirty="0" err="1">
                <a:solidFill>
                  <a:srgbClr val="000000"/>
                </a:solidFill>
                <a:latin typeface="Consolas" panose="020B0609020204030204" pitchFamily="49" charset="0"/>
              </a:rPr>
              <a:t>.println</a:t>
            </a:r>
            <a:r>
              <a:rPr lang="en-US" sz="1600" b="1" i="1" dirty="0">
                <a:solidFill>
                  <a:srgbClr val="000000"/>
                </a:solidFill>
                <a:latin typeface="Consolas" panose="020B0609020204030204" pitchFamily="49" charset="0"/>
              </a:rPr>
              <a:t>(</a:t>
            </a:r>
            <a:r>
              <a:rPr lang="en-US" sz="1600" b="1" i="1" dirty="0">
                <a:solidFill>
                  <a:srgbClr val="2A00FF"/>
                </a:solidFill>
                <a:latin typeface="Consolas" panose="020B0609020204030204" pitchFamily="49" charset="0"/>
              </a:rPr>
              <a:t>"Show me some cheap jewelry"</a:t>
            </a:r>
            <a:r>
              <a:rPr lang="en-US" sz="1600" b="1" i="1"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pPr lvl="1"/>
            <a:r>
              <a:rPr lang="en-US" sz="1600" dirty="0">
                <a:solidFill>
                  <a:srgbClr val="646464"/>
                </a:solidFill>
                <a:latin typeface="Consolas" panose="020B0609020204030204" pitchFamily="49" charset="0"/>
              </a:rPr>
              <a:t>@Override</a:t>
            </a:r>
          </a:p>
          <a:p>
            <a:pPr lvl="1"/>
            <a:r>
              <a:rPr lang="en-US" sz="1600" b="1" dirty="0">
                <a:solidFill>
                  <a:srgbClr val="7F0055"/>
                </a:solidFill>
                <a:latin typeface="Consolas" panose="020B0609020204030204" pitchFamily="49" charset="0"/>
              </a:rPr>
              <a:t>void</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visitShoeStore</a:t>
            </a:r>
            <a:r>
              <a:rPr lang="en-US" sz="1600" b="1" dirty="0">
                <a:solidFill>
                  <a:srgbClr val="000000"/>
                </a:solidFill>
                <a:latin typeface="Consolas" panose="020B0609020204030204" pitchFamily="49" charset="0"/>
              </a:rPr>
              <a:t>() {</a:t>
            </a:r>
          </a:p>
          <a:p>
            <a:pPr lvl="2"/>
            <a:r>
              <a:rPr lang="en-US" sz="1600" dirty="0" err="1">
                <a:solidFill>
                  <a:srgbClr val="000000"/>
                </a:solidFill>
                <a:latin typeface="Consolas" panose="020B0609020204030204" pitchFamily="49" charset="0"/>
              </a:rPr>
              <a:t>System.</a:t>
            </a:r>
            <a:r>
              <a:rPr lang="en-US" sz="1600" b="1" i="1" dirty="0" err="1">
                <a:solidFill>
                  <a:srgbClr val="0000C0"/>
                </a:solidFill>
                <a:latin typeface="Consolas" panose="020B0609020204030204" pitchFamily="49" charset="0"/>
              </a:rPr>
              <a:t>out</a:t>
            </a:r>
            <a:r>
              <a:rPr lang="en-US" sz="1600" b="1" i="1" dirty="0" err="1">
                <a:solidFill>
                  <a:srgbClr val="000000"/>
                </a:solidFill>
                <a:latin typeface="Consolas" panose="020B0609020204030204" pitchFamily="49" charset="0"/>
              </a:rPr>
              <a:t>.println</a:t>
            </a:r>
            <a:r>
              <a:rPr lang="en-US" sz="1600" b="1" i="1" dirty="0">
                <a:solidFill>
                  <a:srgbClr val="000000"/>
                </a:solidFill>
                <a:latin typeface="Consolas" panose="020B0609020204030204" pitchFamily="49" charset="0"/>
              </a:rPr>
              <a:t>(</a:t>
            </a:r>
            <a:r>
              <a:rPr lang="en-US" sz="1600" b="1" i="1" dirty="0">
                <a:solidFill>
                  <a:srgbClr val="2A00FF"/>
                </a:solidFill>
                <a:latin typeface="Consolas" panose="020B0609020204030204" pitchFamily="49" charset="0"/>
              </a:rPr>
              <a:t>"Show me some cheap shoes"</a:t>
            </a:r>
            <a:r>
              <a:rPr lang="en-US" sz="1600" b="1" i="1"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dirty="0"/>
          </a:p>
        </p:txBody>
      </p:sp>
      <p:pic>
        <p:nvPicPr>
          <p:cNvPr id="6" name="Picture 5" descr="Generated by PlantUML">
            <a:extLst>
              <a:ext uri="{FF2B5EF4-FFF2-40B4-BE49-F238E27FC236}">
                <a16:creationId xmlns:a16="http://schemas.microsoft.com/office/drawing/2014/main" id="{C27C05E6-0A24-4E46-9C52-315961E1E850}"/>
              </a:ext>
            </a:extLst>
          </p:cNvPr>
          <p:cNvPicPr/>
          <p:nvPr/>
        </p:nvPicPr>
        <p:blipFill>
          <a:blip r:embed="rId2">
            <a:extLst>
              <a:ext uri="{28A0092B-C50C-407E-A947-70E740481C1C}">
                <a14:useLocalDpi xmlns:a14="http://schemas.microsoft.com/office/drawing/2010/main" val="0"/>
              </a:ext>
            </a:extLst>
          </a:blip>
          <a:stretch>
            <a:fillRect/>
          </a:stretch>
        </p:blipFill>
        <p:spPr>
          <a:xfrm>
            <a:off x="7730836" y="366255"/>
            <a:ext cx="4461164" cy="2266028"/>
          </a:xfrm>
          <a:prstGeom prst="rect">
            <a:avLst/>
          </a:prstGeom>
        </p:spPr>
      </p:pic>
    </p:spTree>
    <p:extLst>
      <p:ext uri="{BB962C8B-B14F-4D97-AF65-F5344CB8AC3E}">
        <p14:creationId xmlns:p14="http://schemas.microsoft.com/office/powerpoint/2010/main" val="177351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03508-8991-4B4D-9280-51C01CE98D83}"/>
              </a:ext>
            </a:extLst>
          </p:cNvPr>
          <p:cNvSpPr>
            <a:spLocks noGrp="1"/>
          </p:cNvSpPr>
          <p:nvPr>
            <p:ph type="title"/>
          </p:nvPr>
        </p:nvSpPr>
        <p:spPr/>
        <p:txBody>
          <a:bodyPr/>
          <a:lstStyle/>
          <a:p>
            <a:r>
              <a:rPr lang="en-US" dirty="0"/>
              <a:t>Visitor Pattern</a:t>
            </a:r>
          </a:p>
        </p:txBody>
      </p:sp>
      <p:sp>
        <p:nvSpPr>
          <p:cNvPr id="4" name="Slide Number Placeholder 3">
            <a:extLst>
              <a:ext uri="{FF2B5EF4-FFF2-40B4-BE49-F238E27FC236}">
                <a16:creationId xmlns:a16="http://schemas.microsoft.com/office/drawing/2014/main" id="{D7E86872-CB10-48C3-BE3F-22FAD9CE68F7}"/>
              </a:ext>
            </a:extLst>
          </p:cNvPr>
          <p:cNvSpPr>
            <a:spLocks noGrp="1"/>
          </p:cNvSpPr>
          <p:nvPr>
            <p:ph type="sldNum" sz="quarter" idx="12"/>
          </p:nvPr>
        </p:nvSpPr>
        <p:spPr/>
        <p:txBody>
          <a:bodyPr/>
          <a:lstStyle/>
          <a:p>
            <a:fld id="{E60AC81A-0762-4854-947E-801A7DA89C28}" type="slidenum">
              <a:rPr lang="en-US" smtClean="0"/>
              <a:t>36</a:t>
            </a:fld>
            <a:endParaRPr lang="en-US"/>
          </a:p>
        </p:txBody>
      </p:sp>
      <p:pic>
        <p:nvPicPr>
          <p:cNvPr id="6" name="Picture 5" descr="Generated by PlantUML">
            <a:extLst>
              <a:ext uri="{FF2B5EF4-FFF2-40B4-BE49-F238E27FC236}">
                <a16:creationId xmlns:a16="http://schemas.microsoft.com/office/drawing/2014/main" id="{C27C05E6-0A24-4E46-9C52-315961E1E850}"/>
              </a:ext>
            </a:extLst>
          </p:cNvPr>
          <p:cNvPicPr/>
          <p:nvPr/>
        </p:nvPicPr>
        <p:blipFill>
          <a:blip r:embed="rId2">
            <a:extLst>
              <a:ext uri="{28A0092B-C50C-407E-A947-70E740481C1C}">
                <a14:useLocalDpi xmlns:a14="http://schemas.microsoft.com/office/drawing/2010/main" val="0"/>
              </a:ext>
            </a:extLst>
          </a:blip>
          <a:stretch>
            <a:fillRect/>
          </a:stretch>
        </p:blipFill>
        <p:spPr>
          <a:xfrm>
            <a:off x="7450282" y="214673"/>
            <a:ext cx="4215772" cy="2154454"/>
          </a:xfrm>
          <a:prstGeom prst="rect">
            <a:avLst/>
          </a:prstGeom>
        </p:spPr>
      </p:pic>
      <p:sp>
        <p:nvSpPr>
          <p:cNvPr id="11" name="TextBox 10">
            <a:extLst>
              <a:ext uri="{FF2B5EF4-FFF2-40B4-BE49-F238E27FC236}">
                <a16:creationId xmlns:a16="http://schemas.microsoft.com/office/drawing/2014/main" id="{9306176E-D11B-4120-BFD7-156C70D4A473}"/>
              </a:ext>
            </a:extLst>
          </p:cNvPr>
          <p:cNvSpPr txBox="1"/>
          <p:nvPr/>
        </p:nvSpPr>
        <p:spPr>
          <a:xfrm>
            <a:off x="331304" y="686095"/>
            <a:ext cx="5022529" cy="861774"/>
          </a:xfrm>
          <a:prstGeom prst="rect">
            <a:avLst/>
          </a:prstGeom>
          <a:noFill/>
          <a:ln>
            <a:solidFill>
              <a:schemeClr val="bg1">
                <a:lumMod val="85000"/>
              </a:schemeClr>
            </a:solidFill>
          </a:ln>
        </p:spPr>
        <p:txBody>
          <a:bodyPr wrap="none" rtlCol="0">
            <a:spAutoFit/>
          </a:bodyPr>
          <a:lstStyle/>
          <a:p>
            <a:r>
              <a:rPr lang="en-US" sz="1600" b="1" dirty="0">
                <a:solidFill>
                  <a:srgbClr val="7F0055"/>
                </a:solidFill>
                <a:latin typeface="Consolas" panose="020B0609020204030204" pitchFamily="49" charset="0"/>
              </a:rPr>
              <a:t>public</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abstract</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class</a:t>
            </a:r>
            <a:r>
              <a:rPr lang="en-US" sz="1600" b="1" dirty="0">
                <a:solidFill>
                  <a:srgbClr val="000000"/>
                </a:solidFill>
                <a:latin typeface="Consolas" panose="020B0609020204030204" pitchFamily="49" charset="0"/>
              </a:rPr>
              <a:t> Store {</a:t>
            </a:r>
          </a:p>
          <a:p>
            <a:pPr lvl="1"/>
            <a:r>
              <a:rPr lang="en-US" sz="1600" b="1" dirty="0">
                <a:solidFill>
                  <a:srgbClr val="7F0055"/>
                </a:solidFill>
                <a:latin typeface="Consolas" panose="020B0609020204030204" pitchFamily="49" charset="0"/>
              </a:rPr>
              <a:t>abstract</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void</a:t>
            </a:r>
            <a:r>
              <a:rPr lang="en-US" sz="1600" b="1" dirty="0">
                <a:solidFill>
                  <a:srgbClr val="000000"/>
                </a:solidFill>
                <a:latin typeface="Consolas" panose="020B0609020204030204" pitchFamily="49" charset="0"/>
              </a:rPr>
              <a:t> accept (Shopper </a:t>
            </a:r>
            <a:r>
              <a:rPr lang="en-US" sz="1600" b="1" dirty="0">
                <a:solidFill>
                  <a:srgbClr val="6A3E3E"/>
                </a:solidFill>
                <a:latin typeface="Consolas" panose="020B0609020204030204" pitchFamily="49" charset="0"/>
              </a:rPr>
              <a:t>shopper</a:t>
            </a:r>
            <a:r>
              <a:rPr lang="en-US" sz="1600" b="1"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dirty="0"/>
          </a:p>
        </p:txBody>
      </p:sp>
      <p:sp>
        <p:nvSpPr>
          <p:cNvPr id="3" name="TextBox 2">
            <a:extLst>
              <a:ext uri="{FF2B5EF4-FFF2-40B4-BE49-F238E27FC236}">
                <a16:creationId xmlns:a16="http://schemas.microsoft.com/office/drawing/2014/main" id="{C69AD55E-E819-48AD-8B63-F2698D767FE3}"/>
              </a:ext>
            </a:extLst>
          </p:cNvPr>
          <p:cNvSpPr txBox="1"/>
          <p:nvPr/>
        </p:nvSpPr>
        <p:spPr>
          <a:xfrm>
            <a:off x="331304" y="1623622"/>
            <a:ext cx="4897495" cy="1631216"/>
          </a:xfrm>
          <a:prstGeom prst="rect">
            <a:avLst/>
          </a:prstGeom>
          <a:noFill/>
          <a:ln>
            <a:solidFill>
              <a:schemeClr val="bg1">
                <a:lumMod val="85000"/>
              </a:schemeClr>
            </a:solidFill>
          </a:ln>
        </p:spPr>
        <p:txBody>
          <a:bodyPr wrap="none" rtlCol="0">
            <a:spAutoFit/>
          </a:bodyPr>
          <a:lstStyle/>
          <a:p>
            <a:r>
              <a:rPr lang="en-US" sz="1600" dirty="0">
                <a:solidFill>
                  <a:srgbClr val="7F0055"/>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JewelleryStore</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extends</a:t>
            </a:r>
            <a:r>
              <a:rPr lang="en-US" sz="1600" dirty="0">
                <a:solidFill>
                  <a:srgbClr val="000000"/>
                </a:solidFill>
                <a:latin typeface="Consolas" panose="020B0609020204030204" pitchFamily="49" charset="0"/>
              </a:rPr>
              <a:t> Store{</a:t>
            </a:r>
          </a:p>
          <a:p>
            <a:pPr lvl="1"/>
            <a:r>
              <a:rPr lang="en-US" sz="1600" dirty="0">
                <a:solidFill>
                  <a:srgbClr val="646464"/>
                </a:solidFill>
                <a:latin typeface="Consolas" panose="020B0609020204030204" pitchFamily="49" charset="0"/>
              </a:rPr>
              <a:t>@Override</a:t>
            </a:r>
          </a:p>
          <a:p>
            <a:pPr lvl="1"/>
            <a:r>
              <a:rPr lang="en-US" sz="1600" dirty="0">
                <a:solidFill>
                  <a:srgbClr val="7F0055"/>
                </a:solidFill>
                <a:latin typeface="Consolas" panose="020B0609020204030204" pitchFamily="49" charset="0"/>
              </a:rPr>
              <a:t>void</a:t>
            </a:r>
            <a:r>
              <a:rPr lang="en-US" sz="1600" dirty="0">
                <a:solidFill>
                  <a:srgbClr val="000000"/>
                </a:solidFill>
                <a:latin typeface="Consolas" panose="020B0609020204030204" pitchFamily="49" charset="0"/>
              </a:rPr>
              <a:t> accept(Shopper </a:t>
            </a:r>
            <a:r>
              <a:rPr lang="en-US" sz="1600" dirty="0">
                <a:solidFill>
                  <a:srgbClr val="6A3E3E"/>
                </a:solidFill>
                <a:latin typeface="Consolas" panose="020B0609020204030204" pitchFamily="49" charset="0"/>
              </a:rPr>
              <a:t>shopper</a:t>
            </a:r>
            <a:r>
              <a:rPr lang="en-US" sz="1600" dirty="0">
                <a:solidFill>
                  <a:srgbClr val="000000"/>
                </a:solidFill>
                <a:latin typeface="Consolas" panose="020B0609020204030204" pitchFamily="49" charset="0"/>
              </a:rPr>
              <a:t>) {</a:t>
            </a:r>
          </a:p>
          <a:p>
            <a:pPr lvl="2"/>
            <a:r>
              <a:rPr lang="en-US" sz="1600" dirty="0" err="1">
                <a:solidFill>
                  <a:srgbClr val="6A3E3E"/>
                </a:solidFill>
                <a:latin typeface="Consolas" panose="020B0609020204030204" pitchFamily="49" charset="0"/>
              </a:rPr>
              <a:t>shopper</a:t>
            </a:r>
            <a:r>
              <a:rPr lang="en-US" sz="1600" dirty="0" err="1">
                <a:solidFill>
                  <a:srgbClr val="000000"/>
                </a:solidFill>
                <a:latin typeface="Consolas" panose="020B0609020204030204" pitchFamily="49" charset="0"/>
              </a:rPr>
              <a:t>.visitJewelleryStore</a:t>
            </a:r>
            <a:r>
              <a:rPr lang="en-US" sz="1600"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dirty="0"/>
          </a:p>
        </p:txBody>
      </p:sp>
      <p:sp>
        <p:nvSpPr>
          <p:cNvPr id="5" name="TextBox 4">
            <a:extLst>
              <a:ext uri="{FF2B5EF4-FFF2-40B4-BE49-F238E27FC236}">
                <a16:creationId xmlns:a16="http://schemas.microsoft.com/office/drawing/2014/main" id="{ED1A8AEB-075D-40C3-9B19-CD9ECB776F7A}"/>
              </a:ext>
            </a:extLst>
          </p:cNvPr>
          <p:cNvSpPr txBox="1"/>
          <p:nvPr/>
        </p:nvSpPr>
        <p:spPr>
          <a:xfrm>
            <a:off x="331304" y="3330591"/>
            <a:ext cx="4560864" cy="1631216"/>
          </a:xfrm>
          <a:prstGeom prst="rect">
            <a:avLst/>
          </a:prstGeom>
          <a:noFill/>
          <a:ln>
            <a:solidFill>
              <a:schemeClr val="bg1">
                <a:lumMod val="85000"/>
              </a:schemeClr>
            </a:solidFill>
          </a:ln>
        </p:spPr>
        <p:txBody>
          <a:bodyPr wrap="none" rtlCol="0">
            <a:spAutoFit/>
          </a:bodyPr>
          <a:lstStyle/>
          <a:p>
            <a:r>
              <a:rPr lang="en-US" sz="1600" dirty="0">
                <a:solidFill>
                  <a:srgbClr val="7F0055"/>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ShoesStore</a:t>
            </a: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extends</a:t>
            </a:r>
            <a:r>
              <a:rPr lang="en-US" sz="1600" dirty="0">
                <a:solidFill>
                  <a:srgbClr val="000000"/>
                </a:solidFill>
                <a:latin typeface="Consolas" panose="020B0609020204030204" pitchFamily="49" charset="0"/>
              </a:rPr>
              <a:t> Store {</a:t>
            </a:r>
          </a:p>
          <a:p>
            <a:pPr lvl="1"/>
            <a:r>
              <a:rPr lang="en-US" sz="1600" dirty="0">
                <a:solidFill>
                  <a:srgbClr val="646464"/>
                </a:solidFill>
                <a:latin typeface="Consolas" panose="020B0609020204030204" pitchFamily="49" charset="0"/>
              </a:rPr>
              <a:t>@Override</a:t>
            </a:r>
          </a:p>
          <a:p>
            <a:pPr lvl="1"/>
            <a:r>
              <a:rPr lang="en-US" sz="1600" dirty="0">
                <a:solidFill>
                  <a:srgbClr val="7F0055"/>
                </a:solidFill>
                <a:latin typeface="Consolas" panose="020B0609020204030204" pitchFamily="49" charset="0"/>
              </a:rPr>
              <a:t>void</a:t>
            </a:r>
            <a:r>
              <a:rPr lang="en-US" sz="1600" dirty="0">
                <a:solidFill>
                  <a:srgbClr val="000000"/>
                </a:solidFill>
                <a:latin typeface="Consolas" panose="020B0609020204030204" pitchFamily="49" charset="0"/>
              </a:rPr>
              <a:t> accept(Shopper </a:t>
            </a:r>
            <a:r>
              <a:rPr lang="en-US" sz="1600" dirty="0">
                <a:solidFill>
                  <a:srgbClr val="6A3E3E"/>
                </a:solidFill>
                <a:latin typeface="Consolas" panose="020B0609020204030204" pitchFamily="49" charset="0"/>
              </a:rPr>
              <a:t>shopper</a:t>
            </a:r>
            <a:r>
              <a:rPr lang="en-US" sz="1600" dirty="0">
                <a:solidFill>
                  <a:srgbClr val="000000"/>
                </a:solidFill>
                <a:latin typeface="Consolas" panose="020B0609020204030204" pitchFamily="49" charset="0"/>
              </a:rPr>
              <a:t>) {</a:t>
            </a:r>
          </a:p>
          <a:p>
            <a:pPr lvl="2"/>
            <a:r>
              <a:rPr lang="en-US" sz="1600" dirty="0" err="1">
                <a:solidFill>
                  <a:srgbClr val="6A3E3E"/>
                </a:solidFill>
                <a:latin typeface="Consolas" panose="020B0609020204030204" pitchFamily="49" charset="0"/>
              </a:rPr>
              <a:t>shopper</a:t>
            </a:r>
            <a:r>
              <a:rPr lang="en-US" sz="1600" dirty="0" err="1">
                <a:solidFill>
                  <a:srgbClr val="000000"/>
                </a:solidFill>
                <a:latin typeface="Consolas" panose="020B0609020204030204" pitchFamily="49" charset="0"/>
              </a:rPr>
              <a:t>.visitShoeStore</a:t>
            </a:r>
            <a:r>
              <a:rPr lang="en-US" sz="1600"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dirty="0"/>
          </a:p>
        </p:txBody>
      </p:sp>
      <p:sp>
        <p:nvSpPr>
          <p:cNvPr id="12" name="TextBox 11">
            <a:extLst>
              <a:ext uri="{FF2B5EF4-FFF2-40B4-BE49-F238E27FC236}">
                <a16:creationId xmlns:a16="http://schemas.microsoft.com/office/drawing/2014/main" id="{10CBF02D-2D6A-4FCF-B7A1-6023E8C9DD52}"/>
              </a:ext>
            </a:extLst>
          </p:cNvPr>
          <p:cNvSpPr txBox="1"/>
          <p:nvPr/>
        </p:nvSpPr>
        <p:spPr>
          <a:xfrm>
            <a:off x="4892168" y="2438025"/>
            <a:ext cx="5933034" cy="4278094"/>
          </a:xfrm>
          <a:prstGeom prst="rect">
            <a:avLst/>
          </a:prstGeom>
          <a:solidFill>
            <a:schemeClr val="bg1"/>
          </a:solidFill>
          <a:ln>
            <a:solidFill>
              <a:schemeClr val="bg1">
                <a:lumMod val="85000"/>
              </a:schemeClr>
            </a:solidFill>
          </a:ln>
        </p:spPr>
        <p:txBody>
          <a:bodyPr wrap="none" rtlCol="0">
            <a:spAutoFit/>
          </a:bodyPr>
          <a:lstStyle/>
          <a:p>
            <a:pPr algn="l"/>
            <a:r>
              <a:rPr lang="en-US" sz="1600" b="1" dirty="0">
                <a:solidFill>
                  <a:srgbClr val="7F0055"/>
                </a:solidFill>
                <a:latin typeface="Consolas" panose="020B0609020204030204" pitchFamily="49" charset="0"/>
              </a:rPr>
              <a:t>public</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class</a:t>
            </a:r>
            <a:r>
              <a:rPr lang="en-US" sz="1600" b="1" dirty="0">
                <a:solidFill>
                  <a:srgbClr val="000000"/>
                </a:solidFill>
                <a:latin typeface="Consolas" panose="020B0609020204030204" pitchFamily="49" charset="0"/>
              </a:rPr>
              <a:t> Mall {</a:t>
            </a:r>
          </a:p>
          <a:p>
            <a:pPr lvl="1"/>
            <a:r>
              <a:rPr lang="en-US" sz="1600" b="1" dirty="0">
                <a:solidFill>
                  <a:srgbClr val="7F0055"/>
                </a:solidFill>
                <a:latin typeface="Consolas" panose="020B0609020204030204" pitchFamily="49" charset="0"/>
              </a:rPr>
              <a:t>public</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static</a:t>
            </a:r>
            <a:r>
              <a:rPr lang="en-US" sz="1600" b="1" dirty="0">
                <a:solidFill>
                  <a:srgbClr val="000000"/>
                </a:solidFill>
                <a:latin typeface="Consolas" panose="020B0609020204030204" pitchFamily="49" charset="0"/>
              </a:rPr>
              <a:t> </a:t>
            </a:r>
            <a:r>
              <a:rPr lang="en-US" sz="1600" b="1" dirty="0">
                <a:solidFill>
                  <a:srgbClr val="7F0055"/>
                </a:solidFill>
                <a:latin typeface="Consolas" panose="020B0609020204030204" pitchFamily="49" charset="0"/>
              </a:rPr>
              <a:t>void</a:t>
            </a:r>
            <a:r>
              <a:rPr lang="en-US" sz="1600" b="1" dirty="0">
                <a:solidFill>
                  <a:srgbClr val="000000"/>
                </a:solidFill>
                <a:latin typeface="Consolas" panose="020B0609020204030204" pitchFamily="49" charset="0"/>
              </a:rPr>
              <a:t> main(String[] </a:t>
            </a:r>
            <a:r>
              <a:rPr lang="en-US" sz="1600" b="1" dirty="0" err="1">
                <a:solidFill>
                  <a:srgbClr val="6A3E3E"/>
                </a:solidFill>
                <a:latin typeface="Consolas" panose="020B0609020204030204" pitchFamily="49" charset="0"/>
              </a:rPr>
              <a:t>args</a:t>
            </a:r>
            <a:r>
              <a:rPr lang="en-US" sz="1600" b="1" dirty="0">
                <a:solidFill>
                  <a:srgbClr val="000000"/>
                </a:solidFill>
                <a:latin typeface="Consolas" panose="020B0609020204030204" pitchFamily="49" charset="0"/>
              </a:rPr>
              <a:t>) {</a:t>
            </a:r>
          </a:p>
          <a:p>
            <a:pPr lvl="2"/>
            <a:r>
              <a:rPr lang="en-US" sz="1600" dirty="0">
                <a:solidFill>
                  <a:srgbClr val="3F7F5F"/>
                </a:solidFill>
                <a:latin typeface="Consolas" panose="020B0609020204030204" pitchFamily="49" charset="0"/>
              </a:rPr>
              <a:t>//create stores</a:t>
            </a:r>
          </a:p>
          <a:p>
            <a:pPr lvl="2"/>
            <a:r>
              <a:rPr lang="en-US" sz="1600" dirty="0">
                <a:solidFill>
                  <a:srgbClr val="000000"/>
                </a:solidFill>
                <a:latin typeface="Consolas" panose="020B0609020204030204" pitchFamily="49" charset="0"/>
              </a:rPr>
              <a:t>List&lt;Store&gt; </a:t>
            </a:r>
            <a:r>
              <a:rPr lang="en-US" sz="1600" dirty="0">
                <a:solidFill>
                  <a:srgbClr val="6A3E3E"/>
                </a:solidFill>
                <a:latin typeface="Consolas" panose="020B0609020204030204" pitchFamily="49" charset="0"/>
              </a:rPr>
              <a:t>stores</a:t>
            </a:r>
            <a:r>
              <a:rPr lang="en-US" sz="1600" dirty="0">
                <a:solidFill>
                  <a:srgbClr val="000000"/>
                </a:solidFill>
                <a:latin typeface="Consolas" panose="020B0609020204030204" pitchFamily="49" charset="0"/>
              </a:rPr>
              <a:t> = </a:t>
            </a:r>
            <a:r>
              <a:rPr lang="en-US" sz="1600" b="1" dirty="0">
                <a:solidFill>
                  <a:srgbClr val="7F0055"/>
                </a:solidFill>
                <a:latin typeface="Consolas" panose="020B0609020204030204" pitchFamily="49" charset="0"/>
              </a:rPr>
              <a:t>new</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ArrayList</a:t>
            </a:r>
            <a:r>
              <a:rPr lang="en-US" sz="1600" b="1" dirty="0">
                <a:solidFill>
                  <a:srgbClr val="000000"/>
                </a:solidFill>
                <a:latin typeface="Consolas" panose="020B0609020204030204" pitchFamily="49" charset="0"/>
              </a:rPr>
              <a:t>&lt;&gt;();</a:t>
            </a:r>
          </a:p>
          <a:p>
            <a:pPr lvl="2"/>
            <a:r>
              <a:rPr lang="en-US" sz="1600" dirty="0" err="1">
                <a:solidFill>
                  <a:srgbClr val="6A3E3E"/>
                </a:solidFill>
                <a:latin typeface="Consolas" panose="020B0609020204030204" pitchFamily="49" charset="0"/>
              </a:rPr>
              <a:t>stores</a:t>
            </a:r>
            <a:r>
              <a:rPr lang="en-US" sz="1600" dirty="0" err="1">
                <a:solidFill>
                  <a:srgbClr val="000000"/>
                </a:solidFill>
                <a:latin typeface="Consolas" panose="020B0609020204030204" pitchFamily="49" charset="0"/>
              </a:rPr>
              <a:t>.add</a:t>
            </a:r>
            <a:r>
              <a:rPr lang="en-US" sz="1600" dirty="0">
                <a:solidFill>
                  <a:srgbClr val="000000"/>
                </a:solidFill>
                <a:latin typeface="Consolas" panose="020B0609020204030204" pitchFamily="49" charset="0"/>
              </a:rPr>
              <a:t>(</a:t>
            </a:r>
            <a:r>
              <a:rPr lang="en-US" sz="1600" b="1" dirty="0">
                <a:solidFill>
                  <a:srgbClr val="7F0055"/>
                </a:solidFill>
                <a:latin typeface="Consolas" panose="020B0609020204030204" pitchFamily="49" charset="0"/>
              </a:rPr>
              <a:t>new</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JewelleryStore</a:t>
            </a:r>
            <a:r>
              <a:rPr lang="en-US" sz="1600" b="1" dirty="0">
                <a:solidFill>
                  <a:srgbClr val="000000"/>
                </a:solidFill>
                <a:latin typeface="Consolas" panose="020B0609020204030204" pitchFamily="49" charset="0"/>
              </a:rPr>
              <a:t>());</a:t>
            </a:r>
          </a:p>
          <a:p>
            <a:pPr lvl="2"/>
            <a:r>
              <a:rPr lang="en-US" sz="1600" dirty="0" err="1">
                <a:solidFill>
                  <a:srgbClr val="6A3E3E"/>
                </a:solidFill>
                <a:latin typeface="Consolas" panose="020B0609020204030204" pitchFamily="49" charset="0"/>
              </a:rPr>
              <a:t>stores</a:t>
            </a:r>
            <a:r>
              <a:rPr lang="en-US" sz="1600" dirty="0" err="1">
                <a:solidFill>
                  <a:srgbClr val="000000"/>
                </a:solidFill>
                <a:latin typeface="Consolas" panose="020B0609020204030204" pitchFamily="49" charset="0"/>
              </a:rPr>
              <a:t>.add</a:t>
            </a:r>
            <a:r>
              <a:rPr lang="en-US" sz="1600" dirty="0">
                <a:solidFill>
                  <a:srgbClr val="000000"/>
                </a:solidFill>
                <a:latin typeface="Consolas" panose="020B0609020204030204" pitchFamily="49" charset="0"/>
              </a:rPr>
              <a:t>(</a:t>
            </a:r>
            <a:r>
              <a:rPr lang="en-US" sz="1600" b="1" dirty="0">
                <a:solidFill>
                  <a:srgbClr val="7F0055"/>
                </a:solidFill>
                <a:latin typeface="Consolas" panose="020B0609020204030204" pitchFamily="49" charset="0"/>
              </a:rPr>
              <a:t>new</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ShoeStore</a:t>
            </a:r>
            <a:r>
              <a:rPr lang="en-US" sz="1600" b="1" dirty="0">
                <a:solidFill>
                  <a:srgbClr val="000000"/>
                </a:solidFill>
                <a:latin typeface="Consolas" panose="020B0609020204030204" pitchFamily="49" charset="0"/>
              </a:rPr>
              <a:t>());</a:t>
            </a:r>
          </a:p>
          <a:p>
            <a:pPr lvl="2"/>
            <a:r>
              <a:rPr lang="en-US" sz="1600" dirty="0">
                <a:solidFill>
                  <a:srgbClr val="3F7F5F"/>
                </a:solidFill>
                <a:latin typeface="Consolas" panose="020B0609020204030204" pitchFamily="49" charset="0"/>
              </a:rPr>
              <a:t>//create shoppers</a:t>
            </a:r>
          </a:p>
          <a:p>
            <a:pPr lvl="2"/>
            <a:r>
              <a:rPr lang="en-US" sz="1600" dirty="0">
                <a:solidFill>
                  <a:srgbClr val="000000"/>
                </a:solidFill>
                <a:latin typeface="Consolas" panose="020B0609020204030204" pitchFamily="49" charset="0"/>
              </a:rPr>
              <a:t>List&lt;Shopper&gt; </a:t>
            </a:r>
            <a:r>
              <a:rPr lang="en-US" sz="1600" dirty="0">
                <a:solidFill>
                  <a:srgbClr val="6A3E3E"/>
                </a:solidFill>
                <a:latin typeface="Consolas" panose="020B0609020204030204" pitchFamily="49" charset="0"/>
              </a:rPr>
              <a:t>shoppers</a:t>
            </a:r>
            <a:r>
              <a:rPr lang="en-US" sz="1600" dirty="0">
                <a:solidFill>
                  <a:srgbClr val="000000"/>
                </a:solidFill>
                <a:latin typeface="Consolas" panose="020B0609020204030204" pitchFamily="49" charset="0"/>
              </a:rPr>
              <a:t> = </a:t>
            </a:r>
            <a:r>
              <a:rPr lang="en-US" sz="1600" b="1" dirty="0">
                <a:solidFill>
                  <a:srgbClr val="7F0055"/>
                </a:solidFill>
                <a:latin typeface="Consolas" panose="020B0609020204030204" pitchFamily="49" charset="0"/>
              </a:rPr>
              <a:t>new</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ArrayList</a:t>
            </a:r>
            <a:r>
              <a:rPr lang="en-US" sz="1600" b="1" dirty="0">
                <a:solidFill>
                  <a:srgbClr val="000000"/>
                </a:solidFill>
                <a:latin typeface="Consolas" panose="020B0609020204030204" pitchFamily="49" charset="0"/>
              </a:rPr>
              <a:t>&lt;&gt;();</a:t>
            </a:r>
          </a:p>
          <a:p>
            <a:pPr lvl="2"/>
            <a:r>
              <a:rPr lang="en-US" sz="1600" dirty="0" err="1">
                <a:solidFill>
                  <a:srgbClr val="6A3E3E"/>
                </a:solidFill>
                <a:latin typeface="Consolas" panose="020B0609020204030204" pitchFamily="49" charset="0"/>
              </a:rPr>
              <a:t>shoppers</a:t>
            </a:r>
            <a:r>
              <a:rPr lang="en-US" sz="1600" dirty="0" err="1">
                <a:solidFill>
                  <a:srgbClr val="000000"/>
                </a:solidFill>
                <a:latin typeface="Consolas" panose="020B0609020204030204" pitchFamily="49" charset="0"/>
              </a:rPr>
              <a:t>.add</a:t>
            </a:r>
            <a:r>
              <a:rPr lang="en-US" sz="1600" dirty="0">
                <a:solidFill>
                  <a:srgbClr val="000000"/>
                </a:solidFill>
                <a:latin typeface="Consolas" panose="020B0609020204030204" pitchFamily="49" charset="0"/>
              </a:rPr>
              <a:t>(</a:t>
            </a:r>
            <a:r>
              <a:rPr lang="en-US" sz="1600" b="1" dirty="0">
                <a:solidFill>
                  <a:srgbClr val="7F0055"/>
                </a:solidFill>
                <a:latin typeface="Consolas" panose="020B0609020204030204" pitchFamily="49" charset="0"/>
              </a:rPr>
              <a:t>new</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FashionShopper</a:t>
            </a:r>
            <a:r>
              <a:rPr lang="en-US" sz="1600" b="1" dirty="0">
                <a:solidFill>
                  <a:srgbClr val="000000"/>
                </a:solidFill>
                <a:latin typeface="Consolas" panose="020B0609020204030204" pitchFamily="49" charset="0"/>
              </a:rPr>
              <a:t>());</a:t>
            </a:r>
          </a:p>
          <a:p>
            <a:pPr lvl="2"/>
            <a:r>
              <a:rPr lang="en-US" sz="1600" dirty="0" err="1">
                <a:solidFill>
                  <a:srgbClr val="6A3E3E"/>
                </a:solidFill>
                <a:latin typeface="Consolas" panose="020B0609020204030204" pitchFamily="49" charset="0"/>
              </a:rPr>
              <a:t>shoppers</a:t>
            </a:r>
            <a:r>
              <a:rPr lang="en-US" sz="1600" dirty="0" err="1">
                <a:solidFill>
                  <a:srgbClr val="000000"/>
                </a:solidFill>
                <a:latin typeface="Consolas" panose="020B0609020204030204" pitchFamily="49" charset="0"/>
              </a:rPr>
              <a:t>.add</a:t>
            </a:r>
            <a:r>
              <a:rPr lang="en-US" sz="1600" dirty="0">
                <a:solidFill>
                  <a:srgbClr val="000000"/>
                </a:solidFill>
                <a:latin typeface="Consolas" panose="020B0609020204030204" pitchFamily="49" charset="0"/>
              </a:rPr>
              <a:t>(</a:t>
            </a:r>
            <a:r>
              <a:rPr lang="en-US" sz="1600" b="1" dirty="0">
                <a:solidFill>
                  <a:srgbClr val="7F0055"/>
                </a:solidFill>
                <a:latin typeface="Consolas" panose="020B0609020204030204" pitchFamily="49" charset="0"/>
              </a:rPr>
              <a:t>new</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FrugalShopper</a:t>
            </a:r>
            <a:r>
              <a:rPr lang="en-US" sz="1600" b="1" dirty="0">
                <a:solidFill>
                  <a:srgbClr val="000000"/>
                </a:solidFill>
                <a:latin typeface="Consolas" panose="020B0609020204030204" pitchFamily="49" charset="0"/>
              </a:rPr>
              <a:t>());</a:t>
            </a:r>
          </a:p>
          <a:p>
            <a:pPr lvl="2"/>
            <a:endParaRPr lang="en-US" sz="1600" dirty="0">
              <a:latin typeface="Consolas" panose="020B0609020204030204" pitchFamily="49" charset="0"/>
            </a:endParaRPr>
          </a:p>
          <a:p>
            <a:pPr lvl="2"/>
            <a:r>
              <a:rPr lang="en-US" sz="1600" b="1" dirty="0">
                <a:solidFill>
                  <a:srgbClr val="7F0055"/>
                </a:solidFill>
                <a:latin typeface="Consolas" panose="020B0609020204030204" pitchFamily="49" charset="0"/>
              </a:rPr>
              <a:t>for</a:t>
            </a:r>
            <a:r>
              <a:rPr lang="en-US" sz="1600" b="1" dirty="0">
                <a:solidFill>
                  <a:srgbClr val="000000"/>
                </a:solidFill>
                <a:latin typeface="Consolas" panose="020B0609020204030204" pitchFamily="49" charset="0"/>
              </a:rPr>
              <a:t> (Shopper </a:t>
            </a:r>
            <a:r>
              <a:rPr lang="en-US" sz="1600" b="1" dirty="0" err="1">
                <a:solidFill>
                  <a:srgbClr val="6A3E3E"/>
                </a:solidFill>
                <a:latin typeface="Consolas" panose="020B0609020204030204" pitchFamily="49" charset="0"/>
              </a:rPr>
              <a:t>shopper</a:t>
            </a:r>
            <a:r>
              <a:rPr lang="en-US" sz="1600" b="1" dirty="0">
                <a:solidFill>
                  <a:srgbClr val="000000"/>
                </a:solidFill>
                <a:latin typeface="Consolas" panose="020B0609020204030204" pitchFamily="49" charset="0"/>
              </a:rPr>
              <a:t> : </a:t>
            </a:r>
            <a:r>
              <a:rPr lang="en-US" sz="1600" b="1" dirty="0">
                <a:solidFill>
                  <a:srgbClr val="6A3E3E"/>
                </a:solidFill>
                <a:latin typeface="Consolas" panose="020B0609020204030204" pitchFamily="49" charset="0"/>
              </a:rPr>
              <a:t>shoppers</a:t>
            </a:r>
            <a:r>
              <a:rPr lang="en-US" sz="1600" b="1" dirty="0">
                <a:solidFill>
                  <a:srgbClr val="000000"/>
                </a:solidFill>
                <a:latin typeface="Consolas" panose="020B0609020204030204" pitchFamily="49" charset="0"/>
              </a:rPr>
              <a:t>) {</a:t>
            </a:r>
          </a:p>
          <a:p>
            <a:pPr lvl="3"/>
            <a:r>
              <a:rPr lang="en-US" sz="1600" b="1" dirty="0">
                <a:solidFill>
                  <a:srgbClr val="7F0055"/>
                </a:solidFill>
                <a:latin typeface="Consolas" panose="020B0609020204030204" pitchFamily="49" charset="0"/>
              </a:rPr>
              <a:t>for</a:t>
            </a:r>
            <a:r>
              <a:rPr lang="en-US" sz="1600" b="1" dirty="0">
                <a:solidFill>
                  <a:srgbClr val="000000"/>
                </a:solidFill>
                <a:latin typeface="Consolas" panose="020B0609020204030204" pitchFamily="49" charset="0"/>
              </a:rPr>
              <a:t> (Store </a:t>
            </a:r>
            <a:r>
              <a:rPr lang="en-US" sz="1600" b="1" dirty="0" err="1">
                <a:solidFill>
                  <a:srgbClr val="6A3E3E"/>
                </a:solidFill>
                <a:latin typeface="Consolas" panose="020B0609020204030204" pitchFamily="49" charset="0"/>
              </a:rPr>
              <a:t>store</a:t>
            </a:r>
            <a:r>
              <a:rPr lang="en-US" sz="1600" b="1" dirty="0">
                <a:solidFill>
                  <a:srgbClr val="000000"/>
                </a:solidFill>
                <a:latin typeface="Consolas" panose="020B0609020204030204" pitchFamily="49" charset="0"/>
              </a:rPr>
              <a:t>: </a:t>
            </a:r>
            <a:r>
              <a:rPr lang="en-US" sz="1600" b="1" dirty="0">
                <a:solidFill>
                  <a:srgbClr val="6A3E3E"/>
                </a:solidFill>
                <a:latin typeface="Consolas" panose="020B0609020204030204" pitchFamily="49" charset="0"/>
              </a:rPr>
              <a:t>stores</a:t>
            </a:r>
            <a:r>
              <a:rPr lang="en-US" sz="1600" b="1" dirty="0">
                <a:solidFill>
                  <a:srgbClr val="000000"/>
                </a:solidFill>
                <a:latin typeface="Consolas" panose="020B0609020204030204" pitchFamily="49" charset="0"/>
              </a:rPr>
              <a:t>)</a:t>
            </a:r>
          </a:p>
          <a:p>
            <a:pPr lvl="4"/>
            <a:r>
              <a:rPr lang="en-US" sz="1600" dirty="0" err="1">
                <a:solidFill>
                  <a:srgbClr val="6A3E3E"/>
                </a:solidFill>
                <a:latin typeface="Consolas" panose="020B0609020204030204" pitchFamily="49" charset="0"/>
              </a:rPr>
              <a:t>store</a:t>
            </a:r>
            <a:r>
              <a:rPr lang="en-US" sz="1600" dirty="0" err="1">
                <a:solidFill>
                  <a:srgbClr val="000000"/>
                </a:solidFill>
                <a:latin typeface="Consolas" panose="020B0609020204030204" pitchFamily="49" charset="0"/>
              </a:rPr>
              <a:t>.accept</a:t>
            </a:r>
            <a:r>
              <a:rPr lang="en-US" sz="1600" dirty="0">
                <a:solidFill>
                  <a:srgbClr val="000000"/>
                </a:solidFill>
                <a:latin typeface="Consolas" panose="020B0609020204030204" pitchFamily="49" charset="0"/>
              </a:rPr>
              <a:t>(</a:t>
            </a:r>
            <a:r>
              <a:rPr lang="en-US" sz="1600" dirty="0">
                <a:solidFill>
                  <a:srgbClr val="6A3E3E"/>
                </a:solidFill>
                <a:latin typeface="Consolas" panose="020B0609020204030204" pitchFamily="49" charset="0"/>
              </a:rPr>
              <a:t>shopper</a:t>
            </a:r>
            <a:r>
              <a:rPr lang="en-US" sz="1600" dirty="0">
                <a:solidFill>
                  <a:srgbClr val="000000"/>
                </a:solidFill>
                <a:latin typeface="Consolas" panose="020B0609020204030204" pitchFamily="49" charset="0"/>
              </a:rPr>
              <a:t>);</a:t>
            </a:r>
          </a:p>
          <a:p>
            <a:pPr lvl="2"/>
            <a:r>
              <a:rPr lang="en-US" sz="1600" dirty="0">
                <a:solidFill>
                  <a:srgbClr val="000000"/>
                </a:solidFill>
                <a:latin typeface="Consolas" panose="020B0609020204030204" pitchFamily="49" charset="0"/>
              </a:rPr>
              <a:t>}</a:t>
            </a:r>
          </a:p>
          <a:p>
            <a:pPr lvl="1"/>
            <a:r>
              <a:rPr lang="en-US" sz="1600" dirty="0">
                <a:solidFill>
                  <a:srgbClr val="000000"/>
                </a:solidFill>
                <a:latin typeface="Consolas" panose="020B0609020204030204" pitchFamily="49" charset="0"/>
              </a:rPr>
              <a:t>}</a:t>
            </a:r>
          </a:p>
          <a:p>
            <a:pPr algn="l"/>
            <a:r>
              <a:rPr lang="en-US" sz="1600" dirty="0">
                <a:solidFill>
                  <a:srgbClr val="000000"/>
                </a:solidFill>
                <a:latin typeface="Consolas" panose="020B0609020204030204" pitchFamily="49" charset="0"/>
              </a:rPr>
              <a:t>}</a:t>
            </a:r>
            <a:endParaRPr lang="en-US" sz="1600" dirty="0"/>
          </a:p>
        </p:txBody>
      </p:sp>
    </p:spTree>
    <p:extLst>
      <p:ext uri="{BB962C8B-B14F-4D97-AF65-F5344CB8AC3E}">
        <p14:creationId xmlns:p14="http://schemas.microsoft.com/office/powerpoint/2010/main" val="8685036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Pattern Language: Towns, Buildings, Construction</a:t>
            </a:r>
          </a:p>
        </p:txBody>
      </p:sp>
      <p:pic>
        <p:nvPicPr>
          <p:cNvPr id="4" name="Picture 3"/>
          <p:cNvPicPr>
            <a:picLocks noChangeAspect="1"/>
          </p:cNvPicPr>
          <p:nvPr/>
        </p:nvPicPr>
        <p:blipFill>
          <a:blip r:embed="rId2"/>
          <a:stretch>
            <a:fillRect/>
          </a:stretch>
        </p:blipFill>
        <p:spPr>
          <a:xfrm>
            <a:off x="251791" y="1712594"/>
            <a:ext cx="6086902" cy="4032886"/>
          </a:xfrm>
          <a:prstGeom prst="rect">
            <a:avLst/>
          </a:prstGeom>
          <a:ln>
            <a:noFill/>
          </a:ln>
        </p:spPr>
      </p:pic>
      <p:pic>
        <p:nvPicPr>
          <p:cNvPr id="5" name="Picture 4"/>
          <p:cNvPicPr>
            <a:picLocks noChangeAspect="1"/>
          </p:cNvPicPr>
          <p:nvPr/>
        </p:nvPicPr>
        <p:blipFill>
          <a:blip r:embed="rId3"/>
          <a:stretch>
            <a:fillRect/>
          </a:stretch>
        </p:blipFill>
        <p:spPr>
          <a:xfrm>
            <a:off x="6505575" y="1712594"/>
            <a:ext cx="5000625" cy="4309817"/>
          </a:xfrm>
          <a:prstGeom prst="rect">
            <a:avLst/>
          </a:prstGeom>
          <a:ln>
            <a:noFill/>
          </a:ln>
        </p:spPr>
      </p:pic>
      <p:sp>
        <p:nvSpPr>
          <p:cNvPr id="6" name="TextBox 5"/>
          <p:cNvSpPr txBox="1"/>
          <p:nvPr/>
        </p:nvSpPr>
        <p:spPr>
          <a:xfrm>
            <a:off x="9616440" y="6370320"/>
            <a:ext cx="2326278" cy="369332"/>
          </a:xfrm>
          <a:prstGeom prst="rect">
            <a:avLst/>
          </a:prstGeom>
          <a:noFill/>
        </p:spPr>
        <p:txBody>
          <a:bodyPr wrap="none" rtlCol="0">
            <a:spAutoFit/>
          </a:bodyPr>
          <a:lstStyle/>
          <a:p>
            <a:r>
              <a:rPr lang="en-US" dirty="0">
                <a:hlinkClick r:id="rId4" action="ppaction://hlinksldjump"/>
              </a:rPr>
              <a:t>Principles and Patterns</a:t>
            </a:r>
            <a:endParaRPr lang="en-US" dirty="0"/>
          </a:p>
        </p:txBody>
      </p:sp>
      <p:sp>
        <p:nvSpPr>
          <p:cNvPr id="3" name="TextBox 2"/>
          <p:cNvSpPr txBox="1"/>
          <p:nvPr/>
        </p:nvSpPr>
        <p:spPr>
          <a:xfrm>
            <a:off x="251791" y="1188720"/>
            <a:ext cx="2807307" cy="400110"/>
          </a:xfrm>
          <a:prstGeom prst="rect">
            <a:avLst/>
          </a:prstGeom>
          <a:noFill/>
        </p:spPr>
        <p:txBody>
          <a:bodyPr wrap="none" rtlCol="0">
            <a:spAutoFit/>
          </a:bodyPr>
          <a:lstStyle/>
          <a:p>
            <a:r>
              <a:rPr lang="en-US" sz="2000" u="sng" dirty="0">
                <a:solidFill>
                  <a:srgbClr val="0070C0"/>
                </a:solidFill>
              </a:rPr>
              <a:t>Pattern name: T-Junction</a:t>
            </a:r>
          </a:p>
        </p:txBody>
      </p:sp>
      <p:sp>
        <p:nvSpPr>
          <p:cNvPr id="7" name="Slide Number Placeholder 6"/>
          <p:cNvSpPr>
            <a:spLocks noGrp="1"/>
          </p:cNvSpPr>
          <p:nvPr>
            <p:ph type="sldNum" sz="quarter" idx="12"/>
          </p:nvPr>
        </p:nvSpPr>
        <p:spPr/>
        <p:txBody>
          <a:bodyPr/>
          <a:lstStyle/>
          <a:p>
            <a:fld id="{9F1A4D64-A005-48D8-BBA4-82C0A2806572}" type="slidenum">
              <a:rPr lang="en-US" smtClean="0"/>
              <a:t>37</a:t>
            </a:fld>
            <a:endParaRPr lang="en-US"/>
          </a:p>
        </p:txBody>
      </p:sp>
    </p:spTree>
    <p:extLst>
      <p:ext uri="{BB962C8B-B14F-4D97-AF65-F5344CB8AC3E}">
        <p14:creationId xmlns:p14="http://schemas.microsoft.com/office/powerpoint/2010/main" val="338704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SLIDO_APP_VERSION" val="0.19.0.2005"/>
  <p:tag name="SLIDO_PRESENTATION_ID" val="00000000-0000-0000-0000-000000000000"/>
  <p:tag name="SLIDO_EVENT_UUID" val="f512246c-ae73-4e6c-ae5a-7e1e97d4e416"/>
  <p:tag name="SLIDO_EVENT_SECTION_UUID" val="e85db3a5-a554-4db5-8eac-7d411a4f839c"/>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ue_Color Slide Template" id="{C8C24E05-303B-9F4A-A2BF-D24CAD4DE57F}" vid="{74552871-9BF7-8A4B-8F46-7BF70579CBF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7121</TotalTime>
  <Words>3279</Words>
  <Application>Microsoft Office PowerPoint</Application>
  <PresentationFormat>Widescreen</PresentationFormat>
  <Paragraphs>554</Paragraphs>
  <Slides>37</Slides>
  <Notes>6</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37</vt:i4>
      </vt:variant>
    </vt:vector>
  </HeadingPairs>
  <TitlesOfParts>
    <vt:vector size="44" baseType="lpstr">
      <vt:lpstr>Arial</vt:lpstr>
      <vt:lpstr>Calibri</vt:lpstr>
      <vt:lpstr>Calibri Light</vt:lpstr>
      <vt:lpstr>Consolas</vt:lpstr>
      <vt:lpstr>Office Theme</vt:lpstr>
      <vt:lpstr>1_Office Theme</vt:lpstr>
      <vt:lpstr>Blank</vt:lpstr>
      <vt:lpstr> Design Patterns</vt:lpstr>
      <vt:lpstr>Principles &amp; Patterns</vt:lpstr>
      <vt:lpstr>OO Design Patterns and Principles</vt:lpstr>
      <vt:lpstr>Why use patterns or principles?</vt:lpstr>
      <vt:lpstr>PowerPoint Presentation</vt:lpstr>
      <vt:lpstr>PowerPoint Presentation</vt:lpstr>
      <vt:lpstr>PowerPoint Presentation</vt:lpstr>
      <vt:lpstr>Some key concepts</vt:lpstr>
      <vt:lpstr>Some key concepts</vt:lpstr>
      <vt:lpstr>Implications of coupling and cohesion</vt:lpstr>
      <vt:lpstr>Reuse Mechanisms</vt:lpstr>
      <vt:lpstr>Reuse Mechanisms</vt:lpstr>
      <vt:lpstr>Design Pattern Relationships</vt:lpstr>
      <vt:lpstr>Strategy Pattern </vt:lpstr>
      <vt:lpstr>Strategy Pattern </vt:lpstr>
      <vt:lpstr>Strategy Pattern </vt:lpstr>
      <vt:lpstr>Strategy Pattern: Clock Example</vt:lpstr>
      <vt:lpstr>Strategy Pattern: Clock Example</vt:lpstr>
      <vt:lpstr>Abstract factory / Factory method pattern: Clock factory</vt:lpstr>
      <vt:lpstr>Abstract Factory Pattern: University</vt:lpstr>
      <vt:lpstr>PowerPoint Presentation</vt:lpstr>
      <vt:lpstr>PowerPoint Presentation</vt:lpstr>
      <vt:lpstr>Singleton Pattern </vt:lpstr>
      <vt:lpstr>Singleton in Python 1</vt:lpstr>
      <vt:lpstr>Singleton in Python 2</vt:lpstr>
      <vt:lpstr>Singleton Pattern </vt:lpstr>
      <vt:lpstr>Singleton Pattern </vt:lpstr>
      <vt:lpstr>Memento Pattern</vt:lpstr>
      <vt:lpstr>Memento</vt:lpstr>
      <vt:lpstr>Memento Example</vt:lpstr>
      <vt:lpstr>Memento Example</vt:lpstr>
      <vt:lpstr>Adapter Pattern </vt:lpstr>
      <vt:lpstr>Iterator Pattern</vt:lpstr>
      <vt:lpstr>Visitor Pattern</vt:lpstr>
      <vt:lpstr>Visitor Pattern</vt:lpstr>
      <vt:lpstr>Visitor Pattern</vt:lpstr>
      <vt:lpstr>A Pattern Language: Towns, Buildings, Construction</vt:lpstr>
    </vt:vector>
  </TitlesOfParts>
  <Company>Carnegie Mellon University - Heinz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Analysis and Design</dc:title>
  <dc:creator>Neelam Dwivedi</dc:creator>
  <cp:lastModifiedBy>Neelam Dwivedi</cp:lastModifiedBy>
  <cp:revision>175</cp:revision>
  <dcterms:created xsi:type="dcterms:W3CDTF">2016-01-02T17:28:02Z</dcterms:created>
  <dcterms:modified xsi:type="dcterms:W3CDTF">2021-08-19T11:18:30Z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0.19.0.2005</vt:lpwstr>
  </property>
</Properties>
</file>
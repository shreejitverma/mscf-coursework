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2"/>
  </p:notesMasterIdLst>
  <p:sldIdLst>
    <p:sldId id="257" r:id="rId2"/>
    <p:sldId id="576" r:id="rId3"/>
    <p:sldId id="577" r:id="rId4"/>
    <p:sldId id="578" r:id="rId5"/>
    <p:sldId id="579" r:id="rId6"/>
    <p:sldId id="580" r:id="rId7"/>
    <p:sldId id="581" r:id="rId8"/>
    <p:sldId id="582" r:id="rId9"/>
    <p:sldId id="583" r:id="rId10"/>
    <p:sldId id="584" r:id="rId11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61" autoAdjust="0"/>
    <p:restoredTop sz="95638" autoAdjust="0"/>
  </p:normalViewPr>
  <p:slideViewPr>
    <p:cSldViewPr>
      <p:cViewPr varScale="1">
        <p:scale>
          <a:sx n="104" d="100"/>
          <a:sy n="104" d="100"/>
        </p:scale>
        <p:origin x="126" y="14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49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8" d="100"/>
          <a:sy n="118" d="100"/>
        </p:scale>
        <p:origin x="406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8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4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2188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1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8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C3966094-34ED-42CC-B0A0-81B4FC9F4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004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C77F19E-6305-42C9-846D-8F6E264C89DD}" type="slidenum">
              <a:rPr lang="en-US" altLang="en-US" smtClean="0">
                <a:latin typeface="Times New Roman" pitchFamily="18" charset="0"/>
              </a:rPr>
              <a:pPr/>
              <a:t>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4217596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00652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445040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675447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069302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1201121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9402685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4233461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282417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382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82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03ACD932-14B2-4E67-BE29-C3BAC9200558}" type="datetime1">
              <a:rPr lang="en-US" smtClean="0"/>
              <a:t>8/18/2021</a:t>
            </a:fld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5239B93A-74DE-4B25-B352-2D94A7B0EC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DEC9C3-785A-4BC9-896D-02F2D154AE02}" type="datetime1">
              <a:rPr lang="en-US" smtClean="0"/>
              <a:t>8/18/2021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9676BE-5AF2-4172-BD19-31A2F83EF2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31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B12A4E-CABA-495F-A4A7-B646AAA7E215}" type="datetime1">
              <a:rPr lang="en-US" smtClean="0"/>
              <a:t>8/18/2021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441145-DF2F-4F5F-87FB-6F34B812BF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70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7C8249-D307-4465-BF30-46AE1CE176D1}" type="datetime1">
              <a:rPr lang="en-US" smtClean="0"/>
              <a:t>8/18/2021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3359A0-D876-470E-A03B-B54B4EF9A5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32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1A27D5-5CB8-44E1-B8C7-50040436BF26}" type="datetime1">
              <a:rPr lang="en-US" smtClean="0"/>
              <a:t>8/18/2021</a:t>
            </a:fld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5BDD2-431D-4473-B6F1-AD9C47ED04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90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1074FD-EAAF-4FCA-85B2-142A53B8B362}" type="datetime1">
              <a:rPr lang="en-US" smtClean="0"/>
              <a:t>8/18/2021</a:t>
            </a:fld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C0419-96C4-40C9-AA2D-27D42EB4E3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1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38367D-92D6-4290-BAB1-8D2C50B2811E}" type="datetime1">
              <a:rPr lang="en-US" smtClean="0"/>
              <a:t>8/18/2021</a:t>
            </a:fld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62B98-9A01-4C44-BDC6-515C05E58F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648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FAD929-A314-494A-B6A3-F0F55E4BAAE7}" type="datetime1">
              <a:rPr lang="en-US" smtClean="0"/>
              <a:t>8/18/2021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D8208-D527-49A2-9034-D654B1EF28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74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6DFD5D-5BF8-4498-B49E-D8EB52C2154B}" type="datetime1">
              <a:rPr lang="en-US" smtClean="0"/>
              <a:t>8/18/2021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69637-7F5D-47B5-84F3-031C50CD82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04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E45C93-C394-4876-B234-D0B9C0035263}" type="datetime1">
              <a:rPr lang="en-US" smtClean="0"/>
              <a:t>8/18/2021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9F3A7A-80FC-4CCB-802A-CD06628E14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063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BCDCD4-C58C-4C48-8E04-B9B38C24BAF5}" type="datetime1">
              <a:rPr lang="en-US" smtClean="0"/>
              <a:t>8/18/2021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F157A-85D2-470A-87E4-A935A04F8C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54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722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fld id="{9FB165C7-DDAD-4C27-83C5-F7075FED9CA7}" type="datetime1">
              <a:rPr lang="en-US" smtClean="0"/>
              <a:t>8/18/2021</a:t>
            </a:fld>
            <a:endParaRPr lang="en-US"/>
          </a:p>
        </p:txBody>
      </p:sp>
      <p:sp>
        <p:nvSpPr>
          <p:cNvPr id="13722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13722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6BFBACB-D4B5-4FCB-958C-A311D48A19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MSCF Programming Prep</a:t>
            </a:r>
            <a:br>
              <a:rPr lang="en-US" altLang="en-US" dirty="0"/>
            </a:br>
            <a:r>
              <a:rPr lang="en-US" altLang="en-US" dirty="0"/>
              <a:t>46-900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2209800"/>
          </a:xfrm>
        </p:spPr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dirty="0"/>
              <a:t>MSCF, Carnegie Mellon University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dirty="0"/>
              <a:t>Day 8, Part 1:</a:t>
            </a:r>
          </a:p>
          <a:p>
            <a:pPr eaLnBrk="1" hangingPunct="1"/>
            <a:r>
              <a:rPr lang="en-US" altLang="en-US"/>
              <a:t>Regular Expressions</a:t>
            </a:r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008393B-9AFD-4C24-BD71-58FEFECE2F64}" type="datetime1">
              <a:rPr lang="en-US" smtClean="0"/>
              <a:t>8/18/2021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About Regular Expressions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i="1" dirty="0"/>
              <a:t>Regular expressions</a:t>
            </a:r>
            <a:r>
              <a:rPr lang="en-US" altLang="en-US" sz="2800" dirty="0"/>
              <a:t> are a compact, mathematical-style notation for matching patterns in text</a:t>
            </a:r>
          </a:p>
          <a:p>
            <a:pPr lvl="1" eaLnBrk="1" hangingPunct="1"/>
            <a:r>
              <a:rPr lang="en-US" altLang="en-US" sz="2400" dirty="0"/>
              <a:t>Originally developed in the context of human language parsing</a:t>
            </a:r>
          </a:p>
          <a:p>
            <a:pPr lvl="1" eaLnBrk="1" hangingPunct="1"/>
            <a:r>
              <a:rPr lang="en-US" altLang="en-US" sz="2400" dirty="0"/>
              <a:t>Then programming language grammars, parsers</a:t>
            </a:r>
          </a:p>
          <a:p>
            <a:pPr eaLnBrk="1" hangingPunct="1"/>
            <a:r>
              <a:rPr lang="en-US" altLang="en-US" sz="2800" dirty="0"/>
              <a:t>Python provides an extensive collection of regular expression special characters and notations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B74001-60B5-4807-8639-73CAB51177F3}" type="datetime1">
              <a:rPr lang="en-US" smtClean="0"/>
              <a:t>8/18/2021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444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Basic Regular Expression Characters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000" i="1" dirty="0"/>
              <a:t>		</a:t>
            </a:r>
            <a:r>
              <a:rPr lang="en-US" altLang="en-US" sz="2000" dirty="0"/>
              <a:t>Matches the character 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000" dirty="0"/>
              <a:t>, </a:t>
            </a:r>
            <a:r>
              <a:rPr lang="en-US" altLang="en-US" sz="2000" i="1" dirty="0"/>
              <a:t>unless</a:t>
            </a:r>
            <a:r>
              <a:rPr lang="en-US" altLang="en-US" sz="2000" dirty="0"/>
              <a:t> 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000" dirty="0"/>
              <a:t> is a regular 			    expression special character</a:t>
            </a:r>
          </a:p>
          <a:p>
            <a:pPr marL="0" indent="0" eaLnBrk="1" hangingPunct="1">
              <a:spcBef>
                <a:spcPts val="60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^</a:t>
            </a:r>
            <a:r>
              <a:rPr lang="en-US" altLang="en-US" sz="2000" dirty="0"/>
              <a:t>		Matches the start of a string</a:t>
            </a:r>
          </a:p>
          <a:p>
            <a:pPr marL="0" indent="0" eaLnBrk="1" hangingPunct="1">
              <a:spcBef>
                <a:spcPts val="60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altLang="en-US" sz="2000" dirty="0"/>
              <a:t>		Matches the end of a string</a:t>
            </a:r>
          </a:p>
          <a:p>
            <a:pPr marL="0" indent="0" eaLnBrk="1" hangingPunct="1">
              <a:spcBef>
                <a:spcPts val="60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2000" dirty="0"/>
              <a:t>		Matches </a:t>
            </a:r>
            <a:r>
              <a:rPr lang="en-US" altLang="en-US" sz="2000" i="1" dirty="0"/>
              <a:t>any</a:t>
            </a:r>
            <a:r>
              <a:rPr lang="en-US" altLang="en-US" sz="2000" dirty="0"/>
              <a:t> single character in a string</a:t>
            </a:r>
          </a:p>
          <a:p>
            <a:pPr marL="0" indent="0" eaLnBrk="1" hangingPunct="1">
              <a:spcBef>
                <a:spcPts val="60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20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abc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altLang="en-US" sz="2000" dirty="0"/>
              <a:t>		Matches </a:t>
            </a:r>
            <a:r>
              <a:rPr lang="en-US" altLang="en-US" sz="2000" i="1" dirty="0"/>
              <a:t>one</a:t>
            </a:r>
            <a:r>
              <a:rPr lang="en-US" altLang="en-US" sz="2000" dirty="0"/>
              <a:t> character, either</a:t>
            </a:r>
            <a:r>
              <a:rPr lang="en-US" altLang="en-US" sz="2000" i="1" dirty="0"/>
              <a:t> 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000" dirty="0"/>
              <a:t> or 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2000" dirty="0"/>
              <a:t> or 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altLang="en-US" sz="2000" i="1" dirty="0"/>
          </a:p>
          <a:p>
            <a:pPr marL="0" indent="0" eaLnBrk="1" hangingPunct="1">
              <a:spcBef>
                <a:spcPts val="60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[^</a:t>
            </a:r>
            <a:r>
              <a:rPr lang="en-US" altLang="en-US" sz="20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abc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altLang="en-US" sz="2000" dirty="0"/>
              <a:t>	Matches </a:t>
            </a:r>
            <a:r>
              <a:rPr lang="en-US" altLang="en-US" sz="2000" i="1" dirty="0"/>
              <a:t>one</a:t>
            </a:r>
            <a:r>
              <a:rPr lang="en-US" altLang="en-US" sz="2000" dirty="0"/>
              <a:t> character, which is </a:t>
            </a:r>
            <a:r>
              <a:rPr lang="en-US" altLang="en-US" sz="2000" i="1" dirty="0"/>
              <a:t>not 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000" dirty="0"/>
              <a:t> or 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2000" dirty="0"/>
              <a:t> or 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altLang="en-US" sz="2000" i="1" dirty="0"/>
          </a:p>
          <a:p>
            <a:pPr marL="0" indent="0" eaLnBrk="1" hangingPunct="1">
              <a:spcBef>
                <a:spcPts val="60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altLang="en-US" sz="2000" dirty="0"/>
              <a:t>		Matches </a:t>
            </a:r>
            <a:r>
              <a:rPr lang="en-US" altLang="en-US" sz="2000" i="1" dirty="0"/>
              <a:t>one</a:t>
            </a:r>
            <a:r>
              <a:rPr lang="en-US" altLang="en-US" sz="2000" dirty="0"/>
              <a:t> character, in range</a:t>
            </a:r>
            <a:r>
              <a:rPr lang="en-US" altLang="en-US" sz="2000" i="1" dirty="0"/>
              <a:t> 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000" dirty="0"/>
              <a:t> thru 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endParaRPr lang="en-US" altLang="en-US" sz="2000" i="1" dirty="0"/>
          </a:p>
          <a:p>
            <a:pPr marL="0" indent="0" eaLnBrk="1" hangingPunct="1">
              <a:spcBef>
                <a:spcPts val="600"/>
              </a:spcBef>
              <a:buNone/>
            </a:pP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en-US" sz="2000" b="1" dirty="0"/>
              <a:t>		</a:t>
            </a:r>
            <a:r>
              <a:rPr lang="en-US" altLang="en-US" sz="2000" dirty="0"/>
              <a:t>Matches a sequence of </a:t>
            </a:r>
            <a:r>
              <a:rPr lang="en-US" altLang="en-US" sz="2000" i="1" dirty="0"/>
              <a:t>0 or more</a:t>
            </a:r>
            <a:r>
              <a:rPr lang="en-US" altLang="en-US" sz="2000" dirty="0"/>
              <a:t> occurrences of 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altLang="en-US" sz="2000" i="1" dirty="0"/>
          </a:p>
          <a:p>
            <a:pPr marL="0" indent="0" eaLnBrk="1" hangingPunct="1">
              <a:spcBef>
                <a:spcPts val="60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000" b="1" dirty="0"/>
              <a:t>		</a:t>
            </a:r>
            <a:r>
              <a:rPr lang="en-US" altLang="en-US" sz="2000" dirty="0"/>
              <a:t>Matches 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000" dirty="0"/>
              <a:t>, even if 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000" dirty="0"/>
              <a:t> is a regular expression special</a:t>
            </a:r>
          </a:p>
          <a:p>
            <a:pPr marL="0" indent="0" eaLnBrk="1" hangingPunct="1">
              <a:spcBef>
                <a:spcPts val="600"/>
              </a:spcBef>
              <a:buNone/>
            </a:pPr>
            <a:r>
              <a:rPr lang="en-US" altLang="en-US" sz="2000" dirty="0"/>
              <a:t>		    character</a:t>
            </a:r>
            <a:endParaRPr lang="en-US" altLang="en-US" sz="2000" i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0B13FF-00FD-4CBE-B7BD-1AFB1B3E68CD}" type="datetime1">
              <a:rPr lang="en-US" smtClean="0"/>
              <a:t>8/18/2021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729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 Silly Poem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To illustrate, we will use a silly poem: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6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How Doth The Little Crocodile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-----------------------------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          by Lewis Carroll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How doth the little crocodile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Improve his shining tail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And pour the waters of the Nile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On every golden scale!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How cheerfully he seems to grin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How neatly spreads his claws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And welcomes little fishes in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With gently smiling jaws!</a:t>
            </a:r>
          </a:p>
          <a:p>
            <a:pPr marL="0" indent="0" eaLnBrk="1" hangingPunct="1">
              <a:buNone/>
            </a:pPr>
            <a:endParaRPr lang="en-US" altLang="en-US" sz="2800" dirty="0"/>
          </a:p>
          <a:p>
            <a:pPr marL="0" indent="0" eaLnBrk="1" hangingPunct="1">
              <a:buNone/>
            </a:pPr>
            <a:endParaRPr lang="en-US" altLang="en-US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035677-31DC-4F20-BA86-16A18FA1E875}" type="datetime1">
              <a:rPr lang="en-US" smtClean="0"/>
              <a:t>8/18/2021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098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 Brief R.E. Search Program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File:    regex_examples.py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poem = ['How Doth The Little Crocodile',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'  With gently smiling jaws!']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re		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regular expression module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pat = '^H'		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lines that start with 'H'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line in poem: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(pat, line) != None: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print(line)	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we found a match!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6611B5D-2107-4155-BA18-BBB407C970D3}" type="datetime1">
              <a:rPr lang="en-US" smtClean="0"/>
              <a:t>8/18/2021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347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Raw Strings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What if we wanted to search for a </a:t>
            </a:r>
            <a:r>
              <a:rPr lang="en-US" altLang="en-US" sz="2800" b="1" dirty="0"/>
              <a:t>\</a:t>
            </a:r>
            <a:r>
              <a:rPr lang="en-US" altLang="en-US" sz="2800" dirty="0"/>
              <a:t> (backslash) character?</a:t>
            </a:r>
          </a:p>
          <a:p>
            <a:pPr lvl="1" eaLnBrk="1" hangingPunct="1"/>
            <a:r>
              <a:rPr lang="en-US" altLang="en-US" sz="2400" dirty="0"/>
              <a:t>Unfortunately, </a:t>
            </a:r>
            <a:r>
              <a:rPr lang="en-US" altLang="en-US" sz="2400" b="1" dirty="0"/>
              <a:t>\</a:t>
            </a:r>
            <a:r>
              <a:rPr lang="en-US" altLang="en-US" sz="2400" dirty="0"/>
              <a:t> is special </a:t>
            </a:r>
            <a:r>
              <a:rPr lang="en-US" altLang="en-US" sz="2400" i="1" dirty="0"/>
              <a:t>both</a:t>
            </a:r>
            <a:r>
              <a:rPr lang="en-US" altLang="en-US" sz="2400" dirty="0"/>
              <a:t> within a string literal </a:t>
            </a:r>
            <a:r>
              <a:rPr lang="en-US" altLang="en-US" sz="2400" i="1" dirty="0"/>
              <a:t>and</a:t>
            </a:r>
            <a:r>
              <a:rPr lang="en-US" altLang="en-US" sz="2400" dirty="0"/>
              <a:t> within a regular expression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pat = '\\\\'   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search for a literal \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/>
          </a:p>
          <a:p>
            <a:pPr eaLnBrk="1" hangingPunct="1"/>
            <a:r>
              <a:rPr lang="en-US" altLang="en-US" sz="2800" dirty="0"/>
              <a:t>Ugh!  A </a:t>
            </a:r>
            <a:r>
              <a:rPr lang="en-US" altLang="en-US" sz="2800" i="1" dirty="0"/>
              <a:t>raw string</a:t>
            </a:r>
            <a:r>
              <a:rPr lang="en-US" altLang="en-US" sz="2800" dirty="0"/>
              <a:t> tells Python to treat </a:t>
            </a:r>
            <a:r>
              <a:rPr lang="en-US" altLang="en-US" sz="2800" b="1" dirty="0"/>
              <a:t>\</a:t>
            </a:r>
            <a:r>
              <a:rPr lang="en-US" altLang="en-US" sz="2800" dirty="0"/>
              <a:t> as an ordinary character in a string literal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pat = r'\\'    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search for a literal \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/>
          </a:p>
          <a:p>
            <a:pPr eaLnBrk="1" hangingPunct="1"/>
            <a:endParaRPr lang="en-US" altLang="en-US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5EDB24-3C91-4CB7-B237-37F3357FAE41}" type="datetime1">
              <a:rPr lang="en-US" smtClean="0"/>
              <a:t>8/18/2021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707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Regular Expression Examples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pat = r'^$'		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empty lines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pat = r'^  [A-Z]'	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... start with two spaces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#   and a capital letter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pat = r'^ *[A-Z]'	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... start with optional space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#   and a capital letter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pat =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r'e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$'		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... end with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pat = r'[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aeiou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aeiuo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]'	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... 2 lowercase vowels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pat =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r'a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.*e.*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'	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... contain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in order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pat = r'^[^t]*$'	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... 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contain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pat = r'\.'		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... contain a literal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7AA653-671F-4252-847E-AF2C0D1A0626}" type="datetime1">
              <a:rPr lang="en-US" smtClean="0"/>
              <a:t>8/18/2021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422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More Regular Expression Characters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1200"/>
              </a:spcBef>
              <a:buNone/>
            </a:pP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e1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e2</a:t>
            </a:r>
            <a:r>
              <a:rPr lang="en-US" altLang="en-US" sz="2000" dirty="0"/>
              <a:t>		Matches regular expression 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e1</a:t>
            </a:r>
            <a:r>
              <a:rPr lang="en-US" altLang="en-US" sz="2000" dirty="0"/>
              <a:t> </a:t>
            </a:r>
            <a:r>
              <a:rPr lang="en-US" altLang="en-US" sz="2000" i="1" dirty="0"/>
              <a:t>or</a:t>
            </a:r>
            <a:r>
              <a:rPr lang="en-US" altLang="en-US" sz="2000" dirty="0"/>
              <a:t> 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e2</a:t>
            </a: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000" dirty="0"/>
              <a:t>		Matches regular expression 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altLang="en-US" sz="2000" dirty="0"/>
              <a:t> </a:t>
            </a:r>
            <a:r>
              <a:rPr lang="en-US" altLang="en-US" sz="2000" b="1" i="1" dirty="0"/>
              <a:t>and</a:t>
            </a:r>
            <a:r>
              <a:rPr lang="en-US" altLang="en-US" sz="2000" dirty="0"/>
              <a:t> creates a </a:t>
            </a:r>
            <a:r>
              <a:rPr lang="en-US" altLang="en-US" sz="2000" i="1" dirty="0"/>
              <a:t>group</a:t>
            </a: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en-US" sz="2000" dirty="0"/>
              <a:t>		Matches the 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en-US" sz="2000" dirty="0"/>
              <a:t>th </a:t>
            </a:r>
            <a:r>
              <a:rPr lang="en-US" altLang="en-US" sz="2000" i="1" dirty="0"/>
              <a:t>group</a:t>
            </a: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sz="2000" dirty="0"/>
              <a:t>		Matches a sequence of </a:t>
            </a:r>
            <a:r>
              <a:rPr lang="en-US" altLang="en-US" sz="2000" i="1" dirty="0"/>
              <a:t>1</a:t>
            </a:r>
            <a:r>
              <a:rPr lang="en-US" altLang="en-US" sz="2000" dirty="0"/>
              <a:t> </a:t>
            </a:r>
            <a:r>
              <a:rPr lang="en-US" altLang="en-US" sz="2000" i="1" dirty="0"/>
              <a:t>or more</a:t>
            </a:r>
            <a:r>
              <a:rPr lang="en-US" altLang="en-US" sz="2000" dirty="0"/>
              <a:t> of 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  <a:r>
              <a:rPr lang="en-US" altLang="en-US" sz="2000" dirty="0"/>
              <a:t>		Matches </a:t>
            </a:r>
            <a:r>
              <a:rPr lang="en-US" altLang="en-US" sz="2000" i="1" dirty="0"/>
              <a:t>0</a:t>
            </a:r>
            <a:r>
              <a:rPr lang="en-US" altLang="en-US" sz="2000" dirty="0"/>
              <a:t> or </a:t>
            </a:r>
            <a:r>
              <a:rPr lang="en-US" altLang="en-US" sz="2000" i="1" dirty="0"/>
              <a:t>1</a:t>
            </a:r>
            <a:r>
              <a:rPr lang="en-US" altLang="en-US" sz="2000" dirty="0"/>
              <a:t> of 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</a:p>
          <a:p>
            <a:pPr marL="0" indent="0" eaLnBrk="1" hangingPunct="1">
              <a:spcBef>
                <a:spcPts val="600"/>
              </a:spcBef>
              <a:buNone/>
            </a:pPr>
            <a:endParaRPr lang="en-US" altLang="en-US" sz="20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600"/>
              </a:spcBef>
              <a:buNone/>
            </a:pP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... many more we won't cover ...</a:t>
            </a:r>
            <a:endParaRPr lang="en-US" altLang="en-US" sz="2000" i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C2FE984-E3B3-4EC4-8A6B-C7C3DD6EE515}" type="datetime1">
              <a:rPr lang="en-US" smtClean="0"/>
              <a:t>8/18/2021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9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More Regular Expression Examples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pat =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r'How|Nile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'	  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... contain How </a:t>
            </a:r>
            <a:r>
              <a:rPr lang="en-US" alt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Nile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pat = r'([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aeiou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])\1'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... contain a pair of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   #    identical lowercase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#    vowels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pat = r'(...).*\1'  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... contain some 3-char 				   #    sequence at least twice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pat = r'(.)(.)(.).*\3\1\2'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  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... contain a 3-char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   #    followed by same chars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   #    in different order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012B75C-31CE-4382-88F5-623DF063B295}" type="datetime1">
              <a:rPr lang="en-US" smtClean="0"/>
              <a:t>8/18/2021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597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Token Validation Examples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r'^[+-]?(0+|[1-9][0-9]*)$'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 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Python base 10 int value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r'^(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True|False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)$'	 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Python bool value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r'^[a-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zA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-Z_][a-zA-Z0-9_]*$'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 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Python identifier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BAD756E-2B74-44C4-B111-1CA95091FB76}" type="datetime1">
              <a:rPr lang="en-US" smtClean="0"/>
              <a:t>8/18/2021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243860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49629</TotalTime>
  <Words>1204</Words>
  <Application>Microsoft Office PowerPoint</Application>
  <PresentationFormat>On-screen Show (4:3)</PresentationFormat>
  <Paragraphs>177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Courier New</vt:lpstr>
      <vt:lpstr>Tahoma</vt:lpstr>
      <vt:lpstr>Times New Roman</vt:lpstr>
      <vt:lpstr>Wingdings</vt:lpstr>
      <vt:lpstr>Blends</vt:lpstr>
      <vt:lpstr>MSCF Programming Prep 46-900</vt:lpstr>
      <vt:lpstr>About Regular Expressions</vt:lpstr>
      <vt:lpstr>Basic Regular Expression Characters</vt:lpstr>
      <vt:lpstr>A Silly Poem</vt:lpstr>
      <vt:lpstr>A Brief R.E. Search Program</vt:lpstr>
      <vt:lpstr>Raw Strings</vt:lpstr>
      <vt:lpstr>Regular Expression Examples</vt:lpstr>
      <vt:lpstr>More Regular Expression Characters</vt:lpstr>
      <vt:lpstr>More Regular Expression Examples</vt:lpstr>
      <vt:lpstr>Token Validation Examples</vt:lpstr>
    </vt:vector>
  </TitlesOfParts>
  <Company>CMU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 46-691</dc:title>
  <dc:creator>The Heinz School</dc:creator>
  <cp:lastModifiedBy>John</cp:lastModifiedBy>
  <cp:revision>774</cp:revision>
  <cp:lastPrinted>2019-09-21T16:14:45Z</cp:lastPrinted>
  <dcterms:created xsi:type="dcterms:W3CDTF">2003-08-31T19:53:38Z</dcterms:created>
  <dcterms:modified xsi:type="dcterms:W3CDTF">2021-08-18T11:17:05Z</dcterms:modified>
</cp:coreProperties>
</file>
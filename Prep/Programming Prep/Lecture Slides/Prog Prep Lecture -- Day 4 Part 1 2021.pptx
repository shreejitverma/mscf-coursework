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7"/>
  </p:notesMasterIdLst>
  <p:sldIdLst>
    <p:sldId id="257" r:id="rId2"/>
    <p:sldId id="727" r:id="rId3"/>
    <p:sldId id="810" r:id="rId4"/>
    <p:sldId id="772" r:id="rId5"/>
    <p:sldId id="812" r:id="rId6"/>
    <p:sldId id="811" r:id="rId7"/>
    <p:sldId id="813" r:id="rId8"/>
    <p:sldId id="776" r:id="rId9"/>
    <p:sldId id="777" r:id="rId10"/>
    <p:sldId id="837" r:id="rId11"/>
    <p:sldId id="752" r:id="rId12"/>
    <p:sldId id="838" r:id="rId13"/>
    <p:sldId id="839" r:id="rId14"/>
    <p:sldId id="840" r:id="rId15"/>
    <p:sldId id="826" r:id="rId16"/>
    <p:sldId id="827" r:id="rId17"/>
    <p:sldId id="828" r:id="rId18"/>
    <p:sldId id="829" r:id="rId19"/>
    <p:sldId id="830" r:id="rId20"/>
    <p:sldId id="831" r:id="rId21"/>
    <p:sldId id="832" r:id="rId22"/>
    <p:sldId id="833" r:id="rId23"/>
    <p:sldId id="834" r:id="rId24"/>
    <p:sldId id="835" r:id="rId25"/>
    <p:sldId id="836" r:id="rId2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68089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535201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031749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119585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312801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84736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465497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399638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03505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860281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010491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01350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31119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8906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060725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351089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43520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812255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826000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3722942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10788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274616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570591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352943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51A546F-806A-4916-A722-C4497DFD22C4}" type="datetime1">
              <a:rPr lang="en-US" smtClean="0"/>
              <a:t>8/8/2021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66DB2E-05FD-4E02-BDBB-5F8876F1F81B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5BC40-C0CA-403D-A182-DB6B7CD54EF0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AFA41-984E-409B-A306-691035BEA148}" type="datetime1">
              <a:rPr lang="en-US" smtClean="0"/>
              <a:t>8/8/2021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447AE-53BA-49A5-AF00-C1E375E33A3B}" type="datetime1">
              <a:rPr lang="en-US" smtClean="0"/>
              <a:t>8/8/2021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7A6F0-30AC-4AD0-A5B1-E8FF7D751BE6}" type="datetime1">
              <a:rPr lang="en-US" smtClean="0"/>
              <a:t>8/8/2021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430ED-3079-4BF3-83A3-9C452D2905CD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5A946-6194-4DC9-A610-D66B2CA85B43}" type="datetime1">
              <a:rPr lang="en-US" smtClean="0"/>
              <a:t>8/8/2021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B41BC-FEAB-4FF2-B81C-73BBC796BFBB}" type="datetime1">
              <a:rPr lang="en-US" smtClean="0"/>
              <a:t>8/8/2021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A1B36-156C-441D-8F5D-8D05B7AAE9F5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323C8-D5DD-4858-8D00-75FFB568DF9D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1A402B15-CF07-48BE-8BDB-C3085399C7FB}" type="datetime1">
              <a:rPr lang="en-US" smtClean="0"/>
              <a:t>8/8/2021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Day 4, Part 1: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Dynamic Programming: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Coin Change Problems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43F20C-CF11-4D17-AEB9-BB7B37E2131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6CEA7-82DF-4E8D-A6C5-BE060327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B93A-74DE-4B25-B352-2D94A7B0EC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Coin Change Problems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Common setup:</a:t>
            </a:r>
            <a:endParaRPr lang="en-US" altLang="en-US" sz="2400" i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You have coins with integer denominations &gt; 0: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     </a:t>
            </a:r>
            <a:r>
              <a:rPr lang="en-US" altLang="en-US" sz="2400" i="1" dirty="0"/>
              <a:t>C</a:t>
            </a:r>
            <a:r>
              <a:rPr lang="en-US" altLang="en-US" sz="2400" dirty="0"/>
              <a:t> = [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,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2</a:t>
            </a:r>
            <a:r>
              <a:rPr lang="en-US" altLang="en-US" sz="2400" dirty="0"/>
              <a:t>, …, </a:t>
            </a:r>
            <a:r>
              <a:rPr lang="en-US" altLang="en-US" sz="2400" i="1" dirty="0" err="1"/>
              <a:t>c</a:t>
            </a:r>
            <a:r>
              <a:rPr lang="en-US" altLang="en-US" sz="2400" i="1" baseline="-25000" dirty="0" err="1"/>
              <a:t>n</a:t>
            </a:r>
            <a:r>
              <a:rPr lang="en-US" altLang="en-US" sz="2400" dirty="0"/>
              <a:t>],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</a:t>
            </a:r>
            <a:r>
              <a:rPr lang="en-US" altLang="en-US" sz="2400" dirty="0"/>
              <a:t> !=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k+1</a:t>
            </a:r>
            <a:endParaRPr lang="en-US" altLang="en-US" sz="2000" i="1" baseline="-25000" dirty="0"/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An arbitrary number of each coin is available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0070C0"/>
                </a:solidFill>
              </a:rPr>
              <a:t>First problem:</a:t>
            </a:r>
            <a:endParaRPr lang="en-US" altLang="en-US" sz="2800" i="1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What is the </a:t>
            </a:r>
            <a:r>
              <a:rPr lang="en-US" altLang="en-US" sz="2400" i="1" dirty="0">
                <a:solidFill>
                  <a:srgbClr val="0070C0"/>
                </a:solidFill>
              </a:rPr>
              <a:t>minimum number</a:t>
            </a:r>
            <a:r>
              <a:rPr lang="en-US" altLang="en-US" sz="2400" dirty="0">
                <a:solidFill>
                  <a:srgbClr val="0070C0"/>
                </a:solidFill>
              </a:rPr>
              <a:t> </a:t>
            </a:r>
            <a:r>
              <a:rPr lang="en-US" altLang="en-US" sz="2400" dirty="0"/>
              <a:t>of coins needed to make some value </a:t>
            </a:r>
            <a:r>
              <a:rPr lang="en-US" altLang="en-US" sz="2400" i="1" dirty="0"/>
              <a:t>v</a:t>
            </a:r>
            <a:r>
              <a:rPr lang="en-US" altLang="en-US" sz="2400" dirty="0"/>
              <a:t> &gt;= 0?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rgbClr val="00B050"/>
                </a:solidFill>
              </a:rPr>
              <a:t>Second problem: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>
                <a:solidFill>
                  <a:srgbClr val="00B050"/>
                </a:solidFill>
              </a:rPr>
              <a:t>How many combinations</a:t>
            </a:r>
            <a:r>
              <a:rPr lang="en-US" altLang="en-US" sz="2400" dirty="0">
                <a:solidFill>
                  <a:srgbClr val="00B050"/>
                </a:solidFill>
              </a:rPr>
              <a:t> </a:t>
            </a:r>
            <a:r>
              <a:rPr lang="en-US" altLang="en-US" sz="2400" dirty="0"/>
              <a:t>of coins can be used to make some value </a:t>
            </a:r>
            <a:r>
              <a:rPr lang="en-US" altLang="en-US" sz="2400" i="1" dirty="0"/>
              <a:t>v</a:t>
            </a:r>
            <a:r>
              <a:rPr lang="en-US" altLang="en-US" sz="2400" dirty="0"/>
              <a:t> &gt;= 0?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7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Trivial Examples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Suppose we have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</a:t>
            </a:r>
            <a:r>
              <a:rPr lang="en-US" altLang="en-US" sz="2400" i="1" dirty="0"/>
              <a:t>C</a:t>
            </a:r>
            <a:r>
              <a:rPr lang="en-US" altLang="en-US" sz="2400" dirty="0"/>
              <a:t> = [</a:t>
            </a:r>
            <a:r>
              <a:rPr lang="en-US" altLang="en-US" sz="2400" dirty="0">
                <a:solidFill>
                  <a:srgbClr val="FF0000"/>
                </a:solidFill>
              </a:rPr>
              <a:t>1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FF0000"/>
                </a:solidFill>
              </a:rPr>
              <a:t>5</a:t>
            </a:r>
            <a:r>
              <a:rPr lang="en-US" altLang="en-US" sz="2400" dirty="0"/>
              <a:t>]</a:t>
            </a:r>
            <a:endParaRPr lang="en-US" altLang="en-US" sz="2000" i="1" baseline="-25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The </a:t>
            </a:r>
            <a:r>
              <a:rPr lang="en-US" altLang="en-US" sz="2800" i="1" dirty="0">
                <a:solidFill>
                  <a:srgbClr val="0070C0"/>
                </a:solidFill>
              </a:rPr>
              <a:t>minimum number</a:t>
            </a:r>
            <a:r>
              <a:rPr lang="en-US" altLang="en-US" sz="2800" dirty="0">
                <a:solidFill>
                  <a:srgbClr val="0070C0"/>
                </a:solidFill>
              </a:rPr>
              <a:t> </a:t>
            </a:r>
            <a:r>
              <a:rPr lang="en-US" altLang="en-US" sz="2800" dirty="0"/>
              <a:t>of coins to make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/>
              <a:t>v</a:t>
            </a:r>
            <a:r>
              <a:rPr lang="en-US" altLang="en-US" sz="2400" dirty="0"/>
              <a:t> == 2 is 2:	</a:t>
            </a:r>
            <a:r>
              <a:rPr lang="en-US" altLang="en-US" sz="2400" dirty="0">
                <a:solidFill>
                  <a:srgbClr val="FF0000"/>
                </a:solidFill>
              </a:rPr>
              <a:t>1</a:t>
            </a:r>
            <a:r>
              <a:rPr lang="en-US" altLang="en-US" sz="2400" dirty="0"/>
              <a:t> * 2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/>
              <a:t>v</a:t>
            </a:r>
            <a:r>
              <a:rPr lang="en-US" altLang="en-US" sz="2400" dirty="0"/>
              <a:t> == 11 is 3:	</a:t>
            </a:r>
            <a:r>
              <a:rPr lang="en-US" altLang="en-US" sz="2400" dirty="0">
                <a:solidFill>
                  <a:srgbClr val="FF0000"/>
                </a:solidFill>
              </a:rPr>
              <a:t>1</a:t>
            </a:r>
            <a:r>
              <a:rPr lang="en-US" altLang="en-US" sz="2400" dirty="0"/>
              <a:t> * 1 + </a:t>
            </a:r>
            <a:r>
              <a:rPr lang="en-US" altLang="en-US" sz="2400" dirty="0">
                <a:solidFill>
                  <a:srgbClr val="FF0000"/>
                </a:solidFill>
              </a:rPr>
              <a:t>5</a:t>
            </a:r>
            <a:r>
              <a:rPr lang="en-US" altLang="en-US" sz="2400" dirty="0"/>
              <a:t> * 2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The </a:t>
            </a:r>
            <a:r>
              <a:rPr lang="en-US" altLang="en-US" sz="2800" i="1" dirty="0">
                <a:solidFill>
                  <a:srgbClr val="00B050"/>
                </a:solidFill>
              </a:rPr>
              <a:t>number of combinations</a:t>
            </a:r>
            <a:r>
              <a:rPr lang="en-US" altLang="en-US" sz="2800" dirty="0">
                <a:solidFill>
                  <a:srgbClr val="00B050"/>
                </a:solidFill>
              </a:rPr>
              <a:t> </a:t>
            </a:r>
            <a:r>
              <a:rPr lang="en-US" altLang="en-US" sz="2800" dirty="0"/>
              <a:t>of coins to make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/>
              <a:t>v</a:t>
            </a:r>
            <a:r>
              <a:rPr lang="en-US" altLang="en-US" sz="2400" dirty="0"/>
              <a:t> == 2 is 1:	{</a:t>
            </a:r>
            <a:r>
              <a:rPr lang="en-US" altLang="en-US" sz="2400" dirty="0">
                <a:solidFill>
                  <a:srgbClr val="FF0000"/>
                </a:solidFill>
              </a:rPr>
              <a:t>1, 1</a:t>
            </a:r>
            <a:r>
              <a:rPr lang="en-US" altLang="en-US" sz="2400" dirty="0"/>
              <a:t>}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/>
              <a:t>v</a:t>
            </a:r>
            <a:r>
              <a:rPr lang="en-US" altLang="en-US" sz="2400" dirty="0"/>
              <a:t> == 11 is 3:	{</a:t>
            </a:r>
            <a:r>
              <a:rPr lang="en-US" altLang="en-US" sz="2400" dirty="0">
                <a:solidFill>
                  <a:srgbClr val="FF0000"/>
                </a:solidFill>
              </a:rPr>
              <a:t>5, 5, 1</a:t>
            </a:r>
            <a:r>
              <a:rPr lang="en-US" altLang="en-US" sz="2400" dirty="0"/>
              <a:t>}, {</a:t>
            </a:r>
            <a:r>
              <a:rPr lang="en-US" altLang="en-US" sz="2400" dirty="0">
                <a:solidFill>
                  <a:srgbClr val="FF0000"/>
                </a:solidFill>
              </a:rPr>
              <a:t>5, 1, 1, 1, 1, 1, 1</a:t>
            </a:r>
            <a:r>
              <a:rPr lang="en-US" altLang="en-US" sz="2400" dirty="0"/>
              <a:t>},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		{</a:t>
            </a:r>
            <a:r>
              <a:rPr lang="en-US" altLang="en-US" sz="2400" dirty="0">
                <a:solidFill>
                  <a:srgbClr val="FF0000"/>
                </a:solidFill>
              </a:rPr>
              <a:t>1, 1, 1, 1, 1, 1, 1, 1, 1, 1, 1</a:t>
            </a:r>
            <a:r>
              <a:rPr lang="en-US" altLang="en-US" sz="2400" dirty="0"/>
              <a:t>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400F26-EBC1-4C5E-A3E3-DB620F1B97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A4FDF-182E-4C58-B77E-6593642A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0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Minimum Number of Coins: American Money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Widely used American coins are 1, 5, 10 and 25 cents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50 cent and 1 dollar coins are less often used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Important properties: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We have 1 cent coin, so we can represent any integer value </a:t>
            </a:r>
            <a:r>
              <a:rPr lang="en-US" altLang="en-US" sz="2400" i="1" dirty="0"/>
              <a:t>v</a:t>
            </a:r>
            <a:r>
              <a:rPr lang="en-US" altLang="en-US" sz="2400" dirty="0"/>
              <a:t> &gt; 0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Each successive coin is worth at least 2 times the prior coin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Consequence: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We can use a </a:t>
            </a:r>
            <a:r>
              <a:rPr lang="en-US" altLang="en-US" sz="2400" i="1" dirty="0">
                <a:solidFill>
                  <a:srgbClr val="FF0000"/>
                </a:solidFill>
              </a:rPr>
              <a:t>greedy algorithm</a:t>
            </a:r>
            <a:r>
              <a:rPr lang="en-US" altLang="en-US" sz="2400" dirty="0"/>
              <a:t> to find any </a:t>
            </a:r>
            <a:r>
              <a:rPr lang="en-US" altLang="en-US" sz="2400" i="1" dirty="0"/>
              <a:t>v</a:t>
            </a:r>
            <a:r>
              <a:rPr lang="en-US" altLang="en-US" sz="2400" dirty="0"/>
              <a:t> &gt; 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FCB5E-EF5C-4309-AE2E-F54883A38B54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3EC09-4B5B-4C1F-8968-E8E50788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8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Greedy Algorithms in Forty Words or Less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 </a:t>
            </a:r>
            <a:r>
              <a:rPr lang="en-US" altLang="en-US" sz="2800" i="1" dirty="0">
                <a:solidFill>
                  <a:srgbClr val="FF0000"/>
                </a:solidFill>
              </a:rPr>
              <a:t>greedy algorithm</a:t>
            </a:r>
            <a:r>
              <a:rPr lang="en-US" altLang="en-US" sz="2800" dirty="0"/>
              <a:t> makes a </a:t>
            </a:r>
            <a:r>
              <a:rPr lang="en-US" altLang="en-US" sz="2800" i="1" dirty="0"/>
              <a:t>locally optimal</a:t>
            </a:r>
            <a:r>
              <a:rPr lang="en-US" altLang="en-US" sz="2800" dirty="0"/>
              <a:t> decision </a:t>
            </a:r>
            <a:r>
              <a:rPr lang="en-US" altLang="en-US" sz="2800" i="1" dirty="0"/>
              <a:t>without regard</a:t>
            </a:r>
            <a:r>
              <a:rPr lang="en-US" altLang="en-US" sz="2800" dirty="0"/>
              <a:t> for whether a better decision might have been made later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Fast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Often produces a "good enough" solution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i="1" dirty="0"/>
              <a:t>Not</a:t>
            </a:r>
            <a:r>
              <a:rPr lang="en-US" altLang="en-US" sz="2000" dirty="0"/>
              <a:t> guaranteed to produce a globally optimal solution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The properties of American coins make a greedy algorithm </a:t>
            </a:r>
            <a:r>
              <a:rPr lang="en-US" altLang="en-US" sz="2800" i="1" dirty="0"/>
              <a:t>globally optimal</a:t>
            </a:r>
            <a:r>
              <a:rPr lang="en-US" altLang="en-US" sz="2800" dirty="0"/>
              <a:t> for minimum number of coins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8A7988-E4DD-4D71-948C-DA1CB1D20951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C71AD-CD91-4194-B279-1F7B272F4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1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Minimum Number of Coins: American Money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Fine: greedy_num_coins.py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min_coins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(v):</a:t>
            </a:r>
            <a:endParaRPr lang="en-US" altLang="en-US" sz="2000" i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 = 0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c in [25, 10, 5, 1]: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v // c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 +=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v -= c *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ret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print("7:  ",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min_coins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(7), "coins")    # 3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print("63: ",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min_coins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(63), "coins")   # 6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print("117:",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min_coins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(117), "coins")  # 8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2251B5-1CB8-4ED2-9BB3-49CA1594FE21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B1CF3-6B7E-4C1B-A0EE-BFE6F617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Minimum Number of Coins: </a:t>
            </a:r>
            <a:r>
              <a:rPr lang="en-US" altLang="en-US" dirty="0" err="1"/>
              <a:t>UnAmerican</a:t>
            </a:r>
            <a:r>
              <a:rPr lang="en-US" altLang="en-US" dirty="0"/>
              <a:t> Money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By Executive Order: new 18 cent coin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min_coins_un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(v):</a:t>
            </a:r>
            <a:endParaRPr lang="en-US" altLang="en-US" sz="2000" i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 = 0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c in [25,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18,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10, 5, 1]: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v // c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 +=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v -= c *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ret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print("54:",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min_coins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(54), "coins")   # 6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400" i="1" dirty="0"/>
              <a:t>Wrong!</a:t>
            </a:r>
            <a:r>
              <a:rPr lang="en-US" altLang="en-US" sz="2400" dirty="0"/>
              <a:t>  </a:t>
            </a:r>
            <a:r>
              <a:rPr lang="en-US" altLang="en-US" sz="2400" dirty="0">
                <a:solidFill>
                  <a:srgbClr val="FF0000"/>
                </a:solidFill>
              </a:rPr>
              <a:t>3</a:t>
            </a:r>
            <a:r>
              <a:rPr lang="en-US" altLang="en-US" sz="2400" dirty="0"/>
              <a:t> * 18 is 54, so just </a:t>
            </a:r>
            <a:r>
              <a:rPr lang="en-US" altLang="en-US" sz="2400" dirty="0">
                <a:solidFill>
                  <a:srgbClr val="FF0000"/>
                </a:solidFill>
              </a:rPr>
              <a:t>3</a:t>
            </a:r>
            <a:r>
              <a:rPr lang="en-US" altLang="en-US" sz="2400" dirty="0"/>
              <a:t> coins needed</a:t>
            </a: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330824-B205-44C1-892B-71779A197AEB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7F2B2-37E6-4FD9-AD32-F949E2900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05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Recursive Formulation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i="1" dirty="0"/>
              <a:t>C</a:t>
            </a:r>
            <a:r>
              <a:rPr lang="en-US" altLang="en-US" sz="2800" dirty="0"/>
              <a:t> is the list of coin values: [</a:t>
            </a:r>
            <a:r>
              <a:rPr lang="en-US" altLang="en-US" sz="2800" i="1" dirty="0"/>
              <a:t>c</a:t>
            </a:r>
            <a:r>
              <a:rPr lang="en-US" altLang="en-US" sz="2800" i="1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i="1" dirty="0" err="1"/>
              <a:t>c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], </a:t>
            </a:r>
            <a:r>
              <a:rPr lang="en-US" altLang="en-US" sz="2800" i="1" dirty="0">
                <a:solidFill>
                  <a:srgbClr val="FF0000"/>
                </a:solidFill>
              </a:rPr>
              <a:t>c</a:t>
            </a:r>
            <a:r>
              <a:rPr lang="en-US" altLang="en-US" sz="2800" i="1" baseline="-25000" dirty="0">
                <a:solidFill>
                  <a:srgbClr val="FF0000"/>
                </a:solidFill>
              </a:rPr>
              <a:t>k</a:t>
            </a:r>
            <a:r>
              <a:rPr lang="en-US" altLang="en-US" sz="2800" dirty="0">
                <a:solidFill>
                  <a:srgbClr val="FF0000"/>
                </a:solidFill>
              </a:rPr>
              <a:t>&lt;</a:t>
            </a:r>
            <a:r>
              <a:rPr lang="en-US" altLang="en-US" sz="2800" i="1" dirty="0">
                <a:solidFill>
                  <a:srgbClr val="FF0000"/>
                </a:solidFill>
              </a:rPr>
              <a:t>c</a:t>
            </a:r>
            <a:r>
              <a:rPr lang="en-US" altLang="en-US" sz="2800" i="1" baseline="-25000" dirty="0">
                <a:solidFill>
                  <a:srgbClr val="FF0000"/>
                </a:solidFill>
              </a:rPr>
              <a:t>k+1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For some value </a:t>
            </a:r>
            <a:r>
              <a:rPr lang="en-US" altLang="en-US" sz="2800" i="1" dirty="0"/>
              <a:t>v</a:t>
            </a:r>
            <a:r>
              <a:rPr lang="en-US" altLang="en-US" sz="2800" dirty="0"/>
              <a:t> &gt; 0, find:</a:t>
            </a:r>
          </a:p>
          <a:p>
            <a:pPr eaLnBrk="1" hangingPunct="1">
              <a:spcBef>
                <a:spcPts val="0"/>
              </a:spcBef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min { # of coins from [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,…,</a:t>
            </a:r>
            <a:r>
              <a:rPr lang="en-US" altLang="en-US" sz="2400" i="1" dirty="0" err="1"/>
              <a:t>c</a:t>
            </a:r>
            <a:r>
              <a:rPr lang="en-US" altLang="en-US" sz="2400" i="1" baseline="-25000" dirty="0" err="1"/>
              <a:t>n</a:t>
            </a:r>
            <a:r>
              <a:rPr lang="en-US" altLang="en-US" sz="2400" dirty="0"/>
              <a:t>] to equal </a:t>
            </a:r>
            <a:r>
              <a:rPr lang="en-US" altLang="en-US" sz="2400" i="1" dirty="0"/>
              <a:t>v </a:t>
            </a:r>
            <a:r>
              <a:rPr lang="en-US" altLang="en-US" sz="2400" dirty="0"/>
              <a:t>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=	</a:t>
            </a:r>
            <a:r>
              <a:rPr lang="en-US" altLang="en-US" sz="2400" dirty="0">
                <a:solidFill>
                  <a:srgbClr val="0070C0"/>
                </a:solidFill>
              </a:rPr>
              <a:t>1+min { # coins from [</a:t>
            </a:r>
            <a:r>
              <a:rPr lang="en-US" altLang="en-US" sz="2400" i="1" dirty="0">
                <a:solidFill>
                  <a:srgbClr val="0070C0"/>
                </a:solidFill>
              </a:rPr>
              <a:t>c</a:t>
            </a:r>
            <a:r>
              <a:rPr lang="en-US" altLang="en-US" sz="2400" i="1" baseline="-25000" dirty="0">
                <a:solidFill>
                  <a:srgbClr val="0070C0"/>
                </a:solidFill>
              </a:rPr>
              <a:t>1</a:t>
            </a:r>
            <a:r>
              <a:rPr lang="en-US" altLang="en-US" sz="2400" dirty="0">
                <a:solidFill>
                  <a:srgbClr val="0070C0"/>
                </a:solidFill>
              </a:rPr>
              <a:t>,…,</a:t>
            </a:r>
            <a:r>
              <a:rPr lang="en-US" altLang="en-US" sz="2400" i="1" dirty="0" err="1">
                <a:solidFill>
                  <a:srgbClr val="0070C0"/>
                </a:solidFill>
              </a:rPr>
              <a:t>c</a:t>
            </a:r>
            <a:r>
              <a:rPr lang="en-US" altLang="en-US" sz="2400" i="1" baseline="-25000" dirty="0" err="1">
                <a:solidFill>
                  <a:srgbClr val="0070C0"/>
                </a:solidFill>
              </a:rPr>
              <a:t>n</a:t>
            </a:r>
            <a:r>
              <a:rPr lang="en-US" altLang="en-US" sz="2400" dirty="0">
                <a:solidFill>
                  <a:srgbClr val="0070C0"/>
                </a:solidFill>
              </a:rPr>
              <a:t>] to equal </a:t>
            </a:r>
            <a:r>
              <a:rPr lang="en-US" altLang="en-US" sz="2400" i="1" dirty="0">
                <a:solidFill>
                  <a:srgbClr val="0070C0"/>
                </a:solidFill>
              </a:rPr>
              <a:t>v-</a:t>
            </a:r>
            <a:r>
              <a:rPr lang="en-US" altLang="en-US" sz="2400" i="1" dirty="0" err="1">
                <a:solidFill>
                  <a:srgbClr val="0070C0"/>
                </a:solidFill>
              </a:rPr>
              <a:t>c</a:t>
            </a:r>
            <a:r>
              <a:rPr lang="en-US" altLang="en-US" sz="2400" i="1" baseline="-25000" dirty="0" err="1">
                <a:solidFill>
                  <a:srgbClr val="0070C0"/>
                </a:solidFill>
              </a:rPr>
              <a:t>n</a:t>
            </a:r>
            <a:r>
              <a:rPr lang="en-US" altLang="en-US" sz="2400" dirty="0">
                <a:solidFill>
                  <a:srgbClr val="0070C0"/>
                </a:solidFill>
              </a:rPr>
              <a:t>},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				if </a:t>
            </a:r>
            <a:r>
              <a:rPr lang="en-US" altLang="en-US" sz="2400" i="1" dirty="0">
                <a:solidFill>
                  <a:srgbClr val="0070C0"/>
                </a:solidFill>
              </a:rPr>
              <a:t>v</a:t>
            </a:r>
            <a:r>
              <a:rPr lang="en-US" altLang="en-US" sz="2400" dirty="0">
                <a:solidFill>
                  <a:srgbClr val="0070C0"/>
                </a:solidFill>
              </a:rPr>
              <a:t>-</a:t>
            </a:r>
            <a:r>
              <a:rPr lang="en-US" altLang="en-US" sz="2400" i="1" dirty="0" err="1">
                <a:solidFill>
                  <a:srgbClr val="0070C0"/>
                </a:solidFill>
              </a:rPr>
              <a:t>c</a:t>
            </a:r>
            <a:r>
              <a:rPr lang="en-US" altLang="en-US" sz="2400" i="1" baseline="-25000" dirty="0" err="1">
                <a:solidFill>
                  <a:srgbClr val="0070C0"/>
                </a:solidFill>
              </a:rPr>
              <a:t>n</a:t>
            </a:r>
            <a:r>
              <a:rPr lang="en-US" altLang="en-US" sz="2400" dirty="0">
                <a:solidFill>
                  <a:srgbClr val="0070C0"/>
                </a:solidFill>
              </a:rPr>
              <a:t> &gt; 0,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	1,			if </a:t>
            </a:r>
            <a:r>
              <a:rPr lang="en-US" altLang="en-US" sz="2400" i="1" dirty="0">
                <a:solidFill>
                  <a:srgbClr val="FF0000"/>
                </a:solidFill>
              </a:rPr>
              <a:t>v</a:t>
            </a:r>
            <a:r>
              <a:rPr lang="en-US" altLang="en-US" sz="2400" dirty="0">
                <a:solidFill>
                  <a:srgbClr val="FF0000"/>
                </a:solidFill>
              </a:rPr>
              <a:t>-</a:t>
            </a:r>
            <a:r>
              <a:rPr lang="en-US" altLang="en-US" sz="2400" i="1" dirty="0" err="1">
                <a:solidFill>
                  <a:srgbClr val="FF0000"/>
                </a:solidFill>
              </a:rPr>
              <a:t>c</a:t>
            </a:r>
            <a:r>
              <a:rPr lang="en-US" altLang="en-US" sz="2400" i="1" baseline="-25000" dirty="0" err="1">
                <a:solidFill>
                  <a:srgbClr val="FF0000"/>
                </a:solidFill>
              </a:rPr>
              <a:t>n</a:t>
            </a:r>
            <a:r>
              <a:rPr lang="en-US" altLang="en-US" sz="2400" dirty="0">
                <a:solidFill>
                  <a:srgbClr val="FF0000"/>
                </a:solidFill>
              </a:rPr>
              <a:t> == 0,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	</a:t>
            </a:r>
            <a:r>
              <a:rPr lang="en-US" altLang="en-US" sz="2400" dirty="0">
                <a:solidFill>
                  <a:srgbClr val="00B050"/>
                </a:solidFill>
              </a:rPr>
              <a:t>min { # coins from [</a:t>
            </a:r>
            <a:r>
              <a:rPr lang="en-US" altLang="en-US" sz="2400" i="1" dirty="0">
                <a:solidFill>
                  <a:srgbClr val="00B050"/>
                </a:solidFill>
              </a:rPr>
              <a:t>c</a:t>
            </a:r>
            <a:r>
              <a:rPr lang="en-US" altLang="en-US" sz="2400" i="1" baseline="-25000" dirty="0">
                <a:solidFill>
                  <a:srgbClr val="00B050"/>
                </a:solidFill>
              </a:rPr>
              <a:t>1</a:t>
            </a:r>
            <a:r>
              <a:rPr lang="en-US" altLang="en-US" sz="2400" dirty="0">
                <a:solidFill>
                  <a:srgbClr val="00B050"/>
                </a:solidFill>
              </a:rPr>
              <a:t>,…,</a:t>
            </a:r>
            <a:r>
              <a:rPr lang="en-US" altLang="en-US" sz="2400" i="1" dirty="0">
                <a:solidFill>
                  <a:srgbClr val="00B050"/>
                </a:solidFill>
              </a:rPr>
              <a:t>c</a:t>
            </a:r>
            <a:r>
              <a:rPr lang="en-US" altLang="en-US" sz="2400" i="1" baseline="-25000" dirty="0">
                <a:solidFill>
                  <a:srgbClr val="00B050"/>
                </a:solidFill>
              </a:rPr>
              <a:t>n-1</a:t>
            </a:r>
            <a:r>
              <a:rPr lang="en-US" altLang="en-US" sz="2400" dirty="0">
                <a:solidFill>
                  <a:srgbClr val="00B050"/>
                </a:solidFill>
              </a:rPr>
              <a:t>] to equal </a:t>
            </a:r>
            <a:r>
              <a:rPr lang="en-US" altLang="en-US" sz="2400" i="1" dirty="0">
                <a:solidFill>
                  <a:srgbClr val="00B050"/>
                </a:solidFill>
              </a:rPr>
              <a:t>v</a:t>
            </a:r>
            <a:r>
              <a:rPr lang="en-US" altLang="en-US" sz="2400" dirty="0">
                <a:solidFill>
                  <a:srgbClr val="00B050"/>
                </a:solidFill>
              </a:rPr>
              <a:t>},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50"/>
                </a:solidFill>
              </a:rPr>
              <a:t>				if </a:t>
            </a:r>
            <a:r>
              <a:rPr lang="en-US" altLang="en-US" sz="2400" i="1" dirty="0">
                <a:solidFill>
                  <a:srgbClr val="00B050"/>
                </a:solidFill>
              </a:rPr>
              <a:t>v</a:t>
            </a:r>
            <a:r>
              <a:rPr lang="en-US" altLang="en-US" sz="2400" dirty="0">
                <a:solidFill>
                  <a:srgbClr val="00B050"/>
                </a:solidFill>
              </a:rPr>
              <a:t>-</a:t>
            </a:r>
            <a:r>
              <a:rPr lang="en-US" altLang="en-US" sz="2400" i="1" dirty="0" err="1">
                <a:solidFill>
                  <a:srgbClr val="00B050"/>
                </a:solidFill>
              </a:rPr>
              <a:t>c</a:t>
            </a:r>
            <a:r>
              <a:rPr lang="en-US" altLang="en-US" sz="2400" i="1" baseline="-25000" dirty="0" err="1">
                <a:solidFill>
                  <a:srgbClr val="00B050"/>
                </a:solidFill>
              </a:rPr>
              <a:t>n</a:t>
            </a:r>
            <a:r>
              <a:rPr lang="en-US" altLang="en-US" sz="2400" dirty="0">
                <a:solidFill>
                  <a:srgbClr val="00B050"/>
                </a:solidFill>
              </a:rPr>
              <a:t> &lt; 0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8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Set # coins to </a:t>
            </a:r>
            <a:r>
              <a:rPr lang="en-US" altLang="en-US" sz="2800" dirty="0">
                <a:solidFill>
                  <a:srgbClr val="7030A0"/>
                </a:solidFill>
              </a:rPr>
              <a:t>v+1</a:t>
            </a:r>
            <a:r>
              <a:rPr lang="en-US" altLang="en-US" sz="2800" dirty="0"/>
              <a:t> if change cannot be made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E.g., if </a:t>
            </a:r>
            <a:r>
              <a:rPr lang="en-US" altLang="en-US" sz="2400" i="1" dirty="0"/>
              <a:t>v</a:t>
            </a:r>
            <a:r>
              <a:rPr lang="en-US" altLang="en-US" sz="2400" dirty="0"/>
              <a:t> &lt;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1</a:t>
            </a: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275490-AA47-436F-BA42-51020FFC271F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3DB38-0C6A-4E4E-A120-06008630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29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Memoization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Possible </a:t>
            </a:r>
            <a:r>
              <a:rPr lang="en-US" altLang="en-US" sz="2400" dirty="0" err="1"/>
              <a:t>memoization</a:t>
            </a:r>
            <a:r>
              <a:rPr lang="en-US" altLang="en-US" sz="2400" dirty="0"/>
              <a:t>: array </a:t>
            </a:r>
            <a:r>
              <a:rPr lang="en-US" altLang="en-US" sz="2400" b="1" dirty="0"/>
              <a:t>A</a:t>
            </a:r>
            <a:r>
              <a:rPr lang="en-US" altLang="en-US" sz="2400" dirty="0"/>
              <a:t> of </a:t>
            </a:r>
            <a:r>
              <a:rPr lang="en-US" altLang="en-US" sz="2400" i="1" dirty="0"/>
              <a:t>ascending values for v</a:t>
            </a:r>
            <a:r>
              <a:rPr lang="en-US" altLang="en-US" sz="2400" dirty="0"/>
              <a:t> starting from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1200" dirty="0"/>
          </a:p>
          <a:p>
            <a:pPr lvl="1" eaLnBrk="1" hangingPunct="1">
              <a:spcBef>
                <a:spcPts val="0"/>
              </a:spcBef>
            </a:pPr>
            <a:endParaRPr lang="en-US" altLang="en-US" sz="24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600" b="1" dirty="0"/>
              <a:t>A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endParaRPr lang="en-US" altLang="en-US" sz="12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5E97C3-441E-47E9-A652-2A48102852A4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AD0BB-F262-4477-9851-81D3701D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77279850-D8DA-4AF2-9AC4-B922F3050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159686"/>
              </p:ext>
            </p:extLst>
          </p:nvPr>
        </p:nvGraphicFramePr>
        <p:xfrm>
          <a:off x="2057400" y="2915920"/>
          <a:ext cx="5580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312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Programming Bottom-Up 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Initialize each cell to </a:t>
            </a:r>
            <a:r>
              <a:rPr lang="en-US" altLang="en-US" sz="2400" i="1" dirty="0"/>
              <a:t>v</a:t>
            </a:r>
            <a:r>
              <a:rPr lang="en-US" altLang="en-US" sz="2400" dirty="0"/>
              <a:t>+1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No coin has yet been considered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1600" dirty="0"/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600" b="1" dirty="0"/>
              <a:t>A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For each </a:t>
            </a:r>
            <a:r>
              <a:rPr lang="en-US" altLang="en-US" sz="2400" i="1" dirty="0"/>
              <a:t>coin</a:t>
            </a:r>
            <a:r>
              <a:rPr lang="en-US" altLang="en-US" sz="2400" dirty="0"/>
              <a:t>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 in C = [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,…,</a:t>
            </a:r>
            <a:r>
              <a:rPr lang="en-US" altLang="en-US" sz="2400" i="1" dirty="0" err="1"/>
              <a:t>c</a:t>
            </a:r>
            <a:r>
              <a:rPr lang="en-US" altLang="en-US" sz="2400" i="1" baseline="-25000" dirty="0" err="1"/>
              <a:t>n</a:t>
            </a:r>
            <a:r>
              <a:rPr lang="en-US" altLang="en-US" sz="2400" dirty="0"/>
              <a:t>]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If </a:t>
            </a:r>
            <a:r>
              <a:rPr lang="en-US" altLang="en-US" sz="2000" i="1" dirty="0">
                <a:solidFill>
                  <a:srgbClr val="FF0000"/>
                </a:solidFill>
              </a:rPr>
              <a:t>c</a:t>
            </a:r>
            <a:r>
              <a:rPr lang="en-US" altLang="en-US" sz="2000" i="1" baseline="-25000" dirty="0">
                <a:solidFill>
                  <a:srgbClr val="FF0000"/>
                </a:solidFill>
              </a:rPr>
              <a:t>i</a:t>
            </a:r>
            <a:r>
              <a:rPr lang="en-US" altLang="en-US" sz="2000" dirty="0">
                <a:solidFill>
                  <a:srgbClr val="FF0000"/>
                </a:solidFill>
              </a:rPr>
              <a:t> &lt;= v</a:t>
            </a:r>
            <a:r>
              <a:rPr lang="en-US" altLang="en-US" sz="2000" dirty="0"/>
              <a:t>, set </a:t>
            </a:r>
            <a:r>
              <a:rPr lang="en-US" altLang="en-US" sz="2000" b="1" dirty="0"/>
              <a:t>A</a:t>
            </a:r>
            <a:r>
              <a:rPr lang="en-US" altLang="en-US" sz="2000" dirty="0"/>
              <a:t>[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] = 1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For </a:t>
            </a:r>
            <a:r>
              <a:rPr lang="en-US" altLang="en-US" sz="2000" i="1" dirty="0"/>
              <a:t>j</a:t>
            </a:r>
            <a:r>
              <a:rPr lang="en-US" altLang="en-US" sz="2000" dirty="0"/>
              <a:t> from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to </a:t>
            </a:r>
            <a:r>
              <a:rPr lang="en-US" altLang="en-US" sz="2000" i="1" dirty="0"/>
              <a:t>v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800" dirty="0"/>
              <a:t>Set </a:t>
            </a:r>
            <a:r>
              <a:rPr lang="en-US" altLang="en-US" sz="1800" b="1" dirty="0"/>
              <a:t>A</a:t>
            </a:r>
            <a:r>
              <a:rPr lang="en-US" altLang="en-US" sz="1800" dirty="0"/>
              <a:t>[</a:t>
            </a:r>
            <a:r>
              <a:rPr lang="en-US" altLang="en-US" sz="1800" i="1" dirty="0"/>
              <a:t>j</a:t>
            </a:r>
            <a:r>
              <a:rPr lang="en-US" altLang="en-US" sz="1800" dirty="0"/>
              <a:t>] = min{ </a:t>
            </a:r>
            <a:r>
              <a:rPr lang="en-US" altLang="en-US" sz="1800" b="1" dirty="0"/>
              <a:t>A</a:t>
            </a:r>
            <a:r>
              <a:rPr lang="en-US" altLang="en-US" sz="1800" dirty="0"/>
              <a:t>[</a:t>
            </a:r>
            <a:r>
              <a:rPr lang="en-US" altLang="en-US" sz="1800" i="1" dirty="0"/>
              <a:t>j</a:t>
            </a:r>
            <a:r>
              <a:rPr lang="en-US" altLang="en-US" sz="1800" dirty="0"/>
              <a:t>], 1 + </a:t>
            </a:r>
            <a:r>
              <a:rPr lang="en-US" altLang="en-US" sz="1800" b="1" dirty="0"/>
              <a:t>A</a:t>
            </a:r>
            <a:r>
              <a:rPr lang="en-US" altLang="en-US" sz="1800" dirty="0"/>
              <a:t>[</a:t>
            </a:r>
            <a:r>
              <a:rPr lang="en-US" altLang="en-US" sz="1800" i="1" dirty="0"/>
              <a:t>j</a:t>
            </a:r>
            <a:r>
              <a:rPr lang="en-US" altLang="en-US" sz="1800" dirty="0"/>
              <a:t> - </a:t>
            </a:r>
            <a:r>
              <a:rPr lang="en-US" altLang="en-US" sz="1800" i="1" dirty="0"/>
              <a:t>c</a:t>
            </a:r>
            <a:r>
              <a:rPr lang="en-US" altLang="en-US" sz="1800" i="1" baseline="-25000" dirty="0"/>
              <a:t>i</a:t>
            </a:r>
            <a:r>
              <a:rPr lang="en-US" altLang="en-US" sz="1800" dirty="0"/>
              <a:t>] }</a:t>
            </a:r>
            <a:endParaRPr lang="en-US" altLang="en-US" sz="1800" i="1" dirty="0"/>
          </a:p>
          <a:p>
            <a:pPr eaLnBrk="1" hangingPunct="1">
              <a:spcBef>
                <a:spcPts val="0"/>
              </a:spcBef>
            </a:pPr>
            <a:endParaRPr lang="en-US" altLang="en-US" sz="10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Minimum # of coins for </a:t>
            </a:r>
            <a:r>
              <a:rPr lang="en-US" altLang="en-US" sz="2400" i="1" dirty="0"/>
              <a:t>v</a:t>
            </a:r>
            <a:r>
              <a:rPr lang="en-US" altLang="en-US" sz="2400" dirty="0"/>
              <a:t> will be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b="1" dirty="0">
                <a:solidFill>
                  <a:srgbClr val="FF0000"/>
                </a:solidFill>
              </a:rPr>
              <a:t>A</a:t>
            </a:r>
            <a:r>
              <a:rPr lang="en-US" altLang="en-US" sz="2000" dirty="0">
                <a:solidFill>
                  <a:srgbClr val="FF0000"/>
                </a:solidFill>
              </a:rPr>
              <a:t>[</a:t>
            </a:r>
            <a:r>
              <a:rPr lang="en-US" altLang="en-US" sz="2000" i="1" dirty="0">
                <a:solidFill>
                  <a:srgbClr val="FF0000"/>
                </a:solidFill>
              </a:rPr>
              <a:t>v</a:t>
            </a:r>
            <a:r>
              <a:rPr lang="en-US" altLang="en-US" sz="2000" dirty="0">
                <a:solidFill>
                  <a:srgbClr val="FF0000"/>
                </a:solidFill>
              </a:rPr>
              <a:t>]</a:t>
            </a:r>
            <a:r>
              <a:rPr lang="en-US" altLang="en-US" sz="2000" dirty="0"/>
              <a:t>, if </a:t>
            </a:r>
            <a:r>
              <a:rPr lang="en-US" altLang="en-US" sz="2000" b="1" dirty="0"/>
              <a:t>A</a:t>
            </a:r>
            <a:r>
              <a:rPr lang="en-US" altLang="en-US" sz="2000" dirty="0"/>
              <a:t>[</a:t>
            </a:r>
            <a:r>
              <a:rPr lang="en-US" altLang="en-US" sz="2000" i="1" dirty="0"/>
              <a:t>v</a:t>
            </a:r>
            <a:r>
              <a:rPr lang="en-US" altLang="en-US" sz="2000" dirty="0"/>
              <a:t>] &lt; </a:t>
            </a:r>
            <a:r>
              <a:rPr lang="en-US" altLang="en-US" sz="2000" i="1" dirty="0"/>
              <a:t>v</a:t>
            </a:r>
            <a:r>
              <a:rPr lang="en-US" altLang="en-US" sz="2000" dirty="0"/>
              <a:t>+1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-1</a:t>
            </a:r>
            <a:r>
              <a:rPr lang="en-US" altLang="en-US" sz="2000" dirty="0"/>
              <a:t> otherwise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5E97C3-441E-47E9-A652-2A48102852A4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AD0BB-F262-4477-9851-81D3701D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77279850-D8DA-4AF2-9AC4-B922F3050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474022"/>
              </p:ext>
            </p:extLst>
          </p:nvPr>
        </p:nvGraphicFramePr>
        <p:xfrm>
          <a:off x="2057400" y="2819400"/>
          <a:ext cx="5580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200" b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200" b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200" b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200" b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200" b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200" b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200" b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200" b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200" b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200" b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530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Minimum Number of Coins Example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Given: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i="1" dirty="0"/>
              <a:t>v </a:t>
            </a:r>
            <a:r>
              <a:rPr lang="en-US" altLang="en-US" sz="2000" dirty="0"/>
              <a:t>= 10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C = [2, 3, 6]</a:t>
            </a:r>
          </a:p>
          <a:p>
            <a:pPr eaLnBrk="1" hangingPunct="1">
              <a:spcBef>
                <a:spcPts val="0"/>
              </a:spcBef>
            </a:pPr>
            <a:endParaRPr lang="en-US" altLang="en-US" sz="1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Create and initialize </a:t>
            </a:r>
            <a:r>
              <a:rPr lang="en-US" altLang="en-US" sz="2400" b="1" dirty="0"/>
              <a:t>A</a:t>
            </a:r>
            <a:r>
              <a:rPr lang="en-US" altLang="en-US" sz="2400" dirty="0"/>
              <a:t>: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14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/>
              <a:t>     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7397B056-6201-4E46-9959-2D44EDA9D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253426"/>
              </p:ext>
            </p:extLst>
          </p:nvPr>
        </p:nvGraphicFramePr>
        <p:xfrm>
          <a:off x="2057400" y="3754120"/>
          <a:ext cx="5580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082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Minimum Number of Coins Example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Given: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i="1" dirty="0"/>
              <a:t>v </a:t>
            </a:r>
            <a:r>
              <a:rPr lang="en-US" altLang="en-US" sz="2000" dirty="0"/>
              <a:t>= 10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C = [2, 3, 6]</a:t>
            </a:r>
          </a:p>
          <a:p>
            <a:pPr eaLnBrk="1" hangingPunct="1">
              <a:spcBef>
                <a:spcPts val="0"/>
              </a:spcBef>
            </a:pPr>
            <a:endParaRPr lang="en-US" altLang="en-US" sz="1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i="1" dirty="0"/>
              <a:t>c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 == </a:t>
            </a:r>
            <a:r>
              <a:rPr lang="en-US" altLang="en-US" sz="2400" dirty="0">
                <a:solidFill>
                  <a:srgbClr val="00B050"/>
                </a:solidFill>
              </a:rPr>
              <a:t>2</a:t>
            </a:r>
            <a:r>
              <a:rPr lang="en-US" altLang="en-US" sz="2400" dirty="0"/>
              <a:t>, A[</a:t>
            </a:r>
            <a:r>
              <a:rPr lang="en-US" altLang="en-US" sz="2400" dirty="0">
                <a:solidFill>
                  <a:srgbClr val="00B050"/>
                </a:solidFill>
              </a:rPr>
              <a:t>2</a:t>
            </a:r>
            <a:r>
              <a:rPr lang="en-US" altLang="en-US" sz="2400" dirty="0"/>
              <a:t>] == 1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For j from </a:t>
            </a:r>
            <a:r>
              <a:rPr lang="en-US" altLang="en-US" sz="2400" dirty="0">
                <a:solidFill>
                  <a:srgbClr val="00B050"/>
                </a:solidFill>
              </a:rPr>
              <a:t>3</a:t>
            </a:r>
            <a:r>
              <a:rPr lang="en-US" altLang="en-US" sz="2400" dirty="0"/>
              <a:t> to 10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b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] = min{ </a:t>
            </a:r>
            <a:r>
              <a:rPr lang="en-US" altLang="en-US" sz="2400" b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], 1 + </a:t>
            </a:r>
            <a:r>
              <a:rPr lang="en-US" altLang="en-US" sz="2400" b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 - </a:t>
            </a:r>
            <a:r>
              <a:rPr lang="en-US" altLang="en-US" sz="2400" dirty="0">
                <a:solidFill>
                  <a:srgbClr val="00B050"/>
                </a:solidFill>
                <a:ea typeface="+mn-ea"/>
                <a:cs typeface="+mn-cs"/>
              </a:rPr>
              <a:t>2</a:t>
            </a:r>
            <a:r>
              <a:rPr lang="en-US" altLang="en-US" sz="2400" dirty="0"/>
              <a:t>] }</a:t>
            </a:r>
            <a:endParaRPr lang="en-US" altLang="en-US" sz="2400" i="1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new </a:t>
            </a:r>
            <a:r>
              <a:rPr lang="en-US" altLang="en-US" sz="2000" b="1" dirty="0"/>
              <a:t>A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old </a:t>
            </a:r>
            <a:r>
              <a:rPr lang="en-US" altLang="en-US" sz="2000" b="1" dirty="0"/>
              <a:t>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7397B056-6201-4E46-9959-2D44EDA9D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623662"/>
              </p:ext>
            </p:extLst>
          </p:nvPr>
        </p:nvGraphicFramePr>
        <p:xfrm>
          <a:off x="2057400" y="4648200"/>
          <a:ext cx="5580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B2D0F4C8-D3E5-471A-83FD-24DA612DF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513778"/>
              </p:ext>
            </p:extLst>
          </p:nvPr>
        </p:nvGraphicFramePr>
        <p:xfrm>
          <a:off x="2057400" y="5376161"/>
          <a:ext cx="5580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531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Minimum Number of Coins Example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Given: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i="1" dirty="0"/>
              <a:t>v </a:t>
            </a:r>
            <a:r>
              <a:rPr lang="en-US" altLang="en-US" sz="2000" dirty="0"/>
              <a:t>= 10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C = [2, 3, 6]</a:t>
            </a:r>
          </a:p>
          <a:p>
            <a:pPr eaLnBrk="1" hangingPunct="1">
              <a:spcBef>
                <a:spcPts val="0"/>
              </a:spcBef>
            </a:pPr>
            <a:endParaRPr lang="en-US" altLang="en-US" sz="1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i="1" dirty="0"/>
              <a:t>c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 == </a:t>
            </a:r>
            <a:r>
              <a:rPr lang="en-US" altLang="en-US" sz="2400" dirty="0">
                <a:solidFill>
                  <a:srgbClr val="00B050"/>
                </a:solidFill>
              </a:rPr>
              <a:t>3</a:t>
            </a:r>
            <a:r>
              <a:rPr lang="en-US" altLang="en-US" sz="2400" dirty="0"/>
              <a:t>, A[</a:t>
            </a:r>
            <a:r>
              <a:rPr lang="en-US" altLang="en-US" sz="2400" dirty="0">
                <a:solidFill>
                  <a:srgbClr val="00B050"/>
                </a:solidFill>
              </a:rPr>
              <a:t>3</a:t>
            </a:r>
            <a:r>
              <a:rPr lang="en-US" altLang="en-US" sz="2400" dirty="0"/>
              <a:t>] == 1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For j from </a:t>
            </a:r>
            <a:r>
              <a:rPr lang="en-US" altLang="en-US" sz="2400" dirty="0">
                <a:solidFill>
                  <a:srgbClr val="00B050"/>
                </a:solidFill>
              </a:rPr>
              <a:t>4</a:t>
            </a:r>
            <a:r>
              <a:rPr lang="en-US" altLang="en-US" sz="2400" dirty="0"/>
              <a:t> to 10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b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] = min{ </a:t>
            </a:r>
            <a:r>
              <a:rPr lang="en-US" altLang="en-US" sz="2400" b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], 1 + </a:t>
            </a:r>
            <a:r>
              <a:rPr lang="en-US" altLang="en-US" sz="2400" b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 - </a:t>
            </a:r>
            <a:r>
              <a:rPr lang="en-US" altLang="en-US" sz="2400" dirty="0">
                <a:solidFill>
                  <a:srgbClr val="00B050"/>
                </a:solidFill>
                <a:ea typeface="+mn-ea"/>
                <a:cs typeface="+mn-cs"/>
              </a:rPr>
              <a:t>3</a:t>
            </a:r>
            <a:r>
              <a:rPr lang="en-US" altLang="en-US" sz="2400" dirty="0"/>
              <a:t>] }</a:t>
            </a:r>
            <a:endParaRPr lang="en-US" altLang="en-US" sz="2400" i="1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new </a:t>
            </a:r>
            <a:r>
              <a:rPr lang="en-US" altLang="en-US" sz="2000" b="1" dirty="0"/>
              <a:t>A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old </a:t>
            </a:r>
            <a:r>
              <a:rPr lang="en-US" altLang="en-US" sz="2000" b="1" dirty="0"/>
              <a:t>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7397B056-6201-4E46-9959-2D44EDA9D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478033"/>
              </p:ext>
            </p:extLst>
          </p:nvPr>
        </p:nvGraphicFramePr>
        <p:xfrm>
          <a:off x="2057400" y="4648200"/>
          <a:ext cx="5580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B2D0F4C8-D3E5-471A-83FD-24DA612DF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52752"/>
              </p:ext>
            </p:extLst>
          </p:nvPr>
        </p:nvGraphicFramePr>
        <p:xfrm>
          <a:off x="2057400" y="5376161"/>
          <a:ext cx="5580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149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Minimum Number of Coins Example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Given: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i="1" dirty="0"/>
              <a:t>v </a:t>
            </a:r>
            <a:r>
              <a:rPr lang="en-US" altLang="en-US" sz="2000" dirty="0"/>
              <a:t>= 10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C = [2, 3, 6]</a:t>
            </a:r>
          </a:p>
          <a:p>
            <a:pPr eaLnBrk="1" hangingPunct="1">
              <a:spcBef>
                <a:spcPts val="0"/>
              </a:spcBef>
            </a:pPr>
            <a:endParaRPr lang="en-US" altLang="en-US" sz="1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i="1" dirty="0"/>
              <a:t>c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 == </a:t>
            </a:r>
            <a:r>
              <a:rPr lang="en-US" altLang="en-US" sz="2400" dirty="0">
                <a:solidFill>
                  <a:srgbClr val="00B050"/>
                </a:solidFill>
              </a:rPr>
              <a:t>6</a:t>
            </a:r>
            <a:r>
              <a:rPr lang="en-US" altLang="en-US" sz="2400" dirty="0"/>
              <a:t>, A[</a:t>
            </a:r>
            <a:r>
              <a:rPr lang="en-US" altLang="en-US" sz="2400" dirty="0">
                <a:solidFill>
                  <a:srgbClr val="00B050"/>
                </a:solidFill>
              </a:rPr>
              <a:t>6</a:t>
            </a:r>
            <a:r>
              <a:rPr lang="en-US" altLang="en-US" sz="2400" dirty="0"/>
              <a:t>] == 1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For j from </a:t>
            </a:r>
            <a:r>
              <a:rPr lang="en-US" altLang="en-US" sz="2400" dirty="0">
                <a:solidFill>
                  <a:srgbClr val="00B050"/>
                </a:solidFill>
              </a:rPr>
              <a:t>7</a:t>
            </a:r>
            <a:r>
              <a:rPr lang="en-US" altLang="en-US" sz="2400" dirty="0"/>
              <a:t> to 10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b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] = min{ </a:t>
            </a:r>
            <a:r>
              <a:rPr lang="en-US" altLang="en-US" sz="2400" b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], 1 + </a:t>
            </a:r>
            <a:r>
              <a:rPr lang="en-US" altLang="en-US" sz="2400" b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j</a:t>
            </a:r>
            <a:r>
              <a:rPr lang="en-US" altLang="en-US" sz="2400" dirty="0"/>
              <a:t> - </a:t>
            </a:r>
            <a:r>
              <a:rPr lang="en-US" altLang="en-US" sz="2400" dirty="0">
                <a:solidFill>
                  <a:srgbClr val="00B050"/>
                </a:solidFill>
                <a:ea typeface="+mn-ea"/>
                <a:cs typeface="+mn-cs"/>
              </a:rPr>
              <a:t>6</a:t>
            </a:r>
            <a:r>
              <a:rPr lang="en-US" altLang="en-US" sz="2400" dirty="0"/>
              <a:t>] }</a:t>
            </a:r>
            <a:endParaRPr lang="en-US" altLang="en-US" sz="2400" i="1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new </a:t>
            </a:r>
            <a:r>
              <a:rPr lang="en-US" altLang="en-US" sz="2000" b="1" dirty="0"/>
              <a:t>A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old </a:t>
            </a:r>
            <a:r>
              <a:rPr lang="en-US" altLang="en-US" sz="2000" b="1" dirty="0"/>
              <a:t>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7397B056-6201-4E46-9959-2D44EDA9D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662279"/>
              </p:ext>
            </p:extLst>
          </p:nvPr>
        </p:nvGraphicFramePr>
        <p:xfrm>
          <a:off x="2057400" y="4648200"/>
          <a:ext cx="5580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B2D0F4C8-D3E5-471A-83FD-24DA612DF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350195"/>
              </p:ext>
            </p:extLst>
          </p:nvPr>
        </p:nvGraphicFramePr>
        <p:xfrm>
          <a:off x="2057400" y="5376161"/>
          <a:ext cx="5580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kern="120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0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D7724401-5C0D-45BA-B085-0258D2B7E8D3}"/>
              </a:ext>
            </a:extLst>
          </p:cNvPr>
          <p:cNvSpPr/>
          <p:nvPr/>
        </p:nvSpPr>
        <p:spPr bwMode="auto">
          <a:xfrm>
            <a:off x="7162800" y="4953000"/>
            <a:ext cx="457200" cy="45720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863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Combinations of Coins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Given a collection of coins with integer </a:t>
            </a:r>
            <a:r>
              <a:rPr lang="en-US" altLang="en-US" sz="2800" dirty="0" err="1"/>
              <a:t>denominaitons</a:t>
            </a:r>
            <a:r>
              <a:rPr lang="en-US" altLang="en-US" sz="2800" dirty="0"/>
              <a:t> &gt; 0:</a:t>
            </a:r>
            <a:endParaRPr lang="en-US" altLang="en-US" sz="24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400" dirty="0"/>
              <a:t>     </a:t>
            </a:r>
            <a:r>
              <a:rPr lang="en-US" altLang="en-US" sz="2400" i="1" dirty="0"/>
              <a:t>C</a:t>
            </a:r>
            <a:r>
              <a:rPr lang="en-US" altLang="en-US" sz="2400" dirty="0"/>
              <a:t> = [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,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2</a:t>
            </a:r>
            <a:r>
              <a:rPr lang="en-US" altLang="en-US" sz="2400" dirty="0"/>
              <a:t>, …, </a:t>
            </a:r>
            <a:r>
              <a:rPr lang="en-US" altLang="en-US" sz="2400" i="1" dirty="0" err="1"/>
              <a:t>c</a:t>
            </a:r>
            <a:r>
              <a:rPr lang="en-US" altLang="en-US" sz="2400" i="1" baseline="-25000" dirty="0" err="1"/>
              <a:t>n</a:t>
            </a:r>
            <a:r>
              <a:rPr lang="en-US" altLang="en-US" sz="2400" dirty="0"/>
              <a:t>],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</a:t>
            </a:r>
            <a:r>
              <a:rPr lang="en-US" altLang="en-US" sz="2400" dirty="0"/>
              <a:t> !=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k+1</a:t>
            </a:r>
            <a:endParaRPr lang="en-US" altLang="en-US" sz="2000" i="1" baseline="-250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An arbitrary number of each coin is available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4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800" i="1" dirty="0">
                <a:solidFill>
                  <a:srgbClr val="00B050"/>
                </a:solidFill>
              </a:rPr>
              <a:t>How many combinations</a:t>
            </a:r>
            <a:r>
              <a:rPr lang="en-US" altLang="en-US" sz="2800" dirty="0">
                <a:solidFill>
                  <a:srgbClr val="00B050"/>
                </a:solidFill>
              </a:rPr>
              <a:t> </a:t>
            </a:r>
            <a:r>
              <a:rPr lang="en-US" altLang="en-US" sz="2800" dirty="0"/>
              <a:t>of coins can be used to make some value </a:t>
            </a:r>
            <a:r>
              <a:rPr lang="en-US" altLang="en-US" sz="2800" i="1" dirty="0"/>
              <a:t>v</a:t>
            </a:r>
            <a:r>
              <a:rPr lang="en-US" altLang="en-US" sz="2800" dirty="0"/>
              <a:t> &gt;= 0?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91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Combinations of Coins: Recursive Formulation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# of combinations of coins with value </a:t>
            </a:r>
            <a:r>
              <a:rPr lang="en-US" altLang="en-US" sz="2800" i="1" dirty="0"/>
              <a:t>v</a:t>
            </a:r>
            <a:r>
              <a:rPr lang="en-US" altLang="en-US" sz="2800" dirty="0"/>
              <a:t> is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             1 if v == 0: the empty set of coins, or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 </a:t>
            </a:r>
            <a:r>
              <a:rPr lang="en-US" altLang="en-US" sz="2000" dirty="0">
                <a:solidFill>
                  <a:srgbClr val="0070C0"/>
                </a:solidFill>
              </a:rPr>
              <a:t># of combinations with value </a:t>
            </a:r>
            <a:r>
              <a:rPr lang="en-US" altLang="en-US" sz="2000" i="1" dirty="0">
                <a:solidFill>
                  <a:srgbClr val="0070C0"/>
                </a:solidFill>
              </a:rPr>
              <a:t>v</a:t>
            </a:r>
            <a:r>
              <a:rPr lang="en-US" altLang="en-US" sz="2000" dirty="0">
                <a:solidFill>
                  <a:srgbClr val="0070C0"/>
                </a:solidFill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</a:rPr>
              <a:t>using</a:t>
            </a:r>
            <a:r>
              <a:rPr lang="en-US" altLang="en-US" sz="2000" dirty="0">
                <a:solidFill>
                  <a:srgbClr val="0070C0"/>
                </a:solidFill>
              </a:rPr>
              <a:t> coin </a:t>
            </a:r>
            <a:r>
              <a:rPr lang="en-US" altLang="en-US" sz="2000" i="1" dirty="0" err="1">
                <a:solidFill>
                  <a:srgbClr val="0070C0"/>
                </a:solidFill>
              </a:rPr>
              <a:t>c</a:t>
            </a:r>
            <a:r>
              <a:rPr lang="en-US" altLang="en-US" sz="2000" i="1" baseline="-25000" dirty="0" err="1">
                <a:solidFill>
                  <a:srgbClr val="0070C0"/>
                </a:solidFill>
              </a:rPr>
              <a:t>n</a:t>
            </a:r>
            <a:endParaRPr lang="en-US" altLang="en-US" sz="2000" i="1" baseline="-25000" dirty="0">
              <a:solidFill>
                <a:srgbClr val="0070C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</a:t>
            </a:r>
            <a:r>
              <a:rPr lang="en-US" altLang="en-US" sz="2000" dirty="0">
                <a:solidFill>
                  <a:srgbClr val="FF0000"/>
                </a:solidFill>
              </a:rPr>
              <a:t>+</a:t>
            </a:r>
            <a:r>
              <a:rPr lang="en-US" altLang="en-US" sz="2000" i="1" dirty="0">
                <a:solidFill>
                  <a:srgbClr val="FF0000"/>
                </a:solidFill>
              </a:rPr>
              <a:t>  </a:t>
            </a:r>
            <a:r>
              <a:rPr lang="en-US" altLang="en-US" sz="2000" dirty="0">
                <a:solidFill>
                  <a:srgbClr val="00B050"/>
                </a:solidFill>
              </a:rPr>
              <a:t># of combinations with value </a:t>
            </a:r>
            <a:r>
              <a:rPr lang="en-US" altLang="en-US" sz="2000" i="1" dirty="0">
                <a:solidFill>
                  <a:srgbClr val="00B050"/>
                </a:solidFill>
              </a:rPr>
              <a:t>v</a:t>
            </a:r>
            <a:r>
              <a:rPr lang="en-US" altLang="en-US" sz="2000" dirty="0">
                <a:solidFill>
                  <a:srgbClr val="00B050"/>
                </a:solidFill>
              </a:rPr>
              <a:t> </a:t>
            </a:r>
            <a:r>
              <a:rPr lang="en-US" altLang="en-US" sz="2000" i="1" dirty="0">
                <a:solidFill>
                  <a:srgbClr val="00B050"/>
                </a:solidFill>
              </a:rPr>
              <a:t>not</a:t>
            </a:r>
            <a:r>
              <a:rPr lang="en-US" altLang="en-US" sz="2000" dirty="0">
                <a:solidFill>
                  <a:srgbClr val="00B050"/>
                </a:solidFill>
              </a:rPr>
              <a:t> using coin </a:t>
            </a:r>
            <a:r>
              <a:rPr lang="en-US" altLang="en-US" sz="2000" i="1" dirty="0" err="1">
                <a:solidFill>
                  <a:srgbClr val="00B050"/>
                </a:solidFill>
              </a:rPr>
              <a:t>c</a:t>
            </a:r>
            <a:r>
              <a:rPr lang="en-US" altLang="en-US" sz="2000" i="1" baseline="-25000" dirty="0" err="1">
                <a:solidFill>
                  <a:srgbClr val="00B050"/>
                </a:solidFill>
              </a:rPr>
              <a:t>n</a:t>
            </a:r>
            <a:endParaRPr lang="en-US" altLang="en-US" sz="2000" i="1" baseline="-250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==        </a:t>
            </a:r>
            <a:r>
              <a:rPr lang="en-US" altLang="en-US" sz="2000" dirty="0">
                <a:solidFill>
                  <a:srgbClr val="0070C0"/>
                </a:solidFill>
              </a:rPr>
              <a:t>0 if </a:t>
            </a:r>
            <a:r>
              <a:rPr lang="en-US" altLang="en-US" sz="2000" i="1" dirty="0">
                <a:solidFill>
                  <a:srgbClr val="0070C0"/>
                </a:solidFill>
              </a:rPr>
              <a:t>v </a:t>
            </a:r>
            <a:r>
              <a:rPr lang="en-US" altLang="en-US" sz="2000" dirty="0">
                <a:solidFill>
                  <a:srgbClr val="0070C0"/>
                </a:solidFill>
              </a:rPr>
              <a:t>&lt;</a:t>
            </a:r>
            <a:r>
              <a:rPr lang="en-US" altLang="en-US" sz="2000" i="1" dirty="0">
                <a:solidFill>
                  <a:srgbClr val="0070C0"/>
                </a:solidFill>
              </a:rPr>
              <a:t> </a:t>
            </a:r>
            <a:r>
              <a:rPr lang="en-US" altLang="en-US" sz="2000" i="1" dirty="0" err="1">
                <a:solidFill>
                  <a:srgbClr val="0070C0"/>
                </a:solidFill>
              </a:rPr>
              <a:t>c</a:t>
            </a:r>
            <a:r>
              <a:rPr lang="en-US" altLang="en-US" sz="2000" i="1" baseline="-25000" dirty="0" err="1">
                <a:solidFill>
                  <a:srgbClr val="0070C0"/>
                </a:solidFill>
              </a:rPr>
              <a:t>n</a:t>
            </a:r>
            <a:r>
              <a:rPr lang="en-US" altLang="en-US" sz="2000" dirty="0">
                <a:solidFill>
                  <a:srgbClr val="0070C0"/>
                </a:solidFill>
              </a:rPr>
              <a:t> , or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             (# of combinations with value </a:t>
            </a:r>
            <a:r>
              <a:rPr lang="en-US" altLang="en-US" sz="2000" i="1" dirty="0">
                <a:solidFill>
                  <a:srgbClr val="0070C0"/>
                </a:solidFill>
              </a:rPr>
              <a:t>v - </a:t>
            </a:r>
            <a:r>
              <a:rPr lang="en-US" altLang="en-US" sz="2000" i="1" dirty="0" err="1">
                <a:solidFill>
                  <a:srgbClr val="0070C0"/>
                </a:solidFill>
              </a:rPr>
              <a:t>c</a:t>
            </a:r>
            <a:r>
              <a:rPr lang="en-US" altLang="en-US" sz="2000" i="1" baseline="-25000" dirty="0" err="1">
                <a:solidFill>
                  <a:srgbClr val="0070C0"/>
                </a:solidFill>
              </a:rPr>
              <a:t>n</a:t>
            </a:r>
            <a:r>
              <a:rPr lang="en-US" altLang="en-US" sz="2000" dirty="0">
                <a:solidFill>
                  <a:srgbClr val="0070C0"/>
                </a:solidFill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</a:rPr>
              <a:t>using</a:t>
            </a:r>
            <a:r>
              <a:rPr lang="en-US" altLang="en-US" sz="2000" dirty="0">
                <a:solidFill>
                  <a:srgbClr val="0070C0"/>
                </a:solidFill>
              </a:rPr>
              <a:t> coin </a:t>
            </a:r>
            <a:r>
              <a:rPr lang="en-US" altLang="en-US" sz="2000" i="1" dirty="0" err="1">
                <a:solidFill>
                  <a:srgbClr val="0070C0"/>
                </a:solidFill>
              </a:rPr>
              <a:t>c</a:t>
            </a:r>
            <a:r>
              <a:rPr lang="en-US" altLang="en-US" sz="2000" i="1" baseline="-25000" dirty="0" err="1">
                <a:solidFill>
                  <a:srgbClr val="0070C0"/>
                </a:solidFill>
              </a:rPr>
              <a:t>n</a:t>
            </a:r>
            <a:endParaRPr lang="en-US" altLang="en-US" sz="2000" i="1" baseline="-25000" dirty="0">
              <a:solidFill>
                <a:srgbClr val="0070C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        +    # of combinations with value </a:t>
            </a:r>
            <a:r>
              <a:rPr lang="en-US" altLang="en-US" sz="2000" i="1" dirty="0">
                <a:solidFill>
                  <a:srgbClr val="0070C0"/>
                </a:solidFill>
              </a:rPr>
              <a:t>v - </a:t>
            </a:r>
            <a:r>
              <a:rPr lang="en-US" altLang="en-US" sz="2000" i="1" dirty="0" err="1">
                <a:solidFill>
                  <a:srgbClr val="0070C0"/>
                </a:solidFill>
              </a:rPr>
              <a:t>c</a:t>
            </a:r>
            <a:r>
              <a:rPr lang="en-US" altLang="en-US" sz="2000" i="1" baseline="-25000" dirty="0" err="1">
                <a:solidFill>
                  <a:srgbClr val="0070C0"/>
                </a:solidFill>
              </a:rPr>
              <a:t>n</a:t>
            </a:r>
            <a:r>
              <a:rPr lang="en-US" altLang="en-US" sz="2000" dirty="0">
                <a:solidFill>
                  <a:srgbClr val="0070C0"/>
                </a:solidFill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</a:rPr>
              <a:t>not </a:t>
            </a:r>
            <a:r>
              <a:rPr lang="en-US" altLang="en-US" sz="2000" dirty="0">
                <a:solidFill>
                  <a:srgbClr val="0070C0"/>
                </a:solidFill>
              </a:rPr>
              <a:t>using coin </a:t>
            </a:r>
            <a:r>
              <a:rPr lang="en-US" altLang="en-US" sz="2000" i="1" dirty="0" err="1">
                <a:solidFill>
                  <a:srgbClr val="0070C0"/>
                </a:solidFill>
              </a:rPr>
              <a:t>c</a:t>
            </a:r>
            <a:r>
              <a:rPr lang="en-US" altLang="en-US" sz="2000" i="1" baseline="-25000" dirty="0" err="1">
                <a:solidFill>
                  <a:srgbClr val="0070C0"/>
                </a:solidFill>
              </a:rPr>
              <a:t>n</a:t>
            </a:r>
            <a:r>
              <a:rPr lang="en-US" altLang="en-US" sz="2000" dirty="0">
                <a:solidFill>
                  <a:srgbClr val="0070C0"/>
                </a:solidFill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</a:t>
            </a:r>
            <a:r>
              <a:rPr lang="en-US" altLang="en-US" sz="2000" dirty="0">
                <a:solidFill>
                  <a:srgbClr val="FF0000"/>
                </a:solidFill>
              </a:rPr>
              <a:t>+</a:t>
            </a:r>
            <a:r>
              <a:rPr lang="en-US" altLang="en-US" sz="2000" i="1" dirty="0">
                <a:solidFill>
                  <a:srgbClr val="FF0000"/>
                </a:solidFill>
              </a:rPr>
              <a:t>   </a:t>
            </a:r>
            <a:r>
              <a:rPr lang="en-US" altLang="en-US" sz="2000" dirty="0">
                <a:solidFill>
                  <a:srgbClr val="00B050"/>
                </a:solidFill>
              </a:rPr>
              <a:t>0 if there is no coin </a:t>
            </a:r>
            <a:r>
              <a:rPr lang="en-US" altLang="en-US" sz="2000" i="1" dirty="0">
                <a:solidFill>
                  <a:srgbClr val="00B050"/>
                </a:solidFill>
              </a:rPr>
              <a:t>c</a:t>
            </a:r>
            <a:r>
              <a:rPr lang="en-US" altLang="en-US" sz="2000" i="1" baseline="-25000" dirty="0">
                <a:solidFill>
                  <a:srgbClr val="00B050"/>
                </a:solidFill>
              </a:rPr>
              <a:t>n-1</a:t>
            </a:r>
            <a:r>
              <a:rPr lang="en-US" altLang="en-US" sz="2000" dirty="0">
                <a:solidFill>
                  <a:srgbClr val="00B050"/>
                </a:solidFill>
              </a:rPr>
              <a:t>, or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00B050"/>
                </a:solidFill>
              </a:rPr>
              <a:t>             (# of combinations with value </a:t>
            </a:r>
            <a:r>
              <a:rPr lang="en-US" altLang="en-US" sz="2000" i="1" dirty="0">
                <a:solidFill>
                  <a:srgbClr val="00B050"/>
                </a:solidFill>
              </a:rPr>
              <a:t>v</a:t>
            </a:r>
            <a:r>
              <a:rPr lang="en-US" altLang="en-US" sz="2000" dirty="0">
                <a:solidFill>
                  <a:srgbClr val="00B050"/>
                </a:solidFill>
              </a:rPr>
              <a:t> </a:t>
            </a:r>
            <a:r>
              <a:rPr lang="en-US" altLang="en-US" sz="2000" i="1" dirty="0">
                <a:solidFill>
                  <a:srgbClr val="00B050"/>
                </a:solidFill>
              </a:rPr>
              <a:t>using</a:t>
            </a:r>
            <a:r>
              <a:rPr lang="en-US" altLang="en-US" sz="2000" dirty="0">
                <a:solidFill>
                  <a:srgbClr val="00B050"/>
                </a:solidFill>
              </a:rPr>
              <a:t> coin </a:t>
            </a:r>
            <a:r>
              <a:rPr lang="en-US" altLang="en-US" sz="2000" i="1" dirty="0">
                <a:solidFill>
                  <a:srgbClr val="00B050"/>
                </a:solidFill>
              </a:rPr>
              <a:t>c</a:t>
            </a:r>
            <a:r>
              <a:rPr lang="en-US" altLang="en-US" sz="2000" i="1" baseline="-25000" dirty="0">
                <a:solidFill>
                  <a:srgbClr val="00B050"/>
                </a:solidFill>
              </a:rPr>
              <a:t>n-1</a:t>
            </a:r>
            <a:endParaRPr lang="en-US" altLang="en-US" sz="2000" i="1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00B050"/>
                </a:solidFill>
              </a:rPr>
              <a:t>        </a:t>
            </a:r>
            <a:r>
              <a:rPr lang="en-US" altLang="en-US" sz="2000" dirty="0">
                <a:solidFill>
                  <a:srgbClr val="00B050"/>
                </a:solidFill>
              </a:rPr>
              <a:t>+</a:t>
            </a:r>
            <a:r>
              <a:rPr lang="en-US" altLang="en-US" sz="2000" i="1" dirty="0">
                <a:solidFill>
                  <a:srgbClr val="00B050"/>
                </a:solidFill>
              </a:rPr>
              <a:t>   </a:t>
            </a:r>
            <a:r>
              <a:rPr lang="en-US" altLang="en-US" sz="2000" dirty="0">
                <a:solidFill>
                  <a:srgbClr val="00B050"/>
                </a:solidFill>
              </a:rPr>
              <a:t># of combinations with value </a:t>
            </a:r>
            <a:r>
              <a:rPr lang="en-US" altLang="en-US" sz="2000" i="1" dirty="0">
                <a:solidFill>
                  <a:srgbClr val="00B050"/>
                </a:solidFill>
              </a:rPr>
              <a:t>v</a:t>
            </a:r>
            <a:r>
              <a:rPr lang="en-US" altLang="en-US" sz="2000" dirty="0">
                <a:solidFill>
                  <a:srgbClr val="00B050"/>
                </a:solidFill>
              </a:rPr>
              <a:t> </a:t>
            </a:r>
            <a:r>
              <a:rPr lang="en-US" altLang="en-US" sz="2000" i="1" dirty="0">
                <a:solidFill>
                  <a:srgbClr val="00B050"/>
                </a:solidFill>
              </a:rPr>
              <a:t>not </a:t>
            </a:r>
            <a:r>
              <a:rPr lang="en-US" altLang="en-US" sz="2000" dirty="0">
                <a:solidFill>
                  <a:srgbClr val="00B050"/>
                </a:solidFill>
              </a:rPr>
              <a:t>using coin </a:t>
            </a:r>
            <a:r>
              <a:rPr lang="en-US" altLang="en-US" sz="2000" i="1" dirty="0">
                <a:solidFill>
                  <a:srgbClr val="00B050"/>
                </a:solidFill>
              </a:rPr>
              <a:t>c</a:t>
            </a:r>
            <a:r>
              <a:rPr lang="en-US" altLang="en-US" sz="2000" i="1" baseline="-25000" dirty="0">
                <a:solidFill>
                  <a:srgbClr val="00B050"/>
                </a:solidFill>
              </a:rPr>
              <a:t>n-1</a:t>
            </a:r>
            <a:r>
              <a:rPr lang="en-US" altLang="en-US" sz="2000" dirty="0">
                <a:solidFill>
                  <a:srgbClr val="00B050"/>
                </a:solidFill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>
              <a:solidFill>
                <a:srgbClr val="00B05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93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Combinations of Coins: Recursive Formulation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Brute force recursive solution is exponential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Possible </a:t>
            </a:r>
            <a:r>
              <a:rPr lang="en-US" altLang="en-US" sz="2400" dirty="0" err="1"/>
              <a:t>memoization</a:t>
            </a:r>
            <a:r>
              <a:rPr lang="en-US" altLang="en-US" sz="2400" dirty="0"/>
              <a:t>: array of </a:t>
            </a:r>
            <a:r>
              <a:rPr lang="en-US" altLang="en-US" sz="2400" i="1" dirty="0"/>
              <a:t>ascending values for v</a:t>
            </a:r>
            <a:r>
              <a:rPr lang="en-US" altLang="en-US" sz="2400" dirty="0"/>
              <a:t> vs. </a:t>
            </a:r>
            <a:r>
              <a:rPr lang="en-US" altLang="en-US" sz="2400" i="1" dirty="0"/>
              <a:t>next coin to consider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i="1" dirty="0">
              <a:solidFill>
                <a:srgbClr val="FF0000"/>
              </a:solidFill>
            </a:endParaRP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5E97C3-441E-47E9-A652-2A48102852A4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AD0BB-F262-4477-9851-81D3701D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9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Combinations of Coins Dynamic Programming 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Columns: ascending values of </a:t>
            </a:r>
            <a:r>
              <a:rPr lang="en-US" altLang="en-US" sz="2000" i="1" dirty="0"/>
              <a:t>v </a:t>
            </a:r>
            <a:r>
              <a:rPr lang="en-US" altLang="en-US" sz="2000" dirty="0">
                <a:solidFill>
                  <a:srgbClr val="FF0000"/>
                </a:solidFill>
              </a:rPr>
              <a:t>(max 10)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Rows: next coin to be considered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Cells: # combinations of coins to reach value </a:t>
            </a:r>
            <a:r>
              <a:rPr lang="en-US" altLang="en-US" sz="2000" i="1" dirty="0"/>
              <a:t>v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Easy to fill in for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 == 2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600" dirty="0">
                <a:solidFill>
                  <a:srgbClr val="FF0000"/>
                </a:solidFill>
              </a:rPr>
              <a:t>1</a:t>
            </a:r>
            <a:r>
              <a:rPr lang="en-US" altLang="en-US" sz="1600" dirty="0"/>
              <a:t> ways to produce </a:t>
            </a:r>
            <a:r>
              <a:rPr lang="en-US" altLang="en-US" sz="1600" i="1" dirty="0"/>
              <a:t>v</a:t>
            </a:r>
            <a:r>
              <a:rPr lang="en-US" altLang="en-US" sz="1600" dirty="0"/>
              <a:t> == 0, </a:t>
            </a:r>
            <a:r>
              <a:rPr lang="en-US" altLang="en-US" sz="1600" dirty="0">
                <a:solidFill>
                  <a:srgbClr val="FF0000"/>
                </a:solidFill>
              </a:rPr>
              <a:t>0</a:t>
            </a:r>
            <a:r>
              <a:rPr lang="en-US" altLang="en-US" sz="1600" dirty="0"/>
              <a:t> ways for </a:t>
            </a:r>
            <a:r>
              <a:rPr lang="en-US" altLang="en-US" sz="1600" i="1" dirty="0"/>
              <a:t>v</a:t>
            </a:r>
            <a:r>
              <a:rPr lang="en-US" altLang="en-US" sz="1600" dirty="0"/>
              <a:t> == 1, </a:t>
            </a:r>
            <a:r>
              <a:rPr lang="en-US" altLang="en-US" sz="1600" dirty="0">
                <a:solidFill>
                  <a:srgbClr val="FF0000"/>
                </a:solidFill>
              </a:rPr>
              <a:t>1</a:t>
            </a:r>
            <a:r>
              <a:rPr lang="en-US" altLang="en-US" sz="1600" dirty="0"/>
              <a:t> way for </a:t>
            </a:r>
            <a:r>
              <a:rPr lang="en-US" altLang="en-US" sz="1600" i="1" dirty="0"/>
              <a:t>v</a:t>
            </a:r>
            <a:r>
              <a:rPr lang="en-US" altLang="en-US" sz="1600" dirty="0"/>
              <a:t> == 2, etc.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6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Coins: [2, 3, 6]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2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3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6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020069"/>
              </p:ext>
            </p:extLst>
          </p:nvPr>
        </p:nvGraphicFramePr>
        <p:xfrm>
          <a:off x="2514600" y="3810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61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Combination of Coins Dynamic Programming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== 3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0: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(the empty set of coins)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1: </a:t>
            </a:r>
            <a:r>
              <a:rPr lang="en-US" altLang="en-US" sz="2000" dirty="0">
                <a:solidFill>
                  <a:srgbClr val="FF0000"/>
                </a:solidFill>
              </a:rPr>
              <a:t>0</a:t>
            </a:r>
            <a:r>
              <a:rPr lang="en-US" altLang="en-US" sz="2000" dirty="0"/>
              <a:t> from A[1,1], since 1 -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&lt; 0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2: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from A[1,2], since 2 -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&lt;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1600" dirty="0"/>
          </a:p>
          <a:p>
            <a:pPr lvl="1" eaLnBrk="1" hangingPunct="1">
              <a:spcBef>
                <a:spcPts val="0"/>
              </a:spcBef>
            </a:pPr>
            <a:endParaRPr lang="en-US" altLang="en-US" sz="6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Coins: [2, 3, 6]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2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3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6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065976"/>
              </p:ext>
            </p:extLst>
          </p:nvPr>
        </p:nvGraphicFramePr>
        <p:xfrm>
          <a:off x="2514600" y="3810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21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Combination of Coins Dynamic Programming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== 3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3: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00FFFF"/>
                </a:highlight>
              </a:rPr>
              <a:t>A[2,0] + A[1,3]</a:t>
            </a:r>
            <a:r>
              <a:rPr lang="en-US" altLang="en-US" sz="2000" dirty="0"/>
              <a:t>, since 3 -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== 0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4: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FFFF00"/>
                </a:highlight>
              </a:rPr>
              <a:t>A[2,1] + A[1,4]</a:t>
            </a:r>
            <a:r>
              <a:rPr lang="en-US" altLang="en-US" sz="2000" dirty="0"/>
              <a:t>, since 4 -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&gt; 0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5: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00FF00"/>
                </a:highlight>
              </a:rPr>
              <a:t>A[2,2] + A[1,5]</a:t>
            </a:r>
            <a:r>
              <a:rPr lang="en-US" altLang="en-US" sz="2000" dirty="0"/>
              <a:t>, since 5 -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&gt;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1600" dirty="0"/>
          </a:p>
          <a:p>
            <a:pPr lvl="1" eaLnBrk="1" hangingPunct="1">
              <a:spcBef>
                <a:spcPts val="0"/>
              </a:spcBef>
            </a:pPr>
            <a:endParaRPr lang="en-US" altLang="en-US" sz="6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Coins: [2, 3, 6]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2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3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6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789228"/>
              </p:ext>
            </p:extLst>
          </p:nvPr>
        </p:nvGraphicFramePr>
        <p:xfrm>
          <a:off x="2514600" y="3810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92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Combination of Coins Dynamic Programming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== 3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6: </a:t>
            </a:r>
            <a:r>
              <a:rPr lang="en-US" altLang="en-US" sz="2000" dirty="0">
                <a:solidFill>
                  <a:srgbClr val="FF0000"/>
                </a:solidFill>
              </a:rPr>
              <a:t>2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00FFFF"/>
                </a:highlight>
              </a:rPr>
              <a:t>A[2,3] + A[1,6]</a:t>
            </a:r>
            <a:r>
              <a:rPr lang="en-US" altLang="en-US" sz="2000" dirty="0"/>
              <a:t>, since 6 -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&gt; 0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7: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FFFF00"/>
                </a:highlight>
              </a:rPr>
              <a:t>A[2,4] + A[1,7]</a:t>
            </a:r>
            <a:r>
              <a:rPr lang="en-US" altLang="en-US" sz="2000" dirty="0"/>
              <a:t>, since 7 -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&gt; 0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8: </a:t>
            </a:r>
            <a:r>
              <a:rPr lang="en-US" altLang="en-US" sz="2000" dirty="0">
                <a:solidFill>
                  <a:srgbClr val="FF0000"/>
                </a:solidFill>
              </a:rPr>
              <a:t>2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00FF00"/>
                </a:highlight>
              </a:rPr>
              <a:t>A[2,5] + A[1,8]</a:t>
            </a:r>
            <a:r>
              <a:rPr lang="en-US" altLang="en-US" sz="2000" dirty="0"/>
              <a:t>, since 8 -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&gt;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1600" dirty="0"/>
          </a:p>
          <a:p>
            <a:pPr lvl="1" eaLnBrk="1" hangingPunct="1">
              <a:spcBef>
                <a:spcPts val="0"/>
              </a:spcBef>
            </a:pPr>
            <a:endParaRPr lang="en-US" altLang="en-US" sz="6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Coins: [2, 3, 6]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2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3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6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750078"/>
              </p:ext>
            </p:extLst>
          </p:nvPr>
        </p:nvGraphicFramePr>
        <p:xfrm>
          <a:off x="2514600" y="3810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50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Combination of Coins Dynamic Programming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== 3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9: </a:t>
            </a:r>
            <a:r>
              <a:rPr lang="en-US" altLang="en-US" sz="2000" dirty="0">
                <a:solidFill>
                  <a:srgbClr val="FF0000"/>
                </a:solidFill>
              </a:rPr>
              <a:t>2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00FFFF"/>
                </a:highlight>
              </a:rPr>
              <a:t>A[2,6] + A[1,9]</a:t>
            </a:r>
            <a:r>
              <a:rPr lang="en-US" altLang="en-US" sz="2000" dirty="0"/>
              <a:t>, since 9 -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&gt; 0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10: </a:t>
            </a:r>
            <a:r>
              <a:rPr lang="en-US" altLang="en-US" sz="2000" dirty="0">
                <a:solidFill>
                  <a:srgbClr val="FF0000"/>
                </a:solidFill>
              </a:rPr>
              <a:t>2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FFFF00"/>
                </a:highlight>
              </a:rPr>
              <a:t>A[2,7] + A[1,10]</a:t>
            </a:r>
            <a:r>
              <a:rPr lang="en-US" altLang="en-US" sz="2000" dirty="0"/>
              <a:t>, since 10 -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&gt; 0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1600" dirty="0"/>
          </a:p>
          <a:p>
            <a:pPr lvl="1" eaLnBrk="1" hangingPunct="1">
              <a:spcBef>
                <a:spcPts val="0"/>
              </a:spcBef>
            </a:pPr>
            <a:endParaRPr lang="en-US" altLang="en-US" sz="6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Coins: [2, 3, 6]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2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3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6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7B051D-BF6B-4C53-9338-79AB9B80E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154498"/>
              </p:ext>
            </p:extLst>
          </p:nvPr>
        </p:nvGraphicFramePr>
        <p:xfrm>
          <a:off x="2514600" y="3810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65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Combination of Coins Dynamic Programming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== 6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0: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(the empty set of coins)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1: </a:t>
            </a:r>
            <a:r>
              <a:rPr lang="en-US" altLang="en-US" sz="2000" dirty="0">
                <a:solidFill>
                  <a:srgbClr val="FF0000"/>
                </a:solidFill>
              </a:rPr>
              <a:t>0</a:t>
            </a:r>
            <a:r>
              <a:rPr lang="en-US" altLang="en-US" sz="2000" dirty="0"/>
              <a:t> from A[2,1], since 1 -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&lt; 0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2: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from A[2,2], since 2 -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&lt; 0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3: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from A[2,3], since 3 -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&lt;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Coins: [2, 3, 6]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2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3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6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DE4DAD8E-E155-4C54-A5B0-D1B446333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324441"/>
              </p:ext>
            </p:extLst>
          </p:nvPr>
        </p:nvGraphicFramePr>
        <p:xfrm>
          <a:off x="2514600" y="3810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336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Combination of Coins Dynamic Programming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== 6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4: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from A[2,4], since 4 -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&lt; 0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5: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from A[2,5], since 5 -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&lt; 0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6: </a:t>
            </a:r>
            <a:r>
              <a:rPr lang="en-US" altLang="en-US" sz="2000" dirty="0">
                <a:solidFill>
                  <a:srgbClr val="FF0000"/>
                </a:solidFill>
              </a:rPr>
              <a:t>3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FFFF00"/>
                </a:highlight>
              </a:rPr>
              <a:t>A[2,6] + A[3,0]</a:t>
            </a:r>
            <a:r>
              <a:rPr lang="en-US" altLang="en-US" sz="2000" dirty="0"/>
              <a:t>, since 6 -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== 0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7: 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00FFFF"/>
                </a:highlight>
              </a:rPr>
              <a:t>A[2,7] + A[3,1]</a:t>
            </a:r>
            <a:r>
              <a:rPr lang="en-US" altLang="en-US" sz="2000" dirty="0"/>
              <a:t>, since 7 -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&gt; 0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Coins: [2, 3, 6]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2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3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6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DE4DAD8E-E155-4C54-A5B0-D1B446333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216623"/>
              </p:ext>
            </p:extLst>
          </p:nvPr>
        </p:nvGraphicFramePr>
        <p:xfrm>
          <a:off x="2514600" y="3810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baseline="0" dirty="0">
                        <a:ln w="12700" cmpd="sng"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229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Combination of Coins Dynamic Programming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For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== 6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8: </a:t>
            </a:r>
            <a:r>
              <a:rPr lang="en-US" altLang="en-US" sz="2000" dirty="0">
                <a:solidFill>
                  <a:srgbClr val="FF0000"/>
                </a:solidFill>
              </a:rPr>
              <a:t>3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00FF00"/>
                </a:highlight>
              </a:rPr>
              <a:t>A[2,8] + A[3,2]</a:t>
            </a:r>
            <a:r>
              <a:rPr lang="en-US" altLang="en-US" sz="2000" dirty="0"/>
              <a:t>, since 8 -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&gt; 0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9: </a:t>
            </a:r>
            <a:r>
              <a:rPr lang="en-US" altLang="en-US" sz="2000" dirty="0">
                <a:solidFill>
                  <a:srgbClr val="FF0000"/>
                </a:solidFill>
              </a:rPr>
              <a:t>3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00FFFF"/>
                </a:highlight>
              </a:rPr>
              <a:t>A[2,9] + A[3,3]</a:t>
            </a:r>
            <a:r>
              <a:rPr lang="en-US" altLang="en-US" sz="2000" dirty="0"/>
              <a:t>, since 9 -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&gt; 0</a:t>
            </a:r>
            <a:endParaRPr lang="en-US" altLang="en-US" sz="2000" i="1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If </a:t>
            </a:r>
            <a:r>
              <a:rPr lang="en-US" altLang="en-US" sz="2000" i="1" dirty="0"/>
              <a:t>v</a:t>
            </a:r>
            <a:r>
              <a:rPr lang="en-US" altLang="en-US" sz="2000" dirty="0"/>
              <a:t> == 10: </a:t>
            </a:r>
            <a:r>
              <a:rPr lang="en-US" altLang="en-US" sz="2000" dirty="0">
                <a:solidFill>
                  <a:srgbClr val="FF0000"/>
                </a:solidFill>
              </a:rPr>
              <a:t>3</a:t>
            </a:r>
            <a:r>
              <a:rPr lang="en-US" altLang="en-US" sz="2000" dirty="0"/>
              <a:t> from </a:t>
            </a:r>
            <a:r>
              <a:rPr lang="en-US" altLang="en-US" sz="2000" dirty="0">
                <a:highlight>
                  <a:srgbClr val="FFFF00"/>
                </a:highlight>
              </a:rPr>
              <a:t>A[2,10] + A[3,4]</a:t>
            </a:r>
            <a:r>
              <a:rPr lang="en-US" altLang="en-US" sz="2000" dirty="0"/>
              <a:t>, since 10 - </a:t>
            </a:r>
            <a:r>
              <a:rPr lang="en-US" altLang="en-US" sz="2000" i="1" dirty="0"/>
              <a:t>c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&gt; 0</a:t>
            </a:r>
          </a:p>
          <a:p>
            <a:pPr eaLnBrk="1" hangingPunct="1">
              <a:spcBef>
                <a:spcPts val="0"/>
              </a:spcBef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b="1" dirty="0"/>
              <a:t>Coins: [2, 3, 6]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2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2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3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400" dirty="0"/>
              <a:t>               </a:t>
            </a:r>
            <a:r>
              <a:rPr lang="en-US" altLang="en-US" sz="1400" b="1" dirty="0"/>
              <a:t>6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DE4DAD8E-E155-4C54-A5B0-D1B446333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930209"/>
              </p:ext>
            </p:extLst>
          </p:nvPr>
        </p:nvGraphicFramePr>
        <p:xfrm>
          <a:off x="2514600" y="3810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89162848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0013082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038581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45559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41038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554152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81525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1583797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695176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91919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65445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6401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n w="12700" cmpd="sng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0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ln w="12700" cmpd="sng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 w="12700" cmpd="sng"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250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269453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52963</TotalTime>
  <Words>3582</Words>
  <Application>Microsoft Office PowerPoint</Application>
  <PresentationFormat>On-screen Show (4:3)</PresentationFormat>
  <Paragraphs>915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Courier New</vt:lpstr>
      <vt:lpstr>Tahoma</vt:lpstr>
      <vt:lpstr>Times New Roman</vt:lpstr>
      <vt:lpstr>Wingdings</vt:lpstr>
      <vt:lpstr>Blends</vt:lpstr>
      <vt:lpstr>MSCF Programming Prep 46-900</vt:lpstr>
      <vt:lpstr>Coin Change Problems</vt:lpstr>
      <vt:lpstr>Trivial Examples</vt:lpstr>
      <vt:lpstr>Minimum Number of Coins: American Money</vt:lpstr>
      <vt:lpstr>Greedy Algorithms in Forty Words or Less</vt:lpstr>
      <vt:lpstr>Minimum Number of Coins: American Money (cont.)</vt:lpstr>
      <vt:lpstr>Minimum Number of Coins: UnAmerican Money</vt:lpstr>
      <vt:lpstr>Recursive Formulation</vt:lpstr>
      <vt:lpstr>Memoization</vt:lpstr>
      <vt:lpstr>Dynamic Programming Bottom-Up Algorithm</vt:lpstr>
      <vt:lpstr>Minimum Number of Coins Example</vt:lpstr>
      <vt:lpstr>Minimum Number of Coins Example (cont.)</vt:lpstr>
      <vt:lpstr>Minimum Number of Coins Example (cont.)</vt:lpstr>
      <vt:lpstr>Minimum Number of Coins Example (cont.)</vt:lpstr>
      <vt:lpstr>Combinations of Coins</vt:lpstr>
      <vt:lpstr>Combinations of Coins: Recursive Formulation</vt:lpstr>
      <vt:lpstr>Combinations of Coins: Recursive Formulation (cont.)</vt:lpstr>
      <vt:lpstr>Combinations of Coins Dynamic Programming Algorithm</vt:lpstr>
      <vt:lpstr>Combination of Coins Dynamic Programming Algorithm (cont.)</vt:lpstr>
      <vt:lpstr>Combination of Coins Dynamic Programming Algorithm (cont.)</vt:lpstr>
      <vt:lpstr>Combination of Coins Dynamic Programming Algorithm (cont.)</vt:lpstr>
      <vt:lpstr>Combination of Coins Dynamic Programming Algorithm (cont.)</vt:lpstr>
      <vt:lpstr>Combination of Coins Dynamic Programming Algorithm (cont.)</vt:lpstr>
      <vt:lpstr>Combination of Coins Dynamic Programming Algorithm (cont.)</vt:lpstr>
      <vt:lpstr>Combination of Coins Dynamic Programming Algorithm (cont.)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871</cp:revision>
  <cp:lastPrinted>2020-08-19T18:07:39Z</cp:lastPrinted>
  <dcterms:created xsi:type="dcterms:W3CDTF">2003-08-31T19:53:38Z</dcterms:created>
  <dcterms:modified xsi:type="dcterms:W3CDTF">2021-08-08T19:53:18Z</dcterms:modified>
</cp:coreProperties>
</file>
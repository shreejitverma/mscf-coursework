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257" r:id="rId2"/>
    <p:sldId id="717" r:id="rId3"/>
    <p:sldId id="730" r:id="rId4"/>
    <p:sldId id="727" r:id="rId5"/>
    <p:sldId id="749" r:id="rId6"/>
    <p:sldId id="751" r:id="rId7"/>
    <p:sldId id="750" r:id="rId8"/>
    <p:sldId id="752" r:id="rId9"/>
    <p:sldId id="753" r:id="rId10"/>
    <p:sldId id="754" r:id="rId11"/>
    <p:sldId id="760" r:id="rId12"/>
    <p:sldId id="761" r:id="rId13"/>
    <p:sldId id="762" r:id="rId14"/>
    <p:sldId id="755" r:id="rId15"/>
    <p:sldId id="756" r:id="rId16"/>
    <p:sldId id="757" r:id="rId17"/>
    <p:sldId id="758" r:id="rId18"/>
    <p:sldId id="759" r:id="rId19"/>
    <p:sldId id="763" r:id="rId20"/>
    <p:sldId id="764" r:id="rId21"/>
    <p:sldId id="766" r:id="rId22"/>
    <p:sldId id="767" r:id="rId23"/>
    <p:sldId id="768" r:id="rId24"/>
    <p:sldId id="769" r:id="rId25"/>
    <p:sldId id="770" r:id="rId26"/>
    <p:sldId id="771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9917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5424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696523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23540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48214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60281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21428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57736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4464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85387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1835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278958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700076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856872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53457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57859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33644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22672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11189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16306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611369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3497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139418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97198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3ACD932-14B2-4E67-BE29-C3BAC9200558}" type="datetime1">
              <a:rPr lang="en-US" smtClean="0"/>
              <a:t>8/2/2021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EC9C3-785A-4BC9-896D-02F2D154AE02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12A4E-CABA-495F-A4A7-B646AAA7E215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C8249-D307-4465-BF30-46AE1CE176D1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27D5-5CB8-44E1-B8C7-50040436BF26}" type="datetime1">
              <a:rPr lang="en-US" smtClean="0"/>
              <a:t>8/2/2021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074FD-EAAF-4FCA-85B2-142A53B8B362}" type="datetime1">
              <a:rPr lang="en-US" smtClean="0"/>
              <a:t>8/2/2021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8367D-92D6-4290-BAB1-8D2C50B2811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AD929-A314-494A-B6A3-F0F55E4BAAE7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DFD5D-5BF8-4498-B49E-D8EB52C2154B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45C93-C394-4876-B234-D0B9C0035263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CDCD4-C58C-4C48-8E04-B9B38C24BAF5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9FB165C7-DDAD-4C27-83C5-F7075FED9CA7}" type="datetime1">
              <a:rPr lang="en-US" smtClean="0"/>
              <a:t>8/2/2021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3 Part 1: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Longest Common Subsequence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08393B-9AFD-4C24-BD71-58FEFECE2F6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Come up with a solution to your problem involving </a:t>
            </a:r>
            <a:r>
              <a:rPr lang="en-US" altLang="en-US" sz="2800" i="1" dirty="0">
                <a:solidFill>
                  <a:srgbClr val="FF0000"/>
                </a:solidFill>
              </a:rPr>
              <a:t>recursion</a:t>
            </a:r>
            <a:r>
              <a:rPr lang="en-US" altLang="en-US" sz="2800" dirty="0"/>
              <a:t> on simpler subproblems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Not clear which subproblem to solve first?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Methodically solve </a:t>
            </a:r>
            <a:r>
              <a:rPr lang="en-US" altLang="en-US" sz="2400" i="1" dirty="0">
                <a:solidFill>
                  <a:srgbClr val="FF0000"/>
                </a:solidFill>
              </a:rPr>
              <a:t>every subproblem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Pick the optimal solution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Add </a:t>
            </a:r>
            <a:r>
              <a:rPr lang="en-US" altLang="en-US" sz="2800" i="1" dirty="0" err="1">
                <a:solidFill>
                  <a:srgbClr val="FF0000"/>
                </a:solidFill>
              </a:rPr>
              <a:t>memoization</a:t>
            </a:r>
            <a:r>
              <a:rPr lang="en-US" altLang="en-US" sz="2800" dirty="0"/>
              <a:t> so that "recursion" becomes a lookup in a table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Converts an O(</a:t>
            </a:r>
            <a:r>
              <a:rPr lang="en-US" altLang="en-US" sz="2400" i="1" dirty="0"/>
              <a:t>exponential</a:t>
            </a:r>
            <a:r>
              <a:rPr lang="en-US" altLang="en-US" sz="2400" dirty="0"/>
              <a:t>) algorithm to an O(</a:t>
            </a:r>
            <a:r>
              <a:rPr lang="en-US" altLang="en-US" sz="2400" i="1" dirty="0"/>
              <a:t>polynomial</a:t>
            </a:r>
            <a:r>
              <a:rPr lang="en-US" altLang="en-US" sz="2400" dirty="0"/>
              <a:t>) algorithm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In the case of Fibonacci numbers, O(N)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Often O(N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or O(N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C70F94-1B47-46BB-B879-3C9695BD43BB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157492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Dynamic Programming problem typically involves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Maximizing</a:t>
            </a:r>
            <a:r>
              <a:rPr lang="en-US" altLang="en-US" sz="2400" dirty="0"/>
              <a:t> or </a:t>
            </a:r>
            <a:r>
              <a:rPr lang="en-US" altLang="en-US" sz="2400" i="1" dirty="0">
                <a:solidFill>
                  <a:srgbClr val="FF0000"/>
                </a:solidFill>
              </a:rPr>
              <a:t>minimizing</a:t>
            </a:r>
            <a:r>
              <a:rPr lang="en-US" altLang="en-US" sz="2400" dirty="0"/>
              <a:t> something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Revenue; cost; distance; fuel required, …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Making decisions</a:t>
            </a:r>
            <a:r>
              <a:rPr lang="en-US" altLang="en-US" sz="2400" dirty="0"/>
              <a:t> along the way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Turn left or right; buy, sell, hold, …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Must try </a:t>
            </a:r>
            <a:r>
              <a:rPr lang="en-US" altLang="en-US" sz="2000" i="1" dirty="0"/>
              <a:t>every</a:t>
            </a:r>
            <a:r>
              <a:rPr lang="en-US" altLang="en-US" sz="2000" dirty="0"/>
              <a:t> possible decision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104F72-3BE0-496B-A588-4384806C2D5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399809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Longest Common Subsequence (LCS)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How similar are two character sequences?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Words in a human language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Gene sequences in DNA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(Actually, what does "similar" mean?)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One measure: Longest Common Subsequence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Gaps between matches okay, </a:t>
            </a:r>
            <a:r>
              <a:rPr lang="en-US" altLang="en-US" sz="2200" i="1" dirty="0"/>
              <a:t>not</a:t>
            </a:r>
            <a:r>
              <a:rPr lang="en-US" altLang="en-US" sz="2200" dirty="0"/>
              <a:t> changes of order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G</a:t>
            </a:r>
            <a:r>
              <a:rPr lang="en-US" altLang="en-US" sz="2400" dirty="0">
                <a:solidFill>
                  <a:srgbClr val="FF0000"/>
                </a:solidFill>
              </a:rPr>
              <a:t>ATT</a:t>
            </a:r>
            <a:r>
              <a:rPr lang="en-US" altLang="en-US" sz="2400" dirty="0"/>
              <a:t>A</a:t>
            </a:r>
            <a:r>
              <a:rPr lang="en-US" altLang="en-US" sz="2400" dirty="0">
                <a:solidFill>
                  <a:srgbClr val="FF0000"/>
                </a:solidFill>
              </a:rPr>
              <a:t>C</a:t>
            </a:r>
            <a:r>
              <a:rPr lang="en-US" altLang="en-US" sz="2400" dirty="0"/>
              <a:t>A           </a:t>
            </a:r>
            <a:r>
              <a:rPr lang="en-US" altLang="en-US" sz="2400" dirty="0">
                <a:solidFill>
                  <a:srgbClr val="FF0000"/>
                </a:solidFill>
              </a:rPr>
              <a:t>ATTC</a:t>
            </a:r>
            <a:r>
              <a:rPr lang="en-US" altLang="en-US" sz="2400" dirty="0"/>
              <a:t> has length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</a:t>
            </a:r>
            <a:r>
              <a:rPr lang="en-US" altLang="en-US" sz="2400" dirty="0">
                <a:solidFill>
                  <a:srgbClr val="FF0000"/>
                </a:solidFill>
              </a:rPr>
              <a:t>A</a:t>
            </a:r>
            <a:r>
              <a:rPr lang="en-US" altLang="en-US" sz="2400" dirty="0"/>
              <a:t>C</a:t>
            </a:r>
            <a:r>
              <a:rPr lang="en-US" altLang="en-US" sz="2400" dirty="0">
                <a:solidFill>
                  <a:srgbClr val="FF0000"/>
                </a:solidFill>
              </a:rPr>
              <a:t>T</a:t>
            </a:r>
            <a:r>
              <a:rPr lang="en-US" altLang="en-US" sz="2400" dirty="0"/>
              <a:t>G</a:t>
            </a:r>
            <a:r>
              <a:rPr lang="en-US" altLang="en-US" sz="2400" dirty="0">
                <a:solidFill>
                  <a:srgbClr val="FF0000"/>
                </a:solidFill>
              </a:rPr>
              <a:t>TC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A8DE5-A557-457F-9DE5-7C15667E0DC0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Step 1: Find a recursive formula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What if each is just one character?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Hmm, not too interesting: LCS either 0 or 1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G    LCS: </a:t>
            </a:r>
            <a:r>
              <a:rPr lang="en-US" altLang="en-US" sz="2400" dirty="0">
                <a:solidFill>
                  <a:srgbClr val="FF0000"/>
                </a:solidFill>
              </a:rPr>
              <a:t>0		C</a:t>
            </a:r>
            <a:r>
              <a:rPr lang="en-US" altLang="en-US" sz="2400" dirty="0"/>
              <a:t>    LCS:</a:t>
            </a:r>
            <a:r>
              <a:rPr lang="en-US" altLang="en-US" sz="2400" dirty="0">
                <a:solidFill>
                  <a:srgbClr val="FF0000"/>
                </a:solidFill>
              </a:rPr>
              <a:t>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			</a:t>
            </a:r>
            <a:r>
              <a:rPr lang="en-US" altLang="en-US" sz="2400" dirty="0">
                <a:solidFill>
                  <a:srgbClr val="FF0000"/>
                </a:solidFill>
              </a:rPr>
              <a:t>C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Two characters not too interesting, either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Seems like not the way to go…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88AA1A-8C64-488C-A469-EA8408134B1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9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What if we compare just the first part of one string to the other?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GA</a:t>
            </a:r>
            <a:r>
              <a:rPr lang="en-US" altLang="en-US" sz="2000" dirty="0">
                <a:solidFill>
                  <a:srgbClr val="FF0000"/>
                </a:solidFill>
              </a:rPr>
              <a:t>T</a:t>
            </a:r>
            <a:r>
              <a:rPr lang="en-US" altLang="en-US" sz="2000" dirty="0"/>
              <a:t>TACA    LCS: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endParaRPr lang="en-US" altLang="en-US" sz="2000" dirty="0">
              <a:solidFill>
                <a:srgbClr val="00B05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FF0000"/>
                </a:solidFill>
              </a:rPr>
              <a:t>T</a:t>
            </a:r>
            <a:endParaRPr lang="en-US" altLang="en-US" sz="2000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GA</a:t>
            </a:r>
            <a:r>
              <a:rPr lang="en-US" altLang="en-US" sz="2000" dirty="0">
                <a:solidFill>
                  <a:srgbClr val="FF0000"/>
                </a:solidFill>
              </a:rPr>
              <a:t>T</a:t>
            </a:r>
            <a:r>
              <a:rPr lang="en-US" altLang="en-US" sz="2000" dirty="0"/>
              <a:t>T</a:t>
            </a:r>
            <a:r>
              <a:rPr lang="en-US" altLang="en-US" sz="2000" dirty="0">
                <a:solidFill>
                  <a:srgbClr val="FF0000"/>
                </a:solidFill>
              </a:rPr>
              <a:t>A</a:t>
            </a:r>
            <a:r>
              <a:rPr lang="en-US" altLang="en-US" sz="2000" dirty="0"/>
              <a:t>CA    LCS: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FF0000"/>
                </a:solidFill>
              </a:rPr>
              <a:t>TA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GA</a:t>
            </a:r>
            <a:r>
              <a:rPr lang="en-US" altLang="en-US" sz="2000" dirty="0">
                <a:solidFill>
                  <a:srgbClr val="FF0000"/>
                </a:solidFill>
              </a:rPr>
              <a:t>T</a:t>
            </a:r>
            <a:r>
              <a:rPr lang="en-US" altLang="en-US" sz="2000" dirty="0"/>
              <a:t>T</a:t>
            </a:r>
            <a:r>
              <a:rPr lang="en-US" altLang="en-US" sz="2000" dirty="0">
                <a:solidFill>
                  <a:srgbClr val="FF0000"/>
                </a:solidFill>
              </a:rPr>
              <a:t>AC</a:t>
            </a:r>
            <a:r>
              <a:rPr lang="en-US" altLang="en-US" sz="2000" dirty="0"/>
              <a:t>A    LCS: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FF0000"/>
                </a:solidFill>
              </a:rPr>
              <a:t>TAC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GA</a:t>
            </a:r>
            <a:r>
              <a:rPr lang="en-US" altLang="en-US" sz="2000" dirty="0">
                <a:solidFill>
                  <a:srgbClr val="FF0000"/>
                </a:solidFill>
              </a:rPr>
              <a:t>T</a:t>
            </a:r>
            <a:r>
              <a:rPr lang="en-US" altLang="en-US" sz="2000" dirty="0"/>
              <a:t>T</a:t>
            </a:r>
            <a:r>
              <a:rPr lang="en-US" altLang="en-US" sz="2000" dirty="0">
                <a:solidFill>
                  <a:srgbClr val="FF0000"/>
                </a:solidFill>
              </a:rPr>
              <a:t>AC</a:t>
            </a:r>
            <a:r>
              <a:rPr lang="en-US" altLang="en-US" sz="2000" dirty="0"/>
              <a:t>A    LCS: </a:t>
            </a:r>
            <a:r>
              <a:rPr lang="en-US" altLang="en-US" sz="2000" dirty="0">
                <a:solidFill>
                  <a:srgbClr val="FF0000"/>
                </a:solidFill>
              </a:rPr>
              <a:t>3		</a:t>
            </a:r>
            <a:r>
              <a:rPr lang="en-US" altLang="en-US" sz="2000" dirty="0">
                <a:solidFill>
                  <a:srgbClr val="00B050"/>
                </a:solidFill>
              </a:rPr>
              <a:t>Hmm, LCS &lt;=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FF0000"/>
                </a:solidFill>
              </a:rPr>
              <a:t>TAC</a:t>
            </a:r>
            <a:r>
              <a:rPr lang="en-US" altLang="en-US" sz="2000" dirty="0"/>
              <a:t>T</a:t>
            </a:r>
            <a:r>
              <a:rPr lang="en-US" altLang="en-US" sz="2000" dirty="0">
                <a:solidFill>
                  <a:srgbClr val="FF0000"/>
                </a:solidFill>
              </a:rPr>
              <a:t>				</a:t>
            </a:r>
            <a:r>
              <a:rPr lang="en-US" altLang="en-US" sz="2000" dirty="0">
                <a:solidFill>
                  <a:srgbClr val="00B050"/>
                </a:solidFill>
              </a:rPr>
              <a:t>min string length</a:t>
            </a: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73BA3B-2A90-40F9-85BE-B7EB11030F7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5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But we have to try the other way, too…</a:t>
            </a: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                LCS: </a:t>
            </a:r>
            <a:r>
              <a:rPr lang="en-US" altLang="en-US" sz="2400" dirty="0">
                <a:solidFill>
                  <a:srgbClr val="FF0000"/>
                </a:solidFill>
              </a:rPr>
              <a:t>1</a:t>
            </a:r>
            <a:endParaRPr lang="en-US" altLang="en-US" sz="2400" dirty="0">
              <a:solidFill>
                <a:srgbClr val="00B05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TACT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TC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A              LCS: </a:t>
            </a:r>
            <a:r>
              <a:rPr lang="en-US" altLang="en-US" sz="2400" dirty="0">
                <a:solidFill>
                  <a:srgbClr val="FF0000"/>
                </a:solidFill>
              </a:rPr>
              <a:t>1		(or A/A)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TACT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TC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A</a:t>
            </a:r>
            <a:r>
              <a:rPr lang="en-US" altLang="en-US" sz="2400" dirty="0">
                <a:solidFill>
                  <a:srgbClr val="FF0000"/>
                </a:solidFill>
              </a:rPr>
              <a:t>T</a:t>
            </a:r>
            <a:r>
              <a:rPr lang="en-US" altLang="en-US" sz="2400" dirty="0"/>
              <a:t>            LCS: </a:t>
            </a:r>
            <a:r>
              <a:rPr lang="en-US" altLang="en-US" sz="2400" dirty="0">
                <a:solidFill>
                  <a:srgbClr val="FF0000"/>
                </a:solidFill>
              </a:rPr>
              <a:t>2		(or AT/AT)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TACT</a:t>
            </a:r>
            <a:r>
              <a:rPr lang="en-US" altLang="en-US" sz="2400" dirty="0">
                <a:solidFill>
                  <a:srgbClr val="FF0000"/>
                </a:solidFill>
              </a:rPr>
              <a:t>GT</a:t>
            </a:r>
            <a:r>
              <a:rPr lang="en-US" altLang="en-US" sz="2400" dirty="0"/>
              <a:t>C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G</a:t>
            </a:r>
            <a:r>
              <a:rPr lang="en-US" altLang="en-US" sz="2400" dirty="0">
                <a:solidFill>
                  <a:srgbClr val="FF0000"/>
                </a:solidFill>
              </a:rPr>
              <a:t>ATT</a:t>
            </a:r>
            <a:r>
              <a:rPr lang="en-US" altLang="en-US" sz="2400" dirty="0"/>
              <a:t>          LCS: </a:t>
            </a:r>
            <a:r>
              <a:rPr lang="en-US" altLang="en-US" sz="2400" dirty="0">
                <a:solidFill>
                  <a:srgbClr val="FF0000"/>
                </a:solidFill>
              </a:rPr>
              <a:t>3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T</a:t>
            </a:r>
            <a:r>
              <a:rPr lang="en-US" altLang="en-US" sz="2400" dirty="0">
                <a:solidFill>
                  <a:srgbClr val="FF0000"/>
                </a:solidFill>
              </a:rPr>
              <a:t>A</a:t>
            </a:r>
            <a:r>
              <a:rPr lang="en-US" altLang="en-US" sz="2400" dirty="0"/>
              <a:t>C</a:t>
            </a:r>
            <a:r>
              <a:rPr lang="en-US" altLang="en-US" sz="2400" dirty="0">
                <a:solidFill>
                  <a:srgbClr val="FF0000"/>
                </a:solidFill>
              </a:rPr>
              <a:t>T</a:t>
            </a:r>
            <a:r>
              <a:rPr lang="en-US" altLang="en-US" sz="2400" dirty="0"/>
              <a:t>G</a:t>
            </a:r>
            <a:r>
              <a:rPr lang="en-US" altLang="en-US" sz="2400" dirty="0">
                <a:solidFill>
                  <a:srgbClr val="FF0000"/>
                </a:solidFill>
              </a:rPr>
              <a:t>T</a:t>
            </a:r>
            <a:r>
              <a:rPr lang="en-US" altLang="en-US" sz="2400" dirty="0"/>
              <a:t>C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7B1035-6D8A-4DE9-ADCF-7BA307CE763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0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Looks like we have to find LCS for all </a:t>
            </a:r>
            <a:r>
              <a:rPr lang="en-US" altLang="en-US" sz="2800" i="1" dirty="0"/>
              <a:t>prefixes</a:t>
            </a:r>
            <a:r>
              <a:rPr lang="en-US" altLang="en-US" sz="2800" dirty="0"/>
              <a:t> of one vs. all </a:t>
            </a:r>
            <a:r>
              <a:rPr lang="en-US" altLang="en-US" sz="2800" i="1" dirty="0"/>
              <a:t>prefixes</a:t>
            </a:r>
            <a:r>
              <a:rPr lang="en-US" altLang="en-US" sz="2800" dirty="0"/>
              <a:t> of the other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b="1" dirty="0"/>
              <a:t>m</a:t>
            </a:r>
            <a:r>
              <a:rPr lang="en-US" altLang="en-US" sz="2400" dirty="0"/>
              <a:t> chars in first string, </a:t>
            </a:r>
            <a:r>
              <a:rPr lang="en-US" altLang="en-US" sz="2400" b="1" dirty="0"/>
              <a:t>n</a:t>
            </a:r>
            <a:r>
              <a:rPr lang="en-US" altLang="en-US" sz="2400" dirty="0"/>
              <a:t> chars in second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b="1" dirty="0"/>
              <a:t>m</a:t>
            </a:r>
            <a:r>
              <a:rPr lang="en-US" altLang="en-US" sz="2400" dirty="0"/>
              <a:t> by </a:t>
            </a:r>
            <a:r>
              <a:rPr lang="en-US" altLang="en-US" sz="2400" b="1" dirty="0"/>
              <a:t>n </a:t>
            </a:r>
            <a:r>
              <a:rPr lang="en-US" altLang="en-US" sz="2400" i="1" dirty="0" err="1"/>
              <a:t>memoization</a:t>
            </a:r>
            <a:r>
              <a:rPr lang="en-US" altLang="en-US" sz="2400" dirty="0"/>
              <a:t> array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		</a:t>
            </a:r>
            <a:r>
              <a:rPr lang="en-US" altLang="en-US" sz="2400" b="1" dirty="0">
                <a:solidFill>
                  <a:srgbClr val="00B050"/>
                </a:solidFill>
              </a:rPr>
              <a:t>How do we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LCS:</a:t>
            </a:r>
            <a:r>
              <a:rPr lang="en-US" altLang="en-US" sz="2400" b="1" dirty="0"/>
              <a:t>					</a:t>
            </a:r>
            <a:r>
              <a:rPr lang="en-US" altLang="en-US" sz="2400" b="1" dirty="0">
                <a:solidFill>
                  <a:srgbClr val="00B050"/>
                </a:solidFill>
              </a:rPr>
              <a:t>fill this in?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A19FD0-6C15-4874-A49B-C8D8467736E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88485"/>
              </p:ext>
            </p:extLst>
          </p:nvPr>
        </p:nvGraphicFramePr>
        <p:xfrm>
          <a:off x="3352800" y="3733800"/>
          <a:ext cx="27432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08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First row (</a:t>
            </a:r>
            <a:r>
              <a:rPr lang="en-US" altLang="en-US" sz="2800" b="1" dirty="0"/>
              <a:t>G</a:t>
            </a:r>
            <a:r>
              <a:rPr lang="en-US" altLang="en-US" sz="2800" dirty="0"/>
              <a:t> vs </a:t>
            </a:r>
            <a:r>
              <a:rPr lang="en-US" altLang="en-US" sz="2800" b="1" dirty="0"/>
              <a:t>TACTGTC</a:t>
            </a:r>
            <a:r>
              <a:rPr lang="en-US" altLang="en-US" sz="2800" dirty="0"/>
              <a:t>) is obvious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LCS[1,5] =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C3D97-8927-43EB-9745-02445EC2FF5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879824"/>
              </p:ext>
            </p:extLst>
          </p:nvPr>
        </p:nvGraphicFramePr>
        <p:xfrm>
          <a:off x="3727446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25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First col (</a:t>
            </a:r>
            <a:r>
              <a:rPr lang="en-US" altLang="en-US" sz="2800" b="1" dirty="0"/>
              <a:t>GATTACA</a:t>
            </a:r>
            <a:r>
              <a:rPr lang="en-US" altLang="en-US" sz="2800" dirty="0"/>
              <a:t> vs </a:t>
            </a:r>
            <a:r>
              <a:rPr lang="en-US" altLang="en-US" sz="2800" b="1" dirty="0"/>
              <a:t>T</a:t>
            </a:r>
            <a:r>
              <a:rPr lang="en-US" altLang="en-US" sz="2800" dirty="0"/>
              <a:t>) also obvious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D0545C-7513-4A35-AB46-2B0B2C53114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75409"/>
              </p:ext>
            </p:extLst>
          </p:nvPr>
        </p:nvGraphicFramePr>
        <p:xfrm>
          <a:off x="3727446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10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First col (</a:t>
            </a:r>
            <a:r>
              <a:rPr lang="en-US" altLang="en-US" sz="2800" b="1" dirty="0"/>
              <a:t>GATTACA</a:t>
            </a:r>
            <a:r>
              <a:rPr lang="en-US" altLang="en-US" sz="2800" dirty="0"/>
              <a:t> vs </a:t>
            </a:r>
            <a:r>
              <a:rPr lang="en-US" altLang="en-US" sz="2800" b="1" dirty="0"/>
              <a:t>T</a:t>
            </a:r>
            <a:r>
              <a:rPr lang="en-US" altLang="en-US" sz="2800" dirty="0"/>
              <a:t>) also obvious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LCS[3,1] =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D0545C-7513-4A35-AB46-2B0B2C53114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87741"/>
              </p:ext>
            </p:extLst>
          </p:nvPr>
        </p:nvGraphicFramePr>
        <p:xfrm>
          <a:off x="3727446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294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First col (</a:t>
            </a:r>
            <a:r>
              <a:rPr lang="en-US" altLang="en-US" sz="2800" b="1" dirty="0"/>
              <a:t>GATTACA</a:t>
            </a:r>
            <a:r>
              <a:rPr lang="en-US" altLang="en-US" sz="2800" dirty="0"/>
              <a:t> vs </a:t>
            </a:r>
            <a:r>
              <a:rPr lang="en-US" altLang="en-US" sz="2800" b="1" dirty="0"/>
              <a:t>T</a:t>
            </a:r>
            <a:r>
              <a:rPr lang="en-US" altLang="en-US" sz="2800" dirty="0"/>
              <a:t>) also obvious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LCS[3,1] =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D0545C-7513-4A35-AB46-2B0B2C53114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0734"/>
              </p:ext>
            </p:extLst>
          </p:nvPr>
        </p:nvGraphicFramePr>
        <p:xfrm>
          <a:off x="3727446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16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First col (</a:t>
            </a:r>
            <a:r>
              <a:rPr lang="en-US" altLang="en-US" sz="2800" b="1" dirty="0"/>
              <a:t>GATTACA</a:t>
            </a:r>
            <a:r>
              <a:rPr lang="en-US" altLang="en-US" sz="2800" dirty="0"/>
              <a:t> vs </a:t>
            </a:r>
            <a:r>
              <a:rPr lang="en-US" altLang="en-US" sz="2800" b="1" dirty="0"/>
              <a:t>T</a:t>
            </a:r>
            <a:r>
              <a:rPr lang="en-US" altLang="en-US" sz="2800" dirty="0"/>
              <a:t>) also obvious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LCS[3,1] = 1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D0545C-7513-4A35-AB46-2B0B2C53114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49791"/>
              </p:ext>
            </p:extLst>
          </p:nvPr>
        </p:nvGraphicFramePr>
        <p:xfrm>
          <a:off x="3727446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69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Now … we have to think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Label the strings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S1</a:t>
            </a:r>
            <a:r>
              <a:rPr lang="en-US" altLang="en-US" sz="2000" dirty="0"/>
              <a:t> (rows)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S2</a:t>
            </a:r>
            <a:r>
              <a:rPr lang="en-US" altLang="en-US" sz="2000" dirty="0"/>
              <a:t> (cols)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Can we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get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LCS[</a:t>
            </a:r>
            <a:r>
              <a:rPr lang="en-US" altLang="en-US" sz="2400" dirty="0" err="1">
                <a:solidFill>
                  <a:srgbClr val="FF0000"/>
                </a:solidFill>
              </a:rPr>
              <a:t>j,k</a:t>
            </a:r>
            <a:r>
              <a:rPr lang="en-US" altLang="en-US" sz="2400" dirty="0">
                <a:solidFill>
                  <a:srgbClr val="FF0000"/>
                </a:solidFill>
              </a:rPr>
              <a:t>]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</a:t>
            </a:r>
            <a:r>
              <a:rPr lang="en-US" altLang="en-US" sz="2400" dirty="0"/>
              <a:t>from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C00000"/>
                </a:solidFill>
              </a:rPr>
              <a:t>S1[j]</a:t>
            </a:r>
            <a:r>
              <a:rPr lang="en-US" altLang="en-US" sz="2400" dirty="0"/>
              <a:t>,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7030A0"/>
                </a:solidFill>
              </a:rPr>
              <a:t>S2[k]</a:t>
            </a:r>
            <a:r>
              <a:rPr lang="en-US" altLang="en-US" sz="2400" dirty="0"/>
              <a:t>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LCS[j,k-1],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</a:t>
            </a:r>
            <a:r>
              <a:rPr lang="en-US" altLang="en-US" sz="2400" dirty="0">
                <a:solidFill>
                  <a:srgbClr val="00B0F0"/>
                </a:solidFill>
              </a:rPr>
              <a:t>LCS[j-1,k]</a:t>
            </a:r>
            <a:r>
              <a:rPr lang="en-US" altLang="en-US" sz="2400" dirty="0"/>
              <a:t>,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and/or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LCS[j-1,k-1]</a:t>
            </a:r>
            <a:r>
              <a:rPr lang="en-US" altLang="en-US" sz="2400" dirty="0"/>
              <a:t>?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9272DB-D3C8-4599-BAA0-6176424EBB0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94096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23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Suppose </a:t>
            </a:r>
            <a:r>
              <a:rPr lang="en-US" altLang="en-US" sz="2800" dirty="0">
                <a:solidFill>
                  <a:srgbClr val="7030A0"/>
                </a:solidFill>
              </a:rPr>
              <a:t>S1[j]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==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C00000"/>
                </a:solidFill>
              </a:rPr>
              <a:t>S2[k]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Then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LCS[</a:t>
            </a:r>
            <a:r>
              <a:rPr lang="en-US" altLang="en-US" sz="2400" dirty="0" err="1">
                <a:solidFill>
                  <a:srgbClr val="FF0000"/>
                </a:solidFill>
              </a:rPr>
              <a:t>j,k</a:t>
            </a:r>
            <a:r>
              <a:rPr lang="en-US" altLang="en-US" sz="2400" dirty="0">
                <a:solidFill>
                  <a:srgbClr val="FF0000"/>
                </a:solidFill>
              </a:rPr>
              <a:t>]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must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 </a:t>
            </a:r>
            <a:r>
              <a:rPr lang="en-US" altLang="en-US" sz="2400" dirty="0"/>
              <a:t>be</a:t>
            </a:r>
            <a:r>
              <a:rPr lang="en-US" altLang="en-US" sz="2400" dirty="0">
                <a:solidFill>
                  <a:srgbClr val="00B050"/>
                </a:solidFill>
              </a:rPr>
              <a:t> 1 more than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 LCS[j-1,k-1]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2049DA-BBC6-4C8F-AF84-C6209786F1D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61419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743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Suppose </a:t>
            </a:r>
            <a:r>
              <a:rPr lang="en-US" altLang="en-US" sz="2800" dirty="0">
                <a:solidFill>
                  <a:srgbClr val="7030A0"/>
                </a:solidFill>
              </a:rPr>
              <a:t>S1[j]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!=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C00000"/>
                </a:solidFill>
              </a:rPr>
              <a:t>S2[k]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Then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LCS[</a:t>
            </a:r>
            <a:r>
              <a:rPr lang="en-US" altLang="en-US" sz="2400" dirty="0" err="1">
                <a:solidFill>
                  <a:srgbClr val="FF0000"/>
                </a:solidFill>
              </a:rPr>
              <a:t>j,k</a:t>
            </a:r>
            <a:r>
              <a:rPr lang="en-US" altLang="en-US" sz="2400" dirty="0">
                <a:solidFill>
                  <a:srgbClr val="FF0000"/>
                </a:solidFill>
              </a:rPr>
              <a:t>]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must</a:t>
            </a:r>
            <a:r>
              <a:rPr lang="en-US" altLang="en-US" sz="2400" dirty="0">
                <a:solidFill>
                  <a:srgbClr val="00B050"/>
                </a:solidFill>
              </a:rPr>
              <a:t> be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 </a:t>
            </a:r>
            <a:r>
              <a:rPr lang="en-US" altLang="en-US" sz="2400" dirty="0"/>
              <a:t>max{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>
                <a:solidFill>
                  <a:srgbClr val="0070C0"/>
                </a:solidFill>
              </a:rPr>
              <a:t>LCS[j,k-1]</a:t>
            </a:r>
            <a:r>
              <a:rPr lang="en-US" altLang="en-US" sz="2400" dirty="0"/>
              <a:t>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           </a:t>
            </a:r>
            <a:r>
              <a:rPr lang="en-US" altLang="en-US" sz="2400" dirty="0">
                <a:solidFill>
                  <a:srgbClr val="00B0F0"/>
                </a:solidFill>
              </a:rPr>
              <a:t>LCS[j-1,k]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8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75D3DE-8411-41AA-AFD7-1280B1DB713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683802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473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Recursion: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b="1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LCS[</a:t>
            </a:r>
            <a:r>
              <a:rPr lang="en-US" altLang="en-US" sz="1800" b="1" dirty="0" err="1">
                <a:solidFill>
                  <a:srgbClr val="FF0000"/>
                </a:solidFill>
              </a:rPr>
              <a:t>j,k</a:t>
            </a:r>
            <a:r>
              <a:rPr lang="en-US" altLang="en-US" sz="1800" b="1" dirty="0">
                <a:solidFill>
                  <a:srgbClr val="FF0000"/>
                </a:solidFill>
              </a:rPr>
              <a:t>] =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if S1[j] == S2[k]: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    1 + LCS[j-1,k-1]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else: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    max { LCS[j-1,k],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                LCS[j,k-1] 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800" b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… with row 1, col 1 as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special cases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800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</a:rPr>
              <a:t>Reduces to two loops: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</a:rPr>
              <a:t>O(m * n) time and space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				</a:t>
            </a:r>
            <a:endParaRPr lang="en-US" altLang="en-US" sz="2400" b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939649-768A-4B20-8B12-1524F7D1AB7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74718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9B3A447-D744-4D97-82CE-47AE82ED7D28}"/>
              </a:ext>
            </a:extLst>
          </p:cNvPr>
          <p:cNvSpPr/>
          <p:nvPr/>
        </p:nvSpPr>
        <p:spPr bwMode="auto">
          <a:xfrm>
            <a:off x="7848600" y="5410200"/>
            <a:ext cx="533400" cy="530225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549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79860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35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18034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985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???C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440513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360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???C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83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??TC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49674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484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??TC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5465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n-US" sz="16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088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?TTC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440116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806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is </a:t>
            </a:r>
            <a:r>
              <a:rPr lang="en-US" altLang="en-US" sz="2000" b="1" dirty="0">
                <a:solidFill>
                  <a:srgbClr val="FF0000"/>
                </a:solidFill>
              </a:rPr>
              <a:t>?TTC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752226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489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LCS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LCS[7,7] is </a:t>
            </a:r>
            <a:r>
              <a:rPr lang="en-US" altLang="en-US" sz="24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To find the 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Start at lower right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Move </a:t>
            </a:r>
            <a:r>
              <a:rPr lang="en-US" altLang="en-US" sz="2000" i="1" dirty="0"/>
              <a:t>up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left</a:t>
            </a:r>
            <a:r>
              <a:rPr lang="en-US" altLang="en-US" sz="2000" dirty="0"/>
              <a:t> if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equal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Record character and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move diagonally to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    up/left if lesser LCS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Repeat until LCS ==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Sequence </a:t>
            </a:r>
            <a:r>
              <a:rPr lang="en-US" altLang="en-US" sz="2000"/>
              <a:t>is </a:t>
            </a:r>
            <a:r>
              <a:rPr lang="en-US" altLang="en-US" sz="2000" b="1">
                <a:solidFill>
                  <a:srgbClr val="FF0000"/>
                </a:solidFill>
              </a:rPr>
              <a:t>ATTC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4E93D-DD19-4FC6-9AAA-C65B2BCEA68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2018, John K. </a:t>
            </a:r>
            <a:r>
              <a:rPr lang="en-US" dirty="0" err="1"/>
              <a:t>Ostlund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CF03F-B420-4B0E-B16E-6E188EE3E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67882"/>
              </p:ext>
            </p:extLst>
          </p:nvPr>
        </p:nvGraphicFramePr>
        <p:xfrm>
          <a:off x="4876800" y="2743200"/>
          <a:ext cx="3435354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706">
                  <a:extLst>
                    <a:ext uri="{9D8B030D-6E8A-4147-A177-3AD203B41FA5}">
                      <a16:colId xmlns:a16="http://schemas.microsoft.com/office/drawing/2014/main" val="268804327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85548304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09570284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90450118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38374535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502159267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2327690521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3962369350"/>
                    </a:ext>
                  </a:extLst>
                </a:gridCol>
                <a:gridCol w="381706">
                  <a:extLst>
                    <a:ext uri="{9D8B030D-6E8A-4147-A177-3AD203B41FA5}">
                      <a16:colId xmlns:a16="http://schemas.microsoft.com/office/drawing/2014/main" val="14275534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93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651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5343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3456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1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097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386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41385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49161</TotalTime>
  <Words>3609</Words>
  <Application>Microsoft Office PowerPoint</Application>
  <PresentationFormat>On-screen Show (4:3)</PresentationFormat>
  <Paragraphs>1553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Tahoma</vt:lpstr>
      <vt:lpstr>Times New Roman</vt:lpstr>
      <vt:lpstr>Wingdings</vt:lpstr>
      <vt:lpstr>Blends</vt:lpstr>
      <vt:lpstr>MSCF Programming Prep 46-900</vt:lpstr>
      <vt:lpstr>Dynamic Programming In A Nutshell</vt:lpstr>
      <vt:lpstr>Dynamic Programming In A Nutshell (cont.)</vt:lpstr>
      <vt:lpstr>Example: Longest Common Subsequence (LCS)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  <vt:lpstr>Example: LCS (cont.)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756</cp:revision>
  <cp:lastPrinted>2021-08-03T01:03:05Z</cp:lastPrinted>
  <dcterms:created xsi:type="dcterms:W3CDTF">2003-08-31T19:53:38Z</dcterms:created>
  <dcterms:modified xsi:type="dcterms:W3CDTF">2021-08-03T01:12:13Z</dcterms:modified>
</cp:coreProperties>
</file>
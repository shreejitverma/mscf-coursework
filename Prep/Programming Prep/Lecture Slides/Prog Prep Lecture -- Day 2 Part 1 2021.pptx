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9"/>
  </p:notesMasterIdLst>
  <p:sldIdLst>
    <p:sldId id="257" r:id="rId2"/>
    <p:sldId id="615" r:id="rId3"/>
    <p:sldId id="616" r:id="rId4"/>
    <p:sldId id="749" r:id="rId5"/>
    <p:sldId id="618" r:id="rId6"/>
    <p:sldId id="619" r:id="rId7"/>
    <p:sldId id="635" r:id="rId8"/>
    <p:sldId id="636" r:id="rId9"/>
    <p:sldId id="637" r:id="rId10"/>
    <p:sldId id="638" r:id="rId11"/>
    <p:sldId id="639" r:id="rId12"/>
    <p:sldId id="620" r:id="rId13"/>
    <p:sldId id="621" r:id="rId14"/>
    <p:sldId id="622" r:id="rId15"/>
    <p:sldId id="623" r:id="rId16"/>
    <p:sldId id="624" r:id="rId17"/>
    <p:sldId id="625" r:id="rId18"/>
    <p:sldId id="626" r:id="rId19"/>
    <p:sldId id="627" r:id="rId20"/>
    <p:sldId id="628" r:id="rId21"/>
    <p:sldId id="629" r:id="rId22"/>
    <p:sldId id="630" r:id="rId23"/>
    <p:sldId id="631" r:id="rId24"/>
    <p:sldId id="632" r:id="rId25"/>
    <p:sldId id="640" r:id="rId26"/>
    <p:sldId id="633" r:id="rId27"/>
    <p:sldId id="634" r:id="rId28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102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182" y="4415790"/>
            <a:ext cx="550545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29967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102" y="8829967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5" rIns="92429" bIns="462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0982" indent="-28884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359" indent="-231073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502" indent="-231073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646" indent="-231073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178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3933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076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219" indent="-2310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328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8618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38987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673585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56009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48047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24659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29314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09468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984964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215577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6164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52271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93765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74908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1780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241481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38696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70767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78071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943233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639228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456078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426931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46476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18231" indent="-276244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04972" indent="-22099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546961" indent="-22099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1988949" indent="-22099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430939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872928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31491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756905" indent="-2209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3242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A458199-2235-498C-BB60-A71163C0547D}" type="datetime1">
              <a:rPr lang="en-US" smtClean="0"/>
              <a:t>8/2/2021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F09BE-0733-4E9E-B08E-2F2245AE7270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7212A-0320-4C87-822E-A5C5A85E786C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0479F-66CD-4A5B-84F6-27888EFAE784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ADCF3-2AF2-418C-BF2A-44A85337EE69}" type="datetime1">
              <a:rPr lang="en-US" smtClean="0"/>
              <a:t>8/2/2021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26299-AA4C-442F-BCFC-E93CA0F6B11A}" type="datetime1">
              <a:rPr lang="en-US" smtClean="0"/>
              <a:t>8/2/2021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2A80A-F933-4C6D-AC1B-323BE6DDDE0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46877-514D-4A61-909E-A65641948318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20BBE-B985-48CE-92FB-2D9EB3B58A3F}" type="datetime1">
              <a:rPr lang="en-US" smtClean="0"/>
              <a:t>8/2/2021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624D1-E5CD-4BF0-93F9-C4F92CAD34D8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FFCFC-2EA4-4E97-B3DE-8EA613768012}" type="datetime1">
              <a:rPr lang="en-US" smtClean="0"/>
              <a:t>8/2/2021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E82E7615-9809-4B2F-96E1-10CD3B7FB0C5}" type="datetime1">
              <a:rPr lang="en-US" smtClean="0"/>
              <a:t>8/2/2021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/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Day 2 Part 1: Graphs and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Breadth-First Search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C254A3-5154-4B18-BE3A-488A5065281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Graphs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 </a:t>
            </a:r>
            <a:r>
              <a:rPr lang="en-US" altLang="en-US" sz="2800" i="1" dirty="0"/>
              <a:t>graph</a:t>
            </a:r>
            <a:r>
              <a:rPr lang="en-US" altLang="en-US" sz="2800" dirty="0"/>
              <a:t> is a collection of </a:t>
            </a:r>
            <a:r>
              <a:rPr lang="en-US" altLang="en-US" sz="2800" i="1" dirty="0"/>
              <a:t>vertices</a:t>
            </a:r>
            <a:r>
              <a:rPr lang="en-US" altLang="en-US" sz="2800" dirty="0"/>
              <a:t> connected by </a:t>
            </a:r>
            <a:r>
              <a:rPr lang="en-US" altLang="en-US" sz="2800" i="1" dirty="0"/>
              <a:t>edges</a:t>
            </a:r>
            <a:endParaRPr lang="en-US" altLang="en-US" sz="2800" b="1" i="1" dirty="0"/>
          </a:p>
          <a:p>
            <a:pPr lvl="1" eaLnBrk="1" hangingPunct="1"/>
            <a:r>
              <a:rPr lang="en-US" altLang="en-US" sz="2400" dirty="0"/>
              <a:t>Or nodes/arcs, points/lines</a:t>
            </a:r>
          </a:p>
          <a:p>
            <a:pPr eaLnBrk="1" hangingPunct="1"/>
            <a:r>
              <a:rPr lang="en-US" altLang="en-US" sz="2800" dirty="0"/>
              <a:t>Edges may be</a:t>
            </a:r>
            <a:endParaRPr lang="en-US" altLang="en-US" sz="2800" b="1" i="1" dirty="0"/>
          </a:p>
          <a:p>
            <a:pPr lvl="1" eaLnBrk="1" hangingPunct="1"/>
            <a:r>
              <a:rPr lang="en-US" altLang="en-US" sz="2400" i="1" dirty="0"/>
              <a:t>Undirected</a:t>
            </a:r>
            <a:r>
              <a:rPr lang="en-US" altLang="en-US" sz="2400" dirty="0"/>
              <a:t>, e.g., friend/friend</a:t>
            </a:r>
          </a:p>
          <a:p>
            <a:pPr lvl="1" eaLnBrk="1" hangingPunct="1"/>
            <a:r>
              <a:rPr lang="en-US" altLang="en-US" sz="2400" i="1" dirty="0"/>
              <a:t>Directed</a:t>
            </a:r>
            <a:r>
              <a:rPr lang="en-US" altLang="en-US" sz="2400" dirty="0"/>
              <a:t>, e.g., manager/employee</a:t>
            </a:r>
          </a:p>
          <a:p>
            <a:pPr lvl="1" eaLnBrk="1" hangingPunct="1"/>
            <a:r>
              <a:rPr lang="en-US" altLang="en-US" sz="2400" i="1" dirty="0"/>
              <a:t>Unweighted</a:t>
            </a:r>
            <a:r>
              <a:rPr lang="en-US" altLang="en-US" sz="2400" dirty="0"/>
              <a:t>, e.g., A knows B</a:t>
            </a:r>
          </a:p>
          <a:p>
            <a:pPr lvl="1" eaLnBrk="1" hangingPunct="1"/>
            <a:r>
              <a:rPr lang="en-US" altLang="en-US" sz="2400" i="1" dirty="0"/>
              <a:t>Weighted</a:t>
            </a:r>
            <a:r>
              <a:rPr lang="en-US" altLang="en-US" sz="2400" dirty="0"/>
              <a:t>, e.g., A sent 1000 emails to B and 5 emails to 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8B733-385C-4BD2-B7BB-67E7B774230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6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Adjacency List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One way of representing an undirected, unweighted graph is an </a:t>
            </a:r>
            <a:r>
              <a:rPr lang="en-US" altLang="en-US" sz="2800" i="1" dirty="0"/>
              <a:t>adjacency list</a:t>
            </a:r>
            <a:endParaRPr lang="en-US" altLang="en-US" sz="2800" b="1" i="1" dirty="0"/>
          </a:p>
          <a:p>
            <a:pPr lvl="1" eaLnBrk="1" hangingPunct="1"/>
            <a:r>
              <a:rPr lang="en-US" altLang="en-US" sz="2400" dirty="0"/>
              <a:t>Guido van Rossum, BDFL, suggests a </a:t>
            </a:r>
            <a:r>
              <a:rPr lang="en-US" altLang="en-US" sz="2400" b="1" dirty="0" err="1"/>
              <a:t>dict</a:t>
            </a:r>
            <a:r>
              <a:rPr lang="en-US" altLang="en-US" sz="2400" dirty="0"/>
              <a:t> mapping each node to a </a:t>
            </a:r>
            <a:r>
              <a:rPr lang="en-US" altLang="en-US" sz="2400" b="1" dirty="0"/>
              <a:t>list</a:t>
            </a:r>
            <a:r>
              <a:rPr lang="en-US" altLang="en-US" sz="2400" dirty="0"/>
              <a:t> of adjacent nodes</a:t>
            </a:r>
          </a:p>
          <a:p>
            <a:pPr lvl="1" eaLnBrk="1" hangingPunct="1"/>
            <a:r>
              <a:rPr lang="en-US" altLang="en-US" sz="2400" dirty="0"/>
              <a:t>There are several other equivalent representations</a:t>
            </a:r>
          </a:p>
          <a:p>
            <a:pPr marL="457200" lvl="1" indent="0" eaLnBrk="1" hangingPunct="1"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9D71E4-4096-4452-A67A-66256935B03A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6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Adjacency List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r>
              <a:rPr lang="en-US" altLang="en-US" sz="2400" dirty="0"/>
              <a:t>     </a:t>
            </a:r>
            <a:r>
              <a:rPr lang="en-US" altLang="en-US" sz="2400" b="1" dirty="0"/>
              <a:t>G</a:t>
            </a:r>
            <a:r>
              <a:rPr lang="en-US" altLang="en-US" sz="2400" dirty="0"/>
              <a:t> = {  </a:t>
            </a:r>
            <a:r>
              <a:rPr lang="en-US" altLang="en-US" sz="2400" b="1" dirty="0"/>
              <a:t>'A'</a:t>
            </a:r>
            <a:r>
              <a:rPr lang="en-US" altLang="en-US" sz="2400" dirty="0"/>
              <a:t> : ['B', 'D', 'F'], </a:t>
            </a:r>
            <a:r>
              <a:rPr lang="en-US" altLang="en-US" sz="2400" b="1" dirty="0"/>
              <a:t>'B'</a:t>
            </a:r>
            <a:r>
              <a:rPr lang="en-US" altLang="en-US" sz="2400" dirty="0"/>
              <a:t> : ['A', 'D'], </a:t>
            </a:r>
            <a:r>
              <a:rPr lang="en-US" altLang="en-US" sz="2400" b="1" dirty="0"/>
              <a:t>'C'</a:t>
            </a:r>
            <a:r>
              <a:rPr lang="en-US" altLang="en-US" sz="2400" dirty="0"/>
              <a:t> : ['D'],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               </a:t>
            </a:r>
            <a:r>
              <a:rPr lang="en-US" altLang="en-US" sz="2400" b="1" dirty="0"/>
              <a:t>'D'</a:t>
            </a:r>
            <a:r>
              <a:rPr lang="en-US" altLang="en-US" sz="2400" dirty="0"/>
              <a:t> : ['A', 'B', 'C', 'F', 'G'], </a:t>
            </a:r>
            <a:r>
              <a:rPr lang="en-US" altLang="en-US" sz="2400" b="1" dirty="0"/>
              <a:t>'E'</a:t>
            </a:r>
            <a:r>
              <a:rPr lang="en-US" altLang="en-US" sz="2400" dirty="0"/>
              <a:t> : ['G'],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               </a:t>
            </a:r>
            <a:r>
              <a:rPr lang="en-US" altLang="en-US" sz="2400" b="1" dirty="0"/>
              <a:t>'F'</a:t>
            </a:r>
            <a:r>
              <a:rPr lang="en-US" altLang="en-US" sz="2400" dirty="0"/>
              <a:t> : ['A', 'D'], </a:t>
            </a:r>
            <a:r>
              <a:rPr lang="en-US" altLang="en-US" sz="2400" b="1" dirty="0"/>
              <a:t>'G'</a:t>
            </a:r>
            <a:r>
              <a:rPr lang="en-US" altLang="en-US" sz="2400" dirty="0"/>
              <a:t> : ['D', 'E'] } 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E71B25-1499-4C13-8951-B59A791ED97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00200" y="2040294"/>
            <a:ext cx="762000" cy="762000"/>
            <a:chOff x="2133600" y="2133600"/>
            <a:chExt cx="762000" cy="762000"/>
          </a:xfrm>
        </p:grpSpPr>
        <p:sp>
          <p:nvSpPr>
            <p:cNvPr id="5" name="Oval 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644143" y="260596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219200" y="3232666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449685" y="3253665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38600" y="1997142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181600" y="30480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943600" y="2062065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sp>
        <p:nvSpPr>
          <p:cNvPr id="8" name="Freeform 7"/>
          <p:cNvSpPr/>
          <p:nvPr/>
        </p:nvSpPr>
        <p:spPr bwMode="auto">
          <a:xfrm>
            <a:off x="2313992" y="2062042"/>
            <a:ext cx="1754155" cy="158644"/>
          </a:xfrm>
          <a:custGeom>
            <a:avLst/>
            <a:gdLst>
              <a:gd name="connsiteX0" fmla="*/ 0 w 1754155"/>
              <a:gd name="connsiteY0" fmla="*/ 158644 h 158644"/>
              <a:gd name="connsiteX1" fmla="*/ 886408 w 1754155"/>
              <a:gd name="connsiteY1" fmla="*/ 23 h 158644"/>
              <a:gd name="connsiteX2" fmla="*/ 1754155 w 1754155"/>
              <a:gd name="connsiteY2" fmla="*/ 149313 h 15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4155" h="158644">
                <a:moveTo>
                  <a:pt x="0" y="158644"/>
                </a:moveTo>
                <a:cubicBezTo>
                  <a:pt x="297024" y="80111"/>
                  <a:pt x="594049" y="1578"/>
                  <a:pt x="886408" y="23"/>
                </a:cubicBezTo>
                <a:cubicBezTo>
                  <a:pt x="1178767" y="-1532"/>
                  <a:pt x="1466461" y="73890"/>
                  <a:pt x="1754155" y="14931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7"/>
          <p:cNvSpPr/>
          <p:nvPr/>
        </p:nvSpPr>
        <p:spPr bwMode="auto">
          <a:xfrm>
            <a:off x="1553658" y="2667000"/>
            <a:ext cx="122742" cy="545258"/>
          </a:xfrm>
          <a:custGeom>
            <a:avLst/>
            <a:gdLst>
              <a:gd name="connsiteX0" fmla="*/ 122742 w 122742"/>
              <a:gd name="connsiteY0" fmla="*/ 0 h 545258"/>
              <a:gd name="connsiteX1" fmla="*/ 10774 w 122742"/>
              <a:gd name="connsiteY1" fmla="*/ 494523 h 545258"/>
              <a:gd name="connsiteX2" fmla="*/ 10774 w 122742"/>
              <a:gd name="connsiteY2" fmla="*/ 503853 h 54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742" h="545258">
                <a:moveTo>
                  <a:pt x="122742" y="0"/>
                </a:moveTo>
                <a:cubicBezTo>
                  <a:pt x="85419" y="164841"/>
                  <a:pt x="29435" y="410548"/>
                  <a:pt x="10774" y="494523"/>
                </a:cubicBezTo>
                <a:cubicBezTo>
                  <a:pt x="-7887" y="578498"/>
                  <a:pt x="1443" y="541175"/>
                  <a:pt x="10774" y="50385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9" name="Freeform 28"/>
          <p:cNvSpPr/>
          <p:nvPr/>
        </p:nvSpPr>
        <p:spPr bwMode="auto">
          <a:xfrm>
            <a:off x="2136710" y="2780522"/>
            <a:ext cx="3247053" cy="1578763"/>
          </a:xfrm>
          <a:custGeom>
            <a:avLst/>
            <a:gdLst>
              <a:gd name="connsiteX0" fmla="*/ 0 w 3247053"/>
              <a:gd name="connsiteY0" fmla="*/ 0 h 1578763"/>
              <a:gd name="connsiteX1" fmla="*/ 849086 w 3247053"/>
              <a:gd name="connsiteY1" fmla="*/ 1343609 h 1578763"/>
              <a:gd name="connsiteX2" fmla="*/ 2369976 w 3247053"/>
              <a:gd name="connsiteY2" fmla="*/ 1548882 h 1578763"/>
              <a:gd name="connsiteX3" fmla="*/ 3247053 w 3247053"/>
              <a:gd name="connsiteY3" fmla="*/ 998376 h 157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7053" h="1578763">
                <a:moveTo>
                  <a:pt x="0" y="0"/>
                </a:moveTo>
                <a:cubicBezTo>
                  <a:pt x="227045" y="542731"/>
                  <a:pt x="454090" y="1085462"/>
                  <a:pt x="849086" y="1343609"/>
                </a:cubicBezTo>
                <a:cubicBezTo>
                  <a:pt x="1244082" y="1601756"/>
                  <a:pt x="1970315" y="1606421"/>
                  <a:pt x="2369976" y="1548882"/>
                </a:cubicBezTo>
                <a:cubicBezTo>
                  <a:pt x="2769637" y="1491343"/>
                  <a:pt x="3008345" y="1244859"/>
                  <a:pt x="3247053" y="99837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29"/>
          <p:cNvSpPr/>
          <p:nvPr/>
        </p:nvSpPr>
        <p:spPr bwMode="auto">
          <a:xfrm>
            <a:off x="4683967" y="2668555"/>
            <a:ext cx="587829" cy="503853"/>
          </a:xfrm>
          <a:custGeom>
            <a:avLst/>
            <a:gdLst>
              <a:gd name="connsiteX0" fmla="*/ 0 w 587829"/>
              <a:gd name="connsiteY0" fmla="*/ 0 h 503853"/>
              <a:gd name="connsiteX1" fmla="*/ 587829 w 587829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503853">
                <a:moveTo>
                  <a:pt x="0" y="0"/>
                </a:moveTo>
                <a:lnTo>
                  <a:pt x="587829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30"/>
          <p:cNvSpPr/>
          <p:nvPr/>
        </p:nvSpPr>
        <p:spPr bwMode="auto">
          <a:xfrm>
            <a:off x="4805265" y="2360645"/>
            <a:ext cx="1138335" cy="65314"/>
          </a:xfrm>
          <a:custGeom>
            <a:avLst/>
            <a:gdLst>
              <a:gd name="connsiteX0" fmla="*/ 0 w 1138335"/>
              <a:gd name="connsiteY0" fmla="*/ 0 h 65314"/>
              <a:gd name="connsiteX1" fmla="*/ 1138335 w 1138335"/>
              <a:gd name="connsiteY1" fmla="*/ 65314 h 6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8335" h="65314">
                <a:moveTo>
                  <a:pt x="0" y="0"/>
                </a:moveTo>
                <a:lnTo>
                  <a:pt x="1138335" y="6531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4058816" y="2649894"/>
            <a:ext cx="1931437" cy="681135"/>
          </a:xfrm>
          <a:custGeom>
            <a:avLst/>
            <a:gdLst>
              <a:gd name="connsiteX0" fmla="*/ 0 w 1931437"/>
              <a:gd name="connsiteY0" fmla="*/ 681135 h 681135"/>
              <a:gd name="connsiteX1" fmla="*/ 1931437 w 1931437"/>
              <a:gd name="connsiteY1" fmla="*/ 0 h 681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31437" h="681135">
                <a:moveTo>
                  <a:pt x="0" y="681135"/>
                </a:moveTo>
                <a:lnTo>
                  <a:pt x="193143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968759" y="2677886"/>
            <a:ext cx="2183363" cy="963830"/>
          </a:xfrm>
          <a:custGeom>
            <a:avLst/>
            <a:gdLst>
              <a:gd name="connsiteX0" fmla="*/ 0 w 2183363"/>
              <a:gd name="connsiteY0" fmla="*/ 951722 h 963830"/>
              <a:gd name="connsiteX1" fmla="*/ 1119674 w 2183363"/>
              <a:gd name="connsiteY1" fmla="*/ 830424 h 963830"/>
              <a:gd name="connsiteX2" fmla="*/ 2183363 w 2183363"/>
              <a:gd name="connsiteY2" fmla="*/ 0 h 96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3363" h="963830">
                <a:moveTo>
                  <a:pt x="0" y="951722"/>
                </a:moveTo>
                <a:cubicBezTo>
                  <a:pt x="377890" y="970383"/>
                  <a:pt x="755780" y="989044"/>
                  <a:pt x="1119674" y="830424"/>
                </a:cubicBezTo>
                <a:cubicBezTo>
                  <a:pt x="1483568" y="671804"/>
                  <a:pt x="1833465" y="335902"/>
                  <a:pt x="218336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2" name="Freeform 24581"/>
          <p:cNvSpPr/>
          <p:nvPr/>
        </p:nvSpPr>
        <p:spPr bwMode="auto">
          <a:xfrm>
            <a:off x="3377682" y="2556588"/>
            <a:ext cx="699796" cy="279918"/>
          </a:xfrm>
          <a:custGeom>
            <a:avLst/>
            <a:gdLst>
              <a:gd name="connsiteX0" fmla="*/ 0 w 699796"/>
              <a:gd name="connsiteY0" fmla="*/ 279918 h 279918"/>
              <a:gd name="connsiteX1" fmla="*/ 699796 w 699796"/>
              <a:gd name="connsiteY1" fmla="*/ 0 h 27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9796" h="279918">
                <a:moveTo>
                  <a:pt x="0" y="279918"/>
                </a:moveTo>
                <a:lnTo>
                  <a:pt x="699796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5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Breadth-First Search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 would like to be introduced to </a:t>
            </a:r>
            <a:r>
              <a:rPr lang="en-US" altLang="en-US" sz="2800" b="1" dirty="0"/>
              <a:t>Ed</a:t>
            </a:r>
            <a:endParaRPr lang="en-US" altLang="en-US" sz="2800" b="1" i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 have friends, who have friends, ..., at least one of whom (I hope!) is a friend of </a:t>
            </a:r>
            <a:r>
              <a:rPr lang="en-US" altLang="en-US" sz="2400" b="1" dirty="0"/>
              <a:t>Ed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Breadth-First Search enables me to identify the </a:t>
            </a:r>
            <a:r>
              <a:rPr lang="en-US" altLang="en-US" sz="2800" i="1" dirty="0">
                <a:solidFill>
                  <a:srgbClr val="FF0000"/>
                </a:solidFill>
              </a:rPr>
              <a:t>shortest path</a:t>
            </a:r>
            <a:r>
              <a:rPr lang="en-US" altLang="en-US" sz="2800" dirty="0"/>
              <a:t> through friends, from </a:t>
            </a:r>
            <a:r>
              <a:rPr lang="en-US" altLang="en-US" sz="2800" b="1" dirty="0"/>
              <a:t>Ed</a:t>
            </a:r>
            <a:r>
              <a:rPr lang="en-US" altLang="en-US" sz="2800" dirty="0"/>
              <a:t> to </a:t>
            </a:r>
            <a:r>
              <a:rPr lang="en-US" altLang="en-US" sz="2800" b="1" dirty="0"/>
              <a:t>me</a:t>
            </a:r>
            <a:r>
              <a:rPr lang="en-US" altLang="en-US" sz="2800" dirty="0"/>
              <a:t> (assuming such a path exists)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Build a tree with </a:t>
            </a:r>
            <a:r>
              <a:rPr lang="en-US" altLang="en-US" sz="2400" b="1" dirty="0"/>
              <a:t>me</a:t>
            </a:r>
            <a:r>
              <a:rPr lang="en-US" altLang="en-US" sz="2400" dirty="0"/>
              <a:t> as root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Next level is my direct friends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Next level is my friends' direct friends, etc.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Stop at </a:t>
            </a:r>
            <a:r>
              <a:rPr lang="en-US" altLang="en-US" sz="2400" b="1" dirty="0"/>
              <a:t>Ed</a:t>
            </a:r>
            <a:r>
              <a:rPr lang="en-US" altLang="en-US" sz="2400" dirty="0"/>
              <a:t>: list of parents is shortest path</a:t>
            </a:r>
          </a:p>
          <a:p>
            <a:pPr marL="457200" lvl="1" indent="0" eaLnBrk="1" hangingPunct="1"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9DBEA0-0FBF-40DC-8064-6EF0815BF5A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6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8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Friends: </a:t>
            </a:r>
            <a:r>
              <a:rPr lang="en-US" altLang="en-US" dirty="0">
                <a:solidFill>
                  <a:srgbClr val="FF0000"/>
                </a:solidFill>
              </a:rPr>
              <a:t>1 Step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46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Friends: </a:t>
            </a:r>
            <a:r>
              <a:rPr lang="en-US" altLang="en-US" dirty="0">
                <a:solidFill>
                  <a:srgbClr val="00B050"/>
                </a:solidFill>
              </a:rPr>
              <a:t>2 Steps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0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Friends: </a:t>
            </a:r>
            <a:r>
              <a:rPr lang="en-US" altLang="en-US" dirty="0">
                <a:solidFill>
                  <a:srgbClr val="7030A0"/>
                </a:solidFill>
              </a:rPr>
              <a:t>3 Steps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39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Friends: </a:t>
            </a:r>
            <a:r>
              <a:rPr lang="en-US" altLang="en-US" dirty="0">
                <a:solidFill>
                  <a:srgbClr val="FFC000"/>
                </a:solidFill>
              </a:rPr>
              <a:t>4 Steps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91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Friends: </a:t>
            </a:r>
            <a:r>
              <a:rPr lang="en-US" altLang="en-US" dirty="0">
                <a:solidFill>
                  <a:srgbClr val="0070C0"/>
                </a:solidFill>
              </a:rPr>
              <a:t>5 Steps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57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Breadth-First Search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b="1" dirty="0"/>
              <a:t>G</a:t>
            </a:r>
            <a:r>
              <a:rPr lang="en-US" altLang="en-US" sz="2800" dirty="0"/>
              <a:t> is the graph</a:t>
            </a:r>
          </a:p>
          <a:p>
            <a:pPr eaLnBrk="1" hangingPunct="1"/>
            <a:r>
              <a:rPr lang="en-US" altLang="en-US" sz="2800" b="1" dirty="0"/>
              <a:t>T</a:t>
            </a:r>
            <a:r>
              <a:rPr lang="en-US" altLang="en-US" sz="2800" dirty="0"/>
              <a:t> is the tree</a:t>
            </a:r>
          </a:p>
          <a:p>
            <a:pPr eaLnBrk="1" hangingPunct="1"/>
            <a:r>
              <a:rPr lang="en-US" altLang="en-US" sz="2800" b="1" dirty="0"/>
              <a:t>S</a:t>
            </a:r>
            <a:r>
              <a:rPr lang="en-US" altLang="en-US" sz="2800" dirty="0"/>
              <a:t> is the set of nodes already in </a:t>
            </a:r>
            <a:r>
              <a:rPr lang="en-US" altLang="en-US" sz="2800" b="1" dirty="0"/>
              <a:t>T</a:t>
            </a:r>
          </a:p>
          <a:p>
            <a:pPr eaLnBrk="1" hangingPunct="1"/>
            <a:r>
              <a:rPr lang="en-US" altLang="en-US" sz="2800" b="1" dirty="0"/>
              <a:t>Q</a:t>
            </a:r>
            <a:r>
              <a:rPr lang="en-US" altLang="en-US" sz="2800" dirty="0"/>
              <a:t> is a queue (list) of nodes to check next for target (</a:t>
            </a:r>
            <a:r>
              <a:rPr lang="en-US" altLang="en-US" sz="2800" b="1" dirty="0"/>
              <a:t>Ed</a:t>
            </a:r>
            <a:r>
              <a:rPr lang="en-US" altLang="en-US" sz="2800" dirty="0"/>
              <a:t>) or addition to </a:t>
            </a:r>
            <a:r>
              <a:rPr lang="en-US" altLang="en-US" sz="2800" b="1" dirty="0"/>
              <a:t>T</a:t>
            </a:r>
            <a:endParaRPr lang="en-US" altLang="en-US" sz="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965A91-0E58-4216-BDC8-C652C04B15CB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8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Breadth-First Search Algorithm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BFS(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Pythonish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pseudocode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None)      # value, parent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cur =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.pop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if cur is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return cur parent list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for v in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[cur]: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if v not in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(v, cur)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[v]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56C472-DED6-4635-8E25-4E5072C09B5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9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0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BFS(G, 'Me', 'Ed')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slide 6, above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(root)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(root, None)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[root]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 == {'Me'}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Q == ['Me']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FB4158-BB9A-48EB-B33A-CBFACBE01EF3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172200" y="2478833"/>
            <a:ext cx="762000" cy="762000"/>
            <a:chOff x="2133600" y="2133600"/>
            <a:chExt cx="762000" cy="762000"/>
          </a:xfrm>
        </p:grpSpPr>
        <p:sp>
          <p:nvSpPr>
            <p:cNvPr id="9" name="Oval 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64702" y="233654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'Me'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224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1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cur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.pop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if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for v in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[cur]: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v not in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(v, cur)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+= [v]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== {'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Me',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 == [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E8C864-A09F-48CC-93D8-FC1E263BF67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172200" y="2478833"/>
            <a:ext cx="762000" cy="762000"/>
            <a:chOff x="2133600" y="2133600"/>
            <a:chExt cx="762000" cy="762000"/>
          </a:xfrm>
        </p:grpSpPr>
        <p:sp>
          <p:nvSpPr>
            <p:cNvPr id="9" name="Oval 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64702" y="233654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'Me'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95800" y="3581400"/>
            <a:ext cx="762000" cy="762000"/>
            <a:chOff x="2133600" y="2133600"/>
            <a:chExt cx="762000" cy="762000"/>
          </a:xfrm>
        </p:grpSpPr>
        <p:sp>
          <p:nvSpPr>
            <p:cNvPr id="12" name="Oval 1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A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86400" y="3581400"/>
            <a:ext cx="762000" cy="762000"/>
            <a:chOff x="2133600" y="2133600"/>
            <a:chExt cx="762000" cy="762000"/>
          </a:xfrm>
        </p:grpSpPr>
        <p:sp>
          <p:nvSpPr>
            <p:cNvPr id="15" name="Oval 1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77000" y="3581400"/>
            <a:ext cx="762000" cy="762000"/>
            <a:chOff x="2133600" y="2133600"/>
            <a:chExt cx="762000" cy="762000"/>
          </a:xfrm>
        </p:grpSpPr>
        <p:sp>
          <p:nvSpPr>
            <p:cNvPr id="18" name="Oval 1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467600" y="3581400"/>
            <a:ext cx="762000" cy="762000"/>
            <a:chOff x="2133600" y="2133600"/>
            <a:chExt cx="762000" cy="762000"/>
          </a:xfrm>
        </p:grpSpPr>
        <p:sp>
          <p:nvSpPr>
            <p:cNvPr id="21" name="Oval 2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cxnSp>
        <p:nvCxnSpPr>
          <p:cNvPr id="6" name="Straight Connector 5"/>
          <p:cNvCxnSpPr>
            <a:endCxn id="12" idx="7"/>
          </p:cNvCxnSpPr>
          <p:nvPr/>
        </p:nvCxnSpPr>
        <p:spPr bwMode="auto">
          <a:xfrm flipH="1">
            <a:off x="5146208" y="3051111"/>
            <a:ext cx="1057094" cy="641881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5867400" y="3203511"/>
            <a:ext cx="488302" cy="377889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6" name="Straight Connector 25"/>
          <p:cNvCxnSpPr>
            <a:endCxn id="18" idx="0"/>
          </p:cNvCxnSpPr>
          <p:nvPr/>
        </p:nvCxnSpPr>
        <p:spPr bwMode="auto">
          <a:xfrm>
            <a:off x="6660502" y="3240833"/>
            <a:ext cx="197498" cy="34056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6856572" y="3090175"/>
            <a:ext cx="830766" cy="491225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81542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2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3FB2A6-CE46-47A9-AC1A-D78F1643137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886200" y="2478833"/>
            <a:ext cx="762000" cy="762000"/>
            <a:chOff x="2133600" y="2133600"/>
            <a:chExt cx="762000" cy="762000"/>
          </a:xfrm>
        </p:grpSpPr>
        <p:sp>
          <p:nvSpPr>
            <p:cNvPr id="9" name="Oval 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64702" y="2336546"/>
              <a:ext cx="657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'Me'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09800" y="3581400"/>
            <a:ext cx="762000" cy="762000"/>
            <a:chOff x="2133600" y="2133600"/>
            <a:chExt cx="762000" cy="762000"/>
          </a:xfrm>
        </p:grpSpPr>
        <p:sp>
          <p:nvSpPr>
            <p:cNvPr id="12" name="Oval 1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A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00400" y="3581400"/>
            <a:ext cx="762000" cy="762000"/>
            <a:chOff x="2133600" y="2133600"/>
            <a:chExt cx="762000" cy="762000"/>
          </a:xfrm>
        </p:grpSpPr>
        <p:sp>
          <p:nvSpPr>
            <p:cNvPr id="15" name="Oval 1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191000" y="3581400"/>
            <a:ext cx="762000" cy="762000"/>
            <a:chOff x="2133600" y="2133600"/>
            <a:chExt cx="762000" cy="762000"/>
          </a:xfrm>
        </p:grpSpPr>
        <p:sp>
          <p:nvSpPr>
            <p:cNvPr id="18" name="Oval 1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81600" y="3581400"/>
            <a:ext cx="762000" cy="762000"/>
            <a:chOff x="2133600" y="2133600"/>
            <a:chExt cx="762000" cy="762000"/>
          </a:xfrm>
        </p:grpSpPr>
        <p:sp>
          <p:nvSpPr>
            <p:cNvPr id="21" name="Oval 2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cxnSp>
        <p:nvCxnSpPr>
          <p:cNvPr id="6" name="Straight Connector 5"/>
          <p:cNvCxnSpPr>
            <a:endCxn id="12" idx="7"/>
          </p:cNvCxnSpPr>
          <p:nvPr/>
        </p:nvCxnSpPr>
        <p:spPr bwMode="auto">
          <a:xfrm flipH="1">
            <a:off x="2860208" y="3051111"/>
            <a:ext cx="1057094" cy="641881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3581400" y="3203511"/>
            <a:ext cx="488302" cy="377889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6" name="Straight Connector 25"/>
          <p:cNvCxnSpPr>
            <a:endCxn id="18" idx="0"/>
          </p:cNvCxnSpPr>
          <p:nvPr/>
        </p:nvCxnSpPr>
        <p:spPr bwMode="auto">
          <a:xfrm>
            <a:off x="4374502" y="3240833"/>
            <a:ext cx="197498" cy="34056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4570572" y="3090175"/>
            <a:ext cx="830766" cy="491225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28" name="Group 27"/>
          <p:cNvGrpSpPr/>
          <p:nvPr/>
        </p:nvGrpSpPr>
        <p:grpSpPr>
          <a:xfrm>
            <a:off x="1676400" y="47244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B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667000" y="47244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J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657600" y="47244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Q</a:t>
              </a:r>
            </a:p>
          </p:txBody>
        </p:sp>
      </p:grpSp>
      <p:cxnSp>
        <p:nvCxnSpPr>
          <p:cNvPr id="37" name="Straight Connector 36"/>
          <p:cNvCxnSpPr/>
          <p:nvPr/>
        </p:nvCxnSpPr>
        <p:spPr bwMode="auto">
          <a:xfrm flipH="1">
            <a:off x="2057400" y="4267200"/>
            <a:ext cx="295094" cy="45720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2860208" y="4248540"/>
            <a:ext cx="176571" cy="4758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39" name="Straight Connector 38"/>
          <p:cNvCxnSpPr>
            <a:endCxn id="35" idx="0"/>
          </p:cNvCxnSpPr>
          <p:nvPr/>
        </p:nvCxnSpPr>
        <p:spPr bwMode="auto">
          <a:xfrm>
            <a:off x="3780453" y="4304914"/>
            <a:ext cx="258147" cy="419486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658858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2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== {'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Me',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'B'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'Q'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 == [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'Q'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0D627B-F254-4DDC-98D4-A84260272D5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8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3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C7784F-FEA3-468C-9896-38B8DFCF7FBE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209800" y="2590800"/>
            <a:ext cx="762000" cy="762000"/>
            <a:chOff x="2133600" y="2133600"/>
            <a:chExt cx="762000" cy="762000"/>
          </a:xfrm>
        </p:grpSpPr>
        <p:sp>
          <p:nvSpPr>
            <p:cNvPr id="12" name="Oval 1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A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00400" y="2590800"/>
            <a:ext cx="762000" cy="762000"/>
            <a:chOff x="2133600" y="2133600"/>
            <a:chExt cx="762000" cy="762000"/>
          </a:xfrm>
        </p:grpSpPr>
        <p:sp>
          <p:nvSpPr>
            <p:cNvPr id="15" name="Oval 1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191000" y="2590800"/>
            <a:ext cx="762000" cy="762000"/>
            <a:chOff x="2133600" y="2133600"/>
            <a:chExt cx="762000" cy="762000"/>
          </a:xfrm>
        </p:grpSpPr>
        <p:sp>
          <p:nvSpPr>
            <p:cNvPr id="18" name="Oval 1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81600" y="2590800"/>
            <a:ext cx="762000" cy="762000"/>
            <a:chOff x="2133600" y="2133600"/>
            <a:chExt cx="762000" cy="762000"/>
          </a:xfrm>
        </p:grpSpPr>
        <p:sp>
          <p:nvSpPr>
            <p:cNvPr id="21" name="Oval 2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676400" y="37338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B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667000" y="37338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J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657600" y="37338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Q</a:t>
              </a:r>
            </a:p>
          </p:txBody>
        </p:sp>
      </p:grpSp>
      <p:cxnSp>
        <p:nvCxnSpPr>
          <p:cNvPr id="37" name="Straight Connector 36"/>
          <p:cNvCxnSpPr/>
          <p:nvPr/>
        </p:nvCxnSpPr>
        <p:spPr bwMode="auto">
          <a:xfrm flipH="1">
            <a:off x="2057400" y="3276600"/>
            <a:ext cx="295094" cy="45720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2860208" y="3257940"/>
            <a:ext cx="176571" cy="4758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39" name="Straight Connector 38"/>
          <p:cNvCxnSpPr>
            <a:endCxn id="35" idx="0"/>
          </p:cNvCxnSpPr>
          <p:nvPr/>
        </p:nvCxnSpPr>
        <p:spPr bwMode="auto">
          <a:xfrm>
            <a:off x="3780453" y="3314314"/>
            <a:ext cx="258147" cy="419486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40" name="Group 39"/>
          <p:cNvGrpSpPr/>
          <p:nvPr/>
        </p:nvGrpSpPr>
        <p:grpSpPr>
          <a:xfrm>
            <a:off x="1600200" y="497166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E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590800" y="497166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L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581400" y="497166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W</a:t>
              </a:r>
            </a:p>
          </p:txBody>
        </p:sp>
      </p:grpSp>
      <p:cxnSp>
        <p:nvCxnSpPr>
          <p:cNvPr id="49" name="Straight Connector 48"/>
          <p:cNvCxnSpPr>
            <a:stCxn id="32" idx="3"/>
          </p:cNvCxnSpPr>
          <p:nvPr/>
        </p:nvCxnSpPr>
        <p:spPr bwMode="auto">
          <a:xfrm flipH="1">
            <a:off x="1981200" y="4384208"/>
            <a:ext cx="797392" cy="58745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50" name="Straight Connector 49"/>
          <p:cNvCxnSpPr>
            <a:stCxn id="32" idx="4"/>
          </p:cNvCxnSpPr>
          <p:nvPr/>
        </p:nvCxnSpPr>
        <p:spPr bwMode="auto">
          <a:xfrm flipH="1">
            <a:off x="2960579" y="4495800"/>
            <a:ext cx="87421" cy="4758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51" name="Straight Connector 50"/>
          <p:cNvCxnSpPr>
            <a:stCxn id="32" idx="5"/>
            <a:endCxn id="47" idx="0"/>
          </p:cNvCxnSpPr>
          <p:nvPr/>
        </p:nvCxnSpPr>
        <p:spPr bwMode="auto">
          <a:xfrm>
            <a:off x="3317408" y="4384208"/>
            <a:ext cx="644992" cy="58745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52" name="Group 51"/>
          <p:cNvGrpSpPr/>
          <p:nvPr/>
        </p:nvGrpSpPr>
        <p:grpSpPr>
          <a:xfrm>
            <a:off x="4572000" y="497166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562600" y="497166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40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Y</a:t>
              </a:r>
            </a:p>
          </p:txBody>
        </p:sp>
      </p:grpSp>
      <p:cxnSp>
        <p:nvCxnSpPr>
          <p:cNvPr id="61" name="Straight Connector 60"/>
          <p:cNvCxnSpPr>
            <a:stCxn id="35" idx="4"/>
          </p:cNvCxnSpPr>
          <p:nvPr/>
        </p:nvCxnSpPr>
        <p:spPr bwMode="auto">
          <a:xfrm>
            <a:off x="4038600" y="4495800"/>
            <a:ext cx="914400" cy="4758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62" name="Straight Connector 61"/>
          <p:cNvCxnSpPr>
            <a:stCxn id="35" idx="5"/>
          </p:cNvCxnSpPr>
          <p:nvPr/>
        </p:nvCxnSpPr>
        <p:spPr bwMode="auto">
          <a:xfrm>
            <a:off x="4308008" y="4384208"/>
            <a:ext cx="1624371" cy="58745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3538245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3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== {'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Me',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'B'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'Q'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 == [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FB5565-73C7-46C1-A46C-4C2F4054AFE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948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4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E8D7EE-6030-4E4D-AB86-244F23AF602F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2209800" y="2743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B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200400" y="2743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J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191000" y="2743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Q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133600" y="398106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E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124200" y="398106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L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114800" y="398106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W</a:t>
              </a:r>
            </a:p>
          </p:txBody>
        </p:sp>
      </p:grpSp>
      <p:cxnSp>
        <p:nvCxnSpPr>
          <p:cNvPr id="49" name="Straight Connector 48"/>
          <p:cNvCxnSpPr>
            <a:stCxn id="32" idx="3"/>
          </p:cNvCxnSpPr>
          <p:nvPr/>
        </p:nvCxnSpPr>
        <p:spPr bwMode="auto">
          <a:xfrm flipH="1">
            <a:off x="2514600" y="3393608"/>
            <a:ext cx="797392" cy="58745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50" name="Straight Connector 49"/>
          <p:cNvCxnSpPr>
            <a:stCxn id="32" idx="4"/>
          </p:cNvCxnSpPr>
          <p:nvPr/>
        </p:nvCxnSpPr>
        <p:spPr bwMode="auto">
          <a:xfrm flipH="1">
            <a:off x="3493979" y="3505200"/>
            <a:ext cx="87421" cy="4758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51" name="Straight Connector 50"/>
          <p:cNvCxnSpPr>
            <a:stCxn id="32" idx="5"/>
            <a:endCxn id="47" idx="0"/>
          </p:cNvCxnSpPr>
          <p:nvPr/>
        </p:nvCxnSpPr>
        <p:spPr bwMode="auto">
          <a:xfrm>
            <a:off x="3850808" y="3393608"/>
            <a:ext cx="644992" cy="58745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52" name="Group 51"/>
          <p:cNvGrpSpPr/>
          <p:nvPr/>
        </p:nvGrpSpPr>
        <p:grpSpPr>
          <a:xfrm>
            <a:off x="5105400" y="398106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096000" y="398106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40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Y</a:t>
              </a:r>
            </a:p>
          </p:txBody>
        </p:sp>
      </p:grpSp>
      <p:cxnSp>
        <p:nvCxnSpPr>
          <p:cNvPr id="61" name="Straight Connector 60"/>
          <p:cNvCxnSpPr>
            <a:stCxn id="35" idx="4"/>
          </p:cNvCxnSpPr>
          <p:nvPr/>
        </p:nvCxnSpPr>
        <p:spPr bwMode="auto">
          <a:xfrm>
            <a:off x="4572000" y="3505200"/>
            <a:ext cx="914400" cy="4758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62" name="Straight Connector 61"/>
          <p:cNvCxnSpPr>
            <a:stCxn id="35" idx="5"/>
          </p:cNvCxnSpPr>
          <p:nvPr/>
        </p:nvCxnSpPr>
        <p:spPr bwMode="auto">
          <a:xfrm>
            <a:off x="4841408" y="3393608"/>
            <a:ext cx="1624371" cy="58745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58" name="Group 57"/>
          <p:cNvGrpSpPr/>
          <p:nvPr/>
        </p:nvGrpSpPr>
        <p:grpSpPr>
          <a:xfrm>
            <a:off x="1600200" y="5159452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F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590800" y="5159452"/>
            <a:ext cx="762000" cy="762000"/>
            <a:chOff x="2133600" y="2133600"/>
            <a:chExt cx="762000" cy="762000"/>
          </a:xfrm>
        </p:grpSpPr>
        <p:sp>
          <p:nvSpPr>
            <p:cNvPr id="64" name="Oval 6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K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791200" y="5159452"/>
            <a:ext cx="762000" cy="762000"/>
            <a:chOff x="2133600" y="2133600"/>
            <a:chExt cx="762000" cy="762000"/>
          </a:xfrm>
        </p:grpSpPr>
        <p:sp>
          <p:nvSpPr>
            <p:cNvPr id="67" name="Oval 6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353338" y="2329934"/>
              <a:ext cx="330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S</a:t>
              </a:r>
            </a:p>
          </p:txBody>
        </p:sp>
      </p:grpSp>
      <p:cxnSp>
        <p:nvCxnSpPr>
          <p:cNvPr id="69" name="Straight Connector 68"/>
          <p:cNvCxnSpPr>
            <a:stCxn id="41" idx="3"/>
          </p:cNvCxnSpPr>
          <p:nvPr/>
        </p:nvCxnSpPr>
        <p:spPr bwMode="auto">
          <a:xfrm flipH="1">
            <a:off x="1981200" y="4631468"/>
            <a:ext cx="263992" cy="527984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0" name="Straight Connector 69"/>
          <p:cNvCxnSpPr>
            <a:stCxn id="41" idx="5"/>
          </p:cNvCxnSpPr>
          <p:nvPr/>
        </p:nvCxnSpPr>
        <p:spPr bwMode="auto">
          <a:xfrm>
            <a:off x="2784008" y="4631468"/>
            <a:ext cx="176572" cy="527984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1" name="Straight Connector 70"/>
          <p:cNvCxnSpPr>
            <a:stCxn id="56" idx="4"/>
            <a:endCxn id="67" idx="0"/>
          </p:cNvCxnSpPr>
          <p:nvPr/>
        </p:nvCxnSpPr>
        <p:spPr bwMode="auto">
          <a:xfrm flipH="1">
            <a:off x="6172200" y="4743060"/>
            <a:ext cx="304800" cy="41639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72" name="Group 71"/>
          <p:cNvGrpSpPr/>
          <p:nvPr/>
        </p:nvGrpSpPr>
        <p:grpSpPr>
          <a:xfrm>
            <a:off x="6781800" y="5159452"/>
            <a:ext cx="762000" cy="762000"/>
            <a:chOff x="2133600" y="2133600"/>
            <a:chExt cx="762000" cy="762000"/>
          </a:xfrm>
        </p:grpSpPr>
        <p:sp>
          <p:nvSpPr>
            <p:cNvPr id="73" name="Oval 7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Z</a:t>
              </a:r>
            </a:p>
          </p:txBody>
        </p:sp>
      </p:grpSp>
      <p:cxnSp>
        <p:nvCxnSpPr>
          <p:cNvPr id="75" name="Straight Connector 74"/>
          <p:cNvCxnSpPr>
            <a:stCxn id="56" idx="5"/>
          </p:cNvCxnSpPr>
          <p:nvPr/>
        </p:nvCxnSpPr>
        <p:spPr bwMode="auto">
          <a:xfrm>
            <a:off x="6746408" y="4631468"/>
            <a:ext cx="416392" cy="527984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4270051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4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== {'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Me',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'B'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'Q'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altLang="en-US" sz="2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'K'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 == [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'K'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55E166-94AC-475E-ADA7-87F569D56C7C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483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5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chemeClr val="bg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52531-E22A-4418-A79C-73A89D9788C6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pSp>
        <p:nvGrpSpPr>
          <p:cNvPr id="40" name="Group 39"/>
          <p:cNvGrpSpPr/>
          <p:nvPr/>
        </p:nvGrpSpPr>
        <p:grpSpPr>
          <a:xfrm>
            <a:off x="2133600" y="2631608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E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124200" y="2631608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L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114800" y="2631608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W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105400" y="2631608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096000" y="2631608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40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Y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600200" y="38100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F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590800" y="3810000"/>
            <a:ext cx="762000" cy="762000"/>
            <a:chOff x="2133600" y="2133600"/>
            <a:chExt cx="762000" cy="762000"/>
          </a:xfrm>
        </p:grpSpPr>
        <p:sp>
          <p:nvSpPr>
            <p:cNvPr id="64" name="Oval 6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K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791200" y="3810000"/>
            <a:ext cx="762000" cy="762000"/>
            <a:chOff x="2133600" y="2133600"/>
            <a:chExt cx="762000" cy="762000"/>
          </a:xfrm>
        </p:grpSpPr>
        <p:sp>
          <p:nvSpPr>
            <p:cNvPr id="67" name="Oval 6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353338" y="2329934"/>
              <a:ext cx="330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S</a:t>
              </a:r>
            </a:p>
          </p:txBody>
        </p:sp>
      </p:grpSp>
      <p:cxnSp>
        <p:nvCxnSpPr>
          <p:cNvPr id="69" name="Straight Connector 68"/>
          <p:cNvCxnSpPr>
            <a:stCxn id="41" idx="3"/>
          </p:cNvCxnSpPr>
          <p:nvPr/>
        </p:nvCxnSpPr>
        <p:spPr bwMode="auto">
          <a:xfrm flipH="1">
            <a:off x="1981200" y="3282016"/>
            <a:ext cx="263992" cy="527984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0" name="Straight Connector 69"/>
          <p:cNvCxnSpPr>
            <a:stCxn id="41" idx="5"/>
          </p:cNvCxnSpPr>
          <p:nvPr/>
        </p:nvCxnSpPr>
        <p:spPr bwMode="auto">
          <a:xfrm>
            <a:off x="2784008" y="3282016"/>
            <a:ext cx="176572" cy="527984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1" name="Straight Connector 70"/>
          <p:cNvCxnSpPr>
            <a:stCxn id="56" idx="4"/>
            <a:endCxn id="67" idx="0"/>
          </p:cNvCxnSpPr>
          <p:nvPr/>
        </p:nvCxnSpPr>
        <p:spPr bwMode="auto">
          <a:xfrm flipH="1">
            <a:off x="6172200" y="3393608"/>
            <a:ext cx="304800" cy="416392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72" name="Group 71"/>
          <p:cNvGrpSpPr/>
          <p:nvPr/>
        </p:nvGrpSpPr>
        <p:grpSpPr>
          <a:xfrm>
            <a:off x="6781800" y="3810000"/>
            <a:ext cx="762000" cy="762000"/>
            <a:chOff x="2133600" y="2133600"/>
            <a:chExt cx="762000" cy="762000"/>
          </a:xfrm>
        </p:grpSpPr>
        <p:sp>
          <p:nvSpPr>
            <p:cNvPr id="73" name="Oval 7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</a:rPr>
                <a:t>Z</a:t>
              </a:r>
            </a:p>
          </p:txBody>
        </p:sp>
      </p:grpSp>
      <p:cxnSp>
        <p:nvCxnSpPr>
          <p:cNvPr id="75" name="Straight Connector 74"/>
          <p:cNvCxnSpPr>
            <a:stCxn id="56" idx="5"/>
          </p:cNvCxnSpPr>
          <p:nvPr/>
        </p:nvCxnSpPr>
        <p:spPr bwMode="auto">
          <a:xfrm>
            <a:off x="6746408" y="3282016"/>
            <a:ext cx="416392" cy="527984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pSp>
        <p:nvGrpSpPr>
          <p:cNvPr id="76" name="Group 75"/>
          <p:cNvGrpSpPr/>
          <p:nvPr/>
        </p:nvGrpSpPr>
        <p:grpSpPr>
          <a:xfrm>
            <a:off x="1524000" y="512406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M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2819400" y="512406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G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7086600" y="512406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291245" y="2331879"/>
              <a:ext cx="473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Ed</a:t>
              </a:r>
            </a:p>
          </p:txBody>
        </p:sp>
      </p:grpSp>
      <p:cxnSp>
        <p:nvCxnSpPr>
          <p:cNvPr id="85" name="Straight Connector 84"/>
          <p:cNvCxnSpPr/>
          <p:nvPr/>
        </p:nvCxnSpPr>
        <p:spPr bwMode="auto">
          <a:xfrm flipH="1">
            <a:off x="1905000" y="4572000"/>
            <a:ext cx="34465" cy="5520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86" name="Straight Connector 85"/>
          <p:cNvCxnSpPr/>
          <p:nvPr/>
        </p:nvCxnSpPr>
        <p:spPr bwMode="auto">
          <a:xfrm>
            <a:off x="3039138" y="4572000"/>
            <a:ext cx="150041" cy="5520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87" name="Straight Connector 86"/>
          <p:cNvCxnSpPr>
            <a:stCxn id="73" idx="4"/>
            <a:endCxn id="83" idx="0"/>
          </p:cNvCxnSpPr>
          <p:nvPr/>
        </p:nvCxnSpPr>
        <p:spPr bwMode="auto">
          <a:xfrm>
            <a:off x="7162800" y="4572000"/>
            <a:ext cx="304800" cy="55206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8" name="Rectangle 7"/>
          <p:cNvSpPr/>
          <p:nvPr/>
        </p:nvSpPr>
        <p:spPr bwMode="auto">
          <a:xfrm>
            <a:off x="6655896" y="4953000"/>
            <a:ext cx="1649904" cy="1066800"/>
          </a:xfrm>
          <a:prstGeom prst="rect">
            <a:avLst/>
          </a:prstGeom>
          <a:noFill/>
          <a:ln w="571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01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5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== {'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Me',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'B'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'J'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'Q'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altLang="en-US" sz="2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'K'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'Z'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altLang="en-US" sz="2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'Ed</a:t>
            </a:r>
            <a:r>
              <a:rPr lang="en-US" alt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 == [</a:t>
            </a:r>
            <a:r>
              <a:rPr lang="en-US" alt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'Ed</a:t>
            </a:r>
            <a:r>
              <a:rPr lang="en-US" alt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B3B926-17A2-4FFA-A9A4-5591170908A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46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Level 5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A    I    N    V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B   J   Q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 L  W  X  Y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8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 K        S  Z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 G          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Ed -&gt; Z -&gt; Y -&gt; Q -&gt; I -&gt; 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6808EF-9341-4F28-9536-5F45B2893F81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 bwMode="auto">
          <a:xfrm flipH="1">
            <a:off x="3352800" y="2438400"/>
            <a:ext cx="15240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H="1">
            <a:off x="4419600" y="2455506"/>
            <a:ext cx="4572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876800" y="2458616"/>
            <a:ext cx="4572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 flipH="1" flipV="1">
            <a:off x="4876800" y="2458616"/>
            <a:ext cx="1600200" cy="208384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 flipH="1">
            <a:off x="2895600" y="3037892"/>
            <a:ext cx="3810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H="1" flipV="1">
            <a:off x="3276600" y="3037892"/>
            <a:ext cx="4572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4304522" y="3037892"/>
            <a:ext cx="267478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 flipH="1">
            <a:off x="2438400" y="3619500"/>
            <a:ext cx="1284514" cy="230933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H="1">
            <a:off x="3086100" y="3621833"/>
            <a:ext cx="6477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3755571" y="3635051"/>
            <a:ext cx="0" cy="215382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flipH="1">
            <a:off x="4419600" y="3619500"/>
            <a:ext cx="185057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4611655" y="3620666"/>
            <a:ext cx="341345" cy="227434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flipH="1">
            <a:off x="2057400" y="4191000"/>
            <a:ext cx="381000" cy="227822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2446953" y="4190222"/>
            <a:ext cx="262812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42" name="Straight Connector 41"/>
          <p:cNvCxnSpPr/>
          <p:nvPr/>
        </p:nvCxnSpPr>
        <p:spPr bwMode="auto">
          <a:xfrm flipH="1">
            <a:off x="4605435" y="4191778"/>
            <a:ext cx="381000" cy="227822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43" name="Straight Connector 42"/>
          <p:cNvCxnSpPr/>
          <p:nvPr/>
        </p:nvCxnSpPr>
        <p:spPr bwMode="auto">
          <a:xfrm>
            <a:off x="4994988" y="4191000"/>
            <a:ext cx="262812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44" name="Straight Connector 43"/>
          <p:cNvCxnSpPr/>
          <p:nvPr/>
        </p:nvCxnSpPr>
        <p:spPr bwMode="auto">
          <a:xfrm>
            <a:off x="1981200" y="4800600"/>
            <a:ext cx="0" cy="215382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>
            <a:off x="2667000" y="4800600"/>
            <a:ext cx="0" cy="215382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>
            <a:off x="5257800" y="4800600"/>
            <a:ext cx="0" cy="215382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24586" name="Rectangle 24585"/>
          <p:cNvSpPr/>
          <p:nvPr/>
        </p:nvSpPr>
        <p:spPr bwMode="auto">
          <a:xfrm>
            <a:off x="1676400" y="5562600"/>
            <a:ext cx="6400800" cy="533400"/>
          </a:xfrm>
          <a:prstGeom prst="rect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861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Friends: </a:t>
            </a:r>
            <a:r>
              <a:rPr lang="en-US" altLang="en-US" dirty="0">
                <a:solidFill>
                  <a:srgbClr val="A7F559"/>
                </a:solidFill>
              </a:rPr>
              <a:t>6 Steps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937009-55A9-496A-B02E-F04B22FDA614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A7F5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  <a:ln w="38100" cap="sq" cmpd="sng" algn="ctr">
              <a:solidFill>
                <a:srgbClr val="A7F5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A7F5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  <a:ln w="38100" cap="sq" cmpd="sng" algn="ctr">
              <a:solidFill>
                <a:srgbClr val="A7F5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  <a:ln w="38100" cap="sq" cmpd="sng" algn="ctr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  <a:ln w="38100" cap="sq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  <a:ln w="38100" cap="sq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marR="0" indent="0" defTabSz="914400" latinLnBrk="0">
                <a:lnSpc>
                  <a:spcPct val="100000"/>
                </a:lnSpc>
                <a:buClrTx/>
                <a:buSzTx/>
                <a:buFontTx/>
                <a:buNone/>
                <a:tabLst/>
                <a:defRPr kumimoji="0" sz="1800" b="0" i="0" u="none" strike="noStrike" cap="none" normalizeH="0" baseline="0">
                  <a:ln>
                    <a:noFill/>
                  </a:ln>
                  <a:effectLst/>
                </a:defRPr>
              </a:lvl1pPr>
            </a:lstStyle>
            <a:p>
              <a:r>
                <a:rPr lang="en-US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75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Connected Components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6AC6C4-4CC2-4985-816F-A7C1F669B539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93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Connected Components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There is no guarantee that all nodes in a graph are connected</a:t>
            </a:r>
            <a:endParaRPr lang="en-US" altLang="en-US" sz="2400" b="1" i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 </a:t>
            </a:r>
            <a:r>
              <a:rPr lang="en-US" altLang="en-US" sz="2400" i="1" dirty="0"/>
              <a:t>connected component</a:t>
            </a:r>
            <a:r>
              <a:rPr lang="en-US" altLang="en-US" sz="2400" dirty="0"/>
              <a:t> is a subset of nodes in a graph that are—eventually—connected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Our graph of friends has </a:t>
            </a:r>
            <a:r>
              <a:rPr lang="en-US" altLang="en-US" sz="2800" i="1" dirty="0"/>
              <a:t>two</a:t>
            </a:r>
            <a:r>
              <a:rPr lang="en-US" altLang="en-US" sz="2800" dirty="0"/>
              <a:t> separate connected components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The yellow nodes, and the white nodes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 "shortest path" from </a:t>
            </a:r>
            <a:r>
              <a:rPr lang="en-US" altLang="en-US" sz="2400" b="1" dirty="0"/>
              <a:t>me</a:t>
            </a:r>
            <a:r>
              <a:rPr lang="en-US" altLang="en-US" sz="2400" dirty="0"/>
              <a:t> to </a:t>
            </a:r>
            <a:r>
              <a:rPr lang="en-US" altLang="en-US" sz="2400" b="1" dirty="0"/>
              <a:t>H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Iterating BFS over all nodes in the graph identifies all connected components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4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92F9B2-9436-4850-8283-4687BE1A27C2}" type="datetime1">
              <a:rPr lang="en-US" smtClean="0"/>
              <a:t>8/2/2021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814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39225</TotalTime>
  <Words>2546</Words>
  <Application>Microsoft Office PowerPoint</Application>
  <PresentationFormat>On-screen Show (4:3)</PresentationFormat>
  <Paragraphs>641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Courier New</vt:lpstr>
      <vt:lpstr>Tahoma</vt:lpstr>
      <vt:lpstr>Times New Roman</vt:lpstr>
      <vt:lpstr>Wingdings</vt:lpstr>
      <vt:lpstr>Blends</vt:lpstr>
      <vt:lpstr>MSCF Programming Prep 46-900</vt:lpstr>
      <vt:lpstr>Graphs</vt:lpstr>
      <vt:lpstr>Adjacency List</vt:lpstr>
      <vt:lpstr>Adjacency List (cont)</vt:lpstr>
      <vt:lpstr>Breadth-First Search</vt:lpstr>
      <vt:lpstr>The Graph of Friends</vt:lpstr>
      <vt:lpstr>The Graph of Friends: 1 Step</vt:lpstr>
      <vt:lpstr>The Graph of Friends: 2 Steps</vt:lpstr>
      <vt:lpstr>The Graph of Friends: 3 Steps</vt:lpstr>
      <vt:lpstr>The Graph of Friends: 4 Steps</vt:lpstr>
      <vt:lpstr>The Graph of Friends: 5 Steps</vt:lpstr>
      <vt:lpstr>Breadth-First Search Algorithm</vt:lpstr>
      <vt:lpstr>Breadth-First Search Algorithm (cont)</vt:lpstr>
      <vt:lpstr>BFS Level 0</vt:lpstr>
      <vt:lpstr>BFS Level 1</vt:lpstr>
      <vt:lpstr>BFS Level 2</vt:lpstr>
      <vt:lpstr>BFS Level 2 (cont)</vt:lpstr>
      <vt:lpstr>BFS Level 3</vt:lpstr>
      <vt:lpstr>BFS Level 3 (cont)</vt:lpstr>
      <vt:lpstr>BFS Level 4</vt:lpstr>
      <vt:lpstr>BFS Level 4 (cont)</vt:lpstr>
      <vt:lpstr>BFS Level 5</vt:lpstr>
      <vt:lpstr>BFS Level 5 (cont)</vt:lpstr>
      <vt:lpstr>BFS Level 5 (cont)</vt:lpstr>
      <vt:lpstr>The Graph of Friends: 6 Steps</vt:lpstr>
      <vt:lpstr>Connected Components</vt:lpstr>
      <vt:lpstr>Connected Components (cont)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743</cp:revision>
  <cp:lastPrinted>2021-08-02T19:24:16Z</cp:lastPrinted>
  <dcterms:created xsi:type="dcterms:W3CDTF">2003-08-31T19:53:38Z</dcterms:created>
  <dcterms:modified xsi:type="dcterms:W3CDTF">2021-08-03T01:12:37Z</dcterms:modified>
</cp:coreProperties>
</file>
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19"/>
  </p:notesMasterIdLst>
  <p:sldIdLst>
    <p:sldId id="712" r:id="rId2"/>
    <p:sldId id="270" r:id="rId3"/>
    <p:sldId id="271" r:id="rId4"/>
    <p:sldId id="272" r:id="rId5"/>
    <p:sldId id="732" r:id="rId6"/>
    <p:sldId id="726" r:id="rId7"/>
    <p:sldId id="733" r:id="rId8"/>
    <p:sldId id="734" r:id="rId9"/>
    <p:sldId id="727" r:id="rId10"/>
    <p:sldId id="735" r:id="rId11"/>
    <p:sldId id="729" r:id="rId12"/>
    <p:sldId id="736" r:id="rId13"/>
    <p:sldId id="730" r:id="rId14"/>
    <p:sldId id="737" r:id="rId15"/>
    <p:sldId id="731" r:id="rId16"/>
    <p:sldId id="738" r:id="rId17"/>
    <p:sldId id="739" r:id="rId18"/>
  </p:sldIdLst>
  <p:sldSz cx="9144000" cy="6858000" type="screen4x3"/>
  <p:notesSz cx="6881813" cy="9296400"/>
  <p:defaultTextStyle>
    <a:defPPr>
      <a:defRPr lang="en-US"/>
    </a:defPPr>
    <a:lvl1pPr algn="l" rtl="0" eaLnBrk="0" fontAlgn="base" hangingPunct="0">
      <a:spcBef>
        <a:spcPct val="0"/>
      </a:spcBef>
      <a:spcAft>
        <a:spcPct val="0"/>
      </a:spcAft>
      <a:defRPr kern="1200">
        <a:solidFill>
          <a:schemeClr val="tx1"/>
        </a:solidFill>
        <a:latin typeface="Tahoma"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itchFamily="34" charset="0"/>
        <a:ea typeface="+mn-ea"/>
        <a:cs typeface="+mn-cs"/>
      </a:defRPr>
    </a:lvl5pPr>
    <a:lvl6pPr marL="2286000" algn="l" defTabSz="914400" rtl="0" eaLnBrk="1" latinLnBrk="0" hangingPunct="1">
      <a:defRPr kern="1200">
        <a:solidFill>
          <a:schemeClr val="tx1"/>
        </a:solidFill>
        <a:latin typeface="Tahoma" pitchFamily="34" charset="0"/>
        <a:ea typeface="+mn-ea"/>
        <a:cs typeface="+mn-cs"/>
      </a:defRPr>
    </a:lvl6pPr>
    <a:lvl7pPr marL="2743200" algn="l" defTabSz="914400" rtl="0" eaLnBrk="1" latinLnBrk="0" hangingPunct="1">
      <a:defRPr kern="1200">
        <a:solidFill>
          <a:schemeClr val="tx1"/>
        </a:solidFill>
        <a:latin typeface="Tahoma" pitchFamily="34" charset="0"/>
        <a:ea typeface="+mn-ea"/>
        <a:cs typeface="+mn-cs"/>
      </a:defRPr>
    </a:lvl7pPr>
    <a:lvl8pPr marL="3200400" algn="l" defTabSz="914400" rtl="0" eaLnBrk="1" latinLnBrk="0" hangingPunct="1">
      <a:defRPr kern="1200">
        <a:solidFill>
          <a:schemeClr val="tx1"/>
        </a:solidFill>
        <a:latin typeface="Tahoma" pitchFamily="34" charset="0"/>
        <a:ea typeface="+mn-ea"/>
        <a:cs typeface="+mn-cs"/>
      </a:defRPr>
    </a:lvl8pPr>
    <a:lvl9pPr marL="3657600" algn="l" defTabSz="914400" rtl="0" eaLnBrk="1" latinLnBrk="0" hangingPunct="1">
      <a:defRPr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79" autoAdjust="0"/>
    <p:restoredTop sz="95647" autoAdjust="0"/>
  </p:normalViewPr>
  <p:slideViewPr>
    <p:cSldViewPr>
      <p:cViewPr varScale="1">
        <p:scale>
          <a:sx n="104" d="100"/>
          <a:sy n="104" d="100"/>
        </p:scale>
        <p:origin x="126" y="14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bwMode="auto">
          <a:xfrm>
            <a:off x="1" y="0"/>
            <a:ext cx="2982119" cy="464820"/>
          </a:xfrm>
          <a:prstGeom prst="rect">
            <a:avLst/>
          </a:prstGeom>
          <a:noFill/>
          <a:ln w="9525">
            <a:noFill/>
            <a:miter lim="800000"/>
            <a:headEnd/>
            <a:tailEnd/>
          </a:ln>
          <a:effectLst/>
        </p:spPr>
        <p:txBody>
          <a:bodyPr vert="horz" wrap="square" lIns="92438" tIns="46219" rIns="92438" bIns="46219" numCol="1" anchor="t" anchorCtr="0" compatLnSpc="1">
            <a:prstTxWarp prst="textNoShape">
              <a:avLst/>
            </a:prstTxWarp>
          </a:bodyPr>
          <a:lstStyle>
            <a:lvl1pPr eaLnBrk="1" hangingPunct="1">
              <a:defRPr sz="1200">
                <a:latin typeface="Times New Roman" pitchFamily="18" charset="0"/>
              </a:defRPr>
            </a:lvl1pPr>
          </a:lstStyle>
          <a:p>
            <a:pPr>
              <a:defRPr/>
            </a:pPr>
            <a:endParaRPr lang="en-US"/>
          </a:p>
        </p:txBody>
      </p:sp>
      <p:sp>
        <p:nvSpPr>
          <p:cNvPr id="74755" name="Rectangle 3"/>
          <p:cNvSpPr>
            <a:spLocks noGrp="1" noChangeArrowheads="1"/>
          </p:cNvSpPr>
          <p:nvPr>
            <p:ph type="dt" idx="1"/>
          </p:nvPr>
        </p:nvSpPr>
        <p:spPr bwMode="auto">
          <a:xfrm>
            <a:off x="3898102" y="0"/>
            <a:ext cx="2982119" cy="464820"/>
          </a:xfrm>
          <a:prstGeom prst="rect">
            <a:avLst/>
          </a:prstGeom>
          <a:noFill/>
          <a:ln w="9525">
            <a:noFill/>
            <a:miter lim="800000"/>
            <a:headEnd/>
            <a:tailEnd/>
          </a:ln>
          <a:effectLst/>
        </p:spPr>
        <p:txBody>
          <a:bodyPr vert="horz" wrap="square" lIns="92438" tIns="46219" rIns="92438" bIns="46219" numCol="1" anchor="t" anchorCtr="0" compatLnSpc="1">
            <a:prstTxWarp prst="textNoShape">
              <a:avLst/>
            </a:prstTxWarp>
          </a:bodyPr>
          <a:lstStyle>
            <a:lvl1pPr algn="r" eaLnBrk="1" hangingPunct="1">
              <a:defRPr sz="1200">
                <a:latin typeface="Times New Roman" pitchFamily="18" charset="0"/>
              </a:defRPr>
            </a:lvl1pPr>
          </a:lstStyle>
          <a:p>
            <a:pPr>
              <a:defRPr/>
            </a:pPr>
            <a:endParaRPr lang="en-US"/>
          </a:p>
        </p:txBody>
      </p:sp>
      <p:sp>
        <p:nvSpPr>
          <p:cNvPr id="60420" name="Rectangle 4"/>
          <p:cNvSpPr>
            <a:spLocks noGrp="1" noRot="1" noChangeAspect="1" noChangeArrowheads="1" noTextEdit="1"/>
          </p:cNvSpPr>
          <p:nvPr>
            <p:ph type="sldImg" idx="2"/>
          </p:nvPr>
        </p:nvSpPr>
        <p:spPr bwMode="auto">
          <a:xfrm>
            <a:off x="11176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7" name="Rectangle 5"/>
          <p:cNvSpPr>
            <a:spLocks noGrp="1" noChangeArrowheads="1"/>
          </p:cNvSpPr>
          <p:nvPr>
            <p:ph type="body" sz="quarter" idx="3"/>
          </p:nvPr>
        </p:nvSpPr>
        <p:spPr bwMode="auto">
          <a:xfrm>
            <a:off x="688182" y="4415790"/>
            <a:ext cx="5505450" cy="4183380"/>
          </a:xfrm>
          <a:prstGeom prst="rect">
            <a:avLst/>
          </a:prstGeom>
          <a:noFill/>
          <a:ln w="9525">
            <a:noFill/>
            <a:miter lim="800000"/>
            <a:headEnd/>
            <a:tailEnd/>
          </a:ln>
          <a:effectLst/>
        </p:spPr>
        <p:txBody>
          <a:bodyPr vert="horz" wrap="square" lIns="92438" tIns="46219" rIns="92438" bIns="4621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4758" name="Rectangle 6"/>
          <p:cNvSpPr>
            <a:spLocks noGrp="1" noChangeArrowheads="1"/>
          </p:cNvSpPr>
          <p:nvPr>
            <p:ph type="ftr" sz="quarter" idx="4"/>
          </p:nvPr>
        </p:nvSpPr>
        <p:spPr bwMode="auto">
          <a:xfrm>
            <a:off x="1" y="8829967"/>
            <a:ext cx="2982119" cy="464820"/>
          </a:xfrm>
          <a:prstGeom prst="rect">
            <a:avLst/>
          </a:prstGeom>
          <a:noFill/>
          <a:ln w="9525">
            <a:noFill/>
            <a:miter lim="800000"/>
            <a:headEnd/>
            <a:tailEnd/>
          </a:ln>
          <a:effectLst/>
        </p:spPr>
        <p:txBody>
          <a:bodyPr vert="horz" wrap="square" lIns="92438" tIns="46219" rIns="92438" bIns="46219" numCol="1" anchor="b" anchorCtr="0" compatLnSpc="1">
            <a:prstTxWarp prst="textNoShape">
              <a:avLst/>
            </a:prstTxWarp>
          </a:bodyPr>
          <a:lstStyle>
            <a:lvl1pPr eaLnBrk="1" hangingPunct="1">
              <a:defRPr sz="1200">
                <a:latin typeface="Times New Roman" pitchFamily="18" charset="0"/>
              </a:defRPr>
            </a:lvl1pPr>
          </a:lstStyle>
          <a:p>
            <a:pPr>
              <a:defRPr/>
            </a:pPr>
            <a:endParaRPr lang="en-US"/>
          </a:p>
        </p:txBody>
      </p:sp>
      <p:sp>
        <p:nvSpPr>
          <p:cNvPr id="74759" name="Rectangle 7"/>
          <p:cNvSpPr>
            <a:spLocks noGrp="1" noChangeArrowheads="1"/>
          </p:cNvSpPr>
          <p:nvPr>
            <p:ph type="sldNum" sz="quarter" idx="5"/>
          </p:nvPr>
        </p:nvSpPr>
        <p:spPr bwMode="auto">
          <a:xfrm>
            <a:off x="3898102" y="8829967"/>
            <a:ext cx="2982119" cy="464820"/>
          </a:xfrm>
          <a:prstGeom prst="rect">
            <a:avLst/>
          </a:prstGeom>
          <a:noFill/>
          <a:ln w="9525">
            <a:noFill/>
            <a:miter lim="800000"/>
            <a:headEnd/>
            <a:tailEnd/>
          </a:ln>
          <a:effectLst/>
        </p:spPr>
        <p:txBody>
          <a:bodyPr vert="horz" wrap="square" lIns="92438" tIns="46219" rIns="92438" bIns="46219" numCol="1" anchor="b" anchorCtr="0" compatLnSpc="1">
            <a:prstTxWarp prst="textNoShape">
              <a:avLst/>
            </a:prstTxWarp>
          </a:bodyPr>
          <a:lstStyle>
            <a:lvl1pPr algn="r" eaLnBrk="1" hangingPunct="1">
              <a:defRPr sz="1200">
                <a:latin typeface="Times New Roman" pitchFamily="18" charset="0"/>
              </a:defRPr>
            </a:lvl1pPr>
          </a:lstStyle>
          <a:p>
            <a:pPr>
              <a:defRPr/>
            </a:pPr>
            <a:fld id="{C3966094-34ED-42CC-B0A0-81B4FC9F48A1}" type="slidenum">
              <a:rPr lang="en-US"/>
              <a:pPr>
                <a:defRPr/>
              </a:pPr>
              <a:t>‹#›</a:t>
            </a:fld>
            <a:endParaRPr lang="en-US"/>
          </a:p>
        </p:txBody>
      </p:sp>
    </p:spTree>
    <p:extLst>
      <p:ext uri="{BB962C8B-B14F-4D97-AF65-F5344CB8AC3E}">
        <p14:creationId xmlns:p14="http://schemas.microsoft.com/office/powerpoint/2010/main" val="107290040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31" indent="-276244">
              <a:defRPr>
                <a:solidFill>
                  <a:schemeClr val="tx1"/>
                </a:solidFill>
                <a:latin typeface="Tahoma" pitchFamily="34" charset="0"/>
              </a:defRPr>
            </a:lvl2pPr>
            <a:lvl3pPr marL="1104972" indent="-220995">
              <a:defRPr>
                <a:solidFill>
                  <a:schemeClr val="tx1"/>
                </a:solidFill>
                <a:latin typeface="Tahoma" pitchFamily="34" charset="0"/>
              </a:defRPr>
            </a:lvl3pPr>
            <a:lvl4pPr marL="1546961" indent="-220995">
              <a:defRPr>
                <a:solidFill>
                  <a:schemeClr val="tx1"/>
                </a:solidFill>
                <a:latin typeface="Tahoma" pitchFamily="34" charset="0"/>
              </a:defRPr>
            </a:lvl4pPr>
            <a:lvl5pPr marL="1988949" indent="-220995">
              <a:defRPr>
                <a:solidFill>
                  <a:schemeClr val="tx1"/>
                </a:solidFill>
                <a:latin typeface="Tahoma" pitchFamily="34" charset="0"/>
              </a:defRPr>
            </a:lvl5pPr>
            <a:lvl6pPr marL="2430939" indent="-220995" eaLnBrk="0" fontAlgn="base" hangingPunct="0">
              <a:spcBef>
                <a:spcPct val="0"/>
              </a:spcBef>
              <a:spcAft>
                <a:spcPct val="0"/>
              </a:spcAft>
              <a:defRPr>
                <a:solidFill>
                  <a:schemeClr val="tx1"/>
                </a:solidFill>
                <a:latin typeface="Tahoma" pitchFamily="34" charset="0"/>
              </a:defRPr>
            </a:lvl6pPr>
            <a:lvl7pPr marL="2872928" indent="-220995" eaLnBrk="0" fontAlgn="base" hangingPunct="0">
              <a:spcBef>
                <a:spcPct val="0"/>
              </a:spcBef>
              <a:spcAft>
                <a:spcPct val="0"/>
              </a:spcAft>
              <a:defRPr>
                <a:solidFill>
                  <a:schemeClr val="tx1"/>
                </a:solidFill>
                <a:latin typeface="Tahoma" pitchFamily="34" charset="0"/>
              </a:defRPr>
            </a:lvl7pPr>
            <a:lvl8pPr marL="3314915" indent="-220995" eaLnBrk="0" fontAlgn="base" hangingPunct="0">
              <a:spcBef>
                <a:spcPct val="0"/>
              </a:spcBef>
              <a:spcAft>
                <a:spcPct val="0"/>
              </a:spcAft>
              <a:defRPr>
                <a:solidFill>
                  <a:schemeClr val="tx1"/>
                </a:solidFill>
                <a:latin typeface="Tahoma" pitchFamily="34" charset="0"/>
              </a:defRPr>
            </a:lvl8pPr>
            <a:lvl9pPr marL="3756905" indent="-220995" eaLnBrk="0" fontAlgn="base" hangingPunct="0">
              <a:spcBef>
                <a:spcPct val="0"/>
              </a:spcBef>
              <a:spcAft>
                <a:spcPct val="0"/>
              </a:spcAft>
              <a:defRPr>
                <a:solidFill>
                  <a:schemeClr val="tx1"/>
                </a:solidFill>
                <a:latin typeface="Tahoma" pitchFamily="34" charset="0"/>
              </a:defRPr>
            </a:lvl9pPr>
          </a:lstStyle>
          <a:p>
            <a:fld id="{0C77F19E-6305-42C9-846D-8F6E264C89DD}" type="slidenum">
              <a:rPr lang="en-US" altLang="en-US" smtClean="0">
                <a:latin typeface="Times New Roman" pitchFamily="18" charset="0"/>
              </a:rPr>
              <a:pPr/>
              <a:t>1</a:t>
            </a:fld>
            <a:endParaRPr lang="en-US" altLang="en-US">
              <a:latin typeface="Times New Roman"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2</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7739669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3</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27624911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4</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39342447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5</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3997036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6</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42549346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7</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10330634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8</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36510259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9</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7920066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10</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27024166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11</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1509004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12</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19383877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13</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27486105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14</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37570420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15</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27295165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16</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26522187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18298" indent="-276268">
              <a:defRPr>
                <a:solidFill>
                  <a:schemeClr val="tx1"/>
                </a:solidFill>
                <a:latin typeface="Tahoma" pitchFamily="34" charset="0"/>
              </a:defRPr>
            </a:lvl2pPr>
            <a:lvl3pPr marL="1105074" indent="-221015">
              <a:defRPr>
                <a:solidFill>
                  <a:schemeClr val="tx1"/>
                </a:solidFill>
                <a:latin typeface="Tahoma" pitchFamily="34" charset="0"/>
              </a:defRPr>
            </a:lvl3pPr>
            <a:lvl4pPr marL="1547104" indent="-221015">
              <a:defRPr>
                <a:solidFill>
                  <a:schemeClr val="tx1"/>
                </a:solidFill>
                <a:latin typeface="Tahoma" pitchFamily="34" charset="0"/>
              </a:defRPr>
            </a:lvl4pPr>
            <a:lvl5pPr marL="1989134" indent="-221015">
              <a:defRPr>
                <a:solidFill>
                  <a:schemeClr val="tx1"/>
                </a:solidFill>
                <a:latin typeface="Tahoma" pitchFamily="34" charset="0"/>
              </a:defRPr>
            </a:lvl5pPr>
            <a:lvl6pPr marL="2431164" indent="-221015" eaLnBrk="0" fontAlgn="base" hangingPunct="0">
              <a:spcBef>
                <a:spcPct val="0"/>
              </a:spcBef>
              <a:spcAft>
                <a:spcPct val="0"/>
              </a:spcAft>
              <a:defRPr>
                <a:solidFill>
                  <a:schemeClr val="tx1"/>
                </a:solidFill>
                <a:latin typeface="Tahoma" pitchFamily="34" charset="0"/>
              </a:defRPr>
            </a:lvl6pPr>
            <a:lvl7pPr marL="2873194" indent="-221015" eaLnBrk="0" fontAlgn="base" hangingPunct="0">
              <a:spcBef>
                <a:spcPct val="0"/>
              </a:spcBef>
              <a:spcAft>
                <a:spcPct val="0"/>
              </a:spcAft>
              <a:defRPr>
                <a:solidFill>
                  <a:schemeClr val="tx1"/>
                </a:solidFill>
                <a:latin typeface="Tahoma" pitchFamily="34" charset="0"/>
              </a:defRPr>
            </a:lvl7pPr>
            <a:lvl8pPr marL="3315223" indent="-221015" eaLnBrk="0" fontAlgn="base" hangingPunct="0">
              <a:spcBef>
                <a:spcPct val="0"/>
              </a:spcBef>
              <a:spcAft>
                <a:spcPct val="0"/>
              </a:spcAft>
              <a:defRPr>
                <a:solidFill>
                  <a:schemeClr val="tx1"/>
                </a:solidFill>
                <a:latin typeface="Tahoma" pitchFamily="34" charset="0"/>
              </a:defRPr>
            </a:lvl8pPr>
            <a:lvl9pPr marL="3757253" indent="-2210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17</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1264044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grpSp>
      <p:sp>
        <p:nvSpPr>
          <p:cNvPr id="138252" name="Rectangle 12"/>
          <p:cNvSpPr>
            <a:spLocks noGrp="1" noChangeArrowheads="1"/>
          </p:cNvSpPr>
          <p:nvPr>
            <p:ph type="ctrTitle"/>
          </p:nvPr>
        </p:nvSpPr>
        <p:spPr>
          <a:xfrm>
            <a:off x="990600" y="1676400"/>
            <a:ext cx="7772400" cy="1462088"/>
          </a:xfrm>
        </p:spPr>
        <p:txBody>
          <a:bodyPr/>
          <a:lstStyle>
            <a:lvl1pPr>
              <a:defRPr/>
            </a:lvl1pPr>
          </a:lstStyle>
          <a:p>
            <a:r>
              <a:rPr lang="en-US"/>
              <a:t>Click to edit Master title style</a:t>
            </a:r>
          </a:p>
        </p:txBody>
      </p:sp>
      <p:sp>
        <p:nvSpPr>
          <p:cNvPr id="13825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fld id="{3A458199-2235-498C-BB60-A71163C0547D}" type="datetime1">
              <a:rPr lang="en-US" smtClean="0"/>
              <a:t>8/2/2021</a:t>
            </a:fld>
            <a:endParaRPr lang="en-US"/>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r>
              <a:rPr lang="en-US"/>
              <a:t>Copyright (c) 2018, John K. Ostlund</a:t>
            </a:r>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5239B93A-74DE-4B25-B352-2D94A7B0ECE9}" type="slidenum">
              <a:rPr lang="en-US"/>
              <a:pPr>
                <a:defRPr/>
              </a:pPr>
              <a:t>‹#›</a:t>
            </a:fld>
            <a:endParaRPr lang="en-US"/>
          </a:p>
        </p:txBody>
      </p:sp>
    </p:spTree>
    <p:extLst>
      <p:ext uri="{BB962C8B-B14F-4D97-AF65-F5344CB8AC3E}">
        <p14:creationId xmlns:p14="http://schemas.microsoft.com/office/powerpoint/2010/main" val="30508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fld id="{999F09BE-0733-4E9E-B08E-2F2245AE7270}" type="datetime1">
              <a:rPr lang="en-US" smtClean="0"/>
              <a:t>8/2/2021</a:t>
            </a:fld>
            <a:endParaRPr lang="en-US"/>
          </a:p>
        </p:txBody>
      </p:sp>
      <p:sp>
        <p:nvSpPr>
          <p:cNvPr id="5" name="Rectangle 12"/>
          <p:cNvSpPr>
            <a:spLocks noGrp="1" noChangeArrowheads="1"/>
          </p:cNvSpPr>
          <p:nvPr>
            <p:ph type="ftr" sz="quarter" idx="11"/>
          </p:nvPr>
        </p:nvSpPr>
        <p:spPr>
          <a:ln/>
        </p:spPr>
        <p:txBody>
          <a:bodyPr/>
          <a:lstStyle>
            <a:lvl1pPr>
              <a:defRPr/>
            </a:lvl1pPr>
          </a:lstStyle>
          <a:p>
            <a:pPr>
              <a:defRPr/>
            </a:pPr>
            <a:r>
              <a:rPr lang="en-US"/>
              <a:t>Copyright (c) 2018, John K. Ostlund</a:t>
            </a:r>
          </a:p>
        </p:txBody>
      </p:sp>
      <p:sp>
        <p:nvSpPr>
          <p:cNvPr id="6" name="Rectangle 13"/>
          <p:cNvSpPr>
            <a:spLocks noGrp="1" noChangeArrowheads="1"/>
          </p:cNvSpPr>
          <p:nvPr>
            <p:ph type="sldNum" sz="quarter" idx="12"/>
          </p:nvPr>
        </p:nvSpPr>
        <p:spPr>
          <a:ln/>
        </p:spPr>
        <p:txBody>
          <a:bodyPr/>
          <a:lstStyle>
            <a:lvl1pPr>
              <a:defRPr/>
            </a:lvl1pPr>
          </a:lstStyle>
          <a:p>
            <a:pPr>
              <a:defRPr/>
            </a:pPr>
            <a:fld id="{9E9676BE-5AF2-4172-BD19-31A2F83EF2EB}" type="slidenum">
              <a:rPr lang="en-US"/>
              <a:pPr>
                <a:defRPr/>
              </a:pPr>
              <a:t>‹#›</a:t>
            </a:fld>
            <a:endParaRPr lang="en-US"/>
          </a:p>
        </p:txBody>
      </p:sp>
    </p:spTree>
    <p:extLst>
      <p:ext uri="{BB962C8B-B14F-4D97-AF65-F5344CB8AC3E}">
        <p14:creationId xmlns:p14="http://schemas.microsoft.com/office/powerpoint/2010/main" val="2459231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p:cNvSpPr>
            <a:spLocks noGrp="1" noChangeArrowheads="1"/>
          </p:cNvSpPr>
          <p:nvPr>
            <p:ph type="dt" sz="half" idx="10"/>
          </p:nvPr>
        </p:nvSpPr>
        <p:spPr>
          <a:ln/>
        </p:spPr>
        <p:txBody>
          <a:bodyPr/>
          <a:lstStyle>
            <a:lvl1pPr>
              <a:defRPr/>
            </a:lvl1pPr>
          </a:lstStyle>
          <a:p>
            <a:pPr>
              <a:defRPr/>
            </a:pPr>
            <a:fld id="{8D57212A-0320-4C87-822E-A5C5A85E786C}" type="datetime1">
              <a:rPr lang="en-US" smtClean="0"/>
              <a:t>8/2/2021</a:t>
            </a:fld>
            <a:endParaRPr lang="en-US"/>
          </a:p>
        </p:txBody>
      </p:sp>
      <p:sp>
        <p:nvSpPr>
          <p:cNvPr id="5" name="Rectangle 12"/>
          <p:cNvSpPr>
            <a:spLocks noGrp="1" noChangeArrowheads="1"/>
          </p:cNvSpPr>
          <p:nvPr>
            <p:ph type="ftr" sz="quarter" idx="11"/>
          </p:nvPr>
        </p:nvSpPr>
        <p:spPr>
          <a:ln/>
        </p:spPr>
        <p:txBody>
          <a:bodyPr/>
          <a:lstStyle>
            <a:lvl1pPr>
              <a:defRPr/>
            </a:lvl1pPr>
          </a:lstStyle>
          <a:p>
            <a:pPr>
              <a:defRPr/>
            </a:pPr>
            <a:r>
              <a:rPr lang="en-US"/>
              <a:t>Copyright (c) 2018, John K. Ostlund</a:t>
            </a:r>
          </a:p>
        </p:txBody>
      </p:sp>
      <p:sp>
        <p:nvSpPr>
          <p:cNvPr id="6" name="Rectangle 13"/>
          <p:cNvSpPr>
            <a:spLocks noGrp="1" noChangeArrowheads="1"/>
          </p:cNvSpPr>
          <p:nvPr>
            <p:ph type="sldNum" sz="quarter" idx="12"/>
          </p:nvPr>
        </p:nvSpPr>
        <p:spPr>
          <a:ln/>
        </p:spPr>
        <p:txBody>
          <a:bodyPr/>
          <a:lstStyle>
            <a:lvl1pPr>
              <a:defRPr/>
            </a:lvl1pPr>
          </a:lstStyle>
          <a:p>
            <a:pPr>
              <a:defRPr/>
            </a:pPr>
            <a:fld id="{A4441145-DF2F-4F5F-87FB-6F34B812BFA0}" type="slidenum">
              <a:rPr lang="en-US"/>
              <a:pPr>
                <a:defRPr/>
              </a:pPr>
              <a:t>‹#›</a:t>
            </a:fld>
            <a:endParaRPr lang="en-US"/>
          </a:p>
        </p:txBody>
      </p:sp>
    </p:spTree>
    <p:extLst>
      <p:ext uri="{BB962C8B-B14F-4D97-AF65-F5344CB8AC3E}">
        <p14:creationId xmlns:p14="http://schemas.microsoft.com/office/powerpoint/2010/main" val="3349570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p:cNvSpPr>
            <a:spLocks noGrp="1" noChangeArrowheads="1"/>
          </p:cNvSpPr>
          <p:nvPr>
            <p:ph type="dt" sz="half" idx="10"/>
          </p:nvPr>
        </p:nvSpPr>
        <p:spPr>
          <a:ln/>
        </p:spPr>
        <p:txBody>
          <a:bodyPr/>
          <a:lstStyle>
            <a:lvl1pPr>
              <a:defRPr/>
            </a:lvl1pPr>
          </a:lstStyle>
          <a:p>
            <a:pPr>
              <a:defRPr/>
            </a:pPr>
            <a:fld id="{26C0479F-66CD-4A5B-84F6-27888EFAE784}" type="datetime1">
              <a:rPr lang="en-US" smtClean="0"/>
              <a:t>8/2/2021</a:t>
            </a:fld>
            <a:endParaRPr lang="en-US"/>
          </a:p>
        </p:txBody>
      </p:sp>
      <p:sp>
        <p:nvSpPr>
          <p:cNvPr id="6" name="Rectangle 12"/>
          <p:cNvSpPr>
            <a:spLocks noGrp="1" noChangeArrowheads="1"/>
          </p:cNvSpPr>
          <p:nvPr>
            <p:ph type="ftr" sz="quarter" idx="11"/>
          </p:nvPr>
        </p:nvSpPr>
        <p:spPr>
          <a:ln/>
        </p:spPr>
        <p:txBody>
          <a:bodyPr/>
          <a:lstStyle>
            <a:lvl1pPr>
              <a:defRPr/>
            </a:lvl1pPr>
          </a:lstStyle>
          <a:p>
            <a:pPr>
              <a:defRPr/>
            </a:pPr>
            <a:r>
              <a:rPr lang="en-US"/>
              <a:t>Copyright (c) 2018, John K. Ostlund</a:t>
            </a:r>
          </a:p>
        </p:txBody>
      </p:sp>
      <p:sp>
        <p:nvSpPr>
          <p:cNvPr id="7" name="Rectangle 13"/>
          <p:cNvSpPr>
            <a:spLocks noGrp="1" noChangeArrowheads="1"/>
          </p:cNvSpPr>
          <p:nvPr>
            <p:ph type="sldNum" sz="quarter" idx="12"/>
          </p:nvPr>
        </p:nvSpPr>
        <p:spPr>
          <a:ln/>
        </p:spPr>
        <p:txBody>
          <a:bodyPr/>
          <a:lstStyle>
            <a:lvl1pPr>
              <a:defRPr/>
            </a:lvl1pPr>
          </a:lstStyle>
          <a:p>
            <a:pPr>
              <a:defRPr/>
            </a:pPr>
            <a:fld id="{EF3359A0-D876-470E-A03B-B54B4EF9A55C}" type="slidenum">
              <a:rPr lang="en-US"/>
              <a:pPr>
                <a:defRPr/>
              </a:pPr>
              <a:t>‹#›</a:t>
            </a:fld>
            <a:endParaRPr lang="en-US"/>
          </a:p>
        </p:txBody>
      </p:sp>
    </p:spTree>
    <p:extLst>
      <p:ext uri="{BB962C8B-B14F-4D97-AF65-F5344CB8AC3E}">
        <p14:creationId xmlns:p14="http://schemas.microsoft.com/office/powerpoint/2010/main" val="2663732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p:cNvSpPr>
            <a:spLocks noGrp="1" noChangeArrowheads="1"/>
          </p:cNvSpPr>
          <p:nvPr>
            <p:ph type="dt" sz="half" idx="10"/>
          </p:nvPr>
        </p:nvSpPr>
        <p:spPr>
          <a:ln/>
        </p:spPr>
        <p:txBody>
          <a:bodyPr/>
          <a:lstStyle>
            <a:lvl1pPr>
              <a:defRPr/>
            </a:lvl1pPr>
          </a:lstStyle>
          <a:p>
            <a:pPr>
              <a:defRPr/>
            </a:pPr>
            <a:fld id="{944ADCF3-2AF2-418C-BF2A-44A85337EE69}" type="datetime1">
              <a:rPr lang="en-US" smtClean="0"/>
              <a:t>8/2/2021</a:t>
            </a:fld>
            <a:endParaRPr lang="en-US"/>
          </a:p>
        </p:txBody>
      </p:sp>
      <p:sp>
        <p:nvSpPr>
          <p:cNvPr id="8" name="Rectangle 12"/>
          <p:cNvSpPr>
            <a:spLocks noGrp="1" noChangeArrowheads="1"/>
          </p:cNvSpPr>
          <p:nvPr>
            <p:ph type="ftr" sz="quarter" idx="11"/>
          </p:nvPr>
        </p:nvSpPr>
        <p:spPr>
          <a:ln/>
        </p:spPr>
        <p:txBody>
          <a:bodyPr/>
          <a:lstStyle>
            <a:lvl1pPr>
              <a:defRPr/>
            </a:lvl1pPr>
          </a:lstStyle>
          <a:p>
            <a:pPr>
              <a:defRPr/>
            </a:pPr>
            <a:r>
              <a:rPr lang="en-US"/>
              <a:t>Copyright (c) 2018, John K. Ostlund</a:t>
            </a:r>
          </a:p>
        </p:txBody>
      </p:sp>
      <p:sp>
        <p:nvSpPr>
          <p:cNvPr id="9" name="Rectangle 13"/>
          <p:cNvSpPr>
            <a:spLocks noGrp="1" noChangeArrowheads="1"/>
          </p:cNvSpPr>
          <p:nvPr>
            <p:ph type="sldNum" sz="quarter" idx="12"/>
          </p:nvPr>
        </p:nvSpPr>
        <p:spPr>
          <a:ln/>
        </p:spPr>
        <p:txBody>
          <a:bodyPr/>
          <a:lstStyle>
            <a:lvl1pPr>
              <a:defRPr/>
            </a:lvl1pPr>
          </a:lstStyle>
          <a:p>
            <a:pPr>
              <a:defRPr/>
            </a:pPr>
            <a:fld id="{9D55BDD2-431D-4473-B6F1-AD9C47ED042A}" type="slidenum">
              <a:rPr lang="en-US"/>
              <a:pPr>
                <a:defRPr/>
              </a:pPr>
              <a:t>‹#›</a:t>
            </a:fld>
            <a:endParaRPr lang="en-US"/>
          </a:p>
        </p:txBody>
      </p:sp>
    </p:spTree>
    <p:extLst>
      <p:ext uri="{BB962C8B-B14F-4D97-AF65-F5344CB8AC3E}">
        <p14:creationId xmlns:p14="http://schemas.microsoft.com/office/powerpoint/2010/main" val="695490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p:cNvSpPr>
            <a:spLocks noGrp="1" noChangeArrowheads="1"/>
          </p:cNvSpPr>
          <p:nvPr>
            <p:ph type="dt" sz="half" idx="10"/>
          </p:nvPr>
        </p:nvSpPr>
        <p:spPr>
          <a:ln/>
        </p:spPr>
        <p:txBody>
          <a:bodyPr/>
          <a:lstStyle>
            <a:lvl1pPr>
              <a:defRPr/>
            </a:lvl1pPr>
          </a:lstStyle>
          <a:p>
            <a:pPr>
              <a:defRPr/>
            </a:pPr>
            <a:fld id="{84826299-AA4C-442F-BCFC-E93CA0F6B11A}" type="datetime1">
              <a:rPr lang="en-US" smtClean="0"/>
              <a:t>8/2/2021</a:t>
            </a:fld>
            <a:endParaRPr lang="en-US"/>
          </a:p>
        </p:txBody>
      </p:sp>
      <p:sp>
        <p:nvSpPr>
          <p:cNvPr id="4" name="Rectangle 12"/>
          <p:cNvSpPr>
            <a:spLocks noGrp="1" noChangeArrowheads="1"/>
          </p:cNvSpPr>
          <p:nvPr>
            <p:ph type="ftr" sz="quarter" idx="11"/>
          </p:nvPr>
        </p:nvSpPr>
        <p:spPr>
          <a:ln/>
        </p:spPr>
        <p:txBody>
          <a:bodyPr/>
          <a:lstStyle>
            <a:lvl1pPr>
              <a:defRPr/>
            </a:lvl1pPr>
          </a:lstStyle>
          <a:p>
            <a:pPr>
              <a:defRPr/>
            </a:pPr>
            <a:r>
              <a:rPr lang="en-US"/>
              <a:t>Copyright (c) 2018, John K. Ostlund</a:t>
            </a:r>
          </a:p>
        </p:txBody>
      </p:sp>
      <p:sp>
        <p:nvSpPr>
          <p:cNvPr id="5" name="Rectangle 13"/>
          <p:cNvSpPr>
            <a:spLocks noGrp="1" noChangeArrowheads="1"/>
          </p:cNvSpPr>
          <p:nvPr>
            <p:ph type="sldNum" sz="quarter" idx="12"/>
          </p:nvPr>
        </p:nvSpPr>
        <p:spPr>
          <a:ln/>
        </p:spPr>
        <p:txBody>
          <a:bodyPr/>
          <a:lstStyle>
            <a:lvl1pPr>
              <a:defRPr/>
            </a:lvl1pPr>
          </a:lstStyle>
          <a:p>
            <a:pPr>
              <a:defRPr/>
            </a:pPr>
            <a:fld id="{F6BC0419-96C4-40C9-AA2D-27D42EB4E327}" type="slidenum">
              <a:rPr lang="en-US"/>
              <a:pPr>
                <a:defRPr/>
              </a:pPr>
              <a:t>‹#›</a:t>
            </a:fld>
            <a:endParaRPr lang="en-US"/>
          </a:p>
        </p:txBody>
      </p:sp>
    </p:spTree>
    <p:extLst>
      <p:ext uri="{BB962C8B-B14F-4D97-AF65-F5344CB8AC3E}">
        <p14:creationId xmlns:p14="http://schemas.microsoft.com/office/powerpoint/2010/main" val="291191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fld id="{5702A80A-F933-4C6D-AC1B-323BE6DDDE0E}" type="datetime1">
              <a:rPr lang="en-US" smtClean="0"/>
              <a:t>8/2/2021</a:t>
            </a:fld>
            <a:endParaRPr lang="en-US"/>
          </a:p>
        </p:txBody>
      </p:sp>
      <p:sp>
        <p:nvSpPr>
          <p:cNvPr id="3" name="Rectangle 12"/>
          <p:cNvSpPr>
            <a:spLocks noGrp="1" noChangeArrowheads="1"/>
          </p:cNvSpPr>
          <p:nvPr>
            <p:ph type="ftr" sz="quarter" idx="11"/>
          </p:nvPr>
        </p:nvSpPr>
        <p:spPr>
          <a:ln/>
        </p:spPr>
        <p:txBody>
          <a:bodyPr/>
          <a:lstStyle>
            <a:lvl1pPr>
              <a:defRPr/>
            </a:lvl1pPr>
          </a:lstStyle>
          <a:p>
            <a:pPr>
              <a:defRPr/>
            </a:pPr>
            <a:r>
              <a:rPr lang="en-US"/>
              <a:t>Copyright (c) 2018, John K. Ostlund</a:t>
            </a:r>
          </a:p>
        </p:txBody>
      </p:sp>
      <p:sp>
        <p:nvSpPr>
          <p:cNvPr id="4" name="Rectangle 13"/>
          <p:cNvSpPr>
            <a:spLocks noGrp="1" noChangeArrowheads="1"/>
          </p:cNvSpPr>
          <p:nvPr>
            <p:ph type="sldNum" sz="quarter" idx="12"/>
          </p:nvPr>
        </p:nvSpPr>
        <p:spPr>
          <a:ln/>
        </p:spPr>
        <p:txBody>
          <a:bodyPr/>
          <a:lstStyle>
            <a:lvl1pPr>
              <a:defRPr/>
            </a:lvl1pPr>
          </a:lstStyle>
          <a:p>
            <a:pPr>
              <a:defRPr/>
            </a:pPr>
            <a:fld id="{60862B98-9A01-4C44-BDC6-515C05E58F72}" type="slidenum">
              <a:rPr lang="en-US"/>
              <a:pPr>
                <a:defRPr/>
              </a:pPr>
              <a:t>‹#›</a:t>
            </a:fld>
            <a:endParaRPr lang="en-US"/>
          </a:p>
        </p:txBody>
      </p:sp>
    </p:spTree>
    <p:extLst>
      <p:ext uri="{BB962C8B-B14F-4D97-AF65-F5344CB8AC3E}">
        <p14:creationId xmlns:p14="http://schemas.microsoft.com/office/powerpoint/2010/main" val="2309648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fld id="{68C46877-514D-4A61-909E-A65641948318}" type="datetime1">
              <a:rPr lang="en-US" smtClean="0"/>
              <a:t>8/2/2021</a:t>
            </a:fld>
            <a:endParaRPr lang="en-US"/>
          </a:p>
        </p:txBody>
      </p:sp>
      <p:sp>
        <p:nvSpPr>
          <p:cNvPr id="6" name="Rectangle 12"/>
          <p:cNvSpPr>
            <a:spLocks noGrp="1" noChangeArrowheads="1"/>
          </p:cNvSpPr>
          <p:nvPr>
            <p:ph type="ftr" sz="quarter" idx="11"/>
          </p:nvPr>
        </p:nvSpPr>
        <p:spPr>
          <a:ln/>
        </p:spPr>
        <p:txBody>
          <a:bodyPr/>
          <a:lstStyle>
            <a:lvl1pPr>
              <a:defRPr/>
            </a:lvl1pPr>
          </a:lstStyle>
          <a:p>
            <a:pPr>
              <a:defRPr/>
            </a:pPr>
            <a:r>
              <a:rPr lang="en-US"/>
              <a:t>Copyright (c) 2018, John K. Ostlund</a:t>
            </a:r>
          </a:p>
        </p:txBody>
      </p:sp>
      <p:sp>
        <p:nvSpPr>
          <p:cNvPr id="7" name="Rectangle 13"/>
          <p:cNvSpPr>
            <a:spLocks noGrp="1" noChangeArrowheads="1"/>
          </p:cNvSpPr>
          <p:nvPr>
            <p:ph type="sldNum" sz="quarter" idx="12"/>
          </p:nvPr>
        </p:nvSpPr>
        <p:spPr>
          <a:ln/>
        </p:spPr>
        <p:txBody>
          <a:bodyPr/>
          <a:lstStyle>
            <a:lvl1pPr>
              <a:defRPr/>
            </a:lvl1pPr>
          </a:lstStyle>
          <a:p>
            <a:pPr>
              <a:defRPr/>
            </a:pPr>
            <a:fld id="{D82D8208-D527-49A2-9034-D654B1EF281B}" type="slidenum">
              <a:rPr lang="en-US"/>
              <a:pPr>
                <a:defRPr/>
              </a:pPr>
              <a:t>‹#›</a:t>
            </a:fld>
            <a:endParaRPr lang="en-US"/>
          </a:p>
        </p:txBody>
      </p:sp>
    </p:spTree>
    <p:extLst>
      <p:ext uri="{BB962C8B-B14F-4D97-AF65-F5344CB8AC3E}">
        <p14:creationId xmlns:p14="http://schemas.microsoft.com/office/powerpoint/2010/main" val="478374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fld id="{CE820BBE-B985-48CE-92FB-2D9EB3B58A3F}" type="datetime1">
              <a:rPr lang="en-US" smtClean="0"/>
              <a:t>8/2/2021</a:t>
            </a:fld>
            <a:endParaRPr lang="en-US"/>
          </a:p>
        </p:txBody>
      </p:sp>
      <p:sp>
        <p:nvSpPr>
          <p:cNvPr id="6" name="Rectangle 12"/>
          <p:cNvSpPr>
            <a:spLocks noGrp="1" noChangeArrowheads="1"/>
          </p:cNvSpPr>
          <p:nvPr>
            <p:ph type="ftr" sz="quarter" idx="11"/>
          </p:nvPr>
        </p:nvSpPr>
        <p:spPr>
          <a:ln/>
        </p:spPr>
        <p:txBody>
          <a:bodyPr/>
          <a:lstStyle>
            <a:lvl1pPr>
              <a:defRPr/>
            </a:lvl1pPr>
          </a:lstStyle>
          <a:p>
            <a:pPr>
              <a:defRPr/>
            </a:pPr>
            <a:r>
              <a:rPr lang="en-US"/>
              <a:t>Copyright (c) 2018, John K. Ostlund</a:t>
            </a:r>
          </a:p>
        </p:txBody>
      </p:sp>
      <p:sp>
        <p:nvSpPr>
          <p:cNvPr id="7" name="Rectangle 13"/>
          <p:cNvSpPr>
            <a:spLocks noGrp="1" noChangeArrowheads="1"/>
          </p:cNvSpPr>
          <p:nvPr>
            <p:ph type="sldNum" sz="quarter" idx="12"/>
          </p:nvPr>
        </p:nvSpPr>
        <p:spPr>
          <a:ln/>
        </p:spPr>
        <p:txBody>
          <a:bodyPr/>
          <a:lstStyle>
            <a:lvl1pPr>
              <a:defRPr/>
            </a:lvl1pPr>
          </a:lstStyle>
          <a:p>
            <a:pPr>
              <a:defRPr/>
            </a:pPr>
            <a:fld id="{AF169637-7F5D-47B5-84F3-031C50CD82B5}" type="slidenum">
              <a:rPr lang="en-US"/>
              <a:pPr>
                <a:defRPr/>
              </a:pPr>
              <a:t>‹#›</a:t>
            </a:fld>
            <a:endParaRPr lang="en-US"/>
          </a:p>
        </p:txBody>
      </p:sp>
    </p:spTree>
    <p:extLst>
      <p:ext uri="{BB962C8B-B14F-4D97-AF65-F5344CB8AC3E}">
        <p14:creationId xmlns:p14="http://schemas.microsoft.com/office/powerpoint/2010/main" val="1444204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fld id="{4B9624D1-E5CD-4BF0-93F9-C4F92CAD34D8}" type="datetime1">
              <a:rPr lang="en-US" smtClean="0"/>
              <a:t>8/2/2021</a:t>
            </a:fld>
            <a:endParaRPr lang="en-US"/>
          </a:p>
        </p:txBody>
      </p:sp>
      <p:sp>
        <p:nvSpPr>
          <p:cNvPr id="5" name="Rectangle 12"/>
          <p:cNvSpPr>
            <a:spLocks noGrp="1" noChangeArrowheads="1"/>
          </p:cNvSpPr>
          <p:nvPr>
            <p:ph type="ftr" sz="quarter" idx="11"/>
          </p:nvPr>
        </p:nvSpPr>
        <p:spPr>
          <a:ln/>
        </p:spPr>
        <p:txBody>
          <a:bodyPr/>
          <a:lstStyle>
            <a:lvl1pPr>
              <a:defRPr/>
            </a:lvl1pPr>
          </a:lstStyle>
          <a:p>
            <a:pPr>
              <a:defRPr/>
            </a:pPr>
            <a:r>
              <a:rPr lang="en-US"/>
              <a:t>Copyright (c) 2018, John K. Ostlund</a:t>
            </a:r>
          </a:p>
        </p:txBody>
      </p:sp>
      <p:sp>
        <p:nvSpPr>
          <p:cNvPr id="6" name="Rectangle 13"/>
          <p:cNvSpPr>
            <a:spLocks noGrp="1" noChangeArrowheads="1"/>
          </p:cNvSpPr>
          <p:nvPr>
            <p:ph type="sldNum" sz="quarter" idx="12"/>
          </p:nvPr>
        </p:nvSpPr>
        <p:spPr>
          <a:ln/>
        </p:spPr>
        <p:txBody>
          <a:bodyPr/>
          <a:lstStyle>
            <a:lvl1pPr>
              <a:defRPr/>
            </a:lvl1pPr>
          </a:lstStyle>
          <a:p>
            <a:pPr>
              <a:defRPr/>
            </a:pPr>
            <a:fld id="{AD9F3A7A-80FC-4CCB-802A-CD06628E1451}" type="slidenum">
              <a:rPr lang="en-US"/>
              <a:pPr>
                <a:defRPr/>
              </a:pPr>
              <a:t>‹#›</a:t>
            </a:fld>
            <a:endParaRPr lang="en-US"/>
          </a:p>
        </p:txBody>
      </p:sp>
    </p:spTree>
    <p:extLst>
      <p:ext uri="{BB962C8B-B14F-4D97-AF65-F5344CB8AC3E}">
        <p14:creationId xmlns:p14="http://schemas.microsoft.com/office/powerpoint/2010/main" val="1116063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4050" y="214313"/>
            <a:ext cx="1951038" cy="5918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50938" y="214313"/>
            <a:ext cx="5700712" cy="5918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fld id="{B4DFFCFC-2EA4-4E97-B3DE-8EA613768012}" type="datetime1">
              <a:rPr lang="en-US" smtClean="0"/>
              <a:t>8/2/2021</a:t>
            </a:fld>
            <a:endParaRPr lang="en-US"/>
          </a:p>
        </p:txBody>
      </p:sp>
      <p:sp>
        <p:nvSpPr>
          <p:cNvPr id="5" name="Rectangle 12"/>
          <p:cNvSpPr>
            <a:spLocks noGrp="1" noChangeArrowheads="1"/>
          </p:cNvSpPr>
          <p:nvPr>
            <p:ph type="ftr" sz="quarter" idx="11"/>
          </p:nvPr>
        </p:nvSpPr>
        <p:spPr>
          <a:ln/>
        </p:spPr>
        <p:txBody>
          <a:bodyPr/>
          <a:lstStyle>
            <a:lvl1pPr>
              <a:defRPr/>
            </a:lvl1pPr>
          </a:lstStyle>
          <a:p>
            <a:pPr>
              <a:defRPr/>
            </a:pPr>
            <a:r>
              <a:rPr lang="en-US"/>
              <a:t>Copyright (c) 2018, John K. Ostlund</a:t>
            </a:r>
          </a:p>
        </p:txBody>
      </p:sp>
      <p:sp>
        <p:nvSpPr>
          <p:cNvPr id="6" name="Rectangle 13"/>
          <p:cNvSpPr>
            <a:spLocks noGrp="1" noChangeArrowheads="1"/>
          </p:cNvSpPr>
          <p:nvPr>
            <p:ph type="sldNum" sz="quarter" idx="12"/>
          </p:nvPr>
        </p:nvSpPr>
        <p:spPr>
          <a:ln/>
        </p:spPr>
        <p:txBody>
          <a:bodyPr/>
          <a:lstStyle>
            <a:lvl1pPr>
              <a:defRPr/>
            </a:lvl1pPr>
          </a:lstStyle>
          <a:p>
            <a:pPr>
              <a:defRPr/>
            </a:pPr>
            <a:fld id="{C15F157A-85D2-470A-87E4-A935A04F8C7B}" type="slidenum">
              <a:rPr lang="en-US"/>
              <a:pPr>
                <a:defRPr/>
              </a:pPr>
              <a:t>‹#›</a:t>
            </a:fld>
            <a:endParaRPr lang="en-US"/>
          </a:p>
        </p:txBody>
      </p:sp>
    </p:spTree>
    <p:extLst>
      <p:ext uri="{BB962C8B-B14F-4D97-AF65-F5344CB8AC3E}">
        <p14:creationId xmlns:p14="http://schemas.microsoft.com/office/powerpoint/2010/main" val="345554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33" name="Rectangle 9"/>
          <p:cNvSpPr>
            <a:spLocks noGrp="1" noChangeArrowheads="1"/>
          </p:cNvSpPr>
          <p:nvPr>
            <p:ph type="title"/>
          </p:nvPr>
        </p:nvSpPr>
        <p:spPr bwMode="auto">
          <a:xfrm>
            <a:off x="1150938" y="214313"/>
            <a:ext cx="7793037" cy="146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4" name="Rectangle 10"/>
          <p:cNvSpPr>
            <a:spLocks noGrp="1" noChangeArrowheads="1"/>
          </p:cNvSpPr>
          <p:nvPr>
            <p:ph type="body" idx="1"/>
          </p:nvPr>
        </p:nvSpPr>
        <p:spPr bwMode="auto">
          <a:xfrm>
            <a:off x="1182688" y="20177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37227" name="Rectangle 11"/>
          <p:cNvSpPr>
            <a:spLocks noGrp="1" noChangeArrowheads="1"/>
          </p:cNvSpPr>
          <p:nvPr>
            <p:ph type="dt" sz="half" idx="2"/>
          </p:nvPr>
        </p:nvSpPr>
        <p:spPr bwMode="auto">
          <a:xfrm>
            <a:off x="11620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lvl1pPr>
          </a:lstStyle>
          <a:p>
            <a:pPr>
              <a:defRPr/>
            </a:pPr>
            <a:fld id="{E82E7615-9809-4B2F-96E1-10CD3B7FB0C5}" type="datetime1">
              <a:rPr lang="en-US" smtClean="0"/>
              <a:t>8/2/2021</a:t>
            </a:fld>
            <a:endParaRPr lang="en-US"/>
          </a:p>
        </p:txBody>
      </p:sp>
      <p:sp>
        <p:nvSpPr>
          <p:cNvPr id="137228" name="Rectangle 12"/>
          <p:cNvSpPr>
            <a:spLocks noGrp="1" noChangeArrowheads="1"/>
          </p:cNvSpPr>
          <p:nvPr>
            <p:ph type="ftr" sz="quarter" idx="3"/>
          </p:nvPr>
        </p:nvSpPr>
        <p:spPr bwMode="auto">
          <a:xfrm>
            <a:off x="3657600" y="6243638"/>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vl1pPr>
          </a:lstStyle>
          <a:p>
            <a:pPr>
              <a:defRPr/>
            </a:pPr>
            <a:r>
              <a:rPr lang="en-US"/>
              <a:t>Copyright (c) 2018, John K. Ostlund</a:t>
            </a:r>
          </a:p>
        </p:txBody>
      </p:sp>
      <p:sp>
        <p:nvSpPr>
          <p:cNvPr id="137229" name="Rectangle 13"/>
          <p:cNvSpPr>
            <a:spLocks noGrp="1" noChangeArrowheads="1"/>
          </p:cNvSpPr>
          <p:nvPr>
            <p:ph type="sldNum" sz="quarter" idx="4"/>
          </p:nvPr>
        </p:nvSpPr>
        <p:spPr bwMode="auto">
          <a:xfrm>
            <a:off x="70421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lvl1pPr>
          </a:lstStyle>
          <a:p>
            <a:pPr>
              <a:defRPr/>
            </a:pPr>
            <a:fld id="{B6BFBACB-D4B5-4FCB-958C-A311D48A19C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18"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 id="2147483817" r:id="rId11"/>
  </p:sldLayoutIdLst>
  <p:hf hdr="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en-US" altLang="en-US" dirty="0"/>
              <a:t>MSCF Programming Prep</a:t>
            </a:r>
            <a:br>
              <a:rPr lang="en-US" altLang="en-US" dirty="0"/>
            </a:br>
            <a:r>
              <a:rPr lang="en-US" altLang="en-US" dirty="0"/>
              <a:t>46-900</a:t>
            </a:r>
          </a:p>
        </p:txBody>
      </p:sp>
      <p:sp>
        <p:nvSpPr>
          <p:cNvPr id="3075" name="Rectangle 3"/>
          <p:cNvSpPr>
            <a:spLocks noGrp="1" noChangeArrowheads="1"/>
          </p:cNvSpPr>
          <p:nvPr>
            <p:ph type="subTitle" idx="1"/>
          </p:nvPr>
        </p:nvSpPr>
        <p:spPr>
          <a:xfrm>
            <a:off x="1371600" y="3657600"/>
            <a:ext cx="6400800" cy="2209800"/>
          </a:xfrm>
        </p:spPr>
        <p:txBody>
          <a:bodyPr/>
          <a:lstStyle/>
          <a:p>
            <a:pPr eaLnBrk="1" hangingPunct="1"/>
            <a:r>
              <a:rPr lang="en-US" altLang="en-US" dirty="0"/>
              <a:t>MSCF, Carnegie Mellon University</a:t>
            </a:r>
          </a:p>
          <a:p>
            <a:pPr eaLnBrk="1" hangingPunct="1"/>
            <a:r>
              <a:rPr lang="en-US" altLang="en-US" dirty="0"/>
              <a:t>Day 1, Part 2:</a:t>
            </a:r>
          </a:p>
          <a:p>
            <a:pPr eaLnBrk="1" hangingPunct="1"/>
            <a:r>
              <a:rPr lang="en-US" altLang="en-US" dirty="0"/>
              <a:t>The Binary Search Tree</a:t>
            </a:r>
          </a:p>
        </p:txBody>
      </p:sp>
      <p:sp>
        <p:nvSpPr>
          <p:cNvPr id="2" name="Date Placeholder 1"/>
          <p:cNvSpPr>
            <a:spLocks noGrp="1"/>
          </p:cNvSpPr>
          <p:nvPr>
            <p:ph type="dt" sz="half" idx="10"/>
          </p:nvPr>
        </p:nvSpPr>
        <p:spPr/>
        <p:txBody>
          <a:bodyPr/>
          <a:lstStyle/>
          <a:p>
            <a:pPr>
              <a:defRPr/>
            </a:pPr>
            <a:fld id="{B84B0C76-3E30-4C4A-8B25-61C478718B63}" type="datetime1">
              <a:rPr lang="en-US" smtClean="0"/>
              <a:t>8/2/2021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5239B93A-74DE-4B25-B352-2D94A7B0ECE9}" type="slidenum">
              <a:rPr lang="en-US" smtClean="0"/>
              <a:pPr>
                <a:defRPr/>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The Binary Search Tree</a:t>
            </a:r>
          </a:p>
        </p:txBody>
      </p:sp>
      <p:sp>
        <p:nvSpPr>
          <p:cNvPr id="43011" name="Rectangle 3"/>
          <p:cNvSpPr>
            <a:spLocks noGrp="1" noChangeArrowheads="1"/>
          </p:cNvSpPr>
          <p:nvPr>
            <p:ph type="body" idx="1"/>
          </p:nvPr>
        </p:nvSpPr>
        <p:spPr/>
        <p:txBody>
          <a:bodyPr/>
          <a:lstStyle/>
          <a:p>
            <a:pPr eaLnBrk="1" hangingPunct="1"/>
            <a:r>
              <a:rPr lang="en-US" altLang="en-US" sz="2800" dirty="0"/>
              <a:t>A </a:t>
            </a:r>
            <a:r>
              <a:rPr lang="en-US" altLang="en-US" sz="2800" b="1" i="1" dirty="0"/>
              <a:t>binary search tree</a:t>
            </a:r>
            <a:r>
              <a:rPr lang="en-US" altLang="en-US" sz="2800" dirty="0"/>
              <a:t> is a simple and useful data structure for storing an arbitrary number of values in </a:t>
            </a:r>
            <a:r>
              <a:rPr lang="en-US" altLang="en-US" sz="2800" i="1" dirty="0"/>
              <a:t>sorted order</a:t>
            </a:r>
          </a:p>
          <a:p>
            <a:pPr lvl="1" eaLnBrk="1" hangingPunct="1"/>
            <a:r>
              <a:rPr lang="en-US" altLang="en-US" sz="2400" dirty="0"/>
              <a:t>A collection of </a:t>
            </a:r>
            <a:r>
              <a:rPr lang="en-US" altLang="en-US" sz="2400" i="1" dirty="0"/>
              <a:t>nodes</a:t>
            </a:r>
            <a:r>
              <a:rPr lang="en-US" altLang="en-US" sz="2400" dirty="0"/>
              <a:t> connected via references</a:t>
            </a:r>
          </a:p>
          <a:p>
            <a:pPr lvl="2" eaLnBrk="1" hangingPunct="1"/>
            <a:r>
              <a:rPr lang="en-US" altLang="en-US" sz="2000" dirty="0"/>
              <a:t>Must be possible to compare values with </a:t>
            </a:r>
            <a:r>
              <a:rPr lang="en-US" altLang="en-US" sz="2000" b="1" dirty="0"/>
              <a:t>&lt;</a:t>
            </a:r>
            <a:r>
              <a:rPr lang="en-US" altLang="en-US" sz="2000" dirty="0"/>
              <a:t> and </a:t>
            </a:r>
            <a:r>
              <a:rPr lang="en-US" altLang="en-US" sz="2000" b="1" dirty="0"/>
              <a:t>&gt;</a:t>
            </a:r>
          </a:p>
          <a:p>
            <a:pPr lvl="1" eaLnBrk="1" hangingPunct="1"/>
            <a:r>
              <a:rPr lang="en-US" altLang="en-US" sz="2400" dirty="0"/>
              <a:t>Requires </a:t>
            </a:r>
            <a:r>
              <a:rPr lang="en-US" altLang="en-US" sz="2400" i="1" dirty="0"/>
              <a:t>recursion</a:t>
            </a:r>
            <a:r>
              <a:rPr lang="en-US" altLang="en-US" sz="2400" dirty="0"/>
              <a:t> to handle conveniently</a:t>
            </a:r>
          </a:p>
          <a:p>
            <a:pPr lvl="1" eaLnBrk="1" hangingPunct="1"/>
            <a:r>
              <a:rPr lang="en-US" altLang="en-US" sz="2400" b="1" i="1" dirty="0"/>
              <a:t>A fundamental data structure to know well</a:t>
            </a:r>
          </a:p>
          <a:p>
            <a:pPr eaLnBrk="1" hangingPunct="1"/>
            <a:endParaRPr lang="en-US" altLang="en-US" sz="2800" dirty="0"/>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2</a:t>
            </a:fld>
            <a:endParaRPr lang="en-US"/>
          </a:p>
        </p:txBody>
      </p:sp>
      <p:sp>
        <p:nvSpPr>
          <p:cNvPr id="5" name="Date Placeholder 4"/>
          <p:cNvSpPr>
            <a:spLocks noGrp="1"/>
          </p:cNvSpPr>
          <p:nvPr>
            <p:ph type="dt" sz="half" idx="10"/>
          </p:nvPr>
        </p:nvSpPr>
        <p:spPr/>
        <p:txBody>
          <a:bodyPr/>
          <a:lstStyle/>
          <a:p>
            <a:pPr>
              <a:defRPr/>
            </a:pPr>
            <a:fld id="{3AD27C7B-C2CE-4C69-8676-DB62FDF3B633}" type="datetime1">
              <a:rPr lang="en-US" smtClean="0"/>
              <a:t>8/2/2021</a:t>
            </a:fld>
            <a:endParaRPr lang="en-US"/>
          </a:p>
        </p:txBody>
      </p:sp>
      <p:sp>
        <p:nvSpPr>
          <p:cNvPr id="6" name="Footer Placeholder 5"/>
          <p:cNvSpPr>
            <a:spLocks noGrp="1"/>
          </p:cNvSpPr>
          <p:nvPr>
            <p:ph type="ftr" sz="quarter" idx="11"/>
          </p:nvPr>
        </p:nvSpPr>
        <p:spPr/>
        <p:txBody>
          <a:bodyPr/>
          <a:lstStyle/>
          <a:p>
            <a:pPr>
              <a:defRPr/>
            </a:pPr>
            <a:r>
              <a:rPr lang="en-US"/>
              <a:t>Copyright (c) John K. Ostlund</a:t>
            </a:r>
          </a:p>
        </p:txBody>
      </p:sp>
    </p:spTree>
    <p:extLst>
      <p:ext uri="{BB962C8B-B14F-4D97-AF65-F5344CB8AC3E}">
        <p14:creationId xmlns:p14="http://schemas.microsoft.com/office/powerpoint/2010/main" val="1378675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A Binary Tree of </a:t>
            </a:r>
            <a:r>
              <a:rPr lang="en-US" altLang="en-US" b="1" dirty="0">
                <a:latin typeface="Courier New" panose="02070309020205020404" pitchFamily="49" charset="0"/>
                <a:cs typeface="Courier New" panose="02070309020205020404" pitchFamily="49" charset="0"/>
              </a:rPr>
              <a:t>int</a:t>
            </a:r>
            <a:r>
              <a:rPr lang="en-US" altLang="en-US" dirty="0"/>
              <a:t> Values</a:t>
            </a: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3</a:t>
            </a:fld>
            <a:endParaRPr lang="en-US"/>
          </a:p>
        </p:txBody>
      </p:sp>
      <p:grpSp>
        <p:nvGrpSpPr>
          <p:cNvPr id="3" name="Group 5"/>
          <p:cNvGrpSpPr/>
          <p:nvPr/>
        </p:nvGrpSpPr>
        <p:grpSpPr>
          <a:xfrm>
            <a:off x="4249615" y="2590800"/>
            <a:ext cx="762000" cy="685800"/>
            <a:chOff x="3962400" y="2590800"/>
            <a:chExt cx="762000" cy="685800"/>
          </a:xfrm>
        </p:grpSpPr>
        <p:sp>
          <p:nvSpPr>
            <p:cNvPr id="5" name="Rectangle 4"/>
            <p:cNvSpPr/>
            <p:nvPr/>
          </p:nvSpPr>
          <p:spPr bwMode="auto">
            <a:xfrm>
              <a:off x="3962400" y="2590800"/>
              <a:ext cx="762000" cy="6858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8" name="Rectangle 7"/>
            <p:cNvSpPr/>
            <p:nvPr/>
          </p:nvSpPr>
          <p:spPr bwMode="auto">
            <a:xfrm>
              <a:off x="3962400" y="2933700"/>
              <a:ext cx="762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9" name="Rectangle 8"/>
            <p:cNvSpPr/>
            <p:nvPr/>
          </p:nvSpPr>
          <p:spPr bwMode="auto">
            <a:xfrm>
              <a:off x="3962400" y="2933700"/>
              <a:ext cx="381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grpSp>
      <p:grpSp>
        <p:nvGrpSpPr>
          <p:cNvPr id="4" name="Group 10"/>
          <p:cNvGrpSpPr/>
          <p:nvPr/>
        </p:nvGrpSpPr>
        <p:grpSpPr>
          <a:xfrm>
            <a:off x="3124200" y="3733800"/>
            <a:ext cx="762000" cy="685800"/>
            <a:chOff x="3962400" y="2590800"/>
            <a:chExt cx="762000" cy="685800"/>
          </a:xfrm>
        </p:grpSpPr>
        <p:sp>
          <p:nvSpPr>
            <p:cNvPr id="12" name="Rectangle 11"/>
            <p:cNvSpPr/>
            <p:nvPr/>
          </p:nvSpPr>
          <p:spPr bwMode="auto">
            <a:xfrm>
              <a:off x="3962400" y="2590800"/>
              <a:ext cx="762000" cy="6858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13" name="Rectangle 12"/>
            <p:cNvSpPr/>
            <p:nvPr/>
          </p:nvSpPr>
          <p:spPr bwMode="auto">
            <a:xfrm>
              <a:off x="3962400" y="2933700"/>
              <a:ext cx="762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14" name="Rectangle 13"/>
            <p:cNvSpPr/>
            <p:nvPr/>
          </p:nvSpPr>
          <p:spPr bwMode="auto">
            <a:xfrm>
              <a:off x="3962400" y="2933700"/>
              <a:ext cx="381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grpSp>
      <p:grpSp>
        <p:nvGrpSpPr>
          <p:cNvPr id="6" name="Group 14"/>
          <p:cNvGrpSpPr/>
          <p:nvPr/>
        </p:nvGrpSpPr>
        <p:grpSpPr>
          <a:xfrm>
            <a:off x="5334000" y="3733800"/>
            <a:ext cx="762000" cy="685800"/>
            <a:chOff x="3962400" y="2590800"/>
            <a:chExt cx="762000" cy="685800"/>
          </a:xfrm>
        </p:grpSpPr>
        <p:sp>
          <p:nvSpPr>
            <p:cNvPr id="16" name="Rectangle 15"/>
            <p:cNvSpPr/>
            <p:nvPr/>
          </p:nvSpPr>
          <p:spPr bwMode="auto">
            <a:xfrm>
              <a:off x="3962400" y="2590800"/>
              <a:ext cx="762000" cy="6858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17" name="Rectangle 16"/>
            <p:cNvSpPr/>
            <p:nvPr/>
          </p:nvSpPr>
          <p:spPr bwMode="auto">
            <a:xfrm>
              <a:off x="3962400" y="2933700"/>
              <a:ext cx="762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18" name="Rectangle 17"/>
            <p:cNvSpPr/>
            <p:nvPr/>
          </p:nvSpPr>
          <p:spPr bwMode="auto">
            <a:xfrm>
              <a:off x="3962400" y="2933700"/>
              <a:ext cx="381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grpSp>
      <p:grpSp>
        <p:nvGrpSpPr>
          <p:cNvPr id="7" name="Group 18"/>
          <p:cNvGrpSpPr/>
          <p:nvPr/>
        </p:nvGrpSpPr>
        <p:grpSpPr>
          <a:xfrm>
            <a:off x="6096000" y="5100376"/>
            <a:ext cx="762000" cy="685800"/>
            <a:chOff x="3962400" y="2590800"/>
            <a:chExt cx="762000" cy="685800"/>
          </a:xfrm>
        </p:grpSpPr>
        <p:sp>
          <p:nvSpPr>
            <p:cNvPr id="20" name="Rectangle 19"/>
            <p:cNvSpPr/>
            <p:nvPr/>
          </p:nvSpPr>
          <p:spPr bwMode="auto">
            <a:xfrm>
              <a:off x="3962400" y="2590800"/>
              <a:ext cx="762000" cy="6858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1" name="Rectangle 20"/>
            <p:cNvSpPr/>
            <p:nvPr/>
          </p:nvSpPr>
          <p:spPr bwMode="auto">
            <a:xfrm>
              <a:off x="3962400" y="2933700"/>
              <a:ext cx="762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2" name="Rectangle 21"/>
            <p:cNvSpPr/>
            <p:nvPr/>
          </p:nvSpPr>
          <p:spPr bwMode="auto">
            <a:xfrm>
              <a:off x="3962400" y="2933700"/>
              <a:ext cx="381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grpSp>
      <p:grpSp>
        <p:nvGrpSpPr>
          <p:cNvPr id="10" name="Group 22"/>
          <p:cNvGrpSpPr/>
          <p:nvPr/>
        </p:nvGrpSpPr>
        <p:grpSpPr>
          <a:xfrm>
            <a:off x="3886200" y="5100376"/>
            <a:ext cx="762000" cy="685800"/>
            <a:chOff x="3962400" y="2590800"/>
            <a:chExt cx="762000" cy="685800"/>
          </a:xfrm>
        </p:grpSpPr>
        <p:sp>
          <p:nvSpPr>
            <p:cNvPr id="24" name="Rectangle 23"/>
            <p:cNvSpPr/>
            <p:nvPr/>
          </p:nvSpPr>
          <p:spPr bwMode="auto">
            <a:xfrm>
              <a:off x="3962400" y="2590800"/>
              <a:ext cx="762000" cy="6858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5" name="Rectangle 24"/>
            <p:cNvSpPr/>
            <p:nvPr/>
          </p:nvSpPr>
          <p:spPr bwMode="auto">
            <a:xfrm>
              <a:off x="3962400" y="2933700"/>
              <a:ext cx="762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6" name="Rectangle 25"/>
            <p:cNvSpPr/>
            <p:nvPr/>
          </p:nvSpPr>
          <p:spPr bwMode="auto">
            <a:xfrm>
              <a:off x="3962400" y="2933700"/>
              <a:ext cx="381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grpSp>
      <p:grpSp>
        <p:nvGrpSpPr>
          <p:cNvPr id="11" name="Group 26"/>
          <p:cNvGrpSpPr/>
          <p:nvPr/>
        </p:nvGrpSpPr>
        <p:grpSpPr>
          <a:xfrm>
            <a:off x="2209800" y="5105400"/>
            <a:ext cx="762000" cy="685800"/>
            <a:chOff x="3962400" y="2590800"/>
            <a:chExt cx="762000" cy="685800"/>
          </a:xfrm>
        </p:grpSpPr>
        <p:sp>
          <p:nvSpPr>
            <p:cNvPr id="28" name="Rectangle 27"/>
            <p:cNvSpPr/>
            <p:nvPr/>
          </p:nvSpPr>
          <p:spPr bwMode="auto">
            <a:xfrm>
              <a:off x="3962400" y="2590800"/>
              <a:ext cx="762000" cy="6858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9" name="Rectangle 28"/>
            <p:cNvSpPr/>
            <p:nvPr/>
          </p:nvSpPr>
          <p:spPr bwMode="auto">
            <a:xfrm>
              <a:off x="3962400" y="2933700"/>
              <a:ext cx="762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30" name="Rectangle 29"/>
            <p:cNvSpPr/>
            <p:nvPr/>
          </p:nvSpPr>
          <p:spPr bwMode="auto">
            <a:xfrm>
              <a:off x="3962400" y="2933700"/>
              <a:ext cx="381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grpSp>
      <p:cxnSp>
        <p:nvCxnSpPr>
          <p:cNvPr id="33" name="Straight Arrow Connector 32"/>
          <p:cNvCxnSpPr>
            <a:cxnSpLocks/>
            <a:stCxn id="43020" idx="3"/>
          </p:cNvCxnSpPr>
          <p:nvPr/>
        </p:nvCxnSpPr>
        <p:spPr bwMode="auto">
          <a:xfrm>
            <a:off x="3060032" y="2757100"/>
            <a:ext cx="1207168" cy="1"/>
          </a:xfrm>
          <a:prstGeom prst="straightConnector1">
            <a:avLst/>
          </a:prstGeom>
          <a:solidFill>
            <a:schemeClr val="accent1"/>
          </a:solidFill>
          <a:ln w="38100" cap="sq" cmpd="sng" algn="ctr">
            <a:solidFill>
              <a:schemeClr val="tx1"/>
            </a:solidFill>
            <a:prstDash val="sysDash"/>
            <a:round/>
            <a:headEnd type="none" w="sm" len="sm"/>
            <a:tailEnd type="none"/>
          </a:ln>
          <a:effectLst/>
        </p:spPr>
      </p:cxnSp>
      <p:cxnSp>
        <p:nvCxnSpPr>
          <p:cNvPr id="47" name="Straight Arrow Connector 46"/>
          <p:cNvCxnSpPr>
            <a:cxnSpLocks/>
          </p:cNvCxnSpPr>
          <p:nvPr/>
        </p:nvCxnSpPr>
        <p:spPr bwMode="auto">
          <a:xfrm flipH="1">
            <a:off x="3518022" y="3072068"/>
            <a:ext cx="934915" cy="623501"/>
          </a:xfrm>
          <a:prstGeom prst="straightConnector1">
            <a:avLst/>
          </a:prstGeom>
          <a:solidFill>
            <a:schemeClr val="accent1"/>
          </a:solidFill>
          <a:ln w="38100" cap="sq" cmpd="sng" algn="ctr">
            <a:solidFill>
              <a:schemeClr val="tx1"/>
            </a:solidFill>
            <a:prstDash val="sysDash"/>
            <a:round/>
            <a:headEnd type="none" w="sm" len="sm"/>
            <a:tailEnd type="none"/>
          </a:ln>
          <a:effectLst/>
        </p:spPr>
      </p:cxnSp>
      <p:cxnSp>
        <p:nvCxnSpPr>
          <p:cNvPr id="49" name="Straight Arrow Connector 48"/>
          <p:cNvCxnSpPr>
            <a:cxnSpLocks/>
            <a:endCxn id="16" idx="0"/>
          </p:cNvCxnSpPr>
          <p:nvPr/>
        </p:nvCxnSpPr>
        <p:spPr bwMode="auto">
          <a:xfrm>
            <a:off x="4833937" y="3110299"/>
            <a:ext cx="881063" cy="623501"/>
          </a:xfrm>
          <a:prstGeom prst="straightConnector1">
            <a:avLst/>
          </a:prstGeom>
          <a:solidFill>
            <a:schemeClr val="accent1"/>
          </a:solidFill>
          <a:ln w="38100" cap="sq" cmpd="sng" algn="ctr">
            <a:solidFill>
              <a:schemeClr val="tx1"/>
            </a:solidFill>
            <a:prstDash val="sysDash"/>
            <a:round/>
            <a:headEnd type="none" w="sm" len="sm"/>
            <a:tailEnd type="none"/>
          </a:ln>
          <a:effectLst/>
        </p:spPr>
      </p:cxnSp>
      <p:cxnSp>
        <p:nvCxnSpPr>
          <p:cNvPr id="53" name="Straight Arrow Connector 52"/>
          <p:cNvCxnSpPr>
            <a:cxnSpLocks/>
            <a:endCxn id="24" idx="0"/>
          </p:cNvCxnSpPr>
          <p:nvPr/>
        </p:nvCxnSpPr>
        <p:spPr bwMode="auto">
          <a:xfrm>
            <a:off x="3733800" y="4267200"/>
            <a:ext cx="533400" cy="833176"/>
          </a:xfrm>
          <a:prstGeom prst="straightConnector1">
            <a:avLst/>
          </a:prstGeom>
          <a:solidFill>
            <a:schemeClr val="accent1"/>
          </a:solidFill>
          <a:ln w="38100" cap="sq" cmpd="sng" algn="ctr">
            <a:solidFill>
              <a:schemeClr val="tx1"/>
            </a:solidFill>
            <a:prstDash val="sysDash"/>
            <a:round/>
            <a:headEnd type="none" w="sm" len="sm"/>
            <a:tailEnd type="none"/>
          </a:ln>
          <a:effectLst/>
        </p:spPr>
      </p:cxnSp>
      <p:cxnSp>
        <p:nvCxnSpPr>
          <p:cNvPr id="55" name="Straight Arrow Connector 54"/>
          <p:cNvCxnSpPr>
            <a:cxnSpLocks/>
            <a:endCxn id="20" idx="0"/>
          </p:cNvCxnSpPr>
          <p:nvPr/>
        </p:nvCxnSpPr>
        <p:spPr bwMode="auto">
          <a:xfrm>
            <a:off x="5887916" y="4253299"/>
            <a:ext cx="589084" cy="847077"/>
          </a:xfrm>
          <a:prstGeom prst="straightConnector1">
            <a:avLst/>
          </a:prstGeom>
          <a:solidFill>
            <a:schemeClr val="accent1"/>
          </a:solidFill>
          <a:ln w="38100" cap="sq" cmpd="sng" algn="ctr">
            <a:solidFill>
              <a:schemeClr val="tx1"/>
            </a:solidFill>
            <a:prstDash val="sysDash"/>
            <a:round/>
            <a:headEnd type="none" w="sm" len="sm"/>
            <a:tailEnd type="none"/>
          </a:ln>
          <a:effectLst/>
        </p:spPr>
      </p:cxnSp>
      <p:cxnSp>
        <p:nvCxnSpPr>
          <p:cNvPr id="57" name="Straight Arrow Connector 56"/>
          <p:cNvCxnSpPr/>
          <p:nvPr/>
        </p:nvCxnSpPr>
        <p:spPr bwMode="auto">
          <a:xfrm flipH="1">
            <a:off x="2514600" y="4253299"/>
            <a:ext cx="782516" cy="847077"/>
          </a:xfrm>
          <a:prstGeom prst="straightConnector1">
            <a:avLst/>
          </a:prstGeom>
          <a:solidFill>
            <a:schemeClr val="accent1"/>
          </a:solidFill>
          <a:ln w="38100" cap="sq" cmpd="sng" algn="ctr">
            <a:solidFill>
              <a:schemeClr val="tx1"/>
            </a:solidFill>
            <a:prstDash val="sysDash"/>
            <a:round/>
            <a:headEnd type="none" w="sm" len="sm"/>
            <a:tailEnd type="none"/>
          </a:ln>
          <a:effectLst/>
        </p:spPr>
      </p:cxnSp>
      <p:sp>
        <p:nvSpPr>
          <p:cNvPr id="43016" name="TextBox 43015"/>
          <p:cNvSpPr txBox="1"/>
          <p:nvPr/>
        </p:nvSpPr>
        <p:spPr>
          <a:xfrm>
            <a:off x="4287715" y="2586361"/>
            <a:ext cx="685800" cy="369332"/>
          </a:xfrm>
          <a:prstGeom prst="rect">
            <a:avLst/>
          </a:prstGeom>
          <a:noFill/>
          <a:ln>
            <a:noFill/>
          </a:ln>
        </p:spPr>
        <p:txBody>
          <a:bodyPr wrap="square" rtlCol="0">
            <a:spAutoFit/>
          </a:bodyPr>
          <a:lstStyle/>
          <a:p>
            <a:pPr algn="ctr"/>
            <a:r>
              <a:rPr lang="en-US" b="1" dirty="0"/>
              <a:t>12</a:t>
            </a:r>
          </a:p>
        </p:txBody>
      </p:sp>
      <p:sp>
        <p:nvSpPr>
          <p:cNvPr id="65" name="TextBox 64"/>
          <p:cNvSpPr txBox="1"/>
          <p:nvPr/>
        </p:nvSpPr>
        <p:spPr>
          <a:xfrm>
            <a:off x="2247900" y="5105400"/>
            <a:ext cx="685800" cy="369332"/>
          </a:xfrm>
          <a:prstGeom prst="rect">
            <a:avLst/>
          </a:prstGeom>
          <a:noFill/>
          <a:ln>
            <a:noFill/>
          </a:ln>
        </p:spPr>
        <p:txBody>
          <a:bodyPr wrap="square" rtlCol="0">
            <a:spAutoFit/>
          </a:bodyPr>
          <a:lstStyle/>
          <a:p>
            <a:pPr algn="ctr"/>
            <a:r>
              <a:rPr lang="en-US" b="1" dirty="0"/>
              <a:t>-4</a:t>
            </a:r>
          </a:p>
        </p:txBody>
      </p:sp>
      <p:sp>
        <p:nvSpPr>
          <p:cNvPr id="66" name="TextBox 65"/>
          <p:cNvSpPr txBox="1"/>
          <p:nvPr/>
        </p:nvSpPr>
        <p:spPr>
          <a:xfrm>
            <a:off x="3162300" y="3745468"/>
            <a:ext cx="685800" cy="369332"/>
          </a:xfrm>
          <a:prstGeom prst="rect">
            <a:avLst/>
          </a:prstGeom>
          <a:noFill/>
          <a:ln>
            <a:noFill/>
          </a:ln>
        </p:spPr>
        <p:txBody>
          <a:bodyPr wrap="square" rtlCol="0">
            <a:spAutoFit/>
          </a:bodyPr>
          <a:lstStyle/>
          <a:p>
            <a:pPr algn="ctr"/>
            <a:r>
              <a:rPr lang="en-US" b="1" dirty="0"/>
              <a:t>7</a:t>
            </a:r>
          </a:p>
        </p:txBody>
      </p:sp>
      <p:sp>
        <p:nvSpPr>
          <p:cNvPr id="67" name="TextBox 66"/>
          <p:cNvSpPr txBox="1"/>
          <p:nvPr/>
        </p:nvSpPr>
        <p:spPr>
          <a:xfrm>
            <a:off x="3886200" y="5105400"/>
            <a:ext cx="685800" cy="369332"/>
          </a:xfrm>
          <a:prstGeom prst="rect">
            <a:avLst/>
          </a:prstGeom>
          <a:noFill/>
          <a:ln>
            <a:noFill/>
          </a:ln>
        </p:spPr>
        <p:txBody>
          <a:bodyPr wrap="square" rtlCol="0">
            <a:spAutoFit/>
          </a:bodyPr>
          <a:lstStyle/>
          <a:p>
            <a:pPr algn="ctr"/>
            <a:r>
              <a:rPr lang="en-US" b="1" dirty="0"/>
              <a:t>9</a:t>
            </a:r>
          </a:p>
        </p:txBody>
      </p:sp>
      <p:sp>
        <p:nvSpPr>
          <p:cNvPr id="68" name="TextBox 67"/>
          <p:cNvSpPr txBox="1"/>
          <p:nvPr/>
        </p:nvSpPr>
        <p:spPr>
          <a:xfrm>
            <a:off x="5334000" y="3745468"/>
            <a:ext cx="685800" cy="369332"/>
          </a:xfrm>
          <a:prstGeom prst="rect">
            <a:avLst/>
          </a:prstGeom>
          <a:noFill/>
          <a:ln>
            <a:noFill/>
          </a:ln>
        </p:spPr>
        <p:txBody>
          <a:bodyPr wrap="square" rtlCol="0">
            <a:spAutoFit/>
          </a:bodyPr>
          <a:lstStyle/>
          <a:p>
            <a:pPr algn="ctr"/>
            <a:r>
              <a:rPr lang="en-US" b="1" dirty="0"/>
              <a:t>13</a:t>
            </a:r>
          </a:p>
        </p:txBody>
      </p:sp>
      <p:sp>
        <p:nvSpPr>
          <p:cNvPr id="69" name="TextBox 68"/>
          <p:cNvSpPr txBox="1"/>
          <p:nvPr/>
        </p:nvSpPr>
        <p:spPr>
          <a:xfrm>
            <a:off x="6096000" y="5105400"/>
            <a:ext cx="685800" cy="369332"/>
          </a:xfrm>
          <a:prstGeom prst="rect">
            <a:avLst/>
          </a:prstGeom>
          <a:noFill/>
          <a:ln>
            <a:noFill/>
          </a:ln>
        </p:spPr>
        <p:txBody>
          <a:bodyPr wrap="square" rtlCol="0">
            <a:spAutoFit/>
          </a:bodyPr>
          <a:lstStyle/>
          <a:p>
            <a:pPr algn="ctr"/>
            <a:r>
              <a:rPr lang="en-US" b="1" dirty="0"/>
              <a:t>29</a:t>
            </a:r>
          </a:p>
        </p:txBody>
      </p:sp>
      <p:sp>
        <p:nvSpPr>
          <p:cNvPr id="43019" name="Rectangle 43018"/>
          <p:cNvSpPr/>
          <p:nvPr/>
        </p:nvSpPr>
        <p:spPr bwMode="auto">
          <a:xfrm>
            <a:off x="1676400" y="2286000"/>
            <a:ext cx="1828800" cy="990599"/>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43020" name="TextBox 43019"/>
          <p:cNvSpPr txBox="1"/>
          <p:nvPr/>
        </p:nvSpPr>
        <p:spPr>
          <a:xfrm>
            <a:off x="2221832" y="2572434"/>
            <a:ext cx="838200" cy="369332"/>
          </a:xfrm>
          <a:prstGeom prst="rect">
            <a:avLst/>
          </a:prstGeom>
          <a:noFill/>
        </p:spPr>
        <p:txBody>
          <a:bodyPr wrap="square" rtlCol="0">
            <a:spAutoFit/>
          </a:bodyPr>
          <a:lstStyle/>
          <a:p>
            <a:pPr algn="ctr"/>
            <a:r>
              <a:rPr lang="en-US" b="1" dirty="0">
                <a:latin typeface="Courier New" panose="02070309020205020404" pitchFamily="49" charset="0"/>
                <a:cs typeface="Courier New" panose="02070309020205020404" pitchFamily="49" charset="0"/>
              </a:rPr>
              <a:t>top</a:t>
            </a:r>
          </a:p>
        </p:txBody>
      </p:sp>
      <p:sp>
        <p:nvSpPr>
          <p:cNvPr id="50" name="Date Placeholder 49"/>
          <p:cNvSpPr>
            <a:spLocks noGrp="1"/>
          </p:cNvSpPr>
          <p:nvPr>
            <p:ph type="dt" sz="half" idx="10"/>
          </p:nvPr>
        </p:nvSpPr>
        <p:spPr/>
        <p:txBody>
          <a:bodyPr/>
          <a:lstStyle/>
          <a:p>
            <a:pPr>
              <a:defRPr/>
            </a:pPr>
            <a:fld id="{EB080388-565E-4EA4-B7F2-63A182365103}" type="datetime1">
              <a:rPr lang="en-US" smtClean="0"/>
              <a:t>8/2/2021</a:t>
            </a:fld>
            <a:endParaRPr lang="en-US"/>
          </a:p>
        </p:txBody>
      </p:sp>
      <p:sp>
        <p:nvSpPr>
          <p:cNvPr id="51" name="Footer Placeholder 50"/>
          <p:cNvSpPr>
            <a:spLocks noGrp="1"/>
          </p:cNvSpPr>
          <p:nvPr>
            <p:ph type="ftr" sz="quarter" idx="11"/>
          </p:nvPr>
        </p:nvSpPr>
        <p:spPr/>
        <p:txBody>
          <a:bodyPr/>
          <a:lstStyle/>
          <a:p>
            <a:pPr>
              <a:defRPr/>
            </a:pPr>
            <a:r>
              <a:rPr lang="en-US"/>
              <a:t>Copyright (c) John K. Ostlund</a:t>
            </a:r>
          </a:p>
        </p:txBody>
      </p:sp>
    </p:spTree>
    <p:extLst>
      <p:ext uri="{BB962C8B-B14F-4D97-AF65-F5344CB8AC3E}">
        <p14:creationId xmlns:p14="http://schemas.microsoft.com/office/powerpoint/2010/main" val="3790223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Binary Tree Code: </a:t>
            </a:r>
            <a:r>
              <a:rPr lang="en-US" altLang="en-US" b="1" dirty="0"/>
              <a:t>__</a:t>
            </a:r>
            <a:r>
              <a:rPr lang="en-US" altLang="en-US" b="1" dirty="0" err="1"/>
              <a:t>init</a:t>
            </a:r>
            <a:r>
              <a:rPr lang="en-US" altLang="en-US" b="1" dirty="0"/>
              <a:t>__()</a:t>
            </a:r>
          </a:p>
        </p:txBody>
      </p:sp>
      <p:sp>
        <p:nvSpPr>
          <p:cNvPr id="43011" name="Rectangle 3"/>
          <p:cNvSpPr>
            <a:spLocks noGrp="1" noChangeArrowheads="1"/>
          </p:cNvSpPr>
          <p:nvPr>
            <p:ph type="body" idx="1"/>
          </p:nvPr>
        </p:nvSpPr>
        <p:spPr/>
        <p:txBody>
          <a:bodyPr/>
          <a:lstStyle/>
          <a:p>
            <a:pPr marL="0" indent="0">
              <a:spcBef>
                <a:spcPts val="0"/>
              </a:spcBef>
              <a:buNone/>
            </a:pPr>
            <a:r>
              <a:rPr lang="en-US" sz="2000" b="1" dirty="0">
                <a:latin typeface="Courier New" panose="02070309020205020404" pitchFamily="49" charset="0"/>
                <a:cs typeface="Courier New" panose="02070309020205020404" pitchFamily="49" charset="0"/>
              </a:rPr>
              <a:t># File: BinaryTree.py</a:t>
            </a:r>
          </a:p>
          <a:p>
            <a:pPr marL="0" indent="0">
              <a:spcBef>
                <a:spcPts val="0"/>
              </a:spcBef>
              <a:buNone/>
            </a:pPr>
            <a:endParaRPr lang="en-US" sz="2000" b="1" dirty="0">
              <a:latin typeface="Courier New" panose="02070309020205020404" pitchFamily="49" charset="0"/>
              <a:cs typeface="Courier New" panose="02070309020205020404" pitchFamily="49" charset="0"/>
            </a:endParaRPr>
          </a:p>
          <a:p>
            <a:pPr marL="0" indent="0">
              <a:spcBef>
                <a:spcPts val="0"/>
              </a:spcBef>
              <a:buNone/>
            </a:pPr>
            <a:r>
              <a:rPr lang="en-US" sz="2000" b="1" dirty="0">
                <a:latin typeface="Courier New" panose="02070309020205020404" pitchFamily="49" charset="0"/>
                <a:cs typeface="Courier New" panose="02070309020205020404" pitchFamily="49" charset="0"/>
              </a:rPr>
              <a:t>class </a:t>
            </a:r>
            <a:r>
              <a:rPr lang="en-US" sz="2000" b="1" dirty="0" err="1">
                <a:latin typeface="Courier New" panose="02070309020205020404" pitchFamily="49" charset="0"/>
                <a:cs typeface="Courier New" panose="02070309020205020404" pitchFamily="49" charset="0"/>
              </a:rPr>
              <a:t>BinaryTree</a:t>
            </a:r>
            <a:r>
              <a:rPr lang="en-US" sz="2000" b="1" dirty="0">
                <a:latin typeface="Courier New" panose="02070309020205020404" pitchFamily="49" charset="0"/>
                <a:cs typeface="Courier New" panose="02070309020205020404" pitchFamily="49" charset="0"/>
              </a:rPr>
              <a:t>:</a:t>
            </a:r>
          </a:p>
          <a:p>
            <a:pPr marL="0" indent="0">
              <a:spcBef>
                <a:spcPts val="0"/>
              </a:spcBef>
              <a:buNone/>
            </a:pPr>
            <a:r>
              <a:rPr lang="en-US" sz="2000" b="1" dirty="0">
                <a:solidFill>
                  <a:srgbClr val="FF0000"/>
                </a:solidFill>
                <a:latin typeface="Courier New" panose="02070309020205020404" pitchFamily="49" charset="0"/>
                <a:cs typeface="Courier New" panose="02070309020205020404" pitchFamily="49" charset="0"/>
              </a:rPr>
              <a:t>   class _</a:t>
            </a:r>
            <a:r>
              <a:rPr lang="en-US" sz="2000" b="1" dirty="0" err="1">
                <a:solidFill>
                  <a:srgbClr val="FF0000"/>
                </a:solidFill>
                <a:latin typeface="Courier New" panose="02070309020205020404" pitchFamily="49" charset="0"/>
                <a:cs typeface="Courier New" panose="02070309020205020404" pitchFamily="49" charset="0"/>
              </a:rPr>
              <a:t>BTNode</a:t>
            </a:r>
            <a:r>
              <a:rPr lang="en-US" sz="2000" b="1" dirty="0">
                <a:solidFill>
                  <a:srgbClr val="FF0000"/>
                </a:solidFill>
                <a:latin typeface="Courier New" panose="02070309020205020404" pitchFamily="49" charset="0"/>
                <a:cs typeface="Courier New" panose="02070309020205020404" pitchFamily="49" charset="0"/>
              </a:rPr>
              <a:t>:</a:t>
            </a:r>
          </a:p>
          <a:p>
            <a:pPr marL="0" indent="0">
              <a:spcBef>
                <a:spcPts val="0"/>
              </a:spcBef>
              <a:buNone/>
            </a:pPr>
            <a:r>
              <a:rPr lang="en-US" sz="2000" b="1" dirty="0">
                <a:solidFill>
                  <a:srgbClr val="FF0000"/>
                </a:solidFill>
                <a:latin typeface="Courier New" panose="02070309020205020404" pitchFamily="49" charset="0"/>
                <a:cs typeface="Courier New" panose="02070309020205020404" pitchFamily="49" charset="0"/>
              </a:rPr>
              <a:t>      def __</a:t>
            </a:r>
            <a:r>
              <a:rPr lang="en-US" sz="2000" b="1" dirty="0" err="1">
                <a:solidFill>
                  <a:srgbClr val="FF0000"/>
                </a:solidFill>
                <a:latin typeface="Courier New" panose="02070309020205020404" pitchFamily="49" charset="0"/>
                <a:cs typeface="Courier New" panose="02070309020205020404" pitchFamily="49" charset="0"/>
              </a:rPr>
              <a:t>init</a:t>
            </a:r>
            <a:r>
              <a:rPr lang="en-US" sz="2000" b="1" dirty="0">
                <a:solidFill>
                  <a:srgbClr val="FF0000"/>
                </a:solidFill>
                <a:latin typeface="Courier New" panose="02070309020205020404" pitchFamily="49" charset="0"/>
                <a:cs typeface="Courier New" panose="02070309020205020404" pitchFamily="49" charset="0"/>
              </a:rPr>
              <a:t>__(self, value, left = None,</a:t>
            </a:r>
          </a:p>
          <a:p>
            <a:pPr marL="0" indent="0">
              <a:spcBef>
                <a:spcPts val="0"/>
              </a:spcBef>
              <a:buNone/>
            </a:pPr>
            <a:r>
              <a:rPr lang="en-US" sz="2000" b="1" dirty="0">
                <a:solidFill>
                  <a:srgbClr val="FF0000"/>
                </a:solidFill>
                <a:latin typeface="Courier New" panose="02070309020205020404" pitchFamily="49" charset="0"/>
                <a:cs typeface="Courier New" panose="02070309020205020404" pitchFamily="49" charset="0"/>
              </a:rPr>
              <a:t>                                right = None):</a:t>
            </a:r>
          </a:p>
          <a:p>
            <a:pPr marL="0" indent="0">
              <a:spcBef>
                <a:spcPts val="0"/>
              </a:spcBef>
              <a:buNone/>
            </a:pPr>
            <a:r>
              <a:rPr lang="en-US" sz="2000" b="1" dirty="0">
                <a:solidFill>
                  <a:srgbClr val="FF0000"/>
                </a:solidFill>
                <a:latin typeface="Courier New" panose="02070309020205020404" pitchFamily="49" charset="0"/>
                <a:cs typeface="Courier New" panose="02070309020205020404" pitchFamily="49" charset="0"/>
              </a:rPr>
              <a:t>         </a:t>
            </a:r>
            <a:r>
              <a:rPr lang="en-US" sz="2000" b="1" dirty="0" err="1">
                <a:solidFill>
                  <a:srgbClr val="FF0000"/>
                </a:solidFill>
                <a:latin typeface="Courier New" panose="02070309020205020404" pitchFamily="49" charset="0"/>
                <a:cs typeface="Courier New" panose="02070309020205020404" pitchFamily="49" charset="0"/>
              </a:rPr>
              <a:t>self._value</a:t>
            </a:r>
            <a:r>
              <a:rPr lang="en-US" sz="2000" b="1" dirty="0">
                <a:solidFill>
                  <a:srgbClr val="FF0000"/>
                </a:solidFill>
                <a:latin typeface="Courier New" panose="02070309020205020404" pitchFamily="49" charset="0"/>
                <a:cs typeface="Courier New" panose="02070309020205020404" pitchFamily="49" charset="0"/>
              </a:rPr>
              <a:t> = value</a:t>
            </a:r>
          </a:p>
          <a:p>
            <a:pPr marL="0" indent="0">
              <a:spcBef>
                <a:spcPts val="0"/>
              </a:spcBef>
              <a:buNone/>
            </a:pPr>
            <a:r>
              <a:rPr lang="en-US" sz="2000" b="1" dirty="0">
                <a:solidFill>
                  <a:srgbClr val="FF0000"/>
                </a:solidFill>
                <a:latin typeface="Courier New" panose="02070309020205020404" pitchFamily="49" charset="0"/>
                <a:cs typeface="Courier New" panose="02070309020205020404" pitchFamily="49" charset="0"/>
              </a:rPr>
              <a:t>         </a:t>
            </a:r>
            <a:r>
              <a:rPr lang="en-US" sz="2000" b="1" dirty="0" err="1">
                <a:solidFill>
                  <a:srgbClr val="FF0000"/>
                </a:solidFill>
                <a:latin typeface="Courier New" panose="02070309020205020404" pitchFamily="49" charset="0"/>
                <a:cs typeface="Courier New" panose="02070309020205020404" pitchFamily="49" charset="0"/>
              </a:rPr>
              <a:t>self._left</a:t>
            </a:r>
            <a:r>
              <a:rPr lang="en-US" sz="2000" b="1" dirty="0">
                <a:solidFill>
                  <a:srgbClr val="FF0000"/>
                </a:solidFill>
                <a:latin typeface="Courier New" panose="02070309020205020404" pitchFamily="49" charset="0"/>
                <a:cs typeface="Courier New" panose="02070309020205020404" pitchFamily="49" charset="0"/>
              </a:rPr>
              <a:t> = left</a:t>
            </a:r>
          </a:p>
          <a:p>
            <a:pPr marL="0" indent="0">
              <a:spcBef>
                <a:spcPts val="0"/>
              </a:spcBef>
              <a:buNone/>
            </a:pPr>
            <a:r>
              <a:rPr lang="en-US" sz="2000" b="1" dirty="0">
                <a:solidFill>
                  <a:srgbClr val="FF0000"/>
                </a:solidFill>
                <a:latin typeface="Courier New" panose="02070309020205020404" pitchFamily="49" charset="0"/>
                <a:cs typeface="Courier New" panose="02070309020205020404" pitchFamily="49" charset="0"/>
              </a:rPr>
              <a:t>         </a:t>
            </a:r>
            <a:r>
              <a:rPr lang="en-US" sz="2000" b="1" dirty="0" err="1">
                <a:solidFill>
                  <a:srgbClr val="FF0000"/>
                </a:solidFill>
                <a:latin typeface="Courier New" panose="02070309020205020404" pitchFamily="49" charset="0"/>
                <a:cs typeface="Courier New" panose="02070309020205020404" pitchFamily="49" charset="0"/>
              </a:rPr>
              <a:t>self._right</a:t>
            </a:r>
            <a:r>
              <a:rPr lang="en-US" sz="2000" b="1" dirty="0">
                <a:solidFill>
                  <a:srgbClr val="FF0000"/>
                </a:solidFill>
                <a:latin typeface="Courier New" panose="02070309020205020404" pitchFamily="49" charset="0"/>
                <a:cs typeface="Courier New" panose="02070309020205020404" pitchFamily="49" charset="0"/>
              </a:rPr>
              <a:t> = right</a:t>
            </a:r>
          </a:p>
          <a:p>
            <a:pPr marL="0" indent="0">
              <a:spcBef>
                <a:spcPts val="0"/>
              </a:spcBef>
              <a:buNone/>
            </a:pPr>
            <a:r>
              <a:rPr lang="en-US" sz="2000" b="1" dirty="0">
                <a:latin typeface="Courier New" panose="02070309020205020404" pitchFamily="49" charset="0"/>
                <a:cs typeface="Courier New" panose="02070309020205020404" pitchFamily="49" charset="0"/>
              </a:rPr>
              <a:t>   def __</a:t>
            </a:r>
            <a:r>
              <a:rPr lang="en-US" sz="2000" b="1" dirty="0" err="1">
                <a:latin typeface="Courier New" panose="02070309020205020404" pitchFamily="49" charset="0"/>
                <a:cs typeface="Courier New" panose="02070309020205020404" pitchFamily="49" charset="0"/>
              </a:rPr>
              <a:t>init</a:t>
            </a:r>
            <a:r>
              <a:rPr lang="en-US" sz="2000" b="1" dirty="0">
                <a:latin typeface="Courier New" panose="02070309020205020404" pitchFamily="49" charset="0"/>
                <a:cs typeface="Courier New" panose="02070309020205020404" pitchFamily="49" charset="0"/>
              </a:rPr>
              <a:t>__(self):</a:t>
            </a:r>
          </a:p>
          <a:p>
            <a:pPr marL="0" indent="0">
              <a:spcBef>
                <a:spcPts val="0"/>
              </a:spcBef>
              <a:buNone/>
            </a:pPr>
            <a:r>
              <a:rPr lang="en-US" sz="2000" b="1" dirty="0">
                <a:latin typeface="Courier New" panose="02070309020205020404" pitchFamily="49" charset="0"/>
                <a:cs typeface="Courier New" panose="02070309020205020404" pitchFamily="49" charset="0"/>
              </a:rPr>
              <a:t>      </a:t>
            </a:r>
            <a:r>
              <a:rPr lang="en-US" sz="2000" b="1" dirty="0" err="1">
                <a:latin typeface="Courier New" panose="02070309020205020404" pitchFamily="49" charset="0"/>
                <a:cs typeface="Courier New" panose="02070309020205020404" pitchFamily="49" charset="0"/>
              </a:rPr>
              <a:t>self._top</a:t>
            </a:r>
            <a:r>
              <a:rPr lang="en-US" sz="2000" b="1" dirty="0">
                <a:latin typeface="Courier New" panose="02070309020205020404" pitchFamily="49" charset="0"/>
                <a:cs typeface="Courier New" panose="02070309020205020404" pitchFamily="49" charset="0"/>
              </a:rPr>
              <a:t> = None</a:t>
            </a:r>
          </a:p>
          <a:p>
            <a:pPr marL="0" indent="0" eaLnBrk="1" hangingPunct="1">
              <a:buNone/>
            </a:pPr>
            <a:endParaRPr lang="en-US" altLang="en-US" sz="1800" b="1" dirty="0">
              <a:latin typeface="Courier New" panose="02070309020205020404" pitchFamily="49" charset="0"/>
              <a:cs typeface="Courier New" panose="02070309020205020404" pitchFamily="49" charset="0"/>
            </a:endParaRP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4</a:t>
            </a:fld>
            <a:endParaRPr lang="en-US"/>
          </a:p>
        </p:txBody>
      </p:sp>
      <p:sp>
        <p:nvSpPr>
          <p:cNvPr id="5" name="Date Placeholder 4"/>
          <p:cNvSpPr>
            <a:spLocks noGrp="1"/>
          </p:cNvSpPr>
          <p:nvPr>
            <p:ph type="dt" sz="half" idx="10"/>
          </p:nvPr>
        </p:nvSpPr>
        <p:spPr/>
        <p:txBody>
          <a:bodyPr/>
          <a:lstStyle/>
          <a:p>
            <a:pPr>
              <a:defRPr/>
            </a:pPr>
            <a:fld id="{B2A0CC13-E366-4764-A88C-37B4E99A0F7B}" type="datetime1">
              <a:rPr lang="en-US" smtClean="0"/>
              <a:t>8/2/2021</a:t>
            </a:fld>
            <a:endParaRPr lang="en-US"/>
          </a:p>
        </p:txBody>
      </p:sp>
      <p:sp>
        <p:nvSpPr>
          <p:cNvPr id="6" name="Footer Placeholder 5"/>
          <p:cNvSpPr>
            <a:spLocks noGrp="1"/>
          </p:cNvSpPr>
          <p:nvPr>
            <p:ph type="ftr" sz="quarter" idx="11"/>
          </p:nvPr>
        </p:nvSpPr>
        <p:spPr/>
        <p:txBody>
          <a:bodyPr/>
          <a:lstStyle/>
          <a:p>
            <a:pPr>
              <a:defRPr/>
            </a:pPr>
            <a:r>
              <a:rPr lang="en-US"/>
              <a:t>Copyright (c) John K. Ostlund</a:t>
            </a:r>
          </a:p>
        </p:txBody>
      </p:sp>
    </p:spTree>
    <p:extLst>
      <p:ext uri="{BB962C8B-B14F-4D97-AF65-F5344CB8AC3E}">
        <p14:creationId xmlns:p14="http://schemas.microsoft.com/office/powerpoint/2010/main" val="2146493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Binary Tree Application</a:t>
            </a:r>
            <a:endParaRPr lang="en-US" altLang="en-US" b="1" dirty="0"/>
          </a:p>
        </p:txBody>
      </p:sp>
      <p:sp>
        <p:nvSpPr>
          <p:cNvPr id="43011" name="Rectangle 3"/>
          <p:cNvSpPr>
            <a:spLocks noGrp="1" noChangeArrowheads="1"/>
          </p:cNvSpPr>
          <p:nvPr>
            <p:ph type="body" idx="1"/>
          </p:nvPr>
        </p:nvSpPr>
        <p:spPr/>
        <p:txBody>
          <a:bodyPr/>
          <a:lstStyle/>
          <a:p>
            <a:pPr marL="0" indent="0">
              <a:spcBef>
                <a:spcPts val="0"/>
              </a:spcBef>
              <a:buNone/>
            </a:pPr>
            <a:r>
              <a:rPr lang="en-US" sz="2000" b="1" dirty="0">
                <a:latin typeface="Courier New" panose="02070309020205020404" pitchFamily="49" charset="0"/>
                <a:cs typeface="Courier New" panose="02070309020205020404" pitchFamily="49" charset="0"/>
              </a:rPr>
              <a:t># File: BT_app.py</a:t>
            </a:r>
          </a:p>
          <a:p>
            <a:pPr marL="0" indent="0">
              <a:spcBef>
                <a:spcPts val="0"/>
              </a:spcBef>
              <a:buNone/>
            </a:pPr>
            <a:r>
              <a:rPr lang="en-US" sz="2000" b="1" dirty="0">
                <a:latin typeface="Courier New" panose="02070309020205020404" pitchFamily="49" charset="0"/>
                <a:cs typeface="Courier New" panose="02070309020205020404" pitchFamily="49" charset="0"/>
              </a:rPr>
              <a:t>import </a:t>
            </a:r>
            <a:r>
              <a:rPr lang="en-US" sz="2000" b="1" dirty="0" err="1">
                <a:latin typeface="Courier New" panose="02070309020205020404" pitchFamily="49" charset="0"/>
                <a:cs typeface="Courier New" panose="02070309020205020404" pitchFamily="49" charset="0"/>
              </a:rPr>
              <a:t>BinaryTree</a:t>
            </a:r>
            <a:r>
              <a:rPr lang="en-US" sz="2000" b="1" dirty="0">
                <a:latin typeface="Courier New" panose="02070309020205020404" pitchFamily="49" charset="0"/>
                <a:cs typeface="Courier New" panose="02070309020205020404" pitchFamily="49" charset="0"/>
              </a:rPr>
              <a:t> as </a:t>
            </a:r>
            <a:r>
              <a:rPr lang="en-US" sz="2000" b="1" dirty="0" err="1">
                <a:latin typeface="Courier New" panose="02070309020205020404" pitchFamily="49" charset="0"/>
                <a:cs typeface="Courier New" panose="02070309020205020404" pitchFamily="49" charset="0"/>
              </a:rPr>
              <a:t>bt</a:t>
            </a:r>
            <a:endParaRPr lang="en-US" sz="2000" b="1" dirty="0">
              <a:latin typeface="Courier New" panose="02070309020205020404" pitchFamily="49" charset="0"/>
              <a:cs typeface="Courier New" panose="02070309020205020404" pitchFamily="49" charset="0"/>
            </a:endParaRPr>
          </a:p>
          <a:p>
            <a:pPr marL="0" indent="0">
              <a:spcBef>
                <a:spcPts val="0"/>
              </a:spcBef>
              <a:buNone/>
            </a:pPr>
            <a:endParaRPr lang="en-US" sz="2000" b="1" dirty="0">
              <a:latin typeface="Courier New" panose="02070309020205020404" pitchFamily="49" charset="0"/>
              <a:cs typeface="Courier New" panose="02070309020205020404" pitchFamily="49" charset="0"/>
            </a:endParaRPr>
          </a:p>
          <a:p>
            <a:pPr marL="0" indent="0">
              <a:spcBef>
                <a:spcPts val="0"/>
              </a:spcBef>
              <a:buNone/>
            </a:pPr>
            <a:r>
              <a:rPr lang="en-US" sz="2000" b="1" dirty="0">
                <a:latin typeface="Courier New" panose="02070309020205020404" pitchFamily="49" charset="0"/>
                <a:cs typeface="Courier New" panose="02070309020205020404" pitchFamily="49" charset="0"/>
              </a:rPr>
              <a:t>bt1 = </a:t>
            </a:r>
            <a:r>
              <a:rPr lang="en-US" sz="2000" b="1" dirty="0" err="1">
                <a:latin typeface="Courier New" panose="02070309020205020404" pitchFamily="49" charset="0"/>
                <a:cs typeface="Courier New" panose="02070309020205020404" pitchFamily="49" charset="0"/>
              </a:rPr>
              <a:t>bt.BinaryTree</a:t>
            </a:r>
            <a:r>
              <a:rPr lang="en-US" sz="2000" b="1" dirty="0">
                <a:latin typeface="Courier New" panose="02070309020205020404" pitchFamily="49" charset="0"/>
                <a:cs typeface="Courier New" panose="02070309020205020404" pitchFamily="49" charset="0"/>
              </a:rPr>
              <a:t>()     # an empty </a:t>
            </a:r>
            <a:r>
              <a:rPr lang="en-US" sz="2000" b="1" dirty="0" err="1">
                <a:latin typeface="Courier New" panose="02070309020205020404" pitchFamily="49" charset="0"/>
                <a:cs typeface="Courier New" panose="02070309020205020404" pitchFamily="49" charset="0"/>
              </a:rPr>
              <a:t>BinaryTree</a:t>
            </a:r>
            <a:endParaRPr lang="en-US" sz="2000" b="1" dirty="0">
              <a:latin typeface="Courier New" panose="02070309020205020404" pitchFamily="49" charset="0"/>
              <a:cs typeface="Courier New" panose="02070309020205020404" pitchFamily="49" charset="0"/>
            </a:endParaRPr>
          </a:p>
          <a:p>
            <a:pPr marL="0" indent="0" eaLnBrk="1" hangingPunct="1">
              <a:buNone/>
            </a:pPr>
            <a:endParaRPr lang="en-US" altLang="en-US" sz="1800" b="1" dirty="0">
              <a:latin typeface="Courier New" panose="02070309020205020404" pitchFamily="49" charset="0"/>
              <a:cs typeface="Courier New" panose="02070309020205020404" pitchFamily="49" charset="0"/>
            </a:endParaRP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5</a:t>
            </a:fld>
            <a:endParaRPr lang="en-US"/>
          </a:p>
        </p:txBody>
      </p:sp>
      <p:sp>
        <p:nvSpPr>
          <p:cNvPr id="5" name="Date Placeholder 4"/>
          <p:cNvSpPr>
            <a:spLocks noGrp="1"/>
          </p:cNvSpPr>
          <p:nvPr>
            <p:ph type="dt" sz="half" idx="10"/>
          </p:nvPr>
        </p:nvSpPr>
        <p:spPr/>
        <p:txBody>
          <a:bodyPr/>
          <a:lstStyle/>
          <a:p>
            <a:pPr>
              <a:defRPr/>
            </a:pPr>
            <a:fld id="{B2A0CC13-E366-4764-A88C-37B4E99A0F7B}" type="datetime1">
              <a:rPr lang="en-US" smtClean="0"/>
              <a:t>8/2/2021</a:t>
            </a:fld>
            <a:endParaRPr lang="en-US"/>
          </a:p>
        </p:txBody>
      </p:sp>
      <p:sp>
        <p:nvSpPr>
          <p:cNvPr id="6" name="Footer Placeholder 5"/>
          <p:cNvSpPr>
            <a:spLocks noGrp="1"/>
          </p:cNvSpPr>
          <p:nvPr>
            <p:ph type="ftr" sz="quarter" idx="11"/>
          </p:nvPr>
        </p:nvSpPr>
        <p:spPr/>
        <p:txBody>
          <a:bodyPr/>
          <a:lstStyle/>
          <a:p>
            <a:pPr>
              <a:defRPr/>
            </a:pPr>
            <a:r>
              <a:rPr lang="en-US"/>
              <a:t>Copyright (c) John K. Ostlund</a:t>
            </a:r>
          </a:p>
        </p:txBody>
      </p:sp>
      <p:cxnSp>
        <p:nvCxnSpPr>
          <p:cNvPr id="7" name="Straight Arrow Connector 6">
            <a:extLst>
              <a:ext uri="{FF2B5EF4-FFF2-40B4-BE49-F238E27FC236}">
                <a16:creationId xmlns:a16="http://schemas.microsoft.com/office/drawing/2014/main" id="{FC054F9D-9431-41C4-9B4B-9400DFF294ED}"/>
              </a:ext>
            </a:extLst>
          </p:cNvPr>
          <p:cNvCxnSpPr>
            <a:cxnSpLocks/>
            <a:stCxn id="9" idx="3"/>
          </p:cNvCxnSpPr>
          <p:nvPr/>
        </p:nvCxnSpPr>
        <p:spPr bwMode="auto">
          <a:xfrm>
            <a:off x="3486150" y="4136542"/>
            <a:ext cx="673768" cy="0"/>
          </a:xfrm>
          <a:prstGeom prst="straightConnector1">
            <a:avLst/>
          </a:prstGeom>
          <a:solidFill>
            <a:schemeClr val="accent1"/>
          </a:solidFill>
          <a:ln w="38100" cap="sq" cmpd="sng" algn="ctr">
            <a:solidFill>
              <a:schemeClr val="tx1"/>
            </a:solidFill>
            <a:prstDash val="sysDash"/>
            <a:round/>
            <a:headEnd type="none" w="sm" len="sm"/>
            <a:tailEnd type="none"/>
          </a:ln>
          <a:effectLst/>
        </p:spPr>
      </p:cxnSp>
      <p:sp>
        <p:nvSpPr>
          <p:cNvPr id="8" name="Rectangle 7">
            <a:extLst>
              <a:ext uri="{FF2B5EF4-FFF2-40B4-BE49-F238E27FC236}">
                <a16:creationId xmlns:a16="http://schemas.microsoft.com/office/drawing/2014/main" id="{F84CB2FE-3D74-4EAD-935B-3E15410C609E}"/>
              </a:ext>
            </a:extLst>
          </p:cNvPr>
          <p:cNvSpPr/>
          <p:nvPr/>
        </p:nvSpPr>
        <p:spPr bwMode="auto">
          <a:xfrm>
            <a:off x="2476500" y="3747703"/>
            <a:ext cx="1207168" cy="838198"/>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9" name="TextBox 8">
            <a:extLst>
              <a:ext uri="{FF2B5EF4-FFF2-40B4-BE49-F238E27FC236}">
                <a16:creationId xmlns:a16="http://schemas.microsoft.com/office/drawing/2014/main" id="{4E32DC85-E750-48B6-A0C3-66AC4718F127}"/>
              </a:ext>
            </a:extLst>
          </p:cNvPr>
          <p:cNvSpPr txBox="1"/>
          <p:nvPr/>
        </p:nvSpPr>
        <p:spPr>
          <a:xfrm>
            <a:off x="2647950" y="3951876"/>
            <a:ext cx="838200" cy="369332"/>
          </a:xfrm>
          <a:prstGeom prst="rect">
            <a:avLst/>
          </a:prstGeom>
          <a:noFill/>
        </p:spPr>
        <p:txBody>
          <a:bodyPr wrap="square" rtlCol="0">
            <a:spAutoFit/>
          </a:bodyPr>
          <a:lstStyle/>
          <a:p>
            <a:pPr algn="ctr"/>
            <a:r>
              <a:rPr lang="en-US" b="1" dirty="0">
                <a:latin typeface="Courier New" panose="02070309020205020404" pitchFamily="49" charset="0"/>
                <a:cs typeface="Courier New" panose="02070309020205020404" pitchFamily="49" charset="0"/>
              </a:rPr>
              <a:t>top</a:t>
            </a:r>
          </a:p>
        </p:txBody>
      </p:sp>
      <p:cxnSp>
        <p:nvCxnSpPr>
          <p:cNvPr id="10" name="Straight Arrow Connector 9">
            <a:extLst>
              <a:ext uri="{FF2B5EF4-FFF2-40B4-BE49-F238E27FC236}">
                <a16:creationId xmlns:a16="http://schemas.microsoft.com/office/drawing/2014/main" id="{1A4603CB-3B90-4596-B5BC-CABBD7B0C724}"/>
              </a:ext>
            </a:extLst>
          </p:cNvPr>
          <p:cNvCxnSpPr>
            <a:cxnSpLocks/>
            <a:stCxn id="11" idx="3"/>
          </p:cNvCxnSpPr>
          <p:nvPr/>
        </p:nvCxnSpPr>
        <p:spPr bwMode="auto">
          <a:xfrm>
            <a:off x="2000250" y="4114802"/>
            <a:ext cx="438150" cy="0"/>
          </a:xfrm>
          <a:prstGeom prst="straightConnector1">
            <a:avLst/>
          </a:prstGeom>
          <a:solidFill>
            <a:schemeClr val="accent1"/>
          </a:solidFill>
          <a:ln w="38100" cap="sq" cmpd="sng" algn="ctr">
            <a:solidFill>
              <a:schemeClr val="tx1"/>
            </a:solidFill>
            <a:prstDash val="sysDash"/>
            <a:round/>
            <a:headEnd type="none" w="sm" len="sm"/>
            <a:tailEnd type="none"/>
          </a:ln>
          <a:effectLst/>
        </p:spPr>
      </p:cxnSp>
      <p:sp>
        <p:nvSpPr>
          <p:cNvPr id="11" name="TextBox 10">
            <a:extLst>
              <a:ext uri="{FF2B5EF4-FFF2-40B4-BE49-F238E27FC236}">
                <a16:creationId xmlns:a16="http://schemas.microsoft.com/office/drawing/2014/main" id="{AEC2EE02-B42B-4F4D-BD3D-F9DDB036F5A7}"/>
              </a:ext>
            </a:extLst>
          </p:cNvPr>
          <p:cNvSpPr txBox="1"/>
          <p:nvPr/>
        </p:nvSpPr>
        <p:spPr>
          <a:xfrm>
            <a:off x="1162050" y="3930136"/>
            <a:ext cx="838200" cy="369332"/>
          </a:xfrm>
          <a:prstGeom prst="rect">
            <a:avLst/>
          </a:prstGeom>
          <a:noFill/>
        </p:spPr>
        <p:txBody>
          <a:bodyPr wrap="square" rtlCol="0">
            <a:spAutoFit/>
          </a:bodyPr>
          <a:lstStyle/>
          <a:p>
            <a:pPr algn="ctr"/>
            <a:r>
              <a:rPr lang="en-US" b="1" dirty="0">
                <a:latin typeface="Courier New" panose="02070309020205020404" pitchFamily="49" charset="0"/>
                <a:cs typeface="Courier New" panose="02070309020205020404" pitchFamily="49" charset="0"/>
              </a:rPr>
              <a:t>bt1</a:t>
            </a:r>
          </a:p>
        </p:txBody>
      </p:sp>
      <p:sp>
        <p:nvSpPr>
          <p:cNvPr id="12" name="TextBox 11">
            <a:extLst>
              <a:ext uri="{FF2B5EF4-FFF2-40B4-BE49-F238E27FC236}">
                <a16:creationId xmlns:a16="http://schemas.microsoft.com/office/drawing/2014/main" id="{FD48E574-69E1-405A-B201-F79B85AA51D7}"/>
              </a:ext>
            </a:extLst>
          </p:cNvPr>
          <p:cNvSpPr txBox="1"/>
          <p:nvPr/>
        </p:nvSpPr>
        <p:spPr>
          <a:xfrm>
            <a:off x="4180556" y="3951876"/>
            <a:ext cx="838200" cy="369332"/>
          </a:xfrm>
          <a:prstGeom prst="rect">
            <a:avLst/>
          </a:prstGeom>
          <a:noFill/>
        </p:spPr>
        <p:txBody>
          <a:bodyPr wrap="square" rtlCol="0">
            <a:spAutoFit/>
          </a:bodyPr>
          <a:lstStyle/>
          <a:p>
            <a:pPr algn="ctr"/>
            <a:r>
              <a:rPr lang="en-US" b="1" dirty="0">
                <a:latin typeface="Courier New" panose="02070309020205020404" pitchFamily="49" charset="0"/>
                <a:cs typeface="Courier New" panose="02070309020205020404" pitchFamily="49" charset="0"/>
              </a:rPr>
              <a:t>None</a:t>
            </a:r>
          </a:p>
        </p:txBody>
      </p:sp>
    </p:spTree>
    <p:extLst>
      <p:ext uri="{BB962C8B-B14F-4D97-AF65-F5344CB8AC3E}">
        <p14:creationId xmlns:p14="http://schemas.microsoft.com/office/powerpoint/2010/main" val="3357098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Binary Tree Code: </a:t>
            </a:r>
            <a:r>
              <a:rPr lang="en-US" altLang="en-US" b="1" dirty="0"/>
              <a:t>insert()</a:t>
            </a:r>
          </a:p>
        </p:txBody>
      </p:sp>
      <p:sp>
        <p:nvSpPr>
          <p:cNvPr id="43011" name="Rectangle 3"/>
          <p:cNvSpPr>
            <a:spLocks noGrp="1" noChangeArrowheads="1"/>
          </p:cNvSpPr>
          <p:nvPr>
            <p:ph type="body" idx="1"/>
          </p:nvPr>
        </p:nvSpPr>
        <p:spPr/>
        <p:txBody>
          <a:bodyPr/>
          <a:lstStyle/>
          <a:p>
            <a:pPr marL="0" indent="0">
              <a:spcBef>
                <a:spcPts val="0"/>
              </a:spcBef>
              <a:buNone/>
            </a:pPr>
            <a:r>
              <a:rPr lang="en-US" sz="2000" b="1" dirty="0">
                <a:latin typeface="Courier New" panose="02070309020205020404" pitchFamily="49" charset="0"/>
                <a:cs typeface="Courier New" panose="02070309020205020404" pitchFamily="49" charset="0"/>
              </a:rPr>
              <a:t># File: BinaryTree.py (</a:t>
            </a:r>
            <a:r>
              <a:rPr lang="en-US" sz="2000" b="1" dirty="0" err="1">
                <a:latin typeface="Courier New" panose="02070309020205020404" pitchFamily="49" charset="0"/>
                <a:cs typeface="Courier New" panose="02070309020205020404" pitchFamily="49" charset="0"/>
              </a:rPr>
              <a:t>cont</a:t>
            </a:r>
            <a:r>
              <a:rPr lang="en-US" sz="2000" b="1" dirty="0">
                <a:latin typeface="Courier New" panose="02070309020205020404" pitchFamily="49" charset="0"/>
                <a:cs typeface="Courier New" panose="02070309020205020404" pitchFamily="49" charset="0"/>
              </a:rPr>
              <a:t>)</a:t>
            </a:r>
          </a:p>
          <a:p>
            <a:pPr marL="0" indent="0">
              <a:spcBef>
                <a:spcPts val="0"/>
              </a:spcBef>
              <a:buNone/>
            </a:pPr>
            <a:endParaRPr lang="en-US" sz="1000" b="1" dirty="0">
              <a:latin typeface="Courier New" panose="02070309020205020404" pitchFamily="49" charset="0"/>
              <a:cs typeface="Courier New" panose="02070309020205020404" pitchFamily="49" charset="0"/>
            </a:endParaRPr>
          </a:p>
          <a:p>
            <a:pPr marL="0" indent="0">
              <a:spcBef>
                <a:spcPts val="0"/>
              </a:spcBef>
              <a:buNone/>
            </a:pPr>
            <a:r>
              <a:rPr lang="en-US" sz="2000" b="1" dirty="0">
                <a:latin typeface="Courier New" panose="02070309020205020404" pitchFamily="49" charset="0"/>
                <a:cs typeface="Courier New" panose="02070309020205020404" pitchFamily="49" charset="0"/>
              </a:rPr>
              <a:t>class </a:t>
            </a:r>
            <a:r>
              <a:rPr lang="en-US" sz="2000" b="1" dirty="0" err="1">
                <a:latin typeface="Courier New" panose="02070309020205020404" pitchFamily="49" charset="0"/>
                <a:cs typeface="Courier New" panose="02070309020205020404" pitchFamily="49" charset="0"/>
              </a:rPr>
              <a:t>BinaryTree</a:t>
            </a:r>
            <a:r>
              <a:rPr lang="en-US" sz="2000" b="1" dirty="0">
                <a:latin typeface="Courier New" panose="02070309020205020404" pitchFamily="49" charset="0"/>
                <a:cs typeface="Courier New" panose="02070309020205020404" pitchFamily="49" charset="0"/>
              </a:rPr>
              <a:t>:</a:t>
            </a:r>
          </a:p>
          <a:p>
            <a:pPr marL="0" indent="0">
              <a:spcBef>
                <a:spcPts val="0"/>
              </a:spcBef>
              <a:buNone/>
            </a:pPr>
            <a:r>
              <a:rPr lang="en-US" sz="1000" b="1" dirty="0">
                <a:latin typeface="Courier New" panose="02070309020205020404" pitchFamily="49" charset="0"/>
                <a:cs typeface="Courier New" panose="02070309020205020404" pitchFamily="49" charset="0"/>
              </a:rPr>
              <a:t>... </a:t>
            </a:r>
          </a:p>
          <a:p>
            <a:pPr marL="0" indent="0">
              <a:spcBef>
                <a:spcPts val="0"/>
              </a:spcBef>
              <a:buNone/>
            </a:pPr>
            <a:r>
              <a:rPr lang="en-US" sz="2000" b="1" dirty="0">
                <a:latin typeface="Courier New" panose="02070309020205020404" pitchFamily="49" charset="0"/>
                <a:cs typeface="Courier New" panose="02070309020205020404" pitchFamily="49" charset="0"/>
              </a:rPr>
              <a:t>   def insert(self, value):</a:t>
            </a:r>
          </a:p>
          <a:p>
            <a:pPr marL="0" indent="0">
              <a:spcBef>
                <a:spcPts val="0"/>
              </a:spcBef>
              <a:buNone/>
            </a:pPr>
            <a:r>
              <a:rPr lang="en-US" sz="2000" b="1" dirty="0">
                <a:latin typeface="Courier New" panose="02070309020205020404" pitchFamily="49" charset="0"/>
                <a:cs typeface="Courier New" panose="02070309020205020404" pitchFamily="49" charset="0"/>
              </a:rPr>
              <a:t>      if </a:t>
            </a:r>
            <a:r>
              <a:rPr lang="en-US" sz="2000" b="1" dirty="0" err="1">
                <a:latin typeface="Courier New" panose="02070309020205020404" pitchFamily="49" charset="0"/>
                <a:cs typeface="Courier New" panose="02070309020205020404" pitchFamily="49" charset="0"/>
              </a:rPr>
              <a:t>self._top</a:t>
            </a:r>
            <a:r>
              <a:rPr lang="en-US" sz="2000" b="1" dirty="0">
                <a:latin typeface="Courier New" panose="02070309020205020404" pitchFamily="49" charset="0"/>
                <a:cs typeface="Courier New" panose="02070309020205020404" pitchFamily="49" charset="0"/>
              </a:rPr>
              <a:t> == None:</a:t>
            </a:r>
          </a:p>
          <a:p>
            <a:pPr marL="0" indent="0">
              <a:spcBef>
                <a:spcPts val="0"/>
              </a:spcBef>
              <a:buNone/>
            </a:pPr>
            <a:r>
              <a:rPr lang="en-US" sz="2000" b="1" dirty="0">
                <a:latin typeface="Courier New" panose="02070309020205020404" pitchFamily="49" charset="0"/>
                <a:cs typeface="Courier New" panose="02070309020205020404" pitchFamily="49" charset="0"/>
              </a:rPr>
              <a:t>         </a:t>
            </a:r>
            <a:r>
              <a:rPr lang="en-US" sz="2000" b="1" dirty="0" err="1">
                <a:latin typeface="Courier New" panose="02070309020205020404" pitchFamily="49" charset="0"/>
                <a:cs typeface="Courier New" panose="02070309020205020404" pitchFamily="49" charset="0"/>
              </a:rPr>
              <a:t>self._top</a:t>
            </a:r>
            <a:r>
              <a:rPr lang="en-US" sz="2000" b="1" dirty="0">
                <a:latin typeface="Courier New" panose="02070309020205020404" pitchFamily="49" charset="0"/>
                <a:cs typeface="Courier New" panose="02070309020205020404" pitchFamily="49" charset="0"/>
              </a:rPr>
              <a:t> = </a:t>
            </a:r>
            <a:r>
              <a:rPr lang="en-US" sz="2000" b="1" dirty="0" err="1">
                <a:latin typeface="Courier New" panose="02070309020205020404" pitchFamily="49" charset="0"/>
                <a:cs typeface="Courier New" panose="02070309020205020404" pitchFamily="49" charset="0"/>
              </a:rPr>
              <a:t>BinaryTree</a:t>
            </a:r>
            <a:r>
              <a:rPr lang="en-US" sz="2000" b="1" dirty="0">
                <a:latin typeface="Courier New" panose="02070309020205020404" pitchFamily="49" charset="0"/>
                <a:cs typeface="Courier New" panose="02070309020205020404" pitchFamily="49" charset="0"/>
              </a:rPr>
              <a:t>._</a:t>
            </a:r>
            <a:r>
              <a:rPr lang="en-US" sz="2000" b="1" dirty="0" err="1">
                <a:latin typeface="Courier New" panose="02070309020205020404" pitchFamily="49" charset="0"/>
                <a:cs typeface="Courier New" panose="02070309020205020404" pitchFamily="49" charset="0"/>
              </a:rPr>
              <a:t>BTNode</a:t>
            </a:r>
            <a:r>
              <a:rPr lang="en-US" sz="2000" b="1" dirty="0">
                <a:latin typeface="Courier New" panose="02070309020205020404" pitchFamily="49" charset="0"/>
                <a:cs typeface="Courier New" panose="02070309020205020404" pitchFamily="49" charset="0"/>
              </a:rPr>
              <a:t>(value)</a:t>
            </a:r>
          </a:p>
          <a:p>
            <a:pPr marL="0" indent="0">
              <a:spcBef>
                <a:spcPts val="0"/>
              </a:spcBef>
              <a:buNone/>
            </a:pPr>
            <a:r>
              <a:rPr lang="en-US" sz="2000" b="1" dirty="0">
                <a:latin typeface="Courier New" panose="02070309020205020404" pitchFamily="49" charset="0"/>
                <a:cs typeface="Courier New" panose="02070309020205020404" pitchFamily="49" charset="0"/>
              </a:rPr>
              <a:t>      else:</a:t>
            </a:r>
          </a:p>
          <a:p>
            <a:pPr marL="0" indent="0">
              <a:spcBef>
                <a:spcPts val="0"/>
              </a:spcBef>
              <a:buNone/>
            </a:pPr>
            <a:r>
              <a:rPr lang="en-US" sz="2000" b="1" dirty="0">
                <a:latin typeface="Courier New" panose="02070309020205020404" pitchFamily="49" charset="0"/>
                <a:cs typeface="Courier New" panose="02070309020205020404" pitchFamily="49" charset="0"/>
              </a:rPr>
              <a:t>         self._</a:t>
            </a:r>
            <a:r>
              <a:rPr lang="en-US" sz="2000" b="1" dirty="0" err="1">
                <a:latin typeface="Courier New" panose="02070309020205020404" pitchFamily="49" charset="0"/>
                <a:cs typeface="Courier New" panose="02070309020205020404" pitchFamily="49" charset="0"/>
              </a:rPr>
              <a:t>insert_help</a:t>
            </a:r>
            <a:r>
              <a:rPr lang="en-US" sz="2000" b="1" dirty="0">
                <a:latin typeface="Courier New" panose="02070309020205020404" pitchFamily="49" charset="0"/>
                <a:cs typeface="Courier New" panose="02070309020205020404" pitchFamily="49" charset="0"/>
              </a:rPr>
              <a:t>(</a:t>
            </a:r>
            <a:r>
              <a:rPr lang="en-US" sz="2000" b="1" dirty="0" err="1">
                <a:latin typeface="Courier New" panose="02070309020205020404" pitchFamily="49" charset="0"/>
                <a:cs typeface="Courier New" panose="02070309020205020404" pitchFamily="49" charset="0"/>
              </a:rPr>
              <a:t>self._top</a:t>
            </a:r>
            <a:r>
              <a:rPr lang="en-US" sz="2000" b="1" dirty="0">
                <a:latin typeface="Courier New" panose="02070309020205020404" pitchFamily="49" charset="0"/>
                <a:cs typeface="Courier New" panose="02070309020205020404" pitchFamily="49" charset="0"/>
              </a:rPr>
              <a:t>, value)</a:t>
            </a:r>
          </a:p>
          <a:p>
            <a:pPr marL="0" indent="0">
              <a:spcBef>
                <a:spcPts val="0"/>
              </a:spcBef>
              <a:buNone/>
            </a:pPr>
            <a:r>
              <a:rPr lang="en-US" sz="2000" b="1" dirty="0">
                <a:latin typeface="Courier New" panose="02070309020205020404" pitchFamily="49" charset="0"/>
                <a:cs typeface="Courier New" panose="02070309020205020404" pitchFamily="49" charset="0"/>
              </a:rPr>
              <a:t>   def _</a:t>
            </a:r>
            <a:r>
              <a:rPr lang="en-US" sz="2000" b="1" dirty="0" err="1">
                <a:latin typeface="Courier New" panose="02070309020205020404" pitchFamily="49" charset="0"/>
                <a:cs typeface="Courier New" panose="02070309020205020404" pitchFamily="49" charset="0"/>
              </a:rPr>
              <a:t>insert_help</a:t>
            </a:r>
            <a:r>
              <a:rPr lang="en-US" sz="2000" b="1" dirty="0">
                <a:latin typeface="Courier New" panose="02070309020205020404" pitchFamily="49" charset="0"/>
                <a:cs typeface="Courier New" panose="02070309020205020404" pitchFamily="49" charset="0"/>
              </a:rPr>
              <a:t>(self, </a:t>
            </a:r>
            <a:r>
              <a:rPr lang="en-US" sz="2000" b="1" dirty="0" err="1">
                <a:latin typeface="Courier New" panose="02070309020205020404" pitchFamily="49" charset="0"/>
                <a:cs typeface="Courier New" panose="02070309020205020404" pitchFamily="49" charset="0"/>
              </a:rPr>
              <a:t>cur_node</a:t>
            </a:r>
            <a:r>
              <a:rPr lang="en-US" sz="2000" b="1" dirty="0">
                <a:latin typeface="Courier New" panose="02070309020205020404" pitchFamily="49" charset="0"/>
                <a:cs typeface="Courier New" panose="02070309020205020404" pitchFamily="49" charset="0"/>
              </a:rPr>
              <a:t>, value):</a:t>
            </a:r>
          </a:p>
          <a:p>
            <a:pPr marL="0" indent="0">
              <a:spcBef>
                <a:spcPts val="0"/>
              </a:spcBef>
              <a:buNone/>
            </a:pPr>
            <a:r>
              <a:rPr lang="en-US" sz="2000" b="1" dirty="0">
                <a:latin typeface="Courier New" panose="02070309020205020404" pitchFamily="49" charset="0"/>
                <a:cs typeface="Courier New" panose="02070309020205020404" pitchFamily="49" charset="0"/>
              </a:rPr>
              <a:t>      if value &lt; </a:t>
            </a:r>
            <a:r>
              <a:rPr lang="en-US" sz="2000" b="1" dirty="0" err="1">
                <a:latin typeface="Courier New" panose="02070309020205020404" pitchFamily="49" charset="0"/>
                <a:cs typeface="Courier New" panose="02070309020205020404" pitchFamily="49" charset="0"/>
              </a:rPr>
              <a:t>cur_node._value</a:t>
            </a:r>
            <a:r>
              <a:rPr lang="en-US" sz="2000" b="1" dirty="0">
                <a:latin typeface="Courier New" panose="02070309020205020404" pitchFamily="49" charset="0"/>
                <a:cs typeface="Courier New" panose="02070309020205020404" pitchFamily="49" charset="0"/>
              </a:rPr>
              <a:t>:</a:t>
            </a:r>
          </a:p>
          <a:p>
            <a:pPr marL="0" indent="0">
              <a:spcBef>
                <a:spcPts val="0"/>
              </a:spcBef>
              <a:buNone/>
            </a:pPr>
            <a:r>
              <a:rPr lang="en-US" sz="2000" b="1" dirty="0">
                <a:latin typeface="Courier New" panose="02070309020205020404" pitchFamily="49" charset="0"/>
                <a:cs typeface="Courier New" panose="02070309020205020404" pitchFamily="49" charset="0"/>
              </a:rPr>
              <a:t>         if </a:t>
            </a:r>
            <a:r>
              <a:rPr lang="en-US" sz="2000" b="1" dirty="0" err="1">
                <a:latin typeface="Courier New" panose="02070309020205020404" pitchFamily="49" charset="0"/>
                <a:cs typeface="Courier New" panose="02070309020205020404" pitchFamily="49" charset="0"/>
              </a:rPr>
              <a:t>cur_node._left</a:t>
            </a:r>
            <a:r>
              <a:rPr lang="en-US" sz="2000" b="1" dirty="0">
                <a:latin typeface="Courier New" panose="02070309020205020404" pitchFamily="49" charset="0"/>
                <a:cs typeface="Courier New" panose="02070309020205020404" pitchFamily="49" charset="0"/>
              </a:rPr>
              <a:t> == None:</a:t>
            </a:r>
          </a:p>
          <a:p>
            <a:pPr marL="0" indent="0">
              <a:spcBef>
                <a:spcPts val="0"/>
              </a:spcBef>
              <a:buNone/>
            </a:pPr>
            <a:r>
              <a:rPr lang="en-US" sz="2000" b="1" dirty="0">
                <a:latin typeface="Courier New" panose="02070309020205020404" pitchFamily="49" charset="0"/>
                <a:cs typeface="Courier New" panose="02070309020205020404" pitchFamily="49" charset="0"/>
              </a:rPr>
              <a:t>            </a:t>
            </a:r>
            <a:r>
              <a:rPr lang="en-US" sz="2000" b="1" dirty="0" err="1">
                <a:latin typeface="Courier New" panose="02070309020205020404" pitchFamily="49" charset="0"/>
                <a:cs typeface="Courier New" panose="02070309020205020404" pitchFamily="49" charset="0"/>
              </a:rPr>
              <a:t>cur_node._left</a:t>
            </a:r>
            <a:r>
              <a:rPr lang="en-US" sz="2000" b="1" dirty="0">
                <a:latin typeface="Courier New" panose="02070309020205020404" pitchFamily="49" charset="0"/>
                <a:cs typeface="Courier New" panose="02070309020205020404" pitchFamily="49" charset="0"/>
              </a:rPr>
              <a:t> = \</a:t>
            </a:r>
          </a:p>
          <a:p>
            <a:pPr marL="0" indent="0">
              <a:spcBef>
                <a:spcPts val="0"/>
              </a:spcBef>
              <a:buNone/>
            </a:pPr>
            <a:r>
              <a:rPr lang="en-US" sz="2000" b="1" dirty="0">
                <a:latin typeface="Courier New" panose="02070309020205020404" pitchFamily="49" charset="0"/>
                <a:cs typeface="Courier New" panose="02070309020205020404" pitchFamily="49" charset="0"/>
              </a:rPr>
              <a:t>                    </a:t>
            </a:r>
            <a:r>
              <a:rPr lang="en-US" sz="2000" b="1" dirty="0" err="1">
                <a:latin typeface="Courier New" panose="02070309020205020404" pitchFamily="49" charset="0"/>
                <a:cs typeface="Courier New" panose="02070309020205020404" pitchFamily="49" charset="0"/>
              </a:rPr>
              <a:t>BinaryTree</a:t>
            </a:r>
            <a:r>
              <a:rPr lang="en-US" sz="2000" b="1" dirty="0">
                <a:latin typeface="Courier New" panose="02070309020205020404" pitchFamily="49" charset="0"/>
                <a:cs typeface="Courier New" panose="02070309020205020404" pitchFamily="49" charset="0"/>
              </a:rPr>
              <a:t>._</a:t>
            </a:r>
            <a:r>
              <a:rPr lang="en-US" sz="2000" b="1" dirty="0" err="1">
                <a:latin typeface="Courier New" panose="02070309020205020404" pitchFamily="49" charset="0"/>
                <a:cs typeface="Courier New" panose="02070309020205020404" pitchFamily="49" charset="0"/>
              </a:rPr>
              <a:t>BTNode</a:t>
            </a:r>
            <a:r>
              <a:rPr lang="en-US" sz="2000" b="1" dirty="0">
                <a:latin typeface="Courier New" panose="02070309020205020404" pitchFamily="49" charset="0"/>
                <a:cs typeface="Courier New" panose="02070309020205020404" pitchFamily="49" charset="0"/>
              </a:rPr>
              <a:t>(value)</a:t>
            </a: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6</a:t>
            </a:fld>
            <a:endParaRPr lang="en-US"/>
          </a:p>
        </p:txBody>
      </p:sp>
      <p:sp>
        <p:nvSpPr>
          <p:cNvPr id="5" name="Date Placeholder 4"/>
          <p:cNvSpPr>
            <a:spLocks noGrp="1"/>
          </p:cNvSpPr>
          <p:nvPr>
            <p:ph type="dt" sz="half" idx="10"/>
          </p:nvPr>
        </p:nvSpPr>
        <p:spPr/>
        <p:txBody>
          <a:bodyPr/>
          <a:lstStyle/>
          <a:p>
            <a:pPr>
              <a:defRPr/>
            </a:pPr>
            <a:fld id="{B2A0CC13-E366-4764-A88C-37B4E99A0F7B}" type="datetime1">
              <a:rPr lang="en-US" smtClean="0"/>
              <a:t>8/2/2021</a:t>
            </a:fld>
            <a:endParaRPr lang="en-US"/>
          </a:p>
        </p:txBody>
      </p:sp>
      <p:sp>
        <p:nvSpPr>
          <p:cNvPr id="6" name="Footer Placeholder 5"/>
          <p:cNvSpPr>
            <a:spLocks noGrp="1"/>
          </p:cNvSpPr>
          <p:nvPr>
            <p:ph type="ftr" sz="quarter" idx="11"/>
          </p:nvPr>
        </p:nvSpPr>
        <p:spPr/>
        <p:txBody>
          <a:bodyPr/>
          <a:lstStyle/>
          <a:p>
            <a:pPr>
              <a:defRPr/>
            </a:pPr>
            <a:r>
              <a:rPr lang="en-US"/>
              <a:t>Copyright (c) John K. Ostlund</a:t>
            </a:r>
          </a:p>
        </p:txBody>
      </p:sp>
    </p:spTree>
    <p:extLst>
      <p:ext uri="{BB962C8B-B14F-4D97-AF65-F5344CB8AC3E}">
        <p14:creationId xmlns:p14="http://schemas.microsoft.com/office/powerpoint/2010/main" val="3834575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Binary Tree Application (</a:t>
            </a:r>
            <a:r>
              <a:rPr lang="en-US" altLang="en-US" dirty="0" err="1"/>
              <a:t>cont</a:t>
            </a:r>
            <a:r>
              <a:rPr lang="en-US" altLang="en-US" dirty="0"/>
              <a:t>)</a:t>
            </a:r>
            <a:endParaRPr lang="en-US" altLang="en-US" b="1" dirty="0"/>
          </a:p>
        </p:txBody>
      </p:sp>
      <p:sp>
        <p:nvSpPr>
          <p:cNvPr id="43011" name="Rectangle 3"/>
          <p:cNvSpPr>
            <a:spLocks noGrp="1" noChangeArrowheads="1"/>
          </p:cNvSpPr>
          <p:nvPr>
            <p:ph type="body" idx="1"/>
          </p:nvPr>
        </p:nvSpPr>
        <p:spPr/>
        <p:txBody>
          <a:bodyPr/>
          <a:lstStyle/>
          <a:p>
            <a:pPr marL="0" indent="0">
              <a:spcBef>
                <a:spcPts val="0"/>
              </a:spcBef>
              <a:buNone/>
            </a:pPr>
            <a:r>
              <a:rPr lang="en-US" sz="2000" b="1" dirty="0">
                <a:latin typeface="Courier New" panose="02070309020205020404" pitchFamily="49" charset="0"/>
                <a:cs typeface="Courier New" panose="02070309020205020404" pitchFamily="49" charset="0"/>
              </a:rPr>
              <a:t># File: BT_app.py</a:t>
            </a:r>
          </a:p>
          <a:p>
            <a:pPr marL="0" indent="0">
              <a:spcBef>
                <a:spcPts val="0"/>
              </a:spcBef>
              <a:buNone/>
            </a:pPr>
            <a:r>
              <a:rPr lang="en-US" sz="2000" b="1" dirty="0">
                <a:latin typeface="Courier New" panose="02070309020205020404" pitchFamily="49" charset="0"/>
                <a:cs typeface="Courier New" panose="02070309020205020404" pitchFamily="49" charset="0"/>
              </a:rPr>
              <a:t>import </a:t>
            </a:r>
            <a:r>
              <a:rPr lang="en-US" sz="2000" b="1" dirty="0" err="1">
                <a:latin typeface="Courier New" panose="02070309020205020404" pitchFamily="49" charset="0"/>
                <a:cs typeface="Courier New" panose="02070309020205020404" pitchFamily="49" charset="0"/>
              </a:rPr>
              <a:t>BinaryTree</a:t>
            </a:r>
            <a:r>
              <a:rPr lang="en-US" sz="2000" b="1" dirty="0">
                <a:latin typeface="Courier New" panose="02070309020205020404" pitchFamily="49" charset="0"/>
                <a:cs typeface="Courier New" panose="02070309020205020404" pitchFamily="49" charset="0"/>
              </a:rPr>
              <a:t> as </a:t>
            </a:r>
            <a:r>
              <a:rPr lang="en-US" sz="2000" b="1" dirty="0" err="1">
                <a:latin typeface="Courier New" panose="02070309020205020404" pitchFamily="49" charset="0"/>
                <a:cs typeface="Courier New" panose="02070309020205020404" pitchFamily="49" charset="0"/>
              </a:rPr>
              <a:t>bt</a:t>
            </a:r>
            <a:endParaRPr lang="en-US" sz="2000" b="1" dirty="0">
              <a:latin typeface="Courier New" panose="02070309020205020404" pitchFamily="49" charset="0"/>
              <a:cs typeface="Courier New" panose="02070309020205020404" pitchFamily="49" charset="0"/>
            </a:endParaRPr>
          </a:p>
          <a:p>
            <a:pPr marL="0" indent="0">
              <a:spcBef>
                <a:spcPts val="0"/>
              </a:spcBef>
              <a:buNone/>
            </a:pPr>
            <a:endParaRPr lang="en-US" sz="2000" b="1" dirty="0">
              <a:latin typeface="Courier New" panose="02070309020205020404" pitchFamily="49" charset="0"/>
              <a:cs typeface="Courier New" panose="02070309020205020404" pitchFamily="49" charset="0"/>
            </a:endParaRPr>
          </a:p>
          <a:p>
            <a:pPr marL="0" indent="0">
              <a:spcBef>
                <a:spcPts val="0"/>
              </a:spcBef>
              <a:buNone/>
            </a:pPr>
            <a:r>
              <a:rPr lang="en-US" sz="2000" b="1" dirty="0">
                <a:latin typeface="Courier New" panose="02070309020205020404" pitchFamily="49" charset="0"/>
                <a:cs typeface="Courier New" panose="02070309020205020404" pitchFamily="49" charset="0"/>
              </a:rPr>
              <a:t>bt1 = </a:t>
            </a:r>
            <a:r>
              <a:rPr lang="en-US" sz="2000" b="1" dirty="0" err="1">
                <a:latin typeface="Courier New" panose="02070309020205020404" pitchFamily="49" charset="0"/>
                <a:cs typeface="Courier New" panose="02070309020205020404" pitchFamily="49" charset="0"/>
              </a:rPr>
              <a:t>bt.BinaryTree</a:t>
            </a:r>
            <a:r>
              <a:rPr lang="en-US" sz="2000" b="1" dirty="0">
                <a:latin typeface="Courier New" panose="02070309020205020404" pitchFamily="49" charset="0"/>
                <a:cs typeface="Courier New" panose="02070309020205020404" pitchFamily="49" charset="0"/>
              </a:rPr>
              <a:t>()     # an empty </a:t>
            </a:r>
            <a:r>
              <a:rPr lang="en-US" sz="2000" b="1" dirty="0" err="1">
                <a:latin typeface="Courier New" panose="02070309020205020404" pitchFamily="49" charset="0"/>
                <a:cs typeface="Courier New" panose="02070309020205020404" pitchFamily="49" charset="0"/>
              </a:rPr>
              <a:t>BinaryTree</a:t>
            </a:r>
            <a:endParaRPr lang="en-US" sz="2000" b="1" dirty="0">
              <a:latin typeface="Courier New" panose="02070309020205020404" pitchFamily="49" charset="0"/>
              <a:cs typeface="Courier New" panose="02070309020205020404" pitchFamily="49" charset="0"/>
            </a:endParaRPr>
          </a:p>
          <a:p>
            <a:pPr marL="0" indent="0">
              <a:spcBef>
                <a:spcPts val="0"/>
              </a:spcBef>
              <a:buNone/>
            </a:pPr>
            <a:r>
              <a:rPr lang="en-US" sz="2000" b="1" dirty="0">
                <a:solidFill>
                  <a:srgbClr val="FF0000"/>
                </a:solidFill>
                <a:latin typeface="Courier New" panose="02070309020205020404" pitchFamily="49" charset="0"/>
                <a:cs typeface="Courier New" panose="02070309020205020404" pitchFamily="49" charset="0"/>
              </a:rPr>
              <a:t>bt1.insert(12)</a:t>
            </a:r>
          </a:p>
          <a:p>
            <a:pPr marL="0" indent="0" eaLnBrk="1" hangingPunct="1">
              <a:buNone/>
            </a:pPr>
            <a:endParaRPr lang="en-US" altLang="en-US" sz="1800" b="1" dirty="0">
              <a:latin typeface="Courier New" panose="02070309020205020404" pitchFamily="49" charset="0"/>
              <a:cs typeface="Courier New" panose="02070309020205020404" pitchFamily="49" charset="0"/>
            </a:endParaRP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7</a:t>
            </a:fld>
            <a:endParaRPr lang="en-US"/>
          </a:p>
        </p:txBody>
      </p:sp>
      <p:sp>
        <p:nvSpPr>
          <p:cNvPr id="5" name="Date Placeholder 4"/>
          <p:cNvSpPr>
            <a:spLocks noGrp="1"/>
          </p:cNvSpPr>
          <p:nvPr>
            <p:ph type="dt" sz="half" idx="10"/>
          </p:nvPr>
        </p:nvSpPr>
        <p:spPr/>
        <p:txBody>
          <a:bodyPr/>
          <a:lstStyle/>
          <a:p>
            <a:pPr>
              <a:defRPr/>
            </a:pPr>
            <a:fld id="{B2A0CC13-E366-4764-A88C-37B4E99A0F7B}" type="datetime1">
              <a:rPr lang="en-US" smtClean="0"/>
              <a:t>8/2/2021</a:t>
            </a:fld>
            <a:endParaRPr lang="en-US"/>
          </a:p>
        </p:txBody>
      </p:sp>
      <p:sp>
        <p:nvSpPr>
          <p:cNvPr id="6" name="Footer Placeholder 5"/>
          <p:cNvSpPr>
            <a:spLocks noGrp="1"/>
          </p:cNvSpPr>
          <p:nvPr>
            <p:ph type="ftr" sz="quarter" idx="11"/>
          </p:nvPr>
        </p:nvSpPr>
        <p:spPr/>
        <p:txBody>
          <a:bodyPr/>
          <a:lstStyle/>
          <a:p>
            <a:pPr>
              <a:defRPr/>
            </a:pPr>
            <a:r>
              <a:rPr lang="en-US"/>
              <a:t>Copyright (c) John K. Ostlund</a:t>
            </a:r>
          </a:p>
        </p:txBody>
      </p:sp>
      <p:cxnSp>
        <p:nvCxnSpPr>
          <p:cNvPr id="7" name="Straight Arrow Connector 6">
            <a:extLst>
              <a:ext uri="{FF2B5EF4-FFF2-40B4-BE49-F238E27FC236}">
                <a16:creationId xmlns:a16="http://schemas.microsoft.com/office/drawing/2014/main" id="{FC054F9D-9431-41C4-9B4B-9400DFF294ED}"/>
              </a:ext>
            </a:extLst>
          </p:cNvPr>
          <p:cNvCxnSpPr>
            <a:cxnSpLocks/>
            <a:stCxn id="9" idx="3"/>
          </p:cNvCxnSpPr>
          <p:nvPr/>
        </p:nvCxnSpPr>
        <p:spPr bwMode="auto">
          <a:xfrm>
            <a:off x="3486150" y="4136542"/>
            <a:ext cx="673768" cy="0"/>
          </a:xfrm>
          <a:prstGeom prst="straightConnector1">
            <a:avLst/>
          </a:prstGeom>
          <a:solidFill>
            <a:schemeClr val="accent1"/>
          </a:solidFill>
          <a:ln w="38100" cap="sq" cmpd="sng" algn="ctr">
            <a:solidFill>
              <a:srgbClr val="FF0000"/>
            </a:solidFill>
            <a:prstDash val="sysDash"/>
            <a:round/>
            <a:headEnd type="none" w="sm" len="sm"/>
            <a:tailEnd type="none"/>
          </a:ln>
          <a:effectLst/>
        </p:spPr>
      </p:cxnSp>
      <p:sp>
        <p:nvSpPr>
          <p:cNvPr id="8" name="Rectangle 7">
            <a:extLst>
              <a:ext uri="{FF2B5EF4-FFF2-40B4-BE49-F238E27FC236}">
                <a16:creationId xmlns:a16="http://schemas.microsoft.com/office/drawing/2014/main" id="{F84CB2FE-3D74-4EAD-935B-3E15410C609E}"/>
              </a:ext>
            </a:extLst>
          </p:cNvPr>
          <p:cNvSpPr/>
          <p:nvPr/>
        </p:nvSpPr>
        <p:spPr bwMode="auto">
          <a:xfrm>
            <a:off x="2476500" y="3747703"/>
            <a:ext cx="1207168" cy="838198"/>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9" name="TextBox 8">
            <a:extLst>
              <a:ext uri="{FF2B5EF4-FFF2-40B4-BE49-F238E27FC236}">
                <a16:creationId xmlns:a16="http://schemas.microsoft.com/office/drawing/2014/main" id="{4E32DC85-E750-48B6-A0C3-66AC4718F127}"/>
              </a:ext>
            </a:extLst>
          </p:cNvPr>
          <p:cNvSpPr txBox="1"/>
          <p:nvPr/>
        </p:nvSpPr>
        <p:spPr>
          <a:xfrm>
            <a:off x="2647950" y="3951876"/>
            <a:ext cx="838200" cy="369332"/>
          </a:xfrm>
          <a:prstGeom prst="rect">
            <a:avLst/>
          </a:prstGeom>
          <a:noFill/>
        </p:spPr>
        <p:txBody>
          <a:bodyPr wrap="square" rtlCol="0">
            <a:spAutoFit/>
          </a:bodyPr>
          <a:lstStyle/>
          <a:p>
            <a:pPr algn="ctr"/>
            <a:r>
              <a:rPr lang="en-US" b="1" dirty="0">
                <a:latin typeface="Courier New" panose="02070309020205020404" pitchFamily="49" charset="0"/>
                <a:cs typeface="Courier New" panose="02070309020205020404" pitchFamily="49" charset="0"/>
              </a:rPr>
              <a:t>top</a:t>
            </a:r>
          </a:p>
        </p:txBody>
      </p:sp>
      <p:cxnSp>
        <p:nvCxnSpPr>
          <p:cNvPr id="10" name="Straight Arrow Connector 9">
            <a:extLst>
              <a:ext uri="{FF2B5EF4-FFF2-40B4-BE49-F238E27FC236}">
                <a16:creationId xmlns:a16="http://schemas.microsoft.com/office/drawing/2014/main" id="{1A4603CB-3B90-4596-B5BC-CABBD7B0C724}"/>
              </a:ext>
            </a:extLst>
          </p:cNvPr>
          <p:cNvCxnSpPr>
            <a:cxnSpLocks/>
            <a:stCxn id="11" idx="3"/>
          </p:cNvCxnSpPr>
          <p:nvPr/>
        </p:nvCxnSpPr>
        <p:spPr bwMode="auto">
          <a:xfrm>
            <a:off x="2000250" y="4114802"/>
            <a:ext cx="438150" cy="0"/>
          </a:xfrm>
          <a:prstGeom prst="straightConnector1">
            <a:avLst/>
          </a:prstGeom>
          <a:solidFill>
            <a:schemeClr val="accent1"/>
          </a:solidFill>
          <a:ln w="38100" cap="sq" cmpd="sng" algn="ctr">
            <a:solidFill>
              <a:schemeClr val="tx1"/>
            </a:solidFill>
            <a:prstDash val="sysDash"/>
            <a:round/>
            <a:headEnd type="none" w="sm" len="sm"/>
            <a:tailEnd type="none"/>
          </a:ln>
          <a:effectLst/>
        </p:spPr>
      </p:cxnSp>
      <p:sp>
        <p:nvSpPr>
          <p:cNvPr id="11" name="TextBox 10">
            <a:extLst>
              <a:ext uri="{FF2B5EF4-FFF2-40B4-BE49-F238E27FC236}">
                <a16:creationId xmlns:a16="http://schemas.microsoft.com/office/drawing/2014/main" id="{AEC2EE02-B42B-4F4D-BD3D-F9DDB036F5A7}"/>
              </a:ext>
            </a:extLst>
          </p:cNvPr>
          <p:cNvSpPr txBox="1"/>
          <p:nvPr/>
        </p:nvSpPr>
        <p:spPr>
          <a:xfrm>
            <a:off x="1162050" y="3930136"/>
            <a:ext cx="838200" cy="369332"/>
          </a:xfrm>
          <a:prstGeom prst="rect">
            <a:avLst/>
          </a:prstGeom>
          <a:noFill/>
        </p:spPr>
        <p:txBody>
          <a:bodyPr wrap="square" rtlCol="0">
            <a:spAutoFit/>
          </a:bodyPr>
          <a:lstStyle/>
          <a:p>
            <a:pPr algn="ctr"/>
            <a:r>
              <a:rPr lang="en-US" b="1" dirty="0">
                <a:latin typeface="Courier New" panose="02070309020205020404" pitchFamily="49" charset="0"/>
                <a:cs typeface="Courier New" panose="02070309020205020404" pitchFamily="49" charset="0"/>
              </a:rPr>
              <a:t>bt1</a:t>
            </a:r>
          </a:p>
        </p:txBody>
      </p:sp>
      <p:grpSp>
        <p:nvGrpSpPr>
          <p:cNvPr id="13" name="Group 5">
            <a:extLst>
              <a:ext uri="{FF2B5EF4-FFF2-40B4-BE49-F238E27FC236}">
                <a16:creationId xmlns:a16="http://schemas.microsoft.com/office/drawing/2014/main" id="{220FFD0A-951F-45B5-BA40-37CA5B1E3BA2}"/>
              </a:ext>
            </a:extLst>
          </p:cNvPr>
          <p:cNvGrpSpPr/>
          <p:nvPr/>
        </p:nvGrpSpPr>
        <p:grpSpPr>
          <a:xfrm>
            <a:off x="4249615" y="3810000"/>
            <a:ext cx="762000" cy="685800"/>
            <a:chOff x="3962400" y="2590800"/>
            <a:chExt cx="762000" cy="685800"/>
          </a:xfrm>
        </p:grpSpPr>
        <p:sp>
          <p:nvSpPr>
            <p:cNvPr id="14" name="Rectangle 13">
              <a:extLst>
                <a:ext uri="{FF2B5EF4-FFF2-40B4-BE49-F238E27FC236}">
                  <a16:creationId xmlns:a16="http://schemas.microsoft.com/office/drawing/2014/main" id="{186F4898-2BA5-4D77-9005-2AAA0D40D1F8}"/>
                </a:ext>
              </a:extLst>
            </p:cNvPr>
            <p:cNvSpPr/>
            <p:nvPr/>
          </p:nvSpPr>
          <p:spPr bwMode="auto">
            <a:xfrm>
              <a:off x="3962400" y="2590800"/>
              <a:ext cx="762000" cy="685800"/>
            </a:xfrm>
            <a:prstGeom prst="rect">
              <a:avLst/>
            </a:prstGeom>
            <a:noFill/>
            <a:ln w="28575" cap="sq"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15" name="Rectangle 14">
              <a:extLst>
                <a:ext uri="{FF2B5EF4-FFF2-40B4-BE49-F238E27FC236}">
                  <a16:creationId xmlns:a16="http://schemas.microsoft.com/office/drawing/2014/main" id="{38C802C7-719F-4921-A873-6BDD2E70990B}"/>
                </a:ext>
              </a:extLst>
            </p:cNvPr>
            <p:cNvSpPr/>
            <p:nvPr/>
          </p:nvSpPr>
          <p:spPr bwMode="auto">
            <a:xfrm>
              <a:off x="3962400" y="2933700"/>
              <a:ext cx="762000" cy="342900"/>
            </a:xfrm>
            <a:prstGeom prst="rect">
              <a:avLst/>
            </a:prstGeom>
            <a:noFill/>
            <a:ln w="28575" cap="sq"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16" name="Rectangle 15">
              <a:extLst>
                <a:ext uri="{FF2B5EF4-FFF2-40B4-BE49-F238E27FC236}">
                  <a16:creationId xmlns:a16="http://schemas.microsoft.com/office/drawing/2014/main" id="{C6E0D3D1-1204-4ECC-8420-87A2FCFA8AE9}"/>
                </a:ext>
              </a:extLst>
            </p:cNvPr>
            <p:cNvSpPr/>
            <p:nvPr/>
          </p:nvSpPr>
          <p:spPr bwMode="auto">
            <a:xfrm>
              <a:off x="3962400" y="2933700"/>
              <a:ext cx="381000" cy="342900"/>
            </a:xfrm>
            <a:prstGeom prst="rect">
              <a:avLst/>
            </a:prstGeom>
            <a:noFill/>
            <a:ln w="28575" cap="sq"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grpSp>
      <p:sp>
        <p:nvSpPr>
          <p:cNvPr id="17" name="TextBox 16">
            <a:extLst>
              <a:ext uri="{FF2B5EF4-FFF2-40B4-BE49-F238E27FC236}">
                <a16:creationId xmlns:a16="http://schemas.microsoft.com/office/drawing/2014/main" id="{973B3668-BD3D-4A11-B0EE-81D49680AAC2}"/>
              </a:ext>
            </a:extLst>
          </p:cNvPr>
          <p:cNvSpPr txBox="1"/>
          <p:nvPr/>
        </p:nvSpPr>
        <p:spPr>
          <a:xfrm>
            <a:off x="4287715" y="3805561"/>
            <a:ext cx="685800" cy="369332"/>
          </a:xfrm>
          <a:prstGeom prst="rect">
            <a:avLst/>
          </a:prstGeom>
          <a:noFill/>
          <a:ln>
            <a:noFill/>
          </a:ln>
        </p:spPr>
        <p:txBody>
          <a:bodyPr wrap="square" rtlCol="0">
            <a:spAutoFit/>
          </a:bodyPr>
          <a:lstStyle/>
          <a:p>
            <a:pPr algn="ctr"/>
            <a:r>
              <a:rPr lang="en-US" b="1" dirty="0">
                <a:solidFill>
                  <a:srgbClr val="FF0000"/>
                </a:solidFill>
              </a:rPr>
              <a:t>12</a:t>
            </a:r>
          </a:p>
        </p:txBody>
      </p:sp>
    </p:spTree>
    <p:extLst>
      <p:ext uri="{BB962C8B-B14F-4D97-AF65-F5344CB8AC3E}">
        <p14:creationId xmlns:p14="http://schemas.microsoft.com/office/powerpoint/2010/main" val="3037462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Binary Tree Application (</a:t>
            </a:r>
            <a:r>
              <a:rPr lang="en-US" altLang="en-US" dirty="0" err="1"/>
              <a:t>cont</a:t>
            </a:r>
            <a:r>
              <a:rPr lang="en-US" altLang="en-US" dirty="0"/>
              <a:t>)</a:t>
            </a:r>
            <a:endParaRPr lang="en-US" altLang="en-US" b="1" dirty="0"/>
          </a:p>
        </p:txBody>
      </p:sp>
      <p:sp>
        <p:nvSpPr>
          <p:cNvPr id="43011" name="Rectangle 3"/>
          <p:cNvSpPr>
            <a:spLocks noGrp="1" noChangeArrowheads="1"/>
          </p:cNvSpPr>
          <p:nvPr>
            <p:ph type="body" idx="1"/>
          </p:nvPr>
        </p:nvSpPr>
        <p:spPr/>
        <p:txBody>
          <a:bodyPr/>
          <a:lstStyle/>
          <a:p>
            <a:pPr marL="0" indent="0">
              <a:spcBef>
                <a:spcPts val="0"/>
              </a:spcBef>
              <a:buNone/>
            </a:pPr>
            <a:r>
              <a:rPr lang="en-US" sz="2000" b="1" dirty="0">
                <a:latin typeface="Courier New" panose="02070309020205020404" pitchFamily="49" charset="0"/>
                <a:cs typeface="Courier New" panose="02070309020205020404" pitchFamily="49" charset="0"/>
              </a:rPr>
              <a:t># File: BT_app.py</a:t>
            </a:r>
          </a:p>
          <a:p>
            <a:pPr marL="0" indent="0">
              <a:spcBef>
                <a:spcPts val="0"/>
              </a:spcBef>
              <a:buNone/>
            </a:pPr>
            <a:r>
              <a:rPr lang="en-US" sz="2000" b="1" dirty="0">
                <a:latin typeface="Courier New" panose="02070309020205020404" pitchFamily="49" charset="0"/>
                <a:cs typeface="Courier New" panose="02070309020205020404" pitchFamily="49" charset="0"/>
              </a:rPr>
              <a:t>...</a:t>
            </a:r>
          </a:p>
          <a:p>
            <a:pPr marL="0" indent="0">
              <a:spcBef>
                <a:spcPts val="0"/>
              </a:spcBef>
              <a:buNone/>
            </a:pPr>
            <a:r>
              <a:rPr lang="en-US" sz="2000" b="1" dirty="0">
                <a:latin typeface="Courier New" panose="02070309020205020404" pitchFamily="49" charset="0"/>
                <a:cs typeface="Courier New" panose="02070309020205020404" pitchFamily="49" charset="0"/>
              </a:rPr>
              <a:t>bt1.insert(12)</a:t>
            </a:r>
          </a:p>
          <a:p>
            <a:pPr marL="0" indent="0">
              <a:spcBef>
                <a:spcPts val="0"/>
              </a:spcBef>
              <a:buNone/>
            </a:pPr>
            <a:r>
              <a:rPr lang="en-US" sz="2000" b="1" dirty="0">
                <a:solidFill>
                  <a:srgbClr val="FF0000"/>
                </a:solidFill>
                <a:latin typeface="Courier New" panose="02070309020205020404" pitchFamily="49" charset="0"/>
                <a:cs typeface="Courier New" panose="02070309020205020404" pitchFamily="49" charset="0"/>
              </a:rPr>
              <a:t>bt1.insert(7)</a:t>
            </a:r>
          </a:p>
          <a:p>
            <a:pPr marL="0" indent="0" eaLnBrk="1" hangingPunct="1">
              <a:buNone/>
            </a:pPr>
            <a:endParaRPr lang="en-US" altLang="en-US" sz="1800" b="1" dirty="0">
              <a:latin typeface="Courier New" panose="02070309020205020404" pitchFamily="49" charset="0"/>
              <a:cs typeface="Courier New" panose="02070309020205020404" pitchFamily="49" charset="0"/>
            </a:endParaRP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8</a:t>
            </a:fld>
            <a:endParaRPr lang="en-US"/>
          </a:p>
        </p:txBody>
      </p:sp>
      <p:sp>
        <p:nvSpPr>
          <p:cNvPr id="5" name="Date Placeholder 4"/>
          <p:cNvSpPr>
            <a:spLocks noGrp="1"/>
          </p:cNvSpPr>
          <p:nvPr>
            <p:ph type="dt" sz="half" idx="10"/>
          </p:nvPr>
        </p:nvSpPr>
        <p:spPr/>
        <p:txBody>
          <a:bodyPr/>
          <a:lstStyle/>
          <a:p>
            <a:pPr>
              <a:defRPr/>
            </a:pPr>
            <a:fld id="{B2A0CC13-E366-4764-A88C-37B4E99A0F7B}" type="datetime1">
              <a:rPr lang="en-US" smtClean="0"/>
              <a:t>8/2/2021</a:t>
            </a:fld>
            <a:endParaRPr lang="en-US"/>
          </a:p>
        </p:txBody>
      </p:sp>
      <p:sp>
        <p:nvSpPr>
          <p:cNvPr id="6" name="Footer Placeholder 5"/>
          <p:cNvSpPr>
            <a:spLocks noGrp="1"/>
          </p:cNvSpPr>
          <p:nvPr>
            <p:ph type="ftr" sz="quarter" idx="11"/>
          </p:nvPr>
        </p:nvSpPr>
        <p:spPr/>
        <p:txBody>
          <a:bodyPr/>
          <a:lstStyle/>
          <a:p>
            <a:pPr>
              <a:defRPr/>
            </a:pPr>
            <a:r>
              <a:rPr lang="en-US"/>
              <a:t>Copyright (c) John K. Ostlund</a:t>
            </a:r>
          </a:p>
        </p:txBody>
      </p:sp>
      <p:cxnSp>
        <p:nvCxnSpPr>
          <p:cNvPr id="7" name="Straight Arrow Connector 6">
            <a:extLst>
              <a:ext uri="{FF2B5EF4-FFF2-40B4-BE49-F238E27FC236}">
                <a16:creationId xmlns:a16="http://schemas.microsoft.com/office/drawing/2014/main" id="{FC054F9D-9431-41C4-9B4B-9400DFF294ED}"/>
              </a:ext>
            </a:extLst>
          </p:cNvPr>
          <p:cNvCxnSpPr>
            <a:cxnSpLocks/>
            <a:stCxn id="9" idx="3"/>
          </p:cNvCxnSpPr>
          <p:nvPr/>
        </p:nvCxnSpPr>
        <p:spPr bwMode="auto">
          <a:xfrm>
            <a:off x="3486150" y="4136542"/>
            <a:ext cx="673768" cy="0"/>
          </a:xfrm>
          <a:prstGeom prst="straightConnector1">
            <a:avLst/>
          </a:prstGeom>
          <a:solidFill>
            <a:schemeClr val="accent1"/>
          </a:solidFill>
          <a:ln w="38100" cap="sq" cmpd="sng" algn="ctr">
            <a:solidFill>
              <a:schemeClr val="tx1"/>
            </a:solidFill>
            <a:prstDash val="sysDash"/>
            <a:round/>
            <a:headEnd type="none" w="sm" len="sm"/>
            <a:tailEnd type="none"/>
          </a:ln>
          <a:effectLst/>
        </p:spPr>
      </p:cxnSp>
      <p:sp>
        <p:nvSpPr>
          <p:cNvPr id="8" name="Rectangle 7">
            <a:extLst>
              <a:ext uri="{FF2B5EF4-FFF2-40B4-BE49-F238E27FC236}">
                <a16:creationId xmlns:a16="http://schemas.microsoft.com/office/drawing/2014/main" id="{F84CB2FE-3D74-4EAD-935B-3E15410C609E}"/>
              </a:ext>
            </a:extLst>
          </p:cNvPr>
          <p:cNvSpPr/>
          <p:nvPr/>
        </p:nvSpPr>
        <p:spPr bwMode="auto">
          <a:xfrm>
            <a:off x="2476500" y="3747703"/>
            <a:ext cx="1207168" cy="838198"/>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9" name="TextBox 8">
            <a:extLst>
              <a:ext uri="{FF2B5EF4-FFF2-40B4-BE49-F238E27FC236}">
                <a16:creationId xmlns:a16="http://schemas.microsoft.com/office/drawing/2014/main" id="{4E32DC85-E750-48B6-A0C3-66AC4718F127}"/>
              </a:ext>
            </a:extLst>
          </p:cNvPr>
          <p:cNvSpPr txBox="1"/>
          <p:nvPr/>
        </p:nvSpPr>
        <p:spPr>
          <a:xfrm>
            <a:off x="2647950" y="3951876"/>
            <a:ext cx="838200" cy="369332"/>
          </a:xfrm>
          <a:prstGeom prst="rect">
            <a:avLst/>
          </a:prstGeom>
          <a:noFill/>
        </p:spPr>
        <p:txBody>
          <a:bodyPr wrap="square" rtlCol="0">
            <a:spAutoFit/>
          </a:bodyPr>
          <a:lstStyle/>
          <a:p>
            <a:pPr algn="ctr"/>
            <a:r>
              <a:rPr lang="en-US" b="1" dirty="0">
                <a:latin typeface="Courier New" panose="02070309020205020404" pitchFamily="49" charset="0"/>
                <a:cs typeface="Courier New" panose="02070309020205020404" pitchFamily="49" charset="0"/>
              </a:rPr>
              <a:t>top</a:t>
            </a:r>
          </a:p>
        </p:txBody>
      </p:sp>
      <p:cxnSp>
        <p:nvCxnSpPr>
          <p:cNvPr id="10" name="Straight Arrow Connector 9">
            <a:extLst>
              <a:ext uri="{FF2B5EF4-FFF2-40B4-BE49-F238E27FC236}">
                <a16:creationId xmlns:a16="http://schemas.microsoft.com/office/drawing/2014/main" id="{1A4603CB-3B90-4596-B5BC-CABBD7B0C724}"/>
              </a:ext>
            </a:extLst>
          </p:cNvPr>
          <p:cNvCxnSpPr>
            <a:cxnSpLocks/>
            <a:stCxn id="11" idx="3"/>
          </p:cNvCxnSpPr>
          <p:nvPr/>
        </p:nvCxnSpPr>
        <p:spPr bwMode="auto">
          <a:xfrm>
            <a:off x="2000250" y="4114802"/>
            <a:ext cx="438150" cy="0"/>
          </a:xfrm>
          <a:prstGeom prst="straightConnector1">
            <a:avLst/>
          </a:prstGeom>
          <a:solidFill>
            <a:schemeClr val="accent1"/>
          </a:solidFill>
          <a:ln w="38100" cap="sq" cmpd="sng" algn="ctr">
            <a:solidFill>
              <a:schemeClr val="tx1"/>
            </a:solidFill>
            <a:prstDash val="sysDash"/>
            <a:round/>
            <a:headEnd type="none" w="sm" len="sm"/>
            <a:tailEnd type="none"/>
          </a:ln>
          <a:effectLst/>
        </p:spPr>
      </p:cxnSp>
      <p:sp>
        <p:nvSpPr>
          <p:cNvPr id="11" name="TextBox 10">
            <a:extLst>
              <a:ext uri="{FF2B5EF4-FFF2-40B4-BE49-F238E27FC236}">
                <a16:creationId xmlns:a16="http://schemas.microsoft.com/office/drawing/2014/main" id="{AEC2EE02-B42B-4F4D-BD3D-F9DDB036F5A7}"/>
              </a:ext>
            </a:extLst>
          </p:cNvPr>
          <p:cNvSpPr txBox="1"/>
          <p:nvPr/>
        </p:nvSpPr>
        <p:spPr>
          <a:xfrm>
            <a:off x="1162050" y="3930136"/>
            <a:ext cx="838200" cy="369332"/>
          </a:xfrm>
          <a:prstGeom prst="rect">
            <a:avLst/>
          </a:prstGeom>
          <a:noFill/>
        </p:spPr>
        <p:txBody>
          <a:bodyPr wrap="square" rtlCol="0">
            <a:spAutoFit/>
          </a:bodyPr>
          <a:lstStyle/>
          <a:p>
            <a:pPr algn="ctr"/>
            <a:r>
              <a:rPr lang="en-US" b="1" dirty="0">
                <a:latin typeface="Courier New" panose="02070309020205020404" pitchFamily="49" charset="0"/>
                <a:cs typeface="Courier New" panose="02070309020205020404" pitchFamily="49" charset="0"/>
              </a:rPr>
              <a:t>bt1</a:t>
            </a:r>
          </a:p>
        </p:txBody>
      </p:sp>
      <p:grpSp>
        <p:nvGrpSpPr>
          <p:cNvPr id="13" name="Group 5">
            <a:extLst>
              <a:ext uri="{FF2B5EF4-FFF2-40B4-BE49-F238E27FC236}">
                <a16:creationId xmlns:a16="http://schemas.microsoft.com/office/drawing/2014/main" id="{220FFD0A-951F-45B5-BA40-37CA5B1E3BA2}"/>
              </a:ext>
            </a:extLst>
          </p:cNvPr>
          <p:cNvGrpSpPr/>
          <p:nvPr/>
        </p:nvGrpSpPr>
        <p:grpSpPr>
          <a:xfrm>
            <a:off x="4249615" y="3810000"/>
            <a:ext cx="762000" cy="685800"/>
            <a:chOff x="3962400" y="2590800"/>
            <a:chExt cx="762000" cy="685800"/>
          </a:xfrm>
        </p:grpSpPr>
        <p:sp>
          <p:nvSpPr>
            <p:cNvPr id="14" name="Rectangle 13">
              <a:extLst>
                <a:ext uri="{FF2B5EF4-FFF2-40B4-BE49-F238E27FC236}">
                  <a16:creationId xmlns:a16="http://schemas.microsoft.com/office/drawing/2014/main" id="{186F4898-2BA5-4D77-9005-2AAA0D40D1F8}"/>
                </a:ext>
              </a:extLst>
            </p:cNvPr>
            <p:cNvSpPr/>
            <p:nvPr/>
          </p:nvSpPr>
          <p:spPr bwMode="auto">
            <a:xfrm>
              <a:off x="3962400" y="2590800"/>
              <a:ext cx="762000" cy="6858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15" name="Rectangle 14">
              <a:extLst>
                <a:ext uri="{FF2B5EF4-FFF2-40B4-BE49-F238E27FC236}">
                  <a16:creationId xmlns:a16="http://schemas.microsoft.com/office/drawing/2014/main" id="{38C802C7-719F-4921-A873-6BDD2E70990B}"/>
                </a:ext>
              </a:extLst>
            </p:cNvPr>
            <p:cNvSpPr/>
            <p:nvPr/>
          </p:nvSpPr>
          <p:spPr bwMode="auto">
            <a:xfrm>
              <a:off x="3962400" y="2933700"/>
              <a:ext cx="762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16" name="Rectangle 15">
              <a:extLst>
                <a:ext uri="{FF2B5EF4-FFF2-40B4-BE49-F238E27FC236}">
                  <a16:creationId xmlns:a16="http://schemas.microsoft.com/office/drawing/2014/main" id="{C6E0D3D1-1204-4ECC-8420-87A2FCFA8AE9}"/>
                </a:ext>
              </a:extLst>
            </p:cNvPr>
            <p:cNvSpPr/>
            <p:nvPr/>
          </p:nvSpPr>
          <p:spPr bwMode="auto">
            <a:xfrm>
              <a:off x="3962400" y="2933700"/>
              <a:ext cx="381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grpSp>
      <p:sp>
        <p:nvSpPr>
          <p:cNvPr id="17" name="TextBox 16">
            <a:extLst>
              <a:ext uri="{FF2B5EF4-FFF2-40B4-BE49-F238E27FC236}">
                <a16:creationId xmlns:a16="http://schemas.microsoft.com/office/drawing/2014/main" id="{973B3668-BD3D-4A11-B0EE-81D49680AAC2}"/>
              </a:ext>
            </a:extLst>
          </p:cNvPr>
          <p:cNvSpPr txBox="1"/>
          <p:nvPr/>
        </p:nvSpPr>
        <p:spPr>
          <a:xfrm>
            <a:off x="4287715" y="3805561"/>
            <a:ext cx="685800" cy="369332"/>
          </a:xfrm>
          <a:prstGeom prst="rect">
            <a:avLst/>
          </a:prstGeom>
          <a:noFill/>
          <a:ln>
            <a:noFill/>
          </a:ln>
        </p:spPr>
        <p:txBody>
          <a:bodyPr wrap="square" rtlCol="0">
            <a:spAutoFit/>
          </a:bodyPr>
          <a:lstStyle/>
          <a:p>
            <a:pPr algn="ctr"/>
            <a:r>
              <a:rPr lang="en-US" b="1" dirty="0"/>
              <a:t>12</a:t>
            </a:r>
          </a:p>
        </p:txBody>
      </p:sp>
      <p:grpSp>
        <p:nvGrpSpPr>
          <p:cNvPr id="18" name="Group 5">
            <a:extLst>
              <a:ext uri="{FF2B5EF4-FFF2-40B4-BE49-F238E27FC236}">
                <a16:creationId xmlns:a16="http://schemas.microsoft.com/office/drawing/2014/main" id="{3B6C8997-BEEA-4279-8501-669AE61B4017}"/>
              </a:ext>
            </a:extLst>
          </p:cNvPr>
          <p:cNvGrpSpPr/>
          <p:nvPr/>
        </p:nvGrpSpPr>
        <p:grpSpPr>
          <a:xfrm>
            <a:off x="3810000" y="4800600"/>
            <a:ext cx="762000" cy="685800"/>
            <a:chOff x="3962400" y="2590800"/>
            <a:chExt cx="762000" cy="685800"/>
          </a:xfrm>
        </p:grpSpPr>
        <p:sp>
          <p:nvSpPr>
            <p:cNvPr id="19" name="Rectangle 18">
              <a:extLst>
                <a:ext uri="{FF2B5EF4-FFF2-40B4-BE49-F238E27FC236}">
                  <a16:creationId xmlns:a16="http://schemas.microsoft.com/office/drawing/2014/main" id="{CD29F520-CE04-4A59-98CD-0FF481E1387D}"/>
                </a:ext>
              </a:extLst>
            </p:cNvPr>
            <p:cNvSpPr/>
            <p:nvPr/>
          </p:nvSpPr>
          <p:spPr bwMode="auto">
            <a:xfrm>
              <a:off x="3962400" y="2590800"/>
              <a:ext cx="762000" cy="685800"/>
            </a:xfrm>
            <a:prstGeom prst="rect">
              <a:avLst/>
            </a:prstGeom>
            <a:noFill/>
            <a:ln w="28575" cap="sq"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20" name="Rectangle 19">
              <a:extLst>
                <a:ext uri="{FF2B5EF4-FFF2-40B4-BE49-F238E27FC236}">
                  <a16:creationId xmlns:a16="http://schemas.microsoft.com/office/drawing/2014/main" id="{2292C43F-8C19-4484-A5F8-00F6103BD1D9}"/>
                </a:ext>
              </a:extLst>
            </p:cNvPr>
            <p:cNvSpPr/>
            <p:nvPr/>
          </p:nvSpPr>
          <p:spPr bwMode="auto">
            <a:xfrm>
              <a:off x="3962400" y="2933700"/>
              <a:ext cx="762000" cy="342900"/>
            </a:xfrm>
            <a:prstGeom prst="rect">
              <a:avLst/>
            </a:prstGeom>
            <a:noFill/>
            <a:ln w="28575" cap="sq"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21" name="Rectangle 20">
              <a:extLst>
                <a:ext uri="{FF2B5EF4-FFF2-40B4-BE49-F238E27FC236}">
                  <a16:creationId xmlns:a16="http://schemas.microsoft.com/office/drawing/2014/main" id="{5C9BCFB8-B00C-47B8-A942-A585F5C350FC}"/>
                </a:ext>
              </a:extLst>
            </p:cNvPr>
            <p:cNvSpPr/>
            <p:nvPr/>
          </p:nvSpPr>
          <p:spPr bwMode="auto">
            <a:xfrm>
              <a:off x="3962400" y="2933700"/>
              <a:ext cx="381000" cy="342900"/>
            </a:xfrm>
            <a:prstGeom prst="rect">
              <a:avLst/>
            </a:prstGeom>
            <a:noFill/>
            <a:ln w="28575" cap="sq"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grpSp>
      <p:sp>
        <p:nvSpPr>
          <p:cNvPr id="22" name="TextBox 21">
            <a:extLst>
              <a:ext uri="{FF2B5EF4-FFF2-40B4-BE49-F238E27FC236}">
                <a16:creationId xmlns:a16="http://schemas.microsoft.com/office/drawing/2014/main" id="{88BA548F-B851-4BBF-B5EA-952EFE6DF71B}"/>
              </a:ext>
            </a:extLst>
          </p:cNvPr>
          <p:cNvSpPr txBox="1"/>
          <p:nvPr/>
        </p:nvSpPr>
        <p:spPr>
          <a:xfrm>
            <a:off x="3848100" y="4796161"/>
            <a:ext cx="685800" cy="369332"/>
          </a:xfrm>
          <a:prstGeom prst="rect">
            <a:avLst/>
          </a:prstGeom>
          <a:noFill/>
          <a:ln>
            <a:noFill/>
          </a:ln>
        </p:spPr>
        <p:txBody>
          <a:bodyPr wrap="square" rtlCol="0">
            <a:spAutoFit/>
          </a:bodyPr>
          <a:lstStyle/>
          <a:p>
            <a:pPr algn="ctr"/>
            <a:r>
              <a:rPr lang="en-US" b="1" dirty="0">
                <a:solidFill>
                  <a:srgbClr val="FF0000"/>
                </a:solidFill>
              </a:rPr>
              <a:t>7</a:t>
            </a:r>
          </a:p>
        </p:txBody>
      </p:sp>
      <p:cxnSp>
        <p:nvCxnSpPr>
          <p:cNvPr id="23" name="Straight Arrow Connector 22">
            <a:extLst>
              <a:ext uri="{FF2B5EF4-FFF2-40B4-BE49-F238E27FC236}">
                <a16:creationId xmlns:a16="http://schemas.microsoft.com/office/drawing/2014/main" id="{379BAAA5-9CB8-437B-B722-AF19C8AB95E9}"/>
              </a:ext>
            </a:extLst>
          </p:cNvPr>
          <p:cNvCxnSpPr>
            <a:cxnSpLocks/>
            <a:stCxn id="22" idx="0"/>
          </p:cNvCxnSpPr>
          <p:nvPr/>
        </p:nvCxnSpPr>
        <p:spPr bwMode="auto">
          <a:xfrm flipV="1">
            <a:off x="4191000" y="4321209"/>
            <a:ext cx="277127" cy="474952"/>
          </a:xfrm>
          <a:prstGeom prst="straightConnector1">
            <a:avLst/>
          </a:prstGeom>
          <a:solidFill>
            <a:schemeClr val="accent1"/>
          </a:solidFill>
          <a:ln w="38100" cap="sq" cmpd="sng" algn="ctr">
            <a:solidFill>
              <a:srgbClr val="FF0000"/>
            </a:solidFill>
            <a:prstDash val="sysDash"/>
            <a:round/>
            <a:headEnd type="none" w="sm" len="sm"/>
            <a:tailEnd type="none"/>
          </a:ln>
          <a:effectLst/>
        </p:spPr>
      </p:cxnSp>
    </p:spTree>
    <p:extLst>
      <p:ext uri="{BB962C8B-B14F-4D97-AF65-F5344CB8AC3E}">
        <p14:creationId xmlns:p14="http://schemas.microsoft.com/office/powerpoint/2010/main" val="4094387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Binary Tree Code: </a:t>
            </a:r>
            <a:r>
              <a:rPr lang="en-US" altLang="en-US" b="1" dirty="0"/>
              <a:t>insert()</a:t>
            </a:r>
            <a:r>
              <a:rPr lang="en-US" altLang="en-US" dirty="0"/>
              <a:t> (</a:t>
            </a:r>
            <a:r>
              <a:rPr lang="en-US" altLang="en-US" dirty="0" err="1"/>
              <a:t>cont</a:t>
            </a:r>
            <a:r>
              <a:rPr lang="en-US" altLang="en-US" dirty="0"/>
              <a:t>)</a:t>
            </a:r>
          </a:p>
        </p:txBody>
      </p:sp>
      <p:sp>
        <p:nvSpPr>
          <p:cNvPr id="43011" name="Rectangle 3"/>
          <p:cNvSpPr>
            <a:spLocks noGrp="1" noChangeArrowheads="1"/>
          </p:cNvSpPr>
          <p:nvPr>
            <p:ph type="body" idx="1"/>
          </p:nvPr>
        </p:nvSpPr>
        <p:spPr/>
        <p:txBody>
          <a:bodyPr/>
          <a:lstStyle/>
          <a:p>
            <a:pPr marL="0" indent="0">
              <a:spcBef>
                <a:spcPts val="0"/>
              </a:spcBef>
              <a:buNone/>
            </a:pPr>
            <a:r>
              <a:rPr lang="en-US" sz="1800" b="1" dirty="0">
                <a:latin typeface="Courier New" panose="02070309020205020404" pitchFamily="49" charset="0"/>
                <a:cs typeface="Courier New" panose="02070309020205020404" pitchFamily="49" charset="0"/>
              </a:rPr>
              <a:t># File: BinaryTree.py (</a:t>
            </a:r>
            <a:r>
              <a:rPr lang="en-US" sz="1800" b="1" dirty="0" err="1">
                <a:latin typeface="Courier New" panose="02070309020205020404" pitchFamily="49" charset="0"/>
                <a:cs typeface="Courier New" panose="02070309020205020404" pitchFamily="49" charset="0"/>
              </a:rPr>
              <a:t>cont</a:t>
            </a:r>
            <a:r>
              <a:rPr lang="en-US" sz="1800" b="1" dirty="0">
                <a:latin typeface="Courier New" panose="02070309020205020404" pitchFamily="49" charset="0"/>
                <a:cs typeface="Courier New" panose="02070309020205020404" pitchFamily="49" charset="0"/>
              </a:rPr>
              <a:t>)</a:t>
            </a:r>
          </a:p>
          <a:p>
            <a:pPr marL="0" indent="0">
              <a:spcBef>
                <a:spcPts val="0"/>
              </a:spcBef>
              <a:buNone/>
            </a:pPr>
            <a:endParaRPr lang="en-US" sz="1000" b="1" dirty="0">
              <a:latin typeface="Courier New" panose="02070309020205020404" pitchFamily="49" charset="0"/>
              <a:cs typeface="Courier New" panose="02070309020205020404" pitchFamily="49" charset="0"/>
            </a:endParaRPr>
          </a:p>
          <a:p>
            <a:pPr marL="0" indent="0">
              <a:spcBef>
                <a:spcPts val="0"/>
              </a:spcBef>
              <a:buNone/>
            </a:pPr>
            <a:r>
              <a:rPr lang="en-US" sz="1800" b="1" dirty="0">
                <a:latin typeface="Courier New" panose="02070309020205020404" pitchFamily="49" charset="0"/>
                <a:cs typeface="Courier New" panose="02070309020205020404" pitchFamily="49" charset="0"/>
              </a:rPr>
              <a:t>class </a:t>
            </a:r>
            <a:r>
              <a:rPr lang="en-US" sz="1800" b="1" dirty="0" err="1">
                <a:latin typeface="Courier New" panose="02070309020205020404" pitchFamily="49" charset="0"/>
                <a:cs typeface="Courier New" panose="02070309020205020404" pitchFamily="49" charset="0"/>
              </a:rPr>
              <a:t>BinaryTree</a:t>
            </a:r>
            <a:r>
              <a:rPr lang="en-US" sz="1800" b="1" dirty="0">
                <a:latin typeface="Courier New" panose="02070309020205020404" pitchFamily="49" charset="0"/>
                <a:cs typeface="Courier New" panose="02070309020205020404" pitchFamily="49" charset="0"/>
              </a:rPr>
              <a:t>:</a:t>
            </a:r>
          </a:p>
          <a:p>
            <a:pPr marL="0" indent="0">
              <a:spcBef>
                <a:spcPts val="0"/>
              </a:spcBef>
              <a:buNone/>
            </a:pPr>
            <a:r>
              <a:rPr lang="en-US" sz="1000" b="1" dirty="0">
                <a:latin typeface="Courier New" panose="02070309020205020404" pitchFamily="49" charset="0"/>
                <a:cs typeface="Courier New" panose="02070309020205020404" pitchFamily="49" charset="0"/>
              </a:rPr>
              <a:t>... </a:t>
            </a:r>
          </a:p>
          <a:p>
            <a:pPr marL="0" indent="0">
              <a:spcBef>
                <a:spcPts val="0"/>
              </a:spcBef>
              <a:buNone/>
            </a:pPr>
            <a:r>
              <a:rPr lang="en-US" sz="1800" b="1" dirty="0">
                <a:latin typeface="Courier New" panose="02070309020205020404" pitchFamily="49" charset="0"/>
                <a:cs typeface="Courier New" panose="02070309020205020404" pitchFamily="49" charset="0"/>
              </a:rPr>
              <a:t>   def _</a:t>
            </a:r>
            <a:r>
              <a:rPr lang="en-US" sz="1800" b="1" dirty="0" err="1">
                <a:latin typeface="Courier New" panose="02070309020205020404" pitchFamily="49" charset="0"/>
                <a:cs typeface="Courier New" panose="02070309020205020404" pitchFamily="49" charset="0"/>
              </a:rPr>
              <a:t>insert_help</a:t>
            </a:r>
            <a:r>
              <a:rPr lang="en-US" sz="1800" b="1" dirty="0">
                <a:latin typeface="Courier New" panose="02070309020205020404" pitchFamily="49" charset="0"/>
                <a:cs typeface="Courier New" panose="02070309020205020404" pitchFamily="49" charset="0"/>
              </a:rPr>
              <a:t>(self, </a:t>
            </a:r>
            <a:r>
              <a:rPr lang="en-US" sz="1800" b="1" dirty="0" err="1">
                <a:latin typeface="Courier New" panose="02070309020205020404" pitchFamily="49" charset="0"/>
                <a:cs typeface="Courier New" panose="02070309020205020404" pitchFamily="49" charset="0"/>
              </a:rPr>
              <a:t>cur_node</a:t>
            </a:r>
            <a:r>
              <a:rPr lang="en-US" sz="1800" b="1" dirty="0">
                <a:latin typeface="Courier New" panose="02070309020205020404" pitchFamily="49" charset="0"/>
                <a:cs typeface="Courier New" panose="02070309020205020404" pitchFamily="49" charset="0"/>
              </a:rPr>
              <a:t>, value):</a:t>
            </a:r>
          </a:p>
          <a:p>
            <a:pPr marL="0" indent="0">
              <a:spcBef>
                <a:spcPts val="0"/>
              </a:spcBef>
              <a:buNone/>
            </a:pPr>
            <a:r>
              <a:rPr lang="en-US" sz="1800" b="1" dirty="0">
                <a:latin typeface="Courier New" panose="02070309020205020404" pitchFamily="49" charset="0"/>
                <a:cs typeface="Courier New" panose="02070309020205020404" pitchFamily="49" charset="0"/>
              </a:rPr>
              <a:t>      if value &lt; </a:t>
            </a:r>
            <a:r>
              <a:rPr lang="en-US" sz="1800" b="1" dirty="0" err="1">
                <a:latin typeface="Courier New" panose="02070309020205020404" pitchFamily="49" charset="0"/>
                <a:cs typeface="Courier New" panose="02070309020205020404" pitchFamily="49" charset="0"/>
              </a:rPr>
              <a:t>cur_node._value</a:t>
            </a:r>
            <a:r>
              <a:rPr lang="en-US" sz="1800" b="1" dirty="0">
                <a:latin typeface="Courier New" panose="02070309020205020404" pitchFamily="49" charset="0"/>
                <a:cs typeface="Courier New" panose="02070309020205020404" pitchFamily="49" charset="0"/>
              </a:rPr>
              <a:t>:</a:t>
            </a:r>
          </a:p>
          <a:p>
            <a:pPr marL="0" indent="0">
              <a:spcBef>
                <a:spcPts val="0"/>
              </a:spcBef>
              <a:buNone/>
            </a:pPr>
            <a:r>
              <a:rPr lang="en-US" sz="1800" b="1" dirty="0">
                <a:latin typeface="Courier New" panose="02070309020205020404" pitchFamily="49" charset="0"/>
                <a:cs typeface="Courier New" panose="02070309020205020404" pitchFamily="49" charset="0"/>
              </a:rPr>
              <a:t>         if </a:t>
            </a:r>
            <a:r>
              <a:rPr lang="en-US" sz="1800" b="1" dirty="0" err="1">
                <a:latin typeface="Courier New" panose="02070309020205020404" pitchFamily="49" charset="0"/>
                <a:cs typeface="Courier New" panose="02070309020205020404" pitchFamily="49" charset="0"/>
              </a:rPr>
              <a:t>cur_node._left</a:t>
            </a:r>
            <a:r>
              <a:rPr lang="en-US" sz="1800" b="1" dirty="0">
                <a:latin typeface="Courier New" panose="02070309020205020404" pitchFamily="49" charset="0"/>
                <a:cs typeface="Courier New" panose="02070309020205020404" pitchFamily="49" charset="0"/>
              </a:rPr>
              <a:t> == None:</a:t>
            </a:r>
          </a:p>
          <a:p>
            <a:pPr marL="0" indent="0">
              <a:spcBef>
                <a:spcPts val="0"/>
              </a:spcBef>
              <a:buNone/>
            </a:pPr>
            <a:r>
              <a:rPr lang="en-US" sz="18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cur_node._left</a:t>
            </a:r>
            <a:r>
              <a:rPr lang="en-US" sz="1800" b="1" dirty="0">
                <a:latin typeface="Courier New" panose="02070309020205020404" pitchFamily="49" charset="0"/>
                <a:cs typeface="Courier New" panose="02070309020205020404" pitchFamily="49" charset="0"/>
              </a:rPr>
              <a:t> = </a:t>
            </a:r>
            <a:r>
              <a:rPr lang="en-US" sz="1800" b="1" dirty="0" err="1">
                <a:latin typeface="Courier New" panose="02070309020205020404" pitchFamily="49" charset="0"/>
                <a:cs typeface="Courier New" panose="02070309020205020404" pitchFamily="49" charset="0"/>
              </a:rPr>
              <a:t>BinaryTree</a:t>
            </a:r>
            <a:r>
              <a:rPr lang="en-US" sz="1800" b="1" dirty="0">
                <a:latin typeface="Courier New" panose="02070309020205020404" pitchFamily="49" charset="0"/>
                <a:cs typeface="Courier New" panose="02070309020205020404" pitchFamily="49" charset="0"/>
              </a:rPr>
              <a:t>._</a:t>
            </a:r>
            <a:r>
              <a:rPr lang="en-US" sz="1800" b="1" dirty="0" err="1">
                <a:latin typeface="Courier New" panose="02070309020205020404" pitchFamily="49" charset="0"/>
                <a:cs typeface="Courier New" panose="02070309020205020404" pitchFamily="49" charset="0"/>
              </a:rPr>
              <a:t>BTNode</a:t>
            </a:r>
            <a:r>
              <a:rPr lang="en-US" sz="1800" b="1" dirty="0">
                <a:latin typeface="Courier New" panose="02070309020205020404" pitchFamily="49" charset="0"/>
                <a:cs typeface="Courier New" panose="02070309020205020404" pitchFamily="49" charset="0"/>
              </a:rPr>
              <a:t>(value)</a:t>
            </a:r>
          </a:p>
          <a:p>
            <a:pPr marL="0" indent="0">
              <a:spcBef>
                <a:spcPts val="0"/>
              </a:spcBef>
              <a:buNone/>
            </a:pPr>
            <a:r>
              <a:rPr lang="en-US" sz="1800" b="1" dirty="0">
                <a:latin typeface="Courier New" panose="02070309020205020404" pitchFamily="49" charset="0"/>
                <a:cs typeface="Courier New" panose="02070309020205020404" pitchFamily="49" charset="0"/>
              </a:rPr>
              <a:t>         else:</a:t>
            </a:r>
          </a:p>
          <a:p>
            <a:pPr marL="0" indent="0">
              <a:spcBef>
                <a:spcPts val="0"/>
              </a:spcBef>
              <a:buNone/>
            </a:pPr>
            <a:r>
              <a:rPr lang="en-US" sz="1800" b="1" dirty="0">
                <a:latin typeface="Courier New" panose="02070309020205020404" pitchFamily="49" charset="0"/>
                <a:cs typeface="Courier New" panose="02070309020205020404" pitchFamily="49" charset="0"/>
              </a:rPr>
              <a:t>             self._</a:t>
            </a:r>
            <a:r>
              <a:rPr lang="en-US" sz="1800" b="1" dirty="0" err="1">
                <a:latin typeface="Courier New" panose="02070309020205020404" pitchFamily="49" charset="0"/>
                <a:cs typeface="Courier New" panose="02070309020205020404" pitchFamily="49" charset="0"/>
              </a:rPr>
              <a:t>insert_help</a:t>
            </a:r>
            <a:r>
              <a:rPr lang="en-US" sz="1800" b="1" dirty="0">
                <a:latin typeface="Courier New" panose="02070309020205020404" pitchFamily="49" charset="0"/>
                <a:cs typeface="Courier New" panose="02070309020205020404" pitchFamily="49" charset="0"/>
              </a:rPr>
              <a:t>(</a:t>
            </a:r>
            <a:r>
              <a:rPr lang="en-US" sz="1800" b="1" dirty="0" err="1">
                <a:latin typeface="Courier New" panose="02070309020205020404" pitchFamily="49" charset="0"/>
                <a:cs typeface="Courier New" panose="02070309020205020404" pitchFamily="49" charset="0"/>
              </a:rPr>
              <a:t>cur_node._left</a:t>
            </a:r>
            <a:r>
              <a:rPr lang="en-US" sz="1800" b="1" dirty="0">
                <a:latin typeface="Courier New" panose="02070309020205020404" pitchFamily="49" charset="0"/>
                <a:cs typeface="Courier New" panose="02070309020205020404" pitchFamily="49" charset="0"/>
              </a:rPr>
              <a:t>, value)</a:t>
            </a:r>
          </a:p>
          <a:p>
            <a:pPr marL="0" indent="0">
              <a:spcBef>
                <a:spcPts val="0"/>
              </a:spcBef>
              <a:buNone/>
            </a:pPr>
            <a:r>
              <a:rPr lang="en-US" sz="18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elif</a:t>
            </a:r>
            <a:r>
              <a:rPr lang="en-US" sz="1800" b="1" dirty="0">
                <a:latin typeface="Courier New" panose="02070309020205020404" pitchFamily="49" charset="0"/>
                <a:cs typeface="Courier New" panose="02070309020205020404" pitchFamily="49" charset="0"/>
              </a:rPr>
              <a:t> value &gt; </a:t>
            </a:r>
            <a:r>
              <a:rPr lang="en-US" sz="1800" b="1" dirty="0" err="1">
                <a:latin typeface="Courier New" panose="02070309020205020404" pitchFamily="49" charset="0"/>
                <a:cs typeface="Courier New" panose="02070309020205020404" pitchFamily="49" charset="0"/>
              </a:rPr>
              <a:t>cur_node._value</a:t>
            </a:r>
            <a:r>
              <a:rPr lang="en-US" sz="1800" b="1" dirty="0">
                <a:latin typeface="Courier New" panose="02070309020205020404" pitchFamily="49" charset="0"/>
                <a:cs typeface="Courier New" panose="02070309020205020404" pitchFamily="49" charset="0"/>
              </a:rPr>
              <a:t>:</a:t>
            </a:r>
          </a:p>
          <a:p>
            <a:pPr marL="0" indent="0">
              <a:spcBef>
                <a:spcPts val="0"/>
              </a:spcBef>
              <a:buNone/>
            </a:pPr>
            <a:r>
              <a:rPr lang="en-US" sz="1800" b="1" dirty="0">
                <a:latin typeface="Courier New" panose="02070309020205020404" pitchFamily="49" charset="0"/>
                <a:cs typeface="Courier New" panose="02070309020205020404" pitchFamily="49" charset="0"/>
              </a:rPr>
              <a:t>         if </a:t>
            </a:r>
            <a:r>
              <a:rPr lang="en-US" sz="1800" b="1" dirty="0" err="1">
                <a:latin typeface="Courier New" panose="02070309020205020404" pitchFamily="49" charset="0"/>
                <a:cs typeface="Courier New" panose="02070309020205020404" pitchFamily="49" charset="0"/>
              </a:rPr>
              <a:t>cur_node._right</a:t>
            </a:r>
            <a:r>
              <a:rPr lang="en-US" sz="1800" b="1" dirty="0">
                <a:latin typeface="Courier New" panose="02070309020205020404" pitchFamily="49" charset="0"/>
                <a:cs typeface="Courier New" panose="02070309020205020404" pitchFamily="49" charset="0"/>
              </a:rPr>
              <a:t> == None:</a:t>
            </a:r>
          </a:p>
          <a:p>
            <a:pPr marL="0" indent="0">
              <a:spcBef>
                <a:spcPts val="0"/>
              </a:spcBef>
              <a:buNone/>
            </a:pPr>
            <a:r>
              <a:rPr lang="en-US" sz="18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cur_node._right</a:t>
            </a:r>
            <a:r>
              <a:rPr lang="en-US" sz="1000" b="1" dirty="0">
                <a:latin typeface="Courier New" panose="02070309020205020404" pitchFamily="49" charset="0"/>
                <a:cs typeface="Courier New" panose="02070309020205020404" pitchFamily="49" charset="0"/>
              </a:rPr>
              <a:t> </a:t>
            </a:r>
            <a:r>
              <a:rPr lang="en-US" sz="1800" b="1" dirty="0">
                <a:latin typeface="Courier New" panose="02070309020205020404" pitchFamily="49" charset="0"/>
                <a:cs typeface="Courier New" panose="02070309020205020404" pitchFamily="49" charset="0"/>
              </a:rPr>
              <a:t>=</a:t>
            </a:r>
            <a:r>
              <a:rPr lang="en-US" sz="10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BinaryTree</a:t>
            </a:r>
            <a:r>
              <a:rPr lang="en-US" sz="1800" b="1" dirty="0">
                <a:latin typeface="Courier New" panose="02070309020205020404" pitchFamily="49" charset="0"/>
                <a:cs typeface="Courier New" panose="02070309020205020404" pitchFamily="49" charset="0"/>
              </a:rPr>
              <a:t>._</a:t>
            </a:r>
            <a:r>
              <a:rPr lang="en-US" sz="1800" b="1" dirty="0" err="1">
                <a:latin typeface="Courier New" panose="02070309020205020404" pitchFamily="49" charset="0"/>
                <a:cs typeface="Courier New" panose="02070309020205020404" pitchFamily="49" charset="0"/>
              </a:rPr>
              <a:t>BTNode</a:t>
            </a:r>
            <a:r>
              <a:rPr lang="en-US" sz="1800" b="1" dirty="0">
                <a:latin typeface="Courier New" panose="02070309020205020404" pitchFamily="49" charset="0"/>
                <a:cs typeface="Courier New" panose="02070309020205020404" pitchFamily="49" charset="0"/>
              </a:rPr>
              <a:t>(value)</a:t>
            </a:r>
          </a:p>
          <a:p>
            <a:pPr marL="0" indent="0">
              <a:spcBef>
                <a:spcPts val="0"/>
              </a:spcBef>
              <a:buNone/>
            </a:pPr>
            <a:r>
              <a:rPr lang="en-US" sz="1800" b="1" dirty="0">
                <a:latin typeface="Courier New" panose="02070309020205020404" pitchFamily="49" charset="0"/>
                <a:cs typeface="Courier New" panose="02070309020205020404" pitchFamily="49" charset="0"/>
              </a:rPr>
              <a:t>         else:</a:t>
            </a:r>
          </a:p>
          <a:p>
            <a:pPr marL="0" indent="0">
              <a:spcBef>
                <a:spcPts val="0"/>
              </a:spcBef>
              <a:buNone/>
            </a:pPr>
            <a:r>
              <a:rPr lang="en-US" sz="1800" b="1" dirty="0">
                <a:latin typeface="Courier New" panose="02070309020205020404" pitchFamily="49" charset="0"/>
                <a:cs typeface="Courier New" panose="02070309020205020404" pitchFamily="49" charset="0"/>
              </a:rPr>
              <a:t>             self._</a:t>
            </a:r>
            <a:r>
              <a:rPr lang="en-US" sz="1800" b="1" dirty="0" err="1">
                <a:latin typeface="Courier New" panose="02070309020205020404" pitchFamily="49" charset="0"/>
                <a:cs typeface="Courier New" panose="02070309020205020404" pitchFamily="49" charset="0"/>
              </a:rPr>
              <a:t>insert_help</a:t>
            </a:r>
            <a:r>
              <a:rPr lang="en-US" sz="1800" b="1" dirty="0">
                <a:latin typeface="Courier New" panose="02070309020205020404" pitchFamily="49" charset="0"/>
                <a:cs typeface="Courier New" panose="02070309020205020404" pitchFamily="49" charset="0"/>
              </a:rPr>
              <a:t>(</a:t>
            </a:r>
            <a:r>
              <a:rPr lang="en-US" sz="1800" b="1" dirty="0" err="1">
                <a:latin typeface="Courier New" panose="02070309020205020404" pitchFamily="49" charset="0"/>
                <a:cs typeface="Courier New" panose="02070309020205020404" pitchFamily="49" charset="0"/>
              </a:rPr>
              <a:t>cur_node._right</a:t>
            </a:r>
            <a:r>
              <a:rPr lang="en-US" sz="1800" b="1" dirty="0">
                <a:latin typeface="Courier New" panose="02070309020205020404" pitchFamily="49" charset="0"/>
                <a:cs typeface="Courier New" panose="02070309020205020404" pitchFamily="49" charset="0"/>
              </a:rPr>
              <a:t>, value)</a:t>
            </a:r>
          </a:p>
          <a:p>
            <a:pPr marL="0" indent="0" eaLnBrk="1" hangingPunct="1">
              <a:buNone/>
            </a:pPr>
            <a:endParaRPr lang="en-US" altLang="en-US" sz="1800" b="1" dirty="0">
              <a:latin typeface="Courier New" panose="02070309020205020404" pitchFamily="49" charset="0"/>
              <a:cs typeface="Courier New" panose="02070309020205020404" pitchFamily="49" charset="0"/>
            </a:endParaRP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9</a:t>
            </a:fld>
            <a:endParaRPr lang="en-US"/>
          </a:p>
        </p:txBody>
      </p:sp>
      <p:sp>
        <p:nvSpPr>
          <p:cNvPr id="5" name="Date Placeholder 4"/>
          <p:cNvSpPr>
            <a:spLocks noGrp="1"/>
          </p:cNvSpPr>
          <p:nvPr>
            <p:ph type="dt" sz="half" idx="10"/>
          </p:nvPr>
        </p:nvSpPr>
        <p:spPr/>
        <p:txBody>
          <a:bodyPr/>
          <a:lstStyle/>
          <a:p>
            <a:pPr>
              <a:defRPr/>
            </a:pPr>
            <a:fld id="{B2A0CC13-E366-4764-A88C-37B4E99A0F7B}" type="datetime1">
              <a:rPr lang="en-US" smtClean="0"/>
              <a:t>8/2/2021</a:t>
            </a:fld>
            <a:endParaRPr lang="en-US"/>
          </a:p>
        </p:txBody>
      </p:sp>
      <p:sp>
        <p:nvSpPr>
          <p:cNvPr id="6" name="Footer Placeholder 5"/>
          <p:cNvSpPr>
            <a:spLocks noGrp="1"/>
          </p:cNvSpPr>
          <p:nvPr>
            <p:ph type="ftr" sz="quarter" idx="11"/>
          </p:nvPr>
        </p:nvSpPr>
        <p:spPr/>
        <p:txBody>
          <a:bodyPr/>
          <a:lstStyle/>
          <a:p>
            <a:pPr>
              <a:defRPr/>
            </a:pPr>
            <a:r>
              <a:rPr lang="en-US"/>
              <a:t>Copyright (c) John K. Ostlund</a:t>
            </a:r>
          </a:p>
        </p:txBody>
      </p:sp>
    </p:spTree>
    <p:extLst>
      <p:ext uri="{BB962C8B-B14F-4D97-AF65-F5344CB8AC3E}">
        <p14:creationId xmlns:p14="http://schemas.microsoft.com/office/powerpoint/2010/main" val="178162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Binary Tree Application (</a:t>
            </a:r>
            <a:r>
              <a:rPr lang="en-US" altLang="en-US" dirty="0" err="1"/>
              <a:t>cont</a:t>
            </a:r>
            <a:r>
              <a:rPr lang="en-US" altLang="en-US" dirty="0"/>
              <a:t>)</a:t>
            </a:r>
            <a:endParaRPr lang="en-US" altLang="en-US" b="1" dirty="0"/>
          </a:p>
        </p:txBody>
      </p:sp>
      <p:sp>
        <p:nvSpPr>
          <p:cNvPr id="43011" name="Rectangle 3"/>
          <p:cNvSpPr>
            <a:spLocks noGrp="1" noChangeArrowheads="1"/>
          </p:cNvSpPr>
          <p:nvPr>
            <p:ph type="body" idx="1"/>
          </p:nvPr>
        </p:nvSpPr>
        <p:spPr/>
        <p:txBody>
          <a:bodyPr/>
          <a:lstStyle/>
          <a:p>
            <a:pPr marL="0" indent="0">
              <a:spcBef>
                <a:spcPts val="0"/>
              </a:spcBef>
              <a:buNone/>
            </a:pPr>
            <a:r>
              <a:rPr lang="en-US" sz="2000" b="1" dirty="0">
                <a:latin typeface="Courier New" panose="02070309020205020404" pitchFamily="49" charset="0"/>
                <a:cs typeface="Courier New" panose="02070309020205020404" pitchFamily="49" charset="0"/>
              </a:rPr>
              <a:t># File: BT_app.py</a:t>
            </a:r>
          </a:p>
          <a:p>
            <a:pPr marL="0" indent="0">
              <a:spcBef>
                <a:spcPts val="0"/>
              </a:spcBef>
              <a:buNone/>
            </a:pPr>
            <a:r>
              <a:rPr lang="en-US" sz="2000" b="1" dirty="0">
                <a:latin typeface="Courier New" panose="02070309020205020404" pitchFamily="49" charset="0"/>
                <a:cs typeface="Courier New" panose="02070309020205020404" pitchFamily="49" charset="0"/>
              </a:rPr>
              <a:t>...</a:t>
            </a:r>
          </a:p>
          <a:p>
            <a:pPr marL="0" indent="0">
              <a:spcBef>
                <a:spcPts val="0"/>
              </a:spcBef>
              <a:buNone/>
            </a:pPr>
            <a:r>
              <a:rPr lang="en-US" sz="2000" b="1" dirty="0">
                <a:latin typeface="Courier New" panose="02070309020205020404" pitchFamily="49" charset="0"/>
                <a:cs typeface="Courier New" panose="02070309020205020404" pitchFamily="49" charset="0"/>
              </a:rPr>
              <a:t>bt1.insert(7)</a:t>
            </a:r>
          </a:p>
          <a:p>
            <a:pPr marL="0" indent="0">
              <a:spcBef>
                <a:spcPts val="0"/>
              </a:spcBef>
              <a:buNone/>
            </a:pPr>
            <a:r>
              <a:rPr lang="en-US" sz="2000" b="1" dirty="0">
                <a:solidFill>
                  <a:srgbClr val="FF0000"/>
                </a:solidFill>
                <a:latin typeface="Courier New" panose="02070309020205020404" pitchFamily="49" charset="0"/>
                <a:cs typeface="Courier New" panose="02070309020205020404" pitchFamily="49" charset="0"/>
              </a:rPr>
              <a:t>bt1.insert(13)</a:t>
            </a:r>
          </a:p>
          <a:p>
            <a:pPr marL="0" indent="0">
              <a:spcBef>
                <a:spcPts val="0"/>
              </a:spcBef>
              <a:buNone/>
            </a:pPr>
            <a:r>
              <a:rPr lang="en-US" sz="2000" b="1" dirty="0">
                <a:solidFill>
                  <a:srgbClr val="00B050"/>
                </a:solidFill>
                <a:latin typeface="Courier New" panose="02070309020205020404" pitchFamily="49" charset="0"/>
                <a:cs typeface="Courier New" panose="02070309020205020404" pitchFamily="49" charset="0"/>
              </a:rPr>
              <a:t>bt1.insert(-4)</a:t>
            </a:r>
          </a:p>
          <a:p>
            <a:pPr marL="0" indent="0" eaLnBrk="1" hangingPunct="1">
              <a:buNone/>
            </a:pPr>
            <a:endParaRPr lang="en-US" altLang="en-US" sz="1800" b="1" dirty="0">
              <a:latin typeface="Courier New" panose="02070309020205020404" pitchFamily="49" charset="0"/>
              <a:cs typeface="Courier New" panose="02070309020205020404" pitchFamily="49" charset="0"/>
            </a:endParaRP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10</a:t>
            </a:fld>
            <a:endParaRPr lang="en-US"/>
          </a:p>
        </p:txBody>
      </p:sp>
      <p:sp>
        <p:nvSpPr>
          <p:cNvPr id="5" name="Date Placeholder 4"/>
          <p:cNvSpPr>
            <a:spLocks noGrp="1"/>
          </p:cNvSpPr>
          <p:nvPr>
            <p:ph type="dt" sz="half" idx="10"/>
          </p:nvPr>
        </p:nvSpPr>
        <p:spPr/>
        <p:txBody>
          <a:bodyPr/>
          <a:lstStyle/>
          <a:p>
            <a:pPr>
              <a:defRPr/>
            </a:pPr>
            <a:fld id="{B2A0CC13-E366-4764-A88C-37B4E99A0F7B}" type="datetime1">
              <a:rPr lang="en-US" smtClean="0"/>
              <a:t>8/2/2021</a:t>
            </a:fld>
            <a:endParaRPr lang="en-US"/>
          </a:p>
        </p:txBody>
      </p:sp>
      <p:sp>
        <p:nvSpPr>
          <p:cNvPr id="6" name="Footer Placeholder 5"/>
          <p:cNvSpPr>
            <a:spLocks noGrp="1"/>
          </p:cNvSpPr>
          <p:nvPr>
            <p:ph type="ftr" sz="quarter" idx="11"/>
          </p:nvPr>
        </p:nvSpPr>
        <p:spPr/>
        <p:txBody>
          <a:bodyPr/>
          <a:lstStyle/>
          <a:p>
            <a:pPr>
              <a:defRPr/>
            </a:pPr>
            <a:r>
              <a:rPr lang="en-US"/>
              <a:t>Copyright (c) John K. Ostlund</a:t>
            </a:r>
          </a:p>
        </p:txBody>
      </p:sp>
      <p:cxnSp>
        <p:nvCxnSpPr>
          <p:cNvPr id="7" name="Straight Arrow Connector 6">
            <a:extLst>
              <a:ext uri="{FF2B5EF4-FFF2-40B4-BE49-F238E27FC236}">
                <a16:creationId xmlns:a16="http://schemas.microsoft.com/office/drawing/2014/main" id="{FC054F9D-9431-41C4-9B4B-9400DFF294ED}"/>
              </a:ext>
            </a:extLst>
          </p:cNvPr>
          <p:cNvCxnSpPr>
            <a:cxnSpLocks/>
            <a:stCxn id="9" idx="3"/>
          </p:cNvCxnSpPr>
          <p:nvPr/>
        </p:nvCxnSpPr>
        <p:spPr bwMode="auto">
          <a:xfrm>
            <a:off x="3486150" y="4136542"/>
            <a:ext cx="673768" cy="0"/>
          </a:xfrm>
          <a:prstGeom prst="straightConnector1">
            <a:avLst/>
          </a:prstGeom>
          <a:solidFill>
            <a:schemeClr val="accent1"/>
          </a:solidFill>
          <a:ln w="38100" cap="sq" cmpd="sng" algn="ctr">
            <a:solidFill>
              <a:schemeClr val="tx1"/>
            </a:solidFill>
            <a:prstDash val="sysDash"/>
            <a:round/>
            <a:headEnd type="none" w="sm" len="sm"/>
            <a:tailEnd type="none"/>
          </a:ln>
          <a:effectLst/>
        </p:spPr>
      </p:cxnSp>
      <p:sp>
        <p:nvSpPr>
          <p:cNvPr id="8" name="Rectangle 7">
            <a:extLst>
              <a:ext uri="{FF2B5EF4-FFF2-40B4-BE49-F238E27FC236}">
                <a16:creationId xmlns:a16="http://schemas.microsoft.com/office/drawing/2014/main" id="{F84CB2FE-3D74-4EAD-935B-3E15410C609E}"/>
              </a:ext>
            </a:extLst>
          </p:cNvPr>
          <p:cNvSpPr/>
          <p:nvPr/>
        </p:nvSpPr>
        <p:spPr bwMode="auto">
          <a:xfrm>
            <a:off x="2476500" y="3747703"/>
            <a:ext cx="1207168" cy="838198"/>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9" name="TextBox 8">
            <a:extLst>
              <a:ext uri="{FF2B5EF4-FFF2-40B4-BE49-F238E27FC236}">
                <a16:creationId xmlns:a16="http://schemas.microsoft.com/office/drawing/2014/main" id="{4E32DC85-E750-48B6-A0C3-66AC4718F127}"/>
              </a:ext>
            </a:extLst>
          </p:cNvPr>
          <p:cNvSpPr txBox="1"/>
          <p:nvPr/>
        </p:nvSpPr>
        <p:spPr>
          <a:xfrm>
            <a:off x="2647950" y="3951876"/>
            <a:ext cx="838200" cy="369332"/>
          </a:xfrm>
          <a:prstGeom prst="rect">
            <a:avLst/>
          </a:prstGeom>
          <a:noFill/>
        </p:spPr>
        <p:txBody>
          <a:bodyPr wrap="square" rtlCol="0">
            <a:spAutoFit/>
          </a:bodyPr>
          <a:lstStyle/>
          <a:p>
            <a:pPr algn="ctr"/>
            <a:r>
              <a:rPr lang="en-US" b="1" dirty="0">
                <a:latin typeface="Courier New" panose="02070309020205020404" pitchFamily="49" charset="0"/>
                <a:cs typeface="Courier New" panose="02070309020205020404" pitchFamily="49" charset="0"/>
              </a:rPr>
              <a:t>top</a:t>
            </a:r>
          </a:p>
        </p:txBody>
      </p:sp>
      <p:cxnSp>
        <p:nvCxnSpPr>
          <p:cNvPr id="10" name="Straight Arrow Connector 9">
            <a:extLst>
              <a:ext uri="{FF2B5EF4-FFF2-40B4-BE49-F238E27FC236}">
                <a16:creationId xmlns:a16="http://schemas.microsoft.com/office/drawing/2014/main" id="{1A4603CB-3B90-4596-B5BC-CABBD7B0C724}"/>
              </a:ext>
            </a:extLst>
          </p:cNvPr>
          <p:cNvCxnSpPr>
            <a:cxnSpLocks/>
            <a:stCxn id="11" idx="3"/>
          </p:cNvCxnSpPr>
          <p:nvPr/>
        </p:nvCxnSpPr>
        <p:spPr bwMode="auto">
          <a:xfrm>
            <a:off x="2000250" y="4114802"/>
            <a:ext cx="438150" cy="0"/>
          </a:xfrm>
          <a:prstGeom prst="straightConnector1">
            <a:avLst/>
          </a:prstGeom>
          <a:solidFill>
            <a:schemeClr val="accent1"/>
          </a:solidFill>
          <a:ln w="38100" cap="sq" cmpd="sng" algn="ctr">
            <a:solidFill>
              <a:schemeClr val="tx1"/>
            </a:solidFill>
            <a:prstDash val="sysDash"/>
            <a:round/>
            <a:headEnd type="none" w="sm" len="sm"/>
            <a:tailEnd type="none"/>
          </a:ln>
          <a:effectLst/>
        </p:spPr>
      </p:cxnSp>
      <p:sp>
        <p:nvSpPr>
          <p:cNvPr id="11" name="TextBox 10">
            <a:extLst>
              <a:ext uri="{FF2B5EF4-FFF2-40B4-BE49-F238E27FC236}">
                <a16:creationId xmlns:a16="http://schemas.microsoft.com/office/drawing/2014/main" id="{AEC2EE02-B42B-4F4D-BD3D-F9DDB036F5A7}"/>
              </a:ext>
            </a:extLst>
          </p:cNvPr>
          <p:cNvSpPr txBox="1"/>
          <p:nvPr/>
        </p:nvSpPr>
        <p:spPr>
          <a:xfrm>
            <a:off x="1162050" y="3930136"/>
            <a:ext cx="838200" cy="369332"/>
          </a:xfrm>
          <a:prstGeom prst="rect">
            <a:avLst/>
          </a:prstGeom>
          <a:noFill/>
        </p:spPr>
        <p:txBody>
          <a:bodyPr wrap="square" rtlCol="0">
            <a:spAutoFit/>
          </a:bodyPr>
          <a:lstStyle/>
          <a:p>
            <a:pPr algn="ctr"/>
            <a:r>
              <a:rPr lang="en-US" b="1" dirty="0">
                <a:latin typeface="Courier New" panose="02070309020205020404" pitchFamily="49" charset="0"/>
                <a:cs typeface="Courier New" panose="02070309020205020404" pitchFamily="49" charset="0"/>
              </a:rPr>
              <a:t>bt1</a:t>
            </a:r>
          </a:p>
        </p:txBody>
      </p:sp>
      <p:grpSp>
        <p:nvGrpSpPr>
          <p:cNvPr id="13" name="Group 5">
            <a:extLst>
              <a:ext uri="{FF2B5EF4-FFF2-40B4-BE49-F238E27FC236}">
                <a16:creationId xmlns:a16="http://schemas.microsoft.com/office/drawing/2014/main" id="{220FFD0A-951F-45B5-BA40-37CA5B1E3BA2}"/>
              </a:ext>
            </a:extLst>
          </p:cNvPr>
          <p:cNvGrpSpPr/>
          <p:nvPr/>
        </p:nvGrpSpPr>
        <p:grpSpPr>
          <a:xfrm>
            <a:off x="4249615" y="3810000"/>
            <a:ext cx="762000" cy="685800"/>
            <a:chOff x="3962400" y="2590800"/>
            <a:chExt cx="762000" cy="685800"/>
          </a:xfrm>
        </p:grpSpPr>
        <p:sp>
          <p:nvSpPr>
            <p:cNvPr id="14" name="Rectangle 13">
              <a:extLst>
                <a:ext uri="{FF2B5EF4-FFF2-40B4-BE49-F238E27FC236}">
                  <a16:creationId xmlns:a16="http://schemas.microsoft.com/office/drawing/2014/main" id="{186F4898-2BA5-4D77-9005-2AAA0D40D1F8}"/>
                </a:ext>
              </a:extLst>
            </p:cNvPr>
            <p:cNvSpPr/>
            <p:nvPr/>
          </p:nvSpPr>
          <p:spPr bwMode="auto">
            <a:xfrm>
              <a:off x="3962400" y="2590800"/>
              <a:ext cx="762000" cy="6858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15" name="Rectangle 14">
              <a:extLst>
                <a:ext uri="{FF2B5EF4-FFF2-40B4-BE49-F238E27FC236}">
                  <a16:creationId xmlns:a16="http://schemas.microsoft.com/office/drawing/2014/main" id="{38C802C7-719F-4921-A873-6BDD2E70990B}"/>
                </a:ext>
              </a:extLst>
            </p:cNvPr>
            <p:cNvSpPr/>
            <p:nvPr/>
          </p:nvSpPr>
          <p:spPr bwMode="auto">
            <a:xfrm>
              <a:off x="3962400" y="2933700"/>
              <a:ext cx="762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16" name="Rectangle 15">
              <a:extLst>
                <a:ext uri="{FF2B5EF4-FFF2-40B4-BE49-F238E27FC236}">
                  <a16:creationId xmlns:a16="http://schemas.microsoft.com/office/drawing/2014/main" id="{C6E0D3D1-1204-4ECC-8420-87A2FCFA8AE9}"/>
                </a:ext>
              </a:extLst>
            </p:cNvPr>
            <p:cNvSpPr/>
            <p:nvPr/>
          </p:nvSpPr>
          <p:spPr bwMode="auto">
            <a:xfrm>
              <a:off x="3962400" y="2933700"/>
              <a:ext cx="381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grpSp>
      <p:sp>
        <p:nvSpPr>
          <p:cNvPr id="17" name="TextBox 16">
            <a:extLst>
              <a:ext uri="{FF2B5EF4-FFF2-40B4-BE49-F238E27FC236}">
                <a16:creationId xmlns:a16="http://schemas.microsoft.com/office/drawing/2014/main" id="{973B3668-BD3D-4A11-B0EE-81D49680AAC2}"/>
              </a:ext>
            </a:extLst>
          </p:cNvPr>
          <p:cNvSpPr txBox="1"/>
          <p:nvPr/>
        </p:nvSpPr>
        <p:spPr>
          <a:xfrm>
            <a:off x="4287715" y="3805561"/>
            <a:ext cx="685800" cy="369332"/>
          </a:xfrm>
          <a:prstGeom prst="rect">
            <a:avLst/>
          </a:prstGeom>
          <a:noFill/>
          <a:ln>
            <a:noFill/>
          </a:ln>
        </p:spPr>
        <p:txBody>
          <a:bodyPr wrap="square" rtlCol="0">
            <a:spAutoFit/>
          </a:bodyPr>
          <a:lstStyle/>
          <a:p>
            <a:pPr algn="ctr"/>
            <a:r>
              <a:rPr lang="en-US" b="1" dirty="0"/>
              <a:t>12</a:t>
            </a:r>
          </a:p>
        </p:txBody>
      </p:sp>
      <p:grpSp>
        <p:nvGrpSpPr>
          <p:cNvPr id="18" name="Group 5">
            <a:extLst>
              <a:ext uri="{FF2B5EF4-FFF2-40B4-BE49-F238E27FC236}">
                <a16:creationId xmlns:a16="http://schemas.microsoft.com/office/drawing/2014/main" id="{3B6C8997-BEEA-4279-8501-669AE61B4017}"/>
              </a:ext>
            </a:extLst>
          </p:cNvPr>
          <p:cNvGrpSpPr/>
          <p:nvPr/>
        </p:nvGrpSpPr>
        <p:grpSpPr>
          <a:xfrm>
            <a:off x="3810000" y="4800600"/>
            <a:ext cx="762000" cy="685800"/>
            <a:chOff x="3962400" y="2590800"/>
            <a:chExt cx="762000" cy="685800"/>
          </a:xfrm>
        </p:grpSpPr>
        <p:sp>
          <p:nvSpPr>
            <p:cNvPr id="19" name="Rectangle 18">
              <a:extLst>
                <a:ext uri="{FF2B5EF4-FFF2-40B4-BE49-F238E27FC236}">
                  <a16:creationId xmlns:a16="http://schemas.microsoft.com/office/drawing/2014/main" id="{CD29F520-CE04-4A59-98CD-0FF481E1387D}"/>
                </a:ext>
              </a:extLst>
            </p:cNvPr>
            <p:cNvSpPr/>
            <p:nvPr/>
          </p:nvSpPr>
          <p:spPr bwMode="auto">
            <a:xfrm>
              <a:off x="3962400" y="2590800"/>
              <a:ext cx="762000" cy="6858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20" name="Rectangle 19">
              <a:extLst>
                <a:ext uri="{FF2B5EF4-FFF2-40B4-BE49-F238E27FC236}">
                  <a16:creationId xmlns:a16="http://schemas.microsoft.com/office/drawing/2014/main" id="{2292C43F-8C19-4484-A5F8-00F6103BD1D9}"/>
                </a:ext>
              </a:extLst>
            </p:cNvPr>
            <p:cNvSpPr/>
            <p:nvPr/>
          </p:nvSpPr>
          <p:spPr bwMode="auto">
            <a:xfrm>
              <a:off x="3962400" y="2933700"/>
              <a:ext cx="762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21" name="Rectangle 20">
              <a:extLst>
                <a:ext uri="{FF2B5EF4-FFF2-40B4-BE49-F238E27FC236}">
                  <a16:creationId xmlns:a16="http://schemas.microsoft.com/office/drawing/2014/main" id="{5C9BCFB8-B00C-47B8-A942-A585F5C350FC}"/>
                </a:ext>
              </a:extLst>
            </p:cNvPr>
            <p:cNvSpPr/>
            <p:nvPr/>
          </p:nvSpPr>
          <p:spPr bwMode="auto">
            <a:xfrm>
              <a:off x="3962400" y="2933700"/>
              <a:ext cx="381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grpSp>
      <p:sp>
        <p:nvSpPr>
          <p:cNvPr id="22" name="TextBox 21">
            <a:extLst>
              <a:ext uri="{FF2B5EF4-FFF2-40B4-BE49-F238E27FC236}">
                <a16:creationId xmlns:a16="http://schemas.microsoft.com/office/drawing/2014/main" id="{88BA548F-B851-4BBF-B5EA-952EFE6DF71B}"/>
              </a:ext>
            </a:extLst>
          </p:cNvPr>
          <p:cNvSpPr txBox="1"/>
          <p:nvPr/>
        </p:nvSpPr>
        <p:spPr>
          <a:xfrm>
            <a:off x="3848100" y="4796161"/>
            <a:ext cx="685800" cy="369332"/>
          </a:xfrm>
          <a:prstGeom prst="rect">
            <a:avLst/>
          </a:prstGeom>
          <a:noFill/>
          <a:ln>
            <a:noFill/>
          </a:ln>
        </p:spPr>
        <p:txBody>
          <a:bodyPr wrap="square" rtlCol="0">
            <a:spAutoFit/>
          </a:bodyPr>
          <a:lstStyle/>
          <a:p>
            <a:pPr algn="ctr"/>
            <a:r>
              <a:rPr lang="en-US" b="1" dirty="0"/>
              <a:t>7</a:t>
            </a:r>
          </a:p>
        </p:txBody>
      </p:sp>
      <p:cxnSp>
        <p:nvCxnSpPr>
          <p:cNvPr id="23" name="Straight Arrow Connector 22">
            <a:extLst>
              <a:ext uri="{FF2B5EF4-FFF2-40B4-BE49-F238E27FC236}">
                <a16:creationId xmlns:a16="http://schemas.microsoft.com/office/drawing/2014/main" id="{379BAAA5-9CB8-437B-B722-AF19C8AB95E9}"/>
              </a:ext>
            </a:extLst>
          </p:cNvPr>
          <p:cNvCxnSpPr>
            <a:cxnSpLocks/>
            <a:stCxn id="22" idx="0"/>
          </p:cNvCxnSpPr>
          <p:nvPr/>
        </p:nvCxnSpPr>
        <p:spPr bwMode="auto">
          <a:xfrm flipV="1">
            <a:off x="4191000" y="4321209"/>
            <a:ext cx="277127" cy="474952"/>
          </a:xfrm>
          <a:prstGeom prst="straightConnector1">
            <a:avLst/>
          </a:prstGeom>
          <a:solidFill>
            <a:schemeClr val="accent1"/>
          </a:solidFill>
          <a:ln w="38100" cap="sq" cmpd="sng" algn="ctr">
            <a:solidFill>
              <a:schemeClr val="tx1"/>
            </a:solidFill>
            <a:prstDash val="sysDash"/>
            <a:round/>
            <a:headEnd type="none" w="sm" len="sm"/>
            <a:tailEnd type="none"/>
          </a:ln>
          <a:effectLst/>
        </p:spPr>
      </p:cxnSp>
      <p:grpSp>
        <p:nvGrpSpPr>
          <p:cNvPr id="24" name="Group 5">
            <a:extLst>
              <a:ext uri="{FF2B5EF4-FFF2-40B4-BE49-F238E27FC236}">
                <a16:creationId xmlns:a16="http://schemas.microsoft.com/office/drawing/2014/main" id="{B69AA0DF-C12E-4873-BB47-ACB47E022379}"/>
              </a:ext>
            </a:extLst>
          </p:cNvPr>
          <p:cNvGrpSpPr/>
          <p:nvPr/>
        </p:nvGrpSpPr>
        <p:grpSpPr>
          <a:xfrm>
            <a:off x="4953000" y="4800600"/>
            <a:ext cx="762000" cy="685800"/>
            <a:chOff x="3962400" y="2590800"/>
            <a:chExt cx="762000" cy="685800"/>
          </a:xfrm>
        </p:grpSpPr>
        <p:sp>
          <p:nvSpPr>
            <p:cNvPr id="25" name="Rectangle 24">
              <a:extLst>
                <a:ext uri="{FF2B5EF4-FFF2-40B4-BE49-F238E27FC236}">
                  <a16:creationId xmlns:a16="http://schemas.microsoft.com/office/drawing/2014/main" id="{45C4BE7A-5002-4BA3-B4E3-759B3D3579DA}"/>
                </a:ext>
              </a:extLst>
            </p:cNvPr>
            <p:cNvSpPr/>
            <p:nvPr/>
          </p:nvSpPr>
          <p:spPr bwMode="auto">
            <a:xfrm>
              <a:off x="3962400" y="2590800"/>
              <a:ext cx="762000" cy="685800"/>
            </a:xfrm>
            <a:prstGeom prst="rect">
              <a:avLst/>
            </a:prstGeom>
            <a:noFill/>
            <a:ln w="28575" cap="sq"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26" name="Rectangle 25">
              <a:extLst>
                <a:ext uri="{FF2B5EF4-FFF2-40B4-BE49-F238E27FC236}">
                  <a16:creationId xmlns:a16="http://schemas.microsoft.com/office/drawing/2014/main" id="{34F51C94-BDFF-46A2-9F27-FDCB6A8A23D1}"/>
                </a:ext>
              </a:extLst>
            </p:cNvPr>
            <p:cNvSpPr/>
            <p:nvPr/>
          </p:nvSpPr>
          <p:spPr bwMode="auto">
            <a:xfrm>
              <a:off x="3962400" y="2933700"/>
              <a:ext cx="762000" cy="342900"/>
            </a:xfrm>
            <a:prstGeom prst="rect">
              <a:avLst/>
            </a:prstGeom>
            <a:noFill/>
            <a:ln w="28575" cap="sq"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27" name="Rectangle 26">
              <a:extLst>
                <a:ext uri="{FF2B5EF4-FFF2-40B4-BE49-F238E27FC236}">
                  <a16:creationId xmlns:a16="http://schemas.microsoft.com/office/drawing/2014/main" id="{BFF97EBB-F91F-4A7D-BEA7-0288754E75B8}"/>
                </a:ext>
              </a:extLst>
            </p:cNvPr>
            <p:cNvSpPr/>
            <p:nvPr/>
          </p:nvSpPr>
          <p:spPr bwMode="auto">
            <a:xfrm>
              <a:off x="3962400" y="2933700"/>
              <a:ext cx="381000" cy="342900"/>
            </a:xfrm>
            <a:prstGeom prst="rect">
              <a:avLst/>
            </a:prstGeom>
            <a:noFill/>
            <a:ln w="28575" cap="sq"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grpSp>
      <p:sp>
        <p:nvSpPr>
          <p:cNvPr id="28" name="TextBox 27">
            <a:extLst>
              <a:ext uri="{FF2B5EF4-FFF2-40B4-BE49-F238E27FC236}">
                <a16:creationId xmlns:a16="http://schemas.microsoft.com/office/drawing/2014/main" id="{6799332A-AC99-4C1F-A8C8-DA9035277A44}"/>
              </a:ext>
            </a:extLst>
          </p:cNvPr>
          <p:cNvSpPr txBox="1"/>
          <p:nvPr/>
        </p:nvSpPr>
        <p:spPr>
          <a:xfrm>
            <a:off x="4991100" y="4796161"/>
            <a:ext cx="685800" cy="369332"/>
          </a:xfrm>
          <a:prstGeom prst="rect">
            <a:avLst/>
          </a:prstGeom>
          <a:noFill/>
          <a:ln>
            <a:noFill/>
          </a:ln>
        </p:spPr>
        <p:txBody>
          <a:bodyPr wrap="square" rtlCol="0">
            <a:spAutoFit/>
          </a:bodyPr>
          <a:lstStyle/>
          <a:p>
            <a:pPr algn="ctr"/>
            <a:r>
              <a:rPr lang="en-US" b="1" dirty="0">
                <a:solidFill>
                  <a:srgbClr val="FF0000"/>
                </a:solidFill>
              </a:rPr>
              <a:t>13</a:t>
            </a:r>
          </a:p>
        </p:txBody>
      </p:sp>
      <p:cxnSp>
        <p:nvCxnSpPr>
          <p:cNvPr id="29" name="Straight Arrow Connector 28">
            <a:extLst>
              <a:ext uri="{FF2B5EF4-FFF2-40B4-BE49-F238E27FC236}">
                <a16:creationId xmlns:a16="http://schemas.microsoft.com/office/drawing/2014/main" id="{0C0831B0-FA52-4A17-8504-8D25854093D9}"/>
              </a:ext>
            </a:extLst>
          </p:cNvPr>
          <p:cNvCxnSpPr>
            <a:cxnSpLocks/>
            <a:stCxn id="28" idx="0"/>
          </p:cNvCxnSpPr>
          <p:nvPr/>
        </p:nvCxnSpPr>
        <p:spPr bwMode="auto">
          <a:xfrm flipH="1" flipV="1">
            <a:off x="4800600" y="4321208"/>
            <a:ext cx="533400" cy="474953"/>
          </a:xfrm>
          <a:prstGeom prst="straightConnector1">
            <a:avLst/>
          </a:prstGeom>
          <a:solidFill>
            <a:schemeClr val="accent1"/>
          </a:solidFill>
          <a:ln w="38100" cap="sq" cmpd="sng" algn="ctr">
            <a:solidFill>
              <a:srgbClr val="FF0000"/>
            </a:solidFill>
            <a:prstDash val="sysDash"/>
            <a:round/>
            <a:headEnd type="none" w="sm" len="sm"/>
            <a:tailEnd type="none"/>
          </a:ln>
          <a:effectLst/>
        </p:spPr>
      </p:cxnSp>
      <p:grpSp>
        <p:nvGrpSpPr>
          <p:cNvPr id="30" name="Group 5">
            <a:extLst>
              <a:ext uri="{FF2B5EF4-FFF2-40B4-BE49-F238E27FC236}">
                <a16:creationId xmlns:a16="http://schemas.microsoft.com/office/drawing/2014/main" id="{582F5763-C53E-45AA-BACD-9684194AB96C}"/>
              </a:ext>
            </a:extLst>
          </p:cNvPr>
          <p:cNvGrpSpPr/>
          <p:nvPr/>
        </p:nvGrpSpPr>
        <p:grpSpPr>
          <a:xfrm>
            <a:off x="2819400" y="5719439"/>
            <a:ext cx="762000" cy="685800"/>
            <a:chOff x="3962400" y="2590800"/>
            <a:chExt cx="762000" cy="685800"/>
          </a:xfrm>
        </p:grpSpPr>
        <p:sp>
          <p:nvSpPr>
            <p:cNvPr id="31" name="Rectangle 30">
              <a:extLst>
                <a:ext uri="{FF2B5EF4-FFF2-40B4-BE49-F238E27FC236}">
                  <a16:creationId xmlns:a16="http://schemas.microsoft.com/office/drawing/2014/main" id="{0D80ACAC-4A5C-4ECB-BD97-0B346B41E3E1}"/>
                </a:ext>
              </a:extLst>
            </p:cNvPr>
            <p:cNvSpPr/>
            <p:nvPr/>
          </p:nvSpPr>
          <p:spPr bwMode="auto">
            <a:xfrm>
              <a:off x="3962400" y="2590800"/>
              <a:ext cx="762000" cy="685800"/>
            </a:xfrm>
            <a:prstGeom prst="rect">
              <a:avLst/>
            </a:prstGeom>
            <a:noFill/>
            <a:ln w="28575" cap="sq" cmpd="sng" algn="ctr">
              <a:solidFill>
                <a:srgbClr val="00B05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32" name="Rectangle 31">
              <a:extLst>
                <a:ext uri="{FF2B5EF4-FFF2-40B4-BE49-F238E27FC236}">
                  <a16:creationId xmlns:a16="http://schemas.microsoft.com/office/drawing/2014/main" id="{BEBE601F-B16D-448F-8750-471AC5790439}"/>
                </a:ext>
              </a:extLst>
            </p:cNvPr>
            <p:cNvSpPr/>
            <p:nvPr/>
          </p:nvSpPr>
          <p:spPr bwMode="auto">
            <a:xfrm>
              <a:off x="3962400" y="2933700"/>
              <a:ext cx="762000" cy="342900"/>
            </a:xfrm>
            <a:prstGeom prst="rect">
              <a:avLst/>
            </a:prstGeom>
            <a:noFill/>
            <a:ln w="28575" cap="sq" cmpd="sng" algn="ctr">
              <a:solidFill>
                <a:srgbClr val="00B05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33" name="Rectangle 32">
              <a:extLst>
                <a:ext uri="{FF2B5EF4-FFF2-40B4-BE49-F238E27FC236}">
                  <a16:creationId xmlns:a16="http://schemas.microsoft.com/office/drawing/2014/main" id="{298DBF55-BFE5-4F4A-BF0F-69A8B4DE02E6}"/>
                </a:ext>
              </a:extLst>
            </p:cNvPr>
            <p:cNvSpPr/>
            <p:nvPr/>
          </p:nvSpPr>
          <p:spPr bwMode="auto">
            <a:xfrm>
              <a:off x="3962400" y="2933700"/>
              <a:ext cx="381000" cy="342900"/>
            </a:xfrm>
            <a:prstGeom prst="rect">
              <a:avLst/>
            </a:prstGeom>
            <a:noFill/>
            <a:ln w="28575" cap="sq" cmpd="sng" algn="ctr">
              <a:solidFill>
                <a:srgbClr val="00B05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grpSp>
      <p:sp>
        <p:nvSpPr>
          <p:cNvPr id="34" name="TextBox 33">
            <a:extLst>
              <a:ext uri="{FF2B5EF4-FFF2-40B4-BE49-F238E27FC236}">
                <a16:creationId xmlns:a16="http://schemas.microsoft.com/office/drawing/2014/main" id="{EA0A93E9-F2A0-4CEA-9903-CB4AF0BB17FE}"/>
              </a:ext>
            </a:extLst>
          </p:cNvPr>
          <p:cNvSpPr txBox="1"/>
          <p:nvPr/>
        </p:nvSpPr>
        <p:spPr>
          <a:xfrm>
            <a:off x="2857500" y="5715000"/>
            <a:ext cx="685800" cy="369332"/>
          </a:xfrm>
          <a:prstGeom prst="rect">
            <a:avLst/>
          </a:prstGeom>
          <a:noFill/>
          <a:ln>
            <a:noFill/>
          </a:ln>
        </p:spPr>
        <p:txBody>
          <a:bodyPr wrap="square" rtlCol="0">
            <a:spAutoFit/>
          </a:bodyPr>
          <a:lstStyle/>
          <a:p>
            <a:pPr algn="ctr"/>
            <a:r>
              <a:rPr lang="en-US" b="1" dirty="0">
                <a:solidFill>
                  <a:srgbClr val="00B050"/>
                </a:solidFill>
              </a:rPr>
              <a:t>-4</a:t>
            </a:r>
          </a:p>
        </p:txBody>
      </p:sp>
      <p:cxnSp>
        <p:nvCxnSpPr>
          <p:cNvPr id="35" name="Straight Arrow Connector 34">
            <a:extLst>
              <a:ext uri="{FF2B5EF4-FFF2-40B4-BE49-F238E27FC236}">
                <a16:creationId xmlns:a16="http://schemas.microsoft.com/office/drawing/2014/main" id="{ABE17322-F772-4F17-A37B-5FA19FC01F05}"/>
              </a:ext>
            </a:extLst>
          </p:cNvPr>
          <p:cNvCxnSpPr>
            <a:cxnSpLocks/>
            <a:stCxn id="34" idx="0"/>
          </p:cNvCxnSpPr>
          <p:nvPr/>
        </p:nvCxnSpPr>
        <p:spPr bwMode="auto">
          <a:xfrm flipV="1">
            <a:off x="3200400" y="5334000"/>
            <a:ext cx="762000" cy="381000"/>
          </a:xfrm>
          <a:prstGeom prst="straightConnector1">
            <a:avLst/>
          </a:prstGeom>
          <a:solidFill>
            <a:schemeClr val="accent1"/>
          </a:solidFill>
          <a:ln w="38100" cap="sq" cmpd="sng" algn="ctr">
            <a:solidFill>
              <a:srgbClr val="00B050"/>
            </a:solidFill>
            <a:prstDash val="sysDash"/>
            <a:round/>
            <a:headEnd type="none" w="sm" len="sm"/>
            <a:tailEnd type="none"/>
          </a:ln>
          <a:effectLst/>
        </p:spPr>
      </p:cxnSp>
    </p:spTree>
    <p:extLst>
      <p:ext uri="{BB962C8B-B14F-4D97-AF65-F5344CB8AC3E}">
        <p14:creationId xmlns:p14="http://schemas.microsoft.com/office/powerpoint/2010/main" val="2875789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Binary Tree Code: </a:t>
            </a:r>
            <a:r>
              <a:rPr lang="en-US" altLang="en-US" b="1" dirty="0"/>
              <a:t>__str__()</a:t>
            </a:r>
          </a:p>
        </p:txBody>
      </p:sp>
      <p:sp>
        <p:nvSpPr>
          <p:cNvPr id="43011" name="Rectangle 3"/>
          <p:cNvSpPr>
            <a:spLocks noGrp="1" noChangeArrowheads="1"/>
          </p:cNvSpPr>
          <p:nvPr>
            <p:ph type="body" idx="1"/>
          </p:nvPr>
        </p:nvSpPr>
        <p:spPr/>
        <p:txBody>
          <a:bodyPr/>
          <a:lstStyle/>
          <a:p>
            <a:pPr marL="0" indent="0">
              <a:spcBef>
                <a:spcPts val="0"/>
              </a:spcBef>
              <a:buNone/>
            </a:pPr>
            <a:r>
              <a:rPr lang="en-US" sz="1800" b="1" dirty="0">
                <a:latin typeface="Courier New" panose="02070309020205020404" pitchFamily="49" charset="0"/>
                <a:cs typeface="Courier New" panose="02070309020205020404" pitchFamily="49" charset="0"/>
              </a:rPr>
              <a:t># File: BinaryTree.py (</a:t>
            </a:r>
            <a:r>
              <a:rPr lang="en-US" sz="1800" b="1" dirty="0" err="1">
                <a:latin typeface="Courier New" panose="02070309020205020404" pitchFamily="49" charset="0"/>
                <a:cs typeface="Courier New" panose="02070309020205020404" pitchFamily="49" charset="0"/>
              </a:rPr>
              <a:t>cont</a:t>
            </a:r>
            <a:r>
              <a:rPr lang="en-US" sz="1800" b="1" dirty="0">
                <a:latin typeface="Courier New" panose="02070309020205020404" pitchFamily="49" charset="0"/>
                <a:cs typeface="Courier New" panose="02070309020205020404" pitchFamily="49" charset="0"/>
              </a:rPr>
              <a:t>)</a:t>
            </a:r>
          </a:p>
          <a:p>
            <a:pPr marL="0" indent="0">
              <a:spcBef>
                <a:spcPts val="0"/>
              </a:spcBef>
              <a:buNone/>
            </a:pPr>
            <a:endParaRPr lang="en-US" sz="1000" b="1" dirty="0">
              <a:latin typeface="Courier New" panose="02070309020205020404" pitchFamily="49" charset="0"/>
              <a:cs typeface="Courier New" panose="02070309020205020404" pitchFamily="49" charset="0"/>
            </a:endParaRPr>
          </a:p>
          <a:p>
            <a:pPr marL="0" indent="0">
              <a:spcBef>
                <a:spcPts val="0"/>
              </a:spcBef>
              <a:buNone/>
            </a:pPr>
            <a:r>
              <a:rPr lang="en-US" sz="1800" b="1" dirty="0">
                <a:latin typeface="Courier New" panose="02070309020205020404" pitchFamily="49" charset="0"/>
                <a:cs typeface="Courier New" panose="02070309020205020404" pitchFamily="49" charset="0"/>
              </a:rPr>
              <a:t>class </a:t>
            </a:r>
            <a:r>
              <a:rPr lang="en-US" sz="1800" b="1" dirty="0" err="1">
                <a:latin typeface="Courier New" panose="02070309020205020404" pitchFamily="49" charset="0"/>
                <a:cs typeface="Courier New" panose="02070309020205020404" pitchFamily="49" charset="0"/>
              </a:rPr>
              <a:t>BinaryTree</a:t>
            </a:r>
            <a:r>
              <a:rPr lang="en-US" sz="1800" b="1" dirty="0">
                <a:latin typeface="Courier New" panose="02070309020205020404" pitchFamily="49" charset="0"/>
                <a:cs typeface="Courier New" panose="02070309020205020404" pitchFamily="49" charset="0"/>
              </a:rPr>
              <a:t>:</a:t>
            </a:r>
          </a:p>
          <a:p>
            <a:pPr marL="0" indent="0">
              <a:spcBef>
                <a:spcPts val="0"/>
              </a:spcBef>
              <a:buNone/>
            </a:pPr>
            <a:r>
              <a:rPr lang="en-US" sz="1000" b="1" dirty="0">
                <a:latin typeface="Courier New" panose="02070309020205020404" pitchFamily="49" charset="0"/>
                <a:cs typeface="Courier New" panose="02070309020205020404" pitchFamily="49" charset="0"/>
              </a:rPr>
              <a:t>... </a:t>
            </a:r>
          </a:p>
          <a:p>
            <a:pPr marL="0" indent="0">
              <a:spcBef>
                <a:spcPts val="0"/>
              </a:spcBef>
              <a:buNone/>
            </a:pPr>
            <a:r>
              <a:rPr lang="en-US" sz="1800" b="1" dirty="0">
                <a:latin typeface="Courier New" panose="02070309020205020404" pitchFamily="49" charset="0"/>
                <a:cs typeface="Courier New" panose="02070309020205020404" pitchFamily="49" charset="0"/>
              </a:rPr>
              <a:t>   def __str__(self):</a:t>
            </a:r>
          </a:p>
          <a:p>
            <a:pPr marL="0" indent="0">
              <a:spcBef>
                <a:spcPts val="0"/>
              </a:spcBef>
              <a:buNone/>
            </a:pPr>
            <a:r>
              <a:rPr lang="en-US" sz="1800" b="1" dirty="0">
                <a:latin typeface="Courier New" panose="02070309020205020404" pitchFamily="49" charset="0"/>
                <a:cs typeface="Courier New" panose="02070309020205020404" pitchFamily="49" charset="0"/>
              </a:rPr>
              <a:t>      return self._</a:t>
            </a:r>
            <a:r>
              <a:rPr lang="en-US" sz="1800" b="1" dirty="0" err="1">
                <a:latin typeface="Courier New" panose="02070309020205020404" pitchFamily="49" charset="0"/>
                <a:cs typeface="Courier New" panose="02070309020205020404" pitchFamily="49" charset="0"/>
              </a:rPr>
              <a:t>str_help</a:t>
            </a:r>
            <a:r>
              <a:rPr lang="en-US" sz="1800" b="1" dirty="0">
                <a:latin typeface="Courier New" panose="02070309020205020404" pitchFamily="49" charset="0"/>
                <a:cs typeface="Courier New" panose="02070309020205020404" pitchFamily="49" charset="0"/>
              </a:rPr>
              <a:t>(</a:t>
            </a:r>
            <a:r>
              <a:rPr lang="en-US" sz="1800" b="1" dirty="0" err="1">
                <a:latin typeface="Courier New" panose="02070309020205020404" pitchFamily="49" charset="0"/>
                <a:cs typeface="Courier New" panose="02070309020205020404" pitchFamily="49" charset="0"/>
              </a:rPr>
              <a:t>self._top</a:t>
            </a:r>
            <a:r>
              <a:rPr lang="en-US" sz="1800" b="1" dirty="0">
                <a:latin typeface="Courier New" panose="02070309020205020404" pitchFamily="49" charset="0"/>
                <a:cs typeface="Courier New" panose="02070309020205020404" pitchFamily="49" charset="0"/>
              </a:rPr>
              <a:t>)</a:t>
            </a:r>
          </a:p>
          <a:p>
            <a:pPr marL="0" indent="0">
              <a:spcBef>
                <a:spcPts val="0"/>
              </a:spcBef>
              <a:buNone/>
            </a:pPr>
            <a:r>
              <a:rPr lang="en-US" sz="1800" b="1" dirty="0">
                <a:latin typeface="Courier New" panose="02070309020205020404" pitchFamily="49" charset="0"/>
                <a:cs typeface="Courier New" panose="02070309020205020404" pitchFamily="49" charset="0"/>
              </a:rPr>
              <a:t>   def _</a:t>
            </a:r>
            <a:r>
              <a:rPr lang="en-US" sz="1800" b="1" dirty="0" err="1">
                <a:latin typeface="Courier New" panose="02070309020205020404" pitchFamily="49" charset="0"/>
                <a:cs typeface="Courier New" panose="02070309020205020404" pitchFamily="49" charset="0"/>
              </a:rPr>
              <a:t>str_help</a:t>
            </a:r>
            <a:r>
              <a:rPr lang="en-US" sz="1800" b="1" dirty="0">
                <a:latin typeface="Courier New" panose="02070309020205020404" pitchFamily="49" charset="0"/>
                <a:cs typeface="Courier New" panose="02070309020205020404" pitchFamily="49" charset="0"/>
              </a:rPr>
              <a:t>(self, </a:t>
            </a:r>
            <a:r>
              <a:rPr lang="en-US" sz="1800" b="1" dirty="0" err="1">
                <a:latin typeface="Courier New" panose="02070309020205020404" pitchFamily="49" charset="0"/>
                <a:cs typeface="Courier New" panose="02070309020205020404" pitchFamily="49" charset="0"/>
              </a:rPr>
              <a:t>cur_node</a:t>
            </a:r>
            <a:r>
              <a:rPr lang="en-US" sz="1800" b="1" dirty="0">
                <a:latin typeface="Courier New" panose="02070309020205020404" pitchFamily="49" charset="0"/>
                <a:cs typeface="Courier New" panose="02070309020205020404" pitchFamily="49" charset="0"/>
              </a:rPr>
              <a:t>):</a:t>
            </a:r>
          </a:p>
          <a:p>
            <a:pPr marL="0" indent="0">
              <a:spcBef>
                <a:spcPts val="0"/>
              </a:spcBef>
              <a:buNone/>
            </a:pPr>
            <a:r>
              <a:rPr lang="en-US" sz="1800" b="1" dirty="0">
                <a:latin typeface="Courier New" panose="02070309020205020404" pitchFamily="49" charset="0"/>
                <a:cs typeface="Courier New" panose="02070309020205020404" pitchFamily="49" charset="0"/>
              </a:rPr>
              <a:t>      if </a:t>
            </a:r>
            <a:r>
              <a:rPr lang="en-US" sz="1800" b="1" dirty="0" err="1">
                <a:latin typeface="Courier New" panose="02070309020205020404" pitchFamily="49" charset="0"/>
                <a:cs typeface="Courier New" panose="02070309020205020404" pitchFamily="49" charset="0"/>
              </a:rPr>
              <a:t>cur_node</a:t>
            </a:r>
            <a:r>
              <a:rPr lang="en-US" sz="1800" b="1" dirty="0">
                <a:latin typeface="Courier New" panose="02070309020205020404" pitchFamily="49" charset="0"/>
                <a:cs typeface="Courier New" panose="02070309020205020404" pitchFamily="49" charset="0"/>
              </a:rPr>
              <a:t> == None:</a:t>
            </a:r>
          </a:p>
          <a:p>
            <a:pPr marL="0" indent="0">
              <a:spcBef>
                <a:spcPts val="0"/>
              </a:spcBef>
              <a:buNone/>
            </a:pPr>
            <a:r>
              <a:rPr lang="en-US" sz="1800" b="1" dirty="0">
                <a:latin typeface="Courier New" panose="02070309020205020404" pitchFamily="49" charset="0"/>
                <a:cs typeface="Courier New" panose="02070309020205020404" pitchFamily="49" charset="0"/>
              </a:rPr>
              <a:t>         return '';</a:t>
            </a:r>
          </a:p>
          <a:p>
            <a:pPr marL="0" indent="0">
              <a:spcBef>
                <a:spcPts val="0"/>
              </a:spcBef>
              <a:buNone/>
            </a:pPr>
            <a:r>
              <a:rPr lang="en-US" sz="1800" b="1" dirty="0">
                <a:latin typeface="Courier New" panose="02070309020205020404" pitchFamily="49" charset="0"/>
                <a:cs typeface="Courier New" panose="02070309020205020404" pitchFamily="49" charset="0"/>
              </a:rPr>
              <a:t>      else:</a:t>
            </a:r>
          </a:p>
          <a:p>
            <a:pPr marL="0" indent="0">
              <a:spcBef>
                <a:spcPts val="0"/>
              </a:spcBef>
              <a:buNone/>
            </a:pPr>
            <a:r>
              <a:rPr lang="en-US" sz="1800" b="1" dirty="0">
                <a:latin typeface="Courier New" panose="02070309020205020404" pitchFamily="49" charset="0"/>
                <a:cs typeface="Courier New" panose="02070309020205020404" pitchFamily="49" charset="0"/>
              </a:rPr>
              <a:t>         ...</a:t>
            </a: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11</a:t>
            </a:fld>
            <a:endParaRPr lang="en-US"/>
          </a:p>
        </p:txBody>
      </p:sp>
      <p:sp>
        <p:nvSpPr>
          <p:cNvPr id="5" name="Date Placeholder 4"/>
          <p:cNvSpPr>
            <a:spLocks noGrp="1"/>
          </p:cNvSpPr>
          <p:nvPr>
            <p:ph type="dt" sz="half" idx="10"/>
          </p:nvPr>
        </p:nvSpPr>
        <p:spPr/>
        <p:txBody>
          <a:bodyPr/>
          <a:lstStyle/>
          <a:p>
            <a:pPr>
              <a:defRPr/>
            </a:pPr>
            <a:fld id="{B2A0CC13-E366-4764-A88C-37B4E99A0F7B}" type="datetime1">
              <a:rPr lang="en-US" smtClean="0"/>
              <a:t>8/2/2021</a:t>
            </a:fld>
            <a:endParaRPr lang="en-US"/>
          </a:p>
        </p:txBody>
      </p:sp>
      <p:sp>
        <p:nvSpPr>
          <p:cNvPr id="6" name="Footer Placeholder 5"/>
          <p:cNvSpPr>
            <a:spLocks noGrp="1"/>
          </p:cNvSpPr>
          <p:nvPr>
            <p:ph type="ftr" sz="quarter" idx="11"/>
          </p:nvPr>
        </p:nvSpPr>
        <p:spPr/>
        <p:txBody>
          <a:bodyPr/>
          <a:lstStyle/>
          <a:p>
            <a:pPr>
              <a:defRPr/>
            </a:pPr>
            <a:r>
              <a:rPr lang="en-US"/>
              <a:t>Copyright (c) John K. Ostlund</a:t>
            </a:r>
          </a:p>
        </p:txBody>
      </p:sp>
    </p:spTree>
    <p:extLst>
      <p:ext uri="{BB962C8B-B14F-4D97-AF65-F5344CB8AC3E}">
        <p14:creationId xmlns:p14="http://schemas.microsoft.com/office/powerpoint/2010/main" val="2896262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Binary Tree Application (</a:t>
            </a:r>
            <a:r>
              <a:rPr lang="en-US" altLang="en-US" dirty="0" err="1"/>
              <a:t>cont</a:t>
            </a:r>
            <a:r>
              <a:rPr lang="en-US" altLang="en-US" dirty="0"/>
              <a:t>)</a:t>
            </a:r>
            <a:endParaRPr lang="en-US" altLang="en-US" b="1" dirty="0"/>
          </a:p>
        </p:txBody>
      </p:sp>
      <p:sp>
        <p:nvSpPr>
          <p:cNvPr id="43011" name="Rectangle 3"/>
          <p:cNvSpPr>
            <a:spLocks noGrp="1" noChangeArrowheads="1"/>
          </p:cNvSpPr>
          <p:nvPr>
            <p:ph type="body" idx="1"/>
          </p:nvPr>
        </p:nvSpPr>
        <p:spPr/>
        <p:txBody>
          <a:bodyPr/>
          <a:lstStyle/>
          <a:p>
            <a:pPr marL="0" indent="0">
              <a:spcBef>
                <a:spcPts val="0"/>
              </a:spcBef>
              <a:buNone/>
            </a:pPr>
            <a:r>
              <a:rPr lang="en-US" sz="2000" b="1" dirty="0">
                <a:latin typeface="Courier New" panose="02070309020205020404" pitchFamily="49" charset="0"/>
                <a:cs typeface="Courier New" panose="02070309020205020404" pitchFamily="49" charset="0"/>
              </a:rPr>
              <a:t># File: BT_app.py</a:t>
            </a:r>
          </a:p>
          <a:p>
            <a:pPr marL="0" indent="0">
              <a:spcBef>
                <a:spcPts val="0"/>
              </a:spcBef>
              <a:buNone/>
            </a:pPr>
            <a:r>
              <a:rPr lang="en-US" sz="2000" b="1" dirty="0">
                <a:latin typeface="Courier New" panose="02070309020205020404" pitchFamily="49" charset="0"/>
                <a:cs typeface="Courier New" panose="02070309020205020404" pitchFamily="49" charset="0"/>
              </a:rPr>
              <a:t>...</a:t>
            </a:r>
          </a:p>
          <a:p>
            <a:pPr marL="0" indent="0">
              <a:spcBef>
                <a:spcPts val="0"/>
              </a:spcBef>
              <a:buNone/>
            </a:pPr>
            <a:r>
              <a:rPr lang="en-US" sz="2000" b="1" dirty="0">
                <a:latin typeface="Courier New" panose="02070309020205020404" pitchFamily="49" charset="0"/>
                <a:cs typeface="Courier New" panose="02070309020205020404" pitchFamily="49" charset="0"/>
              </a:rPr>
              <a:t>bt2 = </a:t>
            </a:r>
            <a:r>
              <a:rPr lang="en-US" sz="2000" b="1" dirty="0" err="1">
                <a:latin typeface="Courier New" panose="02070309020205020404" pitchFamily="49" charset="0"/>
                <a:cs typeface="Courier New" panose="02070309020205020404" pitchFamily="49" charset="0"/>
              </a:rPr>
              <a:t>bt.BinaryTree</a:t>
            </a:r>
            <a:r>
              <a:rPr lang="en-US" sz="2000" b="1" dirty="0">
                <a:latin typeface="Courier New" panose="02070309020205020404" pitchFamily="49" charset="0"/>
                <a:cs typeface="Courier New" panose="02070309020205020404" pitchFamily="49" charset="0"/>
              </a:rPr>
              <a:t>()   # an empty tree</a:t>
            </a:r>
          </a:p>
          <a:p>
            <a:pPr marL="0" indent="0">
              <a:spcBef>
                <a:spcPts val="0"/>
              </a:spcBef>
              <a:buNone/>
            </a:pPr>
            <a:r>
              <a:rPr lang="en-US" sz="2000" b="1" dirty="0">
                <a:solidFill>
                  <a:srgbClr val="FF0000"/>
                </a:solidFill>
                <a:latin typeface="Courier New" panose="02070309020205020404" pitchFamily="49" charset="0"/>
                <a:cs typeface="Courier New" panose="02070309020205020404" pitchFamily="49" charset="0"/>
              </a:rPr>
              <a:t>print('bt2:', bt2)      # bt2:</a:t>
            </a:r>
            <a:endParaRPr lang="en-US" sz="2000" b="1" dirty="0">
              <a:solidFill>
                <a:srgbClr val="00B050"/>
              </a:solidFill>
              <a:latin typeface="Courier New" panose="02070309020205020404" pitchFamily="49" charset="0"/>
              <a:cs typeface="Courier New" panose="02070309020205020404" pitchFamily="49" charset="0"/>
            </a:endParaRPr>
          </a:p>
          <a:p>
            <a:pPr marL="0" indent="0" eaLnBrk="1" hangingPunct="1">
              <a:buNone/>
            </a:pPr>
            <a:endParaRPr lang="en-US" altLang="en-US" sz="1800" b="1" dirty="0">
              <a:latin typeface="Courier New" panose="02070309020205020404" pitchFamily="49" charset="0"/>
              <a:cs typeface="Courier New" panose="02070309020205020404" pitchFamily="49" charset="0"/>
            </a:endParaRP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12</a:t>
            </a:fld>
            <a:endParaRPr lang="en-US"/>
          </a:p>
        </p:txBody>
      </p:sp>
      <p:sp>
        <p:nvSpPr>
          <p:cNvPr id="5" name="Date Placeholder 4"/>
          <p:cNvSpPr>
            <a:spLocks noGrp="1"/>
          </p:cNvSpPr>
          <p:nvPr>
            <p:ph type="dt" sz="half" idx="10"/>
          </p:nvPr>
        </p:nvSpPr>
        <p:spPr/>
        <p:txBody>
          <a:bodyPr/>
          <a:lstStyle/>
          <a:p>
            <a:pPr>
              <a:defRPr/>
            </a:pPr>
            <a:fld id="{B2A0CC13-E366-4764-A88C-37B4E99A0F7B}" type="datetime1">
              <a:rPr lang="en-US" smtClean="0"/>
              <a:t>8/2/2021</a:t>
            </a:fld>
            <a:endParaRPr lang="en-US"/>
          </a:p>
        </p:txBody>
      </p:sp>
      <p:sp>
        <p:nvSpPr>
          <p:cNvPr id="6" name="Footer Placeholder 5"/>
          <p:cNvSpPr>
            <a:spLocks noGrp="1"/>
          </p:cNvSpPr>
          <p:nvPr>
            <p:ph type="ftr" sz="quarter" idx="11"/>
          </p:nvPr>
        </p:nvSpPr>
        <p:spPr/>
        <p:txBody>
          <a:bodyPr/>
          <a:lstStyle/>
          <a:p>
            <a:pPr>
              <a:defRPr/>
            </a:pPr>
            <a:r>
              <a:rPr lang="en-US"/>
              <a:t>Copyright (c) John K. Ostlund</a:t>
            </a:r>
          </a:p>
        </p:txBody>
      </p:sp>
      <p:cxnSp>
        <p:nvCxnSpPr>
          <p:cNvPr id="7" name="Straight Arrow Connector 6">
            <a:extLst>
              <a:ext uri="{FF2B5EF4-FFF2-40B4-BE49-F238E27FC236}">
                <a16:creationId xmlns:a16="http://schemas.microsoft.com/office/drawing/2014/main" id="{FC054F9D-9431-41C4-9B4B-9400DFF294ED}"/>
              </a:ext>
            </a:extLst>
          </p:cNvPr>
          <p:cNvCxnSpPr>
            <a:cxnSpLocks/>
            <a:stCxn id="9" idx="3"/>
          </p:cNvCxnSpPr>
          <p:nvPr/>
        </p:nvCxnSpPr>
        <p:spPr bwMode="auto">
          <a:xfrm>
            <a:off x="3486150" y="4136542"/>
            <a:ext cx="673768" cy="0"/>
          </a:xfrm>
          <a:prstGeom prst="straightConnector1">
            <a:avLst/>
          </a:prstGeom>
          <a:solidFill>
            <a:schemeClr val="accent1"/>
          </a:solidFill>
          <a:ln w="38100" cap="sq" cmpd="sng" algn="ctr">
            <a:solidFill>
              <a:schemeClr val="tx1"/>
            </a:solidFill>
            <a:prstDash val="sysDash"/>
            <a:round/>
            <a:headEnd type="none" w="sm" len="sm"/>
            <a:tailEnd type="none"/>
          </a:ln>
          <a:effectLst/>
        </p:spPr>
      </p:cxnSp>
      <p:sp>
        <p:nvSpPr>
          <p:cNvPr id="8" name="Rectangle 7">
            <a:extLst>
              <a:ext uri="{FF2B5EF4-FFF2-40B4-BE49-F238E27FC236}">
                <a16:creationId xmlns:a16="http://schemas.microsoft.com/office/drawing/2014/main" id="{F84CB2FE-3D74-4EAD-935B-3E15410C609E}"/>
              </a:ext>
            </a:extLst>
          </p:cNvPr>
          <p:cNvSpPr/>
          <p:nvPr/>
        </p:nvSpPr>
        <p:spPr bwMode="auto">
          <a:xfrm>
            <a:off x="2476500" y="3747703"/>
            <a:ext cx="1207168" cy="838198"/>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9" name="TextBox 8">
            <a:extLst>
              <a:ext uri="{FF2B5EF4-FFF2-40B4-BE49-F238E27FC236}">
                <a16:creationId xmlns:a16="http://schemas.microsoft.com/office/drawing/2014/main" id="{4E32DC85-E750-48B6-A0C3-66AC4718F127}"/>
              </a:ext>
            </a:extLst>
          </p:cNvPr>
          <p:cNvSpPr txBox="1"/>
          <p:nvPr/>
        </p:nvSpPr>
        <p:spPr>
          <a:xfrm>
            <a:off x="2647950" y="3951876"/>
            <a:ext cx="838200" cy="369332"/>
          </a:xfrm>
          <a:prstGeom prst="rect">
            <a:avLst/>
          </a:prstGeom>
          <a:noFill/>
        </p:spPr>
        <p:txBody>
          <a:bodyPr wrap="square" rtlCol="0">
            <a:spAutoFit/>
          </a:bodyPr>
          <a:lstStyle/>
          <a:p>
            <a:pPr algn="ctr"/>
            <a:r>
              <a:rPr lang="en-US" b="1" dirty="0">
                <a:latin typeface="Courier New" panose="02070309020205020404" pitchFamily="49" charset="0"/>
                <a:cs typeface="Courier New" panose="02070309020205020404" pitchFamily="49" charset="0"/>
              </a:rPr>
              <a:t>top</a:t>
            </a:r>
          </a:p>
        </p:txBody>
      </p:sp>
      <p:cxnSp>
        <p:nvCxnSpPr>
          <p:cNvPr id="10" name="Straight Arrow Connector 9">
            <a:extLst>
              <a:ext uri="{FF2B5EF4-FFF2-40B4-BE49-F238E27FC236}">
                <a16:creationId xmlns:a16="http://schemas.microsoft.com/office/drawing/2014/main" id="{1A4603CB-3B90-4596-B5BC-CABBD7B0C724}"/>
              </a:ext>
            </a:extLst>
          </p:cNvPr>
          <p:cNvCxnSpPr>
            <a:cxnSpLocks/>
            <a:stCxn id="11" idx="3"/>
          </p:cNvCxnSpPr>
          <p:nvPr/>
        </p:nvCxnSpPr>
        <p:spPr bwMode="auto">
          <a:xfrm>
            <a:off x="2000250" y="4114802"/>
            <a:ext cx="438150" cy="0"/>
          </a:xfrm>
          <a:prstGeom prst="straightConnector1">
            <a:avLst/>
          </a:prstGeom>
          <a:solidFill>
            <a:schemeClr val="accent1"/>
          </a:solidFill>
          <a:ln w="38100" cap="sq" cmpd="sng" algn="ctr">
            <a:solidFill>
              <a:schemeClr val="tx1"/>
            </a:solidFill>
            <a:prstDash val="sysDash"/>
            <a:round/>
            <a:headEnd type="none" w="sm" len="sm"/>
            <a:tailEnd type="none"/>
          </a:ln>
          <a:effectLst/>
        </p:spPr>
      </p:cxnSp>
      <p:sp>
        <p:nvSpPr>
          <p:cNvPr id="11" name="TextBox 10">
            <a:extLst>
              <a:ext uri="{FF2B5EF4-FFF2-40B4-BE49-F238E27FC236}">
                <a16:creationId xmlns:a16="http://schemas.microsoft.com/office/drawing/2014/main" id="{AEC2EE02-B42B-4F4D-BD3D-F9DDB036F5A7}"/>
              </a:ext>
            </a:extLst>
          </p:cNvPr>
          <p:cNvSpPr txBox="1"/>
          <p:nvPr/>
        </p:nvSpPr>
        <p:spPr>
          <a:xfrm>
            <a:off x="1162050" y="3930136"/>
            <a:ext cx="838200" cy="369332"/>
          </a:xfrm>
          <a:prstGeom prst="rect">
            <a:avLst/>
          </a:prstGeom>
          <a:noFill/>
        </p:spPr>
        <p:txBody>
          <a:bodyPr wrap="square" rtlCol="0">
            <a:spAutoFit/>
          </a:bodyPr>
          <a:lstStyle/>
          <a:p>
            <a:pPr algn="ctr"/>
            <a:r>
              <a:rPr lang="en-US" b="1" dirty="0">
                <a:latin typeface="Courier New" panose="02070309020205020404" pitchFamily="49" charset="0"/>
                <a:cs typeface="Courier New" panose="02070309020205020404" pitchFamily="49" charset="0"/>
              </a:rPr>
              <a:t>bt2</a:t>
            </a:r>
          </a:p>
        </p:txBody>
      </p:sp>
      <p:sp>
        <p:nvSpPr>
          <p:cNvPr id="36" name="TextBox 35">
            <a:extLst>
              <a:ext uri="{FF2B5EF4-FFF2-40B4-BE49-F238E27FC236}">
                <a16:creationId xmlns:a16="http://schemas.microsoft.com/office/drawing/2014/main" id="{B79DC3AF-4C18-49B2-9A4E-8B186A3B12A4}"/>
              </a:ext>
            </a:extLst>
          </p:cNvPr>
          <p:cNvSpPr txBox="1"/>
          <p:nvPr/>
        </p:nvSpPr>
        <p:spPr>
          <a:xfrm>
            <a:off x="4159918" y="3951876"/>
            <a:ext cx="838200" cy="369332"/>
          </a:xfrm>
          <a:prstGeom prst="rect">
            <a:avLst/>
          </a:prstGeom>
          <a:noFill/>
        </p:spPr>
        <p:txBody>
          <a:bodyPr wrap="square" rtlCol="0">
            <a:spAutoFit/>
          </a:bodyPr>
          <a:lstStyle/>
          <a:p>
            <a:pPr algn="ctr"/>
            <a:r>
              <a:rPr lang="en-US" b="1" dirty="0">
                <a:latin typeface="Courier New" panose="02070309020205020404" pitchFamily="49" charset="0"/>
                <a:cs typeface="Courier New" panose="02070309020205020404" pitchFamily="49" charset="0"/>
              </a:rPr>
              <a:t>None</a:t>
            </a:r>
          </a:p>
        </p:txBody>
      </p:sp>
    </p:spTree>
    <p:extLst>
      <p:ext uri="{BB962C8B-B14F-4D97-AF65-F5344CB8AC3E}">
        <p14:creationId xmlns:p14="http://schemas.microsoft.com/office/powerpoint/2010/main" val="3907223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Binary Tree Code: </a:t>
            </a:r>
            <a:r>
              <a:rPr lang="en-US" altLang="en-US" b="1" dirty="0"/>
              <a:t>__str__()</a:t>
            </a:r>
            <a:r>
              <a:rPr lang="en-US" altLang="en-US" dirty="0"/>
              <a:t> (</a:t>
            </a:r>
            <a:r>
              <a:rPr lang="en-US" altLang="en-US" dirty="0" err="1"/>
              <a:t>cont</a:t>
            </a:r>
            <a:r>
              <a:rPr lang="en-US" altLang="en-US" dirty="0"/>
              <a:t>)</a:t>
            </a:r>
          </a:p>
        </p:txBody>
      </p:sp>
      <p:sp>
        <p:nvSpPr>
          <p:cNvPr id="43011" name="Rectangle 3"/>
          <p:cNvSpPr>
            <a:spLocks noGrp="1" noChangeArrowheads="1"/>
          </p:cNvSpPr>
          <p:nvPr>
            <p:ph type="body" idx="1"/>
          </p:nvPr>
        </p:nvSpPr>
        <p:spPr/>
        <p:txBody>
          <a:bodyPr/>
          <a:lstStyle/>
          <a:p>
            <a:pPr marL="0" indent="0">
              <a:spcBef>
                <a:spcPts val="0"/>
              </a:spcBef>
              <a:buNone/>
            </a:pPr>
            <a:r>
              <a:rPr lang="en-US" sz="1800" b="1" dirty="0">
                <a:latin typeface="Courier New" panose="02070309020205020404" pitchFamily="49" charset="0"/>
                <a:cs typeface="Courier New" panose="02070309020205020404" pitchFamily="49" charset="0"/>
              </a:rPr>
              <a:t># File: BinaryTree.py (</a:t>
            </a:r>
            <a:r>
              <a:rPr lang="en-US" sz="1800" b="1" dirty="0" err="1">
                <a:latin typeface="Courier New" panose="02070309020205020404" pitchFamily="49" charset="0"/>
                <a:cs typeface="Courier New" panose="02070309020205020404" pitchFamily="49" charset="0"/>
              </a:rPr>
              <a:t>cont</a:t>
            </a:r>
            <a:r>
              <a:rPr lang="en-US" sz="1800" b="1" dirty="0">
                <a:latin typeface="Courier New" panose="02070309020205020404" pitchFamily="49" charset="0"/>
                <a:cs typeface="Courier New" panose="02070309020205020404" pitchFamily="49" charset="0"/>
              </a:rPr>
              <a:t>)</a:t>
            </a:r>
          </a:p>
          <a:p>
            <a:pPr marL="0" indent="0">
              <a:spcBef>
                <a:spcPts val="0"/>
              </a:spcBef>
              <a:buNone/>
            </a:pPr>
            <a:endParaRPr lang="en-US" sz="1000" b="1" dirty="0">
              <a:latin typeface="Courier New" panose="02070309020205020404" pitchFamily="49" charset="0"/>
              <a:cs typeface="Courier New" panose="02070309020205020404" pitchFamily="49" charset="0"/>
            </a:endParaRPr>
          </a:p>
          <a:p>
            <a:pPr marL="0" indent="0">
              <a:spcBef>
                <a:spcPts val="0"/>
              </a:spcBef>
              <a:buNone/>
            </a:pPr>
            <a:r>
              <a:rPr lang="en-US" sz="1800" b="1" dirty="0">
                <a:latin typeface="Courier New" panose="02070309020205020404" pitchFamily="49" charset="0"/>
                <a:cs typeface="Courier New" panose="02070309020205020404" pitchFamily="49" charset="0"/>
              </a:rPr>
              <a:t>class </a:t>
            </a:r>
            <a:r>
              <a:rPr lang="en-US" sz="1800" b="1" dirty="0" err="1">
                <a:latin typeface="Courier New" panose="02070309020205020404" pitchFamily="49" charset="0"/>
                <a:cs typeface="Courier New" panose="02070309020205020404" pitchFamily="49" charset="0"/>
              </a:rPr>
              <a:t>BinaryTree</a:t>
            </a:r>
            <a:r>
              <a:rPr lang="en-US" sz="1800" b="1" dirty="0">
                <a:latin typeface="Courier New" panose="02070309020205020404" pitchFamily="49" charset="0"/>
                <a:cs typeface="Courier New" panose="02070309020205020404" pitchFamily="49" charset="0"/>
              </a:rPr>
              <a:t>:</a:t>
            </a:r>
          </a:p>
          <a:p>
            <a:pPr marL="0" indent="0">
              <a:spcBef>
                <a:spcPts val="0"/>
              </a:spcBef>
              <a:buNone/>
            </a:pPr>
            <a:r>
              <a:rPr lang="en-US" sz="1000" b="1" dirty="0">
                <a:latin typeface="Courier New" panose="02070309020205020404" pitchFamily="49" charset="0"/>
                <a:cs typeface="Courier New" panose="02070309020205020404" pitchFamily="49" charset="0"/>
              </a:rPr>
              <a:t>... </a:t>
            </a:r>
          </a:p>
          <a:p>
            <a:pPr marL="0" indent="0">
              <a:spcBef>
                <a:spcPts val="0"/>
              </a:spcBef>
              <a:buNone/>
            </a:pPr>
            <a:r>
              <a:rPr lang="en-US" sz="1800" b="1" dirty="0">
                <a:latin typeface="Courier New" panose="02070309020205020404" pitchFamily="49" charset="0"/>
                <a:cs typeface="Courier New" panose="02070309020205020404" pitchFamily="49" charset="0"/>
              </a:rPr>
              <a:t>   def _</a:t>
            </a:r>
            <a:r>
              <a:rPr lang="en-US" sz="1800" b="1" dirty="0" err="1">
                <a:latin typeface="Courier New" panose="02070309020205020404" pitchFamily="49" charset="0"/>
                <a:cs typeface="Courier New" panose="02070309020205020404" pitchFamily="49" charset="0"/>
              </a:rPr>
              <a:t>str_help</a:t>
            </a:r>
            <a:r>
              <a:rPr lang="en-US" sz="1800" b="1" dirty="0">
                <a:latin typeface="Courier New" panose="02070309020205020404" pitchFamily="49" charset="0"/>
                <a:cs typeface="Courier New" panose="02070309020205020404" pitchFamily="49" charset="0"/>
              </a:rPr>
              <a:t>(self, </a:t>
            </a:r>
            <a:r>
              <a:rPr lang="en-US" sz="1800" b="1" dirty="0" err="1">
                <a:latin typeface="Courier New" panose="02070309020205020404" pitchFamily="49" charset="0"/>
                <a:cs typeface="Courier New" panose="02070309020205020404" pitchFamily="49" charset="0"/>
              </a:rPr>
              <a:t>cur_node</a:t>
            </a:r>
            <a:r>
              <a:rPr lang="en-US" sz="1800" b="1" dirty="0">
                <a:latin typeface="Courier New" panose="02070309020205020404" pitchFamily="49" charset="0"/>
                <a:cs typeface="Courier New" panose="02070309020205020404" pitchFamily="49" charset="0"/>
              </a:rPr>
              <a:t>):</a:t>
            </a:r>
          </a:p>
          <a:p>
            <a:pPr marL="0" indent="0">
              <a:spcBef>
                <a:spcPts val="0"/>
              </a:spcBef>
              <a:buNone/>
            </a:pPr>
            <a:r>
              <a:rPr lang="en-US" sz="1800" b="1" dirty="0">
                <a:latin typeface="Courier New" panose="02070309020205020404" pitchFamily="49" charset="0"/>
                <a:cs typeface="Courier New" panose="02070309020205020404" pitchFamily="49" charset="0"/>
              </a:rPr>
              <a:t>      if </a:t>
            </a:r>
            <a:r>
              <a:rPr lang="en-US" sz="1800" b="1" dirty="0" err="1">
                <a:latin typeface="Courier New" panose="02070309020205020404" pitchFamily="49" charset="0"/>
                <a:cs typeface="Courier New" panose="02070309020205020404" pitchFamily="49" charset="0"/>
              </a:rPr>
              <a:t>cur_node</a:t>
            </a:r>
            <a:r>
              <a:rPr lang="en-US" sz="1800" b="1" dirty="0">
                <a:latin typeface="Courier New" panose="02070309020205020404" pitchFamily="49" charset="0"/>
                <a:cs typeface="Courier New" panose="02070309020205020404" pitchFamily="49" charset="0"/>
              </a:rPr>
              <a:t> == None:</a:t>
            </a:r>
          </a:p>
          <a:p>
            <a:pPr marL="0" indent="0">
              <a:spcBef>
                <a:spcPts val="0"/>
              </a:spcBef>
              <a:buNone/>
            </a:pPr>
            <a:r>
              <a:rPr lang="en-US" sz="1800" b="1" dirty="0">
                <a:latin typeface="Courier New" panose="02070309020205020404" pitchFamily="49" charset="0"/>
                <a:cs typeface="Courier New" panose="02070309020205020404" pitchFamily="49" charset="0"/>
              </a:rPr>
              <a:t>         return '';</a:t>
            </a:r>
          </a:p>
          <a:p>
            <a:pPr marL="0" indent="0">
              <a:spcBef>
                <a:spcPts val="0"/>
              </a:spcBef>
              <a:buNone/>
            </a:pPr>
            <a:r>
              <a:rPr lang="en-US" sz="1800" b="1" dirty="0">
                <a:latin typeface="Courier New" panose="02070309020205020404" pitchFamily="49" charset="0"/>
                <a:cs typeface="Courier New" panose="02070309020205020404" pitchFamily="49" charset="0"/>
              </a:rPr>
              <a:t>      else:</a:t>
            </a:r>
          </a:p>
          <a:p>
            <a:pPr marL="0" indent="0">
              <a:spcBef>
                <a:spcPts val="0"/>
              </a:spcBef>
              <a:buNone/>
            </a:pPr>
            <a:r>
              <a:rPr lang="en-US" sz="18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left_str</a:t>
            </a:r>
            <a:r>
              <a:rPr lang="en-US" sz="1800" b="1" dirty="0">
                <a:latin typeface="Courier New" panose="02070309020205020404" pitchFamily="49" charset="0"/>
                <a:cs typeface="Courier New" panose="02070309020205020404" pitchFamily="49" charset="0"/>
              </a:rPr>
              <a:t> = self._</a:t>
            </a:r>
            <a:r>
              <a:rPr lang="en-US" sz="1800" b="1" dirty="0" err="1">
                <a:latin typeface="Courier New" panose="02070309020205020404" pitchFamily="49" charset="0"/>
                <a:cs typeface="Courier New" panose="02070309020205020404" pitchFamily="49" charset="0"/>
              </a:rPr>
              <a:t>str_help</a:t>
            </a:r>
            <a:r>
              <a:rPr lang="en-US" sz="1800" b="1" dirty="0">
                <a:latin typeface="Courier New" panose="02070309020205020404" pitchFamily="49" charset="0"/>
                <a:cs typeface="Courier New" panose="02070309020205020404" pitchFamily="49" charset="0"/>
              </a:rPr>
              <a:t>(</a:t>
            </a:r>
            <a:r>
              <a:rPr lang="en-US" sz="1800" b="1" dirty="0" err="1">
                <a:latin typeface="Courier New" panose="02070309020205020404" pitchFamily="49" charset="0"/>
                <a:cs typeface="Courier New" panose="02070309020205020404" pitchFamily="49" charset="0"/>
              </a:rPr>
              <a:t>cur_node._left</a:t>
            </a:r>
            <a:r>
              <a:rPr lang="en-US" sz="1800" b="1" dirty="0">
                <a:latin typeface="Courier New" panose="02070309020205020404" pitchFamily="49" charset="0"/>
                <a:cs typeface="Courier New" panose="02070309020205020404" pitchFamily="49" charset="0"/>
              </a:rPr>
              <a:t>)</a:t>
            </a:r>
          </a:p>
          <a:p>
            <a:pPr marL="0" indent="0">
              <a:spcBef>
                <a:spcPts val="0"/>
              </a:spcBef>
              <a:buNone/>
            </a:pPr>
            <a:r>
              <a:rPr lang="en-US" sz="18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right_str</a:t>
            </a:r>
            <a:r>
              <a:rPr lang="en-US" sz="1800" b="1" dirty="0">
                <a:latin typeface="Courier New" panose="02070309020205020404" pitchFamily="49" charset="0"/>
                <a:cs typeface="Courier New" panose="02070309020205020404" pitchFamily="49" charset="0"/>
              </a:rPr>
              <a:t> = self._</a:t>
            </a:r>
            <a:r>
              <a:rPr lang="en-US" sz="1800" b="1" dirty="0" err="1">
                <a:latin typeface="Courier New" panose="02070309020205020404" pitchFamily="49" charset="0"/>
                <a:cs typeface="Courier New" panose="02070309020205020404" pitchFamily="49" charset="0"/>
              </a:rPr>
              <a:t>str_help</a:t>
            </a:r>
            <a:r>
              <a:rPr lang="en-US" sz="1800" b="1" dirty="0">
                <a:latin typeface="Courier New" panose="02070309020205020404" pitchFamily="49" charset="0"/>
                <a:cs typeface="Courier New" panose="02070309020205020404" pitchFamily="49" charset="0"/>
              </a:rPr>
              <a:t>(</a:t>
            </a:r>
            <a:r>
              <a:rPr lang="en-US" sz="1800" b="1" dirty="0" err="1">
                <a:latin typeface="Courier New" panose="02070309020205020404" pitchFamily="49" charset="0"/>
                <a:cs typeface="Courier New" panose="02070309020205020404" pitchFamily="49" charset="0"/>
              </a:rPr>
              <a:t>cur_node._right</a:t>
            </a:r>
            <a:r>
              <a:rPr lang="en-US" sz="1800" b="1" dirty="0">
                <a:latin typeface="Courier New" panose="02070309020205020404" pitchFamily="49" charset="0"/>
                <a:cs typeface="Courier New" panose="02070309020205020404" pitchFamily="49" charset="0"/>
              </a:rPr>
              <a:t>)</a:t>
            </a:r>
          </a:p>
          <a:p>
            <a:pPr marL="0" indent="0">
              <a:spcBef>
                <a:spcPts val="0"/>
              </a:spcBef>
              <a:buNone/>
            </a:pPr>
            <a:r>
              <a:rPr lang="da-DK" sz="1800" b="1" dirty="0">
                <a:latin typeface="Courier New" panose="02070309020205020404" pitchFamily="49" charset="0"/>
                <a:cs typeface="Courier New" panose="02070309020205020404" pitchFamily="49" charset="0"/>
              </a:rPr>
              <a:t>         ret = str(cur_node._value)</a:t>
            </a:r>
          </a:p>
          <a:p>
            <a:pPr marL="0" indent="0">
              <a:spcBef>
                <a:spcPts val="0"/>
              </a:spcBef>
              <a:buNone/>
            </a:pPr>
            <a:r>
              <a:rPr lang="en-US" sz="1800" b="1" dirty="0">
                <a:latin typeface="Courier New" panose="02070309020205020404" pitchFamily="49" charset="0"/>
                <a:cs typeface="Courier New" panose="02070309020205020404" pitchFamily="49" charset="0"/>
              </a:rPr>
              <a:t>         if </a:t>
            </a:r>
            <a:r>
              <a:rPr lang="en-US" sz="1800" b="1" dirty="0" err="1">
                <a:latin typeface="Courier New" panose="02070309020205020404" pitchFamily="49" charset="0"/>
                <a:cs typeface="Courier New" panose="02070309020205020404" pitchFamily="49" charset="0"/>
              </a:rPr>
              <a:t>left_str</a:t>
            </a:r>
            <a:r>
              <a:rPr lang="en-US" sz="1800" b="1" dirty="0">
                <a:latin typeface="Courier New" panose="02070309020205020404" pitchFamily="49" charset="0"/>
                <a:cs typeface="Courier New" panose="02070309020205020404" pitchFamily="49" charset="0"/>
              </a:rPr>
              <a:t>:</a:t>
            </a:r>
          </a:p>
          <a:p>
            <a:pPr marL="0" indent="0">
              <a:spcBef>
                <a:spcPts val="0"/>
              </a:spcBef>
              <a:buNone/>
            </a:pPr>
            <a:r>
              <a:rPr lang="en-US" sz="1800" b="1" dirty="0">
                <a:latin typeface="Courier New" panose="02070309020205020404" pitchFamily="49" charset="0"/>
                <a:cs typeface="Courier New" panose="02070309020205020404" pitchFamily="49" charset="0"/>
              </a:rPr>
              <a:t>            ret = </a:t>
            </a:r>
            <a:r>
              <a:rPr lang="en-US" sz="1800" b="1" dirty="0" err="1">
                <a:latin typeface="Courier New" panose="02070309020205020404" pitchFamily="49" charset="0"/>
                <a:cs typeface="Courier New" panose="02070309020205020404" pitchFamily="49" charset="0"/>
              </a:rPr>
              <a:t>left_str</a:t>
            </a:r>
            <a:r>
              <a:rPr lang="en-US" sz="1800" b="1" dirty="0">
                <a:latin typeface="Courier New" panose="02070309020205020404" pitchFamily="49" charset="0"/>
                <a:cs typeface="Courier New" panose="02070309020205020404" pitchFamily="49" charset="0"/>
              </a:rPr>
              <a:t> + ' ' + ret</a:t>
            </a:r>
          </a:p>
          <a:p>
            <a:pPr marL="0" indent="0">
              <a:spcBef>
                <a:spcPts val="0"/>
              </a:spcBef>
              <a:buNone/>
            </a:pPr>
            <a:r>
              <a:rPr lang="en-US" sz="1800" b="1" dirty="0">
                <a:latin typeface="Courier New" panose="02070309020205020404" pitchFamily="49" charset="0"/>
                <a:cs typeface="Courier New" panose="02070309020205020404" pitchFamily="49" charset="0"/>
              </a:rPr>
              <a:t>         if </a:t>
            </a:r>
            <a:r>
              <a:rPr lang="en-US" sz="1800" b="1" dirty="0" err="1">
                <a:latin typeface="Courier New" panose="02070309020205020404" pitchFamily="49" charset="0"/>
                <a:cs typeface="Courier New" panose="02070309020205020404" pitchFamily="49" charset="0"/>
              </a:rPr>
              <a:t>right_str</a:t>
            </a:r>
            <a:r>
              <a:rPr lang="en-US" sz="1800" b="1" dirty="0">
                <a:latin typeface="Courier New" panose="02070309020205020404" pitchFamily="49" charset="0"/>
                <a:cs typeface="Courier New" panose="02070309020205020404" pitchFamily="49" charset="0"/>
              </a:rPr>
              <a:t>:</a:t>
            </a:r>
          </a:p>
          <a:p>
            <a:pPr marL="0" indent="0">
              <a:spcBef>
                <a:spcPts val="0"/>
              </a:spcBef>
              <a:buNone/>
            </a:pPr>
            <a:r>
              <a:rPr lang="en-US" sz="1800" b="1" dirty="0">
                <a:latin typeface="Courier New" panose="02070309020205020404" pitchFamily="49" charset="0"/>
                <a:cs typeface="Courier New" panose="02070309020205020404" pitchFamily="49" charset="0"/>
              </a:rPr>
              <a:t>            ret = ret + ' ' + </a:t>
            </a:r>
            <a:r>
              <a:rPr lang="en-US" sz="1800" b="1" dirty="0" err="1">
                <a:latin typeface="Courier New" panose="02070309020205020404" pitchFamily="49" charset="0"/>
                <a:cs typeface="Courier New" panose="02070309020205020404" pitchFamily="49" charset="0"/>
              </a:rPr>
              <a:t>right_str</a:t>
            </a:r>
            <a:endParaRPr lang="en-US" sz="1800" b="1" dirty="0">
              <a:latin typeface="Courier New" panose="02070309020205020404" pitchFamily="49" charset="0"/>
              <a:cs typeface="Courier New" panose="02070309020205020404" pitchFamily="49" charset="0"/>
            </a:endParaRPr>
          </a:p>
          <a:p>
            <a:pPr marL="0" indent="0">
              <a:spcBef>
                <a:spcPts val="0"/>
              </a:spcBef>
              <a:buNone/>
            </a:pPr>
            <a:r>
              <a:rPr lang="en-US" sz="1800" b="1" dirty="0">
                <a:latin typeface="Courier New" panose="02070309020205020404" pitchFamily="49" charset="0"/>
                <a:cs typeface="Courier New" panose="02070309020205020404" pitchFamily="49" charset="0"/>
              </a:rPr>
              <a:t>         return ret</a:t>
            </a:r>
            <a:endParaRPr lang="en-US" altLang="en-US" sz="1800" b="1" dirty="0">
              <a:latin typeface="Courier New" panose="02070309020205020404" pitchFamily="49" charset="0"/>
              <a:cs typeface="Courier New" panose="02070309020205020404" pitchFamily="49" charset="0"/>
            </a:endParaRP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13</a:t>
            </a:fld>
            <a:endParaRPr lang="en-US"/>
          </a:p>
        </p:txBody>
      </p:sp>
      <p:sp>
        <p:nvSpPr>
          <p:cNvPr id="5" name="Date Placeholder 4"/>
          <p:cNvSpPr>
            <a:spLocks noGrp="1"/>
          </p:cNvSpPr>
          <p:nvPr>
            <p:ph type="dt" sz="half" idx="10"/>
          </p:nvPr>
        </p:nvSpPr>
        <p:spPr/>
        <p:txBody>
          <a:bodyPr/>
          <a:lstStyle/>
          <a:p>
            <a:pPr>
              <a:defRPr/>
            </a:pPr>
            <a:fld id="{B2A0CC13-E366-4764-A88C-37B4E99A0F7B}" type="datetime1">
              <a:rPr lang="en-US" smtClean="0"/>
              <a:t>8/2/2021</a:t>
            </a:fld>
            <a:endParaRPr lang="en-US"/>
          </a:p>
        </p:txBody>
      </p:sp>
      <p:sp>
        <p:nvSpPr>
          <p:cNvPr id="6" name="Footer Placeholder 5"/>
          <p:cNvSpPr>
            <a:spLocks noGrp="1"/>
          </p:cNvSpPr>
          <p:nvPr>
            <p:ph type="ftr" sz="quarter" idx="11"/>
          </p:nvPr>
        </p:nvSpPr>
        <p:spPr/>
        <p:txBody>
          <a:bodyPr/>
          <a:lstStyle/>
          <a:p>
            <a:pPr>
              <a:defRPr/>
            </a:pPr>
            <a:r>
              <a:rPr lang="en-US"/>
              <a:t>Copyright (c) John K. Ostlund</a:t>
            </a:r>
          </a:p>
        </p:txBody>
      </p:sp>
    </p:spTree>
    <p:extLst>
      <p:ext uri="{BB962C8B-B14F-4D97-AF65-F5344CB8AC3E}">
        <p14:creationId xmlns:p14="http://schemas.microsoft.com/office/powerpoint/2010/main" val="3419653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Binary Tree Application (</a:t>
            </a:r>
            <a:r>
              <a:rPr lang="en-US" altLang="en-US" dirty="0" err="1"/>
              <a:t>cont</a:t>
            </a:r>
            <a:r>
              <a:rPr lang="en-US" altLang="en-US" dirty="0"/>
              <a:t>)</a:t>
            </a:r>
            <a:endParaRPr lang="en-US" altLang="en-US" b="1" dirty="0"/>
          </a:p>
        </p:txBody>
      </p:sp>
      <p:sp>
        <p:nvSpPr>
          <p:cNvPr id="43011" name="Rectangle 3"/>
          <p:cNvSpPr>
            <a:spLocks noGrp="1" noChangeArrowheads="1"/>
          </p:cNvSpPr>
          <p:nvPr>
            <p:ph type="body" idx="1"/>
          </p:nvPr>
        </p:nvSpPr>
        <p:spPr/>
        <p:txBody>
          <a:bodyPr/>
          <a:lstStyle/>
          <a:p>
            <a:pPr marL="0" indent="0">
              <a:spcBef>
                <a:spcPts val="0"/>
              </a:spcBef>
              <a:buNone/>
            </a:pPr>
            <a:r>
              <a:rPr lang="en-US" sz="2000" b="1" dirty="0">
                <a:latin typeface="Courier New" panose="02070309020205020404" pitchFamily="49" charset="0"/>
                <a:cs typeface="Courier New" panose="02070309020205020404" pitchFamily="49" charset="0"/>
              </a:rPr>
              <a:t># File: BT_app.py</a:t>
            </a:r>
          </a:p>
          <a:p>
            <a:pPr marL="0" indent="0">
              <a:spcBef>
                <a:spcPts val="0"/>
              </a:spcBef>
              <a:buNone/>
            </a:pPr>
            <a:r>
              <a:rPr lang="en-US" sz="2000" b="1" dirty="0">
                <a:latin typeface="Courier New" panose="02070309020205020404" pitchFamily="49" charset="0"/>
                <a:cs typeface="Courier New" panose="02070309020205020404" pitchFamily="49" charset="0"/>
              </a:rPr>
              <a:t>...</a:t>
            </a:r>
          </a:p>
          <a:p>
            <a:pPr marL="0" indent="0">
              <a:spcBef>
                <a:spcPts val="0"/>
              </a:spcBef>
              <a:buNone/>
            </a:pPr>
            <a:r>
              <a:rPr lang="en-US" sz="2000" b="1" dirty="0">
                <a:solidFill>
                  <a:srgbClr val="FF0000"/>
                </a:solidFill>
                <a:latin typeface="Courier New" panose="02070309020205020404" pitchFamily="49" charset="0"/>
                <a:cs typeface="Courier New" panose="02070309020205020404" pitchFamily="49" charset="0"/>
              </a:rPr>
              <a:t>print('bt1:', bt1)      # bt1: -4 7 12 13</a:t>
            </a:r>
            <a:endParaRPr lang="en-US" sz="2000" b="1" dirty="0">
              <a:solidFill>
                <a:srgbClr val="00B050"/>
              </a:solidFill>
              <a:latin typeface="Courier New" panose="02070309020205020404" pitchFamily="49" charset="0"/>
              <a:cs typeface="Courier New" panose="02070309020205020404" pitchFamily="49" charset="0"/>
            </a:endParaRPr>
          </a:p>
          <a:p>
            <a:pPr marL="0" indent="0" eaLnBrk="1" hangingPunct="1">
              <a:buNone/>
            </a:pPr>
            <a:endParaRPr lang="en-US" altLang="en-US" sz="1800" b="1" dirty="0">
              <a:latin typeface="Courier New" panose="02070309020205020404" pitchFamily="49" charset="0"/>
              <a:cs typeface="Courier New" panose="02070309020205020404" pitchFamily="49" charset="0"/>
            </a:endParaRP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14</a:t>
            </a:fld>
            <a:endParaRPr lang="en-US"/>
          </a:p>
        </p:txBody>
      </p:sp>
      <p:sp>
        <p:nvSpPr>
          <p:cNvPr id="5" name="Date Placeholder 4"/>
          <p:cNvSpPr>
            <a:spLocks noGrp="1"/>
          </p:cNvSpPr>
          <p:nvPr>
            <p:ph type="dt" sz="half" idx="10"/>
          </p:nvPr>
        </p:nvSpPr>
        <p:spPr/>
        <p:txBody>
          <a:bodyPr/>
          <a:lstStyle/>
          <a:p>
            <a:pPr>
              <a:defRPr/>
            </a:pPr>
            <a:fld id="{B2A0CC13-E366-4764-A88C-37B4E99A0F7B}" type="datetime1">
              <a:rPr lang="en-US" smtClean="0"/>
              <a:t>8/2/2021</a:t>
            </a:fld>
            <a:endParaRPr lang="en-US"/>
          </a:p>
        </p:txBody>
      </p:sp>
      <p:sp>
        <p:nvSpPr>
          <p:cNvPr id="6" name="Footer Placeholder 5"/>
          <p:cNvSpPr>
            <a:spLocks noGrp="1"/>
          </p:cNvSpPr>
          <p:nvPr>
            <p:ph type="ftr" sz="quarter" idx="11"/>
          </p:nvPr>
        </p:nvSpPr>
        <p:spPr/>
        <p:txBody>
          <a:bodyPr/>
          <a:lstStyle/>
          <a:p>
            <a:pPr>
              <a:defRPr/>
            </a:pPr>
            <a:r>
              <a:rPr lang="en-US"/>
              <a:t>Copyright (c) John K. Ostlund</a:t>
            </a:r>
          </a:p>
        </p:txBody>
      </p:sp>
      <p:cxnSp>
        <p:nvCxnSpPr>
          <p:cNvPr id="7" name="Straight Arrow Connector 6">
            <a:extLst>
              <a:ext uri="{FF2B5EF4-FFF2-40B4-BE49-F238E27FC236}">
                <a16:creationId xmlns:a16="http://schemas.microsoft.com/office/drawing/2014/main" id="{FC054F9D-9431-41C4-9B4B-9400DFF294ED}"/>
              </a:ext>
            </a:extLst>
          </p:cNvPr>
          <p:cNvCxnSpPr>
            <a:cxnSpLocks/>
            <a:stCxn id="9" idx="3"/>
          </p:cNvCxnSpPr>
          <p:nvPr/>
        </p:nvCxnSpPr>
        <p:spPr bwMode="auto">
          <a:xfrm>
            <a:off x="3486150" y="4136542"/>
            <a:ext cx="673768" cy="0"/>
          </a:xfrm>
          <a:prstGeom prst="straightConnector1">
            <a:avLst/>
          </a:prstGeom>
          <a:solidFill>
            <a:schemeClr val="accent1"/>
          </a:solidFill>
          <a:ln w="38100" cap="sq" cmpd="sng" algn="ctr">
            <a:solidFill>
              <a:schemeClr val="tx1"/>
            </a:solidFill>
            <a:prstDash val="sysDash"/>
            <a:round/>
            <a:headEnd type="none" w="sm" len="sm"/>
            <a:tailEnd type="none"/>
          </a:ln>
          <a:effectLst/>
        </p:spPr>
      </p:cxnSp>
      <p:sp>
        <p:nvSpPr>
          <p:cNvPr id="8" name="Rectangle 7">
            <a:extLst>
              <a:ext uri="{FF2B5EF4-FFF2-40B4-BE49-F238E27FC236}">
                <a16:creationId xmlns:a16="http://schemas.microsoft.com/office/drawing/2014/main" id="{F84CB2FE-3D74-4EAD-935B-3E15410C609E}"/>
              </a:ext>
            </a:extLst>
          </p:cNvPr>
          <p:cNvSpPr/>
          <p:nvPr/>
        </p:nvSpPr>
        <p:spPr bwMode="auto">
          <a:xfrm>
            <a:off x="2476500" y="3747703"/>
            <a:ext cx="1207168" cy="838198"/>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9" name="TextBox 8">
            <a:extLst>
              <a:ext uri="{FF2B5EF4-FFF2-40B4-BE49-F238E27FC236}">
                <a16:creationId xmlns:a16="http://schemas.microsoft.com/office/drawing/2014/main" id="{4E32DC85-E750-48B6-A0C3-66AC4718F127}"/>
              </a:ext>
            </a:extLst>
          </p:cNvPr>
          <p:cNvSpPr txBox="1"/>
          <p:nvPr/>
        </p:nvSpPr>
        <p:spPr>
          <a:xfrm>
            <a:off x="2647950" y="3951876"/>
            <a:ext cx="838200" cy="369332"/>
          </a:xfrm>
          <a:prstGeom prst="rect">
            <a:avLst/>
          </a:prstGeom>
          <a:noFill/>
        </p:spPr>
        <p:txBody>
          <a:bodyPr wrap="square" rtlCol="0">
            <a:spAutoFit/>
          </a:bodyPr>
          <a:lstStyle/>
          <a:p>
            <a:pPr algn="ctr"/>
            <a:r>
              <a:rPr lang="en-US" b="1" dirty="0">
                <a:latin typeface="Courier New" panose="02070309020205020404" pitchFamily="49" charset="0"/>
                <a:cs typeface="Courier New" panose="02070309020205020404" pitchFamily="49" charset="0"/>
              </a:rPr>
              <a:t>top</a:t>
            </a:r>
          </a:p>
        </p:txBody>
      </p:sp>
      <p:cxnSp>
        <p:nvCxnSpPr>
          <p:cNvPr id="10" name="Straight Arrow Connector 9">
            <a:extLst>
              <a:ext uri="{FF2B5EF4-FFF2-40B4-BE49-F238E27FC236}">
                <a16:creationId xmlns:a16="http://schemas.microsoft.com/office/drawing/2014/main" id="{1A4603CB-3B90-4596-B5BC-CABBD7B0C724}"/>
              </a:ext>
            </a:extLst>
          </p:cNvPr>
          <p:cNvCxnSpPr>
            <a:cxnSpLocks/>
            <a:stCxn id="11" idx="3"/>
          </p:cNvCxnSpPr>
          <p:nvPr/>
        </p:nvCxnSpPr>
        <p:spPr bwMode="auto">
          <a:xfrm>
            <a:off x="2000250" y="4114802"/>
            <a:ext cx="438150" cy="0"/>
          </a:xfrm>
          <a:prstGeom prst="straightConnector1">
            <a:avLst/>
          </a:prstGeom>
          <a:solidFill>
            <a:schemeClr val="accent1"/>
          </a:solidFill>
          <a:ln w="38100" cap="sq" cmpd="sng" algn="ctr">
            <a:solidFill>
              <a:schemeClr val="tx1"/>
            </a:solidFill>
            <a:prstDash val="sysDash"/>
            <a:round/>
            <a:headEnd type="none" w="sm" len="sm"/>
            <a:tailEnd type="none"/>
          </a:ln>
          <a:effectLst/>
        </p:spPr>
      </p:cxnSp>
      <p:sp>
        <p:nvSpPr>
          <p:cNvPr id="11" name="TextBox 10">
            <a:extLst>
              <a:ext uri="{FF2B5EF4-FFF2-40B4-BE49-F238E27FC236}">
                <a16:creationId xmlns:a16="http://schemas.microsoft.com/office/drawing/2014/main" id="{AEC2EE02-B42B-4F4D-BD3D-F9DDB036F5A7}"/>
              </a:ext>
            </a:extLst>
          </p:cNvPr>
          <p:cNvSpPr txBox="1"/>
          <p:nvPr/>
        </p:nvSpPr>
        <p:spPr>
          <a:xfrm>
            <a:off x="1162050" y="3930136"/>
            <a:ext cx="838200" cy="369332"/>
          </a:xfrm>
          <a:prstGeom prst="rect">
            <a:avLst/>
          </a:prstGeom>
          <a:noFill/>
        </p:spPr>
        <p:txBody>
          <a:bodyPr wrap="square" rtlCol="0">
            <a:spAutoFit/>
          </a:bodyPr>
          <a:lstStyle/>
          <a:p>
            <a:pPr algn="ctr"/>
            <a:r>
              <a:rPr lang="en-US" b="1" dirty="0">
                <a:latin typeface="Courier New" panose="02070309020205020404" pitchFamily="49" charset="0"/>
                <a:cs typeface="Courier New" panose="02070309020205020404" pitchFamily="49" charset="0"/>
              </a:rPr>
              <a:t>bt1</a:t>
            </a:r>
          </a:p>
        </p:txBody>
      </p:sp>
      <p:grpSp>
        <p:nvGrpSpPr>
          <p:cNvPr id="13" name="Group 5">
            <a:extLst>
              <a:ext uri="{FF2B5EF4-FFF2-40B4-BE49-F238E27FC236}">
                <a16:creationId xmlns:a16="http://schemas.microsoft.com/office/drawing/2014/main" id="{220FFD0A-951F-45B5-BA40-37CA5B1E3BA2}"/>
              </a:ext>
            </a:extLst>
          </p:cNvPr>
          <p:cNvGrpSpPr/>
          <p:nvPr/>
        </p:nvGrpSpPr>
        <p:grpSpPr>
          <a:xfrm>
            <a:off x="4249615" y="3810000"/>
            <a:ext cx="762000" cy="685800"/>
            <a:chOff x="3962400" y="2590800"/>
            <a:chExt cx="762000" cy="685800"/>
          </a:xfrm>
        </p:grpSpPr>
        <p:sp>
          <p:nvSpPr>
            <p:cNvPr id="14" name="Rectangle 13">
              <a:extLst>
                <a:ext uri="{FF2B5EF4-FFF2-40B4-BE49-F238E27FC236}">
                  <a16:creationId xmlns:a16="http://schemas.microsoft.com/office/drawing/2014/main" id="{186F4898-2BA5-4D77-9005-2AAA0D40D1F8}"/>
                </a:ext>
              </a:extLst>
            </p:cNvPr>
            <p:cNvSpPr/>
            <p:nvPr/>
          </p:nvSpPr>
          <p:spPr bwMode="auto">
            <a:xfrm>
              <a:off x="3962400" y="2590800"/>
              <a:ext cx="762000" cy="6858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15" name="Rectangle 14">
              <a:extLst>
                <a:ext uri="{FF2B5EF4-FFF2-40B4-BE49-F238E27FC236}">
                  <a16:creationId xmlns:a16="http://schemas.microsoft.com/office/drawing/2014/main" id="{38C802C7-719F-4921-A873-6BDD2E70990B}"/>
                </a:ext>
              </a:extLst>
            </p:cNvPr>
            <p:cNvSpPr/>
            <p:nvPr/>
          </p:nvSpPr>
          <p:spPr bwMode="auto">
            <a:xfrm>
              <a:off x="3962400" y="2933700"/>
              <a:ext cx="762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16" name="Rectangle 15">
              <a:extLst>
                <a:ext uri="{FF2B5EF4-FFF2-40B4-BE49-F238E27FC236}">
                  <a16:creationId xmlns:a16="http://schemas.microsoft.com/office/drawing/2014/main" id="{C6E0D3D1-1204-4ECC-8420-87A2FCFA8AE9}"/>
                </a:ext>
              </a:extLst>
            </p:cNvPr>
            <p:cNvSpPr/>
            <p:nvPr/>
          </p:nvSpPr>
          <p:spPr bwMode="auto">
            <a:xfrm>
              <a:off x="3962400" y="2933700"/>
              <a:ext cx="381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grpSp>
      <p:sp>
        <p:nvSpPr>
          <p:cNvPr id="17" name="TextBox 16">
            <a:extLst>
              <a:ext uri="{FF2B5EF4-FFF2-40B4-BE49-F238E27FC236}">
                <a16:creationId xmlns:a16="http://schemas.microsoft.com/office/drawing/2014/main" id="{973B3668-BD3D-4A11-B0EE-81D49680AAC2}"/>
              </a:ext>
            </a:extLst>
          </p:cNvPr>
          <p:cNvSpPr txBox="1"/>
          <p:nvPr/>
        </p:nvSpPr>
        <p:spPr>
          <a:xfrm>
            <a:off x="4287715" y="3805561"/>
            <a:ext cx="685800" cy="369332"/>
          </a:xfrm>
          <a:prstGeom prst="rect">
            <a:avLst/>
          </a:prstGeom>
          <a:noFill/>
          <a:ln>
            <a:noFill/>
          </a:ln>
        </p:spPr>
        <p:txBody>
          <a:bodyPr wrap="square" rtlCol="0">
            <a:spAutoFit/>
          </a:bodyPr>
          <a:lstStyle/>
          <a:p>
            <a:pPr algn="ctr"/>
            <a:r>
              <a:rPr lang="en-US" b="1" dirty="0"/>
              <a:t>12</a:t>
            </a:r>
          </a:p>
        </p:txBody>
      </p:sp>
      <p:grpSp>
        <p:nvGrpSpPr>
          <p:cNvPr id="18" name="Group 5">
            <a:extLst>
              <a:ext uri="{FF2B5EF4-FFF2-40B4-BE49-F238E27FC236}">
                <a16:creationId xmlns:a16="http://schemas.microsoft.com/office/drawing/2014/main" id="{3B6C8997-BEEA-4279-8501-669AE61B4017}"/>
              </a:ext>
            </a:extLst>
          </p:cNvPr>
          <p:cNvGrpSpPr/>
          <p:nvPr/>
        </p:nvGrpSpPr>
        <p:grpSpPr>
          <a:xfrm>
            <a:off x="3810000" y="4800600"/>
            <a:ext cx="762000" cy="685800"/>
            <a:chOff x="3962400" y="2590800"/>
            <a:chExt cx="762000" cy="685800"/>
          </a:xfrm>
        </p:grpSpPr>
        <p:sp>
          <p:nvSpPr>
            <p:cNvPr id="19" name="Rectangle 18">
              <a:extLst>
                <a:ext uri="{FF2B5EF4-FFF2-40B4-BE49-F238E27FC236}">
                  <a16:creationId xmlns:a16="http://schemas.microsoft.com/office/drawing/2014/main" id="{CD29F520-CE04-4A59-98CD-0FF481E1387D}"/>
                </a:ext>
              </a:extLst>
            </p:cNvPr>
            <p:cNvSpPr/>
            <p:nvPr/>
          </p:nvSpPr>
          <p:spPr bwMode="auto">
            <a:xfrm>
              <a:off x="3962400" y="2590800"/>
              <a:ext cx="762000" cy="6858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20" name="Rectangle 19">
              <a:extLst>
                <a:ext uri="{FF2B5EF4-FFF2-40B4-BE49-F238E27FC236}">
                  <a16:creationId xmlns:a16="http://schemas.microsoft.com/office/drawing/2014/main" id="{2292C43F-8C19-4484-A5F8-00F6103BD1D9}"/>
                </a:ext>
              </a:extLst>
            </p:cNvPr>
            <p:cNvSpPr/>
            <p:nvPr/>
          </p:nvSpPr>
          <p:spPr bwMode="auto">
            <a:xfrm>
              <a:off x="3962400" y="2933700"/>
              <a:ext cx="762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21" name="Rectangle 20">
              <a:extLst>
                <a:ext uri="{FF2B5EF4-FFF2-40B4-BE49-F238E27FC236}">
                  <a16:creationId xmlns:a16="http://schemas.microsoft.com/office/drawing/2014/main" id="{5C9BCFB8-B00C-47B8-A942-A585F5C350FC}"/>
                </a:ext>
              </a:extLst>
            </p:cNvPr>
            <p:cNvSpPr/>
            <p:nvPr/>
          </p:nvSpPr>
          <p:spPr bwMode="auto">
            <a:xfrm>
              <a:off x="3962400" y="2933700"/>
              <a:ext cx="381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grpSp>
      <p:sp>
        <p:nvSpPr>
          <p:cNvPr id="22" name="TextBox 21">
            <a:extLst>
              <a:ext uri="{FF2B5EF4-FFF2-40B4-BE49-F238E27FC236}">
                <a16:creationId xmlns:a16="http://schemas.microsoft.com/office/drawing/2014/main" id="{88BA548F-B851-4BBF-B5EA-952EFE6DF71B}"/>
              </a:ext>
            </a:extLst>
          </p:cNvPr>
          <p:cNvSpPr txBox="1"/>
          <p:nvPr/>
        </p:nvSpPr>
        <p:spPr>
          <a:xfrm>
            <a:off x="3848100" y="4796161"/>
            <a:ext cx="685800" cy="369332"/>
          </a:xfrm>
          <a:prstGeom prst="rect">
            <a:avLst/>
          </a:prstGeom>
          <a:noFill/>
          <a:ln>
            <a:noFill/>
          </a:ln>
        </p:spPr>
        <p:txBody>
          <a:bodyPr wrap="square" rtlCol="0">
            <a:spAutoFit/>
          </a:bodyPr>
          <a:lstStyle/>
          <a:p>
            <a:pPr algn="ctr"/>
            <a:r>
              <a:rPr lang="en-US" b="1" dirty="0"/>
              <a:t>7</a:t>
            </a:r>
          </a:p>
        </p:txBody>
      </p:sp>
      <p:cxnSp>
        <p:nvCxnSpPr>
          <p:cNvPr id="23" name="Straight Arrow Connector 22">
            <a:extLst>
              <a:ext uri="{FF2B5EF4-FFF2-40B4-BE49-F238E27FC236}">
                <a16:creationId xmlns:a16="http://schemas.microsoft.com/office/drawing/2014/main" id="{379BAAA5-9CB8-437B-B722-AF19C8AB95E9}"/>
              </a:ext>
            </a:extLst>
          </p:cNvPr>
          <p:cNvCxnSpPr>
            <a:cxnSpLocks/>
            <a:stCxn id="22" idx="0"/>
          </p:cNvCxnSpPr>
          <p:nvPr/>
        </p:nvCxnSpPr>
        <p:spPr bwMode="auto">
          <a:xfrm flipV="1">
            <a:off x="4191000" y="4321209"/>
            <a:ext cx="277127" cy="474952"/>
          </a:xfrm>
          <a:prstGeom prst="straightConnector1">
            <a:avLst/>
          </a:prstGeom>
          <a:solidFill>
            <a:schemeClr val="accent1"/>
          </a:solidFill>
          <a:ln w="38100" cap="sq" cmpd="sng" algn="ctr">
            <a:solidFill>
              <a:schemeClr val="tx1"/>
            </a:solidFill>
            <a:prstDash val="sysDash"/>
            <a:round/>
            <a:headEnd type="none" w="sm" len="sm"/>
            <a:tailEnd type="none"/>
          </a:ln>
          <a:effectLst/>
        </p:spPr>
      </p:cxnSp>
      <p:grpSp>
        <p:nvGrpSpPr>
          <p:cNvPr id="24" name="Group 5">
            <a:extLst>
              <a:ext uri="{FF2B5EF4-FFF2-40B4-BE49-F238E27FC236}">
                <a16:creationId xmlns:a16="http://schemas.microsoft.com/office/drawing/2014/main" id="{B69AA0DF-C12E-4873-BB47-ACB47E022379}"/>
              </a:ext>
            </a:extLst>
          </p:cNvPr>
          <p:cNvGrpSpPr/>
          <p:nvPr/>
        </p:nvGrpSpPr>
        <p:grpSpPr>
          <a:xfrm>
            <a:off x="4953000" y="4800600"/>
            <a:ext cx="762000" cy="685800"/>
            <a:chOff x="3962400" y="2590800"/>
            <a:chExt cx="762000" cy="685800"/>
          </a:xfrm>
        </p:grpSpPr>
        <p:sp>
          <p:nvSpPr>
            <p:cNvPr id="25" name="Rectangle 24">
              <a:extLst>
                <a:ext uri="{FF2B5EF4-FFF2-40B4-BE49-F238E27FC236}">
                  <a16:creationId xmlns:a16="http://schemas.microsoft.com/office/drawing/2014/main" id="{45C4BE7A-5002-4BA3-B4E3-759B3D3579DA}"/>
                </a:ext>
              </a:extLst>
            </p:cNvPr>
            <p:cNvSpPr/>
            <p:nvPr/>
          </p:nvSpPr>
          <p:spPr bwMode="auto">
            <a:xfrm>
              <a:off x="3962400" y="2590800"/>
              <a:ext cx="762000" cy="685800"/>
            </a:xfrm>
            <a:prstGeom prst="rect">
              <a:avLst/>
            </a:prstGeom>
            <a:noFill/>
            <a:ln w="28575" cap="sq"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26" name="Rectangle 25">
              <a:extLst>
                <a:ext uri="{FF2B5EF4-FFF2-40B4-BE49-F238E27FC236}">
                  <a16:creationId xmlns:a16="http://schemas.microsoft.com/office/drawing/2014/main" id="{34F51C94-BDFF-46A2-9F27-FDCB6A8A23D1}"/>
                </a:ext>
              </a:extLst>
            </p:cNvPr>
            <p:cNvSpPr/>
            <p:nvPr/>
          </p:nvSpPr>
          <p:spPr bwMode="auto">
            <a:xfrm>
              <a:off x="3962400" y="2933700"/>
              <a:ext cx="762000" cy="342900"/>
            </a:xfrm>
            <a:prstGeom prst="rect">
              <a:avLst/>
            </a:prstGeom>
            <a:noFill/>
            <a:ln w="28575" cap="sq"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27" name="Rectangle 26">
              <a:extLst>
                <a:ext uri="{FF2B5EF4-FFF2-40B4-BE49-F238E27FC236}">
                  <a16:creationId xmlns:a16="http://schemas.microsoft.com/office/drawing/2014/main" id="{BFF97EBB-F91F-4A7D-BEA7-0288754E75B8}"/>
                </a:ext>
              </a:extLst>
            </p:cNvPr>
            <p:cNvSpPr/>
            <p:nvPr/>
          </p:nvSpPr>
          <p:spPr bwMode="auto">
            <a:xfrm>
              <a:off x="3962400" y="2933700"/>
              <a:ext cx="381000" cy="342900"/>
            </a:xfrm>
            <a:prstGeom prst="rect">
              <a:avLst/>
            </a:prstGeom>
            <a:noFill/>
            <a:ln w="28575" cap="sq"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grpSp>
      <p:sp>
        <p:nvSpPr>
          <p:cNvPr id="28" name="TextBox 27">
            <a:extLst>
              <a:ext uri="{FF2B5EF4-FFF2-40B4-BE49-F238E27FC236}">
                <a16:creationId xmlns:a16="http://schemas.microsoft.com/office/drawing/2014/main" id="{6799332A-AC99-4C1F-A8C8-DA9035277A44}"/>
              </a:ext>
            </a:extLst>
          </p:cNvPr>
          <p:cNvSpPr txBox="1"/>
          <p:nvPr/>
        </p:nvSpPr>
        <p:spPr>
          <a:xfrm>
            <a:off x="4991100" y="4796161"/>
            <a:ext cx="685800" cy="369332"/>
          </a:xfrm>
          <a:prstGeom prst="rect">
            <a:avLst/>
          </a:prstGeom>
          <a:noFill/>
          <a:ln>
            <a:noFill/>
          </a:ln>
        </p:spPr>
        <p:txBody>
          <a:bodyPr wrap="square" rtlCol="0">
            <a:spAutoFit/>
          </a:bodyPr>
          <a:lstStyle/>
          <a:p>
            <a:pPr algn="ctr"/>
            <a:r>
              <a:rPr lang="en-US" b="1" dirty="0">
                <a:solidFill>
                  <a:srgbClr val="FF0000"/>
                </a:solidFill>
              </a:rPr>
              <a:t>13</a:t>
            </a:r>
          </a:p>
        </p:txBody>
      </p:sp>
      <p:cxnSp>
        <p:nvCxnSpPr>
          <p:cNvPr id="29" name="Straight Arrow Connector 28">
            <a:extLst>
              <a:ext uri="{FF2B5EF4-FFF2-40B4-BE49-F238E27FC236}">
                <a16:creationId xmlns:a16="http://schemas.microsoft.com/office/drawing/2014/main" id="{0C0831B0-FA52-4A17-8504-8D25854093D9}"/>
              </a:ext>
            </a:extLst>
          </p:cNvPr>
          <p:cNvCxnSpPr>
            <a:cxnSpLocks/>
            <a:stCxn id="28" idx="0"/>
          </p:cNvCxnSpPr>
          <p:nvPr/>
        </p:nvCxnSpPr>
        <p:spPr bwMode="auto">
          <a:xfrm flipH="1" flipV="1">
            <a:off x="4800600" y="4321208"/>
            <a:ext cx="533400" cy="474953"/>
          </a:xfrm>
          <a:prstGeom prst="straightConnector1">
            <a:avLst/>
          </a:prstGeom>
          <a:solidFill>
            <a:schemeClr val="accent1"/>
          </a:solidFill>
          <a:ln w="38100" cap="sq" cmpd="sng" algn="ctr">
            <a:solidFill>
              <a:srgbClr val="FF0000"/>
            </a:solidFill>
            <a:prstDash val="sysDash"/>
            <a:round/>
            <a:headEnd type="none" w="sm" len="sm"/>
            <a:tailEnd type="none"/>
          </a:ln>
          <a:effectLst/>
        </p:spPr>
      </p:cxnSp>
      <p:grpSp>
        <p:nvGrpSpPr>
          <p:cNvPr id="30" name="Group 5">
            <a:extLst>
              <a:ext uri="{FF2B5EF4-FFF2-40B4-BE49-F238E27FC236}">
                <a16:creationId xmlns:a16="http://schemas.microsoft.com/office/drawing/2014/main" id="{582F5763-C53E-45AA-BACD-9684194AB96C}"/>
              </a:ext>
            </a:extLst>
          </p:cNvPr>
          <p:cNvGrpSpPr/>
          <p:nvPr/>
        </p:nvGrpSpPr>
        <p:grpSpPr>
          <a:xfrm>
            <a:off x="2819400" y="5719439"/>
            <a:ext cx="762000" cy="685800"/>
            <a:chOff x="3962400" y="2590800"/>
            <a:chExt cx="762000" cy="685800"/>
          </a:xfrm>
        </p:grpSpPr>
        <p:sp>
          <p:nvSpPr>
            <p:cNvPr id="31" name="Rectangle 30">
              <a:extLst>
                <a:ext uri="{FF2B5EF4-FFF2-40B4-BE49-F238E27FC236}">
                  <a16:creationId xmlns:a16="http://schemas.microsoft.com/office/drawing/2014/main" id="{0D80ACAC-4A5C-4ECB-BD97-0B346B41E3E1}"/>
                </a:ext>
              </a:extLst>
            </p:cNvPr>
            <p:cNvSpPr/>
            <p:nvPr/>
          </p:nvSpPr>
          <p:spPr bwMode="auto">
            <a:xfrm>
              <a:off x="3962400" y="2590800"/>
              <a:ext cx="762000" cy="685800"/>
            </a:xfrm>
            <a:prstGeom prst="rect">
              <a:avLst/>
            </a:prstGeom>
            <a:noFill/>
            <a:ln w="28575" cap="sq" cmpd="sng" algn="ctr">
              <a:solidFill>
                <a:srgbClr val="00B05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32" name="Rectangle 31">
              <a:extLst>
                <a:ext uri="{FF2B5EF4-FFF2-40B4-BE49-F238E27FC236}">
                  <a16:creationId xmlns:a16="http://schemas.microsoft.com/office/drawing/2014/main" id="{BEBE601F-B16D-448F-8750-471AC5790439}"/>
                </a:ext>
              </a:extLst>
            </p:cNvPr>
            <p:cNvSpPr/>
            <p:nvPr/>
          </p:nvSpPr>
          <p:spPr bwMode="auto">
            <a:xfrm>
              <a:off x="3962400" y="2933700"/>
              <a:ext cx="762000" cy="342900"/>
            </a:xfrm>
            <a:prstGeom prst="rect">
              <a:avLst/>
            </a:prstGeom>
            <a:noFill/>
            <a:ln w="28575" cap="sq" cmpd="sng" algn="ctr">
              <a:solidFill>
                <a:srgbClr val="00B05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33" name="Rectangle 32">
              <a:extLst>
                <a:ext uri="{FF2B5EF4-FFF2-40B4-BE49-F238E27FC236}">
                  <a16:creationId xmlns:a16="http://schemas.microsoft.com/office/drawing/2014/main" id="{298DBF55-BFE5-4F4A-BF0F-69A8B4DE02E6}"/>
                </a:ext>
              </a:extLst>
            </p:cNvPr>
            <p:cNvSpPr/>
            <p:nvPr/>
          </p:nvSpPr>
          <p:spPr bwMode="auto">
            <a:xfrm>
              <a:off x="3962400" y="2933700"/>
              <a:ext cx="381000" cy="342900"/>
            </a:xfrm>
            <a:prstGeom prst="rect">
              <a:avLst/>
            </a:prstGeom>
            <a:noFill/>
            <a:ln w="28575" cap="sq" cmpd="sng" algn="ctr">
              <a:solidFill>
                <a:srgbClr val="00B05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grpSp>
      <p:sp>
        <p:nvSpPr>
          <p:cNvPr id="34" name="TextBox 33">
            <a:extLst>
              <a:ext uri="{FF2B5EF4-FFF2-40B4-BE49-F238E27FC236}">
                <a16:creationId xmlns:a16="http://schemas.microsoft.com/office/drawing/2014/main" id="{EA0A93E9-F2A0-4CEA-9903-CB4AF0BB17FE}"/>
              </a:ext>
            </a:extLst>
          </p:cNvPr>
          <p:cNvSpPr txBox="1"/>
          <p:nvPr/>
        </p:nvSpPr>
        <p:spPr>
          <a:xfrm>
            <a:off x="2857500" y="5715000"/>
            <a:ext cx="685800" cy="369332"/>
          </a:xfrm>
          <a:prstGeom prst="rect">
            <a:avLst/>
          </a:prstGeom>
          <a:noFill/>
          <a:ln>
            <a:noFill/>
          </a:ln>
        </p:spPr>
        <p:txBody>
          <a:bodyPr wrap="square" rtlCol="0">
            <a:spAutoFit/>
          </a:bodyPr>
          <a:lstStyle/>
          <a:p>
            <a:pPr algn="ctr"/>
            <a:r>
              <a:rPr lang="en-US" b="1" dirty="0">
                <a:solidFill>
                  <a:srgbClr val="00B050"/>
                </a:solidFill>
              </a:rPr>
              <a:t>-4</a:t>
            </a:r>
          </a:p>
        </p:txBody>
      </p:sp>
      <p:cxnSp>
        <p:nvCxnSpPr>
          <p:cNvPr id="35" name="Straight Arrow Connector 34">
            <a:extLst>
              <a:ext uri="{FF2B5EF4-FFF2-40B4-BE49-F238E27FC236}">
                <a16:creationId xmlns:a16="http://schemas.microsoft.com/office/drawing/2014/main" id="{ABE17322-F772-4F17-A37B-5FA19FC01F05}"/>
              </a:ext>
            </a:extLst>
          </p:cNvPr>
          <p:cNvCxnSpPr>
            <a:cxnSpLocks/>
            <a:stCxn id="34" idx="0"/>
          </p:cNvCxnSpPr>
          <p:nvPr/>
        </p:nvCxnSpPr>
        <p:spPr bwMode="auto">
          <a:xfrm flipV="1">
            <a:off x="3200400" y="5334000"/>
            <a:ext cx="762000" cy="381000"/>
          </a:xfrm>
          <a:prstGeom prst="straightConnector1">
            <a:avLst/>
          </a:prstGeom>
          <a:solidFill>
            <a:schemeClr val="accent1"/>
          </a:solidFill>
          <a:ln w="38100" cap="sq" cmpd="sng" algn="ctr">
            <a:solidFill>
              <a:srgbClr val="00B050"/>
            </a:solidFill>
            <a:prstDash val="sysDash"/>
            <a:round/>
            <a:headEnd type="none" w="sm" len="sm"/>
            <a:tailEnd type="none"/>
          </a:ln>
          <a:effectLst/>
        </p:spPr>
      </p:cxnSp>
    </p:spTree>
    <p:extLst>
      <p:ext uri="{BB962C8B-B14F-4D97-AF65-F5344CB8AC3E}">
        <p14:creationId xmlns:p14="http://schemas.microsoft.com/office/powerpoint/2010/main" val="3780212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Binary Tree Code: </a:t>
            </a:r>
            <a:r>
              <a:rPr lang="en-US" altLang="en-US" b="1" dirty="0"/>
              <a:t>sum()</a:t>
            </a:r>
          </a:p>
        </p:txBody>
      </p:sp>
      <p:sp>
        <p:nvSpPr>
          <p:cNvPr id="43011" name="Rectangle 3"/>
          <p:cNvSpPr>
            <a:spLocks noGrp="1" noChangeArrowheads="1"/>
          </p:cNvSpPr>
          <p:nvPr>
            <p:ph type="body" idx="1"/>
          </p:nvPr>
        </p:nvSpPr>
        <p:spPr/>
        <p:txBody>
          <a:bodyPr/>
          <a:lstStyle/>
          <a:p>
            <a:pPr marL="0" indent="0">
              <a:spcBef>
                <a:spcPts val="0"/>
              </a:spcBef>
              <a:buNone/>
            </a:pPr>
            <a:r>
              <a:rPr lang="en-US" sz="1800" b="1" dirty="0">
                <a:latin typeface="Courier New" panose="02070309020205020404" pitchFamily="49" charset="0"/>
                <a:cs typeface="Courier New" panose="02070309020205020404" pitchFamily="49" charset="0"/>
              </a:rPr>
              <a:t># File: BinaryTree.py (</a:t>
            </a:r>
            <a:r>
              <a:rPr lang="en-US" sz="1800" b="1" dirty="0" err="1">
                <a:latin typeface="Courier New" panose="02070309020205020404" pitchFamily="49" charset="0"/>
                <a:cs typeface="Courier New" panose="02070309020205020404" pitchFamily="49" charset="0"/>
              </a:rPr>
              <a:t>cont</a:t>
            </a:r>
            <a:r>
              <a:rPr lang="en-US" sz="1800" b="1" dirty="0">
                <a:latin typeface="Courier New" panose="02070309020205020404" pitchFamily="49" charset="0"/>
                <a:cs typeface="Courier New" panose="02070309020205020404" pitchFamily="49" charset="0"/>
              </a:rPr>
              <a:t>)</a:t>
            </a:r>
          </a:p>
          <a:p>
            <a:pPr marL="0" indent="0">
              <a:spcBef>
                <a:spcPts val="0"/>
              </a:spcBef>
              <a:buNone/>
            </a:pPr>
            <a:endParaRPr lang="en-US" sz="1000" b="1" dirty="0">
              <a:latin typeface="Courier New" panose="02070309020205020404" pitchFamily="49" charset="0"/>
              <a:cs typeface="Courier New" panose="02070309020205020404" pitchFamily="49" charset="0"/>
            </a:endParaRPr>
          </a:p>
          <a:p>
            <a:pPr marL="0" indent="0">
              <a:spcBef>
                <a:spcPts val="0"/>
              </a:spcBef>
              <a:buNone/>
            </a:pPr>
            <a:r>
              <a:rPr lang="en-US" sz="1800" b="1" dirty="0">
                <a:latin typeface="Courier New" panose="02070309020205020404" pitchFamily="49" charset="0"/>
                <a:cs typeface="Courier New" panose="02070309020205020404" pitchFamily="49" charset="0"/>
              </a:rPr>
              <a:t>class </a:t>
            </a:r>
            <a:r>
              <a:rPr lang="en-US" sz="1800" b="1" dirty="0" err="1">
                <a:latin typeface="Courier New" panose="02070309020205020404" pitchFamily="49" charset="0"/>
                <a:cs typeface="Courier New" panose="02070309020205020404" pitchFamily="49" charset="0"/>
              </a:rPr>
              <a:t>BinaryTree</a:t>
            </a:r>
            <a:r>
              <a:rPr lang="en-US" sz="1800" b="1" dirty="0">
                <a:latin typeface="Courier New" panose="02070309020205020404" pitchFamily="49" charset="0"/>
                <a:cs typeface="Courier New" panose="02070309020205020404" pitchFamily="49" charset="0"/>
              </a:rPr>
              <a:t>:</a:t>
            </a:r>
          </a:p>
          <a:p>
            <a:pPr marL="0" indent="0">
              <a:spcBef>
                <a:spcPts val="0"/>
              </a:spcBef>
              <a:buNone/>
            </a:pPr>
            <a:r>
              <a:rPr lang="en-US" sz="1000" b="1" dirty="0">
                <a:latin typeface="Courier New" panose="02070309020205020404" pitchFamily="49" charset="0"/>
                <a:cs typeface="Courier New" panose="02070309020205020404" pitchFamily="49" charset="0"/>
              </a:rPr>
              <a:t>... </a:t>
            </a:r>
          </a:p>
          <a:p>
            <a:pPr marL="0" indent="0">
              <a:spcBef>
                <a:spcPts val="0"/>
              </a:spcBef>
              <a:buNone/>
            </a:pPr>
            <a:r>
              <a:rPr lang="en-US" sz="1800" b="1" dirty="0">
                <a:latin typeface="Courier New" panose="02070309020205020404" pitchFamily="49" charset="0"/>
                <a:cs typeface="Courier New" panose="02070309020205020404" pitchFamily="49" charset="0"/>
              </a:rPr>
              <a:t>   def sum(self):</a:t>
            </a:r>
          </a:p>
          <a:p>
            <a:pPr marL="0" indent="0">
              <a:spcBef>
                <a:spcPts val="0"/>
              </a:spcBef>
              <a:buNone/>
            </a:pPr>
            <a:r>
              <a:rPr lang="en-US" sz="1800" b="1" dirty="0">
                <a:latin typeface="Courier New" panose="02070309020205020404" pitchFamily="49" charset="0"/>
                <a:cs typeface="Courier New" panose="02070309020205020404" pitchFamily="49" charset="0"/>
              </a:rPr>
              <a:t>      return self._</a:t>
            </a:r>
            <a:r>
              <a:rPr lang="en-US" sz="1800" b="1" dirty="0" err="1">
                <a:latin typeface="Courier New" panose="02070309020205020404" pitchFamily="49" charset="0"/>
                <a:cs typeface="Courier New" panose="02070309020205020404" pitchFamily="49" charset="0"/>
              </a:rPr>
              <a:t>sum_help</a:t>
            </a:r>
            <a:r>
              <a:rPr lang="en-US" sz="1800" b="1" dirty="0">
                <a:latin typeface="Courier New" panose="02070309020205020404" pitchFamily="49" charset="0"/>
                <a:cs typeface="Courier New" panose="02070309020205020404" pitchFamily="49" charset="0"/>
              </a:rPr>
              <a:t>(</a:t>
            </a:r>
            <a:r>
              <a:rPr lang="en-US" sz="1800" b="1" dirty="0" err="1">
                <a:latin typeface="Courier New" panose="02070309020205020404" pitchFamily="49" charset="0"/>
                <a:cs typeface="Courier New" panose="02070309020205020404" pitchFamily="49" charset="0"/>
              </a:rPr>
              <a:t>self._top</a:t>
            </a:r>
            <a:r>
              <a:rPr lang="en-US" sz="1800" b="1" dirty="0">
                <a:latin typeface="Courier New" panose="02070309020205020404" pitchFamily="49" charset="0"/>
                <a:cs typeface="Courier New" panose="02070309020205020404" pitchFamily="49" charset="0"/>
              </a:rPr>
              <a:t>)</a:t>
            </a:r>
          </a:p>
          <a:p>
            <a:pPr marL="0" indent="0">
              <a:spcBef>
                <a:spcPts val="0"/>
              </a:spcBef>
              <a:buNone/>
            </a:pPr>
            <a:r>
              <a:rPr lang="en-US" sz="1800" b="1" dirty="0">
                <a:latin typeface="Courier New" panose="02070309020205020404" pitchFamily="49" charset="0"/>
                <a:cs typeface="Courier New" panose="02070309020205020404" pitchFamily="49" charset="0"/>
              </a:rPr>
              <a:t>   def _</a:t>
            </a:r>
            <a:r>
              <a:rPr lang="en-US" sz="1800" b="1" dirty="0" err="1">
                <a:latin typeface="Courier New" panose="02070309020205020404" pitchFamily="49" charset="0"/>
                <a:cs typeface="Courier New" panose="02070309020205020404" pitchFamily="49" charset="0"/>
              </a:rPr>
              <a:t>sum_help</a:t>
            </a:r>
            <a:r>
              <a:rPr lang="en-US" sz="1800" b="1" dirty="0">
                <a:latin typeface="Courier New" panose="02070309020205020404" pitchFamily="49" charset="0"/>
                <a:cs typeface="Courier New" panose="02070309020205020404" pitchFamily="49" charset="0"/>
              </a:rPr>
              <a:t>(self, </a:t>
            </a:r>
            <a:r>
              <a:rPr lang="en-US" sz="1800" b="1" dirty="0" err="1">
                <a:latin typeface="Courier New" panose="02070309020205020404" pitchFamily="49" charset="0"/>
                <a:cs typeface="Courier New" panose="02070309020205020404" pitchFamily="49" charset="0"/>
              </a:rPr>
              <a:t>cur_node</a:t>
            </a:r>
            <a:r>
              <a:rPr lang="en-US" sz="1800" b="1" dirty="0">
                <a:latin typeface="Courier New" panose="02070309020205020404" pitchFamily="49" charset="0"/>
                <a:cs typeface="Courier New" panose="02070309020205020404" pitchFamily="49" charset="0"/>
              </a:rPr>
              <a:t>):</a:t>
            </a:r>
          </a:p>
          <a:p>
            <a:pPr marL="0" indent="0">
              <a:spcBef>
                <a:spcPts val="0"/>
              </a:spcBef>
              <a:buNone/>
            </a:pPr>
            <a:r>
              <a:rPr lang="en-US" sz="1800" b="1" dirty="0">
                <a:latin typeface="Courier New" panose="02070309020205020404" pitchFamily="49" charset="0"/>
                <a:cs typeface="Courier New" panose="02070309020205020404" pitchFamily="49" charset="0"/>
              </a:rPr>
              <a:t>      if </a:t>
            </a:r>
            <a:r>
              <a:rPr lang="en-US" sz="1800" b="1" dirty="0" err="1">
                <a:latin typeface="Courier New" panose="02070309020205020404" pitchFamily="49" charset="0"/>
                <a:cs typeface="Courier New" panose="02070309020205020404" pitchFamily="49" charset="0"/>
              </a:rPr>
              <a:t>cur_node</a:t>
            </a:r>
            <a:r>
              <a:rPr lang="en-US" sz="1800" b="1" dirty="0">
                <a:latin typeface="Courier New" panose="02070309020205020404" pitchFamily="49" charset="0"/>
                <a:cs typeface="Courier New" panose="02070309020205020404" pitchFamily="49" charset="0"/>
              </a:rPr>
              <a:t> == None:</a:t>
            </a:r>
          </a:p>
          <a:p>
            <a:pPr marL="0" indent="0">
              <a:spcBef>
                <a:spcPts val="0"/>
              </a:spcBef>
              <a:buNone/>
            </a:pPr>
            <a:r>
              <a:rPr lang="en-US" sz="1800" b="1" dirty="0">
                <a:latin typeface="Courier New" panose="02070309020205020404" pitchFamily="49" charset="0"/>
                <a:cs typeface="Courier New" panose="02070309020205020404" pitchFamily="49" charset="0"/>
              </a:rPr>
              <a:t>         return 0;</a:t>
            </a:r>
          </a:p>
          <a:p>
            <a:pPr marL="0" indent="0">
              <a:spcBef>
                <a:spcPts val="0"/>
              </a:spcBef>
              <a:buNone/>
            </a:pPr>
            <a:r>
              <a:rPr lang="en-US" sz="1800" b="1" dirty="0">
                <a:latin typeface="Courier New" panose="02070309020205020404" pitchFamily="49" charset="0"/>
                <a:cs typeface="Courier New" panose="02070309020205020404" pitchFamily="49" charset="0"/>
              </a:rPr>
              <a:t>      else:</a:t>
            </a:r>
          </a:p>
          <a:p>
            <a:pPr marL="0" indent="0">
              <a:spcBef>
                <a:spcPts val="0"/>
              </a:spcBef>
              <a:buNone/>
            </a:pPr>
            <a:r>
              <a:rPr lang="en-US" sz="1800" b="1" dirty="0">
                <a:latin typeface="Courier New" panose="02070309020205020404" pitchFamily="49" charset="0"/>
                <a:cs typeface="Courier New" panose="02070309020205020404" pitchFamily="49" charset="0"/>
              </a:rPr>
              <a:t>         return (self._</a:t>
            </a:r>
            <a:r>
              <a:rPr lang="en-US" sz="1800" b="1" dirty="0" err="1">
                <a:latin typeface="Courier New" panose="02070309020205020404" pitchFamily="49" charset="0"/>
                <a:cs typeface="Courier New" panose="02070309020205020404" pitchFamily="49" charset="0"/>
              </a:rPr>
              <a:t>sum_help</a:t>
            </a:r>
            <a:r>
              <a:rPr lang="en-US" sz="1800" b="1" dirty="0">
                <a:latin typeface="Courier New" panose="02070309020205020404" pitchFamily="49" charset="0"/>
                <a:cs typeface="Courier New" panose="02070309020205020404" pitchFamily="49" charset="0"/>
              </a:rPr>
              <a:t>(</a:t>
            </a:r>
            <a:r>
              <a:rPr lang="en-US" sz="1800" b="1" dirty="0" err="1">
                <a:latin typeface="Courier New" panose="02070309020205020404" pitchFamily="49" charset="0"/>
                <a:cs typeface="Courier New" panose="02070309020205020404" pitchFamily="49" charset="0"/>
              </a:rPr>
              <a:t>cur_node._left</a:t>
            </a:r>
            <a:r>
              <a:rPr lang="en-US" sz="1800" b="1" dirty="0">
                <a:latin typeface="Courier New" panose="02070309020205020404" pitchFamily="49" charset="0"/>
                <a:cs typeface="Courier New" panose="02070309020205020404" pitchFamily="49" charset="0"/>
              </a:rPr>
              <a:t>)</a:t>
            </a:r>
          </a:p>
          <a:p>
            <a:pPr marL="0" indent="0">
              <a:spcBef>
                <a:spcPts val="0"/>
              </a:spcBef>
              <a:buNone/>
            </a:pPr>
            <a:r>
              <a:rPr lang="en-US" sz="1800" b="1" dirty="0">
                <a:latin typeface="Courier New" panose="02070309020205020404" pitchFamily="49" charset="0"/>
                <a:cs typeface="Courier New" panose="02070309020205020404" pitchFamily="49" charset="0"/>
              </a:rPr>
              <a:t>                 + </a:t>
            </a:r>
            <a:r>
              <a:rPr lang="en-US" sz="1800" b="1" dirty="0" err="1">
                <a:latin typeface="Courier New" panose="02070309020205020404" pitchFamily="49" charset="0"/>
                <a:cs typeface="Courier New" panose="02070309020205020404" pitchFamily="49" charset="0"/>
              </a:rPr>
              <a:t>cur_node._value</a:t>
            </a:r>
            <a:endParaRPr lang="en-US" sz="1800" b="1" dirty="0">
              <a:latin typeface="Courier New" panose="02070309020205020404" pitchFamily="49" charset="0"/>
              <a:cs typeface="Courier New" panose="02070309020205020404" pitchFamily="49" charset="0"/>
            </a:endParaRPr>
          </a:p>
          <a:p>
            <a:pPr marL="0" indent="0">
              <a:spcBef>
                <a:spcPts val="0"/>
              </a:spcBef>
              <a:buNone/>
            </a:pPr>
            <a:r>
              <a:rPr lang="en-US" sz="1800" b="1" dirty="0">
                <a:latin typeface="Courier New" panose="02070309020205020404" pitchFamily="49" charset="0"/>
                <a:cs typeface="Courier New" panose="02070309020205020404" pitchFamily="49" charset="0"/>
              </a:rPr>
              <a:t>                 + self._</a:t>
            </a:r>
            <a:r>
              <a:rPr lang="en-US" sz="1800" b="1" dirty="0" err="1">
                <a:latin typeface="Courier New" panose="02070309020205020404" pitchFamily="49" charset="0"/>
                <a:cs typeface="Courier New" panose="02070309020205020404" pitchFamily="49" charset="0"/>
              </a:rPr>
              <a:t>sum_help</a:t>
            </a:r>
            <a:r>
              <a:rPr lang="en-US" sz="1800" b="1" dirty="0">
                <a:latin typeface="Courier New" panose="02070309020205020404" pitchFamily="49" charset="0"/>
                <a:cs typeface="Courier New" panose="02070309020205020404" pitchFamily="49" charset="0"/>
              </a:rPr>
              <a:t>(</a:t>
            </a:r>
            <a:r>
              <a:rPr lang="en-US" sz="1800" b="1" dirty="0" err="1">
                <a:latin typeface="Courier New" panose="02070309020205020404" pitchFamily="49" charset="0"/>
                <a:cs typeface="Courier New" panose="02070309020205020404" pitchFamily="49" charset="0"/>
              </a:rPr>
              <a:t>cur_node._right</a:t>
            </a:r>
            <a:r>
              <a:rPr lang="en-US" sz="1800" b="1" dirty="0">
                <a:latin typeface="Courier New" panose="02070309020205020404" pitchFamily="49" charset="0"/>
                <a:cs typeface="Courier New" panose="02070309020205020404" pitchFamily="49" charset="0"/>
              </a:rPr>
              <a:t>))</a:t>
            </a: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15</a:t>
            </a:fld>
            <a:endParaRPr lang="en-US"/>
          </a:p>
        </p:txBody>
      </p:sp>
      <p:sp>
        <p:nvSpPr>
          <p:cNvPr id="5" name="Date Placeholder 4"/>
          <p:cNvSpPr>
            <a:spLocks noGrp="1"/>
          </p:cNvSpPr>
          <p:nvPr>
            <p:ph type="dt" sz="half" idx="10"/>
          </p:nvPr>
        </p:nvSpPr>
        <p:spPr/>
        <p:txBody>
          <a:bodyPr/>
          <a:lstStyle/>
          <a:p>
            <a:pPr>
              <a:defRPr/>
            </a:pPr>
            <a:fld id="{B2A0CC13-E366-4764-A88C-37B4E99A0F7B}" type="datetime1">
              <a:rPr lang="en-US" smtClean="0"/>
              <a:t>8/2/2021</a:t>
            </a:fld>
            <a:endParaRPr lang="en-US"/>
          </a:p>
        </p:txBody>
      </p:sp>
      <p:sp>
        <p:nvSpPr>
          <p:cNvPr id="6" name="Footer Placeholder 5"/>
          <p:cNvSpPr>
            <a:spLocks noGrp="1"/>
          </p:cNvSpPr>
          <p:nvPr>
            <p:ph type="ftr" sz="quarter" idx="11"/>
          </p:nvPr>
        </p:nvSpPr>
        <p:spPr/>
        <p:txBody>
          <a:bodyPr/>
          <a:lstStyle/>
          <a:p>
            <a:pPr>
              <a:defRPr/>
            </a:pPr>
            <a:r>
              <a:rPr lang="en-US"/>
              <a:t>Copyright (c) John K. Ostlund</a:t>
            </a:r>
          </a:p>
        </p:txBody>
      </p:sp>
    </p:spTree>
    <p:extLst>
      <p:ext uri="{BB962C8B-B14F-4D97-AF65-F5344CB8AC3E}">
        <p14:creationId xmlns:p14="http://schemas.microsoft.com/office/powerpoint/2010/main" val="3095473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Binary Tree Application (</a:t>
            </a:r>
            <a:r>
              <a:rPr lang="en-US" altLang="en-US" dirty="0" err="1"/>
              <a:t>cont</a:t>
            </a:r>
            <a:r>
              <a:rPr lang="en-US" altLang="en-US" dirty="0"/>
              <a:t>)</a:t>
            </a:r>
            <a:endParaRPr lang="en-US" altLang="en-US" b="1" dirty="0"/>
          </a:p>
        </p:txBody>
      </p:sp>
      <p:sp>
        <p:nvSpPr>
          <p:cNvPr id="43011" name="Rectangle 3"/>
          <p:cNvSpPr>
            <a:spLocks noGrp="1" noChangeArrowheads="1"/>
          </p:cNvSpPr>
          <p:nvPr>
            <p:ph type="body" idx="1"/>
          </p:nvPr>
        </p:nvSpPr>
        <p:spPr/>
        <p:txBody>
          <a:bodyPr/>
          <a:lstStyle/>
          <a:p>
            <a:pPr marL="0" indent="0">
              <a:spcBef>
                <a:spcPts val="0"/>
              </a:spcBef>
              <a:buNone/>
            </a:pPr>
            <a:r>
              <a:rPr lang="en-US" sz="2000" b="1" dirty="0">
                <a:latin typeface="Courier New" panose="02070309020205020404" pitchFamily="49" charset="0"/>
                <a:cs typeface="Courier New" panose="02070309020205020404" pitchFamily="49" charset="0"/>
              </a:rPr>
              <a:t># File: BT_app.py</a:t>
            </a:r>
          </a:p>
          <a:p>
            <a:pPr marL="0" indent="0">
              <a:spcBef>
                <a:spcPts val="0"/>
              </a:spcBef>
              <a:buNone/>
            </a:pPr>
            <a:r>
              <a:rPr lang="en-US" sz="2000" b="1" dirty="0">
                <a:latin typeface="Courier New" panose="02070309020205020404" pitchFamily="49" charset="0"/>
                <a:cs typeface="Courier New" panose="02070309020205020404" pitchFamily="49" charset="0"/>
              </a:rPr>
              <a:t>...</a:t>
            </a:r>
          </a:p>
          <a:p>
            <a:pPr marL="0" indent="0">
              <a:spcBef>
                <a:spcPts val="0"/>
              </a:spcBef>
              <a:buNone/>
            </a:pPr>
            <a:r>
              <a:rPr lang="en-US" sz="2000" b="1" dirty="0">
                <a:solidFill>
                  <a:srgbClr val="FF0000"/>
                </a:solidFill>
                <a:latin typeface="Courier New" panose="02070309020205020404" pitchFamily="49" charset="0"/>
                <a:cs typeface="Courier New" panose="02070309020205020404" pitchFamily="49" charset="0"/>
              </a:rPr>
              <a:t>print('bt1.sum():', bt1.sum())   # bt1.sum(): 28</a:t>
            </a:r>
            <a:endParaRPr lang="en-US" sz="2000" b="1" dirty="0">
              <a:solidFill>
                <a:srgbClr val="00B050"/>
              </a:solidFill>
              <a:latin typeface="Courier New" panose="02070309020205020404" pitchFamily="49" charset="0"/>
              <a:cs typeface="Courier New" panose="02070309020205020404" pitchFamily="49" charset="0"/>
            </a:endParaRPr>
          </a:p>
          <a:p>
            <a:pPr marL="0" indent="0" eaLnBrk="1" hangingPunct="1">
              <a:buNone/>
            </a:pPr>
            <a:endParaRPr lang="en-US" altLang="en-US" sz="1800" b="1" dirty="0">
              <a:latin typeface="Courier New" panose="02070309020205020404" pitchFamily="49" charset="0"/>
              <a:cs typeface="Courier New" panose="02070309020205020404" pitchFamily="49" charset="0"/>
            </a:endParaRP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16</a:t>
            </a:fld>
            <a:endParaRPr lang="en-US"/>
          </a:p>
        </p:txBody>
      </p:sp>
      <p:sp>
        <p:nvSpPr>
          <p:cNvPr id="5" name="Date Placeholder 4"/>
          <p:cNvSpPr>
            <a:spLocks noGrp="1"/>
          </p:cNvSpPr>
          <p:nvPr>
            <p:ph type="dt" sz="half" idx="10"/>
          </p:nvPr>
        </p:nvSpPr>
        <p:spPr/>
        <p:txBody>
          <a:bodyPr/>
          <a:lstStyle/>
          <a:p>
            <a:pPr>
              <a:defRPr/>
            </a:pPr>
            <a:fld id="{B2A0CC13-E366-4764-A88C-37B4E99A0F7B}" type="datetime1">
              <a:rPr lang="en-US" smtClean="0"/>
              <a:t>8/2/2021</a:t>
            </a:fld>
            <a:endParaRPr lang="en-US"/>
          </a:p>
        </p:txBody>
      </p:sp>
      <p:sp>
        <p:nvSpPr>
          <p:cNvPr id="6" name="Footer Placeholder 5"/>
          <p:cNvSpPr>
            <a:spLocks noGrp="1"/>
          </p:cNvSpPr>
          <p:nvPr>
            <p:ph type="ftr" sz="quarter" idx="11"/>
          </p:nvPr>
        </p:nvSpPr>
        <p:spPr/>
        <p:txBody>
          <a:bodyPr/>
          <a:lstStyle/>
          <a:p>
            <a:pPr>
              <a:defRPr/>
            </a:pPr>
            <a:r>
              <a:rPr lang="en-US"/>
              <a:t>Copyright (c) John K. Ostlund</a:t>
            </a:r>
          </a:p>
        </p:txBody>
      </p:sp>
      <p:cxnSp>
        <p:nvCxnSpPr>
          <p:cNvPr id="7" name="Straight Arrow Connector 6">
            <a:extLst>
              <a:ext uri="{FF2B5EF4-FFF2-40B4-BE49-F238E27FC236}">
                <a16:creationId xmlns:a16="http://schemas.microsoft.com/office/drawing/2014/main" id="{FC054F9D-9431-41C4-9B4B-9400DFF294ED}"/>
              </a:ext>
            </a:extLst>
          </p:cNvPr>
          <p:cNvCxnSpPr>
            <a:cxnSpLocks/>
            <a:stCxn id="9" idx="3"/>
          </p:cNvCxnSpPr>
          <p:nvPr/>
        </p:nvCxnSpPr>
        <p:spPr bwMode="auto">
          <a:xfrm>
            <a:off x="3486150" y="4136542"/>
            <a:ext cx="673768" cy="0"/>
          </a:xfrm>
          <a:prstGeom prst="straightConnector1">
            <a:avLst/>
          </a:prstGeom>
          <a:solidFill>
            <a:schemeClr val="accent1"/>
          </a:solidFill>
          <a:ln w="38100" cap="sq" cmpd="sng" algn="ctr">
            <a:solidFill>
              <a:schemeClr val="tx1"/>
            </a:solidFill>
            <a:prstDash val="sysDash"/>
            <a:round/>
            <a:headEnd type="none" w="sm" len="sm"/>
            <a:tailEnd type="none"/>
          </a:ln>
          <a:effectLst/>
        </p:spPr>
      </p:cxnSp>
      <p:sp>
        <p:nvSpPr>
          <p:cNvPr id="8" name="Rectangle 7">
            <a:extLst>
              <a:ext uri="{FF2B5EF4-FFF2-40B4-BE49-F238E27FC236}">
                <a16:creationId xmlns:a16="http://schemas.microsoft.com/office/drawing/2014/main" id="{F84CB2FE-3D74-4EAD-935B-3E15410C609E}"/>
              </a:ext>
            </a:extLst>
          </p:cNvPr>
          <p:cNvSpPr/>
          <p:nvPr/>
        </p:nvSpPr>
        <p:spPr bwMode="auto">
          <a:xfrm>
            <a:off x="2476500" y="3747703"/>
            <a:ext cx="1207168" cy="838198"/>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9" name="TextBox 8">
            <a:extLst>
              <a:ext uri="{FF2B5EF4-FFF2-40B4-BE49-F238E27FC236}">
                <a16:creationId xmlns:a16="http://schemas.microsoft.com/office/drawing/2014/main" id="{4E32DC85-E750-48B6-A0C3-66AC4718F127}"/>
              </a:ext>
            </a:extLst>
          </p:cNvPr>
          <p:cNvSpPr txBox="1"/>
          <p:nvPr/>
        </p:nvSpPr>
        <p:spPr>
          <a:xfrm>
            <a:off x="2647950" y="3951876"/>
            <a:ext cx="838200" cy="369332"/>
          </a:xfrm>
          <a:prstGeom prst="rect">
            <a:avLst/>
          </a:prstGeom>
          <a:noFill/>
        </p:spPr>
        <p:txBody>
          <a:bodyPr wrap="square" rtlCol="0">
            <a:spAutoFit/>
          </a:bodyPr>
          <a:lstStyle/>
          <a:p>
            <a:pPr algn="ctr"/>
            <a:r>
              <a:rPr lang="en-US" b="1" dirty="0">
                <a:latin typeface="Courier New" panose="02070309020205020404" pitchFamily="49" charset="0"/>
                <a:cs typeface="Courier New" panose="02070309020205020404" pitchFamily="49" charset="0"/>
              </a:rPr>
              <a:t>top</a:t>
            </a:r>
          </a:p>
        </p:txBody>
      </p:sp>
      <p:cxnSp>
        <p:nvCxnSpPr>
          <p:cNvPr id="10" name="Straight Arrow Connector 9">
            <a:extLst>
              <a:ext uri="{FF2B5EF4-FFF2-40B4-BE49-F238E27FC236}">
                <a16:creationId xmlns:a16="http://schemas.microsoft.com/office/drawing/2014/main" id="{1A4603CB-3B90-4596-B5BC-CABBD7B0C724}"/>
              </a:ext>
            </a:extLst>
          </p:cNvPr>
          <p:cNvCxnSpPr>
            <a:cxnSpLocks/>
            <a:stCxn id="11" idx="3"/>
          </p:cNvCxnSpPr>
          <p:nvPr/>
        </p:nvCxnSpPr>
        <p:spPr bwMode="auto">
          <a:xfrm>
            <a:off x="2000250" y="4114802"/>
            <a:ext cx="438150" cy="0"/>
          </a:xfrm>
          <a:prstGeom prst="straightConnector1">
            <a:avLst/>
          </a:prstGeom>
          <a:solidFill>
            <a:schemeClr val="accent1"/>
          </a:solidFill>
          <a:ln w="38100" cap="sq" cmpd="sng" algn="ctr">
            <a:solidFill>
              <a:schemeClr val="tx1"/>
            </a:solidFill>
            <a:prstDash val="sysDash"/>
            <a:round/>
            <a:headEnd type="none" w="sm" len="sm"/>
            <a:tailEnd type="none"/>
          </a:ln>
          <a:effectLst/>
        </p:spPr>
      </p:cxnSp>
      <p:sp>
        <p:nvSpPr>
          <p:cNvPr id="11" name="TextBox 10">
            <a:extLst>
              <a:ext uri="{FF2B5EF4-FFF2-40B4-BE49-F238E27FC236}">
                <a16:creationId xmlns:a16="http://schemas.microsoft.com/office/drawing/2014/main" id="{AEC2EE02-B42B-4F4D-BD3D-F9DDB036F5A7}"/>
              </a:ext>
            </a:extLst>
          </p:cNvPr>
          <p:cNvSpPr txBox="1"/>
          <p:nvPr/>
        </p:nvSpPr>
        <p:spPr>
          <a:xfrm>
            <a:off x="1162050" y="3930136"/>
            <a:ext cx="838200" cy="369332"/>
          </a:xfrm>
          <a:prstGeom prst="rect">
            <a:avLst/>
          </a:prstGeom>
          <a:noFill/>
        </p:spPr>
        <p:txBody>
          <a:bodyPr wrap="square" rtlCol="0">
            <a:spAutoFit/>
          </a:bodyPr>
          <a:lstStyle/>
          <a:p>
            <a:pPr algn="ctr"/>
            <a:r>
              <a:rPr lang="en-US" b="1" dirty="0">
                <a:latin typeface="Courier New" panose="02070309020205020404" pitchFamily="49" charset="0"/>
                <a:cs typeface="Courier New" panose="02070309020205020404" pitchFamily="49" charset="0"/>
              </a:rPr>
              <a:t>bt1</a:t>
            </a:r>
          </a:p>
        </p:txBody>
      </p:sp>
      <p:grpSp>
        <p:nvGrpSpPr>
          <p:cNvPr id="13" name="Group 5">
            <a:extLst>
              <a:ext uri="{FF2B5EF4-FFF2-40B4-BE49-F238E27FC236}">
                <a16:creationId xmlns:a16="http://schemas.microsoft.com/office/drawing/2014/main" id="{220FFD0A-951F-45B5-BA40-37CA5B1E3BA2}"/>
              </a:ext>
            </a:extLst>
          </p:cNvPr>
          <p:cNvGrpSpPr/>
          <p:nvPr/>
        </p:nvGrpSpPr>
        <p:grpSpPr>
          <a:xfrm>
            <a:off x="4249615" y="3810000"/>
            <a:ext cx="762000" cy="685800"/>
            <a:chOff x="3962400" y="2590800"/>
            <a:chExt cx="762000" cy="685800"/>
          </a:xfrm>
        </p:grpSpPr>
        <p:sp>
          <p:nvSpPr>
            <p:cNvPr id="14" name="Rectangle 13">
              <a:extLst>
                <a:ext uri="{FF2B5EF4-FFF2-40B4-BE49-F238E27FC236}">
                  <a16:creationId xmlns:a16="http://schemas.microsoft.com/office/drawing/2014/main" id="{186F4898-2BA5-4D77-9005-2AAA0D40D1F8}"/>
                </a:ext>
              </a:extLst>
            </p:cNvPr>
            <p:cNvSpPr/>
            <p:nvPr/>
          </p:nvSpPr>
          <p:spPr bwMode="auto">
            <a:xfrm>
              <a:off x="3962400" y="2590800"/>
              <a:ext cx="762000" cy="6858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15" name="Rectangle 14">
              <a:extLst>
                <a:ext uri="{FF2B5EF4-FFF2-40B4-BE49-F238E27FC236}">
                  <a16:creationId xmlns:a16="http://schemas.microsoft.com/office/drawing/2014/main" id="{38C802C7-719F-4921-A873-6BDD2E70990B}"/>
                </a:ext>
              </a:extLst>
            </p:cNvPr>
            <p:cNvSpPr/>
            <p:nvPr/>
          </p:nvSpPr>
          <p:spPr bwMode="auto">
            <a:xfrm>
              <a:off x="3962400" y="2933700"/>
              <a:ext cx="762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16" name="Rectangle 15">
              <a:extLst>
                <a:ext uri="{FF2B5EF4-FFF2-40B4-BE49-F238E27FC236}">
                  <a16:creationId xmlns:a16="http://schemas.microsoft.com/office/drawing/2014/main" id="{C6E0D3D1-1204-4ECC-8420-87A2FCFA8AE9}"/>
                </a:ext>
              </a:extLst>
            </p:cNvPr>
            <p:cNvSpPr/>
            <p:nvPr/>
          </p:nvSpPr>
          <p:spPr bwMode="auto">
            <a:xfrm>
              <a:off x="3962400" y="2933700"/>
              <a:ext cx="381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grpSp>
      <p:sp>
        <p:nvSpPr>
          <p:cNvPr id="17" name="TextBox 16">
            <a:extLst>
              <a:ext uri="{FF2B5EF4-FFF2-40B4-BE49-F238E27FC236}">
                <a16:creationId xmlns:a16="http://schemas.microsoft.com/office/drawing/2014/main" id="{973B3668-BD3D-4A11-B0EE-81D49680AAC2}"/>
              </a:ext>
            </a:extLst>
          </p:cNvPr>
          <p:cNvSpPr txBox="1"/>
          <p:nvPr/>
        </p:nvSpPr>
        <p:spPr>
          <a:xfrm>
            <a:off x="4287715" y="3805561"/>
            <a:ext cx="685800" cy="369332"/>
          </a:xfrm>
          <a:prstGeom prst="rect">
            <a:avLst/>
          </a:prstGeom>
          <a:noFill/>
          <a:ln>
            <a:noFill/>
          </a:ln>
        </p:spPr>
        <p:txBody>
          <a:bodyPr wrap="square" rtlCol="0">
            <a:spAutoFit/>
          </a:bodyPr>
          <a:lstStyle/>
          <a:p>
            <a:pPr algn="ctr"/>
            <a:r>
              <a:rPr lang="en-US" b="1" dirty="0"/>
              <a:t>12</a:t>
            </a:r>
          </a:p>
        </p:txBody>
      </p:sp>
      <p:grpSp>
        <p:nvGrpSpPr>
          <p:cNvPr id="18" name="Group 5">
            <a:extLst>
              <a:ext uri="{FF2B5EF4-FFF2-40B4-BE49-F238E27FC236}">
                <a16:creationId xmlns:a16="http://schemas.microsoft.com/office/drawing/2014/main" id="{3B6C8997-BEEA-4279-8501-669AE61B4017}"/>
              </a:ext>
            </a:extLst>
          </p:cNvPr>
          <p:cNvGrpSpPr/>
          <p:nvPr/>
        </p:nvGrpSpPr>
        <p:grpSpPr>
          <a:xfrm>
            <a:off x="3810000" y="4800600"/>
            <a:ext cx="762000" cy="685800"/>
            <a:chOff x="3962400" y="2590800"/>
            <a:chExt cx="762000" cy="685800"/>
          </a:xfrm>
        </p:grpSpPr>
        <p:sp>
          <p:nvSpPr>
            <p:cNvPr id="19" name="Rectangle 18">
              <a:extLst>
                <a:ext uri="{FF2B5EF4-FFF2-40B4-BE49-F238E27FC236}">
                  <a16:creationId xmlns:a16="http://schemas.microsoft.com/office/drawing/2014/main" id="{CD29F520-CE04-4A59-98CD-0FF481E1387D}"/>
                </a:ext>
              </a:extLst>
            </p:cNvPr>
            <p:cNvSpPr/>
            <p:nvPr/>
          </p:nvSpPr>
          <p:spPr bwMode="auto">
            <a:xfrm>
              <a:off x="3962400" y="2590800"/>
              <a:ext cx="762000" cy="6858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20" name="Rectangle 19">
              <a:extLst>
                <a:ext uri="{FF2B5EF4-FFF2-40B4-BE49-F238E27FC236}">
                  <a16:creationId xmlns:a16="http://schemas.microsoft.com/office/drawing/2014/main" id="{2292C43F-8C19-4484-A5F8-00F6103BD1D9}"/>
                </a:ext>
              </a:extLst>
            </p:cNvPr>
            <p:cNvSpPr/>
            <p:nvPr/>
          </p:nvSpPr>
          <p:spPr bwMode="auto">
            <a:xfrm>
              <a:off x="3962400" y="2933700"/>
              <a:ext cx="762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21" name="Rectangle 20">
              <a:extLst>
                <a:ext uri="{FF2B5EF4-FFF2-40B4-BE49-F238E27FC236}">
                  <a16:creationId xmlns:a16="http://schemas.microsoft.com/office/drawing/2014/main" id="{5C9BCFB8-B00C-47B8-A942-A585F5C350FC}"/>
                </a:ext>
              </a:extLst>
            </p:cNvPr>
            <p:cNvSpPr/>
            <p:nvPr/>
          </p:nvSpPr>
          <p:spPr bwMode="auto">
            <a:xfrm>
              <a:off x="3962400" y="2933700"/>
              <a:ext cx="381000" cy="342900"/>
            </a:xfrm>
            <a:prstGeom prst="rect">
              <a:avLst/>
            </a:prstGeom>
            <a:noFill/>
            <a:ln w="28575"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grpSp>
      <p:sp>
        <p:nvSpPr>
          <p:cNvPr id="22" name="TextBox 21">
            <a:extLst>
              <a:ext uri="{FF2B5EF4-FFF2-40B4-BE49-F238E27FC236}">
                <a16:creationId xmlns:a16="http://schemas.microsoft.com/office/drawing/2014/main" id="{88BA548F-B851-4BBF-B5EA-952EFE6DF71B}"/>
              </a:ext>
            </a:extLst>
          </p:cNvPr>
          <p:cNvSpPr txBox="1"/>
          <p:nvPr/>
        </p:nvSpPr>
        <p:spPr>
          <a:xfrm>
            <a:off x="3848100" y="4796161"/>
            <a:ext cx="685800" cy="369332"/>
          </a:xfrm>
          <a:prstGeom prst="rect">
            <a:avLst/>
          </a:prstGeom>
          <a:noFill/>
          <a:ln>
            <a:noFill/>
          </a:ln>
        </p:spPr>
        <p:txBody>
          <a:bodyPr wrap="square" rtlCol="0">
            <a:spAutoFit/>
          </a:bodyPr>
          <a:lstStyle/>
          <a:p>
            <a:pPr algn="ctr"/>
            <a:r>
              <a:rPr lang="en-US" b="1" dirty="0"/>
              <a:t>7</a:t>
            </a:r>
          </a:p>
        </p:txBody>
      </p:sp>
      <p:cxnSp>
        <p:nvCxnSpPr>
          <p:cNvPr id="23" name="Straight Arrow Connector 22">
            <a:extLst>
              <a:ext uri="{FF2B5EF4-FFF2-40B4-BE49-F238E27FC236}">
                <a16:creationId xmlns:a16="http://schemas.microsoft.com/office/drawing/2014/main" id="{379BAAA5-9CB8-437B-B722-AF19C8AB95E9}"/>
              </a:ext>
            </a:extLst>
          </p:cNvPr>
          <p:cNvCxnSpPr>
            <a:cxnSpLocks/>
            <a:stCxn id="22" idx="0"/>
          </p:cNvCxnSpPr>
          <p:nvPr/>
        </p:nvCxnSpPr>
        <p:spPr bwMode="auto">
          <a:xfrm flipV="1">
            <a:off x="4191000" y="4321209"/>
            <a:ext cx="277127" cy="474952"/>
          </a:xfrm>
          <a:prstGeom prst="straightConnector1">
            <a:avLst/>
          </a:prstGeom>
          <a:solidFill>
            <a:schemeClr val="accent1"/>
          </a:solidFill>
          <a:ln w="38100" cap="sq" cmpd="sng" algn="ctr">
            <a:solidFill>
              <a:schemeClr val="tx1"/>
            </a:solidFill>
            <a:prstDash val="sysDash"/>
            <a:round/>
            <a:headEnd type="none" w="sm" len="sm"/>
            <a:tailEnd type="none"/>
          </a:ln>
          <a:effectLst/>
        </p:spPr>
      </p:cxnSp>
      <p:grpSp>
        <p:nvGrpSpPr>
          <p:cNvPr id="24" name="Group 5">
            <a:extLst>
              <a:ext uri="{FF2B5EF4-FFF2-40B4-BE49-F238E27FC236}">
                <a16:creationId xmlns:a16="http://schemas.microsoft.com/office/drawing/2014/main" id="{B69AA0DF-C12E-4873-BB47-ACB47E022379}"/>
              </a:ext>
            </a:extLst>
          </p:cNvPr>
          <p:cNvGrpSpPr/>
          <p:nvPr/>
        </p:nvGrpSpPr>
        <p:grpSpPr>
          <a:xfrm>
            <a:off x="4953000" y="4800600"/>
            <a:ext cx="762000" cy="685800"/>
            <a:chOff x="3962400" y="2590800"/>
            <a:chExt cx="762000" cy="685800"/>
          </a:xfrm>
        </p:grpSpPr>
        <p:sp>
          <p:nvSpPr>
            <p:cNvPr id="25" name="Rectangle 24">
              <a:extLst>
                <a:ext uri="{FF2B5EF4-FFF2-40B4-BE49-F238E27FC236}">
                  <a16:creationId xmlns:a16="http://schemas.microsoft.com/office/drawing/2014/main" id="{45C4BE7A-5002-4BA3-B4E3-759B3D3579DA}"/>
                </a:ext>
              </a:extLst>
            </p:cNvPr>
            <p:cNvSpPr/>
            <p:nvPr/>
          </p:nvSpPr>
          <p:spPr bwMode="auto">
            <a:xfrm>
              <a:off x="3962400" y="2590800"/>
              <a:ext cx="762000" cy="685800"/>
            </a:xfrm>
            <a:prstGeom prst="rect">
              <a:avLst/>
            </a:prstGeom>
            <a:noFill/>
            <a:ln w="28575" cap="sq"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26" name="Rectangle 25">
              <a:extLst>
                <a:ext uri="{FF2B5EF4-FFF2-40B4-BE49-F238E27FC236}">
                  <a16:creationId xmlns:a16="http://schemas.microsoft.com/office/drawing/2014/main" id="{34F51C94-BDFF-46A2-9F27-FDCB6A8A23D1}"/>
                </a:ext>
              </a:extLst>
            </p:cNvPr>
            <p:cNvSpPr/>
            <p:nvPr/>
          </p:nvSpPr>
          <p:spPr bwMode="auto">
            <a:xfrm>
              <a:off x="3962400" y="2933700"/>
              <a:ext cx="762000" cy="342900"/>
            </a:xfrm>
            <a:prstGeom prst="rect">
              <a:avLst/>
            </a:prstGeom>
            <a:noFill/>
            <a:ln w="28575" cap="sq"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27" name="Rectangle 26">
              <a:extLst>
                <a:ext uri="{FF2B5EF4-FFF2-40B4-BE49-F238E27FC236}">
                  <a16:creationId xmlns:a16="http://schemas.microsoft.com/office/drawing/2014/main" id="{BFF97EBB-F91F-4A7D-BEA7-0288754E75B8}"/>
                </a:ext>
              </a:extLst>
            </p:cNvPr>
            <p:cNvSpPr/>
            <p:nvPr/>
          </p:nvSpPr>
          <p:spPr bwMode="auto">
            <a:xfrm>
              <a:off x="3962400" y="2933700"/>
              <a:ext cx="381000" cy="342900"/>
            </a:xfrm>
            <a:prstGeom prst="rect">
              <a:avLst/>
            </a:prstGeom>
            <a:noFill/>
            <a:ln w="28575" cap="sq"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grpSp>
      <p:sp>
        <p:nvSpPr>
          <p:cNvPr id="28" name="TextBox 27">
            <a:extLst>
              <a:ext uri="{FF2B5EF4-FFF2-40B4-BE49-F238E27FC236}">
                <a16:creationId xmlns:a16="http://schemas.microsoft.com/office/drawing/2014/main" id="{6799332A-AC99-4C1F-A8C8-DA9035277A44}"/>
              </a:ext>
            </a:extLst>
          </p:cNvPr>
          <p:cNvSpPr txBox="1"/>
          <p:nvPr/>
        </p:nvSpPr>
        <p:spPr>
          <a:xfrm>
            <a:off x="4991100" y="4796161"/>
            <a:ext cx="685800" cy="369332"/>
          </a:xfrm>
          <a:prstGeom prst="rect">
            <a:avLst/>
          </a:prstGeom>
          <a:noFill/>
          <a:ln>
            <a:noFill/>
          </a:ln>
        </p:spPr>
        <p:txBody>
          <a:bodyPr wrap="square" rtlCol="0">
            <a:spAutoFit/>
          </a:bodyPr>
          <a:lstStyle/>
          <a:p>
            <a:pPr algn="ctr"/>
            <a:r>
              <a:rPr lang="en-US" b="1" dirty="0">
                <a:solidFill>
                  <a:srgbClr val="FF0000"/>
                </a:solidFill>
              </a:rPr>
              <a:t>13</a:t>
            </a:r>
          </a:p>
        </p:txBody>
      </p:sp>
      <p:cxnSp>
        <p:nvCxnSpPr>
          <p:cNvPr id="29" name="Straight Arrow Connector 28">
            <a:extLst>
              <a:ext uri="{FF2B5EF4-FFF2-40B4-BE49-F238E27FC236}">
                <a16:creationId xmlns:a16="http://schemas.microsoft.com/office/drawing/2014/main" id="{0C0831B0-FA52-4A17-8504-8D25854093D9}"/>
              </a:ext>
            </a:extLst>
          </p:cNvPr>
          <p:cNvCxnSpPr>
            <a:cxnSpLocks/>
            <a:stCxn id="28" idx="0"/>
          </p:cNvCxnSpPr>
          <p:nvPr/>
        </p:nvCxnSpPr>
        <p:spPr bwMode="auto">
          <a:xfrm flipH="1" flipV="1">
            <a:off x="4800600" y="4321208"/>
            <a:ext cx="533400" cy="474953"/>
          </a:xfrm>
          <a:prstGeom prst="straightConnector1">
            <a:avLst/>
          </a:prstGeom>
          <a:solidFill>
            <a:schemeClr val="accent1"/>
          </a:solidFill>
          <a:ln w="38100" cap="sq" cmpd="sng" algn="ctr">
            <a:solidFill>
              <a:srgbClr val="FF0000"/>
            </a:solidFill>
            <a:prstDash val="sysDash"/>
            <a:round/>
            <a:headEnd type="none" w="sm" len="sm"/>
            <a:tailEnd type="none"/>
          </a:ln>
          <a:effectLst/>
        </p:spPr>
      </p:cxnSp>
      <p:grpSp>
        <p:nvGrpSpPr>
          <p:cNvPr id="30" name="Group 5">
            <a:extLst>
              <a:ext uri="{FF2B5EF4-FFF2-40B4-BE49-F238E27FC236}">
                <a16:creationId xmlns:a16="http://schemas.microsoft.com/office/drawing/2014/main" id="{582F5763-C53E-45AA-BACD-9684194AB96C}"/>
              </a:ext>
            </a:extLst>
          </p:cNvPr>
          <p:cNvGrpSpPr/>
          <p:nvPr/>
        </p:nvGrpSpPr>
        <p:grpSpPr>
          <a:xfrm>
            <a:off x="2819400" y="5719439"/>
            <a:ext cx="762000" cy="685800"/>
            <a:chOff x="3962400" y="2590800"/>
            <a:chExt cx="762000" cy="685800"/>
          </a:xfrm>
        </p:grpSpPr>
        <p:sp>
          <p:nvSpPr>
            <p:cNvPr id="31" name="Rectangle 30">
              <a:extLst>
                <a:ext uri="{FF2B5EF4-FFF2-40B4-BE49-F238E27FC236}">
                  <a16:creationId xmlns:a16="http://schemas.microsoft.com/office/drawing/2014/main" id="{0D80ACAC-4A5C-4ECB-BD97-0B346B41E3E1}"/>
                </a:ext>
              </a:extLst>
            </p:cNvPr>
            <p:cNvSpPr/>
            <p:nvPr/>
          </p:nvSpPr>
          <p:spPr bwMode="auto">
            <a:xfrm>
              <a:off x="3962400" y="2590800"/>
              <a:ext cx="762000" cy="685800"/>
            </a:xfrm>
            <a:prstGeom prst="rect">
              <a:avLst/>
            </a:prstGeom>
            <a:noFill/>
            <a:ln w="28575" cap="sq" cmpd="sng" algn="ctr">
              <a:solidFill>
                <a:srgbClr val="00B05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32" name="Rectangle 31">
              <a:extLst>
                <a:ext uri="{FF2B5EF4-FFF2-40B4-BE49-F238E27FC236}">
                  <a16:creationId xmlns:a16="http://schemas.microsoft.com/office/drawing/2014/main" id="{BEBE601F-B16D-448F-8750-471AC5790439}"/>
                </a:ext>
              </a:extLst>
            </p:cNvPr>
            <p:cNvSpPr/>
            <p:nvPr/>
          </p:nvSpPr>
          <p:spPr bwMode="auto">
            <a:xfrm>
              <a:off x="3962400" y="2933700"/>
              <a:ext cx="762000" cy="342900"/>
            </a:xfrm>
            <a:prstGeom prst="rect">
              <a:avLst/>
            </a:prstGeom>
            <a:noFill/>
            <a:ln w="28575" cap="sq" cmpd="sng" algn="ctr">
              <a:solidFill>
                <a:srgbClr val="00B05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sp>
          <p:nvSpPr>
            <p:cNvPr id="33" name="Rectangle 32">
              <a:extLst>
                <a:ext uri="{FF2B5EF4-FFF2-40B4-BE49-F238E27FC236}">
                  <a16:creationId xmlns:a16="http://schemas.microsoft.com/office/drawing/2014/main" id="{298DBF55-BFE5-4F4A-BF0F-69A8B4DE02E6}"/>
                </a:ext>
              </a:extLst>
            </p:cNvPr>
            <p:cNvSpPr/>
            <p:nvPr/>
          </p:nvSpPr>
          <p:spPr bwMode="auto">
            <a:xfrm>
              <a:off x="3962400" y="2933700"/>
              <a:ext cx="381000" cy="342900"/>
            </a:xfrm>
            <a:prstGeom prst="rect">
              <a:avLst/>
            </a:prstGeom>
            <a:noFill/>
            <a:ln w="28575" cap="sq" cmpd="sng" algn="ctr">
              <a:solidFill>
                <a:srgbClr val="00B05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Tahoma" pitchFamily="34" charset="0"/>
              </a:endParaRPr>
            </a:p>
          </p:txBody>
        </p:sp>
      </p:grpSp>
      <p:sp>
        <p:nvSpPr>
          <p:cNvPr id="34" name="TextBox 33">
            <a:extLst>
              <a:ext uri="{FF2B5EF4-FFF2-40B4-BE49-F238E27FC236}">
                <a16:creationId xmlns:a16="http://schemas.microsoft.com/office/drawing/2014/main" id="{EA0A93E9-F2A0-4CEA-9903-CB4AF0BB17FE}"/>
              </a:ext>
            </a:extLst>
          </p:cNvPr>
          <p:cNvSpPr txBox="1"/>
          <p:nvPr/>
        </p:nvSpPr>
        <p:spPr>
          <a:xfrm>
            <a:off x="2857500" y="5715000"/>
            <a:ext cx="685800" cy="369332"/>
          </a:xfrm>
          <a:prstGeom prst="rect">
            <a:avLst/>
          </a:prstGeom>
          <a:noFill/>
          <a:ln>
            <a:noFill/>
          </a:ln>
        </p:spPr>
        <p:txBody>
          <a:bodyPr wrap="square" rtlCol="0">
            <a:spAutoFit/>
          </a:bodyPr>
          <a:lstStyle/>
          <a:p>
            <a:pPr algn="ctr"/>
            <a:r>
              <a:rPr lang="en-US" b="1" dirty="0">
                <a:solidFill>
                  <a:srgbClr val="00B050"/>
                </a:solidFill>
              </a:rPr>
              <a:t>-4</a:t>
            </a:r>
          </a:p>
        </p:txBody>
      </p:sp>
      <p:cxnSp>
        <p:nvCxnSpPr>
          <p:cNvPr id="35" name="Straight Arrow Connector 34">
            <a:extLst>
              <a:ext uri="{FF2B5EF4-FFF2-40B4-BE49-F238E27FC236}">
                <a16:creationId xmlns:a16="http://schemas.microsoft.com/office/drawing/2014/main" id="{ABE17322-F772-4F17-A37B-5FA19FC01F05}"/>
              </a:ext>
            </a:extLst>
          </p:cNvPr>
          <p:cNvCxnSpPr>
            <a:cxnSpLocks/>
            <a:stCxn id="34" idx="0"/>
          </p:cNvCxnSpPr>
          <p:nvPr/>
        </p:nvCxnSpPr>
        <p:spPr bwMode="auto">
          <a:xfrm flipV="1">
            <a:off x="3200400" y="5334000"/>
            <a:ext cx="762000" cy="381000"/>
          </a:xfrm>
          <a:prstGeom prst="straightConnector1">
            <a:avLst/>
          </a:prstGeom>
          <a:solidFill>
            <a:schemeClr val="accent1"/>
          </a:solidFill>
          <a:ln w="38100" cap="sq" cmpd="sng" algn="ctr">
            <a:solidFill>
              <a:srgbClr val="00B050"/>
            </a:solidFill>
            <a:prstDash val="sysDash"/>
            <a:round/>
            <a:headEnd type="none" w="sm" len="sm"/>
            <a:tailEnd type="none"/>
          </a:ln>
          <a:effectLst/>
        </p:spPr>
      </p:cxnSp>
    </p:spTree>
    <p:extLst>
      <p:ext uri="{BB962C8B-B14F-4D97-AF65-F5344CB8AC3E}">
        <p14:creationId xmlns:p14="http://schemas.microsoft.com/office/powerpoint/2010/main" val="2175435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Binary Search Tree Performance</a:t>
            </a:r>
          </a:p>
        </p:txBody>
      </p:sp>
      <p:sp>
        <p:nvSpPr>
          <p:cNvPr id="43011" name="Rectangle 3"/>
          <p:cNvSpPr>
            <a:spLocks noGrp="1" noChangeArrowheads="1"/>
          </p:cNvSpPr>
          <p:nvPr>
            <p:ph type="body" idx="1"/>
          </p:nvPr>
        </p:nvSpPr>
        <p:spPr/>
        <p:txBody>
          <a:bodyPr/>
          <a:lstStyle/>
          <a:p>
            <a:pPr eaLnBrk="1" hangingPunct="1"/>
            <a:r>
              <a:rPr lang="en-US" altLang="en-US" sz="2800" dirty="0"/>
              <a:t>Best case:</a:t>
            </a:r>
            <a:endParaRPr lang="en-US" altLang="en-US" sz="2800" i="1" dirty="0"/>
          </a:p>
          <a:p>
            <a:pPr lvl="1" eaLnBrk="1" hangingPunct="1"/>
            <a:r>
              <a:rPr lang="en-US" altLang="en-US" sz="2400" dirty="0"/>
              <a:t>Values are inserted in </a:t>
            </a:r>
            <a:r>
              <a:rPr lang="en-US" altLang="en-US" sz="2400" i="1" dirty="0"/>
              <a:t>random</a:t>
            </a:r>
            <a:r>
              <a:rPr lang="en-US" altLang="en-US" sz="2400" dirty="0"/>
              <a:t> order</a:t>
            </a:r>
          </a:p>
          <a:p>
            <a:pPr lvl="1" eaLnBrk="1" hangingPunct="1"/>
            <a:r>
              <a:rPr lang="en-US" altLang="en-US" sz="2400" dirty="0"/>
              <a:t>Insert and search time are both </a:t>
            </a:r>
            <a:r>
              <a:rPr lang="en-US" altLang="en-US" sz="2400" b="1" dirty="0"/>
              <a:t>O(log N)</a:t>
            </a:r>
          </a:p>
          <a:p>
            <a:pPr eaLnBrk="1" hangingPunct="1"/>
            <a:r>
              <a:rPr lang="en-US" altLang="en-US" sz="2800" dirty="0"/>
              <a:t>Worst case:</a:t>
            </a:r>
          </a:p>
          <a:p>
            <a:pPr lvl="1" eaLnBrk="1" hangingPunct="1"/>
            <a:r>
              <a:rPr lang="en-US" altLang="en-US" sz="2400" dirty="0"/>
              <a:t>Values are inserted in </a:t>
            </a:r>
            <a:r>
              <a:rPr lang="en-US" altLang="en-US" sz="2400" i="1" dirty="0"/>
              <a:t>sorted</a:t>
            </a:r>
            <a:r>
              <a:rPr lang="en-US" altLang="en-US" sz="2400" dirty="0"/>
              <a:t> order</a:t>
            </a:r>
          </a:p>
          <a:p>
            <a:pPr lvl="2" eaLnBrk="1" hangingPunct="1"/>
            <a:r>
              <a:rPr lang="en-US" altLang="en-US" sz="2000" dirty="0"/>
              <a:t>Either ascending or descending</a:t>
            </a:r>
          </a:p>
          <a:p>
            <a:pPr lvl="1" eaLnBrk="1" hangingPunct="1"/>
            <a:r>
              <a:rPr lang="en-US" altLang="en-US" sz="2400" dirty="0"/>
              <a:t>Insert and search time are both </a:t>
            </a:r>
            <a:r>
              <a:rPr lang="en-US" altLang="en-US" sz="2400" b="1" dirty="0"/>
              <a:t>O(N)</a:t>
            </a:r>
          </a:p>
          <a:p>
            <a:pPr eaLnBrk="1" hangingPunct="1"/>
            <a:r>
              <a:rPr lang="en-US" altLang="en-US" sz="2800" dirty="0"/>
              <a:t>We will discuss </a:t>
            </a:r>
            <a:r>
              <a:rPr lang="en-US" altLang="en-US" sz="2800" i="1" dirty="0"/>
              <a:t>self-balancing</a:t>
            </a:r>
            <a:r>
              <a:rPr lang="en-US" altLang="en-US" sz="2800" dirty="0"/>
              <a:t> BSTs in FC II</a:t>
            </a:r>
          </a:p>
          <a:p>
            <a:pPr marL="0" indent="0" eaLnBrk="1" hangingPunct="1">
              <a:buNone/>
            </a:pPr>
            <a:endParaRPr lang="en-US" altLang="en-US" sz="2800" dirty="0"/>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17</a:t>
            </a:fld>
            <a:endParaRPr lang="en-US"/>
          </a:p>
        </p:txBody>
      </p:sp>
      <p:sp>
        <p:nvSpPr>
          <p:cNvPr id="5" name="Date Placeholder 4"/>
          <p:cNvSpPr>
            <a:spLocks noGrp="1"/>
          </p:cNvSpPr>
          <p:nvPr>
            <p:ph type="dt" sz="half" idx="10"/>
          </p:nvPr>
        </p:nvSpPr>
        <p:spPr/>
        <p:txBody>
          <a:bodyPr/>
          <a:lstStyle/>
          <a:p>
            <a:pPr>
              <a:defRPr/>
            </a:pPr>
            <a:fld id="{3AD27C7B-C2CE-4C69-8676-DB62FDF3B633}" type="datetime1">
              <a:rPr lang="en-US" smtClean="0"/>
              <a:t>8/2/2021</a:t>
            </a:fld>
            <a:endParaRPr lang="en-US"/>
          </a:p>
        </p:txBody>
      </p:sp>
      <p:sp>
        <p:nvSpPr>
          <p:cNvPr id="6" name="Footer Placeholder 5"/>
          <p:cNvSpPr>
            <a:spLocks noGrp="1"/>
          </p:cNvSpPr>
          <p:nvPr>
            <p:ph type="ftr" sz="quarter" idx="11"/>
          </p:nvPr>
        </p:nvSpPr>
        <p:spPr/>
        <p:txBody>
          <a:bodyPr/>
          <a:lstStyle/>
          <a:p>
            <a:pPr>
              <a:defRPr/>
            </a:pPr>
            <a:r>
              <a:rPr lang="en-US" dirty="0"/>
              <a:t>Copyright (c) John K. </a:t>
            </a:r>
            <a:r>
              <a:rPr lang="en-US" dirty="0" err="1"/>
              <a:t>Ostlund</a:t>
            </a:r>
            <a:endParaRPr lang="en-US" dirty="0"/>
          </a:p>
        </p:txBody>
      </p:sp>
    </p:spTree>
    <p:extLst>
      <p:ext uri="{BB962C8B-B14F-4D97-AF65-F5344CB8AC3E}">
        <p14:creationId xmlns:p14="http://schemas.microsoft.com/office/powerpoint/2010/main" val="1491639678"/>
      </p:ext>
    </p:extLst>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47618</TotalTime>
  <Words>2495</Words>
  <Application>Microsoft Office PowerPoint</Application>
  <PresentationFormat>On-screen Show (4:3)</PresentationFormat>
  <Paragraphs>375</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Courier New</vt:lpstr>
      <vt:lpstr>Tahoma</vt:lpstr>
      <vt:lpstr>Times New Roman</vt:lpstr>
      <vt:lpstr>Wingdings</vt:lpstr>
      <vt:lpstr>Blends</vt:lpstr>
      <vt:lpstr>MSCF Programming Prep 46-900</vt:lpstr>
      <vt:lpstr>The Binary Search Tree</vt:lpstr>
      <vt:lpstr>A Binary Tree of int Values</vt:lpstr>
      <vt:lpstr>Binary Tree Code: __init__()</vt:lpstr>
      <vt:lpstr>Binary Tree Application</vt:lpstr>
      <vt:lpstr>Binary Tree Code: insert()</vt:lpstr>
      <vt:lpstr>Binary Tree Application (cont)</vt:lpstr>
      <vt:lpstr>Binary Tree Application (cont)</vt:lpstr>
      <vt:lpstr>Binary Tree Code: insert() (cont)</vt:lpstr>
      <vt:lpstr>Binary Tree Application (cont)</vt:lpstr>
      <vt:lpstr>Binary Tree Code: __str__()</vt:lpstr>
      <vt:lpstr>Binary Tree Application (cont)</vt:lpstr>
      <vt:lpstr>Binary Tree Code: __str__() (cont)</vt:lpstr>
      <vt:lpstr>Binary Tree Application (cont)</vt:lpstr>
      <vt:lpstr>Binary Tree Code: sum()</vt:lpstr>
      <vt:lpstr>Binary Tree Application (cont)</vt:lpstr>
      <vt:lpstr>Binary Search Tree Performance</vt:lpstr>
    </vt:vector>
  </TitlesOfParts>
  <Company>CMU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Object-Oriented Programming 46-691</dc:title>
  <dc:creator>The Heinz School</dc:creator>
  <cp:lastModifiedBy>John</cp:lastModifiedBy>
  <cp:revision>666</cp:revision>
  <cp:lastPrinted>2021-08-02T18:56:37Z</cp:lastPrinted>
  <dcterms:created xsi:type="dcterms:W3CDTF">2003-08-31T19:53:38Z</dcterms:created>
  <dcterms:modified xsi:type="dcterms:W3CDTF">2021-08-03T01:12:48Z</dcterms:modified>
</cp:coreProperties>
</file>
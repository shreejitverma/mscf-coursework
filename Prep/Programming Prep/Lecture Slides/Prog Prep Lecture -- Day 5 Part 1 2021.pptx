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sldIdLst>
    <p:sldId id="257" r:id="rId2"/>
    <p:sldId id="727" r:id="rId3"/>
    <p:sldId id="860" r:id="rId4"/>
    <p:sldId id="861" r:id="rId5"/>
    <p:sldId id="862" r:id="rId6"/>
    <p:sldId id="795" r:id="rId7"/>
    <p:sldId id="863" r:id="rId8"/>
    <p:sldId id="865" r:id="rId9"/>
    <p:sldId id="866" r:id="rId10"/>
    <p:sldId id="867" r:id="rId11"/>
    <p:sldId id="868" r:id="rId12"/>
    <p:sldId id="869" r:id="rId13"/>
    <p:sldId id="870" r:id="rId14"/>
    <p:sldId id="871" r:id="rId15"/>
    <p:sldId id="872" r:id="rId16"/>
    <p:sldId id="873" r:id="rId17"/>
    <p:sldId id="874" r:id="rId18"/>
    <p:sldId id="864" r:id="rId19"/>
    <p:sldId id="875" r:id="rId20"/>
    <p:sldId id="876" r:id="rId21"/>
    <p:sldId id="878" r:id="rId22"/>
    <p:sldId id="879" r:id="rId23"/>
    <p:sldId id="880" r:id="rId24"/>
    <p:sldId id="881" r:id="rId25"/>
    <p:sldId id="882" r:id="rId26"/>
    <p:sldId id="883" r:id="rId27"/>
    <p:sldId id="884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1277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02072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68222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63899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10518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61814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09529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676003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691283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0641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58928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360128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79069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43595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9957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86701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2958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676081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79132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012504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632513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70366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51339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90408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0770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1A546F-806A-4916-A722-C4497DFD22C4}" type="datetime1">
              <a:rPr lang="en-US" smtClean="0"/>
              <a:t>8/9/2021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6DB2E-05FD-4E02-BDBB-5F8876F1F81B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BC40-C0CA-403D-A182-DB6B7CD54EF0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AFA41-984E-409B-A306-691035BEA148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447AE-53BA-49A5-AF00-C1E375E33A3B}" type="datetime1">
              <a:rPr lang="en-US" smtClean="0"/>
              <a:t>8/9/2021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A6F0-30AC-4AD0-A5B1-E8FF7D751BE6}" type="datetime1">
              <a:rPr lang="en-US" smtClean="0"/>
              <a:t>8/9/2021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430ED-3079-4BF3-83A3-9C452D2905CD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5A946-6194-4DC9-A610-D66B2CA85B43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B41BC-FEAB-4FF2-B81C-73BBC796BFBB}" type="datetime1">
              <a:rPr lang="en-US" smtClean="0"/>
              <a:t>8/9/2021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B36-156C-441D-8F5D-8D05B7AAE9F5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323C8-D5DD-4858-8D00-75FFB568DF9D}" type="datetime1">
              <a:rPr lang="en-US" smtClean="0"/>
              <a:t>8/9/2021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1A402B15-CF07-48BE-8BDB-C3085399C7FB}" type="datetime1">
              <a:rPr lang="en-US" smtClean="0"/>
              <a:t>8/9/2021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5, Part 1: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Partition Problem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43F20C-CF11-4D17-AEB9-BB7B37E2131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CEA7-82DF-4E8D-A6C5-BE060327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Partition Problem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 a bag of coins of various denominations, can you divide this into two bags of coins of equal value?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Or, given a </a:t>
            </a:r>
            <a:r>
              <a:rPr lang="en-US" altLang="en-US" sz="2600" i="1" dirty="0"/>
              <a:t>multiset</a:t>
            </a:r>
            <a:r>
              <a:rPr lang="en-US" altLang="en-US" sz="2600" dirty="0"/>
              <a:t> of </a:t>
            </a:r>
            <a:r>
              <a:rPr lang="en-US" altLang="en-US" sz="2600" i="1" dirty="0"/>
              <a:t>integer</a:t>
            </a:r>
            <a:r>
              <a:rPr lang="en-US" altLang="en-US" sz="2600" dirty="0"/>
              <a:t> values, can you divide this into two multisets of equal value?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Bag</a:t>
            </a:r>
            <a:r>
              <a:rPr lang="en-US" altLang="en-US" sz="2600" dirty="0"/>
              <a:t> and </a:t>
            </a:r>
            <a:r>
              <a:rPr lang="en-US" altLang="en-US" sz="2600" i="1" dirty="0"/>
              <a:t>multiset</a:t>
            </a:r>
            <a:r>
              <a:rPr lang="en-US" altLang="en-US" sz="2600" dirty="0"/>
              <a:t> are synonyms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Mathematicians tend to use </a:t>
            </a:r>
            <a:r>
              <a:rPr lang="en-US" altLang="en-US" sz="2200" i="1" dirty="0"/>
              <a:t>multiset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AI/ML types tend to use </a:t>
            </a:r>
            <a:r>
              <a:rPr lang="en-US" altLang="en-US" sz="2200" i="1" dirty="0"/>
              <a:t>bag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Trivial Partition Problem 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Given:  { 1, 2, 4, 2, 5, 2, 1, 1 }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Partition as:  { 1, 2, 4, 2 } and { 5, 2, 1, 1 }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Value of each such partition is 9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i="1" dirty="0"/>
              <a:t>Or</a:t>
            </a:r>
            <a:r>
              <a:rPr lang="en-US" altLang="en-US" sz="2200" dirty="0"/>
              <a:t> partition as:  { 4, 5 } and { 1, 2, 2, 2, 1, 1 }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dirty="0"/>
              <a:t>As we see, partitioning is </a:t>
            </a:r>
            <a:r>
              <a:rPr lang="en-US" altLang="en-US" sz="1800" i="1" dirty="0">
                <a:solidFill>
                  <a:srgbClr val="FF0000"/>
                </a:solidFill>
              </a:rPr>
              <a:t>not</a:t>
            </a:r>
            <a:r>
              <a:rPr lang="en-US" altLang="en-US" sz="1800" dirty="0"/>
              <a:t> necessarily unique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Given:  { 1, 2, 5 }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i="1" dirty="0">
                <a:solidFill>
                  <a:srgbClr val="FF0000"/>
                </a:solidFill>
              </a:rPr>
              <a:t>No</a:t>
            </a:r>
            <a:r>
              <a:rPr lang="en-US" altLang="en-US" sz="2200" dirty="0"/>
              <a:t> partitions with equal value can be formed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Another obvious example: { 5 }</a:t>
            </a:r>
            <a:endParaRPr lang="en-US" altLang="en-US" sz="26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9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Easy First Steps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 some multiset </a:t>
            </a:r>
            <a:r>
              <a:rPr lang="en-US" altLang="en-US" sz="2600" b="1" dirty="0"/>
              <a:t>S</a:t>
            </a:r>
            <a:r>
              <a:rPr lang="en-US" altLang="en-US" sz="2600" dirty="0"/>
              <a:t> of integers, then let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200" dirty="0"/>
              <a:t>	</a:t>
            </a:r>
            <a:r>
              <a:rPr lang="en-US" altLang="en-US" sz="2200" b="1" dirty="0"/>
              <a:t>M</a:t>
            </a:r>
            <a:r>
              <a:rPr lang="en-US" altLang="en-US" sz="2200" dirty="0"/>
              <a:t> = sum(</a:t>
            </a:r>
            <a:r>
              <a:rPr lang="en-US" altLang="en-US" sz="2200" b="1" dirty="0"/>
              <a:t>S</a:t>
            </a:r>
            <a:r>
              <a:rPr lang="en-US" altLang="en-US" sz="2200" dirty="0"/>
              <a:t>)  # sum of all values in </a:t>
            </a:r>
            <a:r>
              <a:rPr lang="en-US" altLang="en-US" sz="2200" b="1" dirty="0"/>
              <a:t>S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200" b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If </a:t>
            </a:r>
            <a:r>
              <a:rPr lang="en-US" altLang="en-US" sz="2600" b="1" dirty="0"/>
              <a:t>M</a:t>
            </a:r>
            <a:r>
              <a:rPr lang="en-US" altLang="en-US" sz="2600" dirty="0"/>
              <a:t> is </a:t>
            </a:r>
            <a:r>
              <a:rPr lang="en-US" altLang="en-US" sz="2600" i="1" dirty="0"/>
              <a:t>odd</a:t>
            </a:r>
            <a:r>
              <a:rPr lang="en-US" altLang="en-US" sz="2600" dirty="0"/>
              <a:t>, no partition can exist!</a:t>
            </a:r>
          </a:p>
          <a:p>
            <a:pPr eaLnBrk="1" hangingPunct="1">
              <a:spcBef>
                <a:spcPts val="0"/>
              </a:spcBef>
            </a:pPr>
            <a:endParaRPr lang="en-US" altLang="en-US" sz="1200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If </a:t>
            </a:r>
            <a:r>
              <a:rPr lang="en-US" altLang="en-US" sz="2600" b="1" dirty="0"/>
              <a:t>M</a:t>
            </a:r>
            <a:r>
              <a:rPr lang="en-US" altLang="en-US" sz="2600" dirty="0"/>
              <a:t> is </a:t>
            </a:r>
            <a:r>
              <a:rPr lang="en-US" altLang="en-US" sz="2600" i="1" dirty="0"/>
              <a:t>even</a:t>
            </a:r>
            <a:r>
              <a:rPr lang="en-US" altLang="en-US" sz="2600" dirty="0"/>
              <a:t>, each partition must have sum </a:t>
            </a:r>
            <a:r>
              <a:rPr lang="en-US" altLang="en-US" sz="2600" b="1" dirty="0"/>
              <a:t>M/2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Shock of Recognition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From the set </a:t>
            </a:r>
            <a:r>
              <a:rPr lang="en-US" altLang="en-US" sz="2600" b="1" dirty="0"/>
              <a:t>S</a:t>
            </a:r>
            <a:r>
              <a:rPr lang="en-US" altLang="en-US" sz="2600" dirty="0"/>
              <a:t>, can we select items with value </a:t>
            </a:r>
            <a:r>
              <a:rPr lang="en-US" altLang="en-US" sz="2600" b="1" dirty="0"/>
              <a:t>M/2</a:t>
            </a:r>
            <a:r>
              <a:rPr lang="en-US" altLang="en-US" sz="2600" dirty="0"/>
              <a:t>?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1200" b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i="1" dirty="0">
                <a:solidFill>
                  <a:srgbClr val="FF0000"/>
                </a:solidFill>
              </a:rPr>
              <a:t>This is the 0/1 Knapsack problem!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Define the </a:t>
            </a:r>
            <a:r>
              <a:rPr lang="en-US" altLang="en-US" sz="2200" i="1" dirty="0"/>
              <a:t>weight</a:t>
            </a:r>
            <a:r>
              <a:rPr lang="en-US" altLang="en-US" sz="2200" dirty="0"/>
              <a:t> of each item in </a:t>
            </a:r>
            <a:r>
              <a:rPr lang="en-US" altLang="en-US" sz="2200" b="1" dirty="0"/>
              <a:t>S</a:t>
            </a:r>
            <a:r>
              <a:rPr lang="en-US" altLang="en-US" sz="2200" dirty="0"/>
              <a:t> to equal its </a:t>
            </a:r>
            <a:r>
              <a:rPr lang="en-US" altLang="en-US" sz="2200" i="1" dirty="0"/>
              <a:t>value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Let the knapsack hold a maximum </a:t>
            </a:r>
            <a:r>
              <a:rPr lang="en-US" altLang="en-US" sz="2200" i="1" dirty="0"/>
              <a:t>weight</a:t>
            </a:r>
            <a:r>
              <a:rPr lang="en-US" altLang="en-US" sz="2200" dirty="0"/>
              <a:t> of </a:t>
            </a:r>
            <a:r>
              <a:rPr lang="en-US" altLang="en-US" sz="2200" b="1" dirty="0"/>
              <a:t>M/2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If the maximum </a:t>
            </a:r>
            <a:r>
              <a:rPr lang="en-US" altLang="en-US" sz="2200" i="1" dirty="0"/>
              <a:t>value</a:t>
            </a:r>
            <a:r>
              <a:rPr lang="en-US" altLang="en-US" sz="2200" dirty="0"/>
              <a:t> we can store in the knapsack is </a:t>
            </a:r>
            <a:r>
              <a:rPr lang="en-US" altLang="en-US" sz="2200" b="1" dirty="0"/>
              <a:t>M/2</a:t>
            </a:r>
            <a:r>
              <a:rPr lang="en-US" altLang="en-US" sz="2200" dirty="0"/>
              <a:t>, then we can partition </a:t>
            </a:r>
            <a:r>
              <a:rPr lang="en-US" altLang="en-US" sz="2200" b="1" dirty="0"/>
              <a:t>S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6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From our 0/1 Knapsack Discussion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B05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Let </a:t>
            </a:r>
            <a:r>
              <a:rPr lang="en-US" altLang="en-US" sz="2000" b="1" dirty="0"/>
              <a:t>A</a:t>
            </a:r>
            <a:r>
              <a:rPr lang="en-US" altLang="en-US" sz="2000" dirty="0"/>
              <a:t> be our array of items vs. remaining available weight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1600" dirty="0"/>
              <a:t>Recall that item </a:t>
            </a:r>
            <a:r>
              <a:rPr lang="en-US" altLang="en-US" sz="1600" i="1" dirty="0"/>
              <a:t>k</a:t>
            </a:r>
            <a:r>
              <a:rPr lang="en-US" altLang="en-US" sz="1600" dirty="0"/>
              <a:t> has weight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and value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endParaRPr lang="en-US" altLang="en-US" sz="16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The maximum value for items {1,2,…,</a:t>
            </a:r>
            <a:r>
              <a:rPr lang="en-US" altLang="en-US" sz="2000" i="1" dirty="0"/>
              <a:t>k</a:t>
            </a:r>
            <a:r>
              <a:rPr lang="en-US" altLang="en-US" sz="2000" dirty="0"/>
              <a:t>} and remaining available weight </a:t>
            </a:r>
            <a:r>
              <a:rPr lang="en-US" altLang="en-US" sz="2000" i="1" dirty="0"/>
              <a:t>X</a:t>
            </a:r>
            <a:r>
              <a:rPr lang="en-US" altLang="en-US" sz="2000" dirty="0"/>
              <a:t>, 0 &lt;= </a:t>
            </a:r>
            <a:r>
              <a:rPr lang="en-US" altLang="en-US" sz="2000" i="1" dirty="0"/>
              <a:t>X</a:t>
            </a:r>
            <a:r>
              <a:rPr lang="en-US" altLang="en-US" sz="2000" dirty="0"/>
              <a:t> &lt;= </a:t>
            </a:r>
            <a:r>
              <a:rPr lang="en-US" altLang="en-US" sz="2000" i="1" dirty="0"/>
              <a:t>W</a:t>
            </a:r>
            <a:r>
              <a:rPr lang="en-US" altLang="en-US" sz="2000" dirty="0"/>
              <a:t>, is: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	 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]			if</a:t>
            </a:r>
            <a:r>
              <a:rPr lang="en-US" altLang="en-US" sz="1600" i="1" dirty="0"/>
              <a:t> 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&lt; 0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1600" dirty="0"/>
              <a:t>max {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]</a:t>
            </a:r>
            <a:r>
              <a:rPr lang="en-US" altLang="en-US" sz="1600" i="1" dirty="0"/>
              <a:t>, </a:t>
            </a:r>
            <a:r>
              <a:rPr lang="en-US" altLang="en-US" sz="1600" i="1" dirty="0" err="1"/>
              <a:t>v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+ </a:t>
            </a:r>
            <a:r>
              <a:rPr lang="en-US" altLang="en-US" sz="1600" b="1" dirty="0"/>
              <a:t>A</a:t>
            </a:r>
            <a:r>
              <a:rPr lang="en-US" altLang="en-US" sz="1600" dirty="0"/>
              <a:t>[</a:t>
            </a:r>
            <a:r>
              <a:rPr lang="en-US" altLang="en-US" sz="1600" i="1" dirty="0"/>
              <a:t>k</a:t>
            </a:r>
            <a:r>
              <a:rPr lang="en-US" altLang="en-US" sz="1600" dirty="0"/>
              <a:t> - 1, </a:t>
            </a:r>
            <a:r>
              <a:rPr lang="en-US" altLang="en-US" sz="1600" i="1" dirty="0"/>
              <a:t>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] }   	if </a:t>
            </a:r>
            <a:r>
              <a:rPr lang="en-US" altLang="en-US" sz="1600" i="1" dirty="0"/>
              <a:t>X</a:t>
            </a:r>
            <a:r>
              <a:rPr lang="en-US" altLang="en-US" sz="1600" dirty="0"/>
              <a:t> - </a:t>
            </a:r>
            <a:r>
              <a:rPr lang="en-US" altLang="en-US" sz="1600" i="1" dirty="0" err="1"/>
              <a:t>w</a:t>
            </a:r>
            <a:r>
              <a:rPr lang="en-US" altLang="en-US" sz="1600" i="1" baseline="-25000" dirty="0" err="1"/>
              <a:t>k</a:t>
            </a:r>
            <a:r>
              <a:rPr lang="en-US" altLang="en-US" sz="1600" dirty="0"/>
              <a:t> &gt;= 0	</a:t>
            </a:r>
          </a:p>
          <a:p>
            <a:pPr eaLnBrk="1" hangingPunct="1">
              <a:spcBef>
                <a:spcPts val="0"/>
              </a:spcBef>
            </a:pPr>
            <a:endParaRPr lang="en-US" altLang="en-US" sz="2000" dirty="0">
              <a:solidFill>
                <a:srgbClr val="0070C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/>
              <a:t>	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B05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B05072-4D06-44DB-A7E8-6A4DB10AE536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50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0, the max value is </a:t>
            </a:r>
            <a:r>
              <a:rPr lang="en-US" altLang="en-US" sz="2600" dirty="0">
                <a:solidFill>
                  <a:srgbClr val="FF0000"/>
                </a:solidFill>
              </a:rPr>
              <a:t>0</a:t>
            </a:r>
            <a:r>
              <a:rPr lang="en-US" altLang="en-US" sz="2600" dirty="0"/>
              <a:t> for (</a:t>
            </a:r>
            <a:r>
              <a:rPr lang="en-US" altLang="en-US" sz="2600" i="1" dirty="0"/>
              <a:t>weight</a:t>
            </a:r>
            <a:r>
              <a:rPr lang="en-US" altLang="en-US" sz="2600" dirty="0"/>
              <a:t>, </a:t>
            </a:r>
            <a:r>
              <a:rPr lang="en-US" altLang="en-US" sz="2600" i="1" dirty="0"/>
              <a:t>value</a:t>
            </a:r>
            <a:r>
              <a:rPr lang="en-US" altLang="en-US" sz="2600" dirty="0"/>
              <a:t>) of (1, 1)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0364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1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1, the max value is 1 for (</a:t>
            </a:r>
            <a:r>
              <a:rPr lang="en-US" altLang="en-US" sz="2600" i="1" dirty="0"/>
              <a:t>weight</a:t>
            </a:r>
            <a:r>
              <a:rPr lang="en-US" altLang="en-US" sz="2600" dirty="0"/>
              <a:t>, </a:t>
            </a:r>
            <a:r>
              <a:rPr lang="en-US" altLang="en-US" sz="2600" i="1" dirty="0"/>
              <a:t>value</a:t>
            </a:r>
            <a:r>
              <a:rPr lang="en-US" altLang="en-US" sz="2600" dirty="0"/>
              <a:t>) of (1, 1)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84663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80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weights (columns) 2 thru 9, the max value is 1 for (</a:t>
            </a:r>
            <a:r>
              <a:rPr lang="en-US" altLang="en-US" sz="2600" i="1" dirty="0"/>
              <a:t>weight</a:t>
            </a:r>
            <a:r>
              <a:rPr lang="en-US" altLang="en-US" sz="2600" dirty="0"/>
              <a:t>, </a:t>
            </a:r>
            <a:r>
              <a:rPr lang="en-US" altLang="en-US" sz="2600" i="1" dirty="0"/>
              <a:t>value</a:t>
            </a:r>
            <a:r>
              <a:rPr lang="en-US" altLang="en-US" sz="2600" dirty="0"/>
              <a:t>) of (1, 1)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75318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47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weights (columns) 0 and 1, and (</a:t>
            </a:r>
            <a:r>
              <a:rPr lang="en-US" altLang="en-US" sz="2600" i="1" dirty="0"/>
              <a:t>weight</a:t>
            </a:r>
            <a:r>
              <a:rPr lang="en-US" altLang="en-US" sz="2600" dirty="0"/>
              <a:t>, </a:t>
            </a:r>
            <a:r>
              <a:rPr lang="en-US" altLang="en-US" sz="2600" i="1" dirty="0"/>
              <a:t>value</a:t>
            </a:r>
            <a:r>
              <a:rPr lang="en-US" altLang="en-US" sz="2600" dirty="0"/>
              <a:t>) of (2, 2), value is from row 1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14644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30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2, and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(2, 2), value is max{</a:t>
            </a:r>
            <a:r>
              <a:rPr lang="en-US" altLang="en-US" sz="2600" dirty="0">
                <a:highlight>
                  <a:srgbClr val="00FFFF"/>
                </a:highlight>
              </a:rPr>
              <a:t>1</a:t>
            </a:r>
            <a:r>
              <a:rPr lang="en-US" altLang="en-US" sz="2600" dirty="0"/>
              <a:t>, 2 + </a:t>
            </a:r>
            <a:r>
              <a:rPr lang="en-US" altLang="en-US" sz="2600" dirty="0">
                <a:highlight>
                  <a:srgbClr val="FFFF00"/>
                </a:highlight>
              </a:rPr>
              <a:t>A[1,0]</a:t>
            </a:r>
            <a:r>
              <a:rPr lang="en-US" altLang="en-US" sz="2600" dirty="0"/>
              <a:t>} == </a:t>
            </a:r>
            <a:r>
              <a:rPr lang="en-US" altLang="en-US" sz="2600" dirty="0">
                <a:solidFill>
                  <a:srgbClr val="FF0000"/>
                </a:solidFill>
              </a:rPr>
              <a:t>2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54475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06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3, and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(2, 2), value is max{</a:t>
            </a:r>
            <a:r>
              <a:rPr lang="en-US" altLang="en-US" sz="2600" dirty="0">
                <a:highlight>
                  <a:srgbClr val="00FFFF"/>
                </a:highlight>
              </a:rPr>
              <a:t>1</a:t>
            </a:r>
            <a:r>
              <a:rPr lang="en-US" altLang="en-US" sz="2600" dirty="0"/>
              <a:t>, 2 + </a:t>
            </a:r>
            <a:r>
              <a:rPr lang="en-US" altLang="en-US" sz="2600" dirty="0">
                <a:highlight>
                  <a:srgbClr val="FFFF00"/>
                </a:highlight>
              </a:rPr>
              <a:t>A[1,1]</a:t>
            </a:r>
            <a:r>
              <a:rPr lang="en-US" altLang="en-US" sz="2600" dirty="0"/>
              <a:t>} == </a:t>
            </a:r>
            <a:r>
              <a:rPr lang="en-US" altLang="en-US" sz="2600" dirty="0">
                <a:solidFill>
                  <a:srgbClr val="FF0000"/>
                </a:solidFill>
              </a:rPr>
              <a:t>3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545556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1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75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4 thru 9,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(2, 2), value </a:t>
            </a:r>
            <a:r>
              <a:rPr lang="en-US" altLang="en-US" sz="2600" dirty="0">
                <a:solidFill>
                  <a:srgbClr val="FF0000"/>
                </a:solidFill>
              </a:rPr>
              <a:t>3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420239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187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0 thru 3,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(4, 4), value is from row above</a:t>
            </a:r>
            <a:endParaRPr lang="en-US" altLang="en-US" sz="26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074393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1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4,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(4, 4), value is max { </a:t>
            </a:r>
            <a:r>
              <a:rPr lang="en-US" altLang="en-US" sz="2600" dirty="0">
                <a:highlight>
                  <a:srgbClr val="00FFFF"/>
                </a:highlight>
              </a:rPr>
              <a:t>3</a:t>
            </a:r>
            <a:r>
              <a:rPr lang="en-US" altLang="en-US" sz="2600" dirty="0"/>
              <a:t>, 4 + </a:t>
            </a:r>
            <a:r>
              <a:rPr lang="en-US" altLang="en-US" sz="2600" dirty="0">
                <a:highlight>
                  <a:srgbClr val="FFFF00"/>
                </a:highlight>
              </a:rPr>
              <a:t>A[2,0]</a:t>
            </a:r>
            <a:r>
              <a:rPr lang="en-US" altLang="en-US" sz="2600" dirty="0"/>
              <a:t> } == </a:t>
            </a:r>
            <a:r>
              <a:rPr lang="en-US" altLang="en-US" sz="2600" dirty="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30573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49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weights (column) 5 thru 7,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(4, 4), values are computed in the same way</a:t>
            </a:r>
            <a:endParaRPr lang="en-US" altLang="en-US" sz="26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67249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217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weights (column) 8 and 9,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(4, 4), value is 7</a:t>
            </a:r>
            <a:endParaRPr lang="en-US" altLang="en-US" sz="26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758026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7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7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249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weight (column) 9, (</a:t>
            </a:r>
            <a:r>
              <a:rPr lang="en-US" altLang="en-US" sz="2600" i="1" dirty="0"/>
              <a:t>w</a:t>
            </a:r>
            <a:r>
              <a:rPr lang="en-US" altLang="en-US" sz="2600" dirty="0"/>
              <a:t>, </a:t>
            </a:r>
            <a:r>
              <a:rPr lang="en-US" altLang="en-US" sz="2600" i="1" dirty="0"/>
              <a:t>v</a:t>
            </a:r>
            <a:r>
              <a:rPr lang="en-US" altLang="en-US" sz="2600" dirty="0"/>
              <a:t>) of (2, 2), value is max { </a:t>
            </a:r>
            <a:r>
              <a:rPr lang="en-US" altLang="en-US" sz="2600" dirty="0">
                <a:highlight>
                  <a:srgbClr val="00FFFF"/>
                </a:highlight>
              </a:rPr>
              <a:t>7</a:t>
            </a:r>
            <a:r>
              <a:rPr lang="en-US" altLang="en-US" sz="2600" dirty="0"/>
              <a:t>, 2 + </a:t>
            </a:r>
            <a:r>
              <a:rPr lang="en-US" altLang="en-US" sz="2600" dirty="0">
                <a:highlight>
                  <a:srgbClr val="FFFF00"/>
                </a:highlight>
              </a:rPr>
              <a:t>A[3,7]</a:t>
            </a:r>
            <a:r>
              <a:rPr lang="en-US" altLang="en-US" sz="2600" dirty="0"/>
              <a:t> } == </a:t>
            </a:r>
            <a:r>
              <a:rPr lang="en-US" altLang="en-US" sz="2600" dirty="0">
                <a:solidFill>
                  <a:srgbClr val="FF0000"/>
                </a:solidFill>
              </a:rPr>
              <a:t>9</a:t>
            </a:r>
            <a:endParaRPr lang="en-US" altLang="en-US" sz="26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96048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64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0/1 Knapsack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At this point we can stop: we have achieved a maximum value of 9, and cannot do better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</a:t>
            </a:r>
            <a:r>
              <a:rPr lang="en-US" altLang="en-US" sz="1800" i="1" dirty="0" err="1"/>
              <a:t>w</a:t>
            </a:r>
            <a:r>
              <a:rPr lang="en-US" altLang="en-US" sz="1800" dirty="0" err="1"/>
              <a:t>,</a:t>
            </a:r>
            <a:r>
              <a:rPr lang="en-US" altLang="en-US" sz="1800" i="1" dirty="0" err="1"/>
              <a:t>v</a:t>
            </a:r>
            <a:r>
              <a:rPr lang="en-US" altLang="en-US" sz="1800" dirty="0"/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(4,4)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(5,5)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(2,2)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(1,1)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8601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9A099B33-52D1-4B57-9CDD-89A07BC4001D}"/>
              </a:ext>
            </a:extLst>
          </p:cNvPr>
          <p:cNvSpPr/>
          <p:nvPr/>
        </p:nvSpPr>
        <p:spPr bwMode="auto">
          <a:xfrm>
            <a:off x="7848600" y="4457700"/>
            <a:ext cx="457200" cy="45720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876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Easier Alternative: Array of </a:t>
            </a:r>
            <a:r>
              <a:rPr lang="en-US" altLang="en-US" b="1" dirty="0"/>
              <a:t>bool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Suppose the item being considered has value </a:t>
            </a:r>
            <a:r>
              <a:rPr lang="en-US" altLang="en-US" sz="2600" i="1" dirty="0"/>
              <a:t>v</a:t>
            </a:r>
            <a:r>
              <a:rPr lang="en-US" altLang="en-US" sz="2600" i="1" baseline="-25000" dirty="0"/>
              <a:t>i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Then we can achieve a value of </a:t>
            </a:r>
            <a:r>
              <a:rPr lang="en-US" altLang="en-US" sz="2400" i="1" dirty="0"/>
              <a:t>v</a:t>
            </a:r>
            <a:r>
              <a:rPr lang="en-US" altLang="en-US" sz="2400" i="1" baseline="-25000" dirty="0"/>
              <a:t>i</a:t>
            </a:r>
            <a:endParaRPr lang="en-US" altLang="en-US" sz="2200" i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If we could achieve a value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r>
              <a:rPr lang="en-US" altLang="en-US" sz="2200" dirty="0"/>
              <a:t> from previous items, then we can also achieve a value of </a:t>
            </a:r>
            <a:r>
              <a:rPr lang="en-US" altLang="en-US" sz="2000" i="1" dirty="0"/>
              <a:t>v</a:t>
            </a:r>
            <a:r>
              <a:rPr lang="en-US" altLang="en-US" sz="2000" i="1" baseline="-25000" dirty="0"/>
              <a:t>i</a:t>
            </a:r>
            <a:r>
              <a:rPr lang="en-US" altLang="en-US" sz="2200" dirty="0"/>
              <a:t> + </a:t>
            </a:r>
            <a:r>
              <a:rPr lang="en-US" altLang="en-US" sz="2000" i="1" dirty="0" err="1"/>
              <a:t>v</a:t>
            </a:r>
            <a:r>
              <a:rPr lang="en-US" altLang="en-US" sz="2000" i="1" baseline="-25000" dirty="0" err="1"/>
              <a:t>j</a:t>
            </a:r>
            <a:endParaRPr lang="en-US" altLang="en-US" sz="2200" b="1" dirty="0"/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Use an array of </a:t>
            </a:r>
            <a:r>
              <a:rPr lang="en-US" altLang="en-US" sz="2600" b="1" dirty="0"/>
              <a:t>bool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Columns are values we can achieve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Rows are item values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Can we achieve a value of </a:t>
            </a:r>
            <a:r>
              <a:rPr lang="en-US" altLang="en-US" sz="2200" b="1" dirty="0"/>
              <a:t>M/2?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5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Setup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Initialize all cells with </a:t>
            </a:r>
            <a:r>
              <a:rPr lang="en-US" altLang="en-US" sz="2600" b="1" dirty="0"/>
              <a:t>False</a:t>
            </a:r>
            <a:r>
              <a:rPr lang="en-US" altLang="en-US" sz="2600" dirty="0"/>
              <a:t> (</a:t>
            </a:r>
            <a:r>
              <a:rPr lang="en-US" altLang="en-US" sz="2600" b="1" dirty="0">
                <a:solidFill>
                  <a:srgbClr val="FF0000"/>
                </a:solidFill>
              </a:rPr>
              <a:t>F</a:t>
            </a:r>
            <a:r>
              <a:rPr lang="en-US" altLang="en-US" sz="2600" dirty="0"/>
              <a:t>)</a:t>
            </a:r>
          </a:p>
          <a:p>
            <a:pPr eaLnBrk="1" hangingPunct="1">
              <a:spcBef>
                <a:spcPts val="0"/>
              </a:spcBef>
            </a:pPr>
            <a:endParaRPr lang="en-US" altLang="en-US" sz="26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39715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81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v</a:t>
            </a:r>
            <a:r>
              <a:rPr lang="en-US" altLang="en-US" sz="2600" i="1" baseline="-25000" dirty="0"/>
              <a:t>1</a:t>
            </a:r>
            <a:r>
              <a:rPr lang="en-US" altLang="en-US" sz="2600" dirty="0"/>
              <a:t> is 1, so A[1,1] = </a:t>
            </a:r>
            <a:r>
              <a:rPr lang="en-US" altLang="en-US" sz="2600" b="1" dirty="0"/>
              <a:t>True</a:t>
            </a:r>
            <a:r>
              <a:rPr lang="en-US" altLang="en-US" sz="2600" dirty="0"/>
              <a:t> (</a:t>
            </a:r>
            <a:r>
              <a:rPr lang="en-US" altLang="en-US" sz="2600" b="1" dirty="0">
                <a:solidFill>
                  <a:srgbClr val="FF0000"/>
                </a:solidFill>
              </a:rPr>
              <a:t>T</a:t>
            </a:r>
            <a:r>
              <a:rPr lang="en-US" altLang="en-US" sz="2600" dirty="0"/>
              <a:t>)</a:t>
            </a:r>
          </a:p>
          <a:p>
            <a:pPr eaLnBrk="1" hangingPunct="1">
              <a:spcBef>
                <a:spcPts val="0"/>
              </a:spcBef>
            </a:pPr>
            <a:endParaRPr lang="en-US" altLang="en-US" sz="2600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629613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335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v</a:t>
            </a:r>
            <a:r>
              <a:rPr lang="en-US" altLang="en-US" sz="2600" i="1" baseline="-25000" dirty="0"/>
              <a:t>2</a:t>
            </a:r>
            <a:r>
              <a:rPr lang="en-US" altLang="en-US" sz="2600" dirty="0"/>
              <a:t> is 2, so </a:t>
            </a:r>
            <a:r>
              <a:rPr lang="en-US" altLang="en-US" sz="2600" dirty="0">
                <a:highlight>
                  <a:srgbClr val="FFFF00"/>
                </a:highlight>
              </a:rPr>
              <a:t>A[2,2]</a:t>
            </a:r>
            <a:r>
              <a:rPr lang="en-US" altLang="en-US" sz="2600" dirty="0"/>
              <a:t> = </a:t>
            </a:r>
            <a:r>
              <a:rPr lang="en-US" altLang="en-US" sz="2600" b="1" dirty="0"/>
              <a:t>True</a:t>
            </a:r>
            <a:r>
              <a:rPr lang="en-US" altLang="en-US" sz="2600" dirty="0"/>
              <a:t> (</a:t>
            </a:r>
            <a:r>
              <a:rPr lang="en-US" alt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US" altLang="en-US" sz="2600" dirty="0"/>
              <a:t>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j in 0..9, if </a:t>
            </a:r>
            <a:r>
              <a:rPr lang="en-US" altLang="en-US" sz="2600" dirty="0">
                <a:highlight>
                  <a:srgbClr val="00FFFF"/>
                </a:highlight>
              </a:rPr>
              <a:t>A[1,j]</a:t>
            </a:r>
            <a:r>
              <a:rPr lang="en-US" altLang="en-US" sz="2600" dirty="0"/>
              <a:t> is T, </a:t>
            </a:r>
            <a:r>
              <a:rPr lang="en-US" altLang="en-US" sz="2600" dirty="0">
                <a:highlight>
                  <a:srgbClr val="00FFFF"/>
                </a:highlight>
              </a:rPr>
              <a:t>A[2,j]</a:t>
            </a:r>
            <a:r>
              <a:rPr lang="en-US" altLang="en-US" sz="2600" dirty="0"/>
              <a:t>, </a:t>
            </a:r>
            <a:r>
              <a:rPr lang="en-US" altLang="en-US" sz="2600" dirty="0">
                <a:highlight>
                  <a:srgbClr val="00FF00"/>
                </a:highlight>
              </a:rPr>
              <a:t>A[2,j+</a:t>
            </a:r>
            <a:r>
              <a:rPr lang="en-US" altLang="en-US" sz="2600" i="1" dirty="0">
                <a:highlight>
                  <a:srgbClr val="00FF00"/>
                </a:highlight>
              </a:rPr>
              <a:t>v</a:t>
            </a:r>
            <a:r>
              <a:rPr lang="en-US" altLang="en-US" sz="2600" i="1" baseline="-25000" dirty="0">
                <a:highlight>
                  <a:srgbClr val="00FF00"/>
                </a:highlight>
              </a:rPr>
              <a:t>2</a:t>
            </a:r>
            <a:r>
              <a:rPr lang="en-US" altLang="en-US" sz="2600" dirty="0">
                <a:highlight>
                  <a:srgbClr val="00FF00"/>
                </a:highlight>
              </a:rPr>
              <a:t>]</a:t>
            </a:r>
            <a:r>
              <a:rPr lang="en-US" altLang="en-US" sz="2600" dirty="0"/>
              <a:t> = T</a:t>
            </a:r>
            <a:endParaRPr lang="en-US" altLang="en-US" sz="2600" b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000762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Arial" panose="020B0604020202020204" pitchFamily="34" charset="0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636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v</a:t>
            </a:r>
            <a:r>
              <a:rPr lang="en-US" altLang="en-US" sz="2600" i="1" baseline="-25000" dirty="0"/>
              <a:t>3</a:t>
            </a:r>
            <a:r>
              <a:rPr lang="en-US" altLang="en-US" sz="2600" dirty="0"/>
              <a:t> is 4, so </a:t>
            </a:r>
            <a:r>
              <a:rPr lang="en-US" altLang="en-US" sz="2600" dirty="0">
                <a:highlight>
                  <a:srgbClr val="FFFF00"/>
                </a:highlight>
              </a:rPr>
              <a:t>A[3,4]</a:t>
            </a:r>
            <a:r>
              <a:rPr lang="en-US" altLang="en-US" sz="2600" dirty="0"/>
              <a:t> = </a:t>
            </a:r>
            <a:r>
              <a:rPr lang="en-US" altLang="en-US" sz="2600" b="1" dirty="0"/>
              <a:t>True</a:t>
            </a:r>
            <a:r>
              <a:rPr lang="en-US" altLang="en-US" sz="2600" dirty="0"/>
              <a:t> (</a:t>
            </a:r>
            <a:r>
              <a:rPr lang="en-US" alt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US" altLang="en-US" sz="2600" dirty="0"/>
              <a:t>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j in 0..9, if </a:t>
            </a:r>
            <a:r>
              <a:rPr lang="en-US" altLang="en-US" sz="2600" dirty="0">
                <a:highlight>
                  <a:srgbClr val="00FFFF"/>
                </a:highlight>
              </a:rPr>
              <a:t>A[2,j]</a:t>
            </a:r>
            <a:r>
              <a:rPr lang="en-US" altLang="en-US" sz="2600" dirty="0"/>
              <a:t> is T, </a:t>
            </a:r>
            <a:r>
              <a:rPr lang="en-US" altLang="en-US" sz="2600" dirty="0">
                <a:highlight>
                  <a:srgbClr val="00FFFF"/>
                </a:highlight>
              </a:rPr>
              <a:t>A[3,j]</a:t>
            </a:r>
            <a:r>
              <a:rPr lang="en-US" altLang="en-US" sz="2600" dirty="0"/>
              <a:t>, </a:t>
            </a:r>
            <a:r>
              <a:rPr lang="en-US" altLang="en-US" sz="2600" dirty="0">
                <a:highlight>
                  <a:srgbClr val="00FF00"/>
                </a:highlight>
              </a:rPr>
              <a:t>A[3,j+</a:t>
            </a:r>
            <a:r>
              <a:rPr lang="en-US" altLang="en-US" sz="2600" i="1" dirty="0">
                <a:highlight>
                  <a:srgbClr val="00FF00"/>
                </a:highlight>
              </a:rPr>
              <a:t>v</a:t>
            </a:r>
            <a:r>
              <a:rPr lang="en-US" altLang="en-US" sz="2600" i="1" baseline="-25000" dirty="0">
                <a:highlight>
                  <a:srgbClr val="00FF00"/>
                </a:highlight>
              </a:rPr>
              <a:t>3</a:t>
            </a:r>
            <a:r>
              <a:rPr lang="en-US" altLang="en-US" sz="2600" dirty="0">
                <a:highlight>
                  <a:srgbClr val="00FF00"/>
                </a:highlight>
              </a:rPr>
              <a:t>]</a:t>
            </a:r>
            <a:r>
              <a:rPr lang="en-US" altLang="en-US" sz="2600" dirty="0"/>
              <a:t> = T</a:t>
            </a:r>
            <a:endParaRPr lang="en-US" altLang="en-US" sz="2600" b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453786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847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i="1" dirty="0"/>
              <a:t>v</a:t>
            </a:r>
            <a:r>
              <a:rPr lang="en-US" altLang="en-US" sz="2600" i="1" baseline="-25000" dirty="0"/>
              <a:t>4</a:t>
            </a:r>
            <a:r>
              <a:rPr lang="en-US" altLang="en-US" sz="2600" dirty="0"/>
              <a:t> is 2, so </a:t>
            </a:r>
            <a:r>
              <a:rPr lang="en-US" altLang="en-US" sz="2600" dirty="0">
                <a:highlight>
                  <a:srgbClr val="FFFF00"/>
                </a:highlight>
              </a:rPr>
              <a:t>A[4,2]</a:t>
            </a:r>
            <a:r>
              <a:rPr lang="en-US" altLang="en-US" sz="2600" dirty="0"/>
              <a:t> = </a:t>
            </a:r>
            <a:r>
              <a:rPr lang="en-US" altLang="en-US" sz="2600" b="1" dirty="0"/>
              <a:t>True</a:t>
            </a:r>
            <a:r>
              <a:rPr lang="en-US" altLang="en-US" sz="2600" dirty="0"/>
              <a:t> (</a:t>
            </a:r>
            <a:r>
              <a:rPr lang="en-US" alt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US" altLang="en-US" sz="2600" dirty="0"/>
              <a:t>)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j in 0..9, if </a:t>
            </a:r>
            <a:r>
              <a:rPr lang="en-US" altLang="en-US" sz="2600" dirty="0">
                <a:highlight>
                  <a:srgbClr val="00FFFF"/>
                </a:highlight>
              </a:rPr>
              <a:t>A[3,j]</a:t>
            </a:r>
            <a:r>
              <a:rPr lang="en-US" altLang="en-US" sz="2600" dirty="0"/>
              <a:t> is T, </a:t>
            </a:r>
            <a:r>
              <a:rPr lang="en-US" altLang="en-US" sz="2600" dirty="0">
                <a:highlight>
                  <a:srgbClr val="00FFFF"/>
                </a:highlight>
              </a:rPr>
              <a:t>A[4,j]</a:t>
            </a:r>
            <a:r>
              <a:rPr lang="en-US" altLang="en-US" sz="2600" dirty="0"/>
              <a:t>, </a:t>
            </a:r>
            <a:r>
              <a:rPr lang="en-US" altLang="en-US" sz="2600" dirty="0">
                <a:highlight>
                  <a:srgbClr val="00FF00"/>
                </a:highlight>
              </a:rPr>
              <a:t>A[4,j+</a:t>
            </a:r>
            <a:r>
              <a:rPr lang="en-US" altLang="en-US" sz="2600" i="1" dirty="0">
                <a:highlight>
                  <a:srgbClr val="00FF00"/>
                </a:highlight>
              </a:rPr>
              <a:t>v</a:t>
            </a:r>
            <a:r>
              <a:rPr lang="en-US" altLang="en-US" sz="2600" i="1" baseline="-25000" dirty="0">
                <a:highlight>
                  <a:srgbClr val="00FF00"/>
                </a:highlight>
              </a:rPr>
              <a:t>4</a:t>
            </a:r>
            <a:r>
              <a:rPr lang="en-US" altLang="en-US" sz="2600" dirty="0">
                <a:highlight>
                  <a:srgbClr val="00FF00"/>
                </a:highlight>
              </a:rPr>
              <a:t>]</a:t>
            </a:r>
            <a:r>
              <a:rPr lang="en-US" altLang="en-US" sz="2600" dirty="0"/>
              <a:t> = T</a:t>
            </a:r>
            <a:endParaRPr lang="en-US" altLang="en-US" sz="2600" b="1" dirty="0"/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147051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FF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highlight>
                          <a:srgbClr val="00FF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200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of </a:t>
            </a:r>
            <a:r>
              <a:rPr lang="en-US" altLang="en-US" b="1" dirty="0"/>
              <a:t>bool</a:t>
            </a:r>
            <a:r>
              <a:rPr lang="en-US" altLang="en-US" dirty="0"/>
              <a:t> Algorithm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At this point, since we have achieved a value of </a:t>
            </a:r>
            <a:r>
              <a:rPr lang="en-US" altLang="en-US" sz="2600" b="1" dirty="0"/>
              <a:t>M/2</a:t>
            </a:r>
            <a:r>
              <a:rPr lang="en-US" altLang="en-US" sz="2600" dirty="0"/>
              <a:t> == 9, we can stop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i="1" dirty="0"/>
              <a:t>v</a:t>
            </a:r>
            <a:r>
              <a:rPr lang="en-US" altLang="en-US" sz="1800" i="1" baseline="-25000" dirty="0"/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4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5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2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marL="0" indent="0" eaLnBrk="1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800" dirty="0"/>
              <a:t>1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3C1231-DCD9-486C-8B08-117BB531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129283"/>
              </p:ext>
            </p:extLst>
          </p:nvPr>
        </p:nvGraphicFramePr>
        <p:xfrm>
          <a:off x="2286000" y="3200400"/>
          <a:ext cx="609600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76583953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6991760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2018264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45095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37295351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058850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68215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51388309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296222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1239428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0613676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1834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675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7134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kern="120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3805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  <a:endParaRPr lang="en-US" sz="1400" b="1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36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215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02591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6714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65014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80D1221-EDE5-49FC-8CDE-91544FD6D58E}"/>
              </a:ext>
            </a:extLst>
          </p:cNvPr>
          <p:cNvSpPr/>
          <p:nvPr/>
        </p:nvSpPr>
        <p:spPr bwMode="auto">
          <a:xfrm>
            <a:off x="7848600" y="4457700"/>
            <a:ext cx="457200" cy="45720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33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Partition Problem Performance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For </a:t>
            </a:r>
            <a:r>
              <a:rPr lang="en-US" altLang="en-US" sz="2600" b="1" dirty="0"/>
              <a:t>N</a:t>
            </a:r>
            <a:r>
              <a:rPr lang="en-US" altLang="en-US" sz="2600" dirty="0"/>
              <a:t> items, sum </a:t>
            </a:r>
            <a:r>
              <a:rPr lang="en-US" altLang="en-US" sz="2600" b="1" dirty="0"/>
              <a:t>M</a:t>
            </a:r>
            <a:r>
              <a:rPr lang="en-US" altLang="en-US" sz="2600" dirty="0"/>
              <a:t>, the Partition Problem has the same time performance as 0/1 Knapsack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b="1" dirty="0"/>
              <a:t>O</a:t>
            </a:r>
            <a:r>
              <a:rPr lang="en-US" altLang="en-US" sz="2200" dirty="0"/>
              <a:t>(</a:t>
            </a:r>
            <a:r>
              <a:rPr lang="en-US" altLang="en-US" sz="2200" b="1" dirty="0"/>
              <a:t>NM</a:t>
            </a:r>
            <a:r>
              <a:rPr lang="en-US" altLang="en-US" sz="2200" dirty="0"/>
              <a:t>) </a:t>
            </a:r>
            <a:r>
              <a:rPr lang="en-US" altLang="en-US" sz="2200" dirty="0" err="1"/>
              <a:t>pseudopolynomial</a:t>
            </a:r>
            <a:r>
              <a:rPr lang="en-US" altLang="en-US" sz="2200" dirty="0"/>
              <a:t> time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154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59295</TotalTime>
  <Words>3975</Words>
  <Application>Microsoft Office PowerPoint</Application>
  <PresentationFormat>On-screen Show (4:3)</PresentationFormat>
  <Paragraphs>1559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Tahoma</vt:lpstr>
      <vt:lpstr>Times New Roman</vt:lpstr>
      <vt:lpstr>Wingdings</vt:lpstr>
      <vt:lpstr>Blends</vt:lpstr>
      <vt:lpstr>MSCF Programming Prep 46-900</vt:lpstr>
      <vt:lpstr>Partition Problem</vt:lpstr>
      <vt:lpstr>Trivial Partition Problem Examples</vt:lpstr>
      <vt:lpstr>Easy First Steps</vt:lpstr>
      <vt:lpstr>The Shock of Recognition</vt:lpstr>
      <vt:lpstr>From our 0/1 Knapsack Discussion</vt:lpstr>
      <vt:lpstr>0/1 Knapsack Algorithm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0/1 Knapsack Algorithm (cont.)</vt:lpstr>
      <vt:lpstr>An Easier Alternative: Array of bool</vt:lpstr>
      <vt:lpstr>Array of bool Setup</vt:lpstr>
      <vt:lpstr>Array of bool Algorithm</vt:lpstr>
      <vt:lpstr>Array of bool Algorithm (cont.)</vt:lpstr>
      <vt:lpstr>Array of bool Algorithm (cont.)</vt:lpstr>
      <vt:lpstr>Array of bool Algorithm (cont.)</vt:lpstr>
      <vt:lpstr>Array of bool Algorithm (cont.)</vt:lpstr>
      <vt:lpstr>Partition Problem Performance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937</cp:revision>
  <cp:lastPrinted>2020-08-22T17:42:22Z</cp:lastPrinted>
  <dcterms:created xsi:type="dcterms:W3CDTF">2003-08-31T19:53:38Z</dcterms:created>
  <dcterms:modified xsi:type="dcterms:W3CDTF">2021-08-09T13:21:05Z</dcterms:modified>
</cp:coreProperties>
</file>
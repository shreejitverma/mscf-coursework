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5"/>
  </p:notesMasterIdLst>
  <p:sldIdLst>
    <p:sldId id="644" r:id="rId2"/>
    <p:sldId id="575" r:id="rId3"/>
    <p:sldId id="642" r:id="rId4"/>
    <p:sldId id="643" r:id="rId5"/>
    <p:sldId id="613" r:id="rId6"/>
    <p:sldId id="614" r:id="rId7"/>
    <p:sldId id="600" r:id="rId8"/>
    <p:sldId id="601" r:id="rId9"/>
    <p:sldId id="602" r:id="rId10"/>
    <p:sldId id="603" r:id="rId11"/>
    <p:sldId id="604" r:id="rId12"/>
    <p:sldId id="605" r:id="rId13"/>
    <p:sldId id="606" r:id="rId1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1" autoAdjust="0"/>
    <p:restoredTop sz="95638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9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8" d="100"/>
          <a:sy n="118" d="100"/>
        </p:scale>
        <p:origin x="406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4" tIns="48322" rIns="96644" bIns="4832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227" indent="-302011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043" indent="-24161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260" indent="-24161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478" indent="-24161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7695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0912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129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7346" indent="-24161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795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46482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26369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052" indent="-2888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466" indent="-23109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652" indent="-23109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79838" indent="-23109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025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212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397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584" indent="-2310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3ACD932-14B2-4E67-BE29-C3BAC9200558}" type="datetime1">
              <a:rPr lang="en-US" smtClean="0"/>
              <a:t>8/17/2021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EC9C3-785A-4BC9-896D-02F2D154AE02}" type="datetime1">
              <a:rPr lang="en-US" smtClean="0"/>
              <a:t>8/17/2021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12A4E-CABA-495F-A4A7-B646AAA7E215}" type="datetime1">
              <a:rPr lang="en-US" smtClean="0"/>
              <a:t>8/17/2021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C8249-D307-4465-BF30-46AE1CE176D1}" type="datetime1">
              <a:rPr lang="en-US" smtClean="0"/>
              <a:t>8/17/2021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A27D5-5CB8-44E1-B8C7-50040436BF26}" type="datetime1">
              <a:rPr lang="en-US" smtClean="0"/>
              <a:t>8/17/2021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074FD-EAAF-4FCA-85B2-142A53B8B362}" type="datetime1">
              <a:rPr lang="en-US" smtClean="0"/>
              <a:t>8/17/2021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8367D-92D6-4290-BAB1-8D2C50B2811E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AD929-A314-494A-B6A3-F0F55E4BAAE7}" type="datetime1">
              <a:rPr lang="en-US" smtClean="0"/>
              <a:t>8/17/2021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DFD5D-5BF8-4498-B49E-D8EB52C2154B}" type="datetime1">
              <a:rPr lang="en-US" smtClean="0"/>
              <a:t>8/17/2021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45C93-C394-4876-B234-D0B9C0035263}" type="datetime1">
              <a:rPr lang="en-US" smtClean="0"/>
              <a:t>8/17/2021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CDCD4-C58C-4C48-8E04-B9B38C24BAF5}" type="datetime1">
              <a:rPr lang="en-US" smtClean="0"/>
              <a:t>8/17/2021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9FB165C7-DDAD-4C27-83C5-F7075FED9CA7}" type="datetime1">
              <a:rPr lang="en-US" smtClean="0"/>
              <a:t>8/17/2021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Programming Prep</a:t>
            </a:r>
            <a:br>
              <a:rPr lang="en-US" altLang="en-US" dirty="0"/>
            </a:br>
            <a:r>
              <a:rPr lang="en-US" altLang="en-US" dirty="0"/>
              <a:t>46-900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dirty="0"/>
              <a:t>MSCF, Carnegie Mellon University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dirty="0"/>
              <a:t>Day 8, Part 2:</a:t>
            </a:r>
          </a:p>
          <a:p>
            <a:pPr eaLnBrk="1" hangingPunct="1"/>
            <a:r>
              <a:rPr lang="en-US" altLang="en-US" dirty="0"/>
              <a:t>Web Scraping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08393B-9AFD-4C24-BD71-58FEFECE2F64}" type="datetime1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68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Start at Web Scraping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To "scrape" a web site, </a:t>
            </a:r>
            <a:r>
              <a:rPr lang="en-US" altLang="en-US" sz="2800" b="1" dirty="0"/>
              <a:t>the hard way</a:t>
            </a:r>
          </a:p>
          <a:p>
            <a:pPr lvl="1" eaLnBrk="1" hangingPunct="1"/>
            <a:r>
              <a:rPr lang="en-US" altLang="en-US" sz="2400" dirty="0"/>
              <a:t>Open a connection to the web page</a:t>
            </a:r>
          </a:p>
          <a:p>
            <a:pPr lvl="1" eaLnBrk="1" hangingPunct="1"/>
            <a:r>
              <a:rPr lang="en-US" altLang="en-US" sz="2400" dirty="0"/>
              <a:t>Download the source (text) of the web page</a:t>
            </a:r>
          </a:p>
          <a:p>
            <a:pPr lvl="2" eaLnBrk="1" hangingPunct="1"/>
            <a:r>
              <a:rPr lang="en-US" altLang="en-US" sz="2000" dirty="0"/>
              <a:t>Will probably be a </a:t>
            </a:r>
            <a:r>
              <a:rPr lang="en-US" altLang="en-US" sz="2000" i="1" dirty="0"/>
              <a:t>byte string</a:t>
            </a:r>
          </a:p>
          <a:p>
            <a:pPr lvl="2" eaLnBrk="1" hangingPunct="1"/>
            <a:r>
              <a:rPr lang="en-US" altLang="en-US" sz="2000" dirty="0"/>
              <a:t>Convert byte string to </a:t>
            </a:r>
            <a:r>
              <a:rPr lang="en-US" altLang="en-US" sz="2000" b="1" dirty="0" err="1"/>
              <a:t>str</a:t>
            </a:r>
            <a:endParaRPr lang="en-US" altLang="en-US" sz="2000" b="1" dirty="0"/>
          </a:p>
          <a:p>
            <a:pPr lvl="1" eaLnBrk="1" hangingPunct="1"/>
            <a:r>
              <a:rPr lang="en-US" altLang="en-US" sz="2400" dirty="0"/>
              <a:t>Save the text in a file</a:t>
            </a:r>
          </a:p>
          <a:p>
            <a:pPr lvl="1" eaLnBrk="1" hangingPunct="1"/>
            <a:r>
              <a:rPr lang="en-US" altLang="en-US" sz="2400" dirty="0"/>
              <a:t>Examine the file for patterns that will help you locate what you want</a:t>
            </a:r>
          </a:p>
          <a:p>
            <a:pPr lvl="1" eaLnBrk="1" hangingPunct="1"/>
            <a:r>
              <a:rPr lang="en-US" altLang="en-US" sz="2400" dirty="0"/>
              <a:t>Parse out the bits of information you want</a:t>
            </a:r>
          </a:p>
          <a:p>
            <a:pPr lvl="2" eaLnBrk="1" hangingPunct="1"/>
            <a:r>
              <a:rPr lang="en-US" altLang="en-US" sz="2000" dirty="0"/>
              <a:t>Regular expressions are a big part of this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FE7714-B3B9-418F-90F9-F0B0311AF64A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0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Historical Yield Curve Data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Googling for "Treasury Yield Curve", we find: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457200" lvl="1" indent="0" eaLnBrk="1" hangingPunct="1"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https://www.treasury.gov/resource-center/data-chart-center/interest-rates/</a:t>
            </a:r>
          </a:p>
          <a:p>
            <a:pPr marL="457200" lvl="1" indent="0" eaLnBrk="1" hangingPunct="1"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Pages/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TextView.aspx?data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=yield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eaLnBrk="1" hangingPunct="1"/>
            <a:r>
              <a:rPr lang="en-US" altLang="en-US" sz="2800" dirty="0"/>
              <a:t>Instead of just Current Month, select 2021 as the time period and click Go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457200" lvl="1" indent="0" eaLnBrk="1" hangingPunct="1"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https://www.treasury.gov/resource-center/data-chart-center/interest-rates/</a:t>
            </a:r>
          </a:p>
          <a:p>
            <a:pPr marL="457200" lvl="1" indent="0" eaLnBrk="1" hangingPunct="1"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Pages/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TextView.aspx?data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yieldYear&amp;year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=2021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4911AE-CB3B-46DF-B9CC-4F08F6B965BD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Scraping the Yield Curve with Regular Expressions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urllib.request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urlopen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#hardscrape.py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urlopen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https://www.treasury.gov/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resource-center/data-chart-center/interest-rates/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Pages/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TextView.aspx?data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yieldYear&amp;year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=2021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data_bytes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html.read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read as bytes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data_str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data_bytes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encoding='utf-8')</a:t>
            </a: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fout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open('yc_temp.txt', '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encoding='utf-8')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fout.write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data_str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fout.close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66BC81-77FF-4CAA-A9A9-17CC64283287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Parsing HTML with Regular Expressions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Edit the downloaded file with a text editor such as </a:t>
            </a:r>
            <a:r>
              <a:rPr lang="en-US" altLang="en-US" sz="2800" b="1" dirty="0"/>
              <a:t>vim</a:t>
            </a:r>
            <a:r>
              <a:rPr lang="en-US" altLang="en-US" sz="2800" dirty="0"/>
              <a:t> or </a:t>
            </a:r>
            <a:r>
              <a:rPr lang="en-US" altLang="en-US" sz="2800" b="1" dirty="0"/>
              <a:t>emacs</a:t>
            </a:r>
          </a:p>
          <a:p>
            <a:pPr lvl="1" eaLnBrk="1" hangingPunct="1"/>
            <a:r>
              <a:rPr lang="en-US" altLang="en-US" sz="2400" dirty="0"/>
              <a:t>Search for "interesting" patterns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eaLnBrk="1" hangingPunct="1"/>
            <a:r>
              <a:rPr lang="en-US" altLang="en-US" sz="2800" dirty="0"/>
              <a:t>In Python, use</a:t>
            </a:r>
          </a:p>
          <a:p>
            <a:pPr lvl="1" eaLnBrk="1" hangingPunct="1"/>
            <a:r>
              <a:rPr lang="en-US" altLang="en-US" sz="2400" b="1" dirty="0" err="1"/>
              <a:t>re.search</a:t>
            </a:r>
            <a:r>
              <a:rPr lang="en-US" altLang="en-US" sz="2400" b="1" dirty="0"/>
              <a:t>(</a:t>
            </a:r>
            <a:r>
              <a:rPr lang="en-US" altLang="en-US" sz="2400" i="1" dirty="0"/>
              <a:t>regex</a:t>
            </a:r>
            <a:r>
              <a:rPr lang="en-US" altLang="en-US" sz="2400" b="1" dirty="0"/>
              <a:t>,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str</a:t>
            </a:r>
            <a:r>
              <a:rPr lang="en-US" altLang="en-US" sz="2400" b="1" dirty="0"/>
              <a:t>)</a:t>
            </a:r>
            <a:r>
              <a:rPr lang="en-US" altLang="en-US" sz="2400" dirty="0"/>
              <a:t> to identify data line(s)</a:t>
            </a:r>
          </a:p>
          <a:p>
            <a:pPr lvl="1" eaLnBrk="1" hangingPunct="1"/>
            <a:r>
              <a:rPr lang="en-US" altLang="en-US" sz="2400" b="1" dirty="0" err="1"/>
              <a:t>re.sub</a:t>
            </a:r>
            <a:r>
              <a:rPr lang="en-US" altLang="en-US" sz="2400" b="1" dirty="0"/>
              <a:t>(</a:t>
            </a:r>
            <a:r>
              <a:rPr lang="en-US" altLang="en-US" sz="2400" i="1" dirty="0"/>
              <a:t>regex</a:t>
            </a:r>
            <a:r>
              <a:rPr lang="en-US" altLang="en-US" sz="2400" b="1" dirty="0"/>
              <a:t>, </a:t>
            </a:r>
            <a:r>
              <a:rPr lang="en-US" altLang="en-US" sz="2400" i="1" dirty="0"/>
              <a:t>replace</a:t>
            </a:r>
            <a:r>
              <a:rPr lang="en-US" altLang="en-US" sz="2400" b="1" dirty="0"/>
              <a:t>, </a:t>
            </a:r>
            <a:r>
              <a:rPr lang="en-US" altLang="en-US" sz="2400" i="1" dirty="0" err="1"/>
              <a:t>str</a:t>
            </a:r>
            <a:r>
              <a:rPr lang="en-US" altLang="en-US" sz="2400" b="1" dirty="0"/>
              <a:t>)</a:t>
            </a:r>
            <a:r>
              <a:rPr lang="en-US" altLang="en-US" sz="2400" dirty="0"/>
              <a:t> to get rid of unwanted text</a:t>
            </a:r>
          </a:p>
          <a:p>
            <a:pPr lvl="1" eaLnBrk="1" hangingPunct="1"/>
            <a:r>
              <a:rPr lang="en-US" altLang="en-US" sz="2400" b="1" dirty="0" err="1"/>
              <a:t>re.split</a:t>
            </a:r>
            <a:r>
              <a:rPr lang="en-US" altLang="en-US" sz="2400" b="1" dirty="0"/>
              <a:t>(</a:t>
            </a:r>
            <a:r>
              <a:rPr lang="en-US" altLang="en-US" sz="2400" i="1" dirty="0"/>
              <a:t>regex</a:t>
            </a:r>
            <a:r>
              <a:rPr lang="en-US" altLang="en-US" sz="2400" b="1" dirty="0"/>
              <a:t>, </a:t>
            </a:r>
            <a:r>
              <a:rPr lang="en-US" altLang="en-US" sz="2400" i="1" dirty="0" err="1"/>
              <a:t>str</a:t>
            </a:r>
            <a:r>
              <a:rPr lang="en-US" altLang="en-US" sz="2400" b="1" dirty="0"/>
              <a:t>)</a:t>
            </a:r>
            <a:r>
              <a:rPr lang="en-US" altLang="en-US" sz="2400" dirty="0"/>
              <a:t> to split into a list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F698C8-9B65-4C27-B28B-30CBAF77CC14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16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Parsing HTML with Regular Expressions: Example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last_line_cols.py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re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 = open('yc_temp.txt', 'rt', encoding='utf-8')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ln in fin: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(r'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&lt;table class="t-chart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ln) != None: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ln2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(r'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.*&lt;tr .*row"&gt;&lt;td[^&gt;]*&gt;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'', ln)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ln3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(r'</a:t>
            </a:r>
            <a:r>
              <a:rPr 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&lt;.tr&gt;&lt;.table&gt;.*\n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'', ln2)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ln4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(r'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&lt;.td&gt;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'', ln3)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cols =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re.split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(r'</a:t>
            </a:r>
            <a:r>
              <a:rPr 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&lt;[^&gt;]*&gt;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ln4)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fin.close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print(cols)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728C452-8B07-4CB8-AF81-8941E87EA042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1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Easier Start at Web Scraping: </a:t>
            </a:r>
            <a:r>
              <a:rPr lang="en-US" altLang="en-US" dirty="0" err="1"/>
              <a:t>BeautifulSoup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To "scrape" a web site, </a:t>
            </a:r>
            <a:r>
              <a:rPr lang="en-US" altLang="en-US" sz="2800" b="1" dirty="0"/>
              <a:t>an easier way</a:t>
            </a:r>
          </a:p>
          <a:p>
            <a:pPr lvl="1" eaLnBrk="1" hangingPunct="1"/>
            <a:r>
              <a:rPr lang="en-US" altLang="en-US" sz="2400" dirty="0"/>
              <a:t>Open a connection to the web page</a:t>
            </a:r>
          </a:p>
          <a:p>
            <a:pPr lvl="1" eaLnBrk="1" hangingPunct="1"/>
            <a:r>
              <a:rPr lang="en-US" altLang="en-US" sz="2400" dirty="0"/>
              <a:t>Download the source (text) of the web page</a:t>
            </a:r>
          </a:p>
          <a:p>
            <a:pPr lvl="1" eaLnBrk="1" hangingPunct="1"/>
            <a:r>
              <a:rPr lang="en-US" altLang="en-US" sz="2400" dirty="0"/>
              <a:t>Convert the source to an HTML-aware </a:t>
            </a:r>
            <a:r>
              <a:rPr lang="en-US" altLang="en-US" sz="2400" b="1" dirty="0" err="1"/>
              <a:t>BeautifulSoup</a:t>
            </a:r>
            <a:r>
              <a:rPr lang="en-US" altLang="en-US" sz="2400" dirty="0"/>
              <a:t> object</a:t>
            </a:r>
          </a:p>
          <a:p>
            <a:pPr lvl="1" eaLnBrk="1" hangingPunct="1"/>
            <a:r>
              <a:rPr lang="en-US" altLang="en-US" sz="2400" dirty="0"/>
              <a:t>Write the </a:t>
            </a:r>
            <a:r>
              <a:rPr lang="en-US" altLang="en-US" sz="2400" dirty="0" err="1"/>
              <a:t>BeautifulSoup</a:t>
            </a:r>
            <a:r>
              <a:rPr lang="en-US" altLang="en-US" sz="2400" dirty="0"/>
              <a:t> to a file, and examine the contents for HTML tags:  </a:t>
            </a:r>
            <a:r>
              <a:rPr lang="en-US" altLang="en-US" sz="2400" b="1" dirty="0"/>
              <a:t>&lt;</a:t>
            </a:r>
            <a:r>
              <a:rPr lang="en-US" altLang="en-US" sz="2400" i="1" dirty="0"/>
              <a:t>tag</a:t>
            </a:r>
            <a:r>
              <a:rPr lang="en-US" altLang="en-US" sz="2400" b="1" dirty="0"/>
              <a:t> </a:t>
            </a:r>
            <a:r>
              <a:rPr lang="en-US" altLang="en-US" sz="2400" dirty="0"/>
              <a:t>...</a:t>
            </a:r>
            <a:r>
              <a:rPr lang="en-US" altLang="en-US" sz="2400" b="1" dirty="0"/>
              <a:t>&gt; </a:t>
            </a:r>
            <a:r>
              <a:rPr lang="en-US" altLang="en-US" sz="2400" dirty="0"/>
              <a:t>...</a:t>
            </a:r>
            <a:r>
              <a:rPr lang="en-US" altLang="en-US" sz="2400" b="1" dirty="0"/>
              <a:t> &lt;/</a:t>
            </a:r>
            <a:r>
              <a:rPr lang="en-US" altLang="en-US" sz="2400" i="1" dirty="0"/>
              <a:t>tag</a:t>
            </a:r>
            <a:r>
              <a:rPr lang="en-US" altLang="en-US" sz="2400" b="1" dirty="0"/>
              <a:t>&gt;</a:t>
            </a:r>
          </a:p>
          <a:p>
            <a:pPr lvl="1" eaLnBrk="1" hangingPunct="1"/>
            <a:r>
              <a:rPr lang="en-US" altLang="en-US" sz="2400" dirty="0"/>
              <a:t>Extract the tagged information you want from the </a:t>
            </a:r>
            <a:r>
              <a:rPr lang="en-US" altLang="en-US" sz="2400" dirty="0" err="1"/>
              <a:t>BeautifulSoup</a:t>
            </a: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A164F6-28B6-451E-9820-DAE881F891A4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Scraping the Yield Curve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urllib.request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urlopen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b_soup_1.py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bs4 import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BeautifulSoup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urlopen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https://www.treasury.gov/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resource-center/data-chart-center/interest-rates/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Pages/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TextView.aspx?data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yieldYear&amp;year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=2021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bsyc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BeautifulSoup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html.read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"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lxml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fout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open('bsyc_temp.txt', '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encoding='utf-8')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fout.write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bsyc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fout.close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E4E066-C172-445E-842B-5033DF407FC2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75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Scraping the Yield Curve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Searching </a:t>
            </a:r>
            <a:r>
              <a:rPr lang="en-US" altLang="en-US" sz="2800" b="1" dirty="0"/>
              <a:t>bsyc_temp.txt</a:t>
            </a:r>
            <a:r>
              <a:rPr lang="en-US" altLang="en-US" sz="2800" dirty="0"/>
              <a:t> for </a:t>
            </a:r>
            <a:r>
              <a:rPr lang="en-US" altLang="en-US" sz="2800" b="1" dirty="0"/>
              <a:t>08/16/21</a:t>
            </a:r>
            <a:r>
              <a:rPr lang="en-US" altLang="en-US" sz="2800" dirty="0"/>
              <a:t>, we are lucky to only find it once</a:t>
            </a:r>
          </a:p>
          <a:p>
            <a:pPr marL="800100" lvl="2" indent="0" eaLnBrk="1" hangingPunct="1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class="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text_view_data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scope="row"&gt;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08/16/21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&lt;/td&gt;</a:t>
            </a:r>
          </a:p>
          <a:p>
            <a:pPr eaLnBrk="1" hangingPunct="1"/>
            <a:r>
              <a:rPr lang="en-US" altLang="en-US" sz="2800" dirty="0"/>
              <a:t>The tag is </a:t>
            </a:r>
            <a:r>
              <a:rPr lang="en-US" altLang="en-US" sz="2800" b="1" dirty="0"/>
              <a:t>td</a:t>
            </a:r>
          </a:p>
          <a:p>
            <a:pPr lvl="1" eaLnBrk="1" hangingPunct="1"/>
            <a:r>
              <a:rPr lang="en-US" altLang="en-US" sz="2400" dirty="0"/>
              <a:t>Googling </a:t>
            </a:r>
            <a:r>
              <a:rPr lang="en-US" altLang="en-US" sz="2400" b="1" dirty="0"/>
              <a:t>HTML</a:t>
            </a:r>
            <a:r>
              <a:rPr lang="en-US" altLang="en-US" sz="2400" dirty="0"/>
              <a:t> </a:t>
            </a:r>
            <a:r>
              <a:rPr lang="en-US" altLang="en-US" sz="2400" b="1" dirty="0"/>
              <a:t>td</a:t>
            </a:r>
            <a:r>
              <a:rPr lang="en-US" altLang="en-US" sz="2400" dirty="0"/>
              <a:t> tells us this is a cell in a </a:t>
            </a:r>
            <a:r>
              <a:rPr lang="en-US" altLang="en-US" sz="2400" b="1" dirty="0"/>
              <a:t>table</a:t>
            </a:r>
          </a:p>
          <a:p>
            <a:pPr lvl="1" eaLnBrk="1" hangingPunct="1"/>
            <a:r>
              <a:rPr lang="en-US" altLang="en-US" sz="2400" dirty="0"/>
              <a:t>Searching backward for </a:t>
            </a:r>
            <a:r>
              <a:rPr lang="en-US" altLang="en-US" sz="2400" b="1" dirty="0"/>
              <a:t>&lt;table</a:t>
            </a:r>
            <a:r>
              <a:rPr lang="en-US" altLang="en-US" sz="2400" dirty="0"/>
              <a:t>, we find</a:t>
            </a:r>
          </a:p>
          <a:p>
            <a:pPr marL="857250" lvl="2" indent="0" eaLnBrk="1" hangingPunct="1"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class="t-chart"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xmlns:a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....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37360F-4AC2-47FA-9E8C-7C1BCDD34EC6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Scraping the Yield Curve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b_soup_1.py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print the first table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bsyc.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... not the one we want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so get a list of all table tags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table_list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bsyc.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findAll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('table')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how many are there?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print('there are',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table_list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'table tags')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F68087-8FBB-4E4E-8B4A-05F125DD1FAC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29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Scraping the Yield Curve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b_soup_1.py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look at the first 50 chars of each table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t in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table_list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(t)[:50])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only one class="t-chart" table, so add that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to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findAll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a dictionary attribute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tc_table_list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bsyc.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findAll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('table',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{ "class" : "t-chart" } 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how many are there?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tc_table_list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), 't-chart tables')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50366D-3A1A-4ABB-B43A-A33F6614C7B2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8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Scraping the Yield Curve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b_soup_1.py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only 1 t-chart table, so grab it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tc_table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tc_table_list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what are this table's components/children?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 in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tc_table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.children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(c)[:50])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tag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means table row, containing table data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what are the children of those rows?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 in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tc_table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.children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r in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.children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(r)[:50])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3CFEB-F07D-4268-A999-FBD8874B43E9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91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Scraping the Yield Curve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b_soup_1.py 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we have found the table data!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just get the contents of each cell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c in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tc_table.children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for r in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c.children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.contents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the contents of each cell is a list of one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string -- we can work with those!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your FCI HW1 homework code will go here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EE3355-3C3F-48FF-8679-8E2D1C93066C}" type="datetime1">
              <a:rPr lang="en-US" smtClean="0"/>
              <a:t>8/17/2021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23321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49640</TotalTime>
  <Words>1716</Words>
  <Application>Microsoft Office PowerPoint</Application>
  <PresentationFormat>On-screen Show (4:3)</PresentationFormat>
  <Paragraphs>236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Courier New</vt:lpstr>
      <vt:lpstr>Tahoma</vt:lpstr>
      <vt:lpstr>Times New Roman</vt:lpstr>
      <vt:lpstr>Wingdings</vt:lpstr>
      <vt:lpstr>Blends</vt:lpstr>
      <vt:lpstr>MSCF Programming Prep 46-900</vt:lpstr>
      <vt:lpstr>A Start at Web Scraping</vt:lpstr>
      <vt:lpstr>Historical Yield Curve Data</vt:lpstr>
      <vt:lpstr>Scraping the Yield Curve with Regular Expressions</vt:lpstr>
      <vt:lpstr>Parsing HTML with Regular Expressions</vt:lpstr>
      <vt:lpstr>Parsing HTML with Regular Expressions: Example</vt:lpstr>
      <vt:lpstr>An Easier Start at Web Scraping: BeautifulSoup</vt:lpstr>
      <vt:lpstr>Scraping the Yield Curve</vt:lpstr>
      <vt:lpstr>Scraping the Yield Curve (cont)</vt:lpstr>
      <vt:lpstr>Scraping the Yield Curve (cont)</vt:lpstr>
      <vt:lpstr>Scraping the Yield Curve (cont)</vt:lpstr>
      <vt:lpstr>Scraping the Yield Curve (cont)</vt:lpstr>
      <vt:lpstr>Scraping the Yield Curve (cont)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770</cp:revision>
  <cp:lastPrinted>2019-09-21T16:14:45Z</cp:lastPrinted>
  <dcterms:created xsi:type="dcterms:W3CDTF">2003-08-31T19:53:38Z</dcterms:created>
  <dcterms:modified xsi:type="dcterms:W3CDTF">2021-08-18T11:26:27Z</dcterms:modified>
</cp:coreProperties>
</file>
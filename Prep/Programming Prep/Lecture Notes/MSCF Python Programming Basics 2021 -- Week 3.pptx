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86"/>
  </p:notesMasterIdLst>
  <p:sldIdLst>
    <p:sldId id="257" r:id="rId2"/>
    <p:sldId id="566" r:id="rId3"/>
    <p:sldId id="709" r:id="rId4"/>
    <p:sldId id="567" r:id="rId5"/>
    <p:sldId id="710" r:id="rId6"/>
    <p:sldId id="711" r:id="rId7"/>
    <p:sldId id="568" r:id="rId8"/>
    <p:sldId id="712" r:id="rId9"/>
    <p:sldId id="713" r:id="rId10"/>
    <p:sldId id="714" r:id="rId11"/>
    <p:sldId id="715" r:id="rId12"/>
    <p:sldId id="570" r:id="rId13"/>
    <p:sldId id="716" r:id="rId14"/>
    <p:sldId id="717" r:id="rId15"/>
    <p:sldId id="718" r:id="rId16"/>
    <p:sldId id="719" r:id="rId17"/>
    <p:sldId id="720" r:id="rId18"/>
    <p:sldId id="721" r:id="rId19"/>
    <p:sldId id="722" r:id="rId20"/>
    <p:sldId id="723" r:id="rId21"/>
    <p:sldId id="659" r:id="rId22"/>
    <p:sldId id="660" r:id="rId23"/>
    <p:sldId id="592" r:id="rId24"/>
    <p:sldId id="725" r:id="rId25"/>
    <p:sldId id="555" r:id="rId26"/>
    <p:sldId id="731" r:id="rId27"/>
    <p:sldId id="724" r:id="rId28"/>
    <p:sldId id="732" r:id="rId29"/>
    <p:sldId id="733" r:id="rId30"/>
    <p:sldId id="726" r:id="rId31"/>
    <p:sldId id="727" r:id="rId32"/>
    <p:sldId id="728" r:id="rId33"/>
    <p:sldId id="734" r:id="rId34"/>
    <p:sldId id="735" r:id="rId35"/>
    <p:sldId id="736" r:id="rId36"/>
    <p:sldId id="737" r:id="rId37"/>
    <p:sldId id="259" r:id="rId38"/>
    <p:sldId id="738" r:id="rId39"/>
    <p:sldId id="739" r:id="rId40"/>
    <p:sldId id="740" r:id="rId41"/>
    <p:sldId id="269" r:id="rId42"/>
    <p:sldId id="665" r:id="rId43"/>
    <p:sldId id="666" r:id="rId44"/>
    <p:sldId id="667" r:id="rId45"/>
    <p:sldId id="668" r:id="rId46"/>
    <p:sldId id="669" r:id="rId47"/>
    <p:sldId id="670" r:id="rId48"/>
    <p:sldId id="671" r:id="rId49"/>
    <p:sldId id="672" r:id="rId50"/>
    <p:sldId id="673" r:id="rId51"/>
    <p:sldId id="674" r:id="rId52"/>
    <p:sldId id="653" r:id="rId53"/>
    <p:sldId id="741" r:id="rId54"/>
    <p:sldId id="742" r:id="rId55"/>
    <p:sldId id="743" r:id="rId56"/>
    <p:sldId id="744" r:id="rId57"/>
    <p:sldId id="745" r:id="rId58"/>
    <p:sldId id="654" r:id="rId59"/>
    <p:sldId id="746" r:id="rId60"/>
    <p:sldId id="661" r:id="rId61"/>
    <p:sldId id="675" r:id="rId62"/>
    <p:sldId id="676" r:id="rId63"/>
    <p:sldId id="677" r:id="rId64"/>
    <p:sldId id="678" r:id="rId65"/>
    <p:sldId id="679" r:id="rId66"/>
    <p:sldId id="680" r:id="rId67"/>
    <p:sldId id="681" r:id="rId68"/>
    <p:sldId id="682" r:id="rId69"/>
    <p:sldId id="683" r:id="rId70"/>
    <p:sldId id="685" r:id="rId71"/>
    <p:sldId id="686" r:id="rId72"/>
    <p:sldId id="687" r:id="rId73"/>
    <p:sldId id="747" r:id="rId74"/>
    <p:sldId id="748" r:id="rId75"/>
    <p:sldId id="749" r:id="rId76"/>
    <p:sldId id="750" r:id="rId77"/>
    <p:sldId id="655" r:id="rId78"/>
    <p:sldId id="656" r:id="rId79"/>
    <p:sldId id="657" r:id="rId80"/>
    <p:sldId id="658" r:id="rId81"/>
    <p:sldId id="751" r:id="rId82"/>
    <p:sldId id="729" r:id="rId83"/>
    <p:sldId id="730" r:id="rId84"/>
    <p:sldId id="752" r:id="rId85"/>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7446" autoAdjust="0"/>
  </p:normalViewPr>
  <p:slideViewPr>
    <p:cSldViewPr>
      <p:cViewPr varScale="1">
        <p:scale>
          <a:sx n="82" d="100"/>
          <a:sy n="82" d="100"/>
        </p:scale>
        <p:origin x="102" y="19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1" y="0"/>
            <a:ext cx="3169920" cy="480060"/>
          </a:xfrm>
          <a:prstGeom prst="rect">
            <a:avLst/>
          </a:prstGeom>
          <a:noFill/>
          <a:ln w="9525">
            <a:noFill/>
            <a:miter lim="800000"/>
            <a:headEnd/>
            <a:tailEnd/>
          </a:ln>
          <a:effectLst/>
        </p:spPr>
        <p:txBody>
          <a:bodyPr vert="horz" wrap="square" lIns="96662" tIns="48331" rIns="96662" bIns="48331" numCol="1" anchor="t" anchorCtr="0" compatLnSpc="1">
            <a:prstTxWarp prst="textNoShape">
              <a:avLst/>
            </a:prstTxWarp>
          </a:bodyPr>
          <a:lstStyle>
            <a:lvl1pPr eaLnBrk="1" hangingPunct="1">
              <a:defRPr sz="1300">
                <a:latin typeface="Times New Roman" pitchFamily="18" charset="0"/>
              </a:defRPr>
            </a:lvl1pPr>
          </a:lstStyle>
          <a:p>
            <a:pPr>
              <a:defRPr/>
            </a:pPr>
            <a:endParaRPr lang="en-US"/>
          </a:p>
        </p:txBody>
      </p:sp>
      <p:sp>
        <p:nvSpPr>
          <p:cNvPr id="74755" name="Rectangle 3"/>
          <p:cNvSpPr>
            <a:spLocks noGrp="1" noChangeArrowheads="1"/>
          </p:cNvSpPr>
          <p:nvPr>
            <p:ph type="dt" idx="1"/>
          </p:nvPr>
        </p:nvSpPr>
        <p:spPr bwMode="auto">
          <a:xfrm>
            <a:off x="4143588" y="0"/>
            <a:ext cx="3169920" cy="480060"/>
          </a:xfrm>
          <a:prstGeom prst="rect">
            <a:avLst/>
          </a:prstGeom>
          <a:noFill/>
          <a:ln w="9525">
            <a:noFill/>
            <a:miter lim="800000"/>
            <a:headEnd/>
            <a:tailEnd/>
          </a:ln>
          <a:effectLst/>
        </p:spPr>
        <p:txBody>
          <a:bodyPr vert="horz" wrap="square" lIns="96662" tIns="48331" rIns="96662" bIns="48331" numCol="1" anchor="t" anchorCtr="0" compatLnSpc="1">
            <a:prstTxWarp prst="textNoShape">
              <a:avLst/>
            </a:prstTxWarp>
          </a:bodyPr>
          <a:lstStyle>
            <a:lvl1pPr algn="r" eaLnBrk="1" hangingPunct="1">
              <a:defRPr sz="1300">
                <a:latin typeface="Times New Roman" pitchFamily="18" charset="0"/>
              </a:defRPr>
            </a:lvl1pPr>
          </a:lstStyle>
          <a:p>
            <a:pPr>
              <a:defRPr/>
            </a:pPr>
            <a:endParaRPr lang="en-US"/>
          </a:p>
        </p:txBody>
      </p:sp>
      <p:sp>
        <p:nvSpPr>
          <p:cNvPr id="60420" name="Rectangle 4"/>
          <p:cNvSpPr>
            <a:spLocks noGrp="1" noRot="1" noChangeAspect="1" noChangeArrowheads="1" noTextEdit="1"/>
          </p:cNvSpPr>
          <p:nvPr>
            <p:ph type="sldImg" idx="2"/>
          </p:nvPr>
        </p:nvSpPr>
        <p:spPr bwMode="auto">
          <a:xfrm>
            <a:off x="1257300" y="719138"/>
            <a:ext cx="4802188"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7" name="Rectangle 5"/>
          <p:cNvSpPr>
            <a:spLocks noGrp="1" noChangeArrowheads="1"/>
          </p:cNvSpPr>
          <p:nvPr>
            <p:ph type="body" sz="quarter" idx="3"/>
          </p:nvPr>
        </p:nvSpPr>
        <p:spPr bwMode="auto">
          <a:xfrm>
            <a:off x="731521" y="4560570"/>
            <a:ext cx="5852160" cy="4320540"/>
          </a:xfrm>
          <a:prstGeom prst="rect">
            <a:avLst/>
          </a:prstGeom>
          <a:noFill/>
          <a:ln w="9525">
            <a:noFill/>
            <a:miter lim="800000"/>
            <a:headEnd/>
            <a:tailEnd/>
          </a:ln>
          <a:effectLst/>
        </p:spPr>
        <p:txBody>
          <a:bodyPr vert="horz" wrap="square" lIns="96662" tIns="48331" rIns="96662"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4758" name="Rectangle 6"/>
          <p:cNvSpPr>
            <a:spLocks noGrp="1" noChangeArrowheads="1"/>
          </p:cNvSpPr>
          <p:nvPr>
            <p:ph type="ftr" sz="quarter" idx="4"/>
          </p:nvPr>
        </p:nvSpPr>
        <p:spPr bwMode="auto">
          <a:xfrm>
            <a:off x="1" y="9119474"/>
            <a:ext cx="3169920" cy="480060"/>
          </a:xfrm>
          <a:prstGeom prst="rect">
            <a:avLst/>
          </a:prstGeom>
          <a:noFill/>
          <a:ln w="9525">
            <a:noFill/>
            <a:miter lim="800000"/>
            <a:headEnd/>
            <a:tailEnd/>
          </a:ln>
          <a:effectLst/>
        </p:spPr>
        <p:txBody>
          <a:bodyPr vert="horz" wrap="square" lIns="96662" tIns="48331" rIns="96662" bIns="48331" numCol="1" anchor="b" anchorCtr="0" compatLnSpc="1">
            <a:prstTxWarp prst="textNoShape">
              <a:avLst/>
            </a:prstTxWarp>
          </a:bodyPr>
          <a:lstStyle>
            <a:lvl1pPr eaLnBrk="1" hangingPunct="1">
              <a:defRPr sz="1300">
                <a:latin typeface="Times New Roman" pitchFamily="18" charset="0"/>
              </a:defRPr>
            </a:lvl1pPr>
          </a:lstStyle>
          <a:p>
            <a:pPr>
              <a:defRPr/>
            </a:pPr>
            <a:endParaRPr lang="en-US"/>
          </a:p>
        </p:txBody>
      </p:sp>
      <p:sp>
        <p:nvSpPr>
          <p:cNvPr id="74759" name="Rectangle 7"/>
          <p:cNvSpPr>
            <a:spLocks noGrp="1" noChangeArrowheads="1"/>
          </p:cNvSpPr>
          <p:nvPr>
            <p:ph type="sldNum" sz="quarter" idx="5"/>
          </p:nvPr>
        </p:nvSpPr>
        <p:spPr bwMode="auto">
          <a:xfrm>
            <a:off x="4143588" y="9119474"/>
            <a:ext cx="3169920" cy="480060"/>
          </a:xfrm>
          <a:prstGeom prst="rect">
            <a:avLst/>
          </a:prstGeom>
          <a:noFill/>
          <a:ln w="9525">
            <a:noFill/>
            <a:miter lim="800000"/>
            <a:headEnd/>
            <a:tailEnd/>
          </a:ln>
          <a:effectLst/>
        </p:spPr>
        <p:txBody>
          <a:bodyPr vert="horz" wrap="square" lIns="96662" tIns="48331" rIns="96662" bIns="48331" numCol="1" anchor="b" anchorCtr="0" compatLnSpc="1">
            <a:prstTxWarp prst="textNoShape">
              <a:avLst/>
            </a:prstTxWarp>
          </a:bodyPr>
          <a:lstStyle>
            <a:lvl1pPr algn="r" eaLnBrk="1" hangingPunct="1">
              <a:defRPr sz="1300">
                <a:latin typeface="Times New Roman" pitchFamily="18" charset="0"/>
              </a:defRPr>
            </a:lvl1pPr>
          </a:lstStyle>
          <a:p>
            <a:pPr>
              <a:defRPr/>
            </a:pPr>
            <a:fld id="{C3966094-34ED-42CC-B0A0-81B4FC9F48A1}" type="slidenum">
              <a:rPr lang="en-US"/>
              <a:pPr>
                <a:defRPr/>
              </a:pPr>
              <a:t>‹#›</a:t>
            </a:fld>
            <a:endParaRPr lang="en-US"/>
          </a:p>
        </p:txBody>
      </p:sp>
    </p:spTree>
    <p:extLst>
      <p:ext uri="{BB962C8B-B14F-4D97-AF65-F5344CB8AC3E}">
        <p14:creationId xmlns:p14="http://schemas.microsoft.com/office/powerpoint/2010/main" val="10729004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0C77F19E-6305-42C9-846D-8F6E264C89DD}" type="slidenum">
              <a:rPr lang="en-US" altLang="en-US" smtClean="0">
                <a:latin typeface="Times New Roman" pitchFamily="18" charset="0"/>
              </a:rPr>
              <a:pPr/>
              <a:t>1</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2</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3</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4267902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4</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5</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617153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6</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587771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7</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535955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8</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4236708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9</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141296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10</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258373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11</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544377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12</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13</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822838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14</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199676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15</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122301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16</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040370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17</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321396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18</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671988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19</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2822910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20</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599096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21</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8987619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22</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14535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23</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4181784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24</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2095354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25</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26</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860663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27</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28</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6592310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29</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1505131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30</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0828375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31</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481577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32</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8026978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33</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8568970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34</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9401777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35</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0868234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36</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1593559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270ECE44-A8AA-41EB-B242-0D98D2460728}" type="slidenum">
              <a:rPr lang="en-US" altLang="en-US" smtClean="0">
                <a:latin typeface="Times New Roman" pitchFamily="18" charset="0"/>
              </a:rPr>
              <a:pPr/>
              <a:t>37</a:t>
            </a:fld>
            <a:endParaRPr lang="en-US" altLang="en-US">
              <a:latin typeface="Times New Roman"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4839480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270ECE44-A8AA-41EB-B242-0D98D2460728}" type="slidenum">
              <a:rPr lang="en-US" altLang="en-US" smtClean="0">
                <a:latin typeface="Times New Roman" pitchFamily="18" charset="0"/>
              </a:rPr>
              <a:pPr/>
              <a:t>38</a:t>
            </a:fld>
            <a:endParaRPr lang="en-US" altLang="en-US">
              <a:latin typeface="Times New Roman"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1153189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39</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371298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40</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9858112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41</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27546652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42</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43</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44</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45</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7158826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46</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0526431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47</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1925087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48</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1205493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49</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44206003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50</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1122" indent="-288893">
              <a:defRPr>
                <a:solidFill>
                  <a:schemeClr val="tx1"/>
                </a:solidFill>
                <a:latin typeface="Tahoma" pitchFamily="34" charset="0"/>
              </a:defRPr>
            </a:lvl2pPr>
            <a:lvl3pPr marL="1155573" indent="-231115">
              <a:defRPr>
                <a:solidFill>
                  <a:schemeClr val="tx1"/>
                </a:solidFill>
                <a:latin typeface="Tahoma" pitchFamily="34" charset="0"/>
              </a:defRPr>
            </a:lvl3pPr>
            <a:lvl4pPr marL="1617802" indent="-231115">
              <a:defRPr>
                <a:solidFill>
                  <a:schemeClr val="tx1"/>
                </a:solidFill>
                <a:latin typeface="Tahoma" pitchFamily="34" charset="0"/>
              </a:defRPr>
            </a:lvl4pPr>
            <a:lvl5pPr marL="2080031" indent="-231115">
              <a:defRPr>
                <a:solidFill>
                  <a:schemeClr val="tx1"/>
                </a:solidFill>
                <a:latin typeface="Tahoma" pitchFamily="34" charset="0"/>
              </a:defRPr>
            </a:lvl5pPr>
            <a:lvl6pPr marL="2542261" indent="-231115" eaLnBrk="0" fontAlgn="base" hangingPunct="0">
              <a:spcBef>
                <a:spcPct val="0"/>
              </a:spcBef>
              <a:spcAft>
                <a:spcPct val="0"/>
              </a:spcAft>
              <a:defRPr>
                <a:solidFill>
                  <a:schemeClr val="tx1"/>
                </a:solidFill>
                <a:latin typeface="Tahoma" pitchFamily="34" charset="0"/>
              </a:defRPr>
            </a:lvl6pPr>
            <a:lvl7pPr marL="3004490" indent="-231115" eaLnBrk="0" fontAlgn="base" hangingPunct="0">
              <a:spcBef>
                <a:spcPct val="0"/>
              </a:spcBef>
              <a:spcAft>
                <a:spcPct val="0"/>
              </a:spcAft>
              <a:defRPr>
                <a:solidFill>
                  <a:schemeClr val="tx1"/>
                </a:solidFill>
                <a:latin typeface="Tahoma" pitchFamily="34" charset="0"/>
              </a:defRPr>
            </a:lvl7pPr>
            <a:lvl8pPr marL="3466719" indent="-231115" eaLnBrk="0" fontAlgn="base" hangingPunct="0">
              <a:spcBef>
                <a:spcPct val="0"/>
              </a:spcBef>
              <a:spcAft>
                <a:spcPct val="0"/>
              </a:spcAft>
              <a:defRPr>
                <a:solidFill>
                  <a:schemeClr val="tx1"/>
                </a:solidFill>
                <a:latin typeface="Tahoma" pitchFamily="34" charset="0"/>
              </a:defRPr>
            </a:lvl8pPr>
            <a:lvl9pPr marL="3928948" indent="-231115"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51</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6926745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52</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53</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5859988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54</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49847902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55</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5441524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56</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6462060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57</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976823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58</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59</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9082899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60</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0936775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61</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00223161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62</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7181108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63</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7761686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64</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9456038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65</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4450287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66</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29617933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67</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27879185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68</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6060983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69</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96090261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70</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41475259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71</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0662121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72</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02904553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73</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334735116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74</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08043088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75</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424050769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76</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43039374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77</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78</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79</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80</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50982" indent="-288840">
              <a:defRPr>
                <a:solidFill>
                  <a:schemeClr val="tx1"/>
                </a:solidFill>
                <a:latin typeface="Tahoma" pitchFamily="34" charset="0"/>
              </a:defRPr>
            </a:lvl2pPr>
            <a:lvl3pPr marL="1155359" indent="-231073">
              <a:defRPr>
                <a:solidFill>
                  <a:schemeClr val="tx1"/>
                </a:solidFill>
                <a:latin typeface="Tahoma" pitchFamily="34" charset="0"/>
              </a:defRPr>
            </a:lvl3pPr>
            <a:lvl4pPr marL="1617502" indent="-231073">
              <a:defRPr>
                <a:solidFill>
                  <a:schemeClr val="tx1"/>
                </a:solidFill>
                <a:latin typeface="Tahoma" pitchFamily="34" charset="0"/>
              </a:defRPr>
            </a:lvl4pPr>
            <a:lvl5pPr marL="2079646" indent="-231073">
              <a:defRPr>
                <a:solidFill>
                  <a:schemeClr val="tx1"/>
                </a:solidFill>
                <a:latin typeface="Tahoma" pitchFamily="34" charset="0"/>
              </a:defRPr>
            </a:lvl5pPr>
            <a:lvl6pPr marL="2541789" indent="-231073" eaLnBrk="0" fontAlgn="base" hangingPunct="0">
              <a:spcBef>
                <a:spcPct val="0"/>
              </a:spcBef>
              <a:spcAft>
                <a:spcPct val="0"/>
              </a:spcAft>
              <a:defRPr>
                <a:solidFill>
                  <a:schemeClr val="tx1"/>
                </a:solidFill>
                <a:latin typeface="Tahoma" pitchFamily="34" charset="0"/>
              </a:defRPr>
            </a:lvl6pPr>
            <a:lvl7pPr marL="3003933" indent="-231073" eaLnBrk="0" fontAlgn="base" hangingPunct="0">
              <a:spcBef>
                <a:spcPct val="0"/>
              </a:spcBef>
              <a:spcAft>
                <a:spcPct val="0"/>
              </a:spcAft>
              <a:defRPr>
                <a:solidFill>
                  <a:schemeClr val="tx1"/>
                </a:solidFill>
                <a:latin typeface="Tahoma" pitchFamily="34" charset="0"/>
              </a:defRPr>
            </a:lvl7pPr>
            <a:lvl8pPr marL="3466076" indent="-231073" eaLnBrk="0" fontAlgn="base" hangingPunct="0">
              <a:spcBef>
                <a:spcPct val="0"/>
              </a:spcBef>
              <a:spcAft>
                <a:spcPct val="0"/>
              </a:spcAft>
              <a:defRPr>
                <a:solidFill>
                  <a:schemeClr val="tx1"/>
                </a:solidFill>
                <a:latin typeface="Tahoma" pitchFamily="34" charset="0"/>
              </a:defRPr>
            </a:lvl8pPr>
            <a:lvl9pPr marL="3928219" indent="-231073"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81</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82</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238701425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83</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60104957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33C66F47-2BAB-4AEF-BFF2-4D5B039ADC54}" type="slidenum">
              <a:rPr lang="en-US" altLang="en-US" smtClean="0">
                <a:latin typeface="Times New Roman" pitchFamily="18" charset="0"/>
              </a:rPr>
              <a:pPr/>
              <a:t>84</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pow() takes two doubles and returns a double:</a:t>
            </a:r>
          </a:p>
          <a:p>
            <a:pPr eaLnBrk="1" hangingPunct="1"/>
            <a:r>
              <a:rPr lang="en-US" altLang="en-US"/>
              <a:t>double sqrt = pow( 4.0, 0.5); </a:t>
            </a:r>
          </a:p>
          <a:p>
            <a:pPr eaLnBrk="1" hangingPunct="1"/>
            <a:r>
              <a:rPr lang="en-US" altLang="en-US"/>
              <a:t>How is this implemented? It’s unnecessarily slow for integer powers, don’t use it for this!</a:t>
            </a:r>
          </a:p>
        </p:txBody>
      </p:sp>
    </p:spTree>
    <p:extLst>
      <p:ext uri="{BB962C8B-B14F-4D97-AF65-F5344CB8AC3E}">
        <p14:creationId xmlns:p14="http://schemas.microsoft.com/office/powerpoint/2010/main" val="1500472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sp>
        <p:nvSpPr>
          <p:cNvPr id="138252"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13825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5EB65EF9-C149-4E5B-BEA8-44287920F813}" type="datetime1">
              <a:rPr lang="en-US" smtClean="0"/>
              <a:t>7/10/2021</a:t>
            </a:fld>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t>Copyright (c) John K. Ostlund</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5239B93A-74DE-4B25-B352-2D94A7B0ECE9}" type="slidenum">
              <a:rPr lang="en-US"/>
              <a:pPr>
                <a:defRPr/>
              </a:pPr>
              <a:t>‹#›</a:t>
            </a:fld>
            <a:endParaRPr lang="en-US"/>
          </a:p>
        </p:txBody>
      </p:sp>
    </p:spTree>
    <p:extLst>
      <p:ext uri="{BB962C8B-B14F-4D97-AF65-F5344CB8AC3E}">
        <p14:creationId xmlns:p14="http://schemas.microsoft.com/office/powerpoint/2010/main" val="30508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83CE6832-6BD4-4A6C-91DA-31F3E770C91E}" type="datetime1">
              <a:rPr lang="en-US" smtClean="0"/>
              <a:t>7/10/2021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9E9676BE-5AF2-4172-BD19-31A2F83EF2EB}" type="slidenum">
              <a:rPr lang="en-US"/>
              <a:pPr>
                <a:defRPr/>
              </a:pPr>
              <a:t>‹#›</a:t>
            </a:fld>
            <a:endParaRPr lang="en-US"/>
          </a:p>
        </p:txBody>
      </p:sp>
    </p:spTree>
    <p:extLst>
      <p:ext uri="{BB962C8B-B14F-4D97-AF65-F5344CB8AC3E}">
        <p14:creationId xmlns:p14="http://schemas.microsoft.com/office/powerpoint/2010/main" val="2459231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fld id="{FC7C15C1-8FA5-45A8-AEDE-3FE687490E86}" type="datetime1">
              <a:rPr lang="en-US" smtClean="0"/>
              <a:t>7/10/2021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A4441145-DF2F-4F5F-87FB-6F34B812BFA0}" type="slidenum">
              <a:rPr lang="en-US"/>
              <a:pPr>
                <a:defRPr/>
              </a:pPr>
              <a:t>‹#›</a:t>
            </a:fld>
            <a:endParaRPr lang="en-US"/>
          </a:p>
        </p:txBody>
      </p:sp>
    </p:spTree>
    <p:extLst>
      <p:ext uri="{BB962C8B-B14F-4D97-AF65-F5344CB8AC3E}">
        <p14:creationId xmlns:p14="http://schemas.microsoft.com/office/powerpoint/2010/main" val="3349570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fld id="{70A107D5-338D-4E60-9F7B-5BC2FA2BFF9D}" type="datetime1">
              <a:rPr lang="en-US" smtClean="0"/>
              <a:t>7/10/2021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EF3359A0-D876-470E-A03B-B54B4EF9A55C}" type="slidenum">
              <a:rPr lang="en-US"/>
              <a:pPr>
                <a:defRPr/>
              </a:pPr>
              <a:t>‹#›</a:t>
            </a:fld>
            <a:endParaRPr lang="en-US"/>
          </a:p>
        </p:txBody>
      </p:sp>
    </p:spTree>
    <p:extLst>
      <p:ext uri="{BB962C8B-B14F-4D97-AF65-F5344CB8AC3E}">
        <p14:creationId xmlns:p14="http://schemas.microsoft.com/office/powerpoint/2010/main" val="2663732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fld id="{4DDC6272-EFD4-47F9-BD12-5822791D518E}" type="datetime1">
              <a:rPr lang="en-US" smtClean="0"/>
              <a:t>7/10/2021</a:t>
            </a:fld>
            <a:endParaRPr lang="en-US"/>
          </a:p>
        </p:txBody>
      </p:sp>
      <p:sp>
        <p:nvSpPr>
          <p:cNvPr id="8" name="Rectangle 12"/>
          <p:cNvSpPr>
            <a:spLocks noGrp="1" noChangeArrowheads="1"/>
          </p:cNvSpPr>
          <p:nvPr>
            <p:ph type="ftr" sz="quarter" idx="11"/>
          </p:nvPr>
        </p:nvSpPr>
        <p:spPr>
          <a:ln/>
        </p:spPr>
        <p:txBody>
          <a:bodyPr/>
          <a:lstStyle>
            <a:lvl1pPr>
              <a:defRPr/>
            </a:lvl1pPr>
          </a:lstStyle>
          <a:p>
            <a:pPr>
              <a:defRPr/>
            </a:pPr>
            <a:r>
              <a:rPr lang="en-US"/>
              <a:t>Copyright (c) John K. Ostlund</a:t>
            </a:r>
          </a:p>
        </p:txBody>
      </p:sp>
      <p:sp>
        <p:nvSpPr>
          <p:cNvPr id="9" name="Rectangle 13"/>
          <p:cNvSpPr>
            <a:spLocks noGrp="1" noChangeArrowheads="1"/>
          </p:cNvSpPr>
          <p:nvPr>
            <p:ph type="sldNum" sz="quarter" idx="12"/>
          </p:nvPr>
        </p:nvSpPr>
        <p:spPr>
          <a:ln/>
        </p:spPr>
        <p:txBody>
          <a:bodyPr/>
          <a:lstStyle>
            <a:lvl1pPr>
              <a:defRPr/>
            </a:lvl1pPr>
          </a:lstStyle>
          <a:p>
            <a:pPr>
              <a:defRPr/>
            </a:pPr>
            <a:fld id="{9D55BDD2-431D-4473-B6F1-AD9C47ED042A}" type="slidenum">
              <a:rPr lang="en-US"/>
              <a:pPr>
                <a:defRPr/>
              </a:pPr>
              <a:t>‹#›</a:t>
            </a:fld>
            <a:endParaRPr lang="en-US"/>
          </a:p>
        </p:txBody>
      </p:sp>
    </p:spTree>
    <p:extLst>
      <p:ext uri="{BB962C8B-B14F-4D97-AF65-F5344CB8AC3E}">
        <p14:creationId xmlns:p14="http://schemas.microsoft.com/office/powerpoint/2010/main" val="695490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dt" sz="half" idx="10"/>
          </p:nvPr>
        </p:nvSpPr>
        <p:spPr>
          <a:ln/>
        </p:spPr>
        <p:txBody>
          <a:bodyPr/>
          <a:lstStyle>
            <a:lvl1pPr>
              <a:defRPr/>
            </a:lvl1pPr>
          </a:lstStyle>
          <a:p>
            <a:pPr>
              <a:defRPr/>
            </a:pPr>
            <a:fld id="{15B8863C-C396-4554-B7FD-ADE133543E65}" type="datetime1">
              <a:rPr lang="en-US" smtClean="0"/>
              <a:t>7/10/2021</a:t>
            </a:fld>
            <a:endParaRPr lang="en-US"/>
          </a:p>
        </p:txBody>
      </p:sp>
      <p:sp>
        <p:nvSpPr>
          <p:cNvPr id="4" name="Rectangle 12"/>
          <p:cNvSpPr>
            <a:spLocks noGrp="1" noChangeArrowheads="1"/>
          </p:cNvSpPr>
          <p:nvPr>
            <p:ph type="ftr" sz="quarter" idx="11"/>
          </p:nvPr>
        </p:nvSpPr>
        <p:spPr>
          <a:ln/>
        </p:spPr>
        <p:txBody>
          <a:bodyPr/>
          <a:lstStyle>
            <a:lvl1pPr>
              <a:defRPr/>
            </a:lvl1pPr>
          </a:lstStyle>
          <a:p>
            <a:pPr>
              <a:defRPr/>
            </a:pPr>
            <a:r>
              <a:rPr lang="en-US"/>
              <a:t>Copyright (c) John K. Ostlund</a:t>
            </a:r>
          </a:p>
        </p:txBody>
      </p:sp>
      <p:sp>
        <p:nvSpPr>
          <p:cNvPr id="5" name="Rectangle 13"/>
          <p:cNvSpPr>
            <a:spLocks noGrp="1" noChangeArrowheads="1"/>
          </p:cNvSpPr>
          <p:nvPr>
            <p:ph type="sldNum" sz="quarter" idx="12"/>
          </p:nvPr>
        </p:nvSpPr>
        <p:spPr>
          <a:ln/>
        </p:spPr>
        <p:txBody>
          <a:bodyPr/>
          <a:lstStyle>
            <a:lvl1pPr>
              <a:defRPr/>
            </a:lvl1pPr>
          </a:lstStyle>
          <a:p>
            <a:pPr>
              <a:defRPr/>
            </a:pPr>
            <a:fld id="{F6BC0419-96C4-40C9-AA2D-27D42EB4E327}" type="slidenum">
              <a:rPr lang="en-US"/>
              <a:pPr>
                <a:defRPr/>
              </a:pPr>
              <a:t>‹#›</a:t>
            </a:fld>
            <a:endParaRPr lang="en-US"/>
          </a:p>
        </p:txBody>
      </p:sp>
    </p:spTree>
    <p:extLst>
      <p:ext uri="{BB962C8B-B14F-4D97-AF65-F5344CB8AC3E}">
        <p14:creationId xmlns:p14="http://schemas.microsoft.com/office/powerpoint/2010/main" val="291191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244067CA-5841-4831-8F62-8A848C1DA48D}" type="datetime1">
              <a:rPr lang="en-US" smtClean="0"/>
              <a:t>7/10/2021</a:t>
            </a:fld>
            <a:endParaRPr lang="en-US"/>
          </a:p>
        </p:txBody>
      </p:sp>
      <p:sp>
        <p:nvSpPr>
          <p:cNvPr id="3" name="Rectangle 12"/>
          <p:cNvSpPr>
            <a:spLocks noGrp="1" noChangeArrowheads="1"/>
          </p:cNvSpPr>
          <p:nvPr>
            <p:ph type="ftr" sz="quarter" idx="11"/>
          </p:nvPr>
        </p:nvSpPr>
        <p:spPr>
          <a:ln/>
        </p:spPr>
        <p:txBody>
          <a:bodyPr/>
          <a:lstStyle>
            <a:lvl1pPr>
              <a:defRPr/>
            </a:lvl1pPr>
          </a:lstStyle>
          <a:p>
            <a:pPr>
              <a:defRPr/>
            </a:pPr>
            <a:r>
              <a:rPr lang="en-US"/>
              <a:t>Copyright (c) John K. Ostlund</a:t>
            </a:r>
          </a:p>
        </p:txBody>
      </p:sp>
      <p:sp>
        <p:nvSpPr>
          <p:cNvPr id="4" name="Rectangle 13"/>
          <p:cNvSpPr>
            <a:spLocks noGrp="1" noChangeArrowheads="1"/>
          </p:cNvSpPr>
          <p:nvPr>
            <p:ph type="sldNum" sz="quarter" idx="12"/>
          </p:nvPr>
        </p:nvSpPr>
        <p:spPr>
          <a:ln/>
        </p:spPr>
        <p:txBody>
          <a:bodyPr/>
          <a:lstStyle>
            <a:lvl1pPr>
              <a:defRPr/>
            </a:lvl1pPr>
          </a:lstStyle>
          <a:p>
            <a:pPr>
              <a:defRPr/>
            </a:pPr>
            <a:fld id="{60862B98-9A01-4C44-BDC6-515C05E58F72}" type="slidenum">
              <a:rPr lang="en-US"/>
              <a:pPr>
                <a:defRPr/>
              </a:pPr>
              <a:t>‹#›</a:t>
            </a:fld>
            <a:endParaRPr lang="en-US"/>
          </a:p>
        </p:txBody>
      </p:sp>
    </p:spTree>
    <p:extLst>
      <p:ext uri="{BB962C8B-B14F-4D97-AF65-F5344CB8AC3E}">
        <p14:creationId xmlns:p14="http://schemas.microsoft.com/office/powerpoint/2010/main" val="2309648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4F44C391-9417-482B-A325-BD47A31486DE}" type="datetime1">
              <a:rPr lang="en-US" smtClean="0"/>
              <a:t>7/10/2021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D82D8208-D527-49A2-9034-D654B1EF281B}" type="slidenum">
              <a:rPr lang="en-US"/>
              <a:pPr>
                <a:defRPr/>
              </a:pPr>
              <a:t>‹#›</a:t>
            </a:fld>
            <a:endParaRPr lang="en-US"/>
          </a:p>
        </p:txBody>
      </p:sp>
    </p:spTree>
    <p:extLst>
      <p:ext uri="{BB962C8B-B14F-4D97-AF65-F5344CB8AC3E}">
        <p14:creationId xmlns:p14="http://schemas.microsoft.com/office/powerpoint/2010/main" val="478374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B1482FE6-0D9C-4216-8197-A57596A7D130}" type="datetime1">
              <a:rPr lang="en-US" smtClean="0"/>
              <a:t>7/10/2021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AF169637-7F5D-47B5-84F3-031C50CD82B5}" type="slidenum">
              <a:rPr lang="en-US"/>
              <a:pPr>
                <a:defRPr/>
              </a:pPr>
              <a:t>‹#›</a:t>
            </a:fld>
            <a:endParaRPr lang="en-US"/>
          </a:p>
        </p:txBody>
      </p:sp>
    </p:spTree>
    <p:extLst>
      <p:ext uri="{BB962C8B-B14F-4D97-AF65-F5344CB8AC3E}">
        <p14:creationId xmlns:p14="http://schemas.microsoft.com/office/powerpoint/2010/main" val="1444204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F2068B98-E851-4765-AF99-1F026A6BED09}" type="datetime1">
              <a:rPr lang="en-US" smtClean="0"/>
              <a:t>7/10/2021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AD9F3A7A-80FC-4CCB-802A-CD06628E1451}" type="slidenum">
              <a:rPr lang="en-US"/>
              <a:pPr>
                <a:defRPr/>
              </a:pPr>
              <a:t>‹#›</a:t>
            </a:fld>
            <a:endParaRPr lang="en-US"/>
          </a:p>
        </p:txBody>
      </p:sp>
    </p:spTree>
    <p:extLst>
      <p:ext uri="{BB962C8B-B14F-4D97-AF65-F5344CB8AC3E}">
        <p14:creationId xmlns:p14="http://schemas.microsoft.com/office/powerpoint/2010/main" val="1116063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14313"/>
            <a:ext cx="1951038" cy="5918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214313"/>
            <a:ext cx="5700712" cy="5918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6D542FF8-E5E9-4BE8-A9B5-625227FF880E}" type="datetime1">
              <a:rPr lang="en-US" smtClean="0"/>
              <a:t>7/10/2021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C15F157A-85D2-470A-87E4-A935A04F8C7B}" type="slidenum">
              <a:rPr lang="en-US"/>
              <a:pPr>
                <a:defRPr/>
              </a:pPr>
              <a:t>‹#›</a:t>
            </a:fld>
            <a:endParaRPr lang="en-US"/>
          </a:p>
        </p:txBody>
      </p:sp>
    </p:spTree>
    <p:extLst>
      <p:ext uri="{BB962C8B-B14F-4D97-AF65-F5344CB8AC3E}">
        <p14:creationId xmlns:p14="http://schemas.microsoft.com/office/powerpoint/2010/main" val="345554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7227" name="Rectangle 11"/>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vl1pPr>
          </a:lstStyle>
          <a:p>
            <a:pPr>
              <a:defRPr/>
            </a:pPr>
            <a:fld id="{E0054407-CF2D-4370-93D8-09D4B0B02375}" type="datetime1">
              <a:rPr lang="en-US" smtClean="0"/>
              <a:t>7/10/2021</a:t>
            </a:fld>
            <a:endParaRPr lang="en-US"/>
          </a:p>
        </p:txBody>
      </p:sp>
      <p:sp>
        <p:nvSpPr>
          <p:cNvPr id="137228" name="Rectangle 12"/>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vl1pPr>
          </a:lstStyle>
          <a:p>
            <a:pPr>
              <a:defRPr/>
            </a:pPr>
            <a:r>
              <a:rPr lang="en-US"/>
              <a:t>Copyright (c) John K. Ostlund</a:t>
            </a:r>
          </a:p>
        </p:txBody>
      </p:sp>
      <p:sp>
        <p:nvSpPr>
          <p:cNvPr id="137229"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vl1pPr>
          </a:lstStyle>
          <a:p>
            <a:pPr>
              <a:defRPr/>
            </a:pPr>
            <a:fld id="{B6BFBACB-D4B5-4FCB-958C-A311D48A19C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8"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hf hd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ltLang="en-US" dirty="0"/>
              <a:t>MSCF Python Programming Basics -- 2021</a:t>
            </a:r>
          </a:p>
        </p:txBody>
      </p:sp>
      <p:sp>
        <p:nvSpPr>
          <p:cNvPr id="3075" name="Rectangle 3"/>
          <p:cNvSpPr>
            <a:spLocks noGrp="1" noChangeArrowheads="1"/>
          </p:cNvSpPr>
          <p:nvPr>
            <p:ph type="subTitle" idx="1"/>
          </p:nvPr>
        </p:nvSpPr>
        <p:spPr>
          <a:xfrm>
            <a:off x="1371600" y="3657600"/>
            <a:ext cx="6400800" cy="2209800"/>
          </a:xfrm>
        </p:spPr>
        <p:txBody>
          <a:bodyPr/>
          <a:lstStyle/>
          <a:p>
            <a:pPr eaLnBrk="1" hangingPunct="1"/>
            <a:r>
              <a:rPr lang="en-US" altLang="en-US" dirty="0"/>
              <a:t>MSCF, Carnegie Mellon University</a:t>
            </a:r>
          </a:p>
          <a:p>
            <a:pPr eaLnBrk="1" hangingPunct="1"/>
            <a:r>
              <a:rPr lang="en-US" altLang="en-US" dirty="0"/>
              <a:t>Week 3: Container Construction and Comprehension, File I/O, Function Definitions, and NumPy</a:t>
            </a:r>
          </a:p>
        </p:txBody>
      </p:sp>
      <p:sp>
        <p:nvSpPr>
          <p:cNvPr id="2" name="Date Placeholder 1"/>
          <p:cNvSpPr>
            <a:spLocks noGrp="1"/>
          </p:cNvSpPr>
          <p:nvPr>
            <p:ph type="dt" sz="half" idx="10"/>
          </p:nvPr>
        </p:nvSpPr>
        <p:spPr/>
        <p:txBody>
          <a:bodyPr/>
          <a:lstStyle/>
          <a:p>
            <a:pPr>
              <a:defRPr/>
            </a:pPr>
            <a:fld id="{8546B670-63B9-4A4C-AEA8-1FEC93EE20C5}" type="datetime1">
              <a:rPr lang="en-US" smtClean="0"/>
              <a:t>7/10/2021</a:t>
            </a:fld>
            <a:endParaRPr lang="en-US" dirty="0"/>
          </a:p>
        </p:txBody>
      </p:sp>
      <p:sp>
        <p:nvSpPr>
          <p:cNvPr id="3" name="Footer Placeholder 2"/>
          <p:cNvSpPr>
            <a:spLocks noGrp="1"/>
          </p:cNvSpPr>
          <p:nvPr>
            <p:ph type="ftr" sz="quarter" idx="11"/>
          </p:nvPr>
        </p:nvSpPr>
        <p:spPr/>
        <p:txBody>
          <a:bodyPr/>
          <a:lstStyle/>
          <a:p>
            <a:pPr>
              <a:defRPr/>
            </a:pPr>
            <a:r>
              <a:rPr lang="en-US"/>
              <a:t>Copyright (c) John K. Ostlund</a:t>
            </a:r>
            <a:endParaRPr lang="en-US" dirty="0"/>
          </a:p>
        </p:txBody>
      </p:sp>
      <p:sp>
        <p:nvSpPr>
          <p:cNvPr id="4" name="Slide Number Placeholder 3"/>
          <p:cNvSpPr>
            <a:spLocks noGrp="1"/>
          </p:cNvSpPr>
          <p:nvPr>
            <p:ph type="sldNum" sz="quarter" idx="12"/>
          </p:nvPr>
        </p:nvSpPr>
        <p:spPr/>
        <p:txBody>
          <a:bodyPr/>
          <a:lstStyle/>
          <a:p>
            <a:pPr>
              <a:defRPr/>
            </a:pPr>
            <a:fld id="{5239B93A-74DE-4B25-B352-2D94A7B0ECE9}" type="slidenum">
              <a:rPr lang="en-US" smtClean="0"/>
              <a:pPr>
                <a:defRPr/>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a:t>list</a:t>
            </a:r>
            <a:r>
              <a:rPr lang="en-US" altLang="en-US" dirty="0"/>
              <a:t>, </a:t>
            </a:r>
            <a:r>
              <a:rPr lang="en-US" altLang="en-US" b="1" dirty="0"/>
              <a:t>tuple</a:t>
            </a:r>
            <a:r>
              <a:rPr lang="en-US" altLang="en-US" dirty="0"/>
              <a:t>, </a:t>
            </a:r>
            <a:r>
              <a:rPr lang="en-US" altLang="en-US" b="1" dirty="0"/>
              <a:t>set</a:t>
            </a:r>
            <a:r>
              <a:rPr lang="en-US" altLang="en-US" dirty="0"/>
              <a:t>, and </a:t>
            </a:r>
            <a:r>
              <a:rPr lang="en-US" altLang="en-US" b="1" dirty="0" err="1"/>
              <a:t>frozenset</a:t>
            </a:r>
            <a:r>
              <a:rPr lang="en-US" altLang="en-US" dirty="0"/>
              <a:t> Construction</a:t>
            </a:r>
          </a:p>
        </p:txBody>
      </p:sp>
      <p:sp>
        <p:nvSpPr>
          <p:cNvPr id="24579" name="Rectangle 3"/>
          <p:cNvSpPr>
            <a:spLocks noGrp="1" noChangeArrowheads="1"/>
          </p:cNvSpPr>
          <p:nvPr>
            <p:ph type="body" idx="1"/>
          </p:nvPr>
        </p:nvSpPr>
        <p:spPr/>
        <p:txBody>
          <a:bodyPr/>
          <a:lstStyle/>
          <a:p>
            <a:pPr eaLnBrk="1" hangingPunct="1"/>
            <a:r>
              <a:rPr lang="en-US" altLang="en-US" sz="2800" b="1" dirty="0"/>
              <a:t>list</a:t>
            </a:r>
            <a:r>
              <a:rPr lang="en-US" altLang="en-US" sz="2800" dirty="0"/>
              <a:t>, </a:t>
            </a:r>
            <a:r>
              <a:rPr lang="en-US" altLang="en-US" sz="2800" b="1" dirty="0"/>
              <a:t>tuple</a:t>
            </a:r>
            <a:r>
              <a:rPr lang="en-US" altLang="en-US" sz="2800" dirty="0"/>
              <a:t>, </a:t>
            </a:r>
            <a:r>
              <a:rPr lang="en-US" altLang="en-US" sz="2800" b="1" dirty="0"/>
              <a:t>set</a:t>
            </a:r>
            <a:r>
              <a:rPr lang="en-US" altLang="en-US" sz="2800" dirty="0"/>
              <a:t>, and </a:t>
            </a:r>
            <a:r>
              <a:rPr lang="en-US" altLang="en-US" sz="2800" b="1" dirty="0" err="1"/>
              <a:t>frozenset</a:t>
            </a:r>
            <a:r>
              <a:rPr lang="en-US" altLang="en-US" sz="2800" dirty="0"/>
              <a:t> objects can be constructed from </a:t>
            </a:r>
            <a:r>
              <a:rPr lang="en-US" altLang="en-US" sz="2800" dirty="0" err="1"/>
              <a:t>iterables</a:t>
            </a:r>
            <a:endParaRPr lang="en-US" altLang="en-US" sz="2800" b="1" dirty="0"/>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t1 = tuple('this is a test')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t1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('t', 'h', '</a:t>
            </a:r>
            <a:r>
              <a:rPr lang="en-US" altLang="en-US" sz="2000" dirty="0" err="1">
                <a:latin typeface="Courier New" panose="02070309020205020404" pitchFamily="49" charset="0"/>
                <a:cs typeface="Courier New" panose="02070309020205020404" pitchFamily="49" charset="0"/>
              </a:rPr>
              <a:t>i</a:t>
            </a:r>
            <a:r>
              <a:rPr lang="en-US" altLang="en-US" sz="2000" dirty="0">
                <a:latin typeface="Courier New" panose="02070309020205020404" pitchFamily="49" charset="0"/>
                <a:cs typeface="Courier New" panose="02070309020205020404" pitchFamily="49" charset="0"/>
              </a:rPr>
              <a:t>', 's', ' ', '</a:t>
            </a:r>
            <a:r>
              <a:rPr lang="en-US" altLang="en-US" sz="2000" dirty="0" err="1">
                <a:latin typeface="Courier New" panose="02070309020205020404" pitchFamily="49" charset="0"/>
                <a:cs typeface="Courier New" panose="02070309020205020404" pitchFamily="49" charset="0"/>
              </a:rPr>
              <a:t>i</a:t>
            </a:r>
            <a:r>
              <a:rPr lang="en-US" altLang="en-US" sz="2000" dirty="0">
                <a:latin typeface="Courier New" panose="02070309020205020404" pitchFamily="49" charset="0"/>
                <a:cs typeface="Courier New" panose="02070309020205020404" pitchFamily="49" charset="0"/>
              </a:rPr>
              <a:t>', 's', ' ', ... 't')</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s1 = set(t1)</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s1</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 '</a:t>
            </a:r>
            <a:r>
              <a:rPr lang="en-US" altLang="en-US" sz="2000" dirty="0" err="1">
                <a:solidFill>
                  <a:srgbClr val="FF0000"/>
                </a:solidFill>
                <a:latin typeface="Courier New" panose="02070309020205020404" pitchFamily="49" charset="0"/>
                <a:cs typeface="Courier New" panose="02070309020205020404" pitchFamily="49" charset="0"/>
              </a:rPr>
              <a:t>i</a:t>
            </a:r>
            <a:r>
              <a:rPr lang="en-US" altLang="en-US" sz="2000" dirty="0">
                <a:solidFill>
                  <a:srgbClr val="FF0000"/>
                </a:solidFill>
                <a:latin typeface="Courier New" panose="02070309020205020404" pitchFamily="49" charset="0"/>
                <a:cs typeface="Courier New" panose="02070309020205020404" pitchFamily="49" charset="0"/>
              </a:rPr>
              <a:t>', 'e', 's', 'h', ' ', 't'}</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v1 = list(s1)</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v1.sort()</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v1</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'a', 'e', 'h', '</a:t>
            </a:r>
            <a:r>
              <a:rPr lang="en-US" altLang="en-US" sz="2000" dirty="0" err="1">
                <a:solidFill>
                  <a:srgbClr val="0070C0"/>
                </a:solidFill>
                <a:latin typeface="Courier New" panose="02070309020205020404" pitchFamily="49" charset="0"/>
                <a:cs typeface="Courier New" panose="02070309020205020404" pitchFamily="49" charset="0"/>
              </a:rPr>
              <a:t>i</a:t>
            </a:r>
            <a:r>
              <a:rPr lang="en-US" altLang="en-US" sz="2000" dirty="0">
                <a:solidFill>
                  <a:srgbClr val="0070C0"/>
                </a:solidFill>
                <a:latin typeface="Courier New" panose="02070309020205020404" pitchFamily="49" charset="0"/>
                <a:cs typeface="Courier New" panose="02070309020205020404" pitchFamily="49" charset="0"/>
              </a:rPr>
              <a:t>', 's', 't']</a:t>
            </a:r>
          </a:p>
        </p:txBody>
      </p:sp>
      <p:sp>
        <p:nvSpPr>
          <p:cNvPr id="2" name="Date Placeholder 1"/>
          <p:cNvSpPr>
            <a:spLocks noGrp="1"/>
          </p:cNvSpPr>
          <p:nvPr>
            <p:ph type="dt" sz="half" idx="10"/>
          </p:nvPr>
        </p:nvSpPr>
        <p:spPr/>
        <p:txBody>
          <a:bodyPr/>
          <a:lstStyle/>
          <a:p>
            <a:pPr>
              <a:defRPr/>
            </a:pPr>
            <a:fld id="{0A64185B-3293-4C38-9F25-6B0274E536D0}"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2</a:t>
            </a:fld>
            <a:endParaRPr lang="en-US"/>
          </a:p>
        </p:txBody>
      </p:sp>
    </p:spTree>
    <p:extLst>
      <p:ext uri="{BB962C8B-B14F-4D97-AF65-F5344CB8AC3E}">
        <p14:creationId xmlns:p14="http://schemas.microsoft.com/office/powerpoint/2010/main" val="2436527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a:t>list</a:t>
            </a:r>
            <a:r>
              <a:rPr lang="en-US" altLang="en-US" dirty="0"/>
              <a:t>, </a:t>
            </a:r>
            <a:r>
              <a:rPr lang="en-US" altLang="en-US" b="1" dirty="0"/>
              <a:t>tuple</a:t>
            </a:r>
            <a:r>
              <a:rPr lang="en-US" altLang="en-US" dirty="0"/>
              <a:t>, </a:t>
            </a:r>
            <a:r>
              <a:rPr lang="en-US" altLang="en-US" b="1" dirty="0"/>
              <a:t>set</a:t>
            </a:r>
            <a:r>
              <a:rPr lang="en-US" altLang="en-US" dirty="0"/>
              <a:t>, and </a:t>
            </a:r>
            <a:r>
              <a:rPr lang="en-US" altLang="en-US" b="1" dirty="0" err="1"/>
              <a:t>frozenset</a:t>
            </a:r>
            <a:r>
              <a:rPr lang="en-US" altLang="en-US" dirty="0"/>
              <a:t> Construction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fs1 = </a:t>
            </a:r>
            <a:r>
              <a:rPr lang="en-US" altLang="en-US" sz="2000" b="1" dirty="0" err="1">
                <a:latin typeface="Courier New" panose="02070309020205020404" pitchFamily="49" charset="0"/>
                <a:cs typeface="Courier New" panose="02070309020205020404" pitchFamily="49" charset="0"/>
              </a:rPr>
              <a:t>frozenset</a:t>
            </a:r>
            <a:r>
              <a:rPr lang="en-US" altLang="en-US" sz="2000" b="1" dirty="0">
                <a:latin typeface="Courier New" panose="02070309020205020404" pitchFamily="49" charset="0"/>
                <a:cs typeface="Courier New" panose="02070309020205020404" pitchFamily="49" charset="0"/>
              </a:rPr>
              <a:t>(v1)</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fs1</a:t>
            </a:r>
          </a:p>
          <a:p>
            <a:pPr marL="0" indent="0" eaLnBrk="1" hangingPunct="1">
              <a:spcBef>
                <a:spcPts val="0"/>
              </a:spcBef>
              <a:buNone/>
            </a:pPr>
            <a:r>
              <a:rPr lang="en-US" altLang="en-US" sz="2000" dirty="0" err="1">
                <a:latin typeface="Courier New" panose="02070309020205020404" pitchFamily="49" charset="0"/>
                <a:cs typeface="Courier New" panose="02070309020205020404" pitchFamily="49" charset="0"/>
              </a:rPr>
              <a:t>frozenset</a:t>
            </a:r>
            <a:r>
              <a:rPr lang="en-US" altLang="en-US" sz="2000" dirty="0">
                <a:latin typeface="Courier New" panose="02070309020205020404" pitchFamily="49" charset="0"/>
                <a:cs typeface="Courier New" panose="02070309020205020404" pitchFamily="49" charset="0"/>
              </a:rPr>
              <a:t>({'a', 'h', 'e', '</a:t>
            </a:r>
            <a:r>
              <a:rPr lang="en-US" altLang="en-US" sz="2000" dirty="0" err="1">
                <a:latin typeface="Courier New" panose="02070309020205020404" pitchFamily="49" charset="0"/>
                <a:cs typeface="Courier New" panose="02070309020205020404" pitchFamily="49" charset="0"/>
              </a:rPr>
              <a:t>i</a:t>
            </a:r>
            <a:r>
              <a:rPr lang="en-US" altLang="en-US" sz="2000" dirty="0">
                <a:latin typeface="Courier New" panose="02070309020205020404" pitchFamily="49" charset="0"/>
                <a:cs typeface="Courier New" panose="02070309020205020404" pitchFamily="49" charset="0"/>
              </a:rPr>
              <a:t>', 's', 't', ' '})</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v2 = list(1, 2, 3, 4)</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t>
            </a:r>
            <a:r>
              <a:rPr lang="en-US" altLang="en-US" sz="2000" dirty="0" err="1">
                <a:solidFill>
                  <a:srgbClr val="0070C0"/>
                </a:solidFill>
                <a:latin typeface="Courier New" panose="02070309020205020404" pitchFamily="49" charset="0"/>
                <a:cs typeface="Courier New" panose="02070309020205020404" pitchFamily="49" charset="0"/>
              </a:rPr>
              <a:t>TypeError</a:t>
            </a:r>
            <a:r>
              <a:rPr lang="en-US" altLang="en-US" sz="2000" dirty="0">
                <a:solidFill>
                  <a:srgbClr val="0070C0"/>
                </a:solidFill>
                <a:latin typeface="Courier New" panose="02070309020205020404" pitchFamily="49" charset="0"/>
                <a:cs typeface="Courier New" panose="02070309020205020404" pitchFamily="49" charset="0"/>
              </a:rPr>
              <a:t>...        # </a:t>
            </a:r>
            <a:r>
              <a:rPr lang="en-US" altLang="en-US" sz="2000" dirty="0" err="1">
                <a:solidFill>
                  <a:srgbClr val="0070C0"/>
                </a:solidFill>
                <a:latin typeface="Courier New" panose="02070309020205020404" pitchFamily="49" charset="0"/>
                <a:cs typeface="Courier New" panose="02070309020205020404" pitchFamily="49" charset="0"/>
              </a:rPr>
              <a:t>arg</a:t>
            </a:r>
            <a:r>
              <a:rPr lang="en-US" altLang="en-US" sz="2000" dirty="0">
                <a:solidFill>
                  <a:srgbClr val="0070C0"/>
                </a:solidFill>
                <a:latin typeface="Courier New" panose="02070309020205020404" pitchFamily="49" charset="0"/>
                <a:cs typeface="Courier New" panose="02070309020205020404" pitchFamily="49" charset="0"/>
              </a:rPr>
              <a:t> must be </a:t>
            </a:r>
            <a:r>
              <a:rPr lang="en-US" altLang="en-US" sz="2000" dirty="0" err="1">
                <a:solidFill>
                  <a:srgbClr val="0070C0"/>
                </a:solidFill>
                <a:latin typeface="Courier New" panose="02070309020205020404" pitchFamily="49" charset="0"/>
                <a:cs typeface="Courier New" panose="02070309020205020404" pitchFamily="49" charset="0"/>
              </a:rPr>
              <a:t>iterable</a:t>
            </a:r>
            <a:endParaRPr lang="en-US" altLang="en-US" sz="2000" dirty="0">
              <a:solidFill>
                <a:srgbClr val="0070C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0A64185B-3293-4C38-9F25-6B0274E536D0}"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3</a:t>
            </a:fld>
            <a:endParaRPr lang="en-US"/>
          </a:p>
        </p:txBody>
      </p:sp>
    </p:spTree>
    <p:extLst>
      <p:ext uri="{BB962C8B-B14F-4D97-AF65-F5344CB8AC3E}">
        <p14:creationId xmlns:p14="http://schemas.microsoft.com/office/powerpoint/2010/main" val="945408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err="1"/>
              <a:t>dict</a:t>
            </a:r>
            <a:r>
              <a:rPr lang="en-US" altLang="en-US" dirty="0"/>
              <a:t> Construction</a:t>
            </a:r>
          </a:p>
        </p:txBody>
      </p:sp>
      <p:sp>
        <p:nvSpPr>
          <p:cNvPr id="24579" name="Rectangle 3"/>
          <p:cNvSpPr>
            <a:spLocks noGrp="1" noChangeArrowheads="1"/>
          </p:cNvSpPr>
          <p:nvPr>
            <p:ph type="body" idx="1"/>
          </p:nvPr>
        </p:nvSpPr>
        <p:spPr/>
        <p:txBody>
          <a:bodyPr/>
          <a:lstStyle/>
          <a:p>
            <a:pPr eaLnBrk="1" hangingPunct="1"/>
            <a:r>
              <a:rPr lang="en-US" altLang="en-US" sz="2800" dirty="0"/>
              <a:t>A </a:t>
            </a:r>
            <a:r>
              <a:rPr lang="en-US" altLang="en-US" sz="2800" b="1" dirty="0" err="1"/>
              <a:t>dict</a:t>
            </a:r>
            <a:r>
              <a:rPr lang="en-US" altLang="en-US" sz="2800" dirty="0"/>
              <a:t> object can be constructed from an </a:t>
            </a:r>
            <a:r>
              <a:rPr lang="en-US" altLang="en-US" sz="2800" dirty="0" err="1"/>
              <a:t>iterable</a:t>
            </a:r>
            <a:r>
              <a:rPr lang="en-US" altLang="en-US" sz="2800" dirty="0"/>
              <a:t> on 2-tuples</a:t>
            </a:r>
          </a:p>
          <a:p>
            <a:pPr lvl="1" eaLnBrk="1" hangingPunct="1"/>
            <a:r>
              <a:rPr lang="en-US" altLang="en-US" sz="2400" dirty="0"/>
              <a:t>The first item in each </a:t>
            </a:r>
            <a:r>
              <a:rPr lang="en-US" altLang="en-US" sz="2400" b="1" dirty="0"/>
              <a:t>tuple</a:t>
            </a:r>
            <a:r>
              <a:rPr lang="en-US" altLang="en-US" sz="2400" dirty="0"/>
              <a:t> must be </a:t>
            </a:r>
            <a:r>
              <a:rPr lang="en-US" altLang="en-US" sz="2400" dirty="0" err="1"/>
              <a:t>hashable</a:t>
            </a:r>
            <a:endParaRPr lang="en-US" altLang="en-US" sz="2400" dirty="0"/>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set_of_2tups = { ('a', 12), ('b', 22) }</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set_of_2tups</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{('b', 22), ('a', 12)}     # on my system</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d1 = </a:t>
            </a:r>
            <a:r>
              <a:rPr lang="en-US" altLang="en-US" sz="2000" b="1" dirty="0" err="1">
                <a:solidFill>
                  <a:srgbClr val="0070C0"/>
                </a:solidFill>
                <a:latin typeface="Courier New" panose="02070309020205020404" pitchFamily="49" charset="0"/>
                <a:cs typeface="Courier New" panose="02070309020205020404" pitchFamily="49" charset="0"/>
              </a:rPr>
              <a:t>dict</a:t>
            </a:r>
            <a:r>
              <a:rPr lang="en-US" altLang="en-US" sz="2000" b="1" dirty="0">
                <a:solidFill>
                  <a:srgbClr val="0070C0"/>
                </a:solidFill>
                <a:latin typeface="Courier New" panose="02070309020205020404" pitchFamily="49" charset="0"/>
                <a:cs typeface="Courier New" panose="02070309020205020404" pitchFamily="49" charset="0"/>
              </a:rPr>
              <a:t>(set_of_2tups)</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d1</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{('b': 22, 'a': 12}</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74894D0A-91AA-4CDE-9664-388458A90269}"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4</a:t>
            </a:fld>
            <a:endParaRPr lang="en-US"/>
          </a:p>
        </p:txBody>
      </p:sp>
    </p:spTree>
    <p:extLst>
      <p:ext uri="{BB962C8B-B14F-4D97-AF65-F5344CB8AC3E}">
        <p14:creationId xmlns:p14="http://schemas.microsoft.com/office/powerpoint/2010/main" val="2635749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err="1"/>
              <a:t>dict</a:t>
            </a:r>
            <a:r>
              <a:rPr lang="en-US" altLang="en-US" dirty="0"/>
              <a:t> Construction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r>
              <a:rPr lang="en-US" altLang="en-US" sz="2800" dirty="0"/>
              <a:t>In fact, the </a:t>
            </a:r>
            <a:r>
              <a:rPr lang="en-US" altLang="en-US" sz="2800" dirty="0" err="1"/>
              <a:t>iterable</a:t>
            </a:r>
            <a:r>
              <a:rPr lang="en-US" altLang="en-US" sz="2800" dirty="0"/>
              <a:t> can be on arbitrary pairs</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list_of_2strs = ['ab', 'cd', '</a:t>
            </a:r>
            <a:r>
              <a:rPr lang="en-US" altLang="en-US" sz="2000" b="1" dirty="0" err="1">
                <a:latin typeface="Courier New" panose="02070309020205020404" pitchFamily="49" charset="0"/>
                <a:cs typeface="Courier New" panose="02070309020205020404" pitchFamily="49" charset="0"/>
              </a:rPr>
              <a:t>ef</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list_of_2strs</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['ab', 'cd', '</a:t>
            </a:r>
            <a:r>
              <a:rPr lang="en-US" altLang="en-US" sz="2000" dirty="0" err="1">
                <a:latin typeface="Courier New" panose="02070309020205020404" pitchFamily="49" charset="0"/>
                <a:cs typeface="Courier New" panose="02070309020205020404" pitchFamily="49" charset="0"/>
              </a:rPr>
              <a:t>ef</a:t>
            </a:r>
            <a:r>
              <a:rPr lang="en-US" altLang="en-US" sz="2000"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d2 = </a:t>
            </a:r>
            <a:r>
              <a:rPr lang="en-US" altLang="en-US" sz="2000" b="1" dirty="0" err="1">
                <a:solidFill>
                  <a:srgbClr val="0070C0"/>
                </a:solidFill>
                <a:latin typeface="Courier New" panose="02070309020205020404" pitchFamily="49" charset="0"/>
                <a:cs typeface="Courier New" panose="02070309020205020404" pitchFamily="49" charset="0"/>
              </a:rPr>
              <a:t>dict</a:t>
            </a:r>
            <a:r>
              <a:rPr lang="en-US" altLang="en-US" sz="2000" b="1" dirty="0">
                <a:solidFill>
                  <a:srgbClr val="0070C0"/>
                </a:solidFill>
                <a:latin typeface="Courier New" panose="02070309020205020404" pitchFamily="49" charset="0"/>
                <a:cs typeface="Courier New" panose="02070309020205020404" pitchFamily="49" charset="0"/>
              </a:rPr>
              <a:t>(list_of_2strs)</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d2</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 'b', 'c': 'd', 'e': 'f'}</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74894D0A-91AA-4CDE-9664-388458A90269}"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5</a:t>
            </a:fld>
            <a:endParaRPr lang="en-US"/>
          </a:p>
        </p:txBody>
      </p:sp>
    </p:spTree>
    <p:extLst>
      <p:ext uri="{BB962C8B-B14F-4D97-AF65-F5344CB8AC3E}">
        <p14:creationId xmlns:p14="http://schemas.microsoft.com/office/powerpoint/2010/main" val="3728908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The </a:t>
            </a:r>
            <a:r>
              <a:rPr lang="en-US" altLang="en-US" b="1" dirty="0"/>
              <a:t>zip() </a:t>
            </a:r>
            <a:r>
              <a:rPr lang="en-US" altLang="en-US" dirty="0"/>
              <a:t>Function</a:t>
            </a:r>
          </a:p>
        </p:txBody>
      </p:sp>
      <p:sp>
        <p:nvSpPr>
          <p:cNvPr id="24579" name="Rectangle 3"/>
          <p:cNvSpPr>
            <a:spLocks noGrp="1" noChangeArrowheads="1"/>
          </p:cNvSpPr>
          <p:nvPr>
            <p:ph type="body" idx="1"/>
          </p:nvPr>
        </p:nvSpPr>
        <p:spPr/>
        <p:txBody>
          <a:bodyPr/>
          <a:lstStyle/>
          <a:p>
            <a:pPr eaLnBrk="1" hangingPunct="1"/>
            <a:r>
              <a:rPr lang="en-US" altLang="en-US" sz="2800" dirty="0"/>
              <a:t>The </a:t>
            </a:r>
            <a:r>
              <a:rPr lang="en-US" altLang="en-US" sz="2800" b="1" dirty="0"/>
              <a:t>zip() </a:t>
            </a:r>
            <a:r>
              <a:rPr lang="en-US" altLang="en-US" sz="2800" dirty="0"/>
              <a:t>function zips two (or more) </a:t>
            </a:r>
            <a:r>
              <a:rPr lang="en-US" altLang="en-US" sz="2800" dirty="0" err="1"/>
              <a:t>iterables</a:t>
            </a:r>
            <a:r>
              <a:rPr lang="en-US" altLang="en-US" sz="2800" dirty="0"/>
              <a:t> together into an </a:t>
            </a:r>
            <a:r>
              <a:rPr lang="en-US" altLang="en-US" sz="2800" dirty="0" err="1"/>
              <a:t>iterable</a:t>
            </a:r>
            <a:r>
              <a:rPr lang="en-US" altLang="en-US" sz="2800" dirty="0"/>
              <a:t> on tuples</a:t>
            </a:r>
          </a:p>
          <a:p>
            <a:pPr lvl="1" eaLnBrk="1" hangingPunct="1"/>
            <a:r>
              <a:rPr lang="en-US" altLang="en-US" sz="2400" dirty="0"/>
              <a:t>Shortest </a:t>
            </a:r>
            <a:r>
              <a:rPr lang="en-US" altLang="en-US" sz="2400" dirty="0" err="1"/>
              <a:t>iterable</a:t>
            </a:r>
            <a:r>
              <a:rPr lang="en-US" altLang="en-US" sz="2400" dirty="0"/>
              <a:t> determines zipped length</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v1 = [4, 12, 9, 0, 15, 6]</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s1 = 'dan'</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for t in zip(v1, s1):</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print(t)</a:t>
            </a:r>
          </a:p>
          <a:p>
            <a:pPr marL="0" indent="0" eaLnBrk="1" hangingPunct="1">
              <a:spcBef>
                <a:spcPts val="0"/>
              </a:spcBef>
              <a:buNone/>
            </a:pPr>
            <a:endParaRPr lang="en-US" altLang="en-US" sz="2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(4, 'd')</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(12, 'a')</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(9, 'n')</a:t>
            </a:r>
          </a:p>
        </p:txBody>
      </p:sp>
      <p:sp>
        <p:nvSpPr>
          <p:cNvPr id="2" name="Date Placeholder 1"/>
          <p:cNvSpPr>
            <a:spLocks noGrp="1"/>
          </p:cNvSpPr>
          <p:nvPr>
            <p:ph type="dt" sz="half" idx="10"/>
          </p:nvPr>
        </p:nvSpPr>
        <p:spPr/>
        <p:txBody>
          <a:bodyPr/>
          <a:lstStyle/>
          <a:p>
            <a:pPr>
              <a:defRPr/>
            </a:pPr>
            <a:fld id="{F5DEDA22-D554-46E8-855A-63A3E3B93ADB}"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6</a:t>
            </a:fld>
            <a:endParaRPr lang="en-US"/>
          </a:p>
        </p:txBody>
      </p:sp>
    </p:spTree>
    <p:extLst>
      <p:ext uri="{BB962C8B-B14F-4D97-AF65-F5344CB8AC3E}">
        <p14:creationId xmlns:p14="http://schemas.microsoft.com/office/powerpoint/2010/main" val="3845307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The </a:t>
            </a:r>
            <a:r>
              <a:rPr lang="en-US" altLang="en-US" b="1" dirty="0"/>
              <a:t>zip() </a:t>
            </a:r>
            <a:r>
              <a:rPr lang="en-US" altLang="en-US" dirty="0"/>
              <a:t>Function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r>
              <a:rPr lang="en-US" altLang="en-US" sz="2800" b="1" dirty="0"/>
              <a:t>zip() </a:t>
            </a:r>
            <a:r>
              <a:rPr lang="en-US" altLang="en-US" sz="2800" dirty="0"/>
              <a:t>is handy for creating a </a:t>
            </a:r>
            <a:r>
              <a:rPr lang="en-US" altLang="en-US" sz="2800" b="1" dirty="0" err="1"/>
              <a:t>dict</a:t>
            </a:r>
            <a:r>
              <a:rPr lang="en-US" altLang="en-US" sz="2800" dirty="0"/>
              <a:t> from two </a:t>
            </a:r>
            <a:r>
              <a:rPr lang="en-US" altLang="en-US" sz="2800" dirty="0" err="1"/>
              <a:t>iterables</a:t>
            </a:r>
            <a:endParaRPr lang="en-US" altLang="en-US" sz="2800" dirty="0"/>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v1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[4, 12, 9, 0, 15, 6]</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t1 = ('al', 'bob', 'cy', 'dan', 'ed')</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d1 = </a:t>
            </a:r>
            <a:r>
              <a:rPr lang="en-US" altLang="en-US" sz="2000" b="1" dirty="0" err="1">
                <a:solidFill>
                  <a:srgbClr val="FF0000"/>
                </a:solidFill>
                <a:latin typeface="Courier New" panose="02070309020205020404" pitchFamily="49" charset="0"/>
                <a:cs typeface="Courier New" panose="02070309020205020404" pitchFamily="49" charset="0"/>
              </a:rPr>
              <a:t>dict</a:t>
            </a:r>
            <a:r>
              <a:rPr lang="en-US" altLang="en-US" sz="2000" b="1" dirty="0">
                <a:solidFill>
                  <a:srgbClr val="FF0000"/>
                </a:solidFill>
                <a:latin typeface="Courier New" panose="02070309020205020404" pitchFamily="49" charset="0"/>
                <a:cs typeface="Courier New" panose="02070309020205020404" pitchFamily="49" charset="0"/>
              </a:rPr>
              <a:t>(zip(t1, v1))</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 d1</a:t>
            </a:r>
          </a:p>
          <a:p>
            <a:pPr marL="0" indent="0" eaLnBrk="1" hangingPunct="1">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{'al': 4, 'bob': 12, 'cy': 9, 'dan': 0, 'ed': 15}</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F5DEDA22-D554-46E8-855A-63A3E3B93ADB}"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7</a:t>
            </a:fld>
            <a:endParaRPr lang="en-US"/>
          </a:p>
        </p:txBody>
      </p:sp>
    </p:spTree>
    <p:extLst>
      <p:ext uri="{BB962C8B-B14F-4D97-AF65-F5344CB8AC3E}">
        <p14:creationId xmlns:p14="http://schemas.microsoft.com/office/powerpoint/2010/main" val="3360448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The </a:t>
            </a:r>
            <a:r>
              <a:rPr lang="en-US" altLang="en-US" b="1" dirty="0"/>
              <a:t>enumerate() </a:t>
            </a:r>
            <a:r>
              <a:rPr lang="en-US" altLang="en-US" dirty="0"/>
              <a:t>Function</a:t>
            </a:r>
          </a:p>
        </p:txBody>
      </p:sp>
      <p:sp>
        <p:nvSpPr>
          <p:cNvPr id="24579" name="Rectangle 3"/>
          <p:cNvSpPr>
            <a:spLocks noGrp="1" noChangeArrowheads="1"/>
          </p:cNvSpPr>
          <p:nvPr>
            <p:ph type="body" idx="1"/>
          </p:nvPr>
        </p:nvSpPr>
        <p:spPr/>
        <p:txBody>
          <a:bodyPr/>
          <a:lstStyle/>
          <a:p>
            <a:pPr eaLnBrk="1" hangingPunct="1"/>
            <a:r>
              <a:rPr lang="en-US" altLang="en-US" sz="2800" b="1" dirty="0"/>
              <a:t>enumerate(</a:t>
            </a:r>
            <a:r>
              <a:rPr lang="en-US" altLang="en-US" sz="2800" i="1" dirty="0" err="1"/>
              <a:t>iter</a:t>
            </a:r>
            <a:r>
              <a:rPr lang="en-US" altLang="en-US" sz="2800" b="1" dirty="0"/>
              <a:t>) </a:t>
            </a:r>
            <a:r>
              <a:rPr lang="en-US" altLang="en-US" sz="2800" dirty="0"/>
              <a:t>takes an </a:t>
            </a:r>
            <a:r>
              <a:rPr lang="en-US" altLang="en-US" sz="2800" dirty="0" err="1"/>
              <a:t>iterable</a:t>
            </a:r>
            <a:r>
              <a:rPr lang="en-US" altLang="en-US" sz="2800" dirty="0"/>
              <a:t> argument and returns an </a:t>
            </a:r>
            <a:r>
              <a:rPr lang="en-US" altLang="en-US" sz="2800" dirty="0" err="1"/>
              <a:t>iterable</a:t>
            </a:r>
            <a:r>
              <a:rPr lang="en-US" altLang="en-US" sz="2800" dirty="0"/>
              <a:t> on enumerated tuples</a:t>
            </a:r>
          </a:p>
          <a:p>
            <a:pPr lvl="1" eaLnBrk="1" hangingPunct="1"/>
            <a:r>
              <a:rPr lang="en-US" altLang="en-US" sz="2400" dirty="0"/>
              <a:t>Equivalent to </a:t>
            </a:r>
            <a:r>
              <a:rPr lang="en-US" altLang="en-US" sz="2400" b="1" dirty="0"/>
              <a:t>zip(range(</a:t>
            </a:r>
            <a:r>
              <a:rPr lang="en-US" altLang="en-US" sz="2400" b="1" dirty="0" err="1"/>
              <a:t>len</a:t>
            </a:r>
            <a:r>
              <a:rPr lang="en-US" altLang="en-US" sz="2400" b="1" dirty="0"/>
              <a:t>(</a:t>
            </a:r>
            <a:r>
              <a:rPr lang="en-US" altLang="en-US" sz="2400" i="1" dirty="0" err="1"/>
              <a:t>iter</a:t>
            </a:r>
            <a:r>
              <a:rPr lang="en-US" altLang="en-US" sz="2400" b="1" dirty="0"/>
              <a:t>)), </a:t>
            </a:r>
            <a:r>
              <a:rPr lang="en-US" altLang="en-US" sz="2400" i="1" dirty="0" err="1"/>
              <a:t>iter</a:t>
            </a:r>
            <a:r>
              <a:rPr lang="en-US" altLang="en-US" sz="2400" b="1" dirty="0"/>
              <a:t>)</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s1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'dan'</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for t in enumerate(s1):</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print(t)</a:t>
            </a:r>
          </a:p>
          <a:p>
            <a:pPr marL="0" indent="0" eaLnBrk="1" hangingPunct="1">
              <a:spcBef>
                <a:spcPts val="0"/>
              </a:spcBef>
              <a:buNone/>
            </a:pPr>
            <a:endParaRPr lang="en-US" altLang="en-US" sz="2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(0, 'd')</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(1, 'a')</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(2, 'n')</a:t>
            </a:r>
          </a:p>
        </p:txBody>
      </p:sp>
      <p:sp>
        <p:nvSpPr>
          <p:cNvPr id="2" name="Date Placeholder 1"/>
          <p:cNvSpPr>
            <a:spLocks noGrp="1"/>
          </p:cNvSpPr>
          <p:nvPr>
            <p:ph type="dt" sz="half" idx="10"/>
          </p:nvPr>
        </p:nvSpPr>
        <p:spPr/>
        <p:txBody>
          <a:bodyPr/>
          <a:lstStyle/>
          <a:p>
            <a:pPr>
              <a:defRPr/>
            </a:pPr>
            <a:fld id="{F5DEDA22-D554-46E8-855A-63A3E3B93ADB}"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8</a:t>
            </a:fld>
            <a:endParaRPr lang="en-US"/>
          </a:p>
        </p:txBody>
      </p:sp>
    </p:spTree>
    <p:extLst>
      <p:ext uri="{BB962C8B-B14F-4D97-AF65-F5344CB8AC3E}">
        <p14:creationId xmlns:p14="http://schemas.microsoft.com/office/powerpoint/2010/main" val="1508892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The </a:t>
            </a:r>
            <a:r>
              <a:rPr lang="en-US" altLang="en-US" b="1" dirty="0"/>
              <a:t>enumerate() </a:t>
            </a:r>
            <a:r>
              <a:rPr lang="en-US" altLang="en-US" dirty="0"/>
              <a:t>Function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r>
              <a:rPr lang="en-US" altLang="en-US" sz="2800" b="1" dirty="0"/>
              <a:t>enumerate() </a:t>
            </a:r>
            <a:r>
              <a:rPr lang="en-US" altLang="en-US" sz="2800" dirty="0"/>
              <a:t>is handy for creating a </a:t>
            </a:r>
            <a:r>
              <a:rPr lang="en-US" altLang="en-US" sz="2800" b="1" dirty="0" err="1"/>
              <a:t>dict</a:t>
            </a:r>
            <a:r>
              <a:rPr lang="en-US" altLang="en-US" sz="2800" dirty="0"/>
              <a:t> from an </a:t>
            </a:r>
            <a:r>
              <a:rPr lang="en-US" altLang="en-US" sz="2800" dirty="0" err="1"/>
              <a:t>iterable</a:t>
            </a:r>
            <a:endParaRPr lang="en-US" altLang="en-US" sz="2800" dirty="0"/>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t1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('al', 'bob', 'cy', 'dan', 'ed')</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d1 = </a:t>
            </a:r>
            <a:r>
              <a:rPr lang="en-US" altLang="en-US" sz="2000" b="1" dirty="0" err="1">
                <a:solidFill>
                  <a:srgbClr val="0070C0"/>
                </a:solidFill>
                <a:latin typeface="Courier New" panose="02070309020205020404" pitchFamily="49" charset="0"/>
                <a:cs typeface="Courier New" panose="02070309020205020404" pitchFamily="49" charset="0"/>
              </a:rPr>
              <a:t>dict</a:t>
            </a:r>
            <a:r>
              <a:rPr lang="en-US" altLang="en-US" sz="2000" b="1" dirty="0">
                <a:solidFill>
                  <a:srgbClr val="0070C0"/>
                </a:solidFill>
                <a:latin typeface="Courier New" panose="02070309020205020404" pitchFamily="49" charset="0"/>
                <a:cs typeface="Courier New" panose="02070309020205020404" pitchFamily="49" charset="0"/>
              </a:rPr>
              <a:t>(enumerate(t1))</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d1</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{0: 'al', 1: 'bob', 2: 'cy', 3: 'dan', 4: 'ed'}</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F5DEDA22-D554-46E8-855A-63A3E3B93ADB}"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9</a:t>
            </a:fld>
            <a:endParaRPr lang="en-US"/>
          </a:p>
        </p:txBody>
      </p:sp>
    </p:spTree>
    <p:extLst>
      <p:ext uri="{BB962C8B-B14F-4D97-AF65-F5344CB8AC3E}">
        <p14:creationId xmlns:p14="http://schemas.microsoft.com/office/powerpoint/2010/main" val="3348959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The </a:t>
            </a:r>
            <a:r>
              <a:rPr lang="en-US" altLang="en-US" b="1" dirty="0"/>
              <a:t>enumerate() </a:t>
            </a:r>
            <a:r>
              <a:rPr lang="en-US" altLang="en-US" dirty="0"/>
              <a:t>Function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r>
              <a:rPr lang="en-US" altLang="en-US" sz="2800" dirty="0"/>
              <a:t>Recall multiple assignment</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t1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('al', 'bob', 'cy', 'dan', 'ed')</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for </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 s in enumerate(t1):</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print('name', </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 'is', s)</a:t>
            </a:r>
          </a:p>
          <a:p>
            <a:pPr marL="0" indent="0" eaLnBrk="1" hangingPunct="1">
              <a:spcBef>
                <a:spcPts val="0"/>
              </a:spcBef>
              <a:buNone/>
            </a:pPr>
            <a:endParaRPr lang="en-US" altLang="en-US" sz="2000" b="1" dirty="0">
              <a:latin typeface="Courier New" panose="02070309020205020404" pitchFamily="49" charset="0"/>
              <a:cs typeface="Courier New" panose="02070309020205020404" pitchFamily="49" charset="0"/>
            </a:endParaRPr>
          </a:p>
          <a:p>
            <a:pPr marL="0" indent="0" eaLnBrk="1" hangingPunct="1">
              <a:spcBef>
                <a:spcPts val="0"/>
              </a:spcBef>
              <a:buNone/>
            </a:pPr>
            <a:r>
              <a:rPr lang="nl-NL" altLang="en-US" sz="2000" dirty="0">
                <a:latin typeface="Courier New" panose="02070309020205020404" pitchFamily="49" charset="0"/>
                <a:cs typeface="Courier New" panose="02070309020205020404" pitchFamily="49" charset="0"/>
              </a:rPr>
              <a:t>name 0 is al</a:t>
            </a:r>
          </a:p>
          <a:p>
            <a:pPr marL="0" indent="0" eaLnBrk="1" hangingPunct="1">
              <a:spcBef>
                <a:spcPts val="0"/>
              </a:spcBef>
              <a:buNone/>
            </a:pPr>
            <a:r>
              <a:rPr lang="nl-NL" altLang="en-US" sz="2000" dirty="0">
                <a:latin typeface="Courier New" panose="02070309020205020404" pitchFamily="49" charset="0"/>
                <a:cs typeface="Courier New" panose="02070309020205020404" pitchFamily="49" charset="0"/>
              </a:rPr>
              <a:t>name 1 is bob</a:t>
            </a:r>
          </a:p>
          <a:p>
            <a:pPr marL="0" indent="0" eaLnBrk="1" hangingPunct="1">
              <a:spcBef>
                <a:spcPts val="0"/>
              </a:spcBef>
              <a:buNone/>
            </a:pPr>
            <a:r>
              <a:rPr lang="nl-NL" altLang="en-US" sz="2000" dirty="0">
                <a:latin typeface="Courier New" panose="02070309020205020404" pitchFamily="49" charset="0"/>
                <a:cs typeface="Courier New" panose="02070309020205020404" pitchFamily="49" charset="0"/>
              </a:rPr>
              <a:t>name 2 is cy</a:t>
            </a:r>
          </a:p>
          <a:p>
            <a:pPr marL="0" indent="0" eaLnBrk="1" hangingPunct="1">
              <a:spcBef>
                <a:spcPts val="0"/>
              </a:spcBef>
              <a:buNone/>
            </a:pPr>
            <a:r>
              <a:rPr lang="nl-NL" altLang="en-US" sz="2000" dirty="0">
                <a:latin typeface="Courier New" panose="02070309020205020404" pitchFamily="49" charset="0"/>
                <a:cs typeface="Courier New" panose="02070309020205020404" pitchFamily="49" charset="0"/>
              </a:rPr>
              <a:t>name 3 is dan</a:t>
            </a:r>
          </a:p>
          <a:p>
            <a:pPr marL="0" indent="0" eaLnBrk="1" hangingPunct="1">
              <a:spcBef>
                <a:spcPts val="0"/>
              </a:spcBef>
              <a:buNone/>
            </a:pPr>
            <a:r>
              <a:rPr lang="nl-NL" altLang="en-US" sz="2000" dirty="0">
                <a:latin typeface="Courier New" panose="02070309020205020404" pitchFamily="49" charset="0"/>
                <a:cs typeface="Courier New" panose="02070309020205020404" pitchFamily="49" charset="0"/>
              </a:rPr>
              <a:t>name 4 is ed</a:t>
            </a:r>
            <a:endParaRPr lang="en-US" altLang="en-US" sz="2000"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F5DEDA22-D554-46E8-855A-63A3E3B93ADB}"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10</a:t>
            </a:fld>
            <a:endParaRPr lang="en-US"/>
          </a:p>
        </p:txBody>
      </p:sp>
    </p:spTree>
    <p:extLst>
      <p:ext uri="{BB962C8B-B14F-4D97-AF65-F5344CB8AC3E}">
        <p14:creationId xmlns:p14="http://schemas.microsoft.com/office/powerpoint/2010/main" val="263593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err="1"/>
              <a:t>dict</a:t>
            </a:r>
            <a:r>
              <a:rPr lang="en-US" altLang="en-US" dirty="0"/>
              <a:t> Construction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r>
              <a:rPr lang="en-US" altLang="en-US" sz="2800" dirty="0"/>
              <a:t>There are other ways of constructing </a:t>
            </a:r>
            <a:r>
              <a:rPr lang="en-US" altLang="en-US" sz="2800" b="1" dirty="0" err="1"/>
              <a:t>dict</a:t>
            </a:r>
            <a:r>
              <a:rPr lang="en-US" altLang="en-US" sz="2800" dirty="0"/>
              <a:t> objects that we will not cover here</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74894D0A-91AA-4CDE-9664-388458A90269}"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11</a:t>
            </a:fld>
            <a:endParaRPr lang="en-US"/>
          </a:p>
        </p:txBody>
      </p:sp>
    </p:spTree>
    <p:extLst>
      <p:ext uri="{BB962C8B-B14F-4D97-AF65-F5344CB8AC3E}">
        <p14:creationId xmlns:p14="http://schemas.microsoft.com/office/powerpoint/2010/main" val="891383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a:t>list</a:t>
            </a:r>
            <a:r>
              <a:rPr lang="en-US" altLang="en-US" dirty="0"/>
              <a:t> Comprehensions</a:t>
            </a:r>
          </a:p>
        </p:txBody>
      </p:sp>
      <p:sp>
        <p:nvSpPr>
          <p:cNvPr id="24579" name="Rectangle 3"/>
          <p:cNvSpPr>
            <a:spLocks noGrp="1" noChangeArrowheads="1"/>
          </p:cNvSpPr>
          <p:nvPr>
            <p:ph type="body" idx="1"/>
          </p:nvPr>
        </p:nvSpPr>
        <p:spPr/>
        <p:txBody>
          <a:bodyPr/>
          <a:lstStyle/>
          <a:p>
            <a:pPr eaLnBrk="1" hangingPunct="1"/>
            <a:r>
              <a:rPr lang="en-US" altLang="en-US" sz="2800" dirty="0"/>
              <a:t>As we've seen, you can create a </a:t>
            </a:r>
            <a:r>
              <a:rPr lang="en-US" altLang="en-US" sz="2800" b="1" dirty="0"/>
              <a:t>list</a:t>
            </a:r>
            <a:r>
              <a:rPr lang="en-US" altLang="en-US" sz="2800" dirty="0"/>
              <a:t> using </a:t>
            </a:r>
            <a:r>
              <a:rPr lang="en-US" altLang="en-US" sz="2800" b="1" dirty="0"/>
              <a:t>[]</a:t>
            </a:r>
            <a:r>
              <a:rPr lang="en-US" altLang="en-US" sz="2800" dirty="0"/>
              <a:t> around a sequence of values</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v1 = [1, 4, 9, 16, 25]   </a:t>
            </a:r>
            <a:r>
              <a:rPr lang="en-US" altLang="en-US" sz="2000" dirty="0">
                <a:latin typeface="Courier New" panose="02070309020205020404" pitchFamily="49" charset="0"/>
                <a:cs typeface="Courier New" panose="02070309020205020404" pitchFamily="49" charset="0"/>
              </a:rPr>
              <a:t># squares of 1 to 5</a:t>
            </a:r>
          </a:p>
          <a:p>
            <a:pPr marL="0" indent="0" eaLnBrk="1" hangingPunct="1">
              <a:spcBef>
                <a:spcPts val="0"/>
              </a:spcBef>
              <a:buNone/>
            </a:pPr>
            <a:endParaRPr lang="en-US" altLang="en-US" sz="1200" dirty="0">
              <a:latin typeface="Courier New" panose="02070309020205020404" pitchFamily="49" charset="0"/>
              <a:cs typeface="Courier New" panose="02070309020205020404" pitchFamily="49" charset="0"/>
            </a:endParaRPr>
          </a:p>
          <a:p>
            <a:pPr eaLnBrk="1" hangingPunct="1"/>
            <a:r>
              <a:rPr lang="en-US" altLang="en-US" sz="2800" dirty="0"/>
              <a:t>For a long </a:t>
            </a:r>
            <a:r>
              <a:rPr lang="en-US" altLang="en-US" sz="2800" b="1" dirty="0"/>
              <a:t>list</a:t>
            </a:r>
            <a:r>
              <a:rPr lang="en-US" altLang="en-US" sz="2800" dirty="0"/>
              <a:t>, it is more convenient to start with an empty </a:t>
            </a:r>
            <a:r>
              <a:rPr lang="en-US" altLang="en-US" sz="2800" b="1" dirty="0"/>
              <a:t>list</a:t>
            </a:r>
            <a:r>
              <a:rPr lang="en-US" altLang="en-US" sz="2800" dirty="0"/>
              <a:t> and use a </a:t>
            </a:r>
            <a:r>
              <a:rPr lang="en-US" altLang="en-US" sz="2800" b="1" dirty="0"/>
              <a:t>for</a:t>
            </a:r>
            <a:r>
              <a:rPr lang="en-US" altLang="en-US" sz="2800" dirty="0"/>
              <a:t> loop:</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v2 = []   </a:t>
            </a:r>
            <a:r>
              <a:rPr lang="en-US" altLang="en-US" sz="2000" dirty="0">
                <a:latin typeface="Courier New" panose="02070309020205020404" pitchFamily="49" charset="0"/>
                <a:cs typeface="Courier New" panose="02070309020205020404" pitchFamily="49" charset="0"/>
              </a:rPr>
              <a:t># v2 is initially empty</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for n in range(1000):  </a:t>
            </a:r>
            <a:r>
              <a:rPr lang="en-US" altLang="en-US" sz="2000" dirty="0">
                <a:latin typeface="Courier New" panose="02070309020205020404" pitchFamily="49" charset="0"/>
                <a:cs typeface="Courier New" panose="02070309020205020404" pitchFamily="49" charset="0"/>
              </a:rPr>
              <a:t># squares 1 to 1000</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v2.append((n+1) ** 2)</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 equivalently, v2 += [(n+1) ** 2]</a:t>
            </a:r>
          </a:p>
        </p:txBody>
      </p:sp>
      <p:sp>
        <p:nvSpPr>
          <p:cNvPr id="2" name="Date Placeholder 1"/>
          <p:cNvSpPr>
            <a:spLocks noGrp="1"/>
          </p:cNvSpPr>
          <p:nvPr>
            <p:ph type="dt" sz="half" idx="10"/>
          </p:nvPr>
        </p:nvSpPr>
        <p:spPr/>
        <p:txBody>
          <a:bodyPr/>
          <a:lstStyle/>
          <a:p>
            <a:pPr>
              <a:defRPr/>
            </a:pPr>
            <a:fld id="{5F8B635B-D8D9-424D-8529-9009739B66A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12</a:t>
            </a:fld>
            <a:endParaRPr lang="en-US"/>
          </a:p>
        </p:txBody>
      </p:sp>
    </p:spTree>
    <p:extLst>
      <p:ext uri="{BB962C8B-B14F-4D97-AF65-F5344CB8AC3E}">
        <p14:creationId xmlns:p14="http://schemas.microsoft.com/office/powerpoint/2010/main" val="4170828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a:t>list</a:t>
            </a:r>
            <a:r>
              <a:rPr lang="en-US" altLang="en-US" dirty="0"/>
              <a:t> Comprehensions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r>
              <a:rPr lang="en-US" altLang="en-US" sz="2800" dirty="0"/>
              <a:t>A </a:t>
            </a:r>
            <a:r>
              <a:rPr lang="en-US" altLang="en-US" sz="2800" b="1" dirty="0"/>
              <a:t>list</a:t>
            </a:r>
            <a:r>
              <a:rPr lang="en-US" altLang="en-US" sz="2800" dirty="0"/>
              <a:t> </a:t>
            </a:r>
            <a:r>
              <a:rPr lang="en-US" altLang="en-US" sz="2800" i="1" dirty="0"/>
              <a:t>comprehension</a:t>
            </a:r>
            <a:r>
              <a:rPr lang="en-US" altLang="en-US" sz="2800" dirty="0"/>
              <a:t> is the "Pythonic way" of constructing a </a:t>
            </a:r>
            <a:r>
              <a:rPr lang="en-US" altLang="en-US" sz="2800" b="1" dirty="0"/>
              <a:t>list</a:t>
            </a:r>
          </a:p>
          <a:p>
            <a:pPr lvl="1" eaLnBrk="1" hangingPunct="1">
              <a:spcBef>
                <a:spcPts val="0"/>
              </a:spcBef>
            </a:pPr>
            <a:r>
              <a:rPr lang="en-US" altLang="en-US" sz="2400" dirty="0"/>
              <a:t>Essentially, put the </a:t>
            </a:r>
            <a:r>
              <a:rPr lang="en-US" altLang="en-US" sz="2400" b="1" dirty="0"/>
              <a:t>for</a:t>
            </a:r>
            <a:r>
              <a:rPr lang="en-US" altLang="en-US" sz="2400" dirty="0"/>
              <a:t> loop </a:t>
            </a:r>
            <a:r>
              <a:rPr lang="en-US" altLang="en-US" sz="2400" i="1" dirty="0"/>
              <a:t>inside</a:t>
            </a:r>
            <a:r>
              <a:rPr lang="en-US" altLang="en-US" sz="2400" dirty="0"/>
              <a:t> the </a:t>
            </a:r>
            <a:r>
              <a:rPr lang="en-US" altLang="en-US" sz="2400" b="1" dirty="0"/>
              <a:t>[]</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v3 = [</a:t>
            </a:r>
            <a:r>
              <a:rPr lang="en-US" altLang="en-US" sz="2000" b="1" dirty="0">
                <a:solidFill>
                  <a:srgbClr val="0070C0"/>
                </a:solidFill>
                <a:latin typeface="Courier New" panose="02070309020205020404" pitchFamily="49" charset="0"/>
                <a:cs typeface="Courier New" panose="02070309020205020404" pitchFamily="49" charset="0"/>
              </a:rPr>
              <a:t>(n+1) ** 2</a:t>
            </a:r>
            <a:r>
              <a:rPr lang="en-US" altLang="en-US" sz="2000" b="1" dirty="0">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for n in range(1000)</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v3</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[1, 4, 9, 16, 25, 36, 49, ..., 1000000]</a:t>
            </a:r>
          </a:p>
          <a:p>
            <a:pPr marL="0" indent="0" eaLnBrk="1" hangingPunct="1">
              <a:spcBef>
                <a:spcPts val="0"/>
              </a:spcBef>
              <a:buNone/>
            </a:pPr>
            <a:endParaRPr lang="en-US" altLang="en-US" sz="600" dirty="0">
              <a:latin typeface="Courier New" panose="02070309020205020404" pitchFamily="49" charset="0"/>
              <a:cs typeface="Courier New" panose="02070309020205020404" pitchFamily="49" charset="0"/>
            </a:endParaRPr>
          </a:p>
          <a:p>
            <a:pPr eaLnBrk="1" hangingPunct="1"/>
            <a:r>
              <a:rPr lang="en-US" altLang="en-US" sz="2800" dirty="0"/>
              <a:t>A simpler example:</a:t>
            </a:r>
          </a:p>
          <a:p>
            <a:pPr marL="0" indent="0" eaLnBrk="1" hangingPunct="1">
              <a:buNone/>
            </a:pPr>
            <a:endParaRPr lang="en-US" altLang="en-US" sz="600" b="1" dirty="0">
              <a:latin typeface="Courier New" panose="02070309020205020404" pitchFamily="49" charset="0"/>
              <a:cs typeface="Courier New" panose="02070309020205020404" pitchFamily="49" charset="0"/>
            </a:endParaRPr>
          </a:p>
          <a:p>
            <a:pPr marL="0" indent="0" eaLnBrk="1" hangingPunct="1">
              <a:buNone/>
            </a:pPr>
            <a:r>
              <a:rPr lang="en-US" altLang="en-US" sz="2000" b="1" dirty="0">
                <a:latin typeface="Courier New" panose="02070309020205020404" pitchFamily="49" charset="0"/>
                <a:cs typeface="Courier New" panose="02070309020205020404" pitchFamily="49" charset="0"/>
              </a:rPr>
              <a:t>&gt;&gt;&gt; v4 = [</a:t>
            </a:r>
            <a:r>
              <a:rPr lang="en-US" altLang="en-US" sz="2000" b="1" dirty="0">
                <a:solidFill>
                  <a:srgbClr val="0070C0"/>
                </a:solidFill>
                <a:latin typeface="Courier New" panose="02070309020205020404" pitchFamily="49" charset="0"/>
                <a:cs typeface="Courier New" panose="02070309020205020404" pitchFamily="49" charset="0"/>
              </a:rPr>
              <a:t>c</a:t>
            </a:r>
            <a:r>
              <a:rPr lang="en-US" altLang="en-US" sz="2000" b="1" dirty="0">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for c in 'Pythonic!'</a:t>
            </a:r>
            <a:r>
              <a:rPr lang="en-US" altLang="en-US" sz="2000" b="1" dirty="0">
                <a:latin typeface="Courier New" panose="02070309020205020404" pitchFamily="49" charset="0"/>
                <a:cs typeface="Courier New" panose="02070309020205020404" pitchFamily="49" charset="0"/>
              </a:rPr>
              <a:t>]</a:t>
            </a:r>
          </a:p>
          <a:p>
            <a:pPr marL="0" indent="0" eaLnBrk="1" hangingPunct="1">
              <a:buNone/>
            </a:pPr>
            <a:r>
              <a:rPr lang="en-US" altLang="en-US" sz="2000" b="1" dirty="0">
                <a:latin typeface="Courier New" panose="02070309020205020404" pitchFamily="49" charset="0"/>
                <a:cs typeface="Courier New" panose="02070309020205020404" pitchFamily="49" charset="0"/>
              </a:rPr>
              <a:t>&gt;&gt;&gt; v4</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['P', 'y', 't', 'h', 'o', 'n', '</a:t>
            </a:r>
            <a:r>
              <a:rPr lang="en-US" altLang="en-US" sz="2000" dirty="0" err="1">
                <a:latin typeface="Courier New" panose="02070309020205020404" pitchFamily="49" charset="0"/>
                <a:cs typeface="Courier New" panose="02070309020205020404" pitchFamily="49" charset="0"/>
              </a:rPr>
              <a:t>i</a:t>
            </a:r>
            <a:r>
              <a:rPr lang="en-US" altLang="en-US" sz="2000" dirty="0">
                <a:latin typeface="Courier New" panose="02070309020205020404" pitchFamily="49" charset="0"/>
                <a:cs typeface="Courier New" panose="02070309020205020404" pitchFamily="49" charset="0"/>
              </a:rPr>
              <a:t>', 'c', '!']</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F8B635B-D8D9-424D-8529-9009739B66A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13</a:t>
            </a:fld>
            <a:endParaRPr lang="en-US"/>
          </a:p>
        </p:txBody>
      </p:sp>
    </p:spTree>
    <p:extLst>
      <p:ext uri="{BB962C8B-B14F-4D97-AF65-F5344CB8AC3E}">
        <p14:creationId xmlns:p14="http://schemas.microsoft.com/office/powerpoint/2010/main" val="488909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a:t>list</a:t>
            </a:r>
            <a:r>
              <a:rPr lang="en-US" altLang="en-US" dirty="0"/>
              <a:t> Comprehensions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r>
              <a:rPr lang="en-US" altLang="en-US" sz="2800" dirty="0"/>
              <a:t>A </a:t>
            </a:r>
            <a:r>
              <a:rPr lang="en-US" altLang="en-US" sz="2800" b="1" dirty="0"/>
              <a:t>list</a:t>
            </a:r>
            <a:r>
              <a:rPr lang="en-US" altLang="en-US" sz="2800" dirty="0"/>
              <a:t> comprehension </a:t>
            </a:r>
            <a:r>
              <a:rPr lang="en-US" altLang="en-US" sz="2800" i="1" dirty="0"/>
              <a:t>requires</a:t>
            </a:r>
            <a:r>
              <a:rPr lang="en-US" altLang="en-US" sz="2800" dirty="0"/>
              <a:t> the </a:t>
            </a:r>
            <a:r>
              <a:rPr lang="en-US" altLang="en-US" sz="2800" b="1" dirty="0"/>
              <a:t>for</a:t>
            </a:r>
            <a:r>
              <a:rPr lang="en-US" altLang="en-US" sz="2800" dirty="0"/>
              <a:t> loop</a:t>
            </a:r>
          </a:p>
          <a:p>
            <a:pPr lvl="1" eaLnBrk="1" hangingPunct="1"/>
            <a:r>
              <a:rPr lang="en-US" altLang="en-US" sz="2400" dirty="0"/>
              <a:t>A </a:t>
            </a:r>
            <a:r>
              <a:rPr lang="en-US" altLang="en-US" sz="2400" b="1" dirty="0"/>
              <a:t>list</a:t>
            </a:r>
            <a:r>
              <a:rPr lang="en-US" altLang="en-US" sz="2400" dirty="0"/>
              <a:t> created </a:t>
            </a:r>
            <a:r>
              <a:rPr lang="en-US" altLang="en-US" sz="2400" i="1" dirty="0"/>
              <a:t>not</a:t>
            </a:r>
            <a:r>
              <a:rPr lang="en-US" altLang="en-US" sz="2400" dirty="0"/>
              <a:t> using a </a:t>
            </a:r>
            <a:r>
              <a:rPr lang="en-US" altLang="en-US" sz="2400" b="1" dirty="0"/>
              <a:t>for</a:t>
            </a:r>
            <a:r>
              <a:rPr lang="en-US" altLang="en-US" sz="2400" dirty="0"/>
              <a:t> loop is </a:t>
            </a:r>
            <a:r>
              <a:rPr lang="en-US" altLang="en-US" sz="2400" i="1" dirty="0"/>
              <a:t>not</a:t>
            </a:r>
            <a:r>
              <a:rPr lang="en-US" altLang="en-US" sz="2400" dirty="0"/>
              <a:t> a comprehension</a:t>
            </a:r>
          </a:p>
          <a:p>
            <a:pPr marL="0" indent="0" eaLnBrk="1" hangingPunct="1">
              <a:spcBef>
                <a:spcPts val="0"/>
              </a:spcBef>
              <a:buNone/>
            </a:pPr>
            <a:endParaRPr lang="en-US" altLang="en-US" sz="1200" dirty="0">
              <a:latin typeface="Courier New" panose="02070309020205020404" pitchFamily="49" charset="0"/>
              <a:cs typeface="Courier New" panose="02070309020205020404" pitchFamily="49" charset="0"/>
            </a:endParaRPr>
          </a:p>
          <a:p>
            <a:pPr eaLnBrk="1" hangingPunct="1"/>
            <a:r>
              <a:rPr lang="en-US" altLang="en-US" sz="2800" dirty="0"/>
              <a:t>General form of a </a:t>
            </a:r>
            <a:r>
              <a:rPr lang="en-US" altLang="en-US" sz="2800" b="1" dirty="0"/>
              <a:t>list</a:t>
            </a:r>
            <a:r>
              <a:rPr lang="en-US" altLang="en-US" sz="2800" dirty="0"/>
              <a:t> comprehension:</a:t>
            </a:r>
          </a:p>
          <a:p>
            <a:pPr marL="0" indent="0" eaLnBrk="1" hangingPunct="1">
              <a:spcBef>
                <a:spcPts val="0"/>
              </a:spcBef>
              <a:buNone/>
            </a:pPr>
            <a:endParaRPr lang="en-US" altLang="en-US" sz="105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200" b="1" dirty="0">
                <a:latin typeface="Courier New" panose="02070309020205020404" pitchFamily="49" charset="0"/>
                <a:cs typeface="Courier New" panose="02070309020205020404" pitchFamily="49" charset="0"/>
              </a:rPr>
              <a:t>  [ </a:t>
            </a:r>
            <a:r>
              <a:rPr lang="en-US" altLang="en-US" sz="2200" i="1" dirty="0">
                <a:solidFill>
                  <a:srgbClr val="0070C0"/>
                </a:solidFill>
                <a:latin typeface="Courier New" panose="02070309020205020404" pitchFamily="49" charset="0"/>
                <a:cs typeface="Courier New" panose="02070309020205020404" pitchFamily="49" charset="0"/>
              </a:rPr>
              <a:t>expr</a:t>
            </a:r>
            <a:r>
              <a:rPr lang="en-US" altLang="en-US" sz="2200" b="1" dirty="0">
                <a:latin typeface="Courier New" panose="02070309020205020404" pitchFamily="49" charset="0"/>
                <a:cs typeface="Courier New" panose="02070309020205020404" pitchFamily="49" charset="0"/>
              </a:rPr>
              <a:t> </a:t>
            </a:r>
            <a:r>
              <a:rPr lang="en-US" altLang="en-US" sz="2200" b="1" dirty="0">
                <a:solidFill>
                  <a:srgbClr val="FF0000"/>
                </a:solidFill>
                <a:latin typeface="Courier New" panose="02070309020205020404" pitchFamily="49" charset="0"/>
                <a:cs typeface="Courier New" panose="02070309020205020404" pitchFamily="49" charset="0"/>
              </a:rPr>
              <a:t>for </a:t>
            </a:r>
            <a:r>
              <a:rPr lang="en-US" altLang="en-US" sz="2200" i="1" dirty="0">
                <a:solidFill>
                  <a:srgbClr val="FF0000"/>
                </a:solidFill>
                <a:latin typeface="Courier New" panose="02070309020205020404" pitchFamily="49" charset="0"/>
                <a:cs typeface="Courier New" panose="02070309020205020404" pitchFamily="49" charset="0"/>
              </a:rPr>
              <a:t>var(s)</a:t>
            </a:r>
            <a:r>
              <a:rPr lang="en-US" altLang="en-US" sz="2200" b="1" dirty="0">
                <a:solidFill>
                  <a:srgbClr val="FF0000"/>
                </a:solidFill>
                <a:latin typeface="Courier New" panose="02070309020205020404" pitchFamily="49" charset="0"/>
                <a:cs typeface="Courier New" panose="02070309020205020404" pitchFamily="49" charset="0"/>
              </a:rPr>
              <a:t> in </a:t>
            </a:r>
            <a:r>
              <a:rPr lang="en-US" altLang="en-US" sz="2200" i="1" dirty="0" err="1">
                <a:solidFill>
                  <a:srgbClr val="FF0000"/>
                </a:solidFill>
                <a:latin typeface="Courier New" panose="02070309020205020404" pitchFamily="49" charset="0"/>
                <a:cs typeface="Courier New" panose="02070309020205020404" pitchFamily="49" charset="0"/>
              </a:rPr>
              <a:t>iter</a:t>
            </a:r>
            <a:r>
              <a:rPr lang="en-US" altLang="en-US" sz="2200" i="1" dirty="0">
                <a:latin typeface="Courier New" panose="02070309020205020404" pitchFamily="49" charset="0"/>
                <a:cs typeface="Courier New" panose="02070309020205020404" pitchFamily="49" charset="0"/>
              </a:rPr>
              <a:t> </a:t>
            </a:r>
            <a:r>
              <a:rPr lang="en-US" altLang="en-US" sz="2200" dirty="0">
                <a:solidFill>
                  <a:srgbClr val="00B050"/>
                </a:solidFill>
                <a:latin typeface="Courier New" panose="02070309020205020404" pitchFamily="49" charset="0"/>
                <a:cs typeface="Courier New" panose="02070309020205020404" pitchFamily="49" charset="0"/>
              </a:rPr>
              <a:t>[</a:t>
            </a:r>
            <a:r>
              <a:rPr lang="en-US" altLang="en-US" sz="2200" i="1" dirty="0" err="1">
                <a:solidFill>
                  <a:srgbClr val="00B050"/>
                </a:solidFill>
                <a:latin typeface="Courier New" panose="02070309020205020404" pitchFamily="49" charset="0"/>
                <a:cs typeface="Courier New" panose="02070309020205020404" pitchFamily="49" charset="0"/>
              </a:rPr>
              <a:t>for_or_if</a:t>
            </a:r>
            <a:r>
              <a:rPr lang="en-US" altLang="en-US" sz="2200" i="1" dirty="0">
                <a:solidFill>
                  <a:srgbClr val="00B050"/>
                </a:solidFill>
                <a:latin typeface="Courier New" panose="02070309020205020404" pitchFamily="49" charset="0"/>
                <a:cs typeface="Courier New" panose="02070309020205020404" pitchFamily="49" charset="0"/>
              </a:rPr>
              <a:t> ...</a:t>
            </a:r>
            <a:r>
              <a:rPr lang="en-US" altLang="en-US" sz="2200" dirty="0">
                <a:solidFill>
                  <a:srgbClr val="00B050"/>
                </a:solidFill>
                <a:latin typeface="Courier New" panose="02070309020205020404" pitchFamily="49" charset="0"/>
                <a:cs typeface="Courier New" panose="02070309020205020404" pitchFamily="49" charset="0"/>
              </a:rPr>
              <a:t>] </a:t>
            </a:r>
            <a:r>
              <a:rPr lang="en-US" altLang="en-US" sz="2200" b="1" dirty="0">
                <a:latin typeface="Courier New" panose="02070309020205020404" pitchFamily="49" charset="0"/>
                <a:cs typeface="Courier New" panose="02070309020205020404" pitchFamily="49" charset="0"/>
              </a:rPr>
              <a:t>]</a:t>
            </a:r>
          </a:p>
          <a:p>
            <a:pPr marL="0" indent="0" eaLnBrk="1" hangingPunct="1">
              <a:spcBef>
                <a:spcPts val="0"/>
              </a:spcBef>
              <a:buNone/>
            </a:pPr>
            <a:endParaRPr lang="en-US" altLang="en-US" sz="600" b="1" dirty="0">
              <a:latin typeface="Courier New" panose="02070309020205020404" pitchFamily="49" charset="0"/>
              <a:cs typeface="Courier New" panose="02070309020205020404" pitchFamily="49" charset="0"/>
            </a:endParaRPr>
          </a:p>
          <a:p>
            <a:pPr lvl="1" eaLnBrk="1" hangingPunct="1"/>
            <a:r>
              <a:rPr lang="en-US" altLang="en-US" sz="2400" dirty="0"/>
              <a:t>The trailing </a:t>
            </a:r>
            <a:r>
              <a:rPr lang="en-US" altLang="en-US" sz="2400" i="1" dirty="0" err="1">
                <a:solidFill>
                  <a:srgbClr val="00B050"/>
                </a:solidFill>
                <a:latin typeface="Courier New" panose="02070309020205020404" pitchFamily="49" charset="0"/>
                <a:ea typeface="+mn-ea"/>
                <a:cs typeface="Courier New" panose="02070309020205020404" pitchFamily="49" charset="0"/>
              </a:rPr>
              <a:t>for_or_if</a:t>
            </a:r>
            <a:r>
              <a:rPr lang="en-US" altLang="en-US" sz="2400" i="1" dirty="0">
                <a:solidFill>
                  <a:srgbClr val="00B050"/>
                </a:solidFill>
                <a:latin typeface="Courier New" panose="02070309020205020404" pitchFamily="49" charset="0"/>
                <a:ea typeface="+mn-ea"/>
                <a:cs typeface="Courier New" panose="02070309020205020404" pitchFamily="49" charset="0"/>
              </a:rPr>
              <a:t> …</a:t>
            </a:r>
            <a:r>
              <a:rPr lang="en-US" altLang="en-US" sz="2400" dirty="0"/>
              <a:t> is an optional sequence of </a:t>
            </a:r>
            <a:r>
              <a:rPr lang="en-US" altLang="en-US" sz="2400" b="1" dirty="0"/>
              <a:t>for</a:t>
            </a:r>
            <a:r>
              <a:rPr lang="en-US" altLang="en-US" sz="2400" dirty="0"/>
              <a:t> loops and/or </a:t>
            </a:r>
            <a:r>
              <a:rPr lang="en-US" altLang="en-US" sz="2400" b="1" dirty="0"/>
              <a:t>if</a:t>
            </a:r>
            <a:r>
              <a:rPr lang="en-US" altLang="en-US" sz="2400" dirty="0"/>
              <a:t> decisions</a:t>
            </a:r>
          </a:p>
          <a:p>
            <a:pPr lvl="1" eaLnBrk="1" hangingPunct="1"/>
            <a:r>
              <a:rPr lang="en-US" altLang="en-US" sz="2400" i="1" dirty="0">
                <a:solidFill>
                  <a:srgbClr val="0070C0"/>
                </a:solidFill>
                <a:latin typeface="Courier New" panose="02070309020205020404" pitchFamily="49" charset="0"/>
                <a:ea typeface="+mn-ea"/>
                <a:cs typeface="Courier New" panose="02070309020205020404" pitchFamily="49" charset="0"/>
              </a:rPr>
              <a:t>expr</a:t>
            </a:r>
            <a:r>
              <a:rPr lang="en-US" altLang="en-US" sz="2400" dirty="0"/>
              <a:t> may use any </a:t>
            </a:r>
            <a:r>
              <a:rPr lang="en-US" altLang="en-US" sz="2400" i="1" dirty="0">
                <a:solidFill>
                  <a:srgbClr val="FF0000"/>
                </a:solidFill>
                <a:latin typeface="Courier New" panose="02070309020205020404" pitchFamily="49" charset="0"/>
                <a:ea typeface="+mn-ea"/>
                <a:cs typeface="Courier New" panose="02070309020205020404" pitchFamily="49" charset="0"/>
              </a:rPr>
              <a:t>var(s)</a:t>
            </a:r>
            <a:r>
              <a:rPr lang="en-US" altLang="en-US" sz="2400" dirty="0"/>
              <a:t> from the </a:t>
            </a:r>
            <a:r>
              <a:rPr lang="en-US" altLang="en-US" sz="2400" b="1" dirty="0"/>
              <a:t>for</a:t>
            </a:r>
            <a:r>
              <a:rPr lang="en-US" altLang="en-US" sz="2400" dirty="0"/>
              <a:t> loop(s)</a:t>
            </a:r>
          </a:p>
          <a:p>
            <a:pPr marL="0" indent="0" eaLnBrk="1" hangingPunct="1">
              <a:spcBef>
                <a:spcPts val="0"/>
              </a:spcBef>
              <a:buNone/>
            </a:pPr>
            <a:endParaRPr lang="en-US" altLang="en-US" sz="2200" b="1"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F8B635B-D8D9-424D-8529-9009739B66A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14</a:t>
            </a:fld>
            <a:endParaRPr lang="en-US"/>
          </a:p>
        </p:txBody>
      </p:sp>
    </p:spTree>
    <p:extLst>
      <p:ext uri="{BB962C8B-B14F-4D97-AF65-F5344CB8AC3E}">
        <p14:creationId xmlns:p14="http://schemas.microsoft.com/office/powerpoint/2010/main" val="3113257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a:t>list</a:t>
            </a:r>
            <a:r>
              <a:rPr lang="en-US" altLang="en-US" dirty="0"/>
              <a:t> Comprehension Examples</a:t>
            </a:r>
          </a:p>
        </p:txBody>
      </p:sp>
      <p:sp>
        <p:nvSpPr>
          <p:cNvPr id="24579" name="Rectangle 3"/>
          <p:cNvSpPr>
            <a:spLocks noGrp="1" noChangeArrowheads="1"/>
          </p:cNvSpPr>
          <p:nvPr>
            <p:ph type="body" idx="1"/>
          </p:nvPr>
        </p:nvSpPr>
        <p:spPr/>
        <p:txBody>
          <a:bodyPr/>
          <a:lstStyle/>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t>
            </a:r>
            <a:r>
              <a:rPr lang="en-US" altLang="en-US" sz="2000" b="1" dirty="0">
                <a:solidFill>
                  <a:srgbClr val="0070C0"/>
                </a:solidFill>
                <a:latin typeface="Courier New" panose="02070309020205020404" pitchFamily="49" charset="0"/>
                <a:cs typeface="Courier New" panose="02070309020205020404" pitchFamily="49" charset="0"/>
              </a:rPr>
              <a:t>7</a:t>
            </a:r>
            <a:r>
              <a:rPr lang="en-US" altLang="en-US" sz="2000" b="1" dirty="0">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for </a:t>
            </a:r>
            <a:r>
              <a:rPr lang="en-US" altLang="en-US" sz="2000" b="1" dirty="0" err="1">
                <a:solidFill>
                  <a:srgbClr val="FF0000"/>
                </a:solidFill>
                <a:latin typeface="Courier New" panose="02070309020205020404" pitchFamily="49" charset="0"/>
                <a:cs typeface="Courier New" panose="02070309020205020404" pitchFamily="49" charset="0"/>
              </a:rPr>
              <a:t>i</a:t>
            </a:r>
            <a:r>
              <a:rPr lang="en-US" altLang="en-US" sz="2000" b="1" dirty="0">
                <a:solidFill>
                  <a:srgbClr val="FF0000"/>
                </a:solidFill>
                <a:latin typeface="Courier New" panose="02070309020205020404" pitchFamily="49" charset="0"/>
                <a:cs typeface="Courier New" panose="02070309020205020404" pitchFamily="49" charset="0"/>
              </a:rPr>
              <a:t> in range(5)</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[7, 7, 7, 7, 7]</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t>
            </a:r>
            <a:r>
              <a:rPr lang="en-US" altLang="en-US" sz="2000" b="1" dirty="0">
                <a:solidFill>
                  <a:srgbClr val="0070C0"/>
                </a:solidFill>
                <a:latin typeface="Courier New" panose="02070309020205020404" pitchFamily="49" charset="0"/>
                <a:cs typeface="Courier New" panose="02070309020205020404" pitchFamily="49" charset="0"/>
              </a:rPr>
              <a:t>n &lt; 2</a:t>
            </a:r>
            <a:r>
              <a:rPr lang="en-US" altLang="en-US" sz="2000" b="1" dirty="0">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for n in range(5)</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da-DK" altLang="en-US" sz="2000" dirty="0">
                <a:latin typeface="Courier New" panose="02070309020205020404" pitchFamily="49" charset="0"/>
                <a:cs typeface="Courier New" panose="02070309020205020404" pitchFamily="49" charset="0"/>
              </a:rPr>
              <a:t>[True, True, False, False, False]</a:t>
            </a:r>
            <a:endParaRPr lang="da-DK" altLang="en-US" sz="2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t>
            </a:r>
            <a:r>
              <a:rPr lang="en-US" altLang="en-US" sz="2000" b="1" dirty="0">
                <a:solidFill>
                  <a:srgbClr val="0070C0"/>
                </a:solidFill>
                <a:latin typeface="Courier New" panose="02070309020205020404" pitchFamily="49" charset="0"/>
                <a:cs typeface="Courier New" panose="02070309020205020404" pitchFamily="49" charset="0"/>
              </a:rPr>
              <a:t>c</a:t>
            </a:r>
            <a:r>
              <a:rPr lang="en-US" altLang="en-US" sz="2000" b="1" dirty="0">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for c in 'hello'</a:t>
            </a:r>
            <a:r>
              <a:rPr lang="en-US" altLang="en-US" sz="2000" b="1" dirty="0">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if c != 'l'</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['h', 'e', 'o']</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t>
            </a:r>
            <a:r>
              <a:rPr lang="en-US" altLang="en-US" sz="2000" b="1" dirty="0">
                <a:solidFill>
                  <a:srgbClr val="0070C0"/>
                </a:solidFill>
                <a:latin typeface="Courier New" panose="02070309020205020404" pitchFamily="49" charset="0"/>
                <a:cs typeface="Courier New" panose="02070309020205020404" pitchFamily="49" charset="0"/>
              </a:rPr>
              <a:t>k / 2</a:t>
            </a:r>
            <a:r>
              <a:rPr lang="en-US" altLang="en-US" sz="2000" b="1" dirty="0">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for j in range(5)</a:t>
            </a:r>
            <a:r>
              <a:rPr lang="en-US" altLang="en-US" sz="2000" b="1" dirty="0">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for k in range(j)</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1900" dirty="0">
                <a:latin typeface="Courier New" panose="02070309020205020404" pitchFamily="49" charset="0"/>
                <a:cs typeface="Courier New" panose="02070309020205020404" pitchFamily="49" charset="0"/>
              </a:rPr>
              <a:t>[0.0, 0.0, 0.5, 0.0, 0.5, 1.0, 0.0, 0.5, 1.0, 1.5]</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a:t>
            </a:r>
          </a:p>
          <a:p>
            <a:pPr marL="0" indent="0" eaLnBrk="1" hangingPunct="1">
              <a:spcBef>
                <a:spcPts val="0"/>
              </a:spcBef>
              <a:buNone/>
            </a:pPr>
            <a:endParaRPr lang="en-US" altLang="en-US" sz="2000"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F8B635B-D8D9-424D-8529-9009739B66A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15</a:t>
            </a:fld>
            <a:endParaRPr lang="en-US"/>
          </a:p>
        </p:txBody>
      </p:sp>
    </p:spTree>
    <p:extLst>
      <p:ext uri="{BB962C8B-B14F-4D97-AF65-F5344CB8AC3E}">
        <p14:creationId xmlns:p14="http://schemas.microsoft.com/office/powerpoint/2010/main" val="1444744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A </a:t>
            </a:r>
            <a:r>
              <a:rPr lang="en-US" altLang="en-US" b="1" dirty="0"/>
              <a:t>list</a:t>
            </a:r>
            <a:r>
              <a:rPr lang="en-US" altLang="en-US" dirty="0"/>
              <a:t> of </a:t>
            </a:r>
            <a:r>
              <a:rPr lang="en-US" altLang="en-US" b="1" dirty="0"/>
              <a:t>list</a:t>
            </a:r>
            <a:r>
              <a:rPr lang="en-US" altLang="en-US" dirty="0"/>
              <a:t>s</a:t>
            </a:r>
          </a:p>
        </p:txBody>
      </p:sp>
      <p:sp>
        <p:nvSpPr>
          <p:cNvPr id="24579" name="Rectangle 3"/>
          <p:cNvSpPr>
            <a:spLocks noGrp="1" noChangeArrowheads="1"/>
          </p:cNvSpPr>
          <p:nvPr>
            <p:ph type="body" idx="1"/>
          </p:nvPr>
        </p:nvSpPr>
        <p:spPr/>
        <p:txBody>
          <a:bodyPr/>
          <a:lstStyle/>
          <a:p>
            <a:pPr eaLnBrk="1" hangingPunct="1"/>
            <a:r>
              <a:rPr lang="en-US" altLang="en-US" sz="2800" dirty="0"/>
              <a:t>The </a:t>
            </a:r>
            <a:r>
              <a:rPr lang="en-US" altLang="en-US" sz="2800" i="1" dirty="0">
                <a:solidFill>
                  <a:srgbClr val="0070C0"/>
                </a:solidFill>
                <a:latin typeface="Courier New" panose="02070309020205020404" pitchFamily="49" charset="0"/>
                <a:cs typeface="Courier New" panose="02070309020205020404" pitchFamily="49" charset="0"/>
              </a:rPr>
              <a:t>expr</a:t>
            </a:r>
            <a:r>
              <a:rPr lang="en-US" altLang="en-US" sz="2800" dirty="0"/>
              <a:t> can be any valid expression</a:t>
            </a:r>
            <a:endParaRPr lang="en-US" altLang="en-US" sz="2800" b="1" dirty="0"/>
          </a:p>
          <a:p>
            <a:pPr lvl="1" eaLnBrk="1" hangingPunct="1">
              <a:spcBef>
                <a:spcPts val="0"/>
              </a:spcBef>
            </a:pPr>
            <a:r>
              <a:rPr lang="en-US" altLang="en-US" sz="2400" dirty="0"/>
              <a:t>Such as a </a:t>
            </a:r>
            <a:r>
              <a:rPr lang="en-US" altLang="en-US" sz="2400" b="1" dirty="0"/>
              <a:t>list</a:t>
            </a:r>
            <a:r>
              <a:rPr lang="en-US" altLang="en-US" sz="2400" dirty="0"/>
              <a:t> comprehension!</a:t>
            </a:r>
          </a:p>
          <a:p>
            <a:pPr lvl="1" eaLnBrk="1" hangingPunct="1">
              <a:spcBef>
                <a:spcPts val="0"/>
              </a:spcBef>
            </a:pPr>
            <a:r>
              <a:rPr lang="en-US" altLang="en-US" sz="2400" dirty="0"/>
              <a:t>Create a </a:t>
            </a:r>
            <a:r>
              <a:rPr lang="en-US" altLang="en-US" sz="2400" b="1" dirty="0"/>
              <a:t>list</a:t>
            </a:r>
            <a:r>
              <a:rPr lang="en-US" altLang="en-US" sz="2400" dirty="0"/>
              <a:t> of </a:t>
            </a:r>
            <a:r>
              <a:rPr lang="en-US" altLang="en-US" sz="2400" b="1" dirty="0"/>
              <a:t>list</a:t>
            </a:r>
            <a:r>
              <a:rPr lang="en-US" altLang="en-US" sz="2400" dirty="0"/>
              <a:t>s, a </a:t>
            </a:r>
            <a:r>
              <a:rPr lang="en-US" altLang="en-US" sz="2400" b="1" dirty="0"/>
              <a:t>list</a:t>
            </a:r>
            <a:r>
              <a:rPr lang="en-US" altLang="en-US" sz="2400" dirty="0"/>
              <a:t> of </a:t>
            </a:r>
            <a:r>
              <a:rPr lang="en-US" altLang="en-US" sz="2400" b="1" dirty="0"/>
              <a:t>list</a:t>
            </a:r>
            <a:r>
              <a:rPr lang="en-US" altLang="en-US" sz="2400" dirty="0"/>
              <a:t>s of </a:t>
            </a:r>
            <a:r>
              <a:rPr lang="en-US" altLang="en-US" sz="2400" b="1" dirty="0"/>
              <a:t>list</a:t>
            </a:r>
            <a:r>
              <a:rPr lang="en-US" altLang="en-US" sz="2400" dirty="0"/>
              <a:t>s,  …</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vv1 = [</a:t>
            </a:r>
            <a:r>
              <a:rPr lang="en-US" altLang="en-US" sz="2000" b="1" dirty="0">
                <a:solidFill>
                  <a:srgbClr val="0070C0"/>
                </a:solidFill>
                <a:latin typeface="Courier New" panose="02070309020205020404" pitchFamily="49" charset="0"/>
                <a:cs typeface="Courier New" panose="02070309020205020404" pitchFamily="49" charset="0"/>
              </a:rPr>
              <a:t>[</a:t>
            </a:r>
            <a:r>
              <a:rPr lang="en-US" altLang="en-US" sz="2000" b="1" dirty="0" err="1">
                <a:solidFill>
                  <a:srgbClr val="0070C0"/>
                </a:solidFill>
                <a:latin typeface="Courier New" panose="02070309020205020404" pitchFamily="49" charset="0"/>
                <a:cs typeface="Courier New" panose="02070309020205020404" pitchFamily="49" charset="0"/>
              </a:rPr>
              <a:t>i</a:t>
            </a:r>
            <a:r>
              <a:rPr lang="en-US" altLang="en-US" sz="2000" b="1" dirty="0">
                <a:solidFill>
                  <a:srgbClr val="0070C0"/>
                </a:solidFill>
                <a:latin typeface="Courier New" panose="02070309020205020404" pitchFamily="49" charset="0"/>
                <a:cs typeface="Courier New" panose="02070309020205020404" pitchFamily="49" charset="0"/>
              </a:rPr>
              <a:t> + j for </a:t>
            </a:r>
            <a:r>
              <a:rPr lang="en-US" altLang="en-US" sz="2000" b="1" dirty="0" err="1">
                <a:solidFill>
                  <a:srgbClr val="0070C0"/>
                </a:solidFill>
                <a:latin typeface="Courier New" panose="02070309020205020404" pitchFamily="49" charset="0"/>
                <a:cs typeface="Courier New" panose="02070309020205020404" pitchFamily="49" charset="0"/>
              </a:rPr>
              <a:t>i</a:t>
            </a:r>
            <a:r>
              <a:rPr lang="en-US" altLang="en-US" sz="2000" b="1" dirty="0">
                <a:solidFill>
                  <a:srgbClr val="0070C0"/>
                </a:solidFill>
                <a:latin typeface="Courier New" panose="02070309020205020404" pitchFamily="49" charset="0"/>
                <a:cs typeface="Courier New" panose="02070309020205020404" pitchFamily="49" charset="0"/>
              </a:rPr>
              <a:t> in range(4)]</a:t>
            </a:r>
            <a:endParaRPr lang="en-US" altLang="en-US" sz="2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for j in range(4)</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vv1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[[0, 1, 2, 3], [1, 2, 3, 4], [2, 3, 4, 5],</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[3, 4, 5, 6]]</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5F8B635B-D8D9-424D-8529-9009739B66A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16</a:t>
            </a:fld>
            <a:endParaRPr lang="en-US"/>
          </a:p>
        </p:txBody>
      </p:sp>
    </p:spTree>
    <p:extLst>
      <p:ext uri="{BB962C8B-B14F-4D97-AF65-F5344CB8AC3E}">
        <p14:creationId xmlns:p14="http://schemas.microsoft.com/office/powerpoint/2010/main" val="4140899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A </a:t>
            </a:r>
            <a:r>
              <a:rPr lang="en-US" altLang="en-US" b="1" dirty="0"/>
              <a:t>list</a:t>
            </a:r>
            <a:r>
              <a:rPr lang="en-US" altLang="en-US" dirty="0"/>
              <a:t> of </a:t>
            </a:r>
            <a:r>
              <a:rPr lang="en-US" altLang="en-US" b="1" dirty="0"/>
              <a:t>tuple</a:t>
            </a:r>
            <a:r>
              <a:rPr lang="en-US" altLang="en-US" dirty="0"/>
              <a:t>s</a:t>
            </a:r>
          </a:p>
        </p:txBody>
      </p:sp>
      <p:sp>
        <p:nvSpPr>
          <p:cNvPr id="24579" name="Rectangle 3"/>
          <p:cNvSpPr>
            <a:spLocks noGrp="1" noChangeArrowheads="1"/>
          </p:cNvSpPr>
          <p:nvPr>
            <p:ph type="body" idx="1"/>
          </p:nvPr>
        </p:nvSpPr>
        <p:spPr/>
        <p:txBody>
          <a:bodyPr/>
          <a:lstStyle/>
          <a:p>
            <a:pPr eaLnBrk="1" hangingPunct="1"/>
            <a:r>
              <a:rPr lang="en-US" altLang="en-US" sz="2800" dirty="0"/>
              <a:t>The </a:t>
            </a:r>
            <a:r>
              <a:rPr lang="en-US" altLang="en-US" sz="2800" i="1" dirty="0">
                <a:solidFill>
                  <a:srgbClr val="0070C0"/>
                </a:solidFill>
                <a:latin typeface="Courier New" panose="02070309020205020404" pitchFamily="49" charset="0"/>
                <a:cs typeface="Courier New" panose="02070309020205020404" pitchFamily="49" charset="0"/>
              </a:rPr>
              <a:t>expr</a:t>
            </a:r>
            <a:r>
              <a:rPr lang="en-US" altLang="en-US" sz="2800" dirty="0"/>
              <a:t> can create a </a:t>
            </a:r>
            <a:r>
              <a:rPr lang="en-US" altLang="en-US" sz="2800" b="1" dirty="0"/>
              <a:t>tuple</a:t>
            </a:r>
            <a:r>
              <a:rPr lang="en-US" altLang="en-US" sz="2800" dirty="0"/>
              <a:t>, </a:t>
            </a:r>
            <a:r>
              <a:rPr lang="en-US" altLang="en-US" sz="2800" b="1" dirty="0"/>
              <a:t>set</a:t>
            </a:r>
            <a:r>
              <a:rPr lang="en-US" altLang="en-US" sz="2800" dirty="0"/>
              <a:t>, </a:t>
            </a:r>
            <a:r>
              <a:rPr lang="en-US" altLang="en-US" sz="2800" b="1" dirty="0" err="1"/>
              <a:t>dict</a:t>
            </a:r>
            <a:r>
              <a:rPr lang="en-US" altLang="en-US" sz="2800" dirty="0"/>
              <a:t>, …</a:t>
            </a:r>
            <a:endParaRPr lang="en-US" altLang="en-US" sz="2800" b="1" dirty="0"/>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vt1 = [</a:t>
            </a:r>
            <a:r>
              <a:rPr lang="en-US" altLang="en-US" sz="2000" b="1" dirty="0">
                <a:solidFill>
                  <a:srgbClr val="0070C0"/>
                </a:solidFill>
                <a:latin typeface="Courier New" panose="02070309020205020404" pitchFamily="49" charset="0"/>
                <a:cs typeface="Courier New" panose="02070309020205020404" pitchFamily="49" charset="0"/>
              </a:rPr>
              <a:t>(j, j**2, j**3, j**4)</a:t>
            </a:r>
            <a:endParaRPr lang="en-US" altLang="en-US" sz="2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for j in range(4)</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vt1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[(0, 0, 0, 0), (1, 1, 1, 1), (2, 4, 8, 16),</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(3, 9, 27, 81)]</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 vt1[3][2]</a:t>
            </a:r>
          </a:p>
          <a:p>
            <a:pPr marL="0" indent="0" eaLnBrk="1" hangingPunct="1">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27</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5F8B635B-D8D9-424D-8529-9009739B66A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17</a:t>
            </a:fld>
            <a:endParaRPr lang="en-US"/>
          </a:p>
        </p:txBody>
      </p:sp>
    </p:spTree>
    <p:extLst>
      <p:ext uri="{BB962C8B-B14F-4D97-AF65-F5344CB8AC3E}">
        <p14:creationId xmlns:p14="http://schemas.microsoft.com/office/powerpoint/2010/main" val="349354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a:t>set</a:t>
            </a:r>
            <a:r>
              <a:rPr lang="en-US" altLang="en-US" dirty="0"/>
              <a:t> Comprehensions</a:t>
            </a:r>
          </a:p>
        </p:txBody>
      </p:sp>
      <p:sp>
        <p:nvSpPr>
          <p:cNvPr id="24579" name="Rectangle 3"/>
          <p:cNvSpPr>
            <a:spLocks noGrp="1" noChangeArrowheads="1"/>
          </p:cNvSpPr>
          <p:nvPr>
            <p:ph type="body" idx="1"/>
          </p:nvPr>
        </p:nvSpPr>
        <p:spPr/>
        <p:txBody>
          <a:bodyPr/>
          <a:lstStyle/>
          <a:p>
            <a:pPr eaLnBrk="1" hangingPunct="1"/>
            <a:r>
              <a:rPr lang="en-US" altLang="en-US" sz="2800" dirty="0"/>
              <a:t>A </a:t>
            </a:r>
            <a:r>
              <a:rPr lang="en-US" altLang="en-US" sz="2800" b="1" dirty="0"/>
              <a:t>set</a:t>
            </a:r>
            <a:r>
              <a:rPr lang="en-US" altLang="en-US" sz="2800" dirty="0"/>
              <a:t> comprehension is exactly like a </a:t>
            </a:r>
            <a:r>
              <a:rPr lang="en-US" altLang="en-US" sz="2800" b="1" dirty="0"/>
              <a:t>list</a:t>
            </a:r>
            <a:r>
              <a:rPr lang="en-US" altLang="en-US" sz="2800" dirty="0"/>
              <a:t> comprehension, </a:t>
            </a:r>
            <a:r>
              <a:rPr lang="en-US" altLang="en-US" sz="2800" i="1" dirty="0"/>
              <a:t>except</a:t>
            </a:r>
          </a:p>
          <a:p>
            <a:pPr lvl="1" eaLnBrk="1" hangingPunct="1"/>
            <a:r>
              <a:rPr lang="en-US" altLang="en-US" sz="2400" dirty="0"/>
              <a:t>Enclose in </a:t>
            </a:r>
            <a:r>
              <a:rPr lang="en-US" altLang="en-US" sz="2400" b="1" dirty="0"/>
              <a:t>{}</a:t>
            </a:r>
            <a:r>
              <a:rPr lang="en-US" altLang="en-US" sz="2400" dirty="0"/>
              <a:t> rather than </a:t>
            </a:r>
            <a:r>
              <a:rPr lang="en-US" altLang="en-US" sz="2400" b="1" dirty="0"/>
              <a:t>[]</a:t>
            </a:r>
          </a:p>
          <a:p>
            <a:pPr lvl="1" eaLnBrk="1" hangingPunct="1"/>
            <a:r>
              <a:rPr lang="en-US" altLang="en-US" sz="2400" b="1" dirty="0"/>
              <a:t>set</a:t>
            </a:r>
            <a:r>
              <a:rPr lang="en-US" altLang="en-US" sz="2400" dirty="0"/>
              <a:t> elements must be </a:t>
            </a:r>
            <a:r>
              <a:rPr lang="en-US" altLang="en-US" sz="2400" dirty="0" err="1"/>
              <a:t>hashable</a:t>
            </a:r>
            <a:endParaRPr lang="en-US" altLang="en-US" sz="2400" dirty="0"/>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s1 = {</a:t>
            </a:r>
            <a:r>
              <a:rPr lang="en-US" altLang="en-US" sz="2000" b="1" dirty="0">
                <a:solidFill>
                  <a:srgbClr val="0070C0"/>
                </a:solidFill>
                <a:latin typeface="Courier New" panose="02070309020205020404" pitchFamily="49" charset="0"/>
                <a:cs typeface="Courier New" panose="02070309020205020404" pitchFamily="49" charset="0"/>
              </a:rPr>
              <a:t>c</a:t>
            </a:r>
            <a:r>
              <a:rPr lang="en-US" altLang="en-US" sz="2000" b="1" dirty="0">
                <a:solidFill>
                  <a:srgbClr val="FF0000"/>
                </a:solidFill>
                <a:latin typeface="Courier New" panose="02070309020205020404" pitchFamily="49" charset="0"/>
                <a:cs typeface="Courier New" panose="02070309020205020404" pitchFamily="49" charset="0"/>
              </a:rPr>
              <a:t> for c in 'hello, world'</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if c not in '</a:t>
            </a:r>
            <a:r>
              <a:rPr lang="en-US" altLang="en-US" sz="2000" b="1" dirty="0" err="1">
                <a:solidFill>
                  <a:srgbClr val="00B050"/>
                </a:solidFill>
                <a:latin typeface="Courier New" panose="02070309020205020404" pitchFamily="49" charset="0"/>
                <a:cs typeface="Courier New" panose="02070309020205020404" pitchFamily="49" charset="0"/>
              </a:rPr>
              <a:t>aeiou</a:t>
            </a:r>
            <a:r>
              <a:rPr lang="en-US" altLang="en-US" sz="2000" b="1" dirty="0">
                <a:solidFill>
                  <a:srgbClr val="00B050"/>
                </a:solidFill>
                <a:latin typeface="Courier New" panose="02070309020205020404" pitchFamily="49" charset="0"/>
                <a:cs typeface="Courier New" panose="02070309020205020404" pitchFamily="49" charset="0"/>
              </a:rPr>
              <a:t>'</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s1</a:t>
            </a:r>
          </a:p>
          <a:p>
            <a:pPr marL="0" indent="0" eaLnBrk="1" hangingPunct="1">
              <a:spcBef>
                <a:spcPts val="0"/>
              </a:spcBef>
              <a:buNone/>
            </a:pPr>
            <a:r>
              <a:rPr lang="it-IT" altLang="en-US" sz="2000" dirty="0">
                <a:latin typeface="Courier New" panose="02070309020205020404" pitchFamily="49" charset="0"/>
                <a:cs typeface="Courier New" panose="02070309020205020404" pitchFamily="49" charset="0"/>
              </a:rPr>
              <a:t>{'h', ',', 'r', 'l', 'w', 'd', ' '}  # my system</a:t>
            </a:r>
          </a:p>
          <a:p>
            <a:pPr marL="0" indent="0" eaLnBrk="1" hangingPunct="1">
              <a:spcBef>
                <a:spcPts val="0"/>
              </a:spcBef>
              <a:buNone/>
            </a:pPr>
            <a:r>
              <a:rPr lang="it-IT" altLang="en-US" sz="2000" b="1" dirty="0">
                <a:latin typeface="Courier New" panose="02070309020205020404" pitchFamily="49" charset="0"/>
                <a:cs typeface="Courier New" panose="02070309020205020404" pitchFamily="49" charset="0"/>
              </a:rPr>
              <a:t>&gt;&gt;&gt; s2 = {</a:t>
            </a:r>
            <a:r>
              <a:rPr lang="it-IT" altLang="en-US" sz="2000" b="1" dirty="0">
                <a:solidFill>
                  <a:srgbClr val="0070C0"/>
                </a:solidFill>
                <a:latin typeface="Courier New" panose="02070309020205020404" pitchFamily="49" charset="0"/>
                <a:cs typeface="Courier New" panose="02070309020205020404" pitchFamily="49" charset="0"/>
              </a:rPr>
              <a:t>[i, i/2]</a:t>
            </a:r>
            <a:r>
              <a:rPr lang="it-IT" altLang="en-US" sz="2000" b="1" dirty="0">
                <a:latin typeface="Courier New" panose="02070309020205020404" pitchFamily="49" charset="0"/>
                <a:cs typeface="Courier New" panose="02070309020205020404" pitchFamily="49" charset="0"/>
              </a:rPr>
              <a:t> </a:t>
            </a:r>
            <a:r>
              <a:rPr lang="it-IT" altLang="en-US" sz="2000" b="1" dirty="0">
                <a:solidFill>
                  <a:srgbClr val="FF0000"/>
                </a:solidFill>
                <a:latin typeface="Courier New" panose="02070309020205020404" pitchFamily="49" charset="0"/>
                <a:cs typeface="Courier New" panose="02070309020205020404" pitchFamily="49" charset="0"/>
              </a:rPr>
              <a:t>for i in range(5)</a:t>
            </a:r>
            <a:r>
              <a:rPr lang="it-IT"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it-IT" altLang="en-US" sz="2000" dirty="0">
                <a:latin typeface="Courier New" panose="02070309020205020404" pitchFamily="49" charset="0"/>
                <a:cs typeface="Courier New" panose="02070309020205020404" pitchFamily="49" charset="0"/>
              </a:rPr>
              <a:t>...TypeError: unhashable type: 'list'</a:t>
            </a:r>
            <a:endParaRPr lang="en-US" altLang="en-US" sz="2000" dirty="0">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2000" b="1" dirty="0">
              <a:solidFill>
                <a:srgbClr val="00B05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F8B635B-D8D9-424D-8529-9009739B66A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18</a:t>
            </a:fld>
            <a:endParaRPr lang="en-US"/>
          </a:p>
        </p:txBody>
      </p:sp>
    </p:spTree>
    <p:extLst>
      <p:ext uri="{BB962C8B-B14F-4D97-AF65-F5344CB8AC3E}">
        <p14:creationId xmlns:p14="http://schemas.microsoft.com/office/powerpoint/2010/main" val="826798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err="1"/>
              <a:t>dict</a:t>
            </a:r>
            <a:r>
              <a:rPr lang="en-US" altLang="en-US" dirty="0"/>
              <a:t> Comprehensions</a:t>
            </a:r>
          </a:p>
        </p:txBody>
      </p:sp>
      <p:sp>
        <p:nvSpPr>
          <p:cNvPr id="24579" name="Rectangle 3"/>
          <p:cNvSpPr>
            <a:spLocks noGrp="1" noChangeArrowheads="1"/>
          </p:cNvSpPr>
          <p:nvPr>
            <p:ph type="body" idx="1"/>
          </p:nvPr>
        </p:nvSpPr>
        <p:spPr/>
        <p:txBody>
          <a:bodyPr/>
          <a:lstStyle/>
          <a:p>
            <a:pPr eaLnBrk="1" hangingPunct="1"/>
            <a:r>
              <a:rPr lang="en-US" altLang="en-US" sz="2800" dirty="0"/>
              <a:t>A </a:t>
            </a:r>
            <a:r>
              <a:rPr lang="en-US" altLang="en-US" sz="2800" b="1" dirty="0" err="1"/>
              <a:t>dict</a:t>
            </a:r>
            <a:r>
              <a:rPr lang="en-US" altLang="en-US" sz="2800" dirty="0"/>
              <a:t> comprehension is exactly like a </a:t>
            </a:r>
            <a:r>
              <a:rPr lang="en-US" altLang="en-US" sz="2800" b="1" dirty="0"/>
              <a:t>list</a:t>
            </a:r>
            <a:r>
              <a:rPr lang="en-US" altLang="en-US" sz="2800" dirty="0"/>
              <a:t> comprehension, </a:t>
            </a:r>
            <a:r>
              <a:rPr lang="en-US" altLang="en-US" sz="2800" i="1" dirty="0"/>
              <a:t>except</a:t>
            </a:r>
          </a:p>
          <a:p>
            <a:pPr lvl="1" eaLnBrk="1" hangingPunct="1"/>
            <a:r>
              <a:rPr lang="en-US" altLang="en-US" sz="2400" dirty="0"/>
              <a:t>Enclose in </a:t>
            </a:r>
            <a:r>
              <a:rPr lang="en-US" altLang="en-US" sz="2400" b="1" dirty="0"/>
              <a:t>{}</a:t>
            </a:r>
            <a:r>
              <a:rPr lang="en-US" altLang="en-US" sz="2400" dirty="0"/>
              <a:t> rather than </a:t>
            </a:r>
            <a:r>
              <a:rPr lang="en-US" altLang="en-US" sz="2400" b="1" dirty="0"/>
              <a:t>[]</a:t>
            </a:r>
          </a:p>
          <a:p>
            <a:pPr lvl="1" eaLnBrk="1" hangingPunct="1"/>
            <a:r>
              <a:rPr lang="en-US" altLang="en-US" sz="2400" i="1" dirty="0">
                <a:solidFill>
                  <a:srgbClr val="0070C0"/>
                </a:solidFill>
                <a:latin typeface="Courier New" panose="02070309020205020404" pitchFamily="49" charset="0"/>
                <a:ea typeface="+mn-ea"/>
                <a:cs typeface="Courier New" panose="02070309020205020404" pitchFamily="49" charset="0"/>
              </a:rPr>
              <a:t>expr</a:t>
            </a:r>
            <a:r>
              <a:rPr lang="en-US" altLang="en-US" sz="2400" dirty="0"/>
              <a:t> must be of the form </a:t>
            </a:r>
            <a:r>
              <a:rPr lang="en-US" altLang="en-US" sz="2400" i="1" dirty="0">
                <a:solidFill>
                  <a:srgbClr val="0070C0"/>
                </a:solidFill>
                <a:latin typeface="Courier New" panose="02070309020205020404" pitchFamily="49" charset="0"/>
                <a:ea typeface="+mn-ea"/>
                <a:cs typeface="Courier New" panose="02070309020205020404" pitchFamily="49" charset="0"/>
              </a:rPr>
              <a:t>key</a:t>
            </a:r>
            <a:r>
              <a:rPr lang="en-US" altLang="en-US" sz="2400" b="1" dirty="0">
                <a:solidFill>
                  <a:srgbClr val="0070C0"/>
                </a:solidFill>
                <a:latin typeface="Courier New" panose="02070309020205020404" pitchFamily="49" charset="0"/>
                <a:ea typeface="+mn-ea"/>
                <a:cs typeface="Courier New" panose="02070309020205020404" pitchFamily="49" charset="0"/>
              </a:rPr>
              <a:t> : </a:t>
            </a:r>
            <a:r>
              <a:rPr lang="en-US" altLang="en-US" sz="2400" i="1" dirty="0" err="1">
                <a:solidFill>
                  <a:srgbClr val="0070C0"/>
                </a:solidFill>
                <a:latin typeface="Courier New" panose="02070309020205020404" pitchFamily="49" charset="0"/>
                <a:ea typeface="+mn-ea"/>
                <a:cs typeface="Courier New" panose="02070309020205020404" pitchFamily="49" charset="0"/>
              </a:rPr>
              <a:t>val</a:t>
            </a:r>
            <a:endParaRPr lang="en-US" altLang="en-US" sz="2400" i="1" dirty="0">
              <a:solidFill>
                <a:srgbClr val="0070C0"/>
              </a:solidFill>
              <a:latin typeface="Courier New" panose="02070309020205020404" pitchFamily="49" charset="0"/>
              <a:ea typeface="+mn-ea"/>
              <a:cs typeface="Courier New" panose="02070309020205020404" pitchFamily="49" charset="0"/>
            </a:endParaRPr>
          </a:p>
          <a:p>
            <a:pPr lvl="1" eaLnBrk="1" hangingPunct="1"/>
            <a:r>
              <a:rPr lang="en-US" altLang="en-US" sz="2400" i="1" dirty="0">
                <a:solidFill>
                  <a:srgbClr val="0070C0"/>
                </a:solidFill>
                <a:latin typeface="Courier New" panose="02070309020205020404" pitchFamily="49" charset="0"/>
                <a:ea typeface="+mn-ea"/>
                <a:cs typeface="Courier New" panose="02070309020205020404" pitchFamily="49" charset="0"/>
              </a:rPr>
              <a:t>key</a:t>
            </a:r>
            <a:r>
              <a:rPr lang="en-US" altLang="en-US" sz="2400" b="1" dirty="0"/>
              <a:t> </a:t>
            </a:r>
            <a:r>
              <a:rPr lang="en-US" altLang="en-US" sz="2400" dirty="0"/>
              <a:t>must be </a:t>
            </a:r>
            <a:r>
              <a:rPr lang="en-US" altLang="en-US" sz="2400" dirty="0" err="1"/>
              <a:t>hashable</a:t>
            </a:r>
            <a:endParaRPr lang="en-US" altLang="en-US" sz="2400" dirty="0"/>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d1 = {</a:t>
            </a:r>
            <a:r>
              <a:rPr lang="en-US" altLang="en-US" sz="2000" b="1" dirty="0">
                <a:solidFill>
                  <a:srgbClr val="0070C0"/>
                </a:solidFill>
                <a:latin typeface="Courier New" panose="02070309020205020404" pitchFamily="49" charset="0"/>
                <a:cs typeface="Courier New" panose="02070309020205020404" pitchFamily="49" charset="0"/>
              </a:rPr>
              <a:t>n : [n**2, n**3]</a:t>
            </a:r>
            <a:endParaRPr lang="en-US" altLang="en-US" sz="2000" b="1"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for n in range(5,10)</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d1</a:t>
            </a:r>
          </a:p>
          <a:p>
            <a:pPr marL="0" indent="0" eaLnBrk="1" hangingPunct="1">
              <a:spcBef>
                <a:spcPts val="0"/>
              </a:spcBef>
              <a:buNone/>
            </a:pPr>
            <a:r>
              <a:rPr lang="it-IT" altLang="en-US" sz="2000" dirty="0">
                <a:latin typeface="Courier New" panose="02070309020205020404" pitchFamily="49" charset="0"/>
                <a:cs typeface="Courier New" panose="02070309020205020404" pitchFamily="49" charset="0"/>
              </a:rPr>
              <a:t>{5: [25, 125], 6: [36, 216], 7: [49, 343],</a:t>
            </a:r>
          </a:p>
          <a:p>
            <a:pPr marL="0" indent="0" eaLnBrk="1" hangingPunct="1">
              <a:spcBef>
                <a:spcPts val="0"/>
              </a:spcBef>
              <a:buNone/>
            </a:pPr>
            <a:r>
              <a:rPr lang="it-IT" altLang="en-US" sz="2000" dirty="0">
                <a:latin typeface="Courier New" panose="02070309020205020404" pitchFamily="49" charset="0"/>
                <a:cs typeface="Courier New" panose="02070309020205020404" pitchFamily="49" charset="0"/>
              </a:rPr>
              <a:t> 8: [64, 512], 9: [81, 729]} </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5F8B635B-D8D9-424D-8529-9009739B66A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19</a:t>
            </a:fld>
            <a:endParaRPr lang="en-US"/>
          </a:p>
        </p:txBody>
      </p:sp>
    </p:spTree>
    <p:extLst>
      <p:ext uri="{BB962C8B-B14F-4D97-AF65-F5344CB8AC3E}">
        <p14:creationId xmlns:p14="http://schemas.microsoft.com/office/powerpoint/2010/main" val="94626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No </a:t>
            </a:r>
            <a:r>
              <a:rPr lang="en-US" altLang="en-US" b="1" dirty="0"/>
              <a:t>tuple</a:t>
            </a:r>
            <a:r>
              <a:rPr lang="en-US" altLang="en-US" dirty="0"/>
              <a:t> Comprehensions</a:t>
            </a:r>
          </a:p>
        </p:txBody>
      </p:sp>
      <p:sp>
        <p:nvSpPr>
          <p:cNvPr id="24579" name="Rectangle 3"/>
          <p:cNvSpPr>
            <a:spLocks noGrp="1" noChangeArrowheads="1"/>
          </p:cNvSpPr>
          <p:nvPr>
            <p:ph type="body" idx="1"/>
          </p:nvPr>
        </p:nvSpPr>
        <p:spPr/>
        <p:txBody>
          <a:bodyPr/>
          <a:lstStyle/>
          <a:p>
            <a:pPr eaLnBrk="1" hangingPunct="1"/>
            <a:r>
              <a:rPr lang="en-US" altLang="en-US" sz="2800" dirty="0"/>
              <a:t>"</a:t>
            </a:r>
            <a:r>
              <a:rPr lang="en-US" altLang="en-US" sz="2800" b="1" dirty="0"/>
              <a:t>tuple</a:t>
            </a:r>
            <a:r>
              <a:rPr lang="en-US" altLang="en-US" sz="2800" dirty="0"/>
              <a:t> comprehension" notation creates a </a:t>
            </a:r>
            <a:r>
              <a:rPr lang="en-US" altLang="en-US" sz="2800" i="1" dirty="0"/>
              <a:t>generator</a:t>
            </a:r>
            <a:r>
              <a:rPr lang="en-US" altLang="en-US" sz="2800" dirty="0"/>
              <a:t> object, </a:t>
            </a:r>
            <a:r>
              <a:rPr lang="en-US" altLang="en-US" sz="2800" i="1" dirty="0"/>
              <a:t>not</a:t>
            </a:r>
            <a:r>
              <a:rPr lang="en-US" altLang="en-US" sz="2800" dirty="0"/>
              <a:t> a </a:t>
            </a:r>
            <a:r>
              <a:rPr lang="en-US" altLang="en-US" sz="2800" b="1" dirty="0"/>
              <a:t>tuple</a:t>
            </a:r>
            <a:r>
              <a:rPr lang="en-US" altLang="en-US" sz="2800" dirty="0"/>
              <a:t> object</a:t>
            </a:r>
            <a:endParaRPr lang="en-US" altLang="en-US" sz="2800" i="1" dirty="0"/>
          </a:p>
          <a:p>
            <a:pPr lvl="1" eaLnBrk="1" hangingPunct="1"/>
            <a:r>
              <a:rPr lang="en-US" altLang="en-US" sz="2400" dirty="0"/>
              <a:t>A </a:t>
            </a:r>
            <a:r>
              <a:rPr lang="en-US" altLang="en-US" sz="2400" i="1" dirty="0"/>
              <a:t>generator</a:t>
            </a:r>
            <a:r>
              <a:rPr lang="en-US" altLang="en-US" sz="2400" dirty="0"/>
              <a:t> is an </a:t>
            </a:r>
            <a:r>
              <a:rPr lang="en-US" altLang="en-US" sz="2400" dirty="0" err="1"/>
              <a:t>iterable</a:t>
            </a:r>
            <a:r>
              <a:rPr lang="en-US" altLang="en-US" sz="2400" dirty="0"/>
              <a:t>, providing the values that the "comprehension" would otherwise provide</a:t>
            </a:r>
            <a:endParaRPr lang="en-US" altLang="en-US" sz="2400" b="1" dirty="0"/>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g1 = (</a:t>
            </a:r>
            <a:r>
              <a:rPr lang="en-US" altLang="en-US" sz="2000" b="1" dirty="0">
                <a:solidFill>
                  <a:srgbClr val="0070C0"/>
                </a:solidFill>
                <a:latin typeface="Courier New" panose="02070309020205020404" pitchFamily="49" charset="0"/>
                <a:cs typeface="Courier New" panose="02070309020205020404" pitchFamily="49" charset="0"/>
              </a:rPr>
              <a:t>c </a:t>
            </a:r>
            <a:r>
              <a:rPr lang="en-US" altLang="en-US" sz="2000" b="1" dirty="0">
                <a:solidFill>
                  <a:srgbClr val="FF0000"/>
                </a:solidFill>
                <a:latin typeface="Courier New" panose="02070309020205020404" pitchFamily="49" charset="0"/>
                <a:cs typeface="Courier New" panose="02070309020205020404" pitchFamily="49" charset="0"/>
              </a:rPr>
              <a:t>for c in 'hello'</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g1</a:t>
            </a:r>
          </a:p>
          <a:p>
            <a:pPr marL="0" indent="0" eaLnBrk="1" hangingPunct="1">
              <a:spcBef>
                <a:spcPts val="0"/>
              </a:spcBef>
              <a:buNone/>
            </a:pPr>
            <a:r>
              <a:rPr lang="it-IT" altLang="en-US" sz="2000" dirty="0">
                <a:latin typeface="Courier New" panose="02070309020205020404" pitchFamily="49" charset="0"/>
                <a:cs typeface="Courier New" panose="02070309020205020404" pitchFamily="49" charset="0"/>
              </a:rPr>
              <a:t>&lt;generator object...&gt;</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t1 = tuple(g1)</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t1</a:t>
            </a:r>
          </a:p>
          <a:p>
            <a:pPr marL="0" indent="0" eaLnBrk="1" hangingPunct="1">
              <a:spcBef>
                <a:spcPts val="0"/>
              </a:spcBef>
              <a:buNone/>
            </a:pPr>
            <a:r>
              <a:rPr lang="it-IT" altLang="en-US" sz="2000" dirty="0">
                <a:solidFill>
                  <a:srgbClr val="0070C0"/>
                </a:solidFill>
                <a:latin typeface="Courier New" panose="02070309020205020404" pitchFamily="49" charset="0"/>
                <a:cs typeface="Courier New" panose="02070309020205020404" pitchFamily="49" charset="0"/>
              </a:rPr>
              <a:t>('h', 'e', 'l', 'l', 'o')</a:t>
            </a:r>
          </a:p>
          <a:p>
            <a:pPr marL="0" indent="0" eaLnBrk="1" hangingPunct="1">
              <a:spcBef>
                <a:spcPts val="0"/>
              </a:spcBef>
              <a:buNone/>
            </a:pPr>
            <a:r>
              <a:rPr lang="it-IT" altLang="en-US" sz="2000" b="1" dirty="0">
                <a:solidFill>
                  <a:srgbClr val="0070C0"/>
                </a:solidFill>
                <a:latin typeface="Courier New" panose="02070309020205020404" pitchFamily="49" charset="0"/>
                <a:cs typeface="Courier New" panose="02070309020205020404" pitchFamily="49" charset="0"/>
              </a:rPr>
              <a:t>&gt;&gt;&gt;</a:t>
            </a:r>
            <a:endParaRPr lang="en-US" altLang="en-US" sz="2000" b="1" dirty="0">
              <a:solidFill>
                <a:srgbClr val="0070C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F8B635B-D8D9-424D-8529-9009739B66A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20</a:t>
            </a:fld>
            <a:endParaRPr lang="en-US"/>
          </a:p>
        </p:txBody>
      </p:sp>
    </p:spTree>
    <p:extLst>
      <p:ext uri="{BB962C8B-B14F-4D97-AF65-F5344CB8AC3E}">
        <p14:creationId xmlns:p14="http://schemas.microsoft.com/office/powerpoint/2010/main" val="1299986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Displaying a Text File</a:t>
            </a:r>
          </a:p>
        </p:txBody>
      </p:sp>
      <p:sp>
        <p:nvSpPr>
          <p:cNvPr id="24579" name="Rectangle 3"/>
          <p:cNvSpPr>
            <a:spLocks noGrp="1" noChangeArrowheads="1"/>
          </p:cNvSpPr>
          <p:nvPr>
            <p:ph type="body" idx="1"/>
          </p:nvPr>
        </p:nvSpPr>
        <p:spPr/>
        <p:txBody>
          <a:bodyPr/>
          <a:lstStyle/>
          <a:p>
            <a:pPr eaLnBrk="1" hangingPunct="1"/>
            <a:r>
              <a:rPr lang="en-US" altLang="en-US" sz="2800" dirty="0"/>
              <a:t>Quick and dirty: we will do better than this</a:t>
            </a:r>
            <a:endParaRPr lang="en-US" altLang="en-US" sz="2800" b="1" dirty="0"/>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1200" b="1" dirty="0">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12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disp_file.py</a:t>
            </a: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fin = open('/</a:t>
            </a:r>
            <a:r>
              <a:rPr lang="en-US" altLang="en-US" sz="2000" i="1" dirty="0">
                <a:latin typeface="Courier New" panose="02070309020205020404" pitchFamily="49" charset="0"/>
                <a:cs typeface="Courier New" panose="02070309020205020404" pitchFamily="49" charset="0"/>
              </a:rPr>
              <a:t>path</a:t>
            </a:r>
            <a:r>
              <a:rPr lang="en-US" altLang="en-US" sz="2000" b="1" dirty="0">
                <a:latin typeface="Courier New" panose="02070309020205020404" pitchFamily="49" charset="0"/>
                <a:cs typeface="Courier New" panose="02070309020205020404" pitchFamily="49" charset="0"/>
              </a:rPr>
              <a:t>/</a:t>
            </a:r>
            <a:r>
              <a:rPr lang="en-US" altLang="en-US" sz="2000" i="1" dirty="0">
                <a:latin typeface="Courier New" panose="02070309020205020404" pitchFamily="49" charset="0"/>
                <a:cs typeface="Courier New" panose="02070309020205020404" pitchFamily="49" charset="0"/>
              </a:rPr>
              <a:t>infile</a:t>
            </a:r>
            <a:r>
              <a:rPr lang="en-US" altLang="en-US" sz="2000" b="1" dirty="0">
                <a:latin typeface="Courier New" panose="02070309020205020404" pitchFamily="49" charset="0"/>
                <a:cs typeface="Courier New" panose="02070309020205020404" pitchFamily="49" charset="0"/>
              </a:rPr>
              <a:t>.txt',   </a:t>
            </a:r>
            <a:r>
              <a:rPr lang="en-US" altLang="en-US" sz="2000" dirty="0">
                <a:latin typeface="Courier New" panose="02070309020205020404" pitchFamily="49" charset="0"/>
                <a:cs typeface="Courier New" panose="02070309020205020404" pitchFamily="49" charset="0"/>
              </a:rPr>
              <a:t># pathname</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'rt',                 </a:t>
            </a:r>
            <a:r>
              <a:rPr lang="en-US" altLang="en-US" sz="2000" dirty="0">
                <a:latin typeface="Courier New" panose="02070309020205020404" pitchFamily="49" charset="0"/>
                <a:cs typeface="Courier New" panose="02070309020205020404" pitchFamily="49" charset="0"/>
              </a:rPr>
              <a:t># read text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encoding = 'utf-8')   </a:t>
            </a:r>
            <a:r>
              <a:rPr lang="en-US" altLang="en-US" sz="2000" dirty="0">
                <a:latin typeface="Courier New" panose="02070309020205020404" pitchFamily="49" charset="0"/>
                <a:cs typeface="Courier New" panose="02070309020205020404" pitchFamily="49" charset="0"/>
              </a:rPr>
              <a:t># 8-bit Unicode</a:t>
            </a:r>
          </a:p>
          <a:p>
            <a:pPr marL="0" indent="0" eaLnBrk="1" hangingPunct="1">
              <a:spcBef>
                <a:spcPts val="0"/>
              </a:spcBef>
              <a:buNone/>
            </a:pPr>
            <a:endParaRPr lang="en-US" altLang="en-US" sz="1200" b="1"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 a file is an </a:t>
            </a:r>
            <a:r>
              <a:rPr lang="en-US" altLang="en-US" sz="2000" i="1" dirty="0" err="1">
                <a:solidFill>
                  <a:srgbClr val="FF0000"/>
                </a:solidFill>
                <a:latin typeface="Courier New" panose="02070309020205020404" pitchFamily="49" charset="0"/>
                <a:cs typeface="Courier New" panose="02070309020205020404" pitchFamily="49" charset="0"/>
              </a:rPr>
              <a:t>iterable</a:t>
            </a:r>
            <a:r>
              <a:rPr lang="en-US" altLang="en-US" sz="2000" dirty="0">
                <a:solidFill>
                  <a:srgbClr val="FF0000"/>
                </a:solidFill>
                <a:latin typeface="Courier New" panose="02070309020205020404" pitchFamily="49" charset="0"/>
                <a:cs typeface="Courier New" panose="02070309020205020404" pitchFamily="49" charset="0"/>
              </a:rPr>
              <a:t>: each item is a line</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for line in fin:  </a:t>
            </a:r>
            <a:r>
              <a:rPr lang="en-US" altLang="en-US" sz="2000" dirty="0">
                <a:solidFill>
                  <a:srgbClr val="FF0000"/>
                </a:solidFill>
                <a:latin typeface="Courier New" panose="02070309020205020404" pitchFamily="49" charset="0"/>
                <a:cs typeface="Courier New" panose="02070309020205020404" pitchFamily="49" charset="0"/>
              </a:rPr>
              <a:t># line is a str, ending in '\n'</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print(line)   </a:t>
            </a:r>
            <a:r>
              <a:rPr lang="en-US" altLang="en-US" sz="2000" i="1" dirty="0">
                <a:solidFill>
                  <a:srgbClr val="FF0000"/>
                </a:solidFill>
                <a:latin typeface="Courier New" panose="02070309020205020404" pitchFamily="49" charset="0"/>
                <a:cs typeface="Courier New" panose="02070309020205020404" pitchFamily="49" charset="0"/>
              </a:rPr>
              <a:t># double spaced???</a:t>
            </a:r>
          </a:p>
          <a:p>
            <a:pPr marL="0" indent="0" eaLnBrk="1" hangingPunct="1">
              <a:spcBef>
                <a:spcPts val="0"/>
              </a:spcBef>
              <a:buNone/>
            </a:pPr>
            <a:endParaRPr lang="en-US" altLang="en-US" sz="1200" b="1"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err="1">
                <a:solidFill>
                  <a:srgbClr val="00B050"/>
                </a:solidFill>
                <a:latin typeface="Courier New" panose="02070309020205020404" pitchFamily="49" charset="0"/>
                <a:cs typeface="Courier New" panose="02070309020205020404" pitchFamily="49" charset="0"/>
              </a:rPr>
              <a:t>fin.close</a:t>
            </a:r>
            <a:r>
              <a:rPr lang="en-US" altLang="en-US" sz="2000" b="1" dirty="0">
                <a:solidFill>
                  <a:srgbClr val="00B050"/>
                </a:solidFill>
                <a:latin typeface="Courier New" panose="02070309020205020404" pitchFamily="49" charset="0"/>
                <a:cs typeface="Courier New" panose="02070309020205020404" pitchFamily="49" charset="0"/>
              </a:rPr>
              <a:t>()</a:t>
            </a:r>
            <a:r>
              <a:rPr lang="en-US" altLang="en-US" sz="2000" dirty="0">
                <a:solidFill>
                  <a:srgbClr val="00B050"/>
                </a:solidFill>
                <a:latin typeface="Courier New" panose="02070309020205020404" pitchFamily="49" charset="0"/>
                <a:cs typeface="Courier New" panose="02070309020205020404" pitchFamily="49" charset="0"/>
              </a:rPr>
              <a:t>    # done using the file</a:t>
            </a:r>
          </a:p>
        </p:txBody>
      </p:sp>
      <p:sp>
        <p:nvSpPr>
          <p:cNvPr id="2" name="Date Placeholder 1"/>
          <p:cNvSpPr>
            <a:spLocks noGrp="1"/>
          </p:cNvSpPr>
          <p:nvPr>
            <p:ph type="dt" sz="half" idx="10"/>
          </p:nvPr>
        </p:nvSpPr>
        <p:spPr/>
        <p:txBody>
          <a:bodyPr/>
          <a:lstStyle/>
          <a:p>
            <a:pPr>
              <a:defRPr/>
            </a:pPr>
            <a:fld id="{48802935-648B-4E13-8048-C2ECCFEE6A2A}"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21</a:t>
            </a:fld>
            <a:endParaRPr lang="en-US"/>
          </a:p>
        </p:txBody>
      </p:sp>
    </p:spTree>
    <p:extLst>
      <p:ext uri="{BB962C8B-B14F-4D97-AF65-F5344CB8AC3E}">
        <p14:creationId xmlns:p14="http://schemas.microsoft.com/office/powerpoint/2010/main" val="29983579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Eliminating the Newline</a:t>
            </a:r>
          </a:p>
        </p:txBody>
      </p:sp>
      <p:sp>
        <p:nvSpPr>
          <p:cNvPr id="24579" name="Rectangle 3"/>
          <p:cNvSpPr>
            <a:spLocks noGrp="1" noChangeArrowheads="1"/>
          </p:cNvSpPr>
          <p:nvPr>
            <p:ph type="body" idx="1"/>
          </p:nvPr>
        </p:nvSpPr>
        <p:spPr/>
        <p:txBody>
          <a:bodyPr/>
          <a:lstStyle/>
          <a:p>
            <a:pPr eaLnBrk="1" hangingPunct="1"/>
            <a:r>
              <a:rPr lang="en-US" altLang="en-US" sz="2800" dirty="0"/>
              <a:t>One way to eliminate the </a:t>
            </a:r>
            <a:r>
              <a:rPr lang="en-US" altLang="en-US" sz="2800" b="1" dirty="0"/>
              <a:t>'\n'</a:t>
            </a:r>
            <a:r>
              <a:rPr lang="en-US" altLang="en-US" sz="2800" dirty="0"/>
              <a:t> from the end of the input line is:</a:t>
            </a:r>
            <a:endParaRPr lang="en-US" altLang="en-US" sz="2800" b="1" dirty="0"/>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disp_file_nonl.py</a:t>
            </a: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fin = open('/</a:t>
            </a:r>
            <a:r>
              <a:rPr lang="en-US" altLang="en-US" sz="2000" i="1" dirty="0">
                <a:latin typeface="Courier New" panose="02070309020205020404" pitchFamily="49" charset="0"/>
                <a:cs typeface="Courier New" panose="02070309020205020404" pitchFamily="49" charset="0"/>
              </a:rPr>
              <a:t>path</a:t>
            </a:r>
            <a:r>
              <a:rPr lang="en-US" altLang="en-US" sz="2000" b="1" dirty="0">
                <a:latin typeface="Courier New" panose="02070309020205020404" pitchFamily="49" charset="0"/>
                <a:cs typeface="Courier New" panose="02070309020205020404" pitchFamily="49" charset="0"/>
              </a:rPr>
              <a:t>/</a:t>
            </a:r>
            <a:r>
              <a:rPr lang="en-US" altLang="en-US" sz="2000" i="1" dirty="0">
                <a:latin typeface="Courier New" panose="02070309020205020404" pitchFamily="49" charset="0"/>
                <a:cs typeface="Courier New" panose="02070309020205020404" pitchFamily="49" charset="0"/>
              </a:rPr>
              <a:t>infile</a:t>
            </a:r>
            <a:r>
              <a:rPr lang="en-US" altLang="en-US" sz="2000" b="1" dirty="0">
                <a:latin typeface="Courier New" panose="02070309020205020404" pitchFamily="49" charset="0"/>
                <a:cs typeface="Courier New" panose="02070309020205020404" pitchFamily="49" charset="0"/>
              </a:rPr>
              <a:t>.txt',   </a:t>
            </a:r>
            <a:r>
              <a:rPr lang="en-US" altLang="en-US" sz="2000" dirty="0">
                <a:latin typeface="Courier New" panose="02070309020205020404" pitchFamily="49" charset="0"/>
                <a:cs typeface="Courier New" panose="02070309020205020404" pitchFamily="49" charset="0"/>
              </a:rPr>
              <a:t># pathname</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'rt',                 </a:t>
            </a:r>
            <a:r>
              <a:rPr lang="en-US" altLang="en-US" sz="2000" dirty="0">
                <a:latin typeface="Courier New" panose="02070309020205020404" pitchFamily="49" charset="0"/>
                <a:cs typeface="Courier New" panose="02070309020205020404" pitchFamily="49" charset="0"/>
              </a:rPr>
              <a:t># read text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encoding = 'utf-8')   </a:t>
            </a:r>
            <a:r>
              <a:rPr lang="en-US" altLang="en-US" sz="2000" dirty="0">
                <a:latin typeface="Courier New" panose="02070309020205020404" pitchFamily="49" charset="0"/>
                <a:cs typeface="Courier New" panose="02070309020205020404" pitchFamily="49" charset="0"/>
              </a:rPr>
              <a:t># 8-bit Unicode</a:t>
            </a:r>
          </a:p>
          <a:p>
            <a:pPr marL="0" indent="0" eaLnBrk="1" hangingPunct="1">
              <a:spcBef>
                <a:spcPts val="0"/>
              </a:spcBef>
              <a:buNone/>
            </a:pPr>
            <a:endParaRPr lang="en-US" altLang="en-US" sz="800" b="1"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for line in fin:     </a:t>
            </a:r>
            <a:r>
              <a:rPr lang="en-US" altLang="en-US" sz="2000" dirty="0">
                <a:latin typeface="Courier New" panose="02070309020205020404" pitchFamily="49" charset="0"/>
                <a:cs typeface="Courier New" panose="02070309020205020404" pitchFamily="49" charset="0"/>
              </a:rPr>
              <a:t># str ending in '\n'</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line = line[:-1] </a:t>
            </a:r>
            <a:r>
              <a:rPr lang="en-US" altLang="en-US" sz="2000" dirty="0">
                <a:solidFill>
                  <a:srgbClr val="FF0000"/>
                </a:solidFill>
                <a:latin typeface="Courier New" panose="02070309020205020404" pitchFamily="49" charset="0"/>
                <a:cs typeface="Courier New" panose="02070309020205020404" pitchFamily="49" charset="0"/>
              </a:rPr>
              <a:t># to but not including '\n'</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print(line)      </a:t>
            </a:r>
            <a:r>
              <a:rPr lang="en-US" altLang="en-US" sz="2000" dirty="0">
                <a:latin typeface="Courier New" panose="02070309020205020404" pitchFamily="49" charset="0"/>
                <a:cs typeface="Courier New" panose="02070309020205020404" pitchFamily="49" charset="0"/>
              </a:rPr>
              <a:t># single spaced</a:t>
            </a: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err="1">
                <a:latin typeface="Courier New" panose="02070309020205020404" pitchFamily="49" charset="0"/>
                <a:cs typeface="Courier New" panose="02070309020205020404" pitchFamily="49" charset="0"/>
              </a:rPr>
              <a:t>fin.close</a:t>
            </a:r>
            <a:r>
              <a:rPr lang="en-US" altLang="en-US" sz="2000" b="1" dirty="0">
                <a:latin typeface="Courier New" panose="02070309020205020404" pitchFamily="49" charset="0"/>
                <a:cs typeface="Courier New" panose="02070309020205020404" pitchFamily="49" charset="0"/>
              </a:rPr>
              <a:t>()</a:t>
            </a:r>
            <a:r>
              <a:rPr lang="en-US" altLang="en-US" sz="2000" dirty="0">
                <a:latin typeface="Courier New" panose="02070309020205020404" pitchFamily="49" charset="0"/>
                <a:cs typeface="Courier New" panose="02070309020205020404" pitchFamily="49" charset="0"/>
              </a:rPr>
              <a:t>    # done using the file</a:t>
            </a:r>
          </a:p>
        </p:txBody>
      </p:sp>
      <p:sp>
        <p:nvSpPr>
          <p:cNvPr id="2" name="Date Placeholder 1"/>
          <p:cNvSpPr>
            <a:spLocks noGrp="1"/>
          </p:cNvSpPr>
          <p:nvPr>
            <p:ph type="dt" sz="half" idx="10"/>
          </p:nvPr>
        </p:nvSpPr>
        <p:spPr/>
        <p:txBody>
          <a:bodyPr/>
          <a:lstStyle/>
          <a:p>
            <a:pPr>
              <a:defRPr/>
            </a:pPr>
            <a:fld id="{48802935-648B-4E13-8048-C2ECCFEE6A2A}"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22</a:t>
            </a:fld>
            <a:endParaRPr lang="en-US"/>
          </a:p>
        </p:txBody>
      </p:sp>
    </p:spTree>
    <p:extLst>
      <p:ext uri="{BB962C8B-B14F-4D97-AF65-F5344CB8AC3E}">
        <p14:creationId xmlns:p14="http://schemas.microsoft.com/office/powerpoint/2010/main" val="4219565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Creating an Output File</a:t>
            </a:r>
          </a:p>
        </p:txBody>
      </p:sp>
      <p:sp>
        <p:nvSpPr>
          <p:cNvPr id="24579" name="Rectangle 3"/>
          <p:cNvSpPr>
            <a:spLocks noGrp="1" noChangeArrowheads="1"/>
          </p:cNvSpPr>
          <p:nvPr>
            <p:ph type="body" idx="1"/>
          </p:nvPr>
        </p:nvSpPr>
        <p:spPr/>
        <p:txBody>
          <a:bodyPr/>
          <a:lstStyle/>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create_file.py</a:t>
            </a: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err="1">
                <a:latin typeface="Courier New" panose="02070309020205020404" pitchFamily="49" charset="0"/>
                <a:cs typeface="Courier New" panose="02070309020205020404" pitchFamily="49" charset="0"/>
              </a:rPr>
              <a:t>fout</a:t>
            </a:r>
            <a:r>
              <a:rPr lang="en-US" altLang="en-US" sz="2000" b="1" dirty="0">
                <a:latin typeface="Courier New" panose="02070309020205020404" pitchFamily="49" charset="0"/>
                <a:cs typeface="Courier New" panose="02070309020205020404" pitchFamily="49" charset="0"/>
              </a:rPr>
              <a:t> = open('/</a:t>
            </a:r>
            <a:r>
              <a:rPr lang="en-US" altLang="en-US" sz="2000" i="1" dirty="0">
                <a:latin typeface="Courier New" panose="02070309020205020404" pitchFamily="49" charset="0"/>
                <a:cs typeface="Courier New" panose="02070309020205020404" pitchFamily="49" charset="0"/>
              </a:rPr>
              <a:t>path</a:t>
            </a:r>
            <a:r>
              <a:rPr lang="en-US" altLang="en-US" sz="2000" b="1" dirty="0">
                <a:latin typeface="Courier New" panose="02070309020205020404" pitchFamily="49" charset="0"/>
                <a:cs typeface="Courier New" panose="02070309020205020404" pitchFamily="49" charset="0"/>
              </a:rPr>
              <a:t>/</a:t>
            </a:r>
            <a:r>
              <a:rPr lang="en-US" altLang="en-US" sz="2000" i="1" dirty="0">
                <a:latin typeface="Courier New" panose="02070309020205020404" pitchFamily="49" charset="0"/>
                <a:cs typeface="Courier New" panose="02070309020205020404" pitchFamily="49" charset="0"/>
              </a:rPr>
              <a:t>outfile</a:t>
            </a:r>
            <a:r>
              <a:rPr lang="en-US" altLang="en-US" sz="2000" b="1" dirty="0">
                <a:latin typeface="Courier New" panose="02070309020205020404" pitchFamily="49" charset="0"/>
                <a:cs typeface="Courier New" panose="02070309020205020404" pitchFamily="49" charset="0"/>
              </a:rPr>
              <a:t>.txt',  </a:t>
            </a:r>
            <a:r>
              <a:rPr lang="en-US" altLang="en-US" sz="2000" dirty="0">
                <a:latin typeface="Courier New" panose="02070309020205020404" pitchFamily="49" charset="0"/>
                <a:cs typeface="Courier New" panose="02070309020205020404" pitchFamily="49" charset="0"/>
              </a:rPr>
              <a:t># pathname</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a:t>
            </a:r>
            <a:r>
              <a:rPr lang="en-US" altLang="en-US" sz="2000" b="1" dirty="0" err="1">
                <a:solidFill>
                  <a:srgbClr val="FF0000"/>
                </a:solidFill>
                <a:latin typeface="Courier New" panose="02070309020205020404" pitchFamily="49" charset="0"/>
                <a:cs typeface="Courier New" panose="02070309020205020404" pitchFamily="49" charset="0"/>
              </a:rPr>
              <a:t>w</a:t>
            </a:r>
            <a:r>
              <a:rPr lang="en-US" altLang="en-US" sz="2000" b="1" dirty="0" err="1">
                <a:latin typeface="Courier New" panose="02070309020205020404" pitchFamily="49" charset="0"/>
                <a:cs typeface="Courier New" panose="02070309020205020404" pitchFamily="49" charset="0"/>
              </a:rPr>
              <a:t>t</a:t>
            </a:r>
            <a:r>
              <a:rPr lang="en-US" altLang="en-US" sz="2000" b="1" dirty="0">
                <a:latin typeface="Courier New" panose="02070309020205020404" pitchFamily="49" charset="0"/>
                <a:cs typeface="Courier New" panose="02070309020205020404" pitchFamily="49" charset="0"/>
              </a:rPr>
              <a:t>',                 </a:t>
            </a:r>
            <a:r>
              <a:rPr lang="en-US" altLang="en-US" sz="2000" dirty="0">
                <a:latin typeface="Courier New" panose="02070309020205020404" pitchFamily="49" charset="0"/>
                <a:cs typeface="Courier New" panose="02070309020205020404" pitchFamily="49" charset="0"/>
              </a:rPr>
              <a:t># </a:t>
            </a:r>
            <a:r>
              <a:rPr lang="en-US" altLang="en-US" sz="2000" dirty="0">
                <a:solidFill>
                  <a:srgbClr val="FF0000"/>
                </a:solidFill>
                <a:latin typeface="Courier New" panose="02070309020205020404" pitchFamily="49" charset="0"/>
                <a:cs typeface="Courier New" panose="02070309020205020404" pitchFamily="49" charset="0"/>
              </a:rPr>
              <a:t>write</a:t>
            </a:r>
            <a:r>
              <a:rPr lang="en-US" altLang="en-US" sz="2000" dirty="0">
                <a:latin typeface="Courier New" panose="02070309020205020404" pitchFamily="49" charset="0"/>
                <a:cs typeface="Courier New" panose="02070309020205020404" pitchFamily="49" charset="0"/>
              </a:rPr>
              <a:t> text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encoding = 'utf-8')   </a:t>
            </a:r>
            <a:r>
              <a:rPr lang="en-US" altLang="en-US" sz="2000" dirty="0">
                <a:latin typeface="Courier New" panose="02070309020205020404" pitchFamily="49" charset="0"/>
                <a:cs typeface="Courier New" panose="02070309020205020404" pitchFamily="49" charset="0"/>
              </a:rPr>
              <a:t># 8-bit Unicode</a:t>
            </a:r>
          </a:p>
          <a:p>
            <a:pPr marL="0" indent="0" eaLnBrk="1" hangingPunct="1">
              <a:spcBef>
                <a:spcPts val="0"/>
              </a:spcBef>
              <a:buNone/>
            </a:pPr>
            <a:endParaRPr lang="en-US" altLang="en-US" sz="800" b="1"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err="1">
                <a:solidFill>
                  <a:srgbClr val="FF0000"/>
                </a:solidFill>
                <a:latin typeface="Courier New" panose="02070309020205020404" pitchFamily="49" charset="0"/>
                <a:cs typeface="Courier New" panose="02070309020205020404" pitchFamily="49" charset="0"/>
              </a:rPr>
              <a:t>fout.write</a:t>
            </a:r>
            <a:r>
              <a:rPr lang="en-US" altLang="en-US" sz="2000" b="1" dirty="0">
                <a:solidFill>
                  <a:srgbClr val="FF0000"/>
                </a:solidFill>
                <a:latin typeface="Courier New" panose="02070309020205020404" pitchFamily="49" charset="0"/>
                <a:cs typeface="Courier New" panose="02070309020205020404" pitchFamily="49" charset="0"/>
              </a:rPr>
              <a:t>('this is an\</a:t>
            </a:r>
            <a:r>
              <a:rPr lang="en-US" altLang="en-US" sz="2000" b="1" dirty="0" err="1">
                <a:solidFill>
                  <a:srgbClr val="FF0000"/>
                </a:solidFill>
                <a:latin typeface="Courier New" panose="02070309020205020404" pitchFamily="49" charset="0"/>
                <a:cs typeface="Courier New" panose="02070309020205020404" pitchFamily="49" charset="0"/>
              </a:rPr>
              <a:t>noutput</a:t>
            </a:r>
            <a:r>
              <a:rPr lang="en-US" altLang="en-US" sz="2000" b="1" dirty="0">
                <a:solidFill>
                  <a:srgbClr val="FF0000"/>
                </a:solidFill>
                <a:latin typeface="Courier New" panose="02070309020205020404" pitchFamily="49" charset="0"/>
                <a:cs typeface="Courier New" panose="02070309020205020404" pitchFamily="49" charset="0"/>
              </a:rPr>
              <a:t> file\n'</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'containing\</a:t>
            </a:r>
            <a:r>
              <a:rPr lang="en-US" altLang="en-US" sz="2000" b="1" dirty="0" err="1">
                <a:solidFill>
                  <a:srgbClr val="FF0000"/>
                </a:solidFill>
                <a:latin typeface="Courier New" panose="02070309020205020404" pitchFamily="49" charset="0"/>
                <a:cs typeface="Courier New" panose="02070309020205020404" pitchFamily="49" charset="0"/>
              </a:rPr>
              <a:t>nfour</a:t>
            </a:r>
            <a:r>
              <a:rPr lang="en-US" altLang="en-US" sz="2000" b="1" dirty="0">
                <a:solidFill>
                  <a:srgbClr val="FF0000"/>
                </a:solidFill>
                <a:latin typeface="Courier New" panose="02070309020205020404" pitchFamily="49" charset="0"/>
                <a:cs typeface="Courier New" panose="02070309020205020404" pitchFamily="49" charset="0"/>
              </a:rPr>
              <a:t> lines\n')</a:t>
            </a:r>
            <a:endParaRPr lang="en-US" altLang="en-US" sz="2000"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800" b="1"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err="1">
                <a:latin typeface="Courier New" panose="02070309020205020404" pitchFamily="49" charset="0"/>
                <a:cs typeface="Courier New" panose="02070309020205020404" pitchFamily="49" charset="0"/>
              </a:rPr>
              <a:t>fout.close</a:t>
            </a:r>
            <a:r>
              <a:rPr lang="en-US" altLang="en-US" sz="2000" b="1" dirty="0">
                <a:latin typeface="Courier New" panose="02070309020205020404" pitchFamily="49" charset="0"/>
                <a:cs typeface="Courier New" panose="02070309020205020404" pitchFamily="49" charset="0"/>
              </a:rPr>
              <a:t>()</a:t>
            </a:r>
            <a:r>
              <a:rPr lang="en-US" altLang="en-US" sz="2000" dirty="0">
                <a:latin typeface="Courier New" panose="02070309020205020404" pitchFamily="49" charset="0"/>
                <a:cs typeface="Courier New" panose="02070309020205020404" pitchFamily="49" charset="0"/>
              </a:rPr>
              <a:t>    # done using the file</a:t>
            </a:r>
          </a:p>
        </p:txBody>
      </p:sp>
      <p:sp>
        <p:nvSpPr>
          <p:cNvPr id="2" name="Date Placeholder 1"/>
          <p:cNvSpPr>
            <a:spLocks noGrp="1"/>
          </p:cNvSpPr>
          <p:nvPr>
            <p:ph type="dt" sz="half" idx="10"/>
          </p:nvPr>
        </p:nvSpPr>
        <p:spPr/>
        <p:txBody>
          <a:bodyPr/>
          <a:lstStyle/>
          <a:p>
            <a:pPr>
              <a:defRPr/>
            </a:pPr>
            <a:fld id="{48802935-648B-4E13-8048-C2ECCFEE6A2A}"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23</a:t>
            </a:fld>
            <a:endParaRPr lang="en-US"/>
          </a:p>
        </p:txBody>
      </p:sp>
    </p:spTree>
    <p:extLst>
      <p:ext uri="{BB962C8B-B14F-4D97-AF65-F5344CB8AC3E}">
        <p14:creationId xmlns:p14="http://schemas.microsoft.com/office/powerpoint/2010/main" val="4162558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Defining and Calling Functions</a:t>
            </a:r>
          </a:p>
        </p:txBody>
      </p:sp>
      <p:sp>
        <p:nvSpPr>
          <p:cNvPr id="24579" name="Rectangle 3"/>
          <p:cNvSpPr>
            <a:spLocks noGrp="1" noChangeArrowheads="1"/>
          </p:cNvSpPr>
          <p:nvPr>
            <p:ph type="body" idx="1"/>
          </p:nvPr>
        </p:nvSpPr>
        <p:spPr/>
        <p:txBody>
          <a:bodyPr/>
          <a:lstStyle/>
          <a:p>
            <a:pPr eaLnBrk="1" hangingPunct="1"/>
            <a:r>
              <a:rPr lang="en-US" altLang="en-US" sz="2800" dirty="0"/>
              <a:t>A function definition has this form, in which</a:t>
            </a:r>
          </a:p>
          <a:p>
            <a:pPr lvl="1" eaLnBrk="1" hangingPunct="1"/>
            <a:r>
              <a:rPr lang="en-US" altLang="en-US" sz="2400" i="1" dirty="0"/>
              <a:t>p1, p2, ...,</a:t>
            </a:r>
            <a:r>
              <a:rPr lang="en-US" altLang="en-US" sz="2400" dirty="0"/>
              <a:t> are optional </a:t>
            </a:r>
            <a:r>
              <a:rPr lang="en-US" altLang="en-US" sz="2400" i="1" dirty="0"/>
              <a:t>positional</a:t>
            </a:r>
            <a:r>
              <a:rPr lang="en-US" altLang="en-US" sz="2400" dirty="0"/>
              <a:t> parameters</a:t>
            </a:r>
          </a:p>
          <a:p>
            <a:pPr lvl="2" eaLnBrk="1" hangingPunct="1"/>
            <a:r>
              <a:rPr lang="en-US" altLang="en-US" sz="2000" dirty="0"/>
              <a:t>Argument values are matched up left to right</a:t>
            </a:r>
          </a:p>
          <a:p>
            <a:pPr lvl="1" eaLnBrk="1" hangingPunct="1"/>
            <a:r>
              <a:rPr lang="en-US" altLang="en-US" sz="2400" i="1" dirty="0"/>
              <a:t>k1=v1, k2=v2, ...</a:t>
            </a:r>
            <a:r>
              <a:rPr lang="en-US" altLang="en-US" sz="2400" dirty="0"/>
              <a:t> are optional </a:t>
            </a:r>
            <a:r>
              <a:rPr lang="en-US" altLang="en-US" sz="2400" i="1" dirty="0"/>
              <a:t>keyword</a:t>
            </a:r>
            <a:r>
              <a:rPr lang="en-US" altLang="en-US" sz="2400" dirty="0"/>
              <a:t> parameters and corresponding default </a:t>
            </a:r>
            <a:r>
              <a:rPr lang="en-US" altLang="en-US" sz="2400" i="1" dirty="0"/>
              <a:t>values</a:t>
            </a:r>
          </a:p>
          <a:p>
            <a:pPr lvl="1" eaLnBrk="1" hangingPunct="1"/>
            <a:r>
              <a:rPr lang="en-US" altLang="en-US" sz="2400" dirty="0"/>
              <a:t>Positional parameters (if any) must precede keyword parameters (if any)</a:t>
            </a: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def </a:t>
            </a:r>
            <a:r>
              <a:rPr lang="en-US" altLang="en-US" sz="2000" i="1" dirty="0" err="1">
                <a:latin typeface="Courier New" panose="02070309020205020404" pitchFamily="49" charset="0"/>
                <a:cs typeface="Courier New" panose="02070309020205020404" pitchFamily="49" charset="0"/>
              </a:rPr>
              <a:t>func_name</a:t>
            </a:r>
            <a:r>
              <a:rPr lang="en-US" altLang="en-US" sz="2000" b="1" dirty="0">
                <a:latin typeface="Courier New" panose="02070309020205020404" pitchFamily="49" charset="0"/>
                <a:cs typeface="Courier New" panose="02070309020205020404" pitchFamily="49" charset="0"/>
              </a:rPr>
              <a:t>(</a:t>
            </a:r>
            <a:r>
              <a:rPr lang="en-US" altLang="en-US" sz="2000" i="1" dirty="0">
                <a:latin typeface="Courier New" panose="02070309020205020404" pitchFamily="49" charset="0"/>
                <a:cs typeface="Courier New" panose="02070309020205020404" pitchFamily="49" charset="0"/>
              </a:rPr>
              <a:t>p1</a:t>
            </a:r>
            <a:r>
              <a:rPr lang="en-US" altLang="en-US" sz="2000" b="1" dirty="0">
                <a:latin typeface="Courier New" panose="02070309020205020404" pitchFamily="49" charset="0"/>
                <a:cs typeface="Courier New" panose="02070309020205020404" pitchFamily="49" charset="0"/>
              </a:rPr>
              <a:t>,</a:t>
            </a:r>
            <a:r>
              <a:rPr lang="en-US" altLang="en-US" sz="2000" i="1" dirty="0">
                <a:latin typeface="Courier New" panose="02070309020205020404" pitchFamily="49" charset="0"/>
                <a:cs typeface="Courier New" panose="02070309020205020404" pitchFamily="49" charset="0"/>
              </a:rPr>
              <a:t> p2</a:t>
            </a:r>
            <a:r>
              <a:rPr lang="en-US" altLang="en-US" sz="2000" b="1" dirty="0">
                <a:latin typeface="Courier New" panose="02070309020205020404" pitchFamily="49" charset="0"/>
                <a:cs typeface="Courier New" panose="02070309020205020404" pitchFamily="49" charset="0"/>
              </a:rPr>
              <a:t>,</a:t>
            </a:r>
            <a:r>
              <a:rPr lang="en-US" altLang="en-US" sz="2000" i="1"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a:t>
            </a:r>
            <a:r>
              <a:rPr lang="en-US" altLang="en-US" sz="2000" i="1" dirty="0">
                <a:latin typeface="Courier New" panose="02070309020205020404" pitchFamily="49" charset="0"/>
                <a:cs typeface="Courier New" panose="02070309020205020404" pitchFamily="49" charset="0"/>
              </a:rPr>
              <a:t> n1</a:t>
            </a:r>
            <a:r>
              <a:rPr lang="en-US" altLang="en-US" sz="2000" b="1" dirty="0">
                <a:latin typeface="Courier New" panose="02070309020205020404" pitchFamily="49" charset="0"/>
                <a:cs typeface="Courier New" panose="02070309020205020404" pitchFamily="49" charset="0"/>
              </a:rPr>
              <a:t>=</a:t>
            </a:r>
            <a:r>
              <a:rPr lang="en-US" altLang="en-US" sz="2000" i="1" dirty="0">
                <a:latin typeface="Courier New" panose="02070309020205020404" pitchFamily="49" charset="0"/>
                <a:cs typeface="Courier New" panose="02070309020205020404" pitchFamily="49" charset="0"/>
              </a:rPr>
              <a:t>v1</a:t>
            </a:r>
            <a:r>
              <a:rPr lang="en-US" altLang="en-US" sz="2000" b="1" dirty="0">
                <a:latin typeface="Courier New" panose="02070309020205020404" pitchFamily="49" charset="0"/>
                <a:cs typeface="Courier New" panose="02070309020205020404" pitchFamily="49" charset="0"/>
              </a:rPr>
              <a:t>,</a:t>
            </a:r>
            <a:r>
              <a:rPr lang="en-US" altLang="en-US" sz="2000" i="1" dirty="0">
                <a:latin typeface="Courier New" panose="02070309020205020404" pitchFamily="49" charset="0"/>
                <a:cs typeface="Courier New" panose="02070309020205020404" pitchFamily="49" charset="0"/>
              </a:rPr>
              <a:t> n2</a:t>
            </a:r>
            <a:r>
              <a:rPr lang="en-US" altLang="en-US" sz="2000" b="1" dirty="0">
                <a:latin typeface="Courier New" panose="02070309020205020404" pitchFamily="49" charset="0"/>
                <a:cs typeface="Courier New" panose="02070309020205020404" pitchFamily="49" charset="0"/>
              </a:rPr>
              <a:t>=</a:t>
            </a:r>
            <a:r>
              <a:rPr lang="en-US" altLang="en-US" sz="2000" i="1" dirty="0">
                <a:latin typeface="Courier New" panose="02070309020205020404" pitchFamily="49" charset="0"/>
                <a:cs typeface="Courier New" panose="02070309020205020404" pitchFamily="49" charset="0"/>
              </a:rPr>
              <a:t>v2</a:t>
            </a:r>
            <a:r>
              <a:rPr lang="en-US" altLang="en-US" sz="2000" b="1" dirty="0">
                <a:latin typeface="Courier New" panose="02070309020205020404" pitchFamily="49" charset="0"/>
                <a:cs typeface="Courier New" panose="02070309020205020404" pitchFamily="49" charset="0"/>
              </a:rPr>
              <a:t>,</a:t>
            </a:r>
            <a:r>
              <a:rPr lang="en-US" altLang="en-US" sz="2000" i="1"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    </a:t>
            </a:r>
            <a:r>
              <a:rPr lang="en-US" altLang="en-US" sz="2000" dirty="0">
                <a:solidFill>
                  <a:srgbClr val="0070C0"/>
                </a:solidFill>
                <a:latin typeface="Courier New" panose="02070309020205020404" pitchFamily="49" charset="0"/>
                <a:cs typeface="Courier New" panose="02070309020205020404" pitchFamily="49" charset="0"/>
              </a:rPr>
              <a:t>[</a:t>
            </a:r>
            <a:r>
              <a:rPr lang="en-US" altLang="en-US" sz="2000" i="1" dirty="0">
                <a:solidFill>
                  <a:srgbClr val="0070C0"/>
                </a:solidFill>
                <a:latin typeface="Courier New" panose="02070309020205020404" pitchFamily="49" charset="0"/>
                <a:cs typeface="Courier New" panose="02070309020205020404" pitchFamily="49" charset="0"/>
              </a:rPr>
              <a:t>optional docstring</a:t>
            </a:r>
            <a:r>
              <a:rPr lang="en-US" altLang="en-US" sz="2000" dirty="0">
                <a:solidFill>
                  <a:srgbClr val="0070C0"/>
                </a:solidFill>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i="1" dirty="0">
                <a:solidFill>
                  <a:srgbClr val="FF0000"/>
                </a:solidFill>
                <a:latin typeface="Courier New" panose="02070309020205020404" pitchFamily="49" charset="0"/>
                <a:cs typeface="Courier New" panose="02070309020205020404" pitchFamily="49" charset="0"/>
              </a:rPr>
              <a:t>    </a:t>
            </a:r>
            <a:r>
              <a:rPr lang="en-US" altLang="en-US" sz="2000" i="1" dirty="0" err="1">
                <a:solidFill>
                  <a:srgbClr val="FF0000"/>
                </a:solidFill>
                <a:latin typeface="Courier New" panose="02070309020205020404" pitchFamily="49" charset="0"/>
                <a:cs typeface="Courier New" panose="02070309020205020404" pitchFamily="49" charset="0"/>
              </a:rPr>
              <a:t>stmt</a:t>
            </a:r>
            <a:endParaRPr lang="en-US" altLang="en-US" sz="2000" i="1" dirty="0">
              <a:solidFill>
                <a:srgbClr val="FF0000"/>
              </a:solidFill>
              <a:latin typeface="Courier New" panose="02070309020205020404" pitchFamily="49" charset="0"/>
              <a:cs typeface="Courier New" panose="02070309020205020404" pitchFamily="49" charset="0"/>
            </a:endParaRPr>
          </a:p>
          <a:p>
            <a:pPr marL="0" indent="0" eaLnBrk="1" hangingPunct="1">
              <a:lnSpc>
                <a:spcPts val="10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a:t>
            </a:r>
          </a:p>
          <a:p>
            <a:pPr marL="0" indent="0" eaLnBrk="1" hangingPunct="1">
              <a:lnSpc>
                <a:spcPts val="1000"/>
              </a:lnSpc>
              <a:spcBef>
                <a:spcPts val="0"/>
              </a:spcBef>
              <a:buNone/>
            </a:pPr>
            <a:endParaRPr lang="en-US" altLang="en-US" sz="2000" b="1"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62E31F4D-FC15-435D-8EC9-23F2BED9C4D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24</a:t>
            </a:fld>
            <a:endParaRPr lang="en-US"/>
          </a:p>
        </p:txBody>
      </p:sp>
    </p:spTree>
    <p:extLst>
      <p:ext uri="{BB962C8B-B14F-4D97-AF65-F5344CB8AC3E}">
        <p14:creationId xmlns:p14="http://schemas.microsoft.com/office/powerpoint/2010/main" val="630849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Defining and Calling Functions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r>
              <a:rPr lang="en-US" altLang="en-US" sz="2800" dirty="0"/>
              <a:t>For example:</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200" b="1" dirty="0">
                <a:latin typeface="Courier New" panose="02070309020205020404" pitchFamily="49" charset="0"/>
                <a:cs typeface="Courier New" panose="02070309020205020404" pitchFamily="49" charset="0"/>
              </a:rPr>
              <a:t>&gt;&gt;&gt; def </a:t>
            </a:r>
            <a:r>
              <a:rPr lang="en-US" altLang="en-US" sz="2200" b="1" dirty="0" err="1">
                <a:latin typeface="Courier New" panose="02070309020205020404" pitchFamily="49" charset="0"/>
                <a:cs typeface="Courier New" panose="02070309020205020404" pitchFamily="49" charset="0"/>
              </a:rPr>
              <a:t>print_pow</a:t>
            </a:r>
            <a:r>
              <a:rPr lang="en-US" altLang="en-US" sz="2200" b="1" dirty="0">
                <a:latin typeface="Courier New" panose="02070309020205020404" pitchFamily="49" charset="0"/>
                <a:cs typeface="Courier New" panose="02070309020205020404" pitchFamily="49" charset="0"/>
              </a:rPr>
              <a:t>(x, y=2):</a:t>
            </a:r>
          </a:p>
          <a:p>
            <a:pPr marL="0" indent="0" eaLnBrk="1" hangingPunct="1">
              <a:spcBef>
                <a:spcPts val="0"/>
              </a:spcBef>
              <a:buNone/>
            </a:pPr>
            <a:r>
              <a:rPr lang="en-US" altLang="en-US" sz="2200" b="1" dirty="0">
                <a:latin typeface="Courier New" panose="02070309020205020404" pitchFamily="49" charset="0"/>
                <a:cs typeface="Courier New" panose="02070309020205020404" pitchFamily="49" charset="0"/>
              </a:rPr>
              <a:t>        '''display x to the y power'''</a:t>
            </a:r>
          </a:p>
          <a:p>
            <a:pPr marL="0" indent="0" eaLnBrk="1" hangingPunct="1">
              <a:spcBef>
                <a:spcPts val="0"/>
              </a:spcBef>
              <a:buNone/>
            </a:pPr>
            <a:r>
              <a:rPr lang="en-US" altLang="en-US" sz="2200" i="1" dirty="0">
                <a:latin typeface="Courier New" panose="02070309020205020404" pitchFamily="49" charset="0"/>
                <a:cs typeface="Courier New" panose="02070309020205020404" pitchFamily="49" charset="0"/>
              </a:rPr>
              <a:t>        </a:t>
            </a:r>
            <a:r>
              <a:rPr lang="en-US" altLang="en-US" sz="2200" b="1" dirty="0">
                <a:latin typeface="Courier New" panose="02070309020205020404" pitchFamily="49" charset="0"/>
                <a:cs typeface="Courier New" panose="02070309020205020404" pitchFamily="49" charset="0"/>
              </a:rPr>
              <a:t>print(x ** y)   </a:t>
            </a:r>
            <a:r>
              <a:rPr lang="en-US" altLang="en-US" sz="2200" dirty="0">
                <a:latin typeface="Courier New" panose="02070309020205020404" pitchFamily="49" charset="0"/>
                <a:cs typeface="Courier New" panose="02070309020205020404" pitchFamily="49" charset="0"/>
              </a:rPr>
              <a:t># x ** 2 by default</a:t>
            </a:r>
          </a:p>
          <a:p>
            <a:pPr marL="0" indent="0" eaLnBrk="1" hangingPunct="1">
              <a:spcBef>
                <a:spcPts val="0"/>
              </a:spcBef>
              <a:buNone/>
            </a:pPr>
            <a:endParaRPr lang="en-US" altLang="en-US" sz="22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200" b="1" dirty="0">
                <a:solidFill>
                  <a:srgbClr val="0070C0"/>
                </a:solidFill>
                <a:latin typeface="Courier New" panose="02070309020205020404" pitchFamily="49" charset="0"/>
                <a:cs typeface="Courier New" panose="02070309020205020404" pitchFamily="49" charset="0"/>
              </a:rPr>
              <a:t>&gt;&gt;&gt; </a:t>
            </a:r>
            <a:r>
              <a:rPr lang="en-US" altLang="en-US" sz="2200" b="1" dirty="0" err="1">
                <a:solidFill>
                  <a:srgbClr val="0070C0"/>
                </a:solidFill>
                <a:latin typeface="Courier New" panose="02070309020205020404" pitchFamily="49" charset="0"/>
                <a:cs typeface="Courier New" panose="02070309020205020404" pitchFamily="49" charset="0"/>
              </a:rPr>
              <a:t>print_pow</a:t>
            </a:r>
            <a:r>
              <a:rPr lang="en-US" altLang="en-US" sz="2200" b="1" dirty="0">
                <a:solidFill>
                  <a:srgbClr val="0070C0"/>
                </a:solidFill>
                <a:latin typeface="Courier New" panose="02070309020205020404" pitchFamily="49" charset="0"/>
                <a:cs typeface="Courier New" panose="02070309020205020404" pitchFamily="49" charset="0"/>
              </a:rPr>
              <a:t>(5)</a:t>
            </a:r>
          </a:p>
          <a:p>
            <a:pPr marL="0" indent="0" eaLnBrk="1" hangingPunct="1">
              <a:spcBef>
                <a:spcPts val="0"/>
              </a:spcBef>
              <a:buNone/>
            </a:pPr>
            <a:r>
              <a:rPr lang="en-US" altLang="en-US" sz="2200" dirty="0">
                <a:solidFill>
                  <a:srgbClr val="0070C0"/>
                </a:solidFill>
                <a:latin typeface="Courier New" panose="02070309020205020404" pitchFamily="49" charset="0"/>
                <a:cs typeface="Courier New" panose="02070309020205020404" pitchFamily="49" charset="0"/>
              </a:rPr>
              <a:t>25</a:t>
            </a:r>
          </a:p>
          <a:p>
            <a:pPr marL="0" indent="0" eaLnBrk="1" hangingPunct="1">
              <a:spcBef>
                <a:spcPts val="0"/>
              </a:spcBef>
              <a:buNone/>
            </a:pPr>
            <a:r>
              <a:rPr lang="en-US" altLang="en-US" sz="2200" b="1" dirty="0">
                <a:solidFill>
                  <a:srgbClr val="FF0000"/>
                </a:solidFill>
                <a:latin typeface="Courier New" panose="02070309020205020404" pitchFamily="49" charset="0"/>
                <a:cs typeface="Courier New" panose="02070309020205020404" pitchFamily="49" charset="0"/>
              </a:rPr>
              <a:t>&gt;&gt;&gt; </a:t>
            </a:r>
            <a:r>
              <a:rPr lang="en-US" altLang="en-US" sz="2200" b="1" dirty="0" err="1">
                <a:solidFill>
                  <a:srgbClr val="FF0000"/>
                </a:solidFill>
                <a:latin typeface="Courier New" panose="02070309020205020404" pitchFamily="49" charset="0"/>
                <a:cs typeface="Courier New" panose="02070309020205020404" pitchFamily="49" charset="0"/>
              </a:rPr>
              <a:t>print_pow</a:t>
            </a:r>
            <a:r>
              <a:rPr lang="en-US" altLang="en-US" sz="2200" b="1" dirty="0">
                <a:solidFill>
                  <a:srgbClr val="FF0000"/>
                </a:solidFill>
                <a:latin typeface="Courier New" panose="02070309020205020404" pitchFamily="49" charset="0"/>
                <a:cs typeface="Courier New" panose="02070309020205020404" pitchFamily="49" charset="0"/>
              </a:rPr>
              <a:t>(5, 3)</a:t>
            </a:r>
          </a:p>
          <a:p>
            <a:pPr marL="0" indent="0" eaLnBrk="1" hangingPunct="1">
              <a:spcBef>
                <a:spcPts val="0"/>
              </a:spcBef>
              <a:buNone/>
            </a:pPr>
            <a:r>
              <a:rPr lang="en-US" altLang="en-US" sz="2200" dirty="0">
                <a:solidFill>
                  <a:srgbClr val="FF0000"/>
                </a:solidFill>
                <a:latin typeface="Courier New" panose="02070309020205020404" pitchFamily="49" charset="0"/>
                <a:cs typeface="Courier New" panose="02070309020205020404" pitchFamily="49" charset="0"/>
              </a:rPr>
              <a:t>125</a:t>
            </a:r>
          </a:p>
          <a:p>
            <a:pPr marL="0" indent="0" eaLnBrk="1" hangingPunct="1">
              <a:spcBef>
                <a:spcPts val="0"/>
              </a:spcBef>
              <a:buNone/>
            </a:pPr>
            <a:r>
              <a:rPr lang="en-US" altLang="en-US" sz="2200" b="1" dirty="0">
                <a:solidFill>
                  <a:srgbClr val="FF0000"/>
                </a:solidFill>
                <a:latin typeface="Courier New" panose="02070309020205020404" pitchFamily="49" charset="0"/>
                <a:cs typeface="Courier New" panose="02070309020205020404" pitchFamily="49" charset="0"/>
              </a:rPr>
              <a:t>&gt;&gt;&gt;</a:t>
            </a:r>
            <a:endParaRPr lang="en-US" altLang="en-US" sz="2200"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buNone/>
            </a:pPr>
            <a:endParaRPr lang="en-US" altLang="en-US" sz="2800" dirty="0"/>
          </a:p>
        </p:txBody>
      </p:sp>
      <p:sp>
        <p:nvSpPr>
          <p:cNvPr id="2" name="Date Placeholder 1"/>
          <p:cNvSpPr>
            <a:spLocks noGrp="1"/>
          </p:cNvSpPr>
          <p:nvPr>
            <p:ph type="dt" sz="half" idx="10"/>
          </p:nvPr>
        </p:nvSpPr>
        <p:spPr/>
        <p:txBody>
          <a:bodyPr/>
          <a:lstStyle/>
          <a:p>
            <a:pPr>
              <a:defRPr/>
            </a:pPr>
            <a:fld id="{62E31F4D-FC15-435D-8EC9-23F2BED9C4D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25</a:t>
            </a:fld>
            <a:endParaRPr lang="en-US"/>
          </a:p>
        </p:txBody>
      </p:sp>
    </p:spTree>
    <p:extLst>
      <p:ext uri="{BB962C8B-B14F-4D97-AF65-F5344CB8AC3E}">
        <p14:creationId xmlns:p14="http://schemas.microsoft.com/office/powerpoint/2010/main" val="2245983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Defining and Calling Functions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r>
              <a:rPr lang="en-US" altLang="en-US" sz="2800" dirty="0"/>
              <a:t>You can treat positional parameters as keyword parameters</a:t>
            </a:r>
          </a:p>
          <a:p>
            <a:pPr lvl="1" eaLnBrk="1" hangingPunct="1"/>
            <a:r>
              <a:rPr lang="en-US" altLang="en-US" sz="2400" i="1" dirty="0"/>
              <a:t>But</a:t>
            </a:r>
            <a:r>
              <a:rPr lang="en-US" altLang="en-US" sz="2400" dirty="0"/>
              <a:t> all positional arguments must precede keyword arguments</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200" b="1" dirty="0">
                <a:latin typeface="Courier New" panose="02070309020205020404" pitchFamily="49" charset="0"/>
                <a:cs typeface="Courier New" panose="02070309020205020404" pitchFamily="49" charset="0"/>
              </a:rPr>
              <a:t>&gt;&gt;&gt; </a:t>
            </a:r>
            <a:r>
              <a:rPr lang="en-US" altLang="en-US" sz="2200" b="1" dirty="0" err="1">
                <a:latin typeface="Courier New" panose="02070309020205020404" pitchFamily="49" charset="0"/>
                <a:cs typeface="Courier New" panose="02070309020205020404" pitchFamily="49" charset="0"/>
              </a:rPr>
              <a:t>print_pow</a:t>
            </a:r>
            <a:r>
              <a:rPr lang="en-US" altLang="en-US" sz="2200" b="1" dirty="0">
                <a:latin typeface="Courier New" panose="02070309020205020404" pitchFamily="49" charset="0"/>
                <a:cs typeface="Courier New" panose="02070309020205020404" pitchFamily="49" charset="0"/>
              </a:rPr>
              <a:t>(x=-7)</a:t>
            </a:r>
          </a:p>
          <a:p>
            <a:pPr marL="0" indent="0" eaLnBrk="1" hangingPunct="1">
              <a:spcBef>
                <a:spcPts val="0"/>
              </a:spcBef>
              <a:buNone/>
            </a:pPr>
            <a:r>
              <a:rPr lang="en-US" altLang="en-US" sz="2200" dirty="0">
                <a:latin typeface="Courier New" panose="02070309020205020404" pitchFamily="49" charset="0"/>
                <a:cs typeface="Courier New" panose="02070309020205020404" pitchFamily="49" charset="0"/>
              </a:rPr>
              <a:t>49</a:t>
            </a:r>
          </a:p>
          <a:p>
            <a:pPr marL="0" indent="0" eaLnBrk="1" hangingPunct="1">
              <a:spcBef>
                <a:spcPts val="0"/>
              </a:spcBef>
              <a:buNone/>
            </a:pPr>
            <a:r>
              <a:rPr lang="en-US" altLang="en-US" sz="2200" b="1" dirty="0">
                <a:solidFill>
                  <a:srgbClr val="0070C0"/>
                </a:solidFill>
                <a:latin typeface="Courier New" panose="02070309020205020404" pitchFamily="49" charset="0"/>
                <a:cs typeface="Courier New" panose="02070309020205020404" pitchFamily="49" charset="0"/>
              </a:rPr>
              <a:t>&gt;&gt;&gt; </a:t>
            </a:r>
            <a:r>
              <a:rPr lang="en-US" altLang="en-US" sz="2200" b="1" dirty="0" err="1">
                <a:solidFill>
                  <a:srgbClr val="0070C0"/>
                </a:solidFill>
                <a:latin typeface="Courier New" panose="02070309020205020404" pitchFamily="49" charset="0"/>
                <a:cs typeface="Courier New" panose="02070309020205020404" pitchFamily="49" charset="0"/>
              </a:rPr>
              <a:t>print_pow</a:t>
            </a:r>
            <a:r>
              <a:rPr lang="en-US" altLang="en-US" sz="2200" b="1" dirty="0">
                <a:solidFill>
                  <a:srgbClr val="0070C0"/>
                </a:solidFill>
                <a:latin typeface="Courier New" panose="02070309020205020404" pitchFamily="49" charset="0"/>
                <a:cs typeface="Courier New" panose="02070309020205020404" pitchFamily="49" charset="0"/>
              </a:rPr>
              <a:t>(y=3, x=2)</a:t>
            </a:r>
          </a:p>
          <a:p>
            <a:pPr marL="0" indent="0" eaLnBrk="1" hangingPunct="1">
              <a:spcBef>
                <a:spcPts val="0"/>
              </a:spcBef>
              <a:buNone/>
            </a:pPr>
            <a:r>
              <a:rPr lang="en-US" altLang="en-US" sz="2200" dirty="0">
                <a:solidFill>
                  <a:srgbClr val="0070C0"/>
                </a:solidFill>
                <a:latin typeface="Courier New" panose="02070309020205020404" pitchFamily="49" charset="0"/>
                <a:cs typeface="Courier New" panose="02070309020205020404" pitchFamily="49" charset="0"/>
              </a:rPr>
              <a:t>8</a:t>
            </a:r>
          </a:p>
          <a:p>
            <a:pPr marL="0" indent="0" eaLnBrk="1" hangingPunct="1">
              <a:spcBef>
                <a:spcPts val="0"/>
              </a:spcBef>
              <a:buNone/>
            </a:pPr>
            <a:r>
              <a:rPr lang="en-US" altLang="en-US" sz="2200" b="1" dirty="0">
                <a:solidFill>
                  <a:srgbClr val="FF0000"/>
                </a:solidFill>
                <a:latin typeface="Courier New" panose="02070309020205020404" pitchFamily="49" charset="0"/>
                <a:cs typeface="Courier New" panose="02070309020205020404" pitchFamily="49" charset="0"/>
              </a:rPr>
              <a:t>&gt;&gt;&gt; </a:t>
            </a:r>
            <a:r>
              <a:rPr lang="en-US" altLang="en-US" sz="2200" b="1" dirty="0" err="1">
                <a:solidFill>
                  <a:srgbClr val="FF0000"/>
                </a:solidFill>
                <a:latin typeface="Courier New" panose="02070309020205020404" pitchFamily="49" charset="0"/>
                <a:cs typeface="Courier New" panose="02070309020205020404" pitchFamily="49" charset="0"/>
              </a:rPr>
              <a:t>print_pow</a:t>
            </a:r>
            <a:r>
              <a:rPr lang="en-US" altLang="en-US" sz="2200" b="1" dirty="0">
                <a:solidFill>
                  <a:srgbClr val="FF0000"/>
                </a:solidFill>
                <a:latin typeface="Courier New" panose="02070309020205020404" pitchFamily="49" charset="0"/>
                <a:cs typeface="Courier New" panose="02070309020205020404" pitchFamily="49" charset="0"/>
              </a:rPr>
              <a:t>(y=4, 5)</a:t>
            </a:r>
          </a:p>
          <a:p>
            <a:pPr marL="0" indent="0" eaLnBrk="1" hangingPunct="1">
              <a:spcBef>
                <a:spcPts val="0"/>
              </a:spcBef>
              <a:buNone/>
            </a:pPr>
            <a:r>
              <a:rPr lang="en-US" altLang="en-US" sz="2200" dirty="0" err="1">
                <a:solidFill>
                  <a:srgbClr val="FF0000"/>
                </a:solidFill>
                <a:latin typeface="Courier New" panose="02070309020205020404" pitchFamily="49" charset="0"/>
                <a:cs typeface="Courier New" panose="02070309020205020404" pitchFamily="49" charset="0"/>
              </a:rPr>
              <a:t>SyntaxError</a:t>
            </a:r>
            <a:r>
              <a:rPr lang="en-US" altLang="en-US" sz="2200" dirty="0">
                <a:solidFill>
                  <a:srgbClr val="FF0000"/>
                </a:solidFill>
                <a:latin typeface="Courier New" panose="02070309020205020404" pitchFamily="49" charset="0"/>
                <a:cs typeface="Courier New" panose="02070309020205020404" pitchFamily="49" charset="0"/>
              </a:rPr>
              <a:t>: positional … follows keyword …</a:t>
            </a:r>
          </a:p>
          <a:p>
            <a:pPr eaLnBrk="1" hangingPunct="1"/>
            <a:endParaRPr lang="en-US" altLang="en-US" sz="2800" dirty="0"/>
          </a:p>
        </p:txBody>
      </p:sp>
      <p:sp>
        <p:nvSpPr>
          <p:cNvPr id="2" name="Date Placeholder 1"/>
          <p:cNvSpPr>
            <a:spLocks noGrp="1"/>
          </p:cNvSpPr>
          <p:nvPr>
            <p:ph type="dt" sz="half" idx="10"/>
          </p:nvPr>
        </p:nvSpPr>
        <p:spPr/>
        <p:txBody>
          <a:bodyPr/>
          <a:lstStyle/>
          <a:p>
            <a:pPr>
              <a:defRPr/>
            </a:pPr>
            <a:fld id="{62E31F4D-FC15-435D-8EC9-23F2BED9C4D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26</a:t>
            </a:fld>
            <a:endParaRPr lang="en-US"/>
          </a:p>
        </p:txBody>
      </p:sp>
    </p:spTree>
    <p:extLst>
      <p:ext uri="{BB962C8B-B14F-4D97-AF65-F5344CB8AC3E}">
        <p14:creationId xmlns:p14="http://schemas.microsoft.com/office/powerpoint/2010/main" val="2515132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a:t>print()</a:t>
            </a:r>
            <a:r>
              <a:rPr lang="en-US" altLang="en-US" dirty="0"/>
              <a:t> Function Keyword Parameters</a:t>
            </a:r>
          </a:p>
        </p:txBody>
      </p:sp>
      <p:sp>
        <p:nvSpPr>
          <p:cNvPr id="24579" name="Rectangle 3"/>
          <p:cNvSpPr>
            <a:spLocks noGrp="1" noChangeArrowheads="1"/>
          </p:cNvSpPr>
          <p:nvPr>
            <p:ph type="body" idx="1"/>
          </p:nvPr>
        </p:nvSpPr>
        <p:spPr/>
        <p:txBody>
          <a:bodyPr/>
          <a:lstStyle/>
          <a:p>
            <a:pPr eaLnBrk="1" hangingPunct="1"/>
            <a:r>
              <a:rPr lang="en-US" altLang="en-US" sz="2800" dirty="0"/>
              <a:t>The built-in </a:t>
            </a:r>
            <a:r>
              <a:rPr lang="en-US" altLang="en-US" sz="2800" b="1" dirty="0"/>
              <a:t>print()</a:t>
            </a:r>
            <a:r>
              <a:rPr lang="en-US" altLang="en-US" sz="2800" dirty="0"/>
              <a:t> function has keyword parameters, including:</a:t>
            </a:r>
          </a:p>
          <a:p>
            <a:pPr lvl="1" eaLnBrk="1" hangingPunct="1"/>
            <a:r>
              <a:rPr lang="en-US" altLang="en-US" sz="2400" b="1" dirty="0" err="1">
                <a:latin typeface="Courier New" panose="02070309020205020404" pitchFamily="49" charset="0"/>
                <a:cs typeface="Courier New" panose="02070309020205020404" pitchFamily="49" charset="0"/>
              </a:rPr>
              <a:t>sep</a:t>
            </a:r>
            <a:r>
              <a:rPr lang="en-US" altLang="en-US" sz="2400" dirty="0"/>
              <a:t>      separator, </a:t>
            </a:r>
            <a:r>
              <a:rPr lang="en-US" altLang="en-US" sz="2400" b="1" dirty="0">
                <a:latin typeface="Courier New" panose="02070309020205020404" pitchFamily="49" charset="0"/>
                <a:cs typeface="Courier New" panose="02070309020205020404" pitchFamily="49" charset="0"/>
              </a:rPr>
              <a:t>' '</a:t>
            </a:r>
            <a:r>
              <a:rPr lang="en-US" altLang="en-US" sz="2400" dirty="0"/>
              <a:t> by default</a:t>
            </a:r>
          </a:p>
          <a:p>
            <a:pPr lvl="1" eaLnBrk="1" hangingPunct="1"/>
            <a:r>
              <a:rPr lang="en-US" altLang="en-US" sz="2400" b="1" dirty="0">
                <a:latin typeface="Courier New" panose="02070309020205020404" pitchFamily="49" charset="0"/>
                <a:cs typeface="Courier New" panose="02070309020205020404" pitchFamily="49" charset="0"/>
              </a:rPr>
              <a:t>end</a:t>
            </a:r>
            <a:r>
              <a:rPr lang="en-US" altLang="en-US" sz="2400" dirty="0"/>
              <a:t>      end-of-output character, </a:t>
            </a:r>
            <a:r>
              <a:rPr lang="en-US" altLang="en-US" sz="2400" b="1" dirty="0">
                <a:latin typeface="Courier New" panose="02070309020205020404" pitchFamily="49" charset="0"/>
                <a:cs typeface="Courier New" panose="02070309020205020404" pitchFamily="49" charset="0"/>
              </a:rPr>
              <a:t>'\n'</a:t>
            </a:r>
            <a:r>
              <a:rPr lang="en-US" altLang="en-US" sz="2400" dirty="0"/>
              <a:t> by default</a:t>
            </a: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print(1, 2, 3)</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1 2 3</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print(1, 2, 3, </a:t>
            </a:r>
            <a:r>
              <a:rPr lang="en-US" altLang="en-US" sz="2000" b="1" dirty="0" err="1">
                <a:solidFill>
                  <a:srgbClr val="0070C0"/>
                </a:solidFill>
                <a:latin typeface="Courier New" panose="02070309020205020404" pitchFamily="49" charset="0"/>
                <a:cs typeface="Courier New" panose="02070309020205020404" pitchFamily="49" charset="0"/>
              </a:rPr>
              <a:t>sep</a:t>
            </a:r>
            <a:r>
              <a:rPr lang="en-US" altLang="en-US" sz="2000" b="1" dirty="0">
                <a:solidFill>
                  <a:srgbClr val="0070C0"/>
                </a:solidFill>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1,2,3</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print(1, 2, 3, </a:t>
            </a:r>
            <a:r>
              <a:rPr lang="en-US" altLang="en-US" sz="2000" b="1" dirty="0" err="1">
                <a:solidFill>
                  <a:srgbClr val="FF0000"/>
                </a:solidFill>
                <a:latin typeface="Courier New" panose="02070309020205020404" pitchFamily="49" charset="0"/>
                <a:cs typeface="Courier New" panose="02070309020205020404" pitchFamily="49" charset="0"/>
              </a:rPr>
              <a:t>sep</a:t>
            </a:r>
            <a:r>
              <a:rPr lang="en-US" altLang="en-US" sz="2000" b="1" dirty="0">
                <a:solidFill>
                  <a:srgbClr val="FF0000"/>
                </a:solidFill>
                <a:latin typeface="Courier New" panose="02070309020205020404" pitchFamily="49" charset="0"/>
                <a:cs typeface="Courier New" panose="02070309020205020404" pitchFamily="49" charset="0"/>
              </a:rPr>
              <a:t>='', end='!')</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123!</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t>
            </a:r>
            <a:r>
              <a:rPr lang="en-US" altLang="en-US" sz="2000" dirty="0">
                <a:solidFill>
                  <a:srgbClr val="FF0000"/>
                </a:solidFill>
                <a:latin typeface="Courier New" panose="02070309020205020404" pitchFamily="49" charset="0"/>
                <a:cs typeface="Courier New" panose="02070309020205020404" pitchFamily="49" charset="0"/>
              </a:rPr>
              <a:t># the shell generates its own newline</a:t>
            </a:r>
          </a:p>
        </p:txBody>
      </p:sp>
      <p:sp>
        <p:nvSpPr>
          <p:cNvPr id="2" name="Date Placeholder 1"/>
          <p:cNvSpPr>
            <a:spLocks noGrp="1"/>
          </p:cNvSpPr>
          <p:nvPr>
            <p:ph type="dt" sz="half" idx="10"/>
          </p:nvPr>
        </p:nvSpPr>
        <p:spPr/>
        <p:txBody>
          <a:bodyPr/>
          <a:lstStyle/>
          <a:p>
            <a:pPr>
              <a:defRPr/>
            </a:pPr>
            <a:fld id="{25DF140A-7446-4FD0-B42F-FE24295F90F1}"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27</a:t>
            </a:fld>
            <a:endParaRPr lang="en-US"/>
          </a:p>
        </p:txBody>
      </p:sp>
    </p:spTree>
    <p:extLst>
      <p:ext uri="{BB962C8B-B14F-4D97-AF65-F5344CB8AC3E}">
        <p14:creationId xmlns:p14="http://schemas.microsoft.com/office/powerpoint/2010/main" val="2770257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Function Return</a:t>
            </a:r>
          </a:p>
        </p:txBody>
      </p:sp>
      <p:sp>
        <p:nvSpPr>
          <p:cNvPr id="24579" name="Rectangle 3"/>
          <p:cNvSpPr>
            <a:spLocks noGrp="1" noChangeArrowheads="1"/>
          </p:cNvSpPr>
          <p:nvPr>
            <p:ph type="body" idx="1"/>
          </p:nvPr>
        </p:nvSpPr>
        <p:spPr/>
        <p:txBody>
          <a:bodyPr/>
          <a:lstStyle/>
          <a:p>
            <a:pPr eaLnBrk="1" hangingPunct="1"/>
            <a:r>
              <a:rPr lang="en-US" altLang="en-US" sz="2800" dirty="0"/>
              <a:t>Every Python function </a:t>
            </a:r>
            <a:r>
              <a:rPr lang="en-US" altLang="en-US" sz="2800" i="1" dirty="0"/>
              <a:t>returns</a:t>
            </a:r>
            <a:r>
              <a:rPr lang="en-US" altLang="en-US" sz="2800" dirty="0"/>
              <a:t> an object</a:t>
            </a:r>
          </a:p>
          <a:p>
            <a:pPr lvl="1" eaLnBrk="1" hangingPunct="1"/>
            <a:r>
              <a:rPr lang="en-US" altLang="en-US" sz="2400" dirty="0"/>
              <a:t>Via </a:t>
            </a:r>
            <a:r>
              <a:rPr lang="en-US" altLang="en-US" sz="2400" b="1" dirty="0"/>
              <a:t>return </a:t>
            </a:r>
            <a:r>
              <a:rPr lang="en-US" altLang="en-US" sz="2400" i="1" dirty="0"/>
              <a:t>expression</a:t>
            </a:r>
            <a:r>
              <a:rPr lang="en-US" altLang="en-US" sz="2400" dirty="0"/>
              <a:t> in the function</a:t>
            </a:r>
          </a:p>
          <a:p>
            <a:pPr lvl="1" eaLnBrk="1" hangingPunct="1"/>
            <a:r>
              <a:rPr lang="en-US" altLang="en-US" sz="2400" dirty="0"/>
              <a:t>Or </a:t>
            </a:r>
            <a:r>
              <a:rPr lang="en-US" altLang="en-US" sz="2400" b="1" dirty="0"/>
              <a:t>None</a:t>
            </a:r>
            <a:r>
              <a:rPr lang="en-US" altLang="en-US" sz="2400" dirty="0"/>
              <a:t>, if no (or forgotten!) </a:t>
            </a:r>
            <a:r>
              <a:rPr lang="en-US" altLang="en-US" sz="2400" b="1" dirty="0"/>
              <a:t>return</a:t>
            </a:r>
          </a:p>
          <a:p>
            <a:pPr marL="0" indent="0" eaLnBrk="1" hangingPunct="1">
              <a:spcBef>
                <a:spcPts val="0"/>
              </a:spcBef>
              <a:buNone/>
            </a:pPr>
            <a:endParaRPr lang="en-US" altLang="en-US" sz="1000" b="1" dirty="0">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eaLnBrk="1" hangingPunct="1"/>
            <a:endParaRPr lang="en-US" altLang="en-US" sz="2800" dirty="0"/>
          </a:p>
        </p:txBody>
      </p:sp>
      <p:sp>
        <p:nvSpPr>
          <p:cNvPr id="2" name="Date Placeholder 1"/>
          <p:cNvSpPr>
            <a:spLocks noGrp="1"/>
          </p:cNvSpPr>
          <p:nvPr>
            <p:ph type="dt" sz="half" idx="10"/>
          </p:nvPr>
        </p:nvSpPr>
        <p:spPr/>
        <p:txBody>
          <a:bodyPr/>
          <a:lstStyle/>
          <a:p>
            <a:pPr>
              <a:defRPr/>
            </a:pPr>
            <a:fld id="{62E31F4D-FC15-435D-8EC9-23F2BED9C4D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28</a:t>
            </a:fld>
            <a:endParaRPr lang="en-US"/>
          </a:p>
        </p:txBody>
      </p:sp>
    </p:spTree>
    <p:extLst>
      <p:ext uri="{BB962C8B-B14F-4D97-AF65-F5344CB8AC3E}">
        <p14:creationId xmlns:p14="http://schemas.microsoft.com/office/powerpoint/2010/main" val="3454379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Function Return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spcBef>
                <a:spcPts val="0"/>
              </a:spcBef>
              <a:buNone/>
            </a:pPr>
            <a:r>
              <a:rPr lang="en-US" altLang="en-US" sz="2200" b="1" dirty="0">
                <a:latin typeface="Courier New" panose="02070309020205020404" pitchFamily="49" charset="0"/>
                <a:cs typeface="Courier New" panose="02070309020205020404" pitchFamily="49" charset="0"/>
              </a:rPr>
              <a:t>&gt;&gt;&gt; def oops(x):</a:t>
            </a:r>
          </a:p>
          <a:p>
            <a:pPr marL="0" indent="0" eaLnBrk="1" hangingPunct="1">
              <a:spcBef>
                <a:spcPts val="0"/>
              </a:spcBef>
              <a:buNone/>
            </a:pPr>
            <a:r>
              <a:rPr lang="en-US" altLang="en-US" sz="2200" b="1" dirty="0">
                <a:latin typeface="Courier New" panose="02070309020205020404" pitchFamily="49" charset="0"/>
                <a:cs typeface="Courier New" panose="02070309020205020404" pitchFamily="49" charset="0"/>
              </a:rPr>
              <a:t>        if x &gt; 0:</a:t>
            </a:r>
          </a:p>
          <a:p>
            <a:pPr marL="0" indent="0" eaLnBrk="1" hangingPunct="1">
              <a:spcBef>
                <a:spcPts val="0"/>
              </a:spcBef>
              <a:buNone/>
            </a:pPr>
            <a:r>
              <a:rPr lang="en-US" altLang="en-US" sz="2200" b="1" dirty="0">
                <a:latin typeface="Courier New" panose="02070309020205020404" pitchFamily="49" charset="0"/>
                <a:cs typeface="Courier New" panose="02070309020205020404" pitchFamily="49" charset="0"/>
              </a:rPr>
              <a:t>            return x - 3</a:t>
            </a:r>
          </a:p>
          <a:p>
            <a:pPr marL="0" indent="0" eaLnBrk="1" hangingPunct="1">
              <a:spcBef>
                <a:spcPts val="0"/>
              </a:spcBef>
              <a:buNone/>
            </a:pPr>
            <a:endParaRPr lang="en-US" altLang="en-US" sz="22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200" b="1" dirty="0">
                <a:solidFill>
                  <a:srgbClr val="0070C0"/>
                </a:solidFill>
                <a:latin typeface="Courier New" panose="02070309020205020404" pitchFamily="49" charset="0"/>
                <a:cs typeface="Courier New" panose="02070309020205020404" pitchFamily="49" charset="0"/>
              </a:rPr>
              <a:t>&gt;&gt;&gt; a = oops(5)</a:t>
            </a:r>
          </a:p>
          <a:p>
            <a:pPr marL="0" indent="0" eaLnBrk="1" hangingPunct="1">
              <a:spcBef>
                <a:spcPts val="0"/>
              </a:spcBef>
              <a:buNone/>
            </a:pPr>
            <a:r>
              <a:rPr lang="en-US" altLang="en-US" sz="2200" b="1" dirty="0">
                <a:solidFill>
                  <a:srgbClr val="0070C0"/>
                </a:solidFill>
                <a:latin typeface="Courier New" panose="02070309020205020404" pitchFamily="49" charset="0"/>
                <a:cs typeface="Courier New" panose="02070309020205020404" pitchFamily="49" charset="0"/>
              </a:rPr>
              <a:t>&gt;&gt;&gt; print(a)</a:t>
            </a:r>
          </a:p>
          <a:p>
            <a:pPr marL="0" indent="0" eaLnBrk="1" hangingPunct="1">
              <a:spcBef>
                <a:spcPts val="0"/>
              </a:spcBef>
              <a:buNone/>
            </a:pPr>
            <a:r>
              <a:rPr lang="en-US" altLang="en-US" sz="2200" dirty="0">
                <a:solidFill>
                  <a:srgbClr val="0070C0"/>
                </a:solidFill>
                <a:latin typeface="Courier New" panose="02070309020205020404" pitchFamily="49" charset="0"/>
                <a:cs typeface="Courier New" panose="02070309020205020404" pitchFamily="49" charset="0"/>
              </a:rPr>
              <a:t>2</a:t>
            </a:r>
          </a:p>
          <a:p>
            <a:pPr marL="0" indent="0" eaLnBrk="1" hangingPunct="1">
              <a:spcBef>
                <a:spcPts val="0"/>
              </a:spcBef>
              <a:buNone/>
            </a:pPr>
            <a:r>
              <a:rPr lang="en-US" altLang="en-US" sz="2200" b="1" dirty="0">
                <a:solidFill>
                  <a:srgbClr val="FF0000"/>
                </a:solidFill>
                <a:latin typeface="Courier New" panose="02070309020205020404" pitchFamily="49" charset="0"/>
                <a:cs typeface="Courier New" panose="02070309020205020404" pitchFamily="49" charset="0"/>
              </a:rPr>
              <a:t>&gt;&gt;&gt; b = oops(-7)</a:t>
            </a:r>
          </a:p>
          <a:p>
            <a:pPr marL="0" indent="0" eaLnBrk="1" hangingPunct="1">
              <a:spcBef>
                <a:spcPts val="0"/>
              </a:spcBef>
              <a:buNone/>
            </a:pPr>
            <a:r>
              <a:rPr lang="en-US" altLang="en-US" sz="2200" b="1" dirty="0">
                <a:solidFill>
                  <a:srgbClr val="FF0000"/>
                </a:solidFill>
                <a:latin typeface="Courier New" panose="02070309020205020404" pitchFamily="49" charset="0"/>
                <a:cs typeface="Courier New" panose="02070309020205020404" pitchFamily="49" charset="0"/>
              </a:rPr>
              <a:t>&gt;&gt;&gt; print(b)</a:t>
            </a:r>
          </a:p>
          <a:p>
            <a:pPr marL="0" indent="0" eaLnBrk="1" hangingPunct="1">
              <a:spcBef>
                <a:spcPts val="0"/>
              </a:spcBef>
              <a:buNone/>
            </a:pPr>
            <a:r>
              <a:rPr lang="en-US" altLang="en-US" sz="2200" dirty="0">
                <a:solidFill>
                  <a:srgbClr val="FF0000"/>
                </a:solidFill>
                <a:latin typeface="Courier New" panose="02070309020205020404" pitchFamily="49" charset="0"/>
                <a:cs typeface="Courier New" panose="02070309020205020404" pitchFamily="49" charset="0"/>
              </a:rPr>
              <a:t>None</a:t>
            </a:r>
          </a:p>
          <a:p>
            <a:pPr marL="0" indent="0" eaLnBrk="1" hangingPunct="1">
              <a:spcBef>
                <a:spcPts val="0"/>
              </a:spcBef>
              <a:buNone/>
            </a:pPr>
            <a:r>
              <a:rPr lang="en-US" altLang="en-US" sz="2200" b="1" dirty="0">
                <a:solidFill>
                  <a:srgbClr val="FF0000"/>
                </a:solidFill>
                <a:latin typeface="Courier New" panose="02070309020205020404" pitchFamily="49" charset="0"/>
                <a:cs typeface="Courier New" panose="02070309020205020404" pitchFamily="49" charset="0"/>
              </a:rPr>
              <a:t>&gt;&gt;&gt;</a:t>
            </a:r>
          </a:p>
          <a:p>
            <a:pPr eaLnBrk="1" hangingPunct="1"/>
            <a:endParaRPr lang="en-US" altLang="en-US" sz="2800" dirty="0"/>
          </a:p>
        </p:txBody>
      </p:sp>
      <p:sp>
        <p:nvSpPr>
          <p:cNvPr id="2" name="Date Placeholder 1"/>
          <p:cNvSpPr>
            <a:spLocks noGrp="1"/>
          </p:cNvSpPr>
          <p:nvPr>
            <p:ph type="dt" sz="half" idx="10"/>
          </p:nvPr>
        </p:nvSpPr>
        <p:spPr/>
        <p:txBody>
          <a:bodyPr/>
          <a:lstStyle/>
          <a:p>
            <a:pPr>
              <a:defRPr/>
            </a:pPr>
            <a:fld id="{62E31F4D-FC15-435D-8EC9-23F2BED9C4D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29</a:t>
            </a:fld>
            <a:endParaRPr lang="en-US"/>
          </a:p>
        </p:txBody>
      </p:sp>
    </p:spTree>
    <p:extLst>
      <p:ext uri="{BB962C8B-B14F-4D97-AF65-F5344CB8AC3E}">
        <p14:creationId xmlns:p14="http://schemas.microsoft.com/office/powerpoint/2010/main" val="2078632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Symbol Tables</a:t>
            </a:r>
          </a:p>
        </p:txBody>
      </p:sp>
      <p:sp>
        <p:nvSpPr>
          <p:cNvPr id="24579" name="Rectangle 3"/>
          <p:cNvSpPr>
            <a:spLocks noGrp="1" noChangeArrowheads="1"/>
          </p:cNvSpPr>
          <p:nvPr>
            <p:ph type="body" idx="1"/>
          </p:nvPr>
        </p:nvSpPr>
        <p:spPr/>
        <p:txBody>
          <a:bodyPr/>
          <a:lstStyle/>
          <a:p>
            <a:pPr eaLnBrk="1" hangingPunct="1"/>
            <a:r>
              <a:rPr lang="en-US" altLang="en-US" sz="2800" dirty="0"/>
              <a:t>A </a:t>
            </a:r>
            <a:r>
              <a:rPr lang="en-US" altLang="en-US" sz="2800" i="1" dirty="0"/>
              <a:t>symbol table</a:t>
            </a:r>
            <a:r>
              <a:rPr lang="en-US" altLang="en-US" sz="2800" dirty="0"/>
              <a:t> is a </a:t>
            </a:r>
            <a:r>
              <a:rPr lang="en-US" altLang="en-US" sz="2800" b="1" dirty="0" err="1"/>
              <a:t>dict</a:t>
            </a:r>
            <a:r>
              <a:rPr lang="en-US" altLang="en-US" sz="2800" dirty="0"/>
              <a:t> with variable names as </a:t>
            </a:r>
            <a:r>
              <a:rPr lang="en-US" altLang="en-US" sz="2800" i="1" dirty="0"/>
              <a:t>keys</a:t>
            </a:r>
            <a:r>
              <a:rPr lang="en-US" altLang="en-US" sz="2800" dirty="0"/>
              <a:t> and variable values as </a:t>
            </a:r>
            <a:r>
              <a:rPr lang="en-US" altLang="en-US" sz="2800" i="1" dirty="0"/>
              <a:t>values</a:t>
            </a: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t>
            </a:r>
            <a:r>
              <a:rPr lang="en-US" altLang="en-US" sz="2000" b="1" dirty="0" err="1">
                <a:latin typeface="Courier New" panose="02070309020205020404" pitchFamily="49" charset="0"/>
                <a:cs typeface="Courier New" panose="02070309020205020404" pitchFamily="49" charset="0"/>
              </a:rPr>
              <a:t>globals</a:t>
            </a:r>
            <a:r>
              <a:rPr lang="en-US" altLang="en-US" sz="2000" b="1" dirty="0">
                <a:latin typeface="Courier New" panose="02070309020205020404" pitchFamily="49" charset="0"/>
                <a:cs typeface="Courier New" panose="02070309020205020404" pitchFamily="49" charset="0"/>
              </a:rPr>
              <a:t>()</a:t>
            </a:r>
            <a:r>
              <a:rPr lang="en-US" altLang="en-US" sz="2000" dirty="0">
                <a:latin typeface="Courier New" panose="02070309020205020404" pitchFamily="49" charset="0"/>
                <a:cs typeface="Courier New" panose="02070309020205020404" pitchFamily="49" charset="0"/>
              </a:rPr>
              <a:t>     # display global symbol table</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{'__name__': '__main__', </a:t>
            </a:r>
            <a:r>
              <a:rPr lang="en-US" altLang="en-US" sz="2000" i="1" dirty="0">
                <a:latin typeface="Courier New" panose="02070309020205020404" pitchFamily="49" charset="0"/>
                <a:cs typeface="Courier New" panose="02070309020205020404" pitchFamily="49" charset="0"/>
              </a:rPr>
              <a:t>… many variables …</a:t>
            </a:r>
            <a:r>
              <a:rPr lang="en-US" altLang="en-US" sz="2000"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locals()</a:t>
            </a:r>
            <a:r>
              <a:rPr lang="en-US" altLang="en-US" sz="2000" dirty="0">
                <a:solidFill>
                  <a:srgbClr val="0070C0"/>
                </a:solidFill>
                <a:latin typeface="Courier New" panose="02070309020205020404" pitchFamily="49" charset="0"/>
                <a:cs typeface="Courier New" panose="02070309020205020404" pitchFamily="49" charset="0"/>
              </a:rPr>
              <a:t>      # display local symbol table</a:t>
            </a:r>
          </a:p>
          <a:p>
            <a:pPr marL="0" indent="0" eaLnBrk="1" hangingPunct="1">
              <a:spcBef>
                <a:spcPts val="0"/>
              </a:spcBef>
              <a:buNone/>
            </a:pPr>
            <a:r>
              <a:rPr lang="en-US" altLang="en-US" sz="2000" i="1" dirty="0">
                <a:solidFill>
                  <a:srgbClr val="0070C0"/>
                </a:solidFill>
                <a:latin typeface="Courier New" panose="02070309020205020404" pitchFamily="49" charset="0"/>
                <a:cs typeface="Courier New" panose="02070309020205020404" pitchFamily="49" charset="0"/>
              </a:rPr>
              <a:t>… same info, since we are not in a function …</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25DF140A-7446-4FD0-B42F-FE24295F90F1}"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30</a:t>
            </a:fld>
            <a:endParaRPr lang="en-US"/>
          </a:p>
        </p:txBody>
      </p:sp>
    </p:spTree>
    <p:extLst>
      <p:ext uri="{BB962C8B-B14F-4D97-AF65-F5344CB8AC3E}">
        <p14:creationId xmlns:p14="http://schemas.microsoft.com/office/powerpoint/2010/main" val="2563376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Symbol Tables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r>
              <a:rPr lang="en-US" altLang="en-US" sz="2800" dirty="0"/>
              <a:t>When a function is called, a </a:t>
            </a:r>
            <a:r>
              <a:rPr lang="en-US" altLang="en-US" sz="2800" i="1" dirty="0"/>
              <a:t>new symbol table</a:t>
            </a:r>
            <a:r>
              <a:rPr lang="en-US" altLang="en-US" sz="2800" dirty="0"/>
              <a:t> is created for it, containing parameter and other local variables</a:t>
            </a:r>
            <a:endParaRPr lang="en-US" altLang="en-US" sz="2800" i="1" dirty="0"/>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def f1(a, b, c='hi'):</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print('locals():', locals())</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print(a, b, c, d)</a:t>
            </a:r>
            <a:endParaRPr lang="en-US" altLang="en-US" sz="2000" dirty="0">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1200"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d = 22.22</a:t>
            </a:r>
            <a:r>
              <a:rPr lang="en-US" altLang="en-US" sz="2000" dirty="0">
                <a:latin typeface="Courier New" panose="02070309020205020404" pitchFamily="49" charset="0"/>
                <a:cs typeface="Courier New" panose="02070309020205020404" pitchFamily="49" charset="0"/>
              </a:rPr>
              <a:t>        </a:t>
            </a:r>
            <a:r>
              <a:rPr lang="en-US" altLang="en-US" sz="2000" dirty="0">
                <a:solidFill>
                  <a:srgbClr val="0070C0"/>
                </a:solidFill>
                <a:latin typeface="Courier New" panose="02070309020205020404" pitchFamily="49" charset="0"/>
                <a:cs typeface="Courier New" panose="02070309020205020404" pitchFamily="49" charset="0"/>
              </a:rPr>
              <a:t># d is global</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f1(2, 3)</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locals(): {'a': 2, 'b': 3, 'c': 'hi'}</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2 3 hi 22.22</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25DF140A-7446-4FD0-B42F-FE24295F90F1}"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31</a:t>
            </a:fld>
            <a:endParaRPr lang="en-US"/>
          </a:p>
        </p:txBody>
      </p:sp>
    </p:spTree>
    <p:extLst>
      <p:ext uri="{BB962C8B-B14F-4D97-AF65-F5344CB8AC3E}">
        <p14:creationId xmlns:p14="http://schemas.microsoft.com/office/powerpoint/2010/main" val="27264135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Top-Down Programming /</a:t>
            </a:r>
            <a:br>
              <a:rPr lang="en-US" altLang="en-US" dirty="0"/>
            </a:br>
            <a:r>
              <a:rPr lang="en-US" altLang="en-US" dirty="0"/>
              <a:t>Functional Decomposition</a:t>
            </a:r>
          </a:p>
        </p:txBody>
      </p:sp>
      <p:sp>
        <p:nvSpPr>
          <p:cNvPr id="24579" name="Rectangle 3"/>
          <p:cNvSpPr>
            <a:spLocks noGrp="1" noChangeArrowheads="1"/>
          </p:cNvSpPr>
          <p:nvPr>
            <p:ph type="body" idx="1"/>
          </p:nvPr>
        </p:nvSpPr>
        <p:spPr/>
        <p:txBody>
          <a:bodyPr/>
          <a:lstStyle/>
          <a:p>
            <a:pPr eaLnBrk="1" hangingPunct="1"/>
            <a:r>
              <a:rPr lang="en-US" altLang="en-US" sz="2800" dirty="0"/>
              <a:t>In </a:t>
            </a:r>
            <a:r>
              <a:rPr lang="en-US" altLang="en-US" sz="2800" i="1" dirty="0"/>
              <a:t>top-down programming</a:t>
            </a:r>
            <a:r>
              <a:rPr lang="en-US" altLang="en-US" sz="2800" dirty="0"/>
              <a:t> (</a:t>
            </a:r>
            <a:r>
              <a:rPr lang="en-US" altLang="en-US" sz="2800" i="1" dirty="0"/>
              <a:t>functional decomposition</a:t>
            </a:r>
            <a:r>
              <a:rPr lang="en-US" altLang="en-US" sz="2800" dirty="0"/>
              <a:t>)</a:t>
            </a:r>
          </a:p>
          <a:p>
            <a:pPr lvl="1" eaLnBrk="1" hangingPunct="1"/>
            <a:r>
              <a:rPr lang="en-US" altLang="en-US" sz="2400" dirty="0"/>
              <a:t>We start out with a complicated problem</a:t>
            </a:r>
          </a:p>
          <a:p>
            <a:pPr lvl="2" eaLnBrk="1" hangingPunct="1"/>
            <a:r>
              <a:rPr lang="en-US" altLang="en-US" sz="2000" dirty="0"/>
              <a:t>We write a function to solve this problem</a:t>
            </a:r>
          </a:p>
          <a:p>
            <a:pPr lvl="1" eaLnBrk="1" hangingPunct="1"/>
            <a:r>
              <a:rPr lang="en-US" altLang="en-US" sz="2400" dirty="0"/>
              <a:t>The solution consists of a sequence of simpler steps</a:t>
            </a:r>
          </a:p>
          <a:p>
            <a:pPr lvl="2" eaLnBrk="1" hangingPunct="1"/>
            <a:r>
              <a:rPr lang="en-US" altLang="en-US" sz="2000" dirty="0"/>
              <a:t>Each simpler step is, in turn, a function that we write</a:t>
            </a:r>
          </a:p>
          <a:p>
            <a:pPr lvl="1" eaLnBrk="1" hangingPunct="1"/>
            <a:r>
              <a:rPr lang="en-US" altLang="en-US" sz="2400" dirty="0"/>
              <a:t>Eventually (we hope!), the hierarchy of functions reduces to functions with trivial implementations -- </a:t>
            </a:r>
            <a:r>
              <a:rPr lang="en-US" altLang="en-US" sz="2400" b="1" i="1" dirty="0">
                <a:solidFill>
                  <a:srgbClr val="FF0000"/>
                </a:solidFill>
              </a:rPr>
              <a:t>DONE!</a:t>
            </a:r>
          </a:p>
        </p:txBody>
      </p:sp>
      <p:sp>
        <p:nvSpPr>
          <p:cNvPr id="2" name="Date Placeholder 1"/>
          <p:cNvSpPr>
            <a:spLocks noGrp="1"/>
          </p:cNvSpPr>
          <p:nvPr>
            <p:ph type="dt" sz="half" idx="10"/>
          </p:nvPr>
        </p:nvSpPr>
        <p:spPr/>
        <p:txBody>
          <a:bodyPr/>
          <a:lstStyle/>
          <a:p>
            <a:pPr>
              <a:defRPr/>
            </a:pPr>
            <a:fld id="{25DF140A-7446-4FD0-B42F-FE24295F90F1}"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32</a:t>
            </a:fld>
            <a:endParaRPr lang="en-US"/>
          </a:p>
        </p:txBody>
      </p:sp>
    </p:spTree>
    <p:extLst>
      <p:ext uri="{BB962C8B-B14F-4D97-AF65-F5344CB8AC3E}">
        <p14:creationId xmlns:p14="http://schemas.microsoft.com/office/powerpoint/2010/main" val="2590253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About Recursion</a:t>
            </a:r>
          </a:p>
        </p:txBody>
      </p:sp>
      <p:sp>
        <p:nvSpPr>
          <p:cNvPr id="24579" name="Rectangle 3"/>
          <p:cNvSpPr>
            <a:spLocks noGrp="1" noChangeArrowheads="1"/>
          </p:cNvSpPr>
          <p:nvPr>
            <p:ph type="body" idx="1"/>
          </p:nvPr>
        </p:nvSpPr>
        <p:spPr/>
        <p:txBody>
          <a:bodyPr/>
          <a:lstStyle/>
          <a:p>
            <a:pPr eaLnBrk="1" hangingPunct="1"/>
            <a:r>
              <a:rPr lang="en-US" altLang="en-US" sz="2800" dirty="0"/>
              <a:t>Sometimes, a step in the solution to a certain problem will be a </a:t>
            </a:r>
            <a:r>
              <a:rPr lang="en-US" altLang="en-US" sz="2800" i="1" dirty="0"/>
              <a:t>smaller version of the same problem</a:t>
            </a:r>
          </a:p>
          <a:p>
            <a:pPr lvl="1" eaLnBrk="1" hangingPunct="1"/>
            <a:r>
              <a:rPr lang="en-US" altLang="en-US" sz="2400" dirty="0"/>
              <a:t>No problem: have the function to call itself!</a:t>
            </a:r>
          </a:p>
          <a:p>
            <a:pPr lvl="1" eaLnBrk="1" hangingPunct="1"/>
            <a:r>
              <a:rPr lang="en-US" altLang="en-US" sz="2400" dirty="0"/>
              <a:t>This is </a:t>
            </a:r>
            <a:r>
              <a:rPr lang="en-US" altLang="en-US" sz="2400" i="1" dirty="0"/>
              <a:t>recursion</a:t>
            </a:r>
          </a:p>
          <a:p>
            <a:pPr eaLnBrk="1" hangingPunct="1"/>
            <a:r>
              <a:rPr lang="en-US" altLang="en-US" sz="2800" dirty="0"/>
              <a:t>Recursion works in Python because each call of a function creates a </a:t>
            </a:r>
            <a:r>
              <a:rPr lang="en-US" altLang="en-US" sz="2800" i="1" dirty="0"/>
              <a:t>new symbol table</a:t>
            </a:r>
            <a:r>
              <a:rPr lang="en-US" altLang="en-US" sz="2800" dirty="0"/>
              <a:t> for that call</a:t>
            </a:r>
          </a:p>
          <a:p>
            <a:pPr lvl="1" eaLnBrk="1" hangingPunct="1"/>
            <a:r>
              <a:rPr lang="en-US" altLang="en-US" sz="2400" dirty="0"/>
              <a:t>Each call's local variables are kept separate</a:t>
            </a:r>
          </a:p>
        </p:txBody>
      </p:sp>
      <p:sp>
        <p:nvSpPr>
          <p:cNvPr id="2" name="Date Placeholder 1"/>
          <p:cNvSpPr>
            <a:spLocks noGrp="1"/>
          </p:cNvSpPr>
          <p:nvPr>
            <p:ph type="dt" sz="half" idx="10"/>
          </p:nvPr>
        </p:nvSpPr>
        <p:spPr/>
        <p:txBody>
          <a:bodyPr/>
          <a:lstStyle/>
          <a:p>
            <a:pPr>
              <a:defRPr/>
            </a:pPr>
            <a:fld id="{25DF140A-7446-4FD0-B42F-FE24295F90F1}"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33</a:t>
            </a:fld>
            <a:endParaRPr lang="en-US"/>
          </a:p>
        </p:txBody>
      </p:sp>
    </p:spTree>
    <p:extLst>
      <p:ext uri="{BB962C8B-B14F-4D97-AF65-F5344CB8AC3E}">
        <p14:creationId xmlns:p14="http://schemas.microsoft.com/office/powerpoint/2010/main" val="41610370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Example: Reversing a </a:t>
            </a:r>
            <a:r>
              <a:rPr lang="en-US" altLang="en-US" b="1" dirty="0"/>
              <a:t>str</a:t>
            </a:r>
          </a:p>
        </p:txBody>
      </p:sp>
      <p:sp>
        <p:nvSpPr>
          <p:cNvPr id="24579" name="Rectangle 3"/>
          <p:cNvSpPr>
            <a:spLocks noGrp="1" noChangeArrowheads="1"/>
          </p:cNvSpPr>
          <p:nvPr>
            <p:ph type="body" idx="1"/>
          </p:nvPr>
        </p:nvSpPr>
        <p:spPr/>
        <p:txBody>
          <a:bodyPr/>
          <a:lstStyle/>
          <a:p>
            <a:pPr eaLnBrk="1" hangingPunct="1"/>
            <a:r>
              <a:rPr lang="en-US" altLang="en-US" sz="2800" dirty="0"/>
              <a:t>Unlike a </a:t>
            </a:r>
            <a:r>
              <a:rPr lang="en-US" altLang="en-US" sz="2800" b="1" dirty="0"/>
              <a:t>list</a:t>
            </a:r>
            <a:r>
              <a:rPr lang="en-US" altLang="en-US" sz="2800" dirty="0"/>
              <a:t>, a </a:t>
            </a:r>
            <a:r>
              <a:rPr lang="en-US" altLang="en-US" sz="2800" b="1" dirty="0"/>
              <a:t>str</a:t>
            </a:r>
            <a:r>
              <a:rPr lang="en-US" altLang="en-US" sz="2800" dirty="0"/>
              <a:t> is immutable</a:t>
            </a:r>
            <a:endParaRPr lang="en-US" altLang="en-US" sz="2800" i="1" dirty="0"/>
          </a:p>
          <a:p>
            <a:pPr lvl="1" eaLnBrk="1" hangingPunct="1"/>
            <a:r>
              <a:rPr lang="en-US" altLang="en-US" sz="2400" dirty="0"/>
              <a:t>Cannot write </a:t>
            </a:r>
            <a:r>
              <a:rPr lang="en-US" altLang="en-US" sz="2400" i="1" dirty="0" err="1"/>
              <a:t>s</a:t>
            </a:r>
            <a:r>
              <a:rPr lang="en-US" altLang="en-US" sz="2400" b="1" dirty="0" err="1"/>
              <a:t>.reverse</a:t>
            </a:r>
            <a:r>
              <a:rPr lang="en-US" altLang="en-US" sz="2400" b="1" dirty="0"/>
              <a:t>()</a:t>
            </a:r>
          </a:p>
          <a:p>
            <a:pPr eaLnBrk="1" hangingPunct="1"/>
            <a:r>
              <a:rPr lang="en-US" altLang="en-US" sz="2800" dirty="0"/>
              <a:t>Must construct a new </a:t>
            </a:r>
            <a:r>
              <a:rPr lang="en-US" altLang="en-US" sz="2800" b="1" dirty="0"/>
              <a:t>str</a:t>
            </a:r>
            <a:r>
              <a:rPr lang="en-US" altLang="en-US" sz="2800" dirty="0"/>
              <a:t> object with the same characters in reverse order</a:t>
            </a:r>
          </a:p>
        </p:txBody>
      </p:sp>
      <p:sp>
        <p:nvSpPr>
          <p:cNvPr id="2" name="Date Placeholder 1"/>
          <p:cNvSpPr>
            <a:spLocks noGrp="1"/>
          </p:cNvSpPr>
          <p:nvPr>
            <p:ph type="dt" sz="half" idx="10"/>
          </p:nvPr>
        </p:nvSpPr>
        <p:spPr/>
        <p:txBody>
          <a:bodyPr/>
          <a:lstStyle/>
          <a:p>
            <a:pPr>
              <a:defRPr/>
            </a:pPr>
            <a:fld id="{25DF140A-7446-4FD0-B42F-FE24295F90F1}"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34</a:t>
            </a:fld>
            <a:endParaRPr lang="en-US"/>
          </a:p>
        </p:txBody>
      </p:sp>
    </p:spTree>
    <p:extLst>
      <p:ext uri="{BB962C8B-B14F-4D97-AF65-F5344CB8AC3E}">
        <p14:creationId xmlns:p14="http://schemas.microsoft.com/office/powerpoint/2010/main" val="2064921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Reversing a </a:t>
            </a:r>
            <a:r>
              <a:rPr lang="en-US" altLang="en-US" b="1" dirty="0"/>
              <a:t>str</a:t>
            </a:r>
            <a:r>
              <a:rPr lang="en-US" altLang="en-US" dirty="0"/>
              <a:t>: Iterative Approach</a:t>
            </a:r>
          </a:p>
        </p:txBody>
      </p:sp>
      <p:sp>
        <p:nvSpPr>
          <p:cNvPr id="24579" name="Rectangle 3"/>
          <p:cNvSpPr>
            <a:spLocks noGrp="1" noChangeArrowheads="1"/>
          </p:cNvSpPr>
          <p:nvPr>
            <p:ph type="body" idx="1"/>
          </p:nvPr>
        </p:nvSpPr>
        <p:spPr/>
        <p:txBody>
          <a:bodyPr/>
          <a:lstStyle/>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def </a:t>
            </a:r>
            <a:r>
              <a:rPr lang="en-US" altLang="en-US" sz="2000" b="1" dirty="0" err="1">
                <a:latin typeface="Courier New" panose="02070309020205020404" pitchFamily="49" charset="0"/>
                <a:cs typeface="Courier New" panose="02070309020205020404" pitchFamily="49" charset="0"/>
              </a:rPr>
              <a:t>rev_str_it</a:t>
            </a:r>
            <a:r>
              <a:rPr lang="en-US" altLang="en-US" sz="2000" b="1" dirty="0">
                <a:latin typeface="Courier New" panose="02070309020205020404" pitchFamily="49" charset="0"/>
                <a:cs typeface="Courier New" panose="02070309020205020404" pitchFamily="49" charset="0"/>
              </a:rPr>
              <a:t>(s):</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        '''returns a reversed copy of s'''</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ret = ''  </a:t>
            </a:r>
            <a:r>
              <a:rPr lang="en-US" altLang="en-US" sz="2000" dirty="0">
                <a:solidFill>
                  <a:srgbClr val="FF0000"/>
                </a:solidFill>
                <a:latin typeface="Courier New" panose="02070309020205020404" pitchFamily="49" charset="0"/>
                <a:cs typeface="Courier New" panose="02070309020205020404" pitchFamily="49" charset="0"/>
              </a:rPr>
              <a:t># return value initially empty</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        for </a:t>
            </a:r>
            <a:r>
              <a:rPr lang="en-US" altLang="en-US" sz="2000" b="1" dirty="0" err="1">
                <a:solidFill>
                  <a:srgbClr val="00B050"/>
                </a:solidFill>
                <a:latin typeface="Courier New" panose="02070309020205020404" pitchFamily="49" charset="0"/>
                <a:cs typeface="Courier New" panose="02070309020205020404" pitchFamily="49" charset="0"/>
              </a:rPr>
              <a:t>i</a:t>
            </a:r>
            <a:r>
              <a:rPr lang="en-US" altLang="en-US" sz="2000" b="1" dirty="0">
                <a:solidFill>
                  <a:srgbClr val="00B050"/>
                </a:solidFill>
                <a:latin typeface="Courier New" panose="02070309020205020404" pitchFamily="49" charset="0"/>
                <a:cs typeface="Courier New" panose="02070309020205020404" pitchFamily="49" charset="0"/>
              </a:rPr>
              <a:t> in range(-1, -(</a:t>
            </a:r>
            <a:r>
              <a:rPr lang="en-US" altLang="en-US" sz="2000" b="1" dirty="0" err="1">
                <a:solidFill>
                  <a:srgbClr val="00B050"/>
                </a:solidFill>
                <a:latin typeface="Courier New" panose="02070309020205020404" pitchFamily="49" charset="0"/>
                <a:cs typeface="Courier New" panose="02070309020205020404" pitchFamily="49" charset="0"/>
              </a:rPr>
              <a:t>len</a:t>
            </a:r>
            <a:r>
              <a:rPr lang="en-US" altLang="en-US" sz="2000" b="1" dirty="0">
                <a:solidFill>
                  <a:srgbClr val="00B050"/>
                </a:solidFill>
                <a:latin typeface="Courier New" panose="02070309020205020404" pitchFamily="49" charset="0"/>
                <a:cs typeface="Courier New" panose="02070309020205020404" pitchFamily="49" charset="0"/>
              </a:rPr>
              <a:t>(s) + 1), -1):</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            ret += s[</a:t>
            </a:r>
            <a:r>
              <a:rPr lang="en-US" altLang="en-US" sz="2000" b="1" dirty="0" err="1">
                <a:solidFill>
                  <a:srgbClr val="00B050"/>
                </a:solidFill>
                <a:latin typeface="Courier New" panose="02070309020205020404" pitchFamily="49" charset="0"/>
                <a:cs typeface="Courier New" panose="02070309020205020404" pitchFamily="49" charset="0"/>
              </a:rPr>
              <a:t>i</a:t>
            </a:r>
            <a:r>
              <a:rPr lang="en-US" altLang="en-US" sz="2000" b="1" dirty="0">
                <a:solidFill>
                  <a:srgbClr val="00B050"/>
                </a:solidFill>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return ret</a:t>
            </a:r>
          </a:p>
          <a:p>
            <a:pPr marL="0" indent="0" eaLnBrk="1" hangingPunct="1">
              <a:spcBef>
                <a:spcPts val="0"/>
              </a:spcBef>
              <a:buNone/>
            </a:pPr>
            <a:endParaRPr lang="en-US" altLang="en-US" sz="2000"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t>
            </a:r>
            <a:r>
              <a:rPr lang="en-US" altLang="en-US" sz="2000" b="1" dirty="0" err="1">
                <a:solidFill>
                  <a:srgbClr val="0070C0"/>
                </a:solidFill>
                <a:latin typeface="Courier New" panose="02070309020205020404" pitchFamily="49" charset="0"/>
                <a:cs typeface="Courier New" panose="02070309020205020404" pitchFamily="49" charset="0"/>
              </a:rPr>
              <a:t>rev_str_it</a:t>
            </a:r>
            <a:r>
              <a:rPr lang="en-US" altLang="en-US" sz="2000" b="1" dirty="0">
                <a:solidFill>
                  <a:srgbClr val="0070C0"/>
                </a:solidFill>
                <a:latin typeface="Courier New" panose="02070309020205020404" pitchFamily="49" charset="0"/>
                <a:cs typeface="Courier New" panose="02070309020205020404" pitchFamily="49" charset="0"/>
              </a:rPr>
              <a:t>('')          </a:t>
            </a:r>
            <a:r>
              <a:rPr lang="en-US" altLang="en-US" sz="2000" dirty="0">
                <a:solidFill>
                  <a:srgbClr val="0070C0"/>
                </a:solidFill>
                <a:latin typeface="Courier New" panose="02070309020205020404" pitchFamily="49" charset="0"/>
                <a:cs typeface="Courier New" panose="02070309020205020404" pitchFamily="49" charset="0"/>
              </a:rPr>
              <a:t># check edge cases</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a:t>
            </a:r>
            <a:endParaRPr lang="en-US" altLang="en-US" sz="2000" dirty="0">
              <a:solidFill>
                <a:srgbClr val="0070C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t>
            </a:r>
            <a:r>
              <a:rPr lang="en-US" altLang="en-US" sz="2000" b="1" dirty="0" err="1">
                <a:solidFill>
                  <a:srgbClr val="FF0000"/>
                </a:solidFill>
                <a:latin typeface="Courier New" panose="02070309020205020404" pitchFamily="49" charset="0"/>
                <a:cs typeface="Courier New" panose="02070309020205020404" pitchFamily="49" charset="0"/>
              </a:rPr>
              <a:t>rev_str_it</a:t>
            </a:r>
            <a:r>
              <a:rPr lang="en-US" altLang="en-US" sz="2000" b="1" dirty="0">
                <a:solidFill>
                  <a:srgbClr val="FF0000"/>
                </a:solidFill>
                <a:latin typeface="Courier New" panose="02070309020205020404" pitchFamily="49" charset="0"/>
                <a:cs typeface="Courier New" panose="02070309020205020404" pitchFamily="49" charset="0"/>
              </a:rPr>
              <a:t>('a')</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 </a:t>
            </a:r>
            <a:r>
              <a:rPr lang="en-US" altLang="en-US" sz="2000" b="1" dirty="0" err="1">
                <a:solidFill>
                  <a:srgbClr val="00B050"/>
                </a:solidFill>
                <a:latin typeface="Courier New" panose="02070309020205020404" pitchFamily="49" charset="0"/>
                <a:cs typeface="Courier New" panose="02070309020205020404" pitchFamily="49" charset="0"/>
              </a:rPr>
              <a:t>rev_str_it</a:t>
            </a:r>
            <a:r>
              <a:rPr lang="en-US" altLang="en-US" sz="2000" b="1" dirty="0">
                <a:solidFill>
                  <a:srgbClr val="00B050"/>
                </a:solidFill>
                <a:latin typeface="Courier New" panose="02070309020205020404" pitchFamily="49" charset="0"/>
                <a:cs typeface="Courier New" panose="02070309020205020404" pitchFamily="49" charset="0"/>
              </a:rPr>
              <a:t>('hello, world')</a:t>
            </a:r>
          </a:p>
          <a:p>
            <a:pPr marL="0" indent="0" eaLnBrk="1" hangingPunct="1">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a:t>
            </a:r>
            <a:r>
              <a:rPr lang="en-US" altLang="en-US" sz="2000" dirty="0" err="1">
                <a:solidFill>
                  <a:srgbClr val="00B050"/>
                </a:solidFill>
                <a:latin typeface="Courier New" panose="02070309020205020404" pitchFamily="49" charset="0"/>
                <a:cs typeface="Courier New" panose="02070309020205020404" pitchFamily="49" charset="0"/>
              </a:rPr>
              <a:t>dlrow</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dirty="0" err="1">
                <a:solidFill>
                  <a:srgbClr val="00B050"/>
                </a:solidFill>
                <a:latin typeface="Courier New" panose="02070309020205020404" pitchFamily="49" charset="0"/>
                <a:cs typeface="Courier New" panose="02070309020205020404" pitchFamily="49" charset="0"/>
              </a:rPr>
              <a:t>olleh</a:t>
            </a:r>
            <a:r>
              <a:rPr lang="en-US" altLang="en-US" sz="2000" dirty="0">
                <a:solidFill>
                  <a:srgbClr val="00B050"/>
                </a:solidFill>
                <a:latin typeface="Courier New" panose="02070309020205020404" pitchFamily="49" charset="0"/>
                <a:cs typeface="Courier New" panose="02070309020205020404" pitchFamily="49" charset="0"/>
              </a:rPr>
              <a:t>'</a:t>
            </a:r>
          </a:p>
        </p:txBody>
      </p:sp>
      <p:sp>
        <p:nvSpPr>
          <p:cNvPr id="2" name="Date Placeholder 1"/>
          <p:cNvSpPr>
            <a:spLocks noGrp="1"/>
          </p:cNvSpPr>
          <p:nvPr>
            <p:ph type="dt" sz="half" idx="10"/>
          </p:nvPr>
        </p:nvSpPr>
        <p:spPr/>
        <p:txBody>
          <a:bodyPr/>
          <a:lstStyle/>
          <a:p>
            <a:pPr>
              <a:defRPr/>
            </a:pPr>
            <a:fld id="{25DF140A-7446-4FD0-B42F-FE24295F90F1}"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35</a:t>
            </a:fld>
            <a:endParaRPr lang="en-US"/>
          </a:p>
        </p:txBody>
      </p:sp>
    </p:spTree>
    <p:extLst>
      <p:ext uri="{BB962C8B-B14F-4D97-AF65-F5344CB8AC3E}">
        <p14:creationId xmlns:p14="http://schemas.microsoft.com/office/powerpoint/2010/main" val="6534749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Reversing a </a:t>
            </a:r>
            <a:r>
              <a:rPr lang="en-US" altLang="en-US" b="1" dirty="0"/>
              <a:t>str</a:t>
            </a:r>
            <a:r>
              <a:rPr lang="en-US" altLang="en-US" dirty="0"/>
              <a:t>: Recursive Approach</a:t>
            </a:r>
          </a:p>
        </p:txBody>
      </p:sp>
      <p:sp>
        <p:nvSpPr>
          <p:cNvPr id="24579" name="Rectangle 3"/>
          <p:cNvSpPr>
            <a:spLocks noGrp="1" noChangeArrowheads="1"/>
          </p:cNvSpPr>
          <p:nvPr>
            <p:ph type="body" idx="1"/>
          </p:nvPr>
        </p:nvSpPr>
        <p:spPr/>
        <p:txBody>
          <a:bodyPr/>
          <a:lstStyle/>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def </a:t>
            </a:r>
            <a:r>
              <a:rPr lang="en-US" altLang="en-US" sz="2000" b="1" dirty="0" err="1">
                <a:latin typeface="Courier New" panose="02070309020205020404" pitchFamily="49" charset="0"/>
                <a:cs typeface="Courier New" panose="02070309020205020404" pitchFamily="49" charset="0"/>
              </a:rPr>
              <a:t>rev_str_rec</a:t>
            </a:r>
            <a:r>
              <a:rPr lang="en-US" altLang="en-US" sz="2000" b="1" dirty="0">
                <a:latin typeface="Courier New" panose="02070309020205020404" pitchFamily="49" charset="0"/>
                <a:cs typeface="Courier New" panose="02070309020205020404" pitchFamily="49" charset="0"/>
              </a:rPr>
              <a:t>(s):</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        '''returns a reversed copy of s'''</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if </a:t>
            </a:r>
            <a:r>
              <a:rPr lang="en-US" altLang="en-US" sz="2000" b="1" dirty="0" err="1">
                <a:solidFill>
                  <a:srgbClr val="FF0000"/>
                </a:solidFill>
                <a:latin typeface="Courier New" panose="02070309020205020404" pitchFamily="49" charset="0"/>
                <a:cs typeface="Courier New" panose="02070309020205020404" pitchFamily="49" charset="0"/>
              </a:rPr>
              <a:t>len</a:t>
            </a:r>
            <a:r>
              <a:rPr lang="en-US" altLang="en-US" sz="2000" b="1" dirty="0">
                <a:solidFill>
                  <a:srgbClr val="FF0000"/>
                </a:solidFill>
                <a:latin typeface="Courier New" panose="02070309020205020404" pitchFamily="49" charset="0"/>
                <a:cs typeface="Courier New" panose="02070309020205020404" pitchFamily="49" charset="0"/>
              </a:rPr>
              <a:t>(s) == 0:</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return ''</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else:</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return s[-1] + </a:t>
            </a:r>
            <a:r>
              <a:rPr lang="en-US" altLang="en-US" sz="2000" b="1" dirty="0" err="1">
                <a:solidFill>
                  <a:srgbClr val="FF0000"/>
                </a:solidFill>
                <a:latin typeface="Courier New" panose="02070309020205020404" pitchFamily="49" charset="0"/>
                <a:cs typeface="Courier New" panose="02070309020205020404" pitchFamily="49" charset="0"/>
              </a:rPr>
              <a:t>rev_str_rec</a:t>
            </a:r>
            <a:r>
              <a:rPr lang="en-US" altLang="en-US" sz="2000" b="1" dirty="0">
                <a:solidFill>
                  <a:srgbClr val="FF0000"/>
                </a:solidFill>
                <a:latin typeface="Courier New" panose="02070309020205020404" pitchFamily="49" charset="0"/>
                <a:cs typeface="Courier New" panose="02070309020205020404" pitchFamily="49" charset="0"/>
              </a:rPr>
              <a:t>(s[:-1])</a:t>
            </a:r>
            <a:endParaRPr lang="en-US" altLang="en-US" sz="2000"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2000"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t>
            </a:r>
            <a:r>
              <a:rPr lang="en-US" altLang="en-US" sz="2000" b="1" dirty="0" err="1">
                <a:solidFill>
                  <a:srgbClr val="0070C0"/>
                </a:solidFill>
                <a:latin typeface="Courier New" panose="02070309020205020404" pitchFamily="49" charset="0"/>
                <a:cs typeface="Courier New" panose="02070309020205020404" pitchFamily="49" charset="0"/>
              </a:rPr>
              <a:t>rev_str_rec</a:t>
            </a:r>
            <a:r>
              <a:rPr lang="en-US" altLang="en-US" sz="2000" b="1" dirty="0">
                <a:solidFill>
                  <a:srgbClr val="0070C0"/>
                </a:solidFill>
                <a:latin typeface="Courier New" panose="02070309020205020404" pitchFamily="49" charset="0"/>
                <a:cs typeface="Courier New" panose="02070309020205020404" pitchFamily="49" charset="0"/>
              </a:rPr>
              <a:t>('')          </a:t>
            </a:r>
            <a:r>
              <a:rPr lang="en-US" altLang="en-US" sz="2000" dirty="0">
                <a:solidFill>
                  <a:srgbClr val="0070C0"/>
                </a:solidFill>
                <a:latin typeface="Courier New" panose="02070309020205020404" pitchFamily="49" charset="0"/>
                <a:cs typeface="Courier New" panose="02070309020205020404" pitchFamily="49" charset="0"/>
              </a:rPr>
              <a:t># check edge cases</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a:t>
            </a:r>
            <a:endParaRPr lang="en-US" altLang="en-US" sz="2000" dirty="0">
              <a:solidFill>
                <a:srgbClr val="0070C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t>
            </a:r>
            <a:r>
              <a:rPr lang="en-US" altLang="en-US" sz="2000" b="1" dirty="0" err="1">
                <a:solidFill>
                  <a:srgbClr val="FF0000"/>
                </a:solidFill>
                <a:latin typeface="Courier New" panose="02070309020205020404" pitchFamily="49" charset="0"/>
                <a:cs typeface="Courier New" panose="02070309020205020404" pitchFamily="49" charset="0"/>
              </a:rPr>
              <a:t>rev_str_rec</a:t>
            </a:r>
            <a:r>
              <a:rPr lang="en-US" altLang="en-US" sz="2000" b="1" dirty="0">
                <a:solidFill>
                  <a:srgbClr val="FF0000"/>
                </a:solidFill>
                <a:latin typeface="Courier New" panose="02070309020205020404" pitchFamily="49" charset="0"/>
                <a:cs typeface="Courier New" panose="02070309020205020404" pitchFamily="49" charset="0"/>
              </a:rPr>
              <a:t>('a')</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 </a:t>
            </a:r>
            <a:r>
              <a:rPr lang="en-US" altLang="en-US" sz="2000" b="1" dirty="0" err="1">
                <a:solidFill>
                  <a:srgbClr val="00B050"/>
                </a:solidFill>
                <a:latin typeface="Courier New" panose="02070309020205020404" pitchFamily="49" charset="0"/>
                <a:cs typeface="Courier New" panose="02070309020205020404" pitchFamily="49" charset="0"/>
              </a:rPr>
              <a:t>rev_str_rec</a:t>
            </a:r>
            <a:r>
              <a:rPr lang="en-US" altLang="en-US" sz="2000" b="1" dirty="0">
                <a:solidFill>
                  <a:srgbClr val="00B050"/>
                </a:solidFill>
                <a:latin typeface="Courier New" panose="02070309020205020404" pitchFamily="49" charset="0"/>
                <a:cs typeface="Courier New" panose="02070309020205020404" pitchFamily="49" charset="0"/>
              </a:rPr>
              <a:t>('hello, world')</a:t>
            </a:r>
          </a:p>
          <a:p>
            <a:pPr marL="0" indent="0" eaLnBrk="1" hangingPunct="1">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a:t>
            </a:r>
            <a:r>
              <a:rPr lang="en-US" altLang="en-US" sz="2000" dirty="0" err="1">
                <a:solidFill>
                  <a:srgbClr val="00B050"/>
                </a:solidFill>
                <a:latin typeface="Courier New" panose="02070309020205020404" pitchFamily="49" charset="0"/>
                <a:cs typeface="Courier New" panose="02070309020205020404" pitchFamily="49" charset="0"/>
              </a:rPr>
              <a:t>dlrow</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dirty="0" err="1">
                <a:solidFill>
                  <a:srgbClr val="00B050"/>
                </a:solidFill>
                <a:latin typeface="Courier New" panose="02070309020205020404" pitchFamily="49" charset="0"/>
                <a:cs typeface="Courier New" panose="02070309020205020404" pitchFamily="49" charset="0"/>
              </a:rPr>
              <a:t>olleh</a:t>
            </a:r>
            <a:r>
              <a:rPr lang="en-US" altLang="en-US" sz="2000" dirty="0">
                <a:solidFill>
                  <a:srgbClr val="00B050"/>
                </a:solidFill>
                <a:latin typeface="Courier New" panose="02070309020205020404" pitchFamily="49" charset="0"/>
                <a:cs typeface="Courier New" panose="02070309020205020404" pitchFamily="49" charset="0"/>
              </a:rPr>
              <a:t>'</a:t>
            </a:r>
          </a:p>
        </p:txBody>
      </p:sp>
      <p:sp>
        <p:nvSpPr>
          <p:cNvPr id="2" name="Date Placeholder 1"/>
          <p:cNvSpPr>
            <a:spLocks noGrp="1"/>
          </p:cNvSpPr>
          <p:nvPr>
            <p:ph type="dt" sz="half" idx="10"/>
          </p:nvPr>
        </p:nvSpPr>
        <p:spPr/>
        <p:txBody>
          <a:bodyPr/>
          <a:lstStyle/>
          <a:p>
            <a:pPr>
              <a:defRPr/>
            </a:pPr>
            <a:fld id="{25DF140A-7446-4FD0-B42F-FE24295F90F1}"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36</a:t>
            </a:fld>
            <a:endParaRPr lang="en-US"/>
          </a:p>
        </p:txBody>
      </p:sp>
    </p:spTree>
    <p:extLst>
      <p:ext uri="{BB962C8B-B14F-4D97-AF65-F5344CB8AC3E}">
        <p14:creationId xmlns:p14="http://schemas.microsoft.com/office/powerpoint/2010/main" val="3540772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dirty="0"/>
              <a:t>About Recursion</a:t>
            </a:r>
            <a:endParaRPr lang="en-US" altLang="en-US" b="1" dirty="0">
              <a:latin typeface="Courier New" panose="02070309020205020404" pitchFamily="49" charset="0"/>
              <a:cs typeface="Courier New" panose="02070309020205020404" pitchFamily="49" charset="0"/>
            </a:endParaRPr>
          </a:p>
        </p:txBody>
      </p:sp>
      <p:sp>
        <p:nvSpPr>
          <p:cNvPr id="31747" name="Rectangle 3"/>
          <p:cNvSpPr>
            <a:spLocks noGrp="1" noChangeArrowheads="1"/>
          </p:cNvSpPr>
          <p:nvPr>
            <p:ph type="body" idx="1"/>
          </p:nvPr>
        </p:nvSpPr>
        <p:spPr/>
        <p:txBody>
          <a:bodyPr/>
          <a:lstStyle/>
          <a:p>
            <a:pPr eaLnBrk="1" hangingPunct="1">
              <a:lnSpc>
                <a:spcPct val="90000"/>
              </a:lnSpc>
            </a:pPr>
            <a:r>
              <a:rPr lang="en-US" altLang="en-US" sz="2800" dirty="0"/>
              <a:t>If</a:t>
            </a:r>
          </a:p>
          <a:p>
            <a:pPr lvl="1" eaLnBrk="1" hangingPunct="1">
              <a:lnSpc>
                <a:spcPct val="90000"/>
              </a:lnSpc>
            </a:pPr>
            <a:r>
              <a:rPr lang="en-US" altLang="en-US" sz="2400" dirty="0"/>
              <a:t>The function tests for and does nothing in response to "the empty task"</a:t>
            </a:r>
          </a:p>
          <a:p>
            <a:pPr lvl="2" eaLnBrk="1" hangingPunct="1">
              <a:lnSpc>
                <a:spcPct val="90000"/>
              </a:lnSpc>
            </a:pPr>
            <a:r>
              <a:rPr lang="en-US" altLang="en-US" sz="2000" dirty="0"/>
              <a:t>That is, the function tests a </a:t>
            </a:r>
            <a:r>
              <a:rPr lang="en-US" altLang="en-US" sz="2000" b="1" i="1" dirty="0"/>
              <a:t>stopping condition</a:t>
            </a:r>
          </a:p>
          <a:p>
            <a:pPr lvl="1" eaLnBrk="1" hangingPunct="1">
              <a:lnSpc>
                <a:spcPct val="90000"/>
              </a:lnSpc>
            </a:pPr>
            <a:r>
              <a:rPr lang="en-US" altLang="en-US" sz="2400" dirty="0"/>
              <a:t>The original task is </a:t>
            </a:r>
            <a:r>
              <a:rPr lang="en-US" altLang="en-US" sz="2400" b="1" i="1" dirty="0"/>
              <a:t>finite</a:t>
            </a:r>
          </a:p>
          <a:p>
            <a:pPr lvl="1" eaLnBrk="1" hangingPunct="1">
              <a:lnSpc>
                <a:spcPct val="90000"/>
              </a:lnSpc>
            </a:pPr>
            <a:r>
              <a:rPr lang="en-US" altLang="en-US" sz="2400" dirty="0"/>
              <a:t>Each subtask is </a:t>
            </a:r>
            <a:r>
              <a:rPr lang="en-US" altLang="en-US" sz="2400" b="1" i="1" dirty="0"/>
              <a:t>simpler</a:t>
            </a:r>
            <a:r>
              <a:rPr lang="en-US" altLang="en-US" sz="2400" dirty="0"/>
              <a:t> than the current task</a:t>
            </a:r>
          </a:p>
          <a:p>
            <a:pPr lvl="2" eaLnBrk="1" hangingPunct="1">
              <a:lnSpc>
                <a:spcPct val="90000"/>
              </a:lnSpc>
            </a:pPr>
            <a:r>
              <a:rPr lang="en-US" altLang="en-US" sz="2000" dirty="0"/>
              <a:t>But the simple part is </a:t>
            </a:r>
            <a:r>
              <a:rPr lang="en-US" altLang="en-US" sz="2000" b="1" i="1" dirty="0"/>
              <a:t>not</a:t>
            </a:r>
            <a:r>
              <a:rPr lang="en-US" altLang="en-US" sz="2000" dirty="0"/>
              <a:t> "the empty task"</a:t>
            </a:r>
          </a:p>
          <a:p>
            <a:pPr eaLnBrk="1" hangingPunct="1">
              <a:lnSpc>
                <a:spcPct val="90000"/>
              </a:lnSpc>
            </a:pPr>
            <a:r>
              <a:rPr lang="en-US" altLang="en-US" sz="2800" dirty="0"/>
              <a:t>Then recursion will cease after a finite number of function calls</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37</a:t>
            </a:fld>
            <a:endParaRPr lang="en-US"/>
          </a:p>
        </p:txBody>
      </p:sp>
      <p:sp>
        <p:nvSpPr>
          <p:cNvPr id="5" name="Date Placeholder 4"/>
          <p:cNvSpPr>
            <a:spLocks noGrp="1"/>
          </p:cNvSpPr>
          <p:nvPr>
            <p:ph type="dt" sz="half" idx="10"/>
          </p:nvPr>
        </p:nvSpPr>
        <p:spPr/>
        <p:txBody>
          <a:bodyPr/>
          <a:lstStyle/>
          <a:p>
            <a:pPr>
              <a:defRPr/>
            </a:pPr>
            <a:fld id="{8661B952-0C9B-43D2-A643-83A375B7AB87}" type="datetime1">
              <a:rPr lang="en-US" smtClean="0"/>
              <a:t>7/10/2021</a:t>
            </a:fld>
            <a:endParaRPr lang="en-US"/>
          </a:p>
        </p:txBody>
      </p:sp>
      <p:sp>
        <p:nvSpPr>
          <p:cNvPr id="6" name="Footer Placeholder 5"/>
          <p:cNvSpPr>
            <a:spLocks noGrp="1"/>
          </p:cNvSpPr>
          <p:nvPr>
            <p:ph type="ftr" sz="quarter" idx="11"/>
          </p:nvPr>
        </p:nvSpPr>
        <p:spPr/>
        <p:txBody>
          <a:bodyPr/>
          <a:lstStyle/>
          <a:p>
            <a:pPr>
              <a:defRPr/>
            </a:pPr>
            <a:r>
              <a:rPr lang="en-US" dirty="0"/>
              <a:t>Copyright (c) John K. </a:t>
            </a:r>
            <a:r>
              <a:rPr lang="en-US" dirty="0" err="1"/>
              <a:t>Ostlund</a:t>
            </a:r>
            <a:endParaRPr lang="en-US" dirty="0"/>
          </a:p>
        </p:txBody>
      </p:sp>
    </p:spTree>
    <p:extLst>
      <p:ext uri="{BB962C8B-B14F-4D97-AF65-F5344CB8AC3E}">
        <p14:creationId xmlns:p14="http://schemas.microsoft.com/office/powerpoint/2010/main" val="26894158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dirty="0"/>
              <a:t>About Recursion (</a:t>
            </a:r>
            <a:r>
              <a:rPr lang="en-US" altLang="en-US" dirty="0" err="1"/>
              <a:t>cont</a:t>
            </a:r>
            <a:r>
              <a:rPr lang="en-US" altLang="en-US" dirty="0"/>
              <a:t>)</a:t>
            </a:r>
            <a:endParaRPr lang="en-US" altLang="en-US" b="1" dirty="0">
              <a:latin typeface="Courier New" panose="02070309020205020404" pitchFamily="49" charset="0"/>
              <a:cs typeface="Courier New" panose="02070309020205020404" pitchFamily="49" charset="0"/>
            </a:endParaRPr>
          </a:p>
        </p:txBody>
      </p:sp>
      <p:sp>
        <p:nvSpPr>
          <p:cNvPr id="31747" name="Rectangle 3"/>
          <p:cNvSpPr>
            <a:spLocks noGrp="1" noChangeArrowheads="1"/>
          </p:cNvSpPr>
          <p:nvPr>
            <p:ph type="body" idx="1"/>
          </p:nvPr>
        </p:nvSpPr>
        <p:spPr/>
        <p:txBody>
          <a:bodyPr/>
          <a:lstStyle/>
          <a:p>
            <a:pPr eaLnBrk="1" hangingPunct="1">
              <a:lnSpc>
                <a:spcPct val="90000"/>
              </a:lnSpc>
            </a:pPr>
            <a:r>
              <a:rPr lang="en-US" altLang="en-US" sz="2800" dirty="0"/>
              <a:t>For </a:t>
            </a:r>
            <a:r>
              <a:rPr lang="en-US" altLang="en-US" sz="2800" i="1" dirty="0"/>
              <a:t>linked data structures</a:t>
            </a:r>
            <a:r>
              <a:rPr lang="en-US" altLang="en-US" sz="2800" dirty="0"/>
              <a:t> such as </a:t>
            </a:r>
            <a:r>
              <a:rPr lang="en-US" altLang="en-US" sz="2800" i="1" dirty="0"/>
              <a:t>binary trees</a:t>
            </a:r>
            <a:r>
              <a:rPr lang="en-US" altLang="en-US" sz="2800" dirty="0"/>
              <a:t>, </a:t>
            </a:r>
            <a:r>
              <a:rPr lang="en-US" altLang="en-US" sz="2800" i="1" dirty="0"/>
              <a:t>linked lists</a:t>
            </a:r>
            <a:r>
              <a:rPr lang="en-US" altLang="en-US" sz="2800" dirty="0"/>
              <a:t>, and general </a:t>
            </a:r>
            <a:r>
              <a:rPr lang="en-US" altLang="en-US" sz="2800" i="1" dirty="0"/>
              <a:t>graphs</a:t>
            </a:r>
            <a:r>
              <a:rPr lang="en-US" altLang="en-US" sz="2800" dirty="0"/>
              <a:t>, recursive algorithms are often "easy"</a:t>
            </a:r>
          </a:p>
          <a:p>
            <a:pPr lvl="1" eaLnBrk="1" hangingPunct="1">
              <a:lnSpc>
                <a:spcPct val="90000"/>
              </a:lnSpc>
            </a:pPr>
            <a:r>
              <a:rPr lang="en-US" altLang="en-US" sz="2400" dirty="0"/>
              <a:t>Equivalent iterative algorithms may be much harder to write</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38</a:t>
            </a:fld>
            <a:endParaRPr lang="en-US"/>
          </a:p>
        </p:txBody>
      </p:sp>
      <p:sp>
        <p:nvSpPr>
          <p:cNvPr id="5" name="Date Placeholder 4"/>
          <p:cNvSpPr>
            <a:spLocks noGrp="1"/>
          </p:cNvSpPr>
          <p:nvPr>
            <p:ph type="dt" sz="half" idx="10"/>
          </p:nvPr>
        </p:nvSpPr>
        <p:spPr/>
        <p:txBody>
          <a:bodyPr/>
          <a:lstStyle/>
          <a:p>
            <a:pPr>
              <a:defRPr/>
            </a:pPr>
            <a:fld id="{8661B952-0C9B-43D2-A643-83A375B7AB87}" type="datetime1">
              <a:rPr lang="en-US" smtClean="0"/>
              <a:t>7/10/2021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34552153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Recursive </a:t>
            </a:r>
            <a:r>
              <a:rPr lang="en-US" altLang="en-US" b="1" dirty="0"/>
              <a:t>factorial</a:t>
            </a:r>
            <a:r>
              <a:rPr lang="en-US" altLang="en-US" dirty="0"/>
              <a:t> Function</a:t>
            </a:r>
          </a:p>
        </p:txBody>
      </p:sp>
      <p:sp>
        <p:nvSpPr>
          <p:cNvPr id="24579" name="Rectangle 3"/>
          <p:cNvSpPr>
            <a:spLocks noGrp="1" noChangeArrowheads="1"/>
          </p:cNvSpPr>
          <p:nvPr>
            <p:ph type="body" idx="1"/>
          </p:nvPr>
        </p:nvSpPr>
        <p:spPr/>
        <p:txBody>
          <a:bodyPr/>
          <a:lstStyle/>
          <a:p>
            <a:pPr eaLnBrk="1" hangingPunct="1"/>
            <a:r>
              <a:rPr lang="en-US" altLang="en-US" sz="2800" dirty="0"/>
              <a:t>Previously, we implemented </a:t>
            </a:r>
            <a:r>
              <a:rPr lang="en-US" altLang="en-US" sz="2800" b="1" dirty="0"/>
              <a:t>factorial</a:t>
            </a:r>
            <a:r>
              <a:rPr lang="en-US" altLang="en-US" sz="2800" dirty="0"/>
              <a:t> iteratively using a </a:t>
            </a:r>
            <a:r>
              <a:rPr lang="en-US" altLang="en-US" sz="2800" b="1" dirty="0"/>
              <a:t>for</a:t>
            </a:r>
            <a:r>
              <a:rPr lang="en-US" altLang="en-US" sz="2800" dirty="0"/>
              <a:t> loop</a:t>
            </a:r>
          </a:p>
          <a:p>
            <a:pPr eaLnBrk="1" hangingPunct="1"/>
            <a:r>
              <a:rPr lang="en-US" altLang="en-US" sz="2800" dirty="0"/>
              <a:t>Mathematically, </a:t>
            </a:r>
            <a:r>
              <a:rPr lang="en-US" altLang="en-US" sz="2800" b="1" dirty="0"/>
              <a:t>n!</a:t>
            </a:r>
            <a:r>
              <a:rPr lang="en-US" altLang="en-US" sz="2800" dirty="0"/>
              <a:t> is often defined using a </a:t>
            </a:r>
            <a:r>
              <a:rPr lang="en-US" altLang="en-US" sz="2800" i="1" dirty="0"/>
              <a:t>recurrence relation</a:t>
            </a:r>
            <a:r>
              <a:rPr lang="en-US" altLang="en-US" sz="2800" dirty="0"/>
              <a:t>:</a:t>
            </a:r>
          </a:p>
          <a:p>
            <a:pPr marL="0" indent="0" eaLnBrk="1" hangingPunct="1">
              <a:buNone/>
            </a:pPr>
            <a:r>
              <a:rPr lang="en-US" altLang="en-US" sz="2800" b="1" dirty="0">
                <a:latin typeface="Courier New" panose="02070309020205020404" pitchFamily="49" charset="0"/>
                <a:cs typeface="Courier New" panose="02070309020205020404" pitchFamily="49" charset="0"/>
              </a:rPr>
              <a:t>	0! = 1</a:t>
            </a:r>
          </a:p>
          <a:p>
            <a:pPr marL="0" indent="0" eaLnBrk="1" hangingPunct="1">
              <a:buNone/>
            </a:pPr>
            <a:r>
              <a:rPr lang="en-US" altLang="en-US" sz="2800" b="1" dirty="0">
                <a:latin typeface="Courier New" panose="02070309020205020404" pitchFamily="49" charset="0"/>
                <a:cs typeface="Courier New" panose="02070309020205020404" pitchFamily="49" charset="0"/>
              </a:rPr>
              <a:t>	n! = n * (n - 1)!, n &gt; 0</a:t>
            </a:r>
          </a:p>
          <a:p>
            <a:pPr marL="0" indent="0" eaLnBrk="1" hangingPunct="1">
              <a:spcBef>
                <a:spcPts val="0"/>
              </a:spcBef>
              <a:buNone/>
            </a:pPr>
            <a:endParaRPr lang="en-US" altLang="en-US" sz="800" b="1"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25DF140A-7446-4FD0-B42F-FE24295F90F1}"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39</a:t>
            </a:fld>
            <a:endParaRPr lang="en-US"/>
          </a:p>
        </p:txBody>
      </p:sp>
    </p:spTree>
    <p:extLst>
      <p:ext uri="{BB962C8B-B14F-4D97-AF65-F5344CB8AC3E}">
        <p14:creationId xmlns:p14="http://schemas.microsoft.com/office/powerpoint/2010/main" val="804836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Recursive </a:t>
            </a:r>
            <a:r>
              <a:rPr lang="en-US" altLang="en-US" b="1" dirty="0"/>
              <a:t>factorial</a:t>
            </a:r>
            <a:r>
              <a:rPr lang="en-US" altLang="en-US" dirty="0"/>
              <a:t> Function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r>
              <a:rPr lang="en-US" altLang="en-US" sz="2800" dirty="0"/>
              <a:t>In Python:</a:t>
            </a:r>
          </a:p>
          <a:p>
            <a:pPr eaLnBrk="1" hangingPunct="1"/>
            <a:endParaRPr lang="en-US" altLang="en-US" sz="12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def </a:t>
            </a:r>
            <a:r>
              <a:rPr lang="en-US" altLang="en-US" sz="2000" b="1" dirty="0" err="1">
                <a:latin typeface="Courier New" panose="02070309020205020404" pitchFamily="49" charset="0"/>
                <a:cs typeface="Courier New" panose="02070309020205020404" pitchFamily="49" charset="0"/>
              </a:rPr>
              <a:t>fact_rec</a:t>
            </a:r>
            <a:r>
              <a:rPr lang="en-US" altLang="en-US" sz="2000" b="1" dirty="0">
                <a:latin typeface="Courier New" panose="02070309020205020404" pitchFamily="49" charset="0"/>
                <a:cs typeface="Courier New" panose="02070309020205020404" pitchFamily="49" charset="0"/>
              </a:rPr>
              <a:t>(n):</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        '''returns n!'''</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if n &lt;= 0:           </a:t>
            </a:r>
            <a:r>
              <a:rPr lang="en-US" altLang="en-US" sz="2000" dirty="0">
                <a:solidFill>
                  <a:srgbClr val="FF0000"/>
                </a:solidFill>
                <a:latin typeface="Courier New" panose="02070309020205020404" pitchFamily="49" charset="0"/>
                <a:cs typeface="Courier New" panose="02070309020205020404" pitchFamily="49" charset="0"/>
              </a:rPr>
              <a:t># handle negatives</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return 1</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else:</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            return n * </a:t>
            </a:r>
            <a:r>
              <a:rPr lang="en-US" altLang="en-US" sz="2000" b="1" dirty="0" err="1">
                <a:solidFill>
                  <a:srgbClr val="FF0000"/>
                </a:solidFill>
                <a:latin typeface="Courier New" panose="02070309020205020404" pitchFamily="49" charset="0"/>
                <a:cs typeface="Courier New" panose="02070309020205020404" pitchFamily="49" charset="0"/>
              </a:rPr>
              <a:t>fact_rec</a:t>
            </a:r>
            <a:r>
              <a:rPr lang="en-US" altLang="en-US" sz="2000" b="1" dirty="0">
                <a:solidFill>
                  <a:srgbClr val="FF0000"/>
                </a:solidFill>
                <a:latin typeface="Courier New" panose="02070309020205020404" pitchFamily="49" charset="0"/>
                <a:cs typeface="Courier New" panose="02070309020205020404" pitchFamily="49" charset="0"/>
              </a:rPr>
              <a:t>(n-1)</a:t>
            </a:r>
            <a:endParaRPr lang="en-US" altLang="en-US" sz="2000"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2000"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t>
            </a:r>
            <a:r>
              <a:rPr lang="en-US" altLang="en-US" sz="2000" b="1" dirty="0" err="1">
                <a:solidFill>
                  <a:srgbClr val="0070C0"/>
                </a:solidFill>
                <a:latin typeface="Courier New" panose="02070309020205020404" pitchFamily="49" charset="0"/>
                <a:cs typeface="Courier New" panose="02070309020205020404" pitchFamily="49" charset="0"/>
              </a:rPr>
              <a:t>fact_rec</a:t>
            </a:r>
            <a:r>
              <a:rPr lang="en-US" altLang="en-US" sz="2000" b="1" dirty="0">
                <a:solidFill>
                  <a:srgbClr val="0070C0"/>
                </a:solidFill>
                <a:latin typeface="Courier New" panose="02070309020205020404" pitchFamily="49" charset="0"/>
                <a:cs typeface="Courier New" panose="02070309020205020404" pitchFamily="49" charset="0"/>
              </a:rPr>
              <a:t>(3)</a:t>
            </a:r>
            <a:endParaRPr lang="en-US" altLang="en-US" sz="2000" dirty="0">
              <a:solidFill>
                <a:srgbClr val="0070C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6</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t>
            </a:r>
            <a:r>
              <a:rPr lang="en-US" altLang="en-US" sz="2000" b="1" dirty="0" err="1">
                <a:solidFill>
                  <a:srgbClr val="FF0000"/>
                </a:solidFill>
                <a:latin typeface="Courier New" panose="02070309020205020404" pitchFamily="49" charset="0"/>
                <a:cs typeface="Courier New" panose="02070309020205020404" pitchFamily="49" charset="0"/>
              </a:rPr>
              <a:t>fact_rec</a:t>
            </a:r>
            <a:r>
              <a:rPr lang="en-US" altLang="en-US" sz="2000" b="1" dirty="0">
                <a:solidFill>
                  <a:srgbClr val="FF0000"/>
                </a:solidFill>
                <a:latin typeface="Courier New" panose="02070309020205020404" pitchFamily="49" charset="0"/>
                <a:cs typeface="Courier New" panose="02070309020205020404" pitchFamily="49" charset="0"/>
              </a:rPr>
              <a:t>(100)</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9332621544394415...6864000000000000000000000000</a:t>
            </a:r>
          </a:p>
        </p:txBody>
      </p:sp>
      <p:sp>
        <p:nvSpPr>
          <p:cNvPr id="2" name="Date Placeholder 1"/>
          <p:cNvSpPr>
            <a:spLocks noGrp="1"/>
          </p:cNvSpPr>
          <p:nvPr>
            <p:ph type="dt" sz="half" idx="10"/>
          </p:nvPr>
        </p:nvSpPr>
        <p:spPr/>
        <p:txBody>
          <a:bodyPr/>
          <a:lstStyle/>
          <a:p>
            <a:pPr>
              <a:defRPr/>
            </a:pPr>
            <a:fld id="{25DF140A-7446-4FD0-B42F-FE24295F90F1}"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40</a:t>
            </a:fld>
            <a:endParaRPr lang="en-US"/>
          </a:p>
        </p:txBody>
      </p:sp>
    </p:spTree>
    <p:extLst>
      <p:ext uri="{BB962C8B-B14F-4D97-AF65-F5344CB8AC3E}">
        <p14:creationId xmlns:p14="http://schemas.microsoft.com/office/powerpoint/2010/main" val="4416269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Learning Recursion</a:t>
            </a:r>
          </a:p>
        </p:txBody>
      </p:sp>
      <p:sp>
        <p:nvSpPr>
          <p:cNvPr id="43011" name="Rectangle 3"/>
          <p:cNvSpPr>
            <a:spLocks noGrp="1" noChangeArrowheads="1"/>
          </p:cNvSpPr>
          <p:nvPr>
            <p:ph type="body" idx="1"/>
          </p:nvPr>
        </p:nvSpPr>
        <p:spPr/>
        <p:txBody>
          <a:bodyPr/>
          <a:lstStyle/>
          <a:p>
            <a:pPr eaLnBrk="1" hangingPunct="1"/>
            <a:r>
              <a:rPr lang="en-US" altLang="en-US" sz="2800" dirty="0"/>
              <a:t>A bad—but almost true—joke:</a:t>
            </a:r>
          </a:p>
          <a:p>
            <a:pPr lvl="1" eaLnBrk="1" hangingPunct="1"/>
            <a:r>
              <a:rPr lang="en-US" altLang="en-US" sz="2400" i="1" dirty="0"/>
              <a:t>"In order to understand recursion, you must first understand recursion"</a:t>
            </a:r>
          </a:p>
          <a:p>
            <a:pPr eaLnBrk="1" hangingPunct="1"/>
            <a:endParaRPr lang="en-US" altLang="en-US" sz="800" dirty="0"/>
          </a:p>
          <a:p>
            <a:pPr eaLnBrk="1" hangingPunct="1"/>
            <a:r>
              <a:rPr lang="en-US" altLang="en-US" sz="2800" dirty="0"/>
              <a:t>Understanding recursion is a "lightbulb experience"</a:t>
            </a:r>
          </a:p>
          <a:p>
            <a:pPr lvl="1" eaLnBrk="1" hangingPunct="1"/>
            <a:r>
              <a:rPr lang="en-US" altLang="en-US" sz="2400" dirty="0"/>
              <a:t>Write lots and lots of recursive functions</a:t>
            </a:r>
            <a:endParaRPr lang="en-US" altLang="en-US" dirty="0"/>
          </a:p>
          <a:p>
            <a:pPr lvl="1" eaLnBrk="1" hangingPunct="1"/>
            <a:r>
              <a:rPr lang="en-US" altLang="en-US" sz="2400" dirty="0"/>
              <a:t>Suddenly, you will get it—</a:t>
            </a:r>
            <a:r>
              <a:rPr lang="en-US" altLang="en-US" sz="2400" i="1" dirty="0"/>
              <a:t>the lightbulb is on!</a:t>
            </a:r>
          </a:p>
          <a:p>
            <a:pPr lvl="1" eaLnBrk="1" hangingPunct="1"/>
            <a:r>
              <a:rPr lang="en-US" altLang="en-US" sz="2400" i="1" dirty="0">
                <a:solidFill>
                  <a:srgbClr val="FF0000"/>
                </a:solidFill>
              </a:rPr>
              <a:t>Recursion must be as easy for you as iteration</a:t>
            </a:r>
          </a:p>
          <a:p>
            <a:pPr eaLnBrk="1" hangingPunct="1"/>
            <a:endParaRPr lang="en-US" altLang="en-US" sz="2800"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41</a:t>
            </a:fld>
            <a:endParaRPr lang="en-US"/>
          </a:p>
        </p:txBody>
      </p:sp>
      <p:sp>
        <p:nvSpPr>
          <p:cNvPr id="5" name="Date Placeholder 4"/>
          <p:cNvSpPr>
            <a:spLocks noGrp="1"/>
          </p:cNvSpPr>
          <p:nvPr>
            <p:ph type="dt" sz="half" idx="10"/>
          </p:nvPr>
        </p:nvSpPr>
        <p:spPr/>
        <p:txBody>
          <a:bodyPr/>
          <a:lstStyle/>
          <a:p>
            <a:pPr>
              <a:defRPr/>
            </a:pPr>
            <a:fld id="{F84089F7-F865-4134-8BE1-95AB0C899B63}" type="datetime1">
              <a:rPr lang="en-US" smtClean="0"/>
              <a:t>7/10/2021</a:t>
            </a:fld>
            <a:endParaRPr lang="en-US"/>
          </a:p>
        </p:txBody>
      </p:sp>
      <p:sp>
        <p:nvSpPr>
          <p:cNvPr id="6" name="Footer Placeholder 5"/>
          <p:cNvSpPr>
            <a:spLocks noGrp="1"/>
          </p:cNvSpPr>
          <p:nvPr>
            <p:ph type="ftr" sz="quarter" idx="11"/>
          </p:nvPr>
        </p:nvSpPr>
        <p:spPr/>
        <p:txBody>
          <a:bodyPr/>
          <a:lstStyle/>
          <a:p>
            <a:pPr>
              <a:defRPr/>
            </a:pPr>
            <a:r>
              <a:rPr lang="en-US"/>
              <a:t>Copyright (c) John K. Ostlund</a:t>
            </a:r>
          </a:p>
        </p:txBody>
      </p:sp>
    </p:spTree>
    <p:extLst>
      <p:ext uri="{BB962C8B-B14F-4D97-AF65-F5344CB8AC3E}">
        <p14:creationId xmlns:p14="http://schemas.microsoft.com/office/powerpoint/2010/main" val="10035280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err="1"/>
              <a:t>NumPy</a:t>
            </a:r>
            <a:r>
              <a:rPr lang="en-US" altLang="en-US" dirty="0"/>
              <a:t>, Pandas, </a:t>
            </a:r>
            <a:r>
              <a:rPr lang="en-US" altLang="en-US" dirty="0" err="1"/>
              <a:t>SciPy</a:t>
            </a:r>
            <a:r>
              <a:rPr lang="en-US" altLang="en-US" dirty="0"/>
              <a:t>, and </a:t>
            </a:r>
            <a:r>
              <a:rPr lang="en-US" altLang="en-US" dirty="0" err="1"/>
              <a:t>Statsmodels</a:t>
            </a:r>
            <a:endParaRPr lang="en-US" altLang="en-US" dirty="0"/>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Powerful and popular data analysis modules</a:t>
            </a:r>
          </a:p>
          <a:p>
            <a:pPr eaLnBrk="1" hangingPunct="1">
              <a:spcBef>
                <a:spcPts val="0"/>
              </a:spcBef>
            </a:pPr>
            <a:r>
              <a:rPr lang="en-US" altLang="en-US" sz="2800" b="1" dirty="0" err="1"/>
              <a:t>NumPy</a:t>
            </a:r>
            <a:r>
              <a:rPr lang="en-US" altLang="en-US" sz="2800" dirty="0"/>
              <a:t>: </a:t>
            </a:r>
            <a:r>
              <a:rPr lang="en-US" altLang="en-US" sz="2800" b="1" dirty="0" err="1"/>
              <a:t>ndarray</a:t>
            </a:r>
            <a:r>
              <a:rPr lang="en-US" altLang="en-US" sz="2800" dirty="0"/>
              <a:t> n-dimensional arrays, related math functions, linear algebra, ...</a:t>
            </a:r>
          </a:p>
          <a:p>
            <a:pPr eaLnBrk="1" hangingPunct="1">
              <a:spcBef>
                <a:spcPts val="0"/>
              </a:spcBef>
            </a:pPr>
            <a:r>
              <a:rPr lang="en-US" altLang="en-US" sz="2800" b="1" dirty="0"/>
              <a:t>Pandas</a:t>
            </a:r>
            <a:r>
              <a:rPr lang="en-US" altLang="en-US" sz="2800" dirty="0"/>
              <a:t>: </a:t>
            </a:r>
            <a:r>
              <a:rPr lang="en-US" altLang="en-US" sz="2800" b="1" dirty="0"/>
              <a:t>Series</a:t>
            </a:r>
            <a:r>
              <a:rPr lang="en-US" altLang="en-US" sz="2800" dirty="0"/>
              <a:t> indexed data series and </a:t>
            </a:r>
            <a:r>
              <a:rPr lang="en-US" altLang="en-US" sz="2800" b="1" dirty="0" err="1"/>
              <a:t>DataFrame</a:t>
            </a:r>
            <a:r>
              <a:rPr lang="en-US" altLang="en-US" sz="2800" dirty="0"/>
              <a:t> "spreadsheet" like facilities</a:t>
            </a:r>
            <a:endParaRPr lang="en-US" altLang="en-US" sz="2800" b="1" dirty="0"/>
          </a:p>
          <a:p>
            <a:pPr eaLnBrk="1" hangingPunct="1">
              <a:spcBef>
                <a:spcPts val="0"/>
              </a:spcBef>
            </a:pPr>
            <a:r>
              <a:rPr lang="en-US" altLang="en-US" sz="2800" b="1" dirty="0" err="1"/>
              <a:t>SciPy</a:t>
            </a:r>
            <a:r>
              <a:rPr lang="en-US" altLang="en-US" sz="2800" dirty="0"/>
              <a:t>: efficient numerical routines: integration, cubic spline, optimization, ...</a:t>
            </a:r>
          </a:p>
          <a:p>
            <a:pPr eaLnBrk="1" hangingPunct="1">
              <a:spcBef>
                <a:spcPts val="0"/>
              </a:spcBef>
            </a:pPr>
            <a:r>
              <a:rPr lang="en-US" altLang="en-US" sz="2800" b="1" dirty="0" err="1"/>
              <a:t>Statsmodels</a:t>
            </a:r>
            <a:r>
              <a:rPr lang="en-US" altLang="en-US" sz="2800" dirty="0"/>
              <a:t>: statistical models, tests, data exploration, using </a:t>
            </a:r>
            <a:r>
              <a:rPr lang="en-US" altLang="en-US" sz="2800" dirty="0" err="1"/>
              <a:t>DataFrames</a:t>
            </a:r>
            <a:endParaRPr lang="en-US" altLang="en-US" sz="2800" b="1" dirty="0"/>
          </a:p>
        </p:txBody>
      </p:sp>
      <p:sp>
        <p:nvSpPr>
          <p:cNvPr id="2" name="Date Placeholder 1"/>
          <p:cNvSpPr>
            <a:spLocks noGrp="1"/>
          </p:cNvSpPr>
          <p:nvPr>
            <p:ph type="dt" sz="half" idx="10"/>
          </p:nvPr>
        </p:nvSpPr>
        <p:spPr/>
        <p:txBody>
          <a:bodyPr/>
          <a:lstStyle/>
          <a:p>
            <a:pPr>
              <a:defRPr/>
            </a:pPr>
            <a:fld id="{CE0A8CDB-DB53-445B-A1DF-EFEE30B84B06}"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42</a:t>
            </a:fld>
            <a:endParaRPr lang="en-US"/>
          </a:p>
        </p:txBody>
      </p:sp>
    </p:spTree>
    <p:extLst>
      <p:ext uri="{BB962C8B-B14F-4D97-AF65-F5344CB8AC3E}">
        <p14:creationId xmlns:p14="http://schemas.microsoft.com/office/powerpoint/2010/main" val="21827671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sz="4000" dirty="0" err="1"/>
              <a:t>NumPy</a:t>
            </a:r>
            <a:r>
              <a:rPr lang="en-US" altLang="en-US" sz="4000" dirty="0"/>
              <a:t>, Pandas, </a:t>
            </a:r>
            <a:r>
              <a:rPr lang="en-US" altLang="en-US" sz="4000" dirty="0" err="1"/>
              <a:t>SciPy</a:t>
            </a:r>
            <a:r>
              <a:rPr lang="en-US" altLang="en-US" sz="4000" dirty="0"/>
              <a:t>, and </a:t>
            </a:r>
            <a:r>
              <a:rPr lang="en-US" altLang="en-US" sz="4000" dirty="0" err="1"/>
              <a:t>Statsmodels</a:t>
            </a:r>
            <a:r>
              <a:rPr lang="en-US" altLang="en-US" sz="4000" dirty="0"/>
              <a:t> Import Conventions</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We will follow an import naming convention common in Python examples and documentation:</a:t>
            </a:r>
          </a:p>
          <a:p>
            <a:pPr eaLnBrk="1" hangingPunct="1">
              <a:spcBef>
                <a:spcPts val="0"/>
              </a:spcBef>
            </a:pPr>
            <a:endParaRPr lang="en-US" altLang="en-US" sz="1050" b="1" dirty="0"/>
          </a:p>
          <a:p>
            <a:pPr marL="0" indent="0" eaLnBrk="1" hangingPunct="1">
              <a:spcBef>
                <a:spcPts val="0"/>
              </a:spcBef>
              <a:buNone/>
            </a:pPr>
            <a:r>
              <a:rPr lang="en-US" altLang="en-US" sz="2800" b="1" dirty="0">
                <a:latin typeface="Courier New" panose="02070309020205020404" pitchFamily="49" charset="0"/>
                <a:cs typeface="Courier New" panose="02070309020205020404" pitchFamily="49" charset="0"/>
              </a:rPr>
              <a:t>import </a:t>
            </a:r>
            <a:r>
              <a:rPr lang="en-US" altLang="en-US" sz="2800" b="1" dirty="0" err="1">
                <a:latin typeface="Courier New" panose="02070309020205020404" pitchFamily="49" charset="0"/>
                <a:cs typeface="Courier New" panose="02070309020205020404" pitchFamily="49" charset="0"/>
              </a:rPr>
              <a:t>numpy</a:t>
            </a:r>
            <a:r>
              <a:rPr lang="en-US" altLang="en-US" sz="2800" b="1" dirty="0">
                <a:latin typeface="Courier New" panose="02070309020205020404" pitchFamily="49" charset="0"/>
                <a:cs typeface="Courier New" panose="02070309020205020404" pitchFamily="49" charset="0"/>
              </a:rPr>
              <a:t> as np</a:t>
            </a:r>
          </a:p>
          <a:p>
            <a:pPr marL="0" indent="0" eaLnBrk="1" hangingPunct="1">
              <a:spcBef>
                <a:spcPts val="0"/>
              </a:spcBef>
              <a:buNone/>
            </a:pPr>
            <a:r>
              <a:rPr lang="en-US" altLang="en-US" sz="2800" b="1" dirty="0">
                <a:latin typeface="Courier New" panose="02070309020205020404" pitchFamily="49" charset="0"/>
                <a:cs typeface="Courier New" panose="02070309020205020404" pitchFamily="49" charset="0"/>
              </a:rPr>
              <a:t>import pandas as </a:t>
            </a:r>
            <a:r>
              <a:rPr lang="en-US" altLang="en-US" sz="2800" b="1" dirty="0" err="1">
                <a:latin typeface="Courier New" panose="02070309020205020404" pitchFamily="49" charset="0"/>
                <a:cs typeface="Courier New" panose="02070309020205020404" pitchFamily="49" charset="0"/>
              </a:rPr>
              <a:t>pd</a:t>
            </a:r>
            <a:endParaRPr lang="en-US" altLang="en-US" sz="2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800" b="1" dirty="0">
                <a:latin typeface="Courier New" panose="02070309020205020404" pitchFamily="49" charset="0"/>
                <a:cs typeface="Courier New" panose="02070309020205020404" pitchFamily="49" charset="0"/>
              </a:rPr>
              <a:t>import </a:t>
            </a:r>
            <a:r>
              <a:rPr lang="en-US" altLang="en-US" sz="2800" b="1" dirty="0" err="1">
                <a:latin typeface="Courier New" panose="02070309020205020404" pitchFamily="49" charset="0"/>
                <a:cs typeface="Courier New" panose="02070309020205020404" pitchFamily="49" charset="0"/>
              </a:rPr>
              <a:t>scipy</a:t>
            </a:r>
            <a:r>
              <a:rPr lang="en-US" altLang="en-US" sz="2800" b="1" dirty="0">
                <a:latin typeface="Courier New" panose="02070309020205020404" pitchFamily="49" charset="0"/>
                <a:cs typeface="Courier New" panose="02070309020205020404" pitchFamily="49" charset="0"/>
              </a:rPr>
              <a:t> as </a:t>
            </a:r>
            <a:r>
              <a:rPr lang="en-US" altLang="en-US" sz="2800" b="1" dirty="0" err="1">
                <a:latin typeface="Courier New" panose="02070309020205020404" pitchFamily="49" charset="0"/>
                <a:cs typeface="Courier New" panose="02070309020205020404" pitchFamily="49" charset="0"/>
              </a:rPr>
              <a:t>sp</a:t>
            </a:r>
            <a:endParaRPr lang="en-US" altLang="en-US" sz="2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800" b="1" dirty="0">
                <a:latin typeface="Courier New" panose="02070309020205020404" pitchFamily="49" charset="0"/>
                <a:cs typeface="Courier New" panose="02070309020205020404" pitchFamily="49" charset="0"/>
              </a:rPr>
              <a:t>import </a:t>
            </a:r>
            <a:r>
              <a:rPr lang="en-US" altLang="en-US" sz="2800" b="1" dirty="0" err="1">
                <a:latin typeface="Courier New" panose="02070309020205020404" pitchFamily="49" charset="0"/>
                <a:cs typeface="Courier New" panose="02070309020205020404" pitchFamily="49" charset="0"/>
              </a:rPr>
              <a:t>statsmodels</a:t>
            </a:r>
            <a:r>
              <a:rPr lang="en-US" altLang="en-US" sz="2800" b="1" dirty="0">
                <a:latin typeface="Courier New" panose="02070309020205020404" pitchFamily="49" charset="0"/>
                <a:cs typeface="Courier New" panose="02070309020205020404" pitchFamily="49" charset="0"/>
              </a:rPr>
              <a:t> as </a:t>
            </a:r>
            <a:r>
              <a:rPr lang="en-US" altLang="en-US" sz="2800" b="1" dirty="0" err="1">
                <a:latin typeface="Courier New" panose="02070309020205020404" pitchFamily="49" charset="0"/>
                <a:cs typeface="Courier New" panose="02070309020205020404" pitchFamily="49" charset="0"/>
              </a:rPr>
              <a:t>sm</a:t>
            </a:r>
            <a:endParaRPr lang="en-US" altLang="en-US" sz="28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800" b="1" dirty="0">
                <a:latin typeface="Courier New" panose="02070309020205020404" pitchFamily="49" charset="0"/>
                <a:cs typeface="Courier New" panose="02070309020205020404" pitchFamily="49" charset="0"/>
              </a:rPr>
              <a:t>import </a:t>
            </a:r>
            <a:r>
              <a:rPr lang="en-US" altLang="en-US" sz="2800" b="1" dirty="0" err="1">
                <a:latin typeface="Courier New" panose="02070309020205020404" pitchFamily="49" charset="0"/>
                <a:cs typeface="Courier New" panose="02070309020205020404" pitchFamily="49" charset="0"/>
              </a:rPr>
              <a:t>matplotlib.pyplot</a:t>
            </a:r>
            <a:r>
              <a:rPr lang="en-US" altLang="en-US" sz="2800" b="1" dirty="0">
                <a:latin typeface="Courier New" panose="02070309020205020404" pitchFamily="49" charset="0"/>
                <a:cs typeface="Courier New" panose="02070309020205020404" pitchFamily="49" charset="0"/>
              </a:rPr>
              <a:t> as </a:t>
            </a:r>
            <a:r>
              <a:rPr lang="en-US" altLang="en-US" sz="2800" b="1" dirty="0" err="1">
                <a:latin typeface="Courier New" panose="02070309020205020404" pitchFamily="49" charset="0"/>
                <a:cs typeface="Courier New" panose="02070309020205020404" pitchFamily="49" charset="0"/>
              </a:rPr>
              <a:t>plt</a:t>
            </a:r>
            <a:endParaRPr lang="en-US" altLang="en-US" sz="2800" b="1"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8C59A2B4-B805-4DF1-8098-43021E47F98C}"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43</a:t>
            </a:fld>
            <a:endParaRPr lang="en-US"/>
          </a:p>
        </p:txBody>
      </p:sp>
    </p:spTree>
    <p:extLst>
      <p:ext uri="{BB962C8B-B14F-4D97-AF65-F5344CB8AC3E}">
        <p14:creationId xmlns:p14="http://schemas.microsoft.com/office/powerpoint/2010/main" val="15567436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NumPy </a:t>
            </a:r>
            <a:r>
              <a:rPr lang="en-US" altLang="en-US" b="1" dirty="0" err="1"/>
              <a:t>ndarray</a:t>
            </a:r>
            <a:endParaRPr lang="en-US" altLang="en-US" b="1" dirty="0"/>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A one-dimensional </a:t>
            </a:r>
            <a:r>
              <a:rPr lang="en-US" altLang="en-US" sz="2800" b="1" dirty="0" err="1"/>
              <a:t>ndarray</a:t>
            </a:r>
            <a:r>
              <a:rPr lang="en-US" altLang="en-US" sz="2800" dirty="0"/>
              <a:t> is "like" an optimized </a:t>
            </a:r>
            <a:r>
              <a:rPr lang="en-US" altLang="en-US" sz="2800" b="1" dirty="0"/>
              <a:t>list</a:t>
            </a:r>
            <a:r>
              <a:rPr lang="en-US" altLang="en-US" sz="2800" dirty="0"/>
              <a:t> for vector operations</a:t>
            </a:r>
          </a:p>
          <a:p>
            <a:pPr lvl="1" eaLnBrk="1" hangingPunct="1">
              <a:spcBef>
                <a:spcPts val="0"/>
              </a:spcBef>
            </a:pPr>
            <a:r>
              <a:rPr lang="en-US" altLang="en-US" sz="2400" dirty="0">
                <a:solidFill>
                  <a:srgbClr val="FF0000"/>
                </a:solidFill>
              </a:rPr>
              <a:t>Items in </a:t>
            </a:r>
            <a:r>
              <a:rPr lang="en-US" altLang="en-US" sz="2400" i="1" dirty="0">
                <a:solidFill>
                  <a:srgbClr val="FF0000"/>
                </a:solidFill>
              </a:rPr>
              <a:t>contiguous memory</a:t>
            </a:r>
            <a:r>
              <a:rPr lang="en-US" altLang="en-US" sz="2400" dirty="0">
                <a:solidFill>
                  <a:srgbClr val="FF0000"/>
                </a:solidFill>
              </a:rPr>
              <a:t>, optimized algorithms written in C language</a:t>
            </a:r>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ls1 = list(range(5))</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a:t>
            </a: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ls1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[0, 1, 2, 3, 4]</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a1 = </a:t>
            </a:r>
            <a:r>
              <a:rPr lang="en-US" altLang="en-US" sz="2000" b="1" dirty="0" err="1">
                <a:solidFill>
                  <a:srgbClr val="0070C0"/>
                </a:solidFill>
                <a:latin typeface="Courier New" panose="02070309020205020404" pitchFamily="49" charset="0"/>
                <a:cs typeface="Courier New" panose="02070309020205020404" pitchFamily="49" charset="0"/>
              </a:rPr>
              <a:t>np.arange</a:t>
            </a:r>
            <a:r>
              <a:rPr lang="en-US" altLang="en-US" sz="2000" b="1" dirty="0">
                <a:solidFill>
                  <a:srgbClr val="0070C0"/>
                </a:solidFill>
                <a:latin typeface="Courier New" panose="02070309020205020404" pitchFamily="49" charset="0"/>
                <a:cs typeface="Courier New" panose="02070309020205020404" pitchFamily="49" charset="0"/>
              </a:rPr>
              <a:t>(5)  </a:t>
            </a:r>
            <a:r>
              <a:rPr lang="en-US" altLang="en-US" sz="2000" dirty="0">
                <a:solidFill>
                  <a:srgbClr val="0070C0"/>
                </a:solidFill>
                <a:latin typeface="Courier New" panose="02070309020205020404" pitchFamily="49" charset="0"/>
                <a:cs typeface="Courier New" panose="02070309020205020404" pitchFamily="49" charset="0"/>
              </a:rPr>
              <a:t># 'array-range'</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a1</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array([0, 1, 2, 3, 4])</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C44EC28F-DB9D-4C0B-A121-40EA42E79EFC}"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44</a:t>
            </a:fld>
            <a:endParaRPr lang="en-US"/>
          </a:p>
        </p:txBody>
      </p:sp>
    </p:spTree>
    <p:extLst>
      <p:ext uri="{BB962C8B-B14F-4D97-AF65-F5344CB8AC3E}">
        <p14:creationId xmlns:p14="http://schemas.microsoft.com/office/powerpoint/2010/main" val="32013180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NumPy </a:t>
            </a:r>
            <a:r>
              <a:rPr lang="en-US" altLang="en-US" b="1" dirty="0" err="1"/>
              <a:t>ndarray</a:t>
            </a:r>
            <a:r>
              <a:rPr lang="en-US" altLang="en-US" b="1" dirty="0"/>
              <a:t> </a:t>
            </a:r>
            <a:r>
              <a:rPr lang="en-US" altLang="en-US" dirty="0"/>
              <a:t>(cont.)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An </a:t>
            </a:r>
            <a:r>
              <a:rPr lang="en-US" altLang="en-US" sz="2800" b="1" dirty="0" err="1"/>
              <a:t>ndarray</a:t>
            </a:r>
            <a:r>
              <a:rPr lang="en-US" altLang="en-US" sz="2800" dirty="0"/>
              <a:t> </a:t>
            </a:r>
            <a:r>
              <a:rPr lang="en-US" altLang="en-US" sz="2800" i="1" dirty="0">
                <a:solidFill>
                  <a:srgbClr val="FF0000"/>
                </a:solidFill>
              </a:rPr>
              <a:t>does not</a:t>
            </a:r>
            <a:r>
              <a:rPr lang="en-US" altLang="en-US" sz="2800" dirty="0"/>
              <a:t> store Python </a:t>
            </a:r>
            <a:r>
              <a:rPr lang="en-US" altLang="en-US" sz="2800" b="1" dirty="0" err="1"/>
              <a:t>int</a:t>
            </a:r>
            <a:r>
              <a:rPr lang="en-US" altLang="en-US" sz="2800" dirty="0"/>
              <a:t> values</a:t>
            </a:r>
          </a:p>
          <a:p>
            <a:pPr lvl="1" eaLnBrk="1" hangingPunct="1">
              <a:spcBef>
                <a:spcPts val="0"/>
              </a:spcBef>
            </a:pPr>
            <a:r>
              <a:rPr lang="en-US" altLang="en-US" sz="2400" dirty="0">
                <a:solidFill>
                  <a:srgbClr val="FF0000"/>
                </a:solidFill>
              </a:rPr>
              <a:t>Stores efficient--but more restrictive--C/C++-style integers</a:t>
            </a:r>
          </a:p>
          <a:p>
            <a:pPr lvl="1" eaLnBrk="1" hangingPunct="1">
              <a:spcBef>
                <a:spcPts val="0"/>
              </a:spcBef>
            </a:pPr>
            <a:endParaRPr lang="en-US" altLang="en-US" sz="800" dirty="0"/>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type(ls1)</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&lt;class 'list'&gt;</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type(ls1[0])</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&lt;class '</a:t>
            </a:r>
            <a:r>
              <a:rPr lang="en-US" altLang="en-US" sz="2000" dirty="0" err="1">
                <a:solidFill>
                  <a:srgbClr val="0070C0"/>
                </a:solidFill>
                <a:latin typeface="Courier New" panose="02070309020205020404" pitchFamily="49" charset="0"/>
                <a:cs typeface="Courier New" panose="02070309020205020404" pitchFamily="49" charset="0"/>
              </a:rPr>
              <a:t>int</a:t>
            </a:r>
            <a:r>
              <a:rPr lang="en-US" altLang="en-US" sz="2000" dirty="0">
                <a:solidFill>
                  <a:srgbClr val="0070C0"/>
                </a:solidFill>
                <a:latin typeface="Courier New" panose="02070309020205020404" pitchFamily="49" charset="0"/>
                <a:cs typeface="Courier New" panose="02070309020205020404" pitchFamily="49" charset="0"/>
              </a:rPr>
              <a:t>'&gt;            # arbitrary precision</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type(a1)</a:t>
            </a:r>
          </a:p>
          <a:p>
            <a:pPr marL="0" indent="0" eaLnBrk="1" hangingPunct="1">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&lt;class '</a:t>
            </a:r>
            <a:r>
              <a:rPr lang="en-US" altLang="en-US" sz="2000" dirty="0" err="1">
                <a:solidFill>
                  <a:srgbClr val="00B050"/>
                </a:solidFill>
                <a:latin typeface="Courier New" panose="02070309020205020404" pitchFamily="49" charset="0"/>
                <a:cs typeface="Courier New" panose="02070309020205020404" pitchFamily="49" charset="0"/>
              </a:rPr>
              <a:t>numpy.ndarray</a:t>
            </a:r>
            <a:r>
              <a:rPr lang="en-US" altLang="en-US" sz="2000" dirty="0">
                <a:solidFill>
                  <a:srgbClr val="00B050"/>
                </a:solidFill>
                <a:latin typeface="Courier New" panose="02070309020205020404" pitchFamily="49" charset="0"/>
                <a:cs typeface="Courier New" panose="02070309020205020404" pitchFamily="49" charset="0"/>
              </a:rPr>
              <a:t>'&gt;</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type(a1[0])</a:t>
            </a:r>
          </a:p>
          <a:p>
            <a:pPr marL="0" indent="0" eaLnBrk="1" hangingPunct="1">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&lt;class 'numpy.int32'&gt;    # like C/C++ 32-bit int</a:t>
            </a:r>
          </a:p>
        </p:txBody>
      </p:sp>
      <p:sp>
        <p:nvSpPr>
          <p:cNvPr id="2" name="Date Placeholder 1"/>
          <p:cNvSpPr>
            <a:spLocks noGrp="1"/>
          </p:cNvSpPr>
          <p:nvPr>
            <p:ph type="dt" sz="half" idx="10"/>
          </p:nvPr>
        </p:nvSpPr>
        <p:spPr/>
        <p:txBody>
          <a:bodyPr/>
          <a:lstStyle/>
          <a:p>
            <a:pPr>
              <a:defRPr/>
            </a:pPr>
            <a:fld id="{C44EC28F-DB9D-4C0B-A121-40EA42E79EFC}"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45</a:t>
            </a:fld>
            <a:endParaRPr lang="en-US"/>
          </a:p>
        </p:txBody>
      </p:sp>
    </p:spTree>
    <p:extLst>
      <p:ext uri="{BB962C8B-B14F-4D97-AF65-F5344CB8AC3E}">
        <p14:creationId xmlns:p14="http://schemas.microsoft.com/office/powerpoint/2010/main" val="8882469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NumPy </a:t>
            </a:r>
            <a:r>
              <a:rPr lang="en-US" altLang="en-US" b="1" dirty="0" err="1"/>
              <a:t>ndarray</a:t>
            </a:r>
            <a:r>
              <a:rPr lang="en-US" altLang="en-US" b="1" dirty="0"/>
              <a:t> </a:t>
            </a:r>
            <a:r>
              <a:rPr lang="en-US" altLang="en-US" dirty="0"/>
              <a:t>(cont.)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An </a:t>
            </a:r>
            <a:r>
              <a:rPr lang="en-US" altLang="en-US" sz="2800" b="1" dirty="0" err="1"/>
              <a:t>ndarray</a:t>
            </a:r>
            <a:r>
              <a:rPr lang="en-US" altLang="en-US" sz="2800" b="1" dirty="0"/>
              <a:t> </a:t>
            </a:r>
            <a:r>
              <a:rPr lang="en-US" altLang="en-US" sz="2800" dirty="0"/>
              <a:t>is </a:t>
            </a:r>
            <a:r>
              <a:rPr lang="en-US" altLang="en-US" sz="2800" dirty="0" err="1"/>
              <a:t>iterable</a:t>
            </a:r>
            <a:endParaRPr lang="en-US" altLang="en-US" sz="2800" dirty="0"/>
          </a:p>
          <a:p>
            <a:pPr lvl="1" eaLnBrk="1" hangingPunct="1">
              <a:spcBef>
                <a:spcPts val="0"/>
              </a:spcBef>
            </a:pPr>
            <a:r>
              <a:rPr lang="en-US" altLang="en-US" sz="2400" b="1" dirty="0"/>
              <a:t>for</a:t>
            </a:r>
            <a:r>
              <a:rPr lang="en-US" altLang="en-US" sz="2400" dirty="0"/>
              <a:t> loops work</a:t>
            </a:r>
          </a:p>
          <a:p>
            <a:pPr lvl="1" eaLnBrk="1" hangingPunct="1">
              <a:spcBef>
                <a:spcPts val="0"/>
              </a:spcBef>
            </a:pPr>
            <a:r>
              <a:rPr lang="en-US" altLang="en-US" sz="2400" dirty="0"/>
              <a:t>Conversion to basic collection types is easy</a:t>
            </a:r>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a:t>
            </a: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a1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array([0, 1, 2, 3, 4])</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for </a:t>
            </a:r>
            <a:r>
              <a:rPr lang="en-US" altLang="en-US" sz="2000" b="1" dirty="0" err="1">
                <a:solidFill>
                  <a:srgbClr val="0070C0"/>
                </a:solidFill>
                <a:latin typeface="Courier New" panose="02070309020205020404" pitchFamily="49" charset="0"/>
                <a:cs typeface="Courier New" panose="02070309020205020404" pitchFamily="49" charset="0"/>
              </a:rPr>
              <a:t>i</a:t>
            </a:r>
            <a:r>
              <a:rPr lang="en-US" altLang="en-US" sz="2000" b="1" dirty="0">
                <a:solidFill>
                  <a:srgbClr val="0070C0"/>
                </a:solidFill>
                <a:latin typeface="Courier New" panose="02070309020205020404" pitchFamily="49" charset="0"/>
                <a:cs typeface="Courier New" panose="02070309020205020404" pitchFamily="49" charset="0"/>
              </a:rPr>
              <a:t> in a1:</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list(a1)</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[0, 1, 2, 3, 4]</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tuple(a1)</a:t>
            </a:r>
          </a:p>
          <a:p>
            <a:pPr marL="0" indent="0" eaLnBrk="1" hangingPunct="1">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(0, 1, 2, 3, 4)</a:t>
            </a:r>
          </a:p>
          <a:p>
            <a:pPr marL="0" indent="0" eaLnBrk="1" hangingPunct="1">
              <a:spcBef>
                <a:spcPts val="0"/>
              </a:spcBef>
              <a:buNone/>
            </a:pPr>
            <a:endParaRPr lang="en-US" altLang="en-US" sz="2000" dirty="0">
              <a:solidFill>
                <a:srgbClr val="0070C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C44EC28F-DB9D-4C0B-A121-40EA42E79EFC}"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46</a:t>
            </a:fld>
            <a:endParaRPr lang="en-US"/>
          </a:p>
        </p:txBody>
      </p:sp>
    </p:spTree>
    <p:extLst>
      <p:ext uri="{BB962C8B-B14F-4D97-AF65-F5344CB8AC3E}">
        <p14:creationId xmlns:p14="http://schemas.microsoft.com/office/powerpoint/2010/main" val="20572019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NumPy </a:t>
            </a:r>
            <a:r>
              <a:rPr lang="en-US" altLang="en-US" b="1" dirty="0" err="1"/>
              <a:t>ndarray</a:t>
            </a:r>
            <a:r>
              <a:rPr lang="en-US" altLang="en-US" b="1" dirty="0"/>
              <a:t> </a:t>
            </a:r>
            <a:r>
              <a:rPr lang="en-US" altLang="en-US" dirty="0"/>
              <a:t>(cont.)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To create an </a:t>
            </a:r>
            <a:r>
              <a:rPr lang="en-US" altLang="en-US" sz="2800" b="1" dirty="0" err="1"/>
              <a:t>ndarray</a:t>
            </a:r>
            <a:r>
              <a:rPr lang="en-US" altLang="en-US" sz="2800" b="1" dirty="0"/>
              <a:t> </a:t>
            </a:r>
            <a:r>
              <a:rPr lang="en-US" altLang="en-US" sz="2800" dirty="0"/>
              <a:t>from a numeric </a:t>
            </a:r>
            <a:r>
              <a:rPr lang="en-US" altLang="en-US" sz="2800" dirty="0" err="1"/>
              <a:t>iterable</a:t>
            </a:r>
            <a:r>
              <a:rPr lang="en-US" altLang="en-US" sz="2800" dirty="0"/>
              <a:t>, use </a:t>
            </a:r>
            <a:r>
              <a:rPr lang="en-US" altLang="en-US" sz="2800" b="1" dirty="0"/>
              <a:t>array(</a:t>
            </a:r>
            <a:r>
              <a:rPr lang="en-US" altLang="en-US" sz="2800" i="1" dirty="0" err="1"/>
              <a:t>iterable</a:t>
            </a:r>
            <a:r>
              <a:rPr lang="en-US" altLang="en-US" sz="2800" b="1" dirty="0"/>
              <a:t>)</a:t>
            </a:r>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a:t>
            </a: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a2 = </a:t>
            </a:r>
            <a:r>
              <a:rPr lang="en-US" altLang="en-US" sz="2000" b="1" dirty="0" err="1">
                <a:latin typeface="Courier New" panose="02070309020205020404" pitchFamily="49" charset="0"/>
                <a:cs typeface="Courier New" panose="02070309020205020404" pitchFamily="49" charset="0"/>
              </a:rPr>
              <a:t>np.array</a:t>
            </a:r>
            <a:r>
              <a:rPr lang="en-US" altLang="en-US" sz="2000" b="1" dirty="0">
                <a:latin typeface="Courier New" panose="02070309020205020404" pitchFamily="49" charset="0"/>
                <a:cs typeface="Courier New" panose="02070309020205020404" pitchFamily="49" charset="0"/>
              </a:rPr>
              <a:t>(</a:t>
            </a:r>
            <a:r>
              <a:rPr lang="en-US" altLang="en-US" sz="2000" b="1" dirty="0">
                <a:solidFill>
                  <a:srgbClr val="FF0000"/>
                </a:solidFill>
                <a:latin typeface="Courier New" panose="02070309020205020404" pitchFamily="49" charset="0"/>
                <a:cs typeface="Courier New" panose="02070309020205020404" pitchFamily="49" charset="0"/>
              </a:rPr>
              <a:t>[3, 4, 5, 6]</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a:t>
            </a: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a2</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array([3, 4, 5, 6])</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a3 = </a:t>
            </a:r>
            <a:r>
              <a:rPr lang="en-US" altLang="en-US" sz="2000" b="1" dirty="0" err="1">
                <a:solidFill>
                  <a:srgbClr val="0070C0"/>
                </a:solidFill>
                <a:latin typeface="Courier New" panose="02070309020205020404" pitchFamily="49" charset="0"/>
                <a:cs typeface="Courier New" panose="02070309020205020404" pitchFamily="49" charset="0"/>
              </a:rPr>
              <a:t>np.array</a:t>
            </a:r>
            <a:r>
              <a:rPr lang="en-US" altLang="en-US" sz="2000" b="1" dirty="0">
                <a:solidFill>
                  <a:srgbClr val="0070C0"/>
                </a:solidFill>
                <a:latin typeface="Courier New" panose="02070309020205020404" pitchFamily="49" charset="0"/>
                <a:cs typeface="Courier New" panose="02070309020205020404" pitchFamily="49" charset="0"/>
              </a:rPr>
              <a:t>(</a:t>
            </a:r>
            <a:r>
              <a:rPr lang="en-US" altLang="en-US" sz="2000" b="1" dirty="0">
                <a:solidFill>
                  <a:srgbClr val="00B050"/>
                </a:solidFill>
                <a:latin typeface="Courier New" panose="02070309020205020404" pitchFamily="49" charset="0"/>
                <a:cs typeface="Courier New" panose="02070309020205020404" pitchFamily="49" charset="0"/>
              </a:rPr>
              <a:t>(3.14159, 2.71828)</a:t>
            </a:r>
            <a:r>
              <a:rPr lang="en-US" altLang="en-US" sz="2000" b="1" dirty="0">
                <a:solidFill>
                  <a:srgbClr val="0070C0"/>
                </a:solidFill>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a3</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array([3.14159, 2.71828]) </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type(a3[0])</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&lt;class 'numpy.float64'&gt;   # like C/C++ double</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same as Python float</a:t>
            </a:r>
          </a:p>
          <a:p>
            <a:pPr marL="0" indent="0" eaLnBrk="1" hangingPunct="1">
              <a:spcBef>
                <a:spcPts val="0"/>
              </a:spcBef>
              <a:buNone/>
            </a:pPr>
            <a:endParaRPr lang="en-US" altLang="en-US" sz="2000" dirty="0">
              <a:solidFill>
                <a:srgbClr val="0070C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C44EC28F-DB9D-4C0B-A121-40EA42E79EFC}"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47</a:t>
            </a:fld>
            <a:endParaRPr lang="en-US"/>
          </a:p>
        </p:txBody>
      </p:sp>
    </p:spTree>
    <p:extLst>
      <p:ext uri="{BB962C8B-B14F-4D97-AF65-F5344CB8AC3E}">
        <p14:creationId xmlns:p14="http://schemas.microsoft.com/office/powerpoint/2010/main" val="638958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NumPy </a:t>
            </a:r>
            <a:r>
              <a:rPr lang="en-US" altLang="en-US" b="1" dirty="0" err="1"/>
              <a:t>ndarray</a:t>
            </a:r>
            <a:r>
              <a:rPr lang="en-US" altLang="en-US" b="1" dirty="0"/>
              <a:t> </a:t>
            </a:r>
            <a:r>
              <a:rPr lang="en-US" altLang="en-US" dirty="0"/>
              <a:t>(cont.)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Unlike a </a:t>
            </a:r>
            <a:r>
              <a:rPr lang="en-US" altLang="en-US" sz="2800" b="1" dirty="0"/>
              <a:t>list</a:t>
            </a:r>
            <a:r>
              <a:rPr lang="en-US" altLang="en-US" sz="2800" dirty="0"/>
              <a:t>, every element of an </a:t>
            </a:r>
            <a:r>
              <a:rPr lang="en-US" altLang="en-US" sz="2800" b="1" dirty="0" err="1"/>
              <a:t>ndarray</a:t>
            </a:r>
            <a:r>
              <a:rPr lang="en-US" altLang="en-US" sz="2800" dirty="0"/>
              <a:t> must be of the </a:t>
            </a:r>
            <a:r>
              <a:rPr lang="en-US" altLang="en-US" sz="2800" i="1" dirty="0">
                <a:solidFill>
                  <a:srgbClr val="FF0000"/>
                </a:solidFill>
              </a:rPr>
              <a:t>same</a:t>
            </a:r>
            <a:r>
              <a:rPr lang="en-US" altLang="en-US" sz="2800" dirty="0"/>
              <a:t> type</a:t>
            </a:r>
          </a:p>
          <a:p>
            <a:pPr lvl="1" eaLnBrk="1" hangingPunct="1">
              <a:spcBef>
                <a:spcPts val="0"/>
              </a:spcBef>
            </a:pPr>
            <a:r>
              <a:rPr lang="en-US" altLang="en-US" sz="2400" i="1" dirty="0"/>
              <a:t>Upcasting</a:t>
            </a:r>
            <a:r>
              <a:rPr lang="en-US" altLang="en-US" sz="2400" dirty="0"/>
              <a:t> (by default) converts elements to the minimum type to hold all objects</a:t>
            </a:r>
          </a:p>
          <a:p>
            <a:pPr lvl="2" eaLnBrk="1" hangingPunct="1">
              <a:spcBef>
                <a:spcPts val="0"/>
              </a:spcBef>
            </a:pPr>
            <a:r>
              <a:rPr lang="en-US" altLang="en-US" sz="2000" dirty="0"/>
              <a:t>Can cause some surprises!</a:t>
            </a:r>
          </a:p>
          <a:p>
            <a:pPr lvl="1" eaLnBrk="1" hangingPunct="1">
              <a:spcBef>
                <a:spcPts val="0"/>
              </a:spcBef>
            </a:pPr>
            <a:endParaRPr lang="en-US" altLang="en-US" sz="800" dirty="0"/>
          </a:p>
          <a:p>
            <a:pPr marL="0" indent="0" eaLnBrk="1" hangingPunct="1">
              <a:spcBef>
                <a:spcPts val="0"/>
              </a:spcBef>
              <a:buNone/>
            </a:pPr>
            <a:r>
              <a:rPr lang="en-US" altLang="en-US" sz="2200" b="1" dirty="0">
                <a:solidFill>
                  <a:srgbClr val="0070C0"/>
                </a:solidFill>
                <a:latin typeface="Courier New" panose="02070309020205020404" pitchFamily="49" charset="0"/>
                <a:cs typeface="Courier New" panose="02070309020205020404" pitchFamily="49" charset="0"/>
              </a:rPr>
              <a:t>&gt;&gt;&gt;</a:t>
            </a:r>
            <a:r>
              <a:rPr lang="en-US" altLang="en-US" sz="2200" dirty="0">
                <a:solidFill>
                  <a:srgbClr val="0070C0"/>
                </a:solidFill>
                <a:latin typeface="Courier New" panose="02070309020205020404" pitchFamily="49" charset="0"/>
                <a:cs typeface="Courier New" panose="02070309020205020404" pitchFamily="49" charset="0"/>
              </a:rPr>
              <a:t> </a:t>
            </a:r>
            <a:r>
              <a:rPr lang="en-US" altLang="en-US" sz="2200" b="1" dirty="0">
                <a:solidFill>
                  <a:srgbClr val="0070C0"/>
                </a:solidFill>
                <a:latin typeface="Courier New" panose="02070309020205020404" pitchFamily="49" charset="0"/>
                <a:cs typeface="Courier New" panose="02070309020205020404" pitchFamily="49" charset="0"/>
              </a:rPr>
              <a:t>a4 = </a:t>
            </a:r>
            <a:r>
              <a:rPr lang="en-US" altLang="en-US" sz="2200" b="1" dirty="0" err="1">
                <a:solidFill>
                  <a:srgbClr val="0070C0"/>
                </a:solidFill>
                <a:latin typeface="Courier New" panose="02070309020205020404" pitchFamily="49" charset="0"/>
                <a:cs typeface="Courier New" panose="02070309020205020404" pitchFamily="49" charset="0"/>
              </a:rPr>
              <a:t>np.array</a:t>
            </a:r>
            <a:r>
              <a:rPr lang="en-US" altLang="en-US" sz="2200" b="1" dirty="0">
                <a:solidFill>
                  <a:srgbClr val="0070C0"/>
                </a:solidFill>
                <a:latin typeface="Courier New" panose="02070309020205020404" pitchFamily="49" charset="0"/>
                <a:cs typeface="Courier New" panose="02070309020205020404" pitchFamily="49" charset="0"/>
              </a:rPr>
              <a:t>(</a:t>
            </a:r>
            <a:r>
              <a:rPr lang="en-US" altLang="en-US" sz="2200" b="1" dirty="0">
                <a:solidFill>
                  <a:srgbClr val="FF0000"/>
                </a:solidFill>
                <a:latin typeface="Courier New" panose="02070309020205020404" pitchFamily="49" charset="0"/>
                <a:cs typeface="Courier New" panose="02070309020205020404" pitchFamily="49" charset="0"/>
              </a:rPr>
              <a:t>[3, 4.5, 5, 6.7]</a:t>
            </a:r>
            <a:r>
              <a:rPr lang="en-US" altLang="en-US" sz="2200" b="1" dirty="0">
                <a:solidFill>
                  <a:srgbClr val="0070C0"/>
                </a:solidFill>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200" b="1" dirty="0">
                <a:solidFill>
                  <a:srgbClr val="0070C0"/>
                </a:solidFill>
                <a:latin typeface="Courier New" panose="02070309020205020404" pitchFamily="49" charset="0"/>
                <a:cs typeface="Courier New" panose="02070309020205020404" pitchFamily="49" charset="0"/>
              </a:rPr>
              <a:t>&gt;&gt;&gt;</a:t>
            </a:r>
            <a:r>
              <a:rPr lang="en-US" altLang="en-US" sz="2200" dirty="0">
                <a:solidFill>
                  <a:srgbClr val="0070C0"/>
                </a:solidFill>
                <a:latin typeface="Courier New" panose="02070309020205020404" pitchFamily="49" charset="0"/>
                <a:cs typeface="Courier New" panose="02070309020205020404" pitchFamily="49" charset="0"/>
              </a:rPr>
              <a:t> </a:t>
            </a:r>
            <a:r>
              <a:rPr lang="en-US" altLang="en-US" sz="2200" b="1" dirty="0">
                <a:solidFill>
                  <a:srgbClr val="0070C0"/>
                </a:solidFill>
                <a:latin typeface="Courier New" panose="02070309020205020404" pitchFamily="49" charset="0"/>
                <a:cs typeface="Courier New" panose="02070309020205020404" pitchFamily="49" charset="0"/>
              </a:rPr>
              <a:t>a4</a:t>
            </a:r>
          </a:p>
          <a:p>
            <a:pPr marL="0" indent="0" eaLnBrk="1" hangingPunct="1">
              <a:spcBef>
                <a:spcPts val="0"/>
              </a:spcBef>
              <a:buNone/>
            </a:pPr>
            <a:r>
              <a:rPr lang="en-US" altLang="en-US" sz="2200" dirty="0">
                <a:solidFill>
                  <a:srgbClr val="0070C0"/>
                </a:solidFill>
                <a:latin typeface="Courier New" panose="02070309020205020404" pitchFamily="49" charset="0"/>
                <a:cs typeface="Courier New" panose="02070309020205020404" pitchFamily="49" charset="0"/>
              </a:rPr>
              <a:t>array([3., 4.5, 5., 6.7])     </a:t>
            </a:r>
            <a:r>
              <a:rPr lang="en-US" altLang="en-US" sz="2200" dirty="0">
                <a:solidFill>
                  <a:srgbClr val="FF0000"/>
                </a:solidFill>
                <a:latin typeface="Courier New" panose="02070309020205020404" pitchFamily="49" charset="0"/>
                <a:cs typeface="Courier New" panose="02070309020205020404" pitchFamily="49" charset="0"/>
              </a:rPr>
              <a:t># all float64</a:t>
            </a:r>
          </a:p>
          <a:p>
            <a:pPr marL="0" indent="0" eaLnBrk="1" hangingPunct="1">
              <a:spcBef>
                <a:spcPts val="0"/>
              </a:spcBef>
              <a:buNone/>
            </a:pPr>
            <a:endParaRPr lang="en-US" altLang="en-US" sz="2000" dirty="0">
              <a:solidFill>
                <a:srgbClr val="0070C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C44EC28F-DB9D-4C0B-A121-40EA42E79EFC}"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48</a:t>
            </a:fld>
            <a:endParaRPr lang="en-US"/>
          </a:p>
        </p:txBody>
      </p:sp>
    </p:spTree>
    <p:extLst>
      <p:ext uri="{BB962C8B-B14F-4D97-AF65-F5344CB8AC3E}">
        <p14:creationId xmlns:p14="http://schemas.microsoft.com/office/powerpoint/2010/main" val="39545153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NumPy </a:t>
            </a:r>
            <a:r>
              <a:rPr lang="en-US" altLang="en-US" b="1" dirty="0" err="1"/>
              <a:t>ndarray</a:t>
            </a:r>
            <a:r>
              <a:rPr lang="en-US" altLang="en-US" b="1" dirty="0"/>
              <a:t> </a:t>
            </a:r>
            <a:r>
              <a:rPr lang="en-US" altLang="en-US" dirty="0"/>
              <a:t>(cont.)</a:t>
            </a:r>
          </a:p>
        </p:txBody>
      </p:sp>
      <p:sp>
        <p:nvSpPr>
          <p:cNvPr id="24579" name="Rectangle 3"/>
          <p:cNvSpPr>
            <a:spLocks noGrp="1" noChangeArrowheads="1"/>
          </p:cNvSpPr>
          <p:nvPr>
            <p:ph type="body" idx="1"/>
          </p:nvPr>
        </p:nvSpPr>
        <p:spPr/>
        <p:txBody>
          <a:bodyPr/>
          <a:lstStyle/>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a:t>
            </a: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a5 = </a:t>
            </a:r>
            <a:r>
              <a:rPr lang="en-US" altLang="en-US" sz="2000" b="1" dirty="0" err="1">
                <a:latin typeface="Courier New" panose="02070309020205020404" pitchFamily="49" charset="0"/>
                <a:cs typeface="Courier New" panose="02070309020205020404" pitchFamily="49" charset="0"/>
              </a:rPr>
              <a:t>np.array</a:t>
            </a:r>
            <a:r>
              <a:rPr lang="en-US" altLang="en-US" sz="2000" b="1" dirty="0">
                <a:latin typeface="Courier New" panose="02070309020205020404" pitchFamily="49" charset="0"/>
                <a:cs typeface="Courier New" panose="02070309020205020404" pitchFamily="49" charset="0"/>
              </a:rPr>
              <a:t>(</a:t>
            </a:r>
            <a:r>
              <a:rPr lang="en-US" altLang="en-US" sz="2000" b="1" dirty="0">
                <a:solidFill>
                  <a:srgbClr val="00B050"/>
                </a:solidFill>
                <a:latin typeface="Courier New" panose="02070309020205020404" pitchFamily="49" charset="0"/>
                <a:cs typeface="Courier New" panose="02070309020205020404" pitchFamily="49" charset="0"/>
              </a:rPr>
              <a:t>(3.14159, 'hello')</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a:t>
            </a: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a5</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array(['3.14159', 'hello'], </a:t>
            </a:r>
            <a:r>
              <a:rPr lang="en-US" altLang="en-US" sz="2000" dirty="0" err="1">
                <a:latin typeface="Courier New" panose="02070309020205020404" pitchFamily="49" charset="0"/>
                <a:cs typeface="Courier New" panose="02070309020205020404" pitchFamily="49" charset="0"/>
              </a:rPr>
              <a:t>dtype</a:t>
            </a:r>
            <a:r>
              <a:rPr lang="en-US" altLang="en-US" sz="2000" dirty="0">
                <a:latin typeface="Courier New" panose="02070309020205020404" pitchFamily="49" charset="0"/>
                <a:cs typeface="Courier New" panose="02070309020205020404" pitchFamily="49" charset="0"/>
              </a:rPr>
              <a:t>='&lt;U32') </a:t>
            </a:r>
            <a:r>
              <a:rPr lang="en-US" altLang="en-US" sz="2000" dirty="0">
                <a:solidFill>
                  <a:srgbClr val="00B050"/>
                </a:solidFill>
                <a:latin typeface="Courier New" panose="02070309020205020404" pitchFamily="49" charset="0"/>
                <a:cs typeface="Courier New" panose="02070309020205020404" pitchFamily="49" charset="0"/>
              </a:rPr>
              <a:t># !!!</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a:t>
            </a: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type(a5[0])</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&lt;class </a:t>
            </a:r>
            <a:r>
              <a:rPr lang="en-US" altLang="en-US" sz="2000" dirty="0" err="1">
                <a:latin typeface="Courier New" panose="02070309020205020404" pitchFamily="49" charset="0"/>
                <a:cs typeface="Courier New" panose="02070309020205020404" pitchFamily="49" charset="0"/>
              </a:rPr>
              <a:t>numpy.str</a:t>
            </a:r>
            <a:r>
              <a:rPr lang="en-US" altLang="en-US" sz="2000" dirty="0">
                <a:latin typeface="Courier New" panose="02070309020205020404" pitchFamily="49" charset="0"/>
                <a:cs typeface="Courier New" panose="02070309020205020404" pitchFamily="49" charset="0"/>
              </a:rPr>
              <a:t>_&gt;</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a6 = </a:t>
            </a:r>
            <a:r>
              <a:rPr lang="en-US" altLang="en-US" sz="2000" b="1" dirty="0" err="1">
                <a:solidFill>
                  <a:srgbClr val="0070C0"/>
                </a:solidFill>
                <a:latin typeface="Courier New" panose="02070309020205020404" pitchFamily="49" charset="0"/>
                <a:cs typeface="Courier New" panose="02070309020205020404" pitchFamily="49" charset="0"/>
              </a:rPr>
              <a:t>np.array</a:t>
            </a:r>
            <a:r>
              <a:rPr lang="en-US" altLang="en-US" sz="2000" b="1" dirty="0">
                <a:solidFill>
                  <a:srgbClr val="0070C0"/>
                </a:solidFill>
                <a:latin typeface="Courier New" panose="02070309020205020404" pitchFamily="49" charset="0"/>
                <a:cs typeface="Courier New" panose="02070309020205020404" pitchFamily="49" charset="0"/>
              </a:rPr>
              <a:t>(</a:t>
            </a:r>
            <a:r>
              <a:rPr lang="en-US" altLang="en-US" sz="2000" b="1" dirty="0">
                <a:solidFill>
                  <a:srgbClr val="FF0000"/>
                </a:solidFill>
                <a:latin typeface="Courier New" panose="02070309020205020404" pitchFamily="49" charset="0"/>
                <a:cs typeface="Courier New" panose="02070309020205020404" pitchFamily="49" charset="0"/>
              </a:rPr>
              <a:t>[True, None, 3]</a:t>
            </a:r>
            <a:r>
              <a:rPr lang="en-US" altLang="en-US" sz="2000" b="1" dirty="0">
                <a:solidFill>
                  <a:srgbClr val="0070C0"/>
                </a:solidFill>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a6</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array([True, None, 3], </a:t>
            </a:r>
            <a:r>
              <a:rPr lang="en-US" altLang="en-US" sz="2000" dirty="0" err="1">
                <a:solidFill>
                  <a:srgbClr val="0070C0"/>
                </a:solidFill>
                <a:latin typeface="Courier New" panose="02070309020205020404" pitchFamily="49" charset="0"/>
                <a:cs typeface="Courier New" panose="02070309020205020404" pitchFamily="49" charset="0"/>
              </a:rPr>
              <a:t>dtype</a:t>
            </a:r>
            <a:r>
              <a:rPr lang="en-US" altLang="en-US" sz="2000" dirty="0">
                <a:solidFill>
                  <a:srgbClr val="0070C0"/>
                </a:solidFill>
                <a:latin typeface="Courier New" panose="02070309020205020404" pitchFamily="49" charset="0"/>
                <a:cs typeface="Courier New" panose="02070309020205020404" pitchFamily="49" charset="0"/>
              </a:rPr>
              <a:t>=object)      </a:t>
            </a:r>
            <a:r>
              <a:rPr lang="en-US" altLang="en-US" sz="2000" dirty="0">
                <a:solidFill>
                  <a:srgbClr val="FF0000"/>
                </a:solidFill>
                <a:latin typeface="Courier New" panose="02070309020205020404" pitchFamily="49" charset="0"/>
                <a:cs typeface="Courier New" panose="02070309020205020404" pitchFamily="49" charset="0"/>
              </a:rPr>
              <a:t># !!!</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type(a6[0])</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&lt;class 'bool'&gt;</a:t>
            </a:r>
            <a:endParaRPr lang="en-US" altLang="en-US" sz="2000"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type(a6[1])</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&lt;class '</a:t>
            </a:r>
            <a:r>
              <a:rPr lang="en-US" altLang="en-US" sz="2000" dirty="0" err="1">
                <a:solidFill>
                  <a:srgbClr val="0070C0"/>
                </a:solidFill>
                <a:latin typeface="Courier New" panose="02070309020205020404" pitchFamily="49" charset="0"/>
                <a:cs typeface="Courier New" panose="02070309020205020404" pitchFamily="49" charset="0"/>
              </a:rPr>
              <a:t>NoneType</a:t>
            </a:r>
            <a:r>
              <a:rPr lang="en-US" altLang="en-US" sz="2000" dirty="0">
                <a:solidFill>
                  <a:srgbClr val="0070C0"/>
                </a:solidFill>
                <a:latin typeface="Courier New" panose="02070309020205020404" pitchFamily="49" charset="0"/>
                <a:cs typeface="Courier New" panose="02070309020205020404" pitchFamily="49" charset="0"/>
              </a:rPr>
              <a:t>'&gt;</a:t>
            </a:r>
            <a:endParaRPr lang="en-US" altLang="en-US" sz="2000"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2000" dirty="0">
              <a:solidFill>
                <a:srgbClr val="0070C0"/>
              </a:solidFill>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2000" dirty="0">
              <a:solidFill>
                <a:srgbClr val="0070C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C44EC28F-DB9D-4C0B-A121-40EA42E79EFC}"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49</a:t>
            </a:fld>
            <a:endParaRPr lang="en-US"/>
          </a:p>
        </p:txBody>
      </p:sp>
    </p:spTree>
    <p:extLst>
      <p:ext uri="{BB962C8B-B14F-4D97-AF65-F5344CB8AC3E}">
        <p14:creationId xmlns:p14="http://schemas.microsoft.com/office/powerpoint/2010/main" val="6990928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Arithmetic: </a:t>
            </a:r>
            <a:r>
              <a:rPr lang="en-US" altLang="en-US" b="1" dirty="0" err="1"/>
              <a:t>ndarray</a:t>
            </a:r>
            <a:r>
              <a:rPr lang="en-US" altLang="en-US" dirty="0"/>
              <a:t> vs. </a:t>
            </a:r>
            <a:r>
              <a:rPr lang="en-US" altLang="en-US" b="1" dirty="0"/>
              <a:t>list</a:t>
            </a:r>
            <a:r>
              <a:rPr lang="en-US" altLang="en-US" dirty="0"/>
              <a:t> Operations</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b="1" dirty="0"/>
              <a:t>list</a:t>
            </a:r>
            <a:r>
              <a:rPr lang="en-US" altLang="en-US" sz="2800" dirty="0"/>
              <a:t> operations:</a:t>
            </a:r>
          </a:p>
          <a:p>
            <a:pPr eaLnBrk="1" hangingPunct="1">
              <a:spcBef>
                <a:spcPts val="0"/>
              </a:spcBef>
            </a:pPr>
            <a:endParaRPr lang="en-US" altLang="en-US" sz="2800" dirty="0"/>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ls1 *= 2      </a:t>
            </a:r>
            <a:r>
              <a:rPr lang="en-US" altLang="en-US" sz="2000" dirty="0">
                <a:solidFill>
                  <a:srgbClr val="00B050"/>
                </a:solidFill>
                <a:latin typeface="Courier New" panose="02070309020205020404" pitchFamily="49" charset="0"/>
                <a:cs typeface="Courier New" panose="02070309020205020404" pitchFamily="49" charset="0"/>
              </a:rPr>
              <a:t># repetition</a:t>
            </a:r>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ls1</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[0, 1, 2, 3, 4, 0, 1, 2, 3, 4]</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ls1 += 1      </a:t>
            </a:r>
            <a:r>
              <a:rPr lang="en-US" altLang="en-US" sz="2000" dirty="0">
                <a:solidFill>
                  <a:srgbClr val="0070C0"/>
                </a:solidFill>
                <a:latin typeface="Courier New" panose="02070309020205020404" pitchFamily="49" charset="0"/>
                <a:cs typeface="Courier New" panose="02070309020205020404" pitchFamily="49" charset="0"/>
              </a:rPr>
              <a:t># undefined</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i="1" dirty="0">
                <a:solidFill>
                  <a:srgbClr val="0070C0"/>
                </a:solidFill>
                <a:latin typeface="Courier New" panose="02070309020205020404" pitchFamily="49" charset="0"/>
                <a:cs typeface="Courier New" panose="02070309020205020404" pitchFamily="49" charset="0"/>
              </a:rPr>
              <a:t>error</a:t>
            </a:r>
            <a:r>
              <a:rPr lang="en-US" altLang="en-US" sz="2000" dirty="0">
                <a:solidFill>
                  <a:srgbClr val="0070C0"/>
                </a:solidFill>
                <a:latin typeface="Courier New" panose="02070309020205020404" pitchFamily="49" charset="0"/>
                <a:cs typeface="Courier New" panose="02070309020205020404" pitchFamily="49" charset="0"/>
              </a:rPr>
              <a:t> ...</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ls1 + ls1</a:t>
            </a:r>
            <a:r>
              <a:rPr lang="en-US" altLang="en-US" sz="2000" dirty="0">
                <a:solidFill>
                  <a:srgbClr val="FF0000"/>
                </a:solidFill>
                <a:latin typeface="Courier New" panose="02070309020205020404" pitchFamily="49" charset="0"/>
                <a:cs typeface="Courier New" panose="02070309020205020404" pitchFamily="49" charset="0"/>
              </a:rPr>
              <a:t>     # concatenation</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[0, 1, 2, 3, 4, ..., 3, 4, 0, 1, 2, 3, 4]</a:t>
            </a:r>
          </a:p>
        </p:txBody>
      </p:sp>
      <p:sp>
        <p:nvSpPr>
          <p:cNvPr id="2" name="Date Placeholder 1"/>
          <p:cNvSpPr>
            <a:spLocks noGrp="1"/>
          </p:cNvSpPr>
          <p:nvPr>
            <p:ph type="dt" sz="half" idx="10"/>
          </p:nvPr>
        </p:nvSpPr>
        <p:spPr/>
        <p:txBody>
          <a:bodyPr/>
          <a:lstStyle/>
          <a:p>
            <a:pPr>
              <a:defRPr/>
            </a:pPr>
            <a:fld id="{6712B882-18BE-4115-9F97-8C7583129D99}"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50</a:t>
            </a:fld>
            <a:endParaRPr lang="en-US"/>
          </a:p>
        </p:txBody>
      </p:sp>
    </p:spTree>
    <p:extLst>
      <p:ext uri="{BB962C8B-B14F-4D97-AF65-F5344CB8AC3E}">
        <p14:creationId xmlns:p14="http://schemas.microsoft.com/office/powerpoint/2010/main" val="12576076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Arithmetic: </a:t>
            </a:r>
            <a:r>
              <a:rPr lang="en-US" altLang="en-US" b="1" dirty="0" err="1"/>
              <a:t>ndarray</a:t>
            </a:r>
            <a:r>
              <a:rPr lang="en-US" altLang="en-US" dirty="0"/>
              <a:t> vs. </a:t>
            </a:r>
            <a:r>
              <a:rPr lang="en-US" altLang="en-US" b="1" dirty="0"/>
              <a:t>list</a:t>
            </a:r>
            <a:r>
              <a:rPr lang="en-US" altLang="en-US" dirty="0"/>
              <a:t> Operations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b="1" dirty="0" err="1"/>
              <a:t>ndarray</a:t>
            </a:r>
            <a:r>
              <a:rPr lang="en-US" altLang="en-US" sz="2800" dirty="0"/>
              <a:t> vector operations:</a:t>
            </a:r>
          </a:p>
          <a:p>
            <a:pPr eaLnBrk="1" hangingPunct="1">
              <a:spcBef>
                <a:spcPts val="0"/>
              </a:spcBef>
            </a:pPr>
            <a:endParaRPr lang="en-US" altLang="en-US" sz="2800" dirty="0"/>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a1 *= 2       </a:t>
            </a:r>
            <a:r>
              <a:rPr lang="en-US" altLang="en-US" sz="2000" dirty="0">
                <a:solidFill>
                  <a:srgbClr val="00B050"/>
                </a:solidFill>
                <a:latin typeface="Courier New" panose="02070309020205020404" pitchFamily="49" charset="0"/>
                <a:cs typeface="Courier New" panose="02070309020205020404" pitchFamily="49" charset="0"/>
              </a:rPr>
              <a:t># scalar multiplication</a:t>
            </a:r>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a1</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array([0, 2, 4, 6, 8])</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a1 += 1       </a:t>
            </a:r>
            <a:r>
              <a:rPr lang="en-US" altLang="en-US" sz="2000" dirty="0">
                <a:solidFill>
                  <a:srgbClr val="0070C0"/>
                </a:solidFill>
                <a:latin typeface="Courier New" panose="02070309020205020404" pitchFamily="49" charset="0"/>
                <a:cs typeface="Courier New" panose="02070309020205020404" pitchFamily="49" charset="0"/>
              </a:rPr>
              <a:t># add 1 to each element</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array([1, 3, 5, 7, 9])</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a1 + a1</a:t>
            </a:r>
            <a:r>
              <a:rPr lang="en-US" altLang="en-US" sz="2000" dirty="0">
                <a:solidFill>
                  <a:srgbClr val="FF0000"/>
                </a:solidFill>
                <a:latin typeface="Courier New" panose="02070309020205020404" pitchFamily="49" charset="0"/>
                <a:cs typeface="Courier New" panose="02070309020205020404" pitchFamily="49" charset="0"/>
              </a:rPr>
              <a:t>       # vector sum</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array([2, 6, 10, 14, 18])</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6712B882-18BE-4115-9F97-8C7583129D99}"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51</a:t>
            </a:fld>
            <a:endParaRPr lang="en-US"/>
          </a:p>
        </p:txBody>
      </p:sp>
    </p:spTree>
    <p:extLst>
      <p:ext uri="{BB962C8B-B14F-4D97-AF65-F5344CB8AC3E}">
        <p14:creationId xmlns:p14="http://schemas.microsoft.com/office/powerpoint/2010/main" val="7177543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err="1"/>
              <a:t>ndarray</a:t>
            </a:r>
            <a:r>
              <a:rPr lang="en-US" altLang="en-US" dirty="0"/>
              <a:t> Slices and Views</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A </a:t>
            </a:r>
            <a:r>
              <a:rPr lang="en-US" altLang="en-US" sz="2800" i="1" dirty="0"/>
              <a:t>slice</a:t>
            </a:r>
            <a:r>
              <a:rPr lang="en-US" altLang="en-US" sz="2800" dirty="0"/>
              <a:t> of an </a:t>
            </a:r>
            <a:r>
              <a:rPr lang="en-US" altLang="en-US" sz="2800" b="1" dirty="0" err="1"/>
              <a:t>ndarray</a:t>
            </a:r>
            <a:r>
              <a:rPr lang="en-US" altLang="en-US" sz="2800" dirty="0"/>
              <a:t> is a </a:t>
            </a:r>
            <a:r>
              <a:rPr lang="en-US" altLang="en-US" sz="2800" i="1" dirty="0"/>
              <a:t>view</a:t>
            </a:r>
            <a:r>
              <a:rPr lang="en-US" altLang="en-US" sz="2800" dirty="0"/>
              <a:t> on part of the </a:t>
            </a:r>
            <a:r>
              <a:rPr lang="en-US" altLang="en-US" sz="2800" b="1" dirty="0" err="1"/>
              <a:t>ndarray</a:t>
            </a:r>
            <a:endParaRPr lang="en-US" altLang="en-US" sz="2800" b="1" dirty="0"/>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a2 = </a:t>
            </a:r>
            <a:r>
              <a:rPr lang="en-US" altLang="en-US" sz="2000" b="1" dirty="0" err="1">
                <a:latin typeface="Courier New" panose="02070309020205020404" pitchFamily="49" charset="0"/>
                <a:cs typeface="Courier New" panose="02070309020205020404" pitchFamily="49" charset="0"/>
              </a:rPr>
              <a:t>np.arange</a:t>
            </a:r>
            <a:r>
              <a:rPr lang="en-US" altLang="en-US" sz="2000" b="1" dirty="0">
                <a:latin typeface="Courier New" panose="02070309020205020404" pitchFamily="49" charset="0"/>
                <a:cs typeface="Courier New" panose="02070309020205020404" pitchFamily="49" charset="0"/>
              </a:rPr>
              <a:t>(10)</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a2</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array([0, 1, 2, 3, 4, 5, 6, 7, 8, 9])</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a2[2:6]</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array([2, 3, 4, 5])</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a2[2:6] = </a:t>
            </a:r>
            <a:r>
              <a:rPr lang="en-US" altLang="en-US" sz="2000" b="1" dirty="0">
                <a:solidFill>
                  <a:srgbClr val="00B050"/>
                </a:solidFill>
                <a:latin typeface="Courier New" panose="02070309020205020404" pitchFamily="49" charset="0"/>
                <a:cs typeface="Courier New" panose="02070309020205020404" pitchFamily="49" charset="0"/>
              </a:rPr>
              <a:t>-8</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a2</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array([0, 1, </a:t>
            </a:r>
            <a:r>
              <a:rPr lang="en-US" altLang="en-US" sz="2000" dirty="0">
                <a:solidFill>
                  <a:srgbClr val="00B050"/>
                </a:solidFill>
                <a:latin typeface="Courier New" panose="02070309020205020404" pitchFamily="49" charset="0"/>
                <a:cs typeface="Courier New" panose="02070309020205020404" pitchFamily="49" charset="0"/>
              </a:rPr>
              <a:t>-8, -8, -8, -8,</a:t>
            </a:r>
            <a:r>
              <a:rPr lang="en-US" altLang="en-US" sz="2000" dirty="0">
                <a:solidFill>
                  <a:srgbClr val="FF0000"/>
                </a:solidFill>
                <a:latin typeface="Courier New" panose="02070309020205020404" pitchFamily="49" charset="0"/>
                <a:cs typeface="Courier New" panose="02070309020205020404" pitchFamily="49" charset="0"/>
              </a:rPr>
              <a:t> 6, 7, 8, 9])</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52</a:t>
            </a:fld>
            <a:endParaRPr lang="en-US"/>
          </a:p>
        </p:txBody>
      </p:sp>
    </p:spTree>
    <p:extLst>
      <p:ext uri="{BB962C8B-B14F-4D97-AF65-F5344CB8AC3E}">
        <p14:creationId xmlns:p14="http://schemas.microsoft.com/office/powerpoint/2010/main" val="36316415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err="1"/>
              <a:t>ndarray</a:t>
            </a:r>
            <a:r>
              <a:rPr lang="en-US" altLang="en-US" dirty="0"/>
              <a:t> Slices and Views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This is true even if you assign to a variable</a:t>
            </a:r>
          </a:p>
          <a:p>
            <a:pPr lvl="1" eaLnBrk="1" hangingPunct="1">
              <a:spcBef>
                <a:spcPts val="0"/>
              </a:spcBef>
            </a:pPr>
            <a:r>
              <a:rPr lang="en-US" altLang="en-US" sz="2400" dirty="0"/>
              <a:t>Not like a </a:t>
            </a:r>
            <a:r>
              <a:rPr lang="en-US" altLang="en-US" sz="2400" b="1" dirty="0"/>
              <a:t>list</a:t>
            </a:r>
            <a:r>
              <a:rPr lang="en-US" altLang="en-US" sz="2400" dirty="0"/>
              <a:t>!</a:t>
            </a:r>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a2</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array([0, 1, -8, -8, -8, -8, 6, 7, 8, 9])</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a3 = a2[:3]</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a3</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array([ 0,  1, -8])</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a3 *= 3</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a2</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array([ 0,  3, -24, -8, -8, -8,  6,  7,  8,  9])</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53</a:t>
            </a:fld>
            <a:endParaRPr lang="en-US"/>
          </a:p>
        </p:txBody>
      </p:sp>
    </p:spTree>
    <p:extLst>
      <p:ext uri="{BB962C8B-B14F-4D97-AF65-F5344CB8AC3E}">
        <p14:creationId xmlns:p14="http://schemas.microsoft.com/office/powerpoint/2010/main" val="28067691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dirty="0" err="1"/>
              <a:t>ndarray</a:t>
            </a:r>
            <a:r>
              <a:rPr lang="en-US" altLang="en-US" dirty="0"/>
              <a:t> </a:t>
            </a:r>
            <a:r>
              <a:rPr lang="en-US" altLang="en-US" b="1" dirty="0"/>
              <a:t>copy()</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Must use </a:t>
            </a:r>
            <a:r>
              <a:rPr lang="en-US" altLang="en-US" sz="2800" b="1" dirty="0"/>
              <a:t>copy()</a:t>
            </a:r>
            <a:r>
              <a:rPr lang="en-US" altLang="en-US" sz="2800" dirty="0"/>
              <a:t> to get an independent copy of an </a:t>
            </a:r>
            <a:r>
              <a:rPr lang="en-US" altLang="en-US" sz="2800" b="1" dirty="0" err="1"/>
              <a:t>ndarray</a:t>
            </a:r>
            <a:r>
              <a:rPr lang="en-US" altLang="en-US" sz="2800" dirty="0"/>
              <a:t> or </a:t>
            </a:r>
            <a:r>
              <a:rPr lang="en-US" altLang="en-US" sz="2800" b="1" dirty="0" err="1"/>
              <a:t>ndarray</a:t>
            </a:r>
            <a:r>
              <a:rPr lang="en-US" altLang="en-US" sz="2800" dirty="0"/>
              <a:t> slice</a:t>
            </a:r>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a2</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array([ 0,  3, -24, -8, -8, -8,  6,  7,  8,  9])</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a4 = a2[:5].copy()   </a:t>
            </a:r>
            <a:r>
              <a:rPr lang="en-US" altLang="en-US" sz="2000" dirty="0">
                <a:solidFill>
                  <a:srgbClr val="0070C0"/>
                </a:solidFill>
                <a:latin typeface="Courier New" panose="02070309020205020404" pitchFamily="49" charset="0"/>
                <a:cs typeface="Courier New" panose="02070309020205020404" pitchFamily="49" charset="0"/>
              </a:rPr>
              <a:t># copy a slice</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a4</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array([ 0,  3, -24, -8, -8])</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a4 *= -1</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a4                  </a:t>
            </a:r>
            <a:r>
              <a:rPr lang="en-US" altLang="en-US" sz="2000" dirty="0">
                <a:solidFill>
                  <a:srgbClr val="FF0000"/>
                </a:solidFill>
                <a:latin typeface="Courier New" panose="02070309020205020404" pitchFamily="49" charset="0"/>
                <a:cs typeface="Courier New" panose="02070309020205020404" pitchFamily="49" charset="0"/>
              </a:rPr>
              <a:t> # changing a4 ...</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array([ 0, -3,  24,  8,  8])</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 a2                   </a:t>
            </a:r>
            <a:r>
              <a:rPr lang="en-US" altLang="en-US" sz="2000" dirty="0">
                <a:solidFill>
                  <a:srgbClr val="00B050"/>
                </a:solidFill>
                <a:latin typeface="Courier New" panose="02070309020205020404" pitchFamily="49" charset="0"/>
                <a:cs typeface="Courier New" panose="02070309020205020404" pitchFamily="49" charset="0"/>
              </a:rPr>
              <a:t># ... does not change a2</a:t>
            </a:r>
          </a:p>
          <a:p>
            <a:pPr marL="0" indent="0" eaLnBrk="1" hangingPunct="1">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array([ 0,  3, -24, -8, -8, -8,  6,  7,  8,  9])</a:t>
            </a: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54</a:t>
            </a:fld>
            <a:endParaRPr lang="en-US"/>
          </a:p>
        </p:txBody>
      </p:sp>
    </p:spTree>
    <p:extLst>
      <p:ext uri="{BB962C8B-B14F-4D97-AF65-F5344CB8AC3E}">
        <p14:creationId xmlns:p14="http://schemas.microsoft.com/office/powerpoint/2010/main" val="41710812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N-Dimensional </a:t>
            </a:r>
            <a:r>
              <a:rPr lang="en-US" altLang="en-US" b="1" dirty="0" err="1"/>
              <a:t>ndarray</a:t>
            </a:r>
            <a:r>
              <a:rPr lang="en-US" altLang="en-US" dirty="0" err="1"/>
              <a:t>s</a:t>
            </a:r>
            <a:endParaRPr lang="en-US" altLang="en-US" dirty="0"/>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One way create an N-dimensional </a:t>
            </a:r>
            <a:r>
              <a:rPr lang="en-US" altLang="en-US" sz="2800" b="1" dirty="0" err="1"/>
              <a:t>ndarray</a:t>
            </a:r>
            <a:r>
              <a:rPr lang="en-US" altLang="en-US" sz="2800" b="1" dirty="0"/>
              <a:t> </a:t>
            </a:r>
            <a:r>
              <a:rPr lang="en-US" altLang="en-US" sz="2800" dirty="0"/>
              <a:t>is from a </a:t>
            </a:r>
            <a:r>
              <a:rPr lang="en-US" altLang="en-US" sz="2800" b="1" dirty="0"/>
              <a:t>list</a:t>
            </a:r>
            <a:r>
              <a:rPr lang="en-US" altLang="en-US" sz="2800" dirty="0"/>
              <a:t> of </a:t>
            </a:r>
            <a:r>
              <a:rPr lang="en-US" altLang="en-US" sz="2800" b="1" dirty="0"/>
              <a:t>list</a:t>
            </a:r>
            <a:r>
              <a:rPr lang="en-US" altLang="en-US" sz="2800" dirty="0"/>
              <a:t>s (of </a:t>
            </a:r>
            <a:r>
              <a:rPr lang="en-US" altLang="en-US" sz="2800" b="1" dirty="0"/>
              <a:t>list</a:t>
            </a:r>
            <a:r>
              <a:rPr lang="en-US" altLang="en-US" sz="2800" dirty="0"/>
              <a:t>s…), or a </a:t>
            </a:r>
            <a:r>
              <a:rPr lang="en-US" altLang="en-US" sz="2800" b="1" dirty="0"/>
              <a:t>tuple</a:t>
            </a:r>
            <a:r>
              <a:rPr lang="en-US" altLang="en-US" sz="2800" dirty="0"/>
              <a:t> of </a:t>
            </a:r>
            <a:r>
              <a:rPr lang="en-US" altLang="en-US" sz="2800" b="1" dirty="0"/>
              <a:t>tuple</a:t>
            </a:r>
            <a:r>
              <a:rPr lang="en-US" altLang="en-US" sz="2800" dirty="0"/>
              <a:t>s (of </a:t>
            </a:r>
            <a:r>
              <a:rPr lang="en-US" altLang="en-US" sz="2800" b="1" dirty="0"/>
              <a:t>tuple</a:t>
            </a:r>
            <a:r>
              <a:rPr lang="en-US" altLang="en-US" sz="2800" dirty="0"/>
              <a:t>s…), or the like:</a:t>
            </a:r>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a1 = </a:t>
            </a:r>
            <a:r>
              <a:rPr lang="en-US" altLang="en-US" sz="2000" b="1" dirty="0" err="1">
                <a:latin typeface="Courier New" panose="02070309020205020404" pitchFamily="49" charset="0"/>
                <a:cs typeface="Courier New" panose="02070309020205020404" pitchFamily="49" charset="0"/>
              </a:rPr>
              <a:t>np.array</a:t>
            </a:r>
            <a:r>
              <a:rPr lang="en-US" altLang="en-US" sz="2000" b="1" dirty="0">
                <a:latin typeface="Courier New" panose="02070309020205020404" pitchFamily="49" charset="0"/>
                <a:cs typeface="Courier New" panose="02070309020205020404" pitchFamily="49" charset="0"/>
              </a:rPr>
              <a:t>(</a:t>
            </a:r>
            <a:r>
              <a:rPr lang="en-US" altLang="en-US" sz="2000" b="1" dirty="0">
                <a:solidFill>
                  <a:srgbClr val="FF0000"/>
                </a:solidFill>
                <a:latin typeface="Courier New" panose="02070309020205020404" pitchFamily="49" charset="0"/>
                <a:cs typeface="Courier New" panose="02070309020205020404" pitchFamily="49" charset="0"/>
              </a:rPr>
              <a:t>[</a:t>
            </a:r>
            <a:r>
              <a:rPr lang="en-US" altLang="en-US" sz="2000" b="1" dirty="0">
                <a:latin typeface="Courier New" panose="02070309020205020404" pitchFamily="49" charset="0"/>
                <a:cs typeface="Courier New" panose="02070309020205020404" pitchFamily="49" charset="0"/>
              </a:rPr>
              <a:t>[1,2,3,4],[6,4,2,0]</a:t>
            </a:r>
            <a:r>
              <a:rPr lang="en-US" altLang="en-US" sz="2000" b="1" dirty="0">
                <a:solidFill>
                  <a:srgbClr val="FF0000"/>
                </a:solidFill>
                <a:latin typeface="Courier New" panose="02070309020205020404" pitchFamily="49" charset="0"/>
                <a:cs typeface="Courier New" panose="02070309020205020404" pitchFamily="49" charset="0"/>
              </a:rPr>
              <a:t>]</a:t>
            </a:r>
            <a:r>
              <a:rPr lang="en-US" altLang="en-US" sz="2000" b="1" dirty="0">
                <a:latin typeface="Courier New" panose="02070309020205020404" pitchFamily="49" charset="0"/>
                <a:cs typeface="Courier New" panose="02070309020205020404" pitchFamily="49" charset="0"/>
              </a:rPr>
              <a:t>)</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array([[1, 2, 3, 4],</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[6, 4, 2, 0]])</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a1.ndim</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2                  # 2-dimensional</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a1.shape</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(2, 4)             # tuple: 2 rows, 4 columns</a:t>
            </a: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55</a:t>
            </a:fld>
            <a:endParaRPr lang="en-US"/>
          </a:p>
        </p:txBody>
      </p:sp>
    </p:spTree>
    <p:extLst>
      <p:ext uri="{BB962C8B-B14F-4D97-AF65-F5344CB8AC3E}">
        <p14:creationId xmlns:p14="http://schemas.microsoft.com/office/powerpoint/2010/main" val="31486588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N-Dimensional </a:t>
            </a:r>
            <a:r>
              <a:rPr lang="en-US" altLang="en-US" b="1" dirty="0" err="1"/>
              <a:t>ndarray</a:t>
            </a:r>
            <a:r>
              <a:rPr lang="en-US" altLang="en-US" dirty="0" err="1"/>
              <a:t>s</a:t>
            </a:r>
            <a:r>
              <a:rPr lang="en-US" altLang="en-US" dirty="0"/>
              <a:t>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Or, </a:t>
            </a:r>
            <a:r>
              <a:rPr lang="en-US" altLang="en-US" sz="2800" b="1" dirty="0"/>
              <a:t>reshape()</a:t>
            </a:r>
            <a:r>
              <a:rPr lang="en-US" altLang="en-US" sz="2800" dirty="0"/>
              <a:t> an existing </a:t>
            </a:r>
            <a:r>
              <a:rPr lang="en-US" altLang="en-US" sz="2800" b="1" dirty="0" err="1"/>
              <a:t>ndarray</a:t>
            </a:r>
            <a:endParaRPr lang="en-US" altLang="en-US" sz="2800" b="1" dirty="0"/>
          </a:p>
          <a:p>
            <a:pPr lvl="1" eaLnBrk="1" hangingPunct="1">
              <a:spcBef>
                <a:spcPts val="0"/>
              </a:spcBef>
            </a:pPr>
            <a:r>
              <a:rPr lang="en-US" altLang="en-US" sz="2400" dirty="0"/>
              <a:t>Returns a </a:t>
            </a:r>
            <a:r>
              <a:rPr lang="en-US" altLang="en-US" sz="2400" i="1" dirty="0"/>
              <a:t>copy</a:t>
            </a:r>
            <a:r>
              <a:rPr lang="en-US" altLang="en-US" sz="2400" dirty="0"/>
              <a:t> of the reshaped array: no change to the original array</a:t>
            </a:r>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a2 = </a:t>
            </a:r>
            <a:r>
              <a:rPr lang="en-US" altLang="en-US" sz="2000" b="1" dirty="0" err="1">
                <a:latin typeface="Courier New" panose="02070309020205020404" pitchFamily="49" charset="0"/>
                <a:cs typeface="Courier New" panose="02070309020205020404" pitchFamily="49" charset="0"/>
              </a:rPr>
              <a:t>np.arange</a:t>
            </a:r>
            <a:r>
              <a:rPr lang="en-US" altLang="en-US" sz="2000" b="1" dirty="0">
                <a:latin typeface="Courier New" panose="02070309020205020404" pitchFamily="49" charset="0"/>
                <a:cs typeface="Courier New" panose="02070309020205020404" pitchFamily="49" charset="0"/>
              </a:rPr>
              <a:t>(12)</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array([ 0, 1, 2, 3, 4, 5, 6, 7, 8, 9, 10, 11])</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print(a2.ndim, a2.shape)</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1 (12,)</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a3 = a2.reshape(3, 4)</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a3</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array([[ 0,  1,  2,  3],</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[ 4,  5,  6,  7],</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[ 8,  9, 10, 11]])</a:t>
            </a: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56</a:t>
            </a:fld>
            <a:endParaRPr lang="en-US"/>
          </a:p>
        </p:txBody>
      </p:sp>
    </p:spTree>
    <p:extLst>
      <p:ext uri="{BB962C8B-B14F-4D97-AF65-F5344CB8AC3E}">
        <p14:creationId xmlns:p14="http://schemas.microsoft.com/office/powerpoint/2010/main" val="37355427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N-Dimensional </a:t>
            </a:r>
            <a:r>
              <a:rPr lang="en-US" altLang="en-US" b="1" dirty="0" err="1"/>
              <a:t>ndarray</a:t>
            </a:r>
            <a:r>
              <a:rPr lang="en-US" altLang="en-US" dirty="0" err="1"/>
              <a:t>s</a:t>
            </a:r>
            <a:r>
              <a:rPr lang="en-US" altLang="en-US" dirty="0"/>
              <a:t>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Or, call a function that creates an </a:t>
            </a:r>
            <a:r>
              <a:rPr lang="en-US" altLang="en-US" sz="2800" b="1" dirty="0" err="1"/>
              <a:t>ndarray</a:t>
            </a:r>
            <a:r>
              <a:rPr lang="en-US" altLang="en-US" sz="2800" dirty="0"/>
              <a:t> of some shape, where </a:t>
            </a:r>
            <a:r>
              <a:rPr lang="en-US" altLang="en-US" sz="2800" i="1" dirty="0">
                <a:solidFill>
                  <a:srgbClr val="0070C0"/>
                </a:solidFill>
                <a:latin typeface="Courier New" panose="02070309020205020404" pitchFamily="49" charset="0"/>
                <a:cs typeface="Courier New" panose="02070309020205020404" pitchFamily="49" charset="0"/>
              </a:rPr>
              <a:t>shape</a:t>
            </a:r>
            <a:r>
              <a:rPr lang="en-US" altLang="en-US" sz="2800" dirty="0"/>
              <a:t> is a </a:t>
            </a:r>
            <a:r>
              <a:rPr lang="en-US" altLang="en-US" sz="2800" b="1" dirty="0"/>
              <a:t>tuple</a:t>
            </a:r>
            <a:r>
              <a:rPr lang="en-US" altLang="en-US" sz="2800" dirty="0"/>
              <a:t>:</a:t>
            </a:r>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np.ones</a:t>
            </a:r>
            <a:r>
              <a:rPr lang="en-US" altLang="en-US" sz="2000" b="1" dirty="0">
                <a:latin typeface="Courier New" panose="02070309020205020404" pitchFamily="49" charset="0"/>
                <a:cs typeface="Courier New" panose="02070309020205020404" pitchFamily="49" charset="0"/>
              </a:rPr>
              <a:t>(</a:t>
            </a:r>
            <a:r>
              <a:rPr lang="en-US" altLang="en-US" sz="2000" i="1" dirty="0">
                <a:solidFill>
                  <a:srgbClr val="0070C0"/>
                </a:solidFill>
                <a:latin typeface="Courier New" panose="02070309020205020404" pitchFamily="49" charset="0"/>
                <a:cs typeface="Courier New" panose="02070309020205020404" pitchFamily="49" charset="0"/>
              </a:rPr>
              <a:t>shape</a:t>
            </a:r>
            <a:r>
              <a:rPr lang="en-US" altLang="en-US" sz="2000" b="1" dirty="0">
                <a:latin typeface="Courier New" panose="02070309020205020404" pitchFamily="49" charset="0"/>
                <a:cs typeface="Courier New" panose="02070309020205020404" pitchFamily="49" charset="0"/>
              </a:rPr>
              <a:t>)       </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ndarray</a:t>
            </a:r>
            <a:r>
              <a:rPr lang="en-US" altLang="en-US" sz="2000" dirty="0">
                <a:latin typeface="Courier New" panose="02070309020205020404" pitchFamily="49" charset="0"/>
                <a:cs typeface="Courier New" panose="02070309020205020404" pitchFamily="49" charset="0"/>
              </a:rPr>
              <a:t> of all 1.0s</a:t>
            </a:r>
          </a:p>
          <a:p>
            <a:pPr marL="0" indent="0" eaLnBrk="1" hangingPunct="1">
              <a:spcBef>
                <a:spcPts val="0"/>
              </a:spcBef>
              <a:buNone/>
            </a:pPr>
            <a:endParaRPr lang="en-US" altLang="en-US" sz="2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np.zeros</a:t>
            </a:r>
            <a:r>
              <a:rPr lang="en-US" altLang="en-US" sz="2000" b="1" dirty="0">
                <a:latin typeface="Courier New" panose="02070309020205020404" pitchFamily="49" charset="0"/>
                <a:cs typeface="Courier New" panose="02070309020205020404" pitchFamily="49" charset="0"/>
              </a:rPr>
              <a:t>(</a:t>
            </a:r>
            <a:r>
              <a:rPr lang="en-US" altLang="en-US" sz="2000" i="1" dirty="0">
                <a:solidFill>
                  <a:srgbClr val="0070C0"/>
                </a:solidFill>
                <a:latin typeface="Courier New" panose="02070309020205020404" pitchFamily="49" charset="0"/>
                <a:cs typeface="Courier New" panose="02070309020205020404" pitchFamily="49" charset="0"/>
              </a:rPr>
              <a:t>shape</a:t>
            </a:r>
            <a:r>
              <a:rPr lang="en-US" altLang="en-US" sz="2000" b="1" dirty="0">
                <a:latin typeface="Courier New" panose="02070309020205020404" pitchFamily="49" charset="0"/>
                <a:cs typeface="Courier New" panose="02070309020205020404" pitchFamily="49" charset="0"/>
              </a:rPr>
              <a:t>)      </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ndarray</a:t>
            </a:r>
            <a:r>
              <a:rPr lang="en-US" altLang="en-US" sz="2000" dirty="0">
                <a:latin typeface="Courier New" panose="02070309020205020404" pitchFamily="49" charset="0"/>
                <a:cs typeface="Courier New" panose="02070309020205020404" pitchFamily="49" charset="0"/>
              </a:rPr>
              <a:t> of all 0.0s</a:t>
            </a:r>
          </a:p>
          <a:p>
            <a:pPr marL="0" indent="0" eaLnBrk="1" hangingPunct="1">
              <a:spcBef>
                <a:spcPts val="0"/>
              </a:spcBef>
              <a:buNone/>
            </a:pPr>
            <a:endParaRPr lang="en-US" altLang="en-US" sz="2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np.full</a:t>
            </a:r>
            <a:r>
              <a:rPr lang="en-US" altLang="en-US" sz="2000" b="1" dirty="0">
                <a:latin typeface="Courier New" panose="02070309020205020404" pitchFamily="49" charset="0"/>
                <a:cs typeface="Courier New" panose="02070309020205020404" pitchFamily="49" charset="0"/>
              </a:rPr>
              <a:t>(</a:t>
            </a:r>
            <a:r>
              <a:rPr lang="en-US" altLang="en-US" sz="2000" i="1" dirty="0">
                <a:solidFill>
                  <a:srgbClr val="0070C0"/>
                </a:solidFill>
                <a:latin typeface="Courier New" panose="02070309020205020404" pitchFamily="49" charset="0"/>
                <a:cs typeface="Courier New" panose="02070309020205020404" pitchFamily="49" charset="0"/>
              </a:rPr>
              <a:t>shape</a:t>
            </a:r>
            <a:r>
              <a:rPr lang="en-US" altLang="en-US" sz="2000" b="1" dirty="0">
                <a:latin typeface="Courier New" panose="02070309020205020404" pitchFamily="49" charset="0"/>
                <a:cs typeface="Courier New" panose="02070309020205020404" pitchFamily="49" charset="0"/>
              </a:rPr>
              <a:t>, </a:t>
            </a:r>
            <a:r>
              <a:rPr lang="en-US" altLang="en-US" sz="2000" i="1" dirty="0" err="1">
                <a:solidFill>
                  <a:srgbClr val="0070C0"/>
                </a:solidFill>
                <a:latin typeface="Courier New" panose="02070309020205020404" pitchFamily="49" charset="0"/>
                <a:cs typeface="Courier New" panose="02070309020205020404" pitchFamily="49" charset="0"/>
              </a:rPr>
              <a:t>val</a:t>
            </a:r>
            <a:r>
              <a:rPr lang="en-US" altLang="en-US" sz="2000" b="1" dirty="0">
                <a:latin typeface="Courier New" panose="02070309020205020404" pitchFamily="49" charset="0"/>
                <a:cs typeface="Courier New" panose="02070309020205020404" pitchFamily="49" charset="0"/>
              </a:rPr>
              <a:t>)  </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ndarray</a:t>
            </a:r>
            <a:r>
              <a:rPr lang="en-US" altLang="en-US" sz="2000" dirty="0">
                <a:latin typeface="Courier New" panose="02070309020205020404" pitchFamily="49" charset="0"/>
                <a:cs typeface="Courier New" panose="02070309020205020404" pitchFamily="49" charset="0"/>
              </a:rPr>
              <a:t> of all </a:t>
            </a:r>
            <a:r>
              <a:rPr lang="en-US" altLang="en-US" sz="2000" i="1" dirty="0" err="1">
                <a:solidFill>
                  <a:srgbClr val="0070C0"/>
                </a:solidFill>
                <a:latin typeface="Courier New" panose="02070309020205020404" pitchFamily="49" charset="0"/>
                <a:cs typeface="Courier New" panose="02070309020205020404" pitchFamily="49" charset="0"/>
              </a:rPr>
              <a:t>val</a:t>
            </a:r>
            <a:endParaRPr lang="en-US" altLang="en-US" sz="2000" dirty="0">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2000"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np.eye</a:t>
            </a:r>
            <a:r>
              <a:rPr lang="en-US" altLang="en-US" sz="2000" b="1" dirty="0">
                <a:latin typeface="Courier New" panose="02070309020205020404" pitchFamily="49" charset="0"/>
                <a:cs typeface="Courier New" panose="02070309020205020404" pitchFamily="49" charset="0"/>
              </a:rPr>
              <a:t>(</a:t>
            </a:r>
            <a:r>
              <a:rPr lang="en-US" altLang="en-US" sz="2000" i="1" dirty="0">
                <a:solidFill>
                  <a:srgbClr val="0070C0"/>
                </a:solidFill>
                <a:latin typeface="Courier New" panose="02070309020205020404" pitchFamily="49" charset="0"/>
                <a:cs typeface="Courier New" panose="02070309020205020404" pitchFamily="49" charset="0"/>
              </a:rPr>
              <a:t>N</a:t>
            </a:r>
            <a:r>
              <a:rPr lang="en-US" altLang="en-US" sz="2000" b="1" dirty="0">
                <a:latin typeface="Courier New" panose="02070309020205020404" pitchFamily="49" charset="0"/>
                <a:cs typeface="Courier New" panose="02070309020205020404" pitchFamily="49" charset="0"/>
              </a:rPr>
              <a:t>)            </a:t>
            </a:r>
            <a:r>
              <a:rPr lang="en-US" altLang="en-US" sz="2000" dirty="0">
                <a:latin typeface="Courier New" panose="02070309020205020404" pitchFamily="49" charset="0"/>
                <a:cs typeface="Courier New" panose="02070309020205020404" pitchFamily="49" charset="0"/>
              </a:rPr>
              <a:t># </a:t>
            </a:r>
            <a:r>
              <a:rPr lang="en-US" altLang="en-US" sz="2000" i="1" dirty="0" err="1">
                <a:solidFill>
                  <a:srgbClr val="0070C0"/>
                </a:solidFill>
                <a:latin typeface="Courier New" panose="02070309020205020404" pitchFamily="49" charset="0"/>
                <a:cs typeface="Courier New" panose="02070309020205020404" pitchFamily="49" charset="0"/>
              </a:rPr>
              <a:t>N</a:t>
            </a:r>
            <a:r>
              <a:rPr lang="en-US" altLang="en-US" sz="2000" dirty="0" err="1">
                <a:latin typeface="Courier New" panose="02070309020205020404" pitchFamily="49" charset="0"/>
                <a:cs typeface="Courier New" panose="02070309020205020404" pitchFamily="49" charset="0"/>
              </a:rPr>
              <a:t>x</a:t>
            </a:r>
            <a:r>
              <a:rPr lang="en-US" altLang="en-US" sz="2000" i="1" dirty="0" err="1">
                <a:solidFill>
                  <a:srgbClr val="0070C0"/>
                </a:solidFill>
                <a:latin typeface="Courier New" panose="02070309020205020404" pitchFamily="49" charset="0"/>
                <a:cs typeface="Courier New" panose="02070309020205020404" pitchFamily="49" charset="0"/>
              </a:rPr>
              <a:t>N</a:t>
            </a:r>
            <a:r>
              <a:rPr lang="en-US" altLang="en-US" sz="2000" dirty="0">
                <a:latin typeface="Courier New" panose="02070309020205020404" pitchFamily="49" charset="0"/>
                <a:cs typeface="Courier New" panose="02070309020205020404" pitchFamily="49" charset="0"/>
              </a:rPr>
              <a:t> identity matrix</a:t>
            </a:r>
          </a:p>
          <a:p>
            <a:pPr marL="0" indent="0" eaLnBrk="1" hangingPunct="1">
              <a:spcBef>
                <a:spcPts val="0"/>
              </a:spcBef>
              <a:buNone/>
            </a:pPr>
            <a:endParaRPr lang="en-US" altLang="en-US" sz="2000" b="1" dirty="0">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np.identity</a:t>
            </a:r>
            <a:r>
              <a:rPr lang="en-US" altLang="en-US" sz="2000" b="1" dirty="0">
                <a:latin typeface="Courier New" panose="02070309020205020404" pitchFamily="49" charset="0"/>
                <a:cs typeface="Courier New" panose="02070309020205020404" pitchFamily="49" charset="0"/>
              </a:rPr>
              <a:t>(</a:t>
            </a:r>
            <a:r>
              <a:rPr lang="en-US" altLang="en-US" sz="2000" i="1" dirty="0">
                <a:solidFill>
                  <a:srgbClr val="0070C0"/>
                </a:solidFill>
                <a:latin typeface="Courier New" panose="02070309020205020404" pitchFamily="49" charset="0"/>
                <a:cs typeface="Courier New" panose="02070309020205020404" pitchFamily="49" charset="0"/>
              </a:rPr>
              <a:t>N</a:t>
            </a:r>
            <a:r>
              <a:rPr lang="en-US" altLang="en-US" sz="2000" b="1" dirty="0">
                <a:latin typeface="Courier New" panose="02070309020205020404" pitchFamily="49" charset="0"/>
                <a:cs typeface="Courier New" panose="02070309020205020404" pitchFamily="49" charset="0"/>
              </a:rPr>
              <a:t>)       </a:t>
            </a:r>
            <a:r>
              <a:rPr lang="en-US" altLang="en-US" sz="2000" dirty="0">
                <a:latin typeface="Courier New" panose="02070309020205020404" pitchFamily="49" charset="0"/>
                <a:cs typeface="Courier New" panose="02070309020205020404" pitchFamily="49" charset="0"/>
              </a:rPr>
              <a:t># </a:t>
            </a:r>
            <a:r>
              <a:rPr lang="en-US" altLang="en-US" sz="2000" i="1" dirty="0" err="1">
                <a:solidFill>
                  <a:srgbClr val="0070C0"/>
                </a:solidFill>
                <a:latin typeface="Courier New" panose="02070309020205020404" pitchFamily="49" charset="0"/>
                <a:cs typeface="Courier New" panose="02070309020205020404" pitchFamily="49" charset="0"/>
              </a:rPr>
              <a:t>N</a:t>
            </a:r>
            <a:r>
              <a:rPr lang="en-US" altLang="en-US" sz="2000" dirty="0" err="1">
                <a:latin typeface="Courier New" panose="02070309020205020404" pitchFamily="49" charset="0"/>
                <a:cs typeface="Courier New" panose="02070309020205020404" pitchFamily="49" charset="0"/>
              </a:rPr>
              <a:t>x</a:t>
            </a:r>
            <a:r>
              <a:rPr lang="en-US" altLang="en-US" sz="2000" i="1" dirty="0" err="1">
                <a:solidFill>
                  <a:srgbClr val="0070C0"/>
                </a:solidFill>
                <a:latin typeface="Courier New" panose="02070309020205020404" pitchFamily="49" charset="0"/>
                <a:cs typeface="Courier New" panose="02070309020205020404" pitchFamily="49" charset="0"/>
              </a:rPr>
              <a:t>N</a:t>
            </a:r>
            <a:r>
              <a:rPr lang="en-US" altLang="en-US" sz="2000" dirty="0">
                <a:latin typeface="Courier New" panose="02070309020205020404" pitchFamily="49" charset="0"/>
                <a:cs typeface="Courier New" panose="02070309020205020404" pitchFamily="49" charset="0"/>
              </a:rPr>
              <a:t> identity matrix</a:t>
            </a: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57</a:t>
            </a:fld>
            <a:endParaRPr lang="en-US"/>
          </a:p>
        </p:txBody>
      </p:sp>
    </p:spTree>
    <p:extLst>
      <p:ext uri="{BB962C8B-B14F-4D97-AF65-F5344CB8AC3E}">
        <p14:creationId xmlns:p14="http://schemas.microsoft.com/office/powerpoint/2010/main" val="31484319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2-Dimensional </a:t>
            </a:r>
            <a:r>
              <a:rPr lang="en-US" altLang="en-US" b="1" dirty="0" err="1"/>
              <a:t>ndarray</a:t>
            </a:r>
            <a:r>
              <a:rPr lang="en-US" altLang="en-US" dirty="0"/>
              <a:t> Slices</a:t>
            </a:r>
          </a:p>
        </p:txBody>
      </p:sp>
      <p:sp>
        <p:nvSpPr>
          <p:cNvPr id="24579" name="Rectangle 3"/>
          <p:cNvSpPr>
            <a:spLocks noGrp="1" noChangeArrowheads="1"/>
          </p:cNvSpPr>
          <p:nvPr>
            <p:ph type="body" idx="1"/>
          </p:nvPr>
        </p:nvSpPr>
        <p:spPr/>
        <p:txBody>
          <a:bodyPr/>
          <a:lstStyle/>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 = </a:t>
            </a:r>
            <a:r>
              <a:rPr lang="en-US" altLang="en-US" sz="2000" b="1" dirty="0" err="1">
                <a:latin typeface="Courier New" panose="02070309020205020404" pitchFamily="49" charset="0"/>
                <a:cs typeface="Courier New" panose="02070309020205020404" pitchFamily="49" charset="0"/>
              </a:rPr>
              <a:t>np.array</a:t>
            </a:r>
            <a:r>
              <a:rPr lang="en-US" altLang="en-US" sz="2000" b="1" dirty="0">
                <a:latin typeface="Courier New" panose="02070309020205020404" pitchFamily="49" charset="0"/>
                <a:cs typeface="Courier New" panose="02070309020205020404" pitchFamily="49" charset="0"/>
              </a:rPr>
              <a:t>([[0,2,4,6,8],[1,3,5,7,9],</a:t>
            </a:r>
          </a:p>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                   [-5,-4,-3,-2,-1]])</a:t>
            </a:r>
          </a:p>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[ 1,  3,  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[-5, -4, -3, -2,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a1[1:, :3]</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array([[ 1,  3,  5],</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[-5, -4, -3]])</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a1[1:, :3] *= -3</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       [ -3,  -9, -15,   7,   9],</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       [ 15,  12,   9,  -2,  -1]])</a:t>
            </a:r>
          </a:p>
        </p:txBody>
      </p:sp>
      <p:sp>
        <p:nvSpPr>
          <p:cNvPr id="2" name="Date Placeholder 1"/>
          <p:cNvSpPr>
            <a:spLocks noGrp="1"/>
          </p:cNvSpPr>
          <p:nvPr>
            <p:ph type="dt" sz="half" idx="10"/>
          </p:nvPr>
        </p:nvSpPr>
        <p:spPr/>
        <p:txBody>
          <a:bodyPr/>
          <a:lstStyle/>
          <a:p>
            <a:pPr>
              <a:defRPr/>
            </a:pPr>
            <a:fld id="{6FDE432B-DE7D-4E6C-969C-9140ADDAE2F6}"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58</a:t>
            </a:fld>
            <a:endParaRPr lang="en-US"/>
          </a:p>
        </p:txBody>
      </p:sp>
    </p:spTree>
    <p:extLst>
      <p:ext uri="{BB962C8B-B14F-4D97-AF65-F5344CB8AC3E}">
        <p14:creationId xmlns:p14="http://schemas.microsoft.com/office/powerpoint/2010/main" val="34282174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2-Dimensional </a:t>
            </a:r>
            <a:r>
              <a:rPr lang="en-US" altLang="en-US" b="1" dirty="0" err="1"/>
              <a:t>ndarray</a:t>
            </a:r>
            <a:r>
              <a:rPr lang="en-US" altLang="en-US" dirty="0"/>
              <a:t> Slices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-3,  -9, -15,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[ 15,  12,   9,  -2,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a1[2]</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array([15, 12,  9, -2, -1])</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a1[2].shape</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(5,)                  # a 1-D array</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a1[2].</a:t>
            </a:r>
            <a:r>
              <a:rPr lang="en-US" altLang="en-US" sz="2000" b="1" dirty="0" err="1">
                <a:solidFill>
                  <a:srgbClr val="FF0000"/>
                </a:solidFill>
                <a:latin typeface="Courier New" panose="02070309020205020404" pitchFamily="49" charset="0"/>
                <a:cs typeface="Courier New" panose="02070309020205020404" pitchFamily="49" charset="0"/>
              </a:rPr>
              <a:t>ndim</a:t>
            </a:r>
            <a:endParaRPr lang="en-US" altLang="en-US" sz="2000" b="1" dirty="0">
              <a:solidFill>
                <a:srgbClr val="FF0000"/>
              </a:solidFill>
              <a:latin typeface="Courier New" panose="02070309020205020404" pitchFamily="49" charset="0"/>
              <a:cs typeface="Courier New" panose="02070309020205020404" pitchFamily="49" charset="0"/>
            </a:endParaRP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1</a:t>
            </a:r>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a1[2][1] = 5</a:t>
            </a:r>
            <a:r>
              <a:rPr lang="en-US" altLang="en-US" sz="2000" dirty="0">
                <a:solidFill>
                  <a:srgbClr val="00B050"/>
                </a:solidFill>
                <a:latin typeface="Courier New" panose="02070309020205020404" pitchFamily="49" charset="0"/>
                <a:cs typeface="Courier New" panose="02070309020205020404" pitchFamily="49" charset="0"/>
              </a:rPr>
              <a:t>      # same as a1[2,1] = 5</a:t>
            </a:r>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a1[2]</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array([15,  5,  9, -2, -1])</a:t>
            </a:r>
          </a:p>
          <a:p>
            <a:pPr marL="0" indent="0" eaLnBrk="1" hangingPunct="1">
              <a:lnSpc>
                <a:spcPts val="2200"/>
              </a:lnSpc>
              <a:spcBef>
                <a:spcPts val="0"/>
              </a:spcBef>
              <a:buNone/>
            </a:pPr>
            <a:endParaRPr lang="en-US" altLang="en-US" sz="2000" dirty="0">
              <a:solidFill>
                <a:srgbClr val="0070C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6FDE432B-DE7D-4E6C-969C-9140ADDAE2F6}"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59</a:t>
            </a:fld>
            <a:endParaRPr lang="en-US"/>
          </a:p>
        </p:txBody>
      </p:sp>
    </p:spTree>
    <p:extLst>
      <p:ext uri="{BB962C8B-B14F-4D97-AF65-F5344CB8AC3E}">
        <p14:creationId xmlns:p14="http://schemas.microsoft.com/office/powerpoint/2010/main" val="26600547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2-Dimensional </a:t>
            </a:r>
            <a:r>
              <a:rPr lang="en-US" altLang="en-US" b="1" dirty="0" err="1"/>
              <a:t>ndarray</a:t>
            </a:r>
            <a:r>
              <a:rPr lang="en-US" altLang="en-US" dirty="0"/>
              <a:t> Slices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-3,  -9, -15,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[ 15,   5,   9,  -2,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a1[2, :]          </a:t>
            </a:r>
            <a:r>
              <a:rPr lang="en-US" altLang="en-US" sz="2000" dirty="0">
                <a:solidFill>
                  <a:srgbClr val="0070C0"/>
                </a:solidFill>
                <a:latin typeface="Courier New" panose="02070309020205020404" pitchFamily="49" charset="0"/>
                <a:cs typeface="Courier New" panose="02070309020205020404" pitchFamily="49" charset="0"/>
              </a:rPr>
              <a:t># all columns</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array([15,  5,  9, -2, -1])</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a1[2, :].shape</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(5,)                  # still a 1-D array</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a1[2, :].</a:t>
            </a:r>
            <a:r>
              <a:rPr lang="en-US" altLang="en-US" sz="2000" b="1" dirty="0" err="1">
                <a:solidFill>
                  <a:srgbClr val="FF0000"/>
                </a:solidFill>
                <a:latin typeface="Courier New" panose="02070309020205020404" pitchFamily="49" charset="0"/>
                <a:cs typeface="Courier New" panose="02070309020205020404" pitchFamily="49" charset="0"/>
              </a:rPr>
              <a:t>ndim</a:t>
            </a:r>
            <a:endParaRPr lang="en-US" altLang="en-US" sz="2000" b="1" dirty="0">
              <a:solidFill>
                <a:srgbClr val="FF0000"/>
              </a:solidFill>
              <a:latin typeface="Courier New" panose="02070309020205020404" pitchFamily="49" charset="0"/>
              <a:cs typeface="Courier New" panose="02070309020205020404" pitchFamily="49" charset="0"/>
            </a:endParaRP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1</a:t>
            </a:r>
          </a:p>
          <a:p>
            <a:pPr marL="0" indent="0" eaLnBrk="1" hangingPunct="1">
              <a:lnSpc>
                <a:spcPts val="2200"/>
              </a:lnSpc>
              <a:spcBef>
                <a:spcPts val="0"/>
              </a:spcBef>
              <a:buNone/>
            </a:pPr>
            <a:endParaRPr lang="en-US" altLang="en-US" sz="2000" dirty="0">
              <a:solidFill>
                <a:srgbClr val="0070C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6FDE432B-DE7D-4E6C-969C-9140ADDAE2F6}"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60</a:t>
            </a:fld>
            <a:endParaRPr lang="en-US"/>
          </a:p>
        </p:txBody>
      </p:sp>
    </p:spTree>
    <p:extLst>
      <p:ext uri="{BB962C8B-B14F-4D97-AF65-F5344CB8AC3E}">
        <p14:creationId xmlns:p14="http://schemas.microsoft.com/office/powerpoint/2010/main" val="33754581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2-Dimensional </a:t>
            </a:r>
            <a:r>
              <a:rPr lang="en-US" altLang="en-US" b="1" dirty="0" err="1"/>
              <a:t>ndarray</a:t>
            </a:r>
            <a:r>
              <a:rPr lang="en-US" altLang="en-US" dirty="0"/>
              <a:t> Slices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-3,  -9, -15,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[ 15,   5,   9,  -2,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a1[2:]            </a:t>
            </a:r>
            <a:r>
              <a:rPr lang="en-US" altLang="en-US" sz="2000" dirty="0">
                <a:solidFill>
                  <a:srgbClr val="0070C0"/>
                </a:solidFill>
                <a:latin typeface="Courier New" panose="02070309020205020404" pitchFamily="49" charset="0"/>
                <a:cs typeface="Courier New" panose="02070309020205020404" pitchFamily="49" charset="0"/>
              </a:rPr>
              <a:t># rows from 2 through end</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a:t>
            </a:r>
            <a:r>
              <a:rPr lang="en-US" altLang="en-US" sz="2000" dirty="0">
                <a:solidFill>
                  <a:srgbClr val="FF0000"/>
                </a:solidFill>
                <a:latin typeface="Courier New" panose="02070309020205020404" pitchFamily="49" charset="0"/>
                <a:cs typeface="Courier New" panose="02070309020205020404" pitchFamily="49" charset="0"/>
              </a:rPr>
              <a:t>[</a:t>
            </a:r>
            <a:r>
              <a:rPr lang="en-US" altLang="en-US" sz="2000" dirty="0">
                <a:solidFill>
                  <a:srgbClr val="0070C0"/>
                </a:solidFill>
                <a:latin typeface="Courier New" panose="02070309020205020404" pitchFamily="49" charset="0"/>
                <a:cs typeface="Courier New" panose="02070309020205020404" pitchFamily="49" charset="0"/>
              </a:rPr>
              <a:t>[15,  5,  9, -2, -1]</a:t>
            </a:r>
            <a:r>
              <a:rPr lang="en-US" altLang="en-US" sz="2000" dirty="0">
                <a:solidFill>
                  <a:srgbClr val="FF0000"/>
                </a:solidFill>
                <a:latin typeface="Courier New" panose="02070309020205020404" pitchFamily="49" charset="0"/>
                <a:cs typeface="Courier New" panose="02070309020205020404" pitchFamily="49" charset="0"/>
              </a:rPr>
              <a:t>]</a:t>
            </a:r>
            <a:r>
              <a:rPr lang="en-US" altLang="en-US" sz="2000" dirty="0">
                <a:solidFill>
                  <a:srgbClr val="0070C0"/>
                </a:solidFill>
                <a:latin typeface="Courier New" panose="02070309020205020404" pitchFamily="49" charset="0"/>
                <a:cs typeface="Courier New" panose="02070309020205020404" pitchFamily="49" charset="0"/>
              </a:rPr>
              <a:t>)</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a1[2:].shape</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(1, 5)                # a 2-D array</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a1[2:].</a:t>
            </a:r>
            <a:r>
              <a:rPr lang="en-US" altLang="en-US" sz="2000" b="1" dirty="0" err="1">
                <a:solidFill>
                  <a:srgbClr val="FF0000"/>
                </a:solidFill>
                <a:latin typeface="Courier New" panose="02070309020205020404" pitchFamily="49" charset="0"/>
                <a:cs typeface="Courier New" panose="02070309020205020404" pitchFamily="49" charset="0"/>
              </a:rPr>
              <a:t>ndim</a:t>
            </a:r>
            <a:endParaRPr lang="en-US" altLang="en-US" sz="2000" b="1" dirty="0">
              <a:solidFill>
                <a:srgbClr val="FF0000"/>
              </a:solidFill>
              <a:latin typeface="Courier New" panose="02070309020205020404" pitchFamily="49" charset="0"/>
              <a:cs typeface="Courier New" panose="02070309020205020404" pitchFamily="49" charset="0"/>
            </a:endParaRP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2</a:t>
            </a:r>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b="1" dirty="0">
                <a:solidFill>
                  <a:srgbClr val="00B050"/>
                </a:solidFill>
                <a:latin typeface="Courier New" panose="02070309020205020404" pitchFamily="49" charset="0"/>
                <a:cs typeface="Courier New" panose="02070309020205020404" pitchFamily="49" charset="0"/>
              </a:rPr>
              <a:t>a1[2:, :]</a:t>
            </a:r>
            <a:r>
              <a:rPr lang="en-US" altLang="en-US" sz="2000" dirty="0">
                <a:solidFill>
                  <a:srgbClr val="00B050"/>
                </a:solidFill>
                <a:latin typeface="Courier New" panose="02070309020205020404" pitchFamily="49" charset="0"/>
                <a:cs typeface="Courier New" panose="02070309020205020404" pitchFamily="49" charset="0"/>
              </a:rPr>
              <a:t>         # same as a1[2:]</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array(</a:t>
            </a:r>
            <a:r>
              <a:rPr lang="en-US" altLang="en-US" sz="2000" dirty="0">
                <a:solidFill>
                  <a:srgbClr val="FF0000"/>
                </a:solidFill>
                <a:latin typeface="Courier New" panose="02070309020205020404" pitchFamily="49" charset="0"/>
                <a:cs typeface="Courier New" panose="02070309020205020404" pitchFamily="49" charset="0"/>
              </a:rPr>
              <a:t>[</a:t>
            </a:r>
            <a:r>
              <a:rPr lang="en-US" altLang="en-US" sz="2000" dirty="0">
                <a:solidFill>
                  <a:srgbClr val="00B050"/>
                </a:solidFill>
                <a:latin typeface="Courier New" panose="02070309020205020404" pitchFamily="49" charset="0"/>
                <a:cs typeface="Courier New" panose="02070309020205020404" pitchFamily="49" charset="0"/>
              </a:rPr>
              <a:t>[15,  5,  9, -2, -1]</a:t>
            </a:r>
            <a:r>
              <a:rPr lang="en-US" altLang="en-US" sz="2000" dirty="0">
                <a:solidFill>
                  <a:srgbClr val="FF0000"/>
                </a:solidFill>
                <a:latin typeface="Courier New" panose="02070309020205020404" pitchFamily="49" charset="0"/>
                <a:cs typeface="Courier New" panose="02070309020205020404" pitchFamily="49" charset="0"/>
              </a:rPr>
              <a:t>]</a:t>
            </a:r>
            <a:r>
              <a:rPr lang="en-US" altLang="en-US" sz="2000" dirty="0">
                <a:solidFill>
                  <a:srgbClr val="00B050"/>
                </a:solidFill>
                <a:latin typeface="Courier New" panose="02070309020205020404" pitchFamily="49" charset="0"/>
                <a:cs typeface="Courier New" panose="02070309020205020404" pitchFamily="49" charset="0"/>
              </a:rPr>
              <a:t>)</a:t>
            </a:r>
          </a:p>
        </p:txBody>
      </p:sp>
      <p:sp>
        <p:nvSpPr>
          <p:cNvPr id="2" name="Date Placeholder 1"/>
          <p:cNvSpPr>
            <a:spLocks noGrp="1"/>
          </p:cNvSpPr>
          <p:nvPr>
            <p:ph type="dt" sz="half" idx="10"/>
          </p:nvPr>
        </p:nvSpPr>
        <p:spPr/>
        <p:txBody>
          <a:bodyPr/>
          <a:lstStyle/>
          <a:p>
            <a:pPr>
              <a:defRPr/>
            </a:pPr>
            <a:fld id="{6FDE432B-DE7D-4E6C-969C-9140ADDAE2F6}"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61</a:t>
            </a:fld>
            <a:endParaRPr lang="en-US"/>
          </a:p>
        </p:txBody>
      </p:sp>
    </p:spTree>
    <p:extLst>
      <p:ext uri="{BB962C8B-B14F-4D97-AF65-F5344CB8AC3E}">
        <p14:creationId xmlns:p14="http://schemas.microsoft.com/office/powerpoint/2010/main" val="782611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2-Dimensional </a:t>
            </a:r>
            <a:r>
              <a:rPr lang="en-US" altLang="en-US" b="1" dirty="0" err="1"/>
              <a:t>ndarray</a:t>
            </a:r>
            <a:r>
              <a:rPr lang="en-US" altLang="en-US" dirty="0"/>
              <a:t> Slices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-3,  -9, -15,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[ 15,   5,   9,  -2,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 :2]         </a:t>
            </a:r>
            <a:r>
              <a:rPr lang="en-US" altLang="en-US" sz="2000" dirty="0">
                <a:solidFill>
                  <a:srgbClr val="0070C0"/>
                </a:solidFill>
                <a:latin typeface="Courier New" panose="02070309020205020404" pitchFamily="49" charset="0"/>
                <a:cs typeface="Courier New" panose="02070309020205020404" pitchFamily="49" charset="0"/>
              </a:rPr>
              <a:t># all rows, cols &lt; 2</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array([[ 0,  2],</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[-3, -9],</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[15,  5]])</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a1[:, :2].shape</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(3, 2)                # a 2-D array</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a1[:, :2].</a:t>
            </a:r>
            <a:r>
              <a:rPr lang="en-US" altLang="en-US" sz="2000" b="1" dirty="0" err="1">
                <a:solidFill>
                  <a:srgbClr val="FF0000"/>
                </a:solidFill>
                <a:latin typeface="Courier New" panose="02070309020205020404" pitchFamily="49" charset="0"/>
                <a:cs typeface="Courier New" panose="02070309020205020404" pitchFamily="49" charset="0"/>
              </a:rPr>
              <a:t>ndim</a:t>
            </a:r>
            <a:endParaRPr lang="en-US" altLang="en-US" sz="2000" b="1" dirty="0">
              <a:solidFill>
                <a:srgbClr val="FF0000"/>
              </a:solidFill>
              <a:latin typeface="Courier New" panose="02070309020205020404" pitchFamily="49" charset="0"/>
              <a:cs typeface="Courier New" panose="02070309020205020404" pitchFamily="49" charset="0"/>
            </a:endParaRP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2</a:t>
            </a:r>
          </a:p>
        </p:txBody>
      </p:sp>
      <p:sp>
        <p:nvSpPr>
          <p:cNvPr id="2" name="Date Placeholder 1"/>
          <p:cNvSpPr>
            <a:spLocks noGrp="1"/>
          </p:cNvSpPr>
          <p:nvPr>
            <p:ph type="dt" sz="half" idx="10"/>
          </p:nvPr>
        </p:nvSpPr>
        <p:spPr/>
        <p:txBody>
          <a:bodyPr/>
          <a:lstStyle/>
          <a:p>
            <a:pPr>
              <a:defRPr/>
            </a:pPr>
            <a:fld id="{6FDE432B-DE7D-4E6C-969C-9140ADDAE2F6}"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62</a:t>
            </a:fld>
            <a:endParaRPr lang="en-US"/>
          </a:p>
        </p:txBody>
      </p:sp>
    </p:spTree>
    <p:extLst>
      <p:ext uri="{BB962C8B-B14F-4D97-AF65-F5344CB8AC3E}">
        <p14:creationId xmlns:p14="http://schemas.microsoft.com/office/powerpoint/2010/main" val="22587040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2-Dimensional </a:t>
            </a:r>
            <a:r>
              <a:rPr lang="en-US" altLang="en-US" b="1" dirty="0" err="1"/>
              <a:t>ndarray</a:t>
            </a:r>
            <a:r>
              <a:rPr lang="en-US" altLang="en-US" dirty="0"/>
              <a:t> Slices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-3,  -9, -15,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[ 15,   5,   9,  -2,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a1[1, 2]          </a:t>
            </a:r>
            <a:r>
              <a:rPr lang="en-US" altLang="en-US" sz="2000" dirty="0">
                <a:solidFill>
                  <a:srgbClr val="0070C0"/>
                </a:solidFill>
                <a:latin typeface="Courier New" panose="02070309020205020404" pitchFamily="49" charset="0"/>
                <a:cs typeface="Courier New" panose="02070309020205020404" pitchFamily="49" charset="0"/>
              </a:rPr>
              <a:t># item in row 1, col 2</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-15</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a1[1:2, 2]</a:t>
            </a:r>
            <a:r>
              <a:rPr lang="en-US" altLang="en-US" sz="2000" dirty="0">
                <a:solidFill>
                  <a:srgbClr val="FF0000"/>
                </a:solidFill>
                <a:latin typeface="Courier New" panose="02070309020205020404" pitchFamily="49" charset="0"/>
                <a:cs typeface="Courier New" panose="02070309020205020404" pitchFamily="49" charset="0"/>
              </a:rPr>
              <a:t>        # row 1 </a:t>
            </a:r>
            <a:r>
              <a:rPr lang="en-US" altLang="en-US" sz="2000" dirty="0" err="1">
                <a:solidFill>
                  <a:srgbClr val="FF0000"/>
                </a:solidFill>
                <a:latin typeface="Courier New" panose="02070309020205020404" pitchFamily="49" charset="0"/>
                <a:cs typeface="Courier New" panose="02070309020205020404" pitchFamily="49" charset="0"/>
              </a:rPr>
              <a:t>thur</a:t>
            </a:r>
            <a:r>
              <a:rPr lang="en-US" altLang="en-US" sz="2000" dirty="0">
                <a:solidFill>
                  <a:srgbClr val="FF0000"/>
                </a:solidFill>
                <a:latin typeface="Courier New" panose="02070309020205020404" pitchFamily="49" charset="0"/>
                <a:cs typeface="Courier New" panose="02070309020205020404" pitchFamily="49" charset="0"/>
              </a:rPr>
              <a:t> &lt;2, col 2</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array([-15])          # a 1-D array</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a1[1, 2:3]</a:t>
            </a:r>
            <a:r>
              <a:rPr lang="en-US" altLang="en-US" sz="2000" dirty="0">
                <a:solidFill>
                  <a:srgbClr val="FF0000"/>
                </a:solidFill>
                <a:latin typeface="Courier New" panose="02070309020205020404" pitchFamily="49" charset="0"/>
                <a:cs typeface="Courier New" panose="02070309020205020404" pitchFamily="49" charset="0"/>
              </a:rPr>
              <a:t>        # row 1, col 2 thru &lt;3</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array([-15])          # same 1-D array</a:t>
            </a:r>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 a1[1:2, 2:3]</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array([[-15]])        # 2-D array, 1x1</a:t>
            </a:r>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 a1[1:2, 2:3].shape</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(1, 1)</a:t>
            </a:r>
          </a:p>
        </p:txBody>
      </p:sp>
      <p:sp>
        <p:nvSpPr>
          <p:cNvPr id="2" name="Date Placeholder 1"/>
          <p:cNvSpPr>
            <a:spLocks noGrp="1"/>
          </p:cNvSpPr>
          <p:nvPr>
            <p:ph type="dt" sz="half" idx="10"/>
          </p:nvPr>
        </p:nvSpPr>
        <p:spPr/>
        <p:txBody>
          <a:bodyPr/>
          <a:lstStyle/>
          <a:p>
            <a:pPr>
              <a:defRPr/>
            </a:pPr>
            <a:fld id="{6FDE432B-DE7D-4E6C-969C-9140ADDAE2F6}"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63</a:t>
            </a:fld>
            <a:endParaRPr lang="en-US"/>
          </a:p>
        </p:txBody>
      </p:sp>
    </p:spTree>
    <p:extLst>
      <p:ext uri="{BB962C8B-B14F-4D97-AF65-F5344CB8AC3E}">
        <p14:creationId xmlns:p14="http://schemas.microsoft.com/office/powerpoint/2010/main" val="11875070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Boolean Indexes</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You can use a </a:t>
            </a:r>
            <a:r>
              <a:rPr lang="en-US" altLang="en-US" sz="2800" b="1" dirty="0"/>
              <a:t>list</a:t>
            </a:r>
            <a:r>
              <a:rPr lang="en-US" altLang="en-US" sz="2800" dirty="0"/>
              <a:t> or </a:t>
            </a:r>
            <a:r>
              <a:rPr lang="en-US" altLang="en-US" sz="2800" b="1" dirty="0" err="1"/>
              <a:t>ndarray</a:t>
            </a:r>
            <a:r>
              <a:rPr lang="en-US" altLang="en-US" sz="2800" dirty="0"/>
              <a:t> of Booleans to select a view on a subset of an </a:t>
            </a:r>
            <a:r>
              <a:rPr lang="en-US" altLang="en-US" sz="2800" b="1" dirty="0" err="1"/>
              <a:t>ndarray</a:t>
            </a:r>
            <a:endParaRPr lang="en-US" altLang="en-US" sz="2800" b="1" dirty="0"/>
          </a:p>
          <a:p>
            <a:pPr lvl="1" eaLnBrk="1" hangingPunct="1">
              <a:spcBef>
                <a:spcPts val="0"/>
              </a:spcBef>
            </a:pPr>
            <a:endParaRPr lang="en-US" altLang="en-US" sz="800" dirty="0"/>
          </a:p>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-3,  -9, -15,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[ 15,   5,   9,  -2,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brows = [</a:t>
            </a:r>
            <a:r>
              <a:rPr lang="en-US" altLang="en-US" sz="2000" b="1" dirty="0">
                <a:solidFill>
                  <a:srgbClr val="FF0000"/>
                </a:solidFill>
                <a:latin typeface="Courier New" panose="02070309020205020404" pitchFamily="49" charset="0"/>
                <a:cs typeface="Courier New" panose="02070309020205020404" pitchFamily="49" charset="0"/>
              </a:rPr>
              <a:t>True</a:t>
            </a:r>
            <a:r>
              <a:rPr lang="en-US" altLang="en-US" sz="2000" b="1" dirty="0">
                <a:solidFill>
                  <a:srgbClr val="0070C0"/>
                </a:solidFill>
                <a:latin typeface="Courier New" panose="02070309020205020404" pitchFamily="49" charset="0"/>
                <a:cs typeface="Courier New" panose="02070309020205020404" pitchFamily="49" charset="0"/>
              </a:rPr>
              <a:t>, False, </a:t>
            </a:r>
            <a:r>
              <a:rPr lang="en-US" altLang="en-US" sz="2000" b="1" dirty="0">
                <a:solidFill>
                  <a:srgbClr val="FF0000"/>
                </a:solidFill>
                <a:latin typeface="Courier New" panose="02070309020205020404" pitchFamily="49" charset="0"/>
                <a:cs typeface="Courier New" panose="02070309020205020404" pitchFamily="49" charset="0"/>
              </a:rPr>
              <a:t>True</a:t>
            </a:r>
            <a:r>
              <a:rPr lang="en-US" altLang="en-US" sz="2000" b="1" dirty="0">
                <a:solidFill>
                  <a:srgbClr val="0070C0"/>
                </a:solidFill>
                <a:latin typeface="Courier New" panose="02070309020205020404" pitchFamily="49" charset="0"/>
                <a:cs typeface="Courier New" panose="02070309020205020404" pitchFamily="49" charset="0"/>
              </a:rPr>
              <a:t>]</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a1[brows]</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[15,  5,  9, -2, -1]])</a:t>
            </a:r>
          </a:p>
          <a:p>
            <a:pPr marL="0" indent="0" eaLnBrk="1" hangingPunct="1">
              <a:lnSpc>
                <a:spcPts val="2200"/>
              </a:lnSpc>
              <a:spcBef>
                <a:spcPts val="0"/>
              </a:spcBef>
              <a:buNone/>
            </a:pPr>
            <a:endParaRPr lang="en-US" altLang="en-US" sz="2000"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64</a:t>
            </a:fld>
            <a:endParaRPr lang="en-US"/>
          </a:p>
        </p:txBody>
      </p:sp>
    </p:spTree>
    <p:extLst>
      <p:ext uri="{BB962C8B-B14F-4D97-AF65-F5344CB8AC3E}">
        <p14:creationId xmlns:p14="http://schemas.microsoft.com/office/powerpoint/2010/main" val="17087878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Boolean Indexes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lvl="1" eaLnBrk="1" hangingPunct="1">
              <a:spcBef>
                <a:spcPts val="0"/>
              </a:spcBef>
            </a:pPr>
            <a:endParaRPr lang="en-US" altLang="en-US" sz="800" dirty="0"/>
          </a:p>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-3,  -9, -15,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[ 15,   5,   9,  -2,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a1[brows] *=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-3,  -9, -15,   7,   9],</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[-15,  -5,  -9,   2,   1]])</a:t>
            </a:r>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 a1[:, [</a:t>
            </a:r>
            <a:r>
              <a:rPr lang="en-US" altLang="en-US" sz="2000" b="1" dirty="0">
                <a:solidFill>
                  <a:srgbClr val="FF0000"/>
                </a:solidFill>
                <a:latin typeface="Courier New" panose="02070309020205020404" pitchFamily="49" charset="0"/>
                <a:cs typeface="Courier New" panose="02070309020205020404" pitchFamily="49" charset="0"/>
              </a:rPr>
              <a:t>True</a:t>
            </a:r>
            <a:r>
              <a:rPr lang="en-US" altLang="en-US" sz="2000" b="1" dirty="0">
                <a:solidFill>
                  <a:srgbClr val="00B050"/>
                </a:solidFill>
                <a:latin typeface="Courier New" panose="02070309020205020404" pitchFamily="49" charset="0"/>
                <a:cs typeface="Courier New" panose="02070309020205020404" pitchFamily="49" charset="0"/>
              </a:rPr>
              <a:t>, False, False, </a:t>
            </a:r>
            <a:r>
              <a:rPr lang="en-US" altLang="en-US" sz="2000" b="1" dirty="0">
                <a:solidFill>
                  <a:srgbClr val="FF0000"/>
                </a:solidFill>
                <a:latin typeface="Courier New" panose="02070309020205020404" pitchFamily="49" charset="0"/>
                <a:cs typeface="Courier New" panose="02070309020205020404" pitchFamily="49" charset="0"/>
              </a:rPr>
              <a:t>True</a:t>
            </a:r>
            <a:r>
              <a:rPr lang="en-US" altLang="en-US" sz="2000" b="1" dirty="0">
                <a:solidFill>
                  <a:srgbClr val="00B050"/>
                </a:solidFill>
                <a:latin typeface="Courier New" panose="02070309020205020404" pitchFamily="49" charset="0"/>
                <a:cs typeface="Courier New" panose="02070309020205020404" pitchFamily="49" charset="0"/>
              </a:rPr>
              <a:t>, False]]</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array([[  0,  -6],</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       [ -3,   7],</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       [-15,   2]])</a:t>
            </a:r>
          </a:p>
          <a:p>
            <a:pPr marL="0" indent="0" eaLnBrk="1" hangingPunct="1">
              <a:lnSpc>
                <a:spcPts val="2200"/>
              </a:lnSpc>
              <a:spcBef>
                <a:spcPts val="0"/>
              </a:spcBef>
              <a:buNone/>
            </a:pPr>
            <a:endParaRPr lang="en-US" altLang="en-US" sz="2000" dirty="0">
              <a:solidFill>
                <a:srgbClr val="0070C0"/>
              </a:solidFill>
              <a:latin typeface="Courier New" panose="02070309020205020404" pitchFamily="49" charset="0"/>
              <a:cs typeface="Courier New" panose="02070309020205020404" pitchFamily="49" charset="0"/>
            </a:endParaRPr>
          </a:p>
          <a:p>
            <a:pPr marL="0" indent="0" eaLnBrk="1" hangingPunct="1">
              <a:lnSpc>
                <a:spcPts val="2200"/>
              </a:lnSpc>
              <a:spcBef>
                <a:spcPts val="0"/>
              </a:spcBef>
              <a:buNone/>
            </a:pPr>
            <a:endParaRPr lang="en-US" altLang="en-US" sz="2000"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65</a:t>
            </a:fld>
            <a:endParaRPr lang="en-US"/>
          </a:p>
        </p:txBody>
      </p:sp>
    </p:spTree>
    <p:extLst>
      <p:ext uri="{BB962C8B-B14F-4D97-AF65-F5344CB8AC3E}">
        <p14:creationId xmlns:p14="http://schemas.microsoft.com/office/powerpoint/2010/main" val="20610371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Boolean Indexes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Applying an equality, inequality, or relational operator to an </a:t>
            </a:r>
            <a:r>
              <a:rPr lang="en-US" altLang="en-US" sz="2800" b="1" dirty="0" err="1"/>
              <a:t>ndarray</a:t>
            </a:r>
            <a:r>
              <a:rPr lang="en-US" altLang="en-US" sz="2800" dirty="0"/>
              <a:t> yields a Boolean </a:t>
            </a:r>
            <a:r>
              <a:rPr lang="en-US" altLang="en-US" sz="2800" b="1" dirty="0" err="1"/>
              <a:t>ndarray</a:t>
            </a:r>
            <a:r>
              <a:rPr lang="en-US" altLang="en-US" sz="2800" dirty="0"/>
              <a:t> of the same shape</a:t>
            </a:r>
          </a:p>
          <a:p>
            <a:pPr lvl="1" eaLnBrk="1" hangingPunct="1">
              <a:spcBef>
                <a:spcPts val="0"/>
              </a:spcBef>
            </a:pPr>
            <a:r>
              <a:rPr lang="en-US" altLang="en-US" sz="2400" dirty="0"/>
              <a:t>This in turn can be used to index the</a:t>
            </a:r>
            <a:r>
              <a:rPr lang="en-US" altLang="en-US" sz="2400" b="1" dirty="0"/>
              <a:t> </a:t>
            </a:r>
            <a:r>
              <a:rPr lang="en-US" altLang="en-US" sz="2400" b="1" dirty="0" err="1"/>
              <a:t>ndarray</a:t>
            </a:r>
            <a:endParaRPr lang="en-US" altLang="en-US" sz="2400" b="1" dirty="0"/>
          </a:p>
          <a:p>
            <a:pPr lvl="1" eaLnBrk="1" hangingPunct="1">
              <a:spcBef>
                <a:spcPts val="0"/>
              </a:spcBef>
            </a:pPr>
            <a:endParaRPr lang="en-US" altLang="en-US" sz="800" dirty="0"/>
          </a:p>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a:t>
            </a:r>
            <a:r>
              <a:rPr lang="en-US" altLang="en-US" sz="2000" dirty="0">
                <a:latin typeface="Courier New" panose="02070309020205020404" pitchFamily="49" charset="0"/>
                <a:cs typeface="Courier New" panose="02070309020205020404" pitchFamily="49" charset="0"/>
              </a:rPr>
              <a: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-3,  -9, -15,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[-15,  -5,  -9,   2,   1]]) </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 &lt; -5</a:t>
            </a:r>
          </a:p>
          <a:p>
            <a:pPr marL="0" indent="0" eaLnBrk="1" hangingPunct="1">
              <a:lnSpc>
                <a:spcPts val="2200"/>
              </a:lnSpc>
              <a:spcBef>
                <a:spcPts val="0"/>
              </a:spcBef>
              <a:buNone/>
            </a:pPr>
            <a:r>
              <a:rPr lang="da-DK" altLang="en-US" sz="2000" dirty="0">
                <a:solidFill>
                  <a:srgbClr val="0070C0"/>
                </a:solidFill>
                <a:latin typeface="Courier New" panose="02070309020205020404" pitchFamily="49" charset="0"/>
                <a:cs typeface="Courier New" panose="02070309020205020404" pitchFamily="49" charset="0"/>
              </a:rPr>
              <a:t>array([[False, False, False,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a:t>
            </a:r>
          </a:p>
          <a:p>
            <a:pPr marL="0" indent="0" eaLnBrk="1" hangingPunct="1">
              <a:lnSpc>
                <a:spcPts val="2200"/>
              </a:lnSpc>
              <a:spcBef>
                <a:spcPts val="0"/>
              </a:spcBef>
              <a:buNone/>
            </a:pPr>
            <a:r>
              <a:rPr lang="da-DK" altLang="en-US" sz="2000" dirty="0">
                <a:solidFill>
                  <a:srgbClr val="0070C0"/>
                </a:solidFill>
                <a:latin typeface="Courier New" panose="02070309020205020404" pitchFamily="49" charset="0"/>
                <a:cs typeface="Courier New" panose="02070309020205020404" pitchFamily="49" charset="0"/>
              </a:rPr>
              <a:t>       [False,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 False, False],</a:t>
            </a:r>
          </a:p>
          <a:p>
            <a:pPr marL="0" indent="0" eaLnBrk="1" hangingPunct="1">
              <a:lnSpc>
                <a:spcPts val="2200"/>
              </a:lnSpc>
              <a:spcBef>
                <a:spcPts val="0"/>
              </a:spcBef>
              <a:buNone/>
            </a:pPr>
            <a:r>
              <a:rPr lang="da-DK" altLang="en-US" sz="2000" dirty="0">
                <a:solidFill>
                  <a:srgbClr val="0070C0"/>
                </a:solidFill>
                <a:latin typeface="Courier New" panose="02070309020205020404" pitchFamily="49" charset="0"/>
                <a:cs typeface="Courier New" panose="02070309020205020404" pitchFamily="49" charset="0"/>
              </a:rPr>
              <a:t>       [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 False,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 False, False]])</a:t>
            </a:r>
            <a:endParaRPr lang="en-US" altLang="en-US" sz="2000" dirty="0">
              <a:solidFill>
                <a:srgbClr val="0070C0"/>
              </a:solidFill>
              <a:latin typeface="Courier New" panose="02070309020205020404" pitchFamily="49" charset="0"/>
              <a:cs typeface="Courier New" panose="02070309020205020404" pitchFamily="49" charset="0"/>
            </a:endParaRPr>
          </a:p>
          <a:p>
            <a:pPr marL="0" indent="0" eaLnBrk="1" hangingPunct="1">
              <a:lnSpc>
                <a:spcPts val="2200"/>
              </a:lnSpc>
              <a:spcBef>
                <a:spcPts val="0"/>
              </a:spcBef>
              <a:buNone/>
            </a:pPr>
            <a:endParaRPr lang="en-US" altLang="en-US" sz="2000"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66</a:t>
            </a:fld>
            <a:endParaRPr lang="en-US"/>
          </a:p>
        </p:txBody>
      </p:sp>
    </p:spTree>
    <p:extLst>
      <p:ext uri="{BB962C8B-B14F-4D97-AF65-F5344CB8AC3E}">
        <p14:creationId xmlns:p14="http://schemas.microsoft.com/office/powerpoint/2010/main" val="27367473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Boolean Indexes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a:t>
            </a: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a1[a1 &lt; -5] = 8</a:t>
            </a:r>
          </a:p>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a:t>
            </a:r>
            <a:r>
              <a:rPr lang="en-US" altLang="en-US" sz="2000" dirty="0">
                <a:solidFill>
                  <a:srgbClr val="FF0000"/>
                </a:solidFill>
                <a:latin typeface="Courier New" panose="02070309020205020404" pitchFamily="49" charset="0"/>
                <a:cs typeface="Courier New" panose="02070309020205020404" pitchFamily="49" charset="0"/>
              </a:rPr>
              <a:t>8</a:t>
            </a:r>
            <a:r>
              <a:rPr lang="en-US" altLang="en-US" sz="2000" dirty="0">
                <a:latin typeface="Courier New" panose="02070309020205020404" pitchFamily="49" charset="0"/>
                <a:cs typeface="Courier New" panose="02070309020205020404" pitchFamily="49" charset="0"/>
              </a:rPr>
              <a:t>,  </a:t>
            </a:r>
            <a:r>
              <a:rPr lang="en-US" altLang="en-US" sz="2000" dirty="0">
                <a:solidFill>
                  <a:srgbClr val="FF0000"/>
                </a:solidFill>
                <a:latin typeface="Courier New" panose="02070309020205020404" pitchFamily="49" charset="0"/>
                <a:cs typeface="Courier New" panose="02070309020205020404" pitchFamily="49" charset="0"/>
              </a:rPr>
              <a:t>8</a:t>
            </a:r>
            <a:r>
              <a:rPr lang="en-US" altLang="en-US" sz="2000" dirty="0">
                <a:latin typeface="Courier New" panose="02070309020205020404" pitchFamily="49" charset="0"/>
                <a:cs typeface="Courier New" panose="02070309020205020404" pitchFamily="49" charset="0"/>
              </a:rPr>
              <a:t>],</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[-3,  </a:t>
            </a:r>
            <a:r>
              <a:rPr lang="en-US" altLang="en-US" sz="2000" dirty="0">
                <a:solidFill>
                  <a:srgbClr val="FF0000"/>
                </a:solidFill>
                <a:latin typeface="Courier New" panose="02070309020205020404" pitchFamily="49" charset="0"/>
                <a:cs typeface="Courier New" panose="02070309020205020404" pitchFamily="49" charset="0"/>
              </a:rPr>
              <a:t>8</a:t>
            </a:r>
            <a:r>
              <a:rPr lang="en-US" altLang="en-US" sz="2000" dirty="0">
                <a:latin typeface="Courier New" panose="02070309020205020404" pitchFamily="49" charset="0"/>
                <a:cs typeface="Courier New" panose="02070309020205020404" pitchFamily="49" charset="0"/>
              </a:rPr>
              <a:t>,  </a:t>
            </a:r>
            <a:r>
              <a:rPr lang="en-US" altLang="en-US" sz="2000" dirty="0">
                <a:solidFill>
                  <a:srgbClr val="FF0000"/>
                </a:solidFill>
                <a:latin typeface="Courier New" panose="02070309020205020404" pitchFamily="49" charset="0"/>
                <a:cs typeface="Courier New" panose="02070309020205020404" pitchFamily="49" charset="0"/>
              </a:rPr>
              <a:t>8</a:t>
            </a:r>
            <a:r>
              <a:rPr lang="en-US" altLang="en-US" sz="2000" dirty="0">
                <a:latin typeface="Courier New" panose="02070309020205020404" pitchFamily="49" charset="0"/>
                <a:cs typeface="Courier New" panose="02070309020205020404" pitchFamily="49" charset="0"/>
              </a:rPr>
              <a:t>,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a:t>
            </a:r>
            <a:r>
              <a:rPr lang="en-US" altLang="en-US" sz="2000" dirty="0">
                <a:solidFill>
                  <a:srgbClr val="FF0000"/>
                </a:solidFill>
                <a:latin typeface="Courier New" panose="02070309020205020404" pitchFamily="49" charset="0"/>
                <a:cs typeface="Courier New" panose="02070309020205020404" pitchFamily="49" charset="0"/>
              </a:rPr>
              <a:t>8</a:t>
            </a:r>
            <a:r>
              <a:rPr lang="en-US" altLang="en-US" sz="2000" dirty="0">
                <a:latin typeface="Courier New" panose="02070309020205020404" pitchFamily="49" charset="0"/>
                <a:cs typeface="Courier New" panose="02070309020205020404" pitchFamily="49" charset="0"/>
              </a:rPr>
              <a:t>, -5,  </a:t>
            </a:r>
            <a:r>
              <a:rPr lang="en-US" altLang="en-US" sz="2000" dirty="0">
                <a:solidFill>
                  <a:srgbClr val="FF0000"/>
                </a:solidFill>
                <a:latin typeface="Courier New" panose="02070309020205020404" pitchFamily="49" charset="0"/>
                <a:cs typeface="Courier New" panose="02070309020205020404" pitchFamily="49" charset="0"/>
              </a:rPr>
              <a:t>8</a:t>
            </a:r>
            <a:r>
              <a:rPr lang="en-US" altLang="en-US" sz="2000" dirty="0">
                <a:latin typeface="Courier New" panose="02070309020205020404" pitchFamily="49" charset="0"/>
                <a:cs typeface="Courier New" panose="02070309020205020404" pitchFamily="49" charset="0"/>
              </a:rPr>
              <a:t>,  2,  1]])</a:t>
            </a:r>
          </a:p>
          <a:p>
            <a:pPr marL="0" indent="0" eaLnBrk="1" hangingPunct="1">
              <a:lnSpc>
                <a:spcPts val="2200"/>
              </a:lnSpc>
              <a:spcBef>
                <a:spcPts val="0"/>
              </a:spcBef>
              <a:buNone/>
            </a:pPr>
            <a:endParaRPr lang="en-US" altLang="en-US" sz="2000" dirty="0">
              <a:solidFill>
                <a:srgbClr val="0070C0"/>
              </a:solidFill>
              <a:latin typeface="Courier New" panose="02070309020205020404" pitchFamily="49" charset="0"/>
              <a:cs typeface="Courier New" panose="02070309020205020404" pitchFamily="49" charset="0"/>
            </a:endParaRPr>
          </a:p>
          <a:p>
            <a:pPr marL="0" indent="0" eaLnBrk="1" hangingPunct="1">
              <a:lnSpc>
                <a:spcPts val="2200"/>
              </a:lnSpc>
              <a:spcBef>
                <a:spcPts val="0"/>
              </a:spcBef>
              <a:buNone/>
            </a:pPr>
            <a:endParaRPr lang="en-US" altLang="en-US" sz="2000"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67</a:t>
            </a:fld>
            <a:endParaRPr lang="en-US"/>
          </a:p>
        </p:txBody>
      </p:sp>
    </p:spTree>
    <p:extLst>
      <p:ext uri="{BB962C8B-B14F-4D97-AF65-F5344CB8AC3E}">
        <p14:creationId xmlns:p14="http://schemas.microsoft.com/office/powerpoint/2010/main" val="31391997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Boolean Indexes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For indexing purposes Boolean values are treated as </a:t>
            </a:r>
            <a:r>
              <a:rPr lang="en-US" altLang="en-US" sz="2800" i="1" dirty="0"/>
              <a:t>binary</a:t>
            </a:r>
          </a:p>
          <a:p>
            <a:pPr lvl="1" eaLnBrk="1" hangingPunct="1">
              <a:spcBef>
                <a:spcPts val="0"/>
              </a:spcBef>
            </a:pPr>
            <a:r>
              <a:rPr lang="en-US" altLang="en-US" sz="2400" dirty="0"/>
              <a:t>Use </a:t>
            </a:r>
            <a:r>
              <a:rPr lang="en-US" altLang="en-US" sz="2400" b="1" dirty="0"/>
              <a:t>&amp;</a:t>
            </a:r>
            <a:r>
              <a:rPr lang="en-US" altLang="en-US" sz="2400" dirty="0"/>
              <a:t> for </a:t>
            </a:r>
            <a:r>
              <a:rPr lang="en-US" altLang="en-US" sz="2400" i="1" dirty="0"/>
              <a:t>and</a:t>
            </a:r>
            <a:r>
              <a:rPr lang="en-US" altLang="en-US" sz="2400" dirty="0"/>
              <a:t>, </a:t>
            </a:r>
            <a:r>
              <a:rPr lang="en-US" altLang="en-US" sz="2400" b="1" dirty="0"/>
              <a:t>|</a:t>
            </a:r>
            <a:r>
              <a:rPr lang="en-US" altLang="en-US" sz="2400" dirty="0"/>
              <a:t> for </a:t>
            </a:r>
            <a:r>
              <a:rPr lang="en-US" altLang="en-US" sz="2400" i="1" dirty="0"/>
              <a:t>or</a:t>
            </a:r>
            <a:r>
              <a:rPr lang="en-US" altLang="en-US" sz="2400" dirty="0"/>
              <a:t>, </a:t>
            </a:r>
            <a:r>
              <a:rPr lang="en-US" altLang="en-US" sz="2400" b="1" dirty="0"/>
              <a:t>^</a:t>
            </a:r>
            <a:r>
              <a:rPr lang="en-US" altLang="en-US" sz="2400" dirty="0"/>
              <a:t> for </a:t>
            </a:r>
            <a:r>
              <a:rPr lang="en-US" altLang="en-US" sz="2400" i="1" dirty="0" err="1"/>
              <a:t>xor</a:t>
            </a:r>
            <a:r>
              <a:rPr lang="en-US" altLang="en-US" sz="2400" dirty="0"/>
              <a:t>, </a:t>
            </a:r>
            <a:r>
              <a:rPr lang="en-US" altLang="en-US" sz="2400" b="1" dirty="0"/>
              <a:t>~</a:t>
            </a:r>
            <a:r>
              <a:rPr lang="en-US" altLang="en-US" sz="2400" dirty="0"/>
              <a:t> for </a:t>
            </a:r>
            <a:r>
              <a:rPr lang="en-US" altLang="en-US" sz="2400" i="1" dirty="0"/>
              <a:t>invert</a:t>
            </a:r>
          </a:p>
          <a:p>
            <a:pPr lvl="2" eaLnBrk="1" hangingPunct="1">
              <a:spcBef>
                <a:spcPts val="0"/>
              </a:spcBef>
            </a:pPr>
            <a:r>
              <a:rPr lang="en-US" altLang="en-US" sz="2000" i="1" dirty="0">
                <a:solidFill>
                  <a:srgbClr val="FF0000"/>
                </a:solidFill>
              </a:rPr>
              <a:t>These operators have higher precedence than the equality and relational operators, so use </a:t>
            </a:r>
            <a:r>
              <a:rPr lang="en-US" altLang="en-US" sz="2000" b="1" dirty="0">
                <a:solidFill>
                  <a:srgbClr val="FF0000"/>
                </a:solidFill>
              </a:rPr>
              <a:t>(</a:t>
            </a:r>
            <a:r>
              <a:rPr lang="en-US" altLang="en-US" sz="2000" i="1" dirty="0">
                <a:solidFill>
                  <a:srgbClr val="FF0000"/>
                </a:solidFill>
              </a:rPr>
              <a:t> … </a:t>
            </a:r>
            <a:r>
              <a:rPr lang="en-US" altLang="en-US" sz="2000" b="1" dirty="0">
                <a:solidFill>
                  <a:srgbClr val="FF0000"/>
                </a:solidFill>
              </a:rPr>
              <a:t>)</a:t>
            </a:r>
          </a:p>
          <a:p>
            <a:pPr lvl="1" eaLnBrk="1" hangingPunct="1">
              <a:spcBef>
                <a:spcPts val="0"/>
              </a:spcBef>
            </a:pPr>
            <a:endParaRPr lang="en-US" altLang="en-US" sz="800" dirty="0"/>
          </a:p>
          <a:p>
            <a:pPr marL="0" indent="0" eaLnBrk="1" hangingPunct="1">
              <a:lnSpc>
                <a:spcPts val="2200"/>
              </a:lnSpc>
              <a:spcBef>
                <a:spcPts val="0"/>
              </a:spcBef>
              <a:buNone/>
            </a:pPr>
            <a:endParaRPr lang="en-US" altLang="en-US" sz="2000"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68</a:t>
            </a:fld>
            <a:endParaRPr lang="en-US"/>
          </a:p>
        </p:txBody>
      </p:sp>
    </p:spTree>
    <p:extLst>
      <p:ext uri="{BB962C8B-B14F-4D97-AF65-F5344CB8AC3E}">
        <p14:creationId xmlns:p14="http://schemas.microsoft.com/office/powerpoint/2010/main" val="37050665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Boolean Indexes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8,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[-3,  8,  8,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[ 8, -5,  8,  2,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a1 &gt; 5 &amp; a1 &lt; 9        </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i="1" dirty="0">
                <a:solidFill>
                  <a:srgbClr val="0070C0"/>
                </a:solidFill>
                <a:latin typeface="Courier New" panose="02070309020205020404" pitchFamily="49" charset="0"/>
                <a:cs typeface="Courier New" panose="02070309020205020404" pitchFamily="49" charset="0"/>
              </a:rPr>
              <a:t>error!</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(a1 &gt; 5) &amp; (a1 &lt; 9)</a:t>
            </a:r>
          </a:p>
          <a:p>
            <a:pPr marL="0" indent="0" eaLnBrk="1" hangingPunct="1">
              <a:lnSpc>
                <a:spcPts val="2200"/>
              </a:lnSpc>
              <a:spcBef>
                <a:spcPts val="0"/>
              </a:spcBef>
              <a:buNone/>
            </a:pPr>
            <a:r>
              <a:rPr lang="da-DK" altLang="en-US" sz="2000" dirty="0">
                <a:solidFill>
                  <a:srgbClr val="0070C0"/>
                </a:solidFill>
                <a:latin typeface="Courier New" panose="02070309020205020404" pitchFamily="49" charset="0"/>
                <a:cs typeface="Courier New" panose="02070309020205020404" pitchFamily="49" charset="0"/>
              </a:rPr>
              <a:t>array([[False, False, False,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a:t>
            </a:r>
          </a:p>
          <a:p>
            <a:pPr marL="0" indent="0" eaLnBrk="1" hangingPunct="1">
              <a:lnSpc>
                <a:spcPts val="2200"/>
              </a:lnSpc>
              <a:spcBef>
                <a:spcPts val="0"/>
              </a:spcBef>
              <a:buNone/>
            </a:pPr>
            <a:r>
              <a:rPr lang="da-DK" altLang="en-US" sz="2000" dirty="0">
                <a:solidFill>
                  <a:srgbClr val="0070C0"/>
                </a:solidFill>
                <a:latin typeface="Courier New" panose="02070309020205020404" pitchFamily="49" charset="0"/>
                <a:cs typeface="Courier New" panose="02070309020205020404" pitchFamily="49" charset="0"/>
              </a:rPr>
              <a:t>       [False,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 False],</a:t>
            </a:r>
          </a:p>
          <a:p>
            <a:pPr marL="0" indent="0" eaLnBrk="1" hangingPunct="1">
              <a:lnSpc>
                <a:spcPts val="2200"/>
              </a:lnSpc>
              <a:spcBef>
                <a:spcPts val="0"/>
              </a:spcBef>
              <a:buNone/>
            </a:pPr>
            <a:r>
              <a:rPr lang="da-DK" altLang="en-US" sz="2000" dirty="0">
                <a:solidFill>
                  <a:srgbClr val="0070C0"/>
                </a:solidFill>
                <a:latin typeface="Courier New" panose="02070309020205020404" pitchFamily="49" charset="0"/>
                <a:cs typeface="Courier New" panose="02070309020205020404" pitchFamily="49" charset="0"/>
              </a:rPr>
              <a:t>       [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 False,  </a:t>
            </a:r>
            <a:r>
              <a:rPr lang="da-DK" altLang="en-US" sz="2000" dirty="0">
                <a:solidFill>
                  <a:srgbClr val="FF0000"/>
                </a:solidFill>
                <a:latin typeface="Courier New" panose="02070309020205020404" pitchFamily="49" charset="0"/>
                <a:cs typeface="Courier New" panose="02070309020205020404" pitchFamily="49" charset="0"/>
              </a:rPr>
              <a:t>True</a:t>
            </a:r>
            <a:r>
              <a:rPr lang="da-DK" altLang="en-US" sz="2000" dirty="0">
                <a:solidFill>
                  <a:srgbClr val="0070C0"/>
                </a:solidFill>
                <a:latin typeface="Courier New" panose="02070309020205020404" pitchFamily="49" charset="0"/>
                <a:cs typeface="Courier New" panose="02070309020205020404" pitchFamily="49" charset="0"/>
              </a:rPr>
              <a:t>, False, False]])</a:t>
            </a:r>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 a1[(a1 &gt; 5) &amp; (a1 &lt; 9)] -= 5</a:t>
            </a:r>
          </a:p>
          <a:p>
            <a:pPr marL="0" indent="0" eaLnBrk="1" hangingPunct="1">
              <a:lnSpc>
                <a:spcPts val="2200"/>
              </a:lnSpc>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array([[ 0, -2, -4,  </a:t>
            </a:r>
            <a:r>
              <a:rPr lang="en-US" altLang="en-US" sz="2000" dirty="0">
                <a:solidFill>
                  <a:srgbClr val="FF0000"/>
                </a:solidFill>
                <a:latin typeface="Courier New" panose="02070309020205020404" pitchFamily="49" charset="0"/>
                <a:cs typeface="Courier New" panose="02070309020205020404" pitchFamily="49" charset="0"/>
              </a:rPr>
              <a:t>3</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dirty="0">
                <a:solidFill>
                  <a:srgbClr val="FF0000"/>
                </a:solidFill>
                <a:latin typeface="Courier New" panose="02070309020205020404" pitchFamily="49" charset="0"/>
                <a:cs typeface="Courier New" panose="02070309020205020404" pitchFamily="49" charset="0"/>
              </a:rPr>
              <a:t>3</a:t>
            </a:r>
            <a:r>
              <a:rPr lang="en-US" altLang="en-US" sz="2000" dirty="0">
                <a:solidFill>
                  <a:srgbClr val="00B050"/>
                </a:solidFill>
                <a:latin typeface="Courier New" panose="02070309020205020404" pitchFamily="49" charset="0"/>
                <a:cs typeface="Courier New" panose="02070309020205020404" pitchFamily="49" charset="0"/>
              </a:rPr>
              <a:t>],</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       [-3,  </a:t>
            </a:r>
            <a:r>
              <a:rPr lang="en-US" altLang="en-US" sz="2000" dirty="0">
                <a:solidFill>
                  <a:srgbClr val="FF0000"/>
                </a:solidFill>
                <a:latin typeface="Courier New" panose="02070309020205020404" pitchFamily="49" charset="0"/>
                <a:cs typeface="Courier New" panose="02070309020205020404" pitchFamily="49" charset="0"/>
              </a:rPr>
              <a:t>3</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dirty="0">
                <a:solidFill>
                  <a:srgbClr val="FF0000"/>
                </a:solidFill>
                <a:latin typeface="Courier New" panose="02070309020205020404" pitchFamily="49" charset="0"/>
                <a:cs typeface="Courier New" panose="02070309020205020404" pitchFamily="49" charset="0"/>
              </a:rPr>
              <a:t>3</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dirty="0">
                <a:solidFill>
                  <a:srgbClr val="FF0000"/>
                </a:solidFill>
                <a:latin typeface="Courier New" panose="02070309020205020404" pitchFamily="49" charset="0"/>
                <a:cs typeface="Courier New" panose="02070309020205020404" pitchFamily="49" charset="0"/>
              </a:rPr>
              <a:t>2</a:t>
            </a:r>
            <a:r>
              <a:rPr lang="en-US" altLang="en-US" sz="2000" dirty="0">
                <a:solidFill>
                  <a:srgbClr val="00B050"/>
                </a:solidFill>
                <a:latin typeface="Courier New" panose="02070309020205020404" pitchFamily="49" charset="0"/>
                <a:cs typeface="Courier New" panose="02070309020205020404" pitchFamily="49" charset="0"/>
              </a:rPr>
              <a:t>,  9],</a:t>
            </a:r>
          </a:p>
          <a:p>
            <a:pPr marL="0" indent="0" eaLnBrk="1" hangingPunct="1">
              <a:lnSpc>
                <a:spcPts val="2200"/>
              </a:lnSpc>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       [ </a:t>
            </a:r>
            <a:r>
              <a:rPr lang="en-US" altLang="en-US" sz="2000" dirty="0">
                <a:solidFill>
                  <a:srgbClr val="FF0000"/>
                </a:solidFill>
                <a:latin typeface="Courier New" panose="02070309020205020404" pitchFamily="49" charset="0"/>
                <a:cs typeface="Courier New" panose="02070309020205020404" pitchFamily="49" charset="0"/>
              </a:rPr>
              <a:t>3</a:t>
            </a:r>
            <a:r>
              <a:rPr lang="en-US" altLang="en-US" sz="2000" dirty="0">
                <a:solidFill>
                  <a:srgbClr val="00B050"/>
                </a:solidFill>
                <a:latin typeface="Courier New" panose="02070309020205020404" pitchFamily="49" charset="0"/>
                <a:cs typeface="Courier New" panose="02070309020205020404" pitchFamily="49" charset="0"/>
              </a:rPr>
              <a:t>, -5,  </a:t>
            </a:r>
            <a:r>
              <a:rPr lang="en-US" altLang="en-US" sz="2000" dirty="0">
                <a:solidFill>
                  <a:srgbClr val="FF0000"/>
                </a:solidFill>
                <a:latin typeface="Courier New" panose="02070309020205020404" pitchFamily="49" charset="0"/>
                <a:cs typeface="Courier New" panose="02070309020205020404" pitchFamily="49" charset="0"/>
              </a:rPr>
              <a:t>3</a:t>
            </a:r>
            <a:r>
              <a:rPr lang="en-US" altLang="en-US" sz="2000" dirty="0">
                <a:solidFill>
                  <a:srgbClr val="00B050"/>
                </a:solidFill>
                <a:latin typeface="Courier New" panose="02070309020205020404" pitchFamily="49" charset="0"/>
                <a:cs typeface="Courier New" panose="02070309020205020404" pitchFamily="49" charset="0"/>
              </a:rPr>
              <a:t>,  2,  1]])</a:t>
            </a:r>
          </a:p>
          <a:p>
            <a:pPr marL="0" indent="0" eaLnBrk="1" hangingPunct="1">
              <a:lnSpc>
                <a:spcPts val="2200"/>
              </a:lnSpc>
              <a:spcBef>
                <a:spcPts val="0"/>
              </a:spcBef>
              <a:buNone/>
            </a:pPr>
            <a:endParaRPr lang="en-US" altLang="en-US" sz="2000" i="1" dirty="0">
              <a:solidFill>
                <a:srgbClr val="0070C0"/>
              </a:solidFill>
              <a:latin typeface="Courier New" panose="02070309020205020404" pitchFamily="49" charset="0"/>
              <a:cs typeface="Courier New" panose="02070309020205020404" pitchFamily="49" charset="0"/>
            </a:endParaRPr>
          </a:p>
          <a:p>
            <a:pPr marL="0" indent="0" eaLnBrk="1" hangingPunct="1">
              <a:lnSpc>
                <a:spcPts val="2200"/>
              </a:lnSpc>
              <a:spcBef>
                <a:spcPts val="0"/>
              </a:spcBef>
              <a:buNone/>
            </a:pPr>
            <a:endParaRPr lang="en-US" altLang="en-US" sz="2000" b="1" dirty="0">
              <a:solidFill>
                <a:srgbClr val="0070C0"/>
              </a:solidFill>
              <a:latin typeface="Courier New" panose="02070309020205020404" pitchFamily="49" charset="0"/>
              <a:cs typeface="Courier New" panose="02070309020205020404" pitchFamily="49" charset="0"/>
            </a:endParaRPr>
          </a:p>
          <a:p>
            <a:pPr marL="0" indent="0" eaLnBrk="1" hangingPunct="1">
              <a:lnSpc>
                <a:spcPts val="2200"/>
              </a:lnSpc>
              <a:spcBef>
                <a:spcPts val="0"/>
              </a:spcBef>
              <a:buNone/>
            </a:pPr>
            <a:endParaRPr lang="en-US" altLang="en-US" sz="2000"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69</a:t>
            </a:fld>
            <a:endParaRPr lang="en-US"/>
          </a:p>
        </p:txBody>
      </p:sp>
    </p:spTree>
    <p:extLst>
      <p:ext uri="{BB962C8B-B14F-4D97-AF65-F5344CB8AC3E}">
        <p14:creationId xmlns:p14="http://schemas.microsoft.com/office/powerpoint/2010/main" val="13617033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Integer (or "Fancy") Indexes</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You can use a </a:t>
            </a:r>
            <a:r>
              <a:rPr lang="en-US" altLang="en-US" sz="2800" b="1" dirty="0"/>
              <a:t>list</a:t>
            </a:r>
            <a:r>
              <a:rPr lang="en-US" altLang="en-US" sz="2800" dirty="0"/>
              <a:t> or </a:t>
            </a:r>
            <a:r>
              <a:rPr lang="en-US" altLang="en-US" sz="2800" b="1" dirty="0" err="1"/>
              <a:t>ndarray</a:t>
            </a:r>
            <a:r>
              <a:rPr lang="en-US" altLang="en-US" sz="2800" dirty="0"/>
              <a:t> of integers to select a view on a subset of an </a:t>
            </a:r>
            <a:r>
              <a:rPr lang="en-US" altLang="en-US" sz="2800" b="1" dirty="0" err="1"/>
              <a:t>ndarray</a:t>
            </a:r>
            <a:endParaRPr lang="en-US" altLang="en-US" sz="2800" b="1" dirty="0"/>
          </a:p>
          <a:p>
            <a:pPr lvl="1" eaLnBrk="1" hangingPunct="1">
              <a:spcBef>
                <a:spcPts val="0"/>
              </a:spcBef>
            </a:pPr>
            <a:r>
              <a:rPr lang="en-US" altLang="en-US" sz="2400" dirty="0"/>
              <a:t>Can change the order of rows or columns, or create duplicates</a:t>
            </a:r>
          </a:p>
          <a:p>
            <a:pPr lvl="2" eaLnBrk="1" hangingPunct="1">
              <a:spcBef>
                <a:spcPts val="0"/>
              </a:spcBef>
            </a:pPr>
            <a:r>
              <a:rPr lang="en-US" altLang="en-US" sz="2000" dirty="0"/>
              <a:t>We will reset </a:t>
            </a:r>
            <a:r>
              <a:rPr lang="en-US" altLang="en-US" sz="2000" b="1" dirty="0"/>
              <a:t>a1</a:t>
            </a:r>
            <a:r>
              <a:rPr lang="en-US" altLang="en-US" sz="2000" dirty="0"/>
              <a:t> for these examples</a:t>
            </a:r>
          </a:p>
          <a:p>
            <a:pPr lvl="1" eaLnBrk="1" hangingPunct="1">
              <a:spcBef>
                <a:spcPts val="0"/>
              </a:spcBef>
            </a:pPr>
            <a:endParaRPr lang="en-US" altLang="en-US" sz="800" dirty="0"/>
          </a:p>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 = </a:t>
            </a:r>
            <a:r>
              <a:rPr lang="en-US" altLang="en-US" sz="2000" b="1" dirty="0" err="1">
                <a:latin typeface="Courier New" panose="02070309020205020404" pitchFamily="49" charset="0"/>
                <a:cs typeface="Courier New" panose="02070309020205020404" pitchFamily="49" charset="0"/>
              </a:rPr>
              <a:t>np.array</a:t>
            </a:r>
            <a:r>
              <a:rPr lang="en-US" altLang="en-US" sz="2000" b="1" dirty="0">
                <a:latin typeface="Courier New" panose="02070309020205020404" pitchFamily="49" charset="0"/>
                <a:cs typeface="Courier New" panose="02070309020205020404" pitchFamily="49" charset="0"/>
              </a:rPr>
              <a:t>([[0,2,4,6,8],[1,3,5,7,9],</a:t>
            </a:r>
          </a:p>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                   [-5,-4,-3,-2,-1]])</a:t>
            </a:r>
          </a:p>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[ 1,  3,  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[-5, -4, -3, -2, -1]])</a:t>
            </a:r>
          </a:p>
          <a:p>
            <a:pPr marL="0" indent="0" eaLnBrk="1" hangingPunct="1">
              <a:lnSpc>
                <a:spcPts val="2200"/>
              </a:lnSpc>
              <a:spcBef>
                <a:spcPts val="0"/>
              </a:spcBef>
              <a:buNone/>
            </a:pPr>
            <a:endParaRPr lang="en-US" altLang="en-US" sz="2000" dirty="0">
              <a:solidFill>
                <a:srgbClr val="0070C0"/>
              </a:solidFill>
              <a:latin typeface="Courier New" panose="02070309020205020404" pitchFamily="49" charset="0"/>
              <a:cs typeface="Courier New" panose="02070309020205020404" pitchFamily="49" charset="0"/>
            </a:endParaRPr>
          </a:p>
          <a:p>
            <a:pPr marL="0" indent="0" eaLnBrk="1" hangingPunct="1">
              <a:lnSpc>
                <a:spcPts val="2200"/>
              </a:lnSpc>
              <a:spcBef>
                <a:spcPts val="0"/>
              </a:spcBef>
              <a:buNone/>
            </a:pPr>
            <a:endParaRPr lang="en-US" altLang="en-US" sz="2000"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70</a:t>
            </a:fld>
            <a:endParaRPr lang="en-US"/>
          </a:p>
        </p:txBody>
      </p:sp>
    </p:spTree>
    <p:extLst>
      <p:ext uri="{BB962C8B-B14F-4D97-AF65-F5344CB8AC3E}">
        <p14:creationId xmlns:p14="http://schemas.microsoft.com/office/powerpoint/2010/main" val="33208910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Integer (or "Fancy") Indexes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lvl="1" eaLnBrk="1" hangingPunct="1">
              <a:spcBef>
                <a:spcPts val="0"/>
              </a:spcBef>
            </a:pPr>
            <a:endParaRPr lang="en-US" altLang="en-US" sz="800" dirty="0"/>
          </a:p>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[ 1,  3,  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[-5, -4, -3, -2,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a1[[2,0]]         </a:t>
            </a:r>
            <a:r>
              <a:rPr lang="en-US" altLang="en-US" sz="2000" dirty="0">
                <a:solidFill>
                  <a:srgbClr val="0070C0"/>
                </a:solidFill>
                <a:latin typeface="Courier New" panose="02070309020205020404" pitchFamily="49" charset="0"/>
                <a:cs typeface="Courier New" panose="02070309020205020404" pitchFamily="49" charset="0"/>
              </a:rPr>
              <a:t># row 2 followed by row 0</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array([[-5, -4, -3, -2, -1],</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[ 0,  2,  4,  6,  8]])</a:t>
            </a:r>
          </a:p>
          <a:p>
            <a:pPr marL="0" indent="0" eaLnBrk="1" hangingPunct="1">
              <a:lnSpc>
                <a:spcPts val="2200"/>
              </a:lnSpc>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a1[:, [3,2,1,2]]  </a:t>
            </a:r>
            <a:r>
              <a:rPr lang="en-US" altLang="en-US" sz="2000" dirty="0">
                <a:solidFill>
                  <a:srgbClr val="FF0000"/>
                </a:solidFill>
                <a:latin typeface="Courier New" panose="02070309020205020404" pitchFamily="49" charset="0"/>
                <a:cs typeface="Courier New" panose="02070309020205020404" pitchFamily="49" charset="0"/>
              </a:rPr>
              <a:t># all rows, cols 3,2,1,2</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array([[ 6,  4,  2,  4],</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       [ 7,  5,  3,  5],</a:t>
            </a:r>
          </a:p>
          <a:p>
            <a:pPr marL="0" indent="0" eaLnBrk="1" hangingPunct="1">
              <a:lnSpc>
                <a:spcPts val="2200"/>
              </a:lnSpc>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       [-2, -3, -4, -3]])</a:t>
            </a: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71</a:t>
            </a:fld>
            <a:endParaRPr lang="en-US"/>
          </a:p>
        </p:txBody>
      </p:sp>
    </p:spTree>
    <p:extLst>
      <p:ext uri="{BB962C8B-B14F-4D97-AF65-F5344CB8AC3E}">
        <p14:creationId xmlns:p14="http://schemas.microsoft.com/office/powerpoint/2010/main" val="6799102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Integer (or "Fancy") Indexes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From a 2-D </a:t>
            </a:r>
            <a:r>
              <a:rPr lang="en-US" altLang="en-US" sz="2800" b="1" dirty="0" err="1"/>
              <a:t>ndarray</a:t>
            </a:r>
            <a:r>
              <a:rPr lang="en-US" altLang="en-US" sz="2800" dirty="0"/>
              <a:t>, you can use two integer index </a:t>
            </a:r>
            <a:r>
              <a:rPr lang="en-US" altLang="en-US" sz="2800" b="1" dirty="0"/>
              <a:t>list</a:t>
            </a:r>
            <a:r>
              <a:rPr lang="en-US" altLang="en-US" sz="2800" dirty="0"/>
              <a:t>s to create a 1-D </a:t>
            </a:r>
            <a:r>
              <a:rPr lang="en-US" altLang="en-US" sz="2800" b="1" dirty="0" err="1"/>
              <a:t>ndarray</a:t>
            </a:r>
            <a:r>
              <a:rPr lang="en-US" altLang="en-US" sz="2800" dirty="0"/>
              <a:t> of selected values</a:t>
            </a:r>
          </a:p>
          <a:p>
            <a:pPr lvl="1" eaLnBrk="1" hangingPunct="1">
              <a:spcBef>
                <a:spcPts val="0"/>
              </a:spcBef>
            </a:pPr>
            <a:r>
              <a:rPr lang="en-US" altLang="en-US" sz="2400" dirty="0"/>
              <a:t>The two index </a:t>
            </a:r>
            <a:r>
              <a:rPr lang="en-US" altLang="en-US" sz="2400" b="1" dirty="0"/>
              <a:t>list</a:t>
            </a:r>
            <a:r>
              <a:rPr lang="en-US" altLang="en-US" sz="2400" dirty="0"/>
              <a:t>s must be the same length</a:t>
            </a:r>
          </a:p>
          <a:p>
            <a:pPr lvl="1" eaLnBrk="1" hangingPunct="1">
              <a:spcBef>
                <a:spcPts val="0"/>
              </a:spcBef>
            </a:pPr>
            <a:endParaRPr lang="en-US" altLang="en-US" sz="800" dirty="0"/>
          </a:p>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array([[ 0,  2,  4,  6,  8],</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[ 1,  3,  5,  7,  9],</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       [-5, -4, -3, -2, -1]])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a1[[0,1,0,2],[0,4,2,0]]</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array([ 0,  9,  4, -5])</a:t>
            </a:r>
          </a:p>
          <a:p>
            <a:pPr marL="0" indent="0" eaLnBrk="1" hangingPunct="1">
              <a:lnSpc>
                <a:spcPts val="2200"/>
              </a:lnSpc>
              <a:spcBef>
                <a:spcPts val="0"/>
              </a:spcBef>
              <a:buNone/>
            </a:pPr>
            <a:endParaRPr lang="en-US" altLang="en-US" sz="2000" dirty="0">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6C26B4F-BBA9-4638-8A38-56C4B6AA55E4}"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72</a:t>
            </a:fld>
            <a:endParaRPr lang="en-US"/>
          </a:p>
        </p:txBody>
      </p:sp>
    </p:spTree>
    <p:extLst>
      <p:ext uri="{BB962C8B-B14F-4D97-AF65-F5344CB8AC3E}">
        <p14:creationId xmlns:p14="http://schemas.microsoft.com/office/powerpoint/2010/main" val="19065356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NumPy's </a:t>
            </a:r>
            <a:r>
              <a:rPr lang="en-US" altLang="en-US" b="1" dirty="0"/>
              <a:t>random</a:t>
            </a:r>
            <a:r>
              <a:rPr lang="en-US" altLang="en-US" dirty="0"/>
              <a:t> Submodule</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NumPy's </a:t>
            </a:r>
            <a:r>
              <a:rPr lang="en-US" altLang="en-US" sz="2800" b="1" dirty="0"/>
              <a:t>random</a:t>
            </a:r>
            <a:r>
              <a:rPr lang="en-US" altLang="en-US" sz="2800" dirty="0"/>
              <a:t> submodule provides</a:t>
            </a:r>
          </a:p>
          <a:p>
            <a:pPr lvl="1" eaLnBrk="1" hangingPunct="1">
              <a:spcBef>
                <a:spcPts val="0"/>
              </a:spcBef>
            </a:pPr>
            <a:r>
              <a:rPr lang="en-US" altLang="en-US" sz="2400" dirty="0"/>
              <a:t>Many pseudorandom number generators (PRNG)</a:t>
            </a:r>
          </a:p>
          <a:p>
            <a:pPr lvl="1" eaLnBrk="1" hangingPunct="1">
              <a:spcBef>
                <a:spcPts val="0"/>
              </a:spcBef>
            </a:pPr>
            <a:r>
              <a:rPr lang="en-US" altLang="en-US" sz="2400" dirty="0"/>
              <a:t>Random shuffling, permutation, and sampling</a:t>
            </a:r>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a1 = </a:t>
            </a:r>
            <a:r>
              <a:rPr lang="en-US" altLang="en-US" sz="2000" b="1" dirty="0" err="1">
                <a:latin typeface="Courier New" panose="02070309020205020404" pitchFamily="49" charset="0"/>
                <a:cs typeface="Courier New" panose="02070309020205020404" pitchFamily="49" charset="0"/>
              </a:rPr>
              <a:t>np.random.rand</a:t>
            </a:r>
            <a:r>
              <a:rPr lang="en-US" altLang="en-US" sz="2000" b="1" dirty="0">
                <a:latin typeface="Courier New" panose="02070309020205020404" pitchFamily="49" charset="0"/>
                <a:cs typeface="Courier New" panose="02070309020205020404" pitchFamily="49" charset="0"/>
              </a:rPr>
              <a:t>(2, 3)      </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Unif</a:t>
            </a:r>
            <a:r>
              <a:rPr lang="en-US" altLang="en-US" sz="2000" dirty="0">
                <a:latin typeface="Courier New" panose="02070309020205020404" pitchFamily="49" charset="0"/>
                <a:cs typeface="Courier New" panose="02070309020205020404" pitchFamily="49" charset="0"/>
              </a:rPr>
              <a:t>[0,1)</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array([[0.53911124, 0.9715489 , 0.94656374],</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[0.11110437, 0.56658254, 0.76156091]])</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t>
            </a:r>
            <a:r>
              <a:rPr lang="en-US" altLang="en-US" sz="2000" b="1" dirty="0" err="1">
                <a:solidFill>
                  <a:srgbClr val="0070C0"/>
                </a:solidFill>
                <a:latin typeface="Courier New" panose="02070309020205020404" pitchFamily="49" charset="0"/>
                <a:cs typeface="Courier New" panose="02070309020205020404" pitchFamily="49" charset="0"/>
              </a:rPr>
              <a:t>np.random.randn</a:t>
            </a:r>
            <a:r>
              <a:rPr lang="en-US" altLang="en-US" sz="2000" b="1" dirty="0">
                <a:solidFill>
                  <a:srgbClr val="0070C0"/>
                </a:solidFill>
                <a:latin typeface="Courier New" panose="02070309020205020404" pitchFamily="49" charset="0"/>
                <a:cs typeface="Courier New" panose="02070309020205020404" pitchFamily="49" charset="0"/>
              </a:rPr>
              <a:t>(3, 5).round(3) </a:t>
            </a:r>
            <a:r>
              <a:rPr lang="en-US" altLang="en-US" sz="2000" dirty="0">
                <a:solidFill>
                  <a:srgbClr val="0070C0"/>
                </a:solidFill>
                <a:latin typeface="Courier New" panose="02070309020205020404" pitchFamily="49" charset="0"/>
                <a:cs typeface="Courier New" panose="02070309020205020404" pitchFamily="49" charset="0"/>
              </a:rPr>
              <a:t># Norm(0,1)</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array([[ 0.488, -1.13 ,  1.389,  2.123, -0.184],</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[-0.325, -0.774,  0.368, -0.134,  1.384],</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[-1.358,  1.061,  0.068, -2.298,  0.377]])</a:t>
            </a:r>
          </a:p>
          <a:p>
            <a:pPr marL="0" indent="0" eaLnBrk="1" hangingPunct="1">
              <a:spcBef>
                <a:spcPts val="0"/>
              </a:spcBef>
              <a:buNone/>
            </a:pPr>
            <a:endParaRPr lang="en-US" altLang="en-US" sz="2000" dirty="0">
              <a:solidFill>
                <a:srgbClr val="FF000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1ACD2954-DBE5-4C9D-8A63-3D4B551C013E}"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73</a:t>
            </a:fld>
            <a:endParaRPr lang="en-US"/>
          </a:p>
        </p:txBody>
      </p:sp>
    </p:spTree>
    <p:extLst>
      <p:ext uri="{BB962C8B-B14F-4D97-AF65-F5344CB8AC3E}">
        <p14:creationId xmlns:p14="http://schemas.microsoft.com/office/powerpoint/2010/main" val="6408159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NumPy's </a:t>
            </a:r>
            <a:r>
              <a:rPr lang="en-US" altLang="en-US" b="1" dirty="0"/>
              <a:t>random</a:t>
            </a:r>
            <a:r>
              <a:rPr lang="en-US" altLang="en-US" dirty="0"/>
              <a:t> Submodule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t>
            </a:r>
            <a:r>
              <a:rPr lang="en-US" altLang="en-US" sz="2000" b="1" dirty="0" err="1">
                <a:latin typeface="Courier New" panose="02070309020205020404" pitchFamily="49" charset="0"/>
                <a:cs typeface="Courier New" panose="02070309020205020404" pitchFamily="49" charset="0"/>
              </a:rPr>
              <a:t>np.random.randint</a:t>
            </a:r>
            <a:r>
              <a:rPr lang="en-US" altLang="en-US" sz="2000" b="1" dirty="0">
                <a:latin typeface="Courier New" panose="02070309020205020404" pitchFamily="49" charset="0"/>
                <a:cs typeface="Courier New" panose="02070309020205020404" pitchFamily="49" charset="0"/>
              </a:rPr>
              <a:t>(0, 10, (4, 7)) </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Unif</a:t>
            </a:r>
            <a:r>
              <a:rPr lang="en-US" altLang="en-US" sz="2000" dirty="0">
                <a:latin typeface="Courier New" panose="02070309020205020404" pitchFamily="49" charset="0"/>
                <a:cs typeface="Courier New" panose="02070309020205020404" pitchFamily="49" charset="0"/>
              </a:rPr>
              <a:t>[0,10)</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array([[0, 0, 9, 9, 3, 6, 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[9, 6, 2, 6, 6, 9, 5],</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[6, 4, 5, 1, 7, 0, 5],</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[3, 3, 5, 4, 0, 6, 5]])</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 = </a:t>
            </a:r>
            <a:r>
              <a:rPr lang="en-US" altLang="en-US" sz="2000" b="1" dirty="0" err="1">
                <a:solidFill>
                  <a:srgbClr val="0070C0"/>
                </a:solidFill>
                <a:latin typeface="Courier New" panose="02070309020205020404" pitchFamily="49" charset="0"/>
                <a:cs typeface="Courier New" panose="02070309020205020404" pitchFamily="49" charset="0"/>
              </a:rPr>
              <a:t>np.arange</a:t>
            </a:r>
            <a:r>
              <a:rPr lang="en-US" altLang="en-US" sz="2000" b="1" dirty="0">
                <a:solidFill>
                  <a:srgbClr val="0070C0"/>
                </a:solidFill>
                <a:latin typeface="Courier New" panose="02070309020205020404" pitchFamily="49" charset="0"/>
                <a:cs typeface="Courier New" panose="02070309020205020404" pitchFamily="49" charset="0"/>
              </a:rPr>
              <a:t>(10)</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a2 = a1.copy()</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a2</a:t>
            </a:r>
            <a:endParaRPr lang="en-US" altLang="en-US" sz="2000" dirty="0">
              <a:solidFill>
                <a:srgbClr val="0070C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array([0, 1, 2, 3, 4, 5, 6, 7, 8, 9])</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t>
            </a:r>
            <a:r>
              <a:rPr lang="en-US" altLang="en-US" sz="2000" b="1" dirty="0" err="1">
                <a:solidFill>
                  <a:srgbClr val="FF0000"/>
                </a:solidFill>
                <a:latin typeface="Courier New" panose="02070309020205020404" pitchFamily="49" charset="0"/>
                <a:cs typeface="Courier New" panose="02070309020205020404" pitchFamily="49" charset="0"/>
              </a:rPr>
              <a:t>np.random.shuffle</a:t>
            </a:r>
            <a:r>
              <a:rPr lang="en-US" altLang="en-US" sz="2000" b="1" dirty="0">
                <a:solidFill>
                  <a:srgbClr val="FF0000"/>
                </a:solidFill>
                <a:latin typeface="Courier New" panose="02070309020205020404" pitchFamily="49" charset="0"/>
                <a:cs typeface="Courier New" panose="02070309020205020404" pitchFamily="49" charset="0"/>
              </a:rPr>
              <a:t>(a2)       </a:t>
            </a:r>
            <a:r>
              <a:rPr lang="en-US" altLang="en-US" sz="2000" dirty="0">
                <a:solidFill>
                  <a:srgbClr val="FF0000"/>
                </a:solidFill>
                <a:latin typeface="Courier New" panose="02070309020205020404" pitchFamily="49" charset="0"/>
                <a:cs typeface="Courier New" panose="02070309020205020404" pitchFamily="49" charset="0"/>
              </a:rPr>
              <a:t># a2 is modified</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a2</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array([3, 7, 5, 8, 2, 4, 1, 6, 9, 0])</a:t>
            </a:r>
            <a:endParaRPr lang="en-US" altLang="en-US" sz="2000" b="1"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2000" dirty="0">
              <a:solidFill>
                <a:srgbClr val="FF000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1ACD2954-DBE5-4C9D-8A63-3D4B551C013E}"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74</a:t>
            </a:fld>
            <a:endParaRPr lang="en-US"/>
          </a:p>
        </p:txBody>
      </p:sp>
    </p:spTree>
    <p:extLst>
      <p:ext uri="{BB962C8B-B14F-4D97-AF65-F5344CB8AC3E}">
        <p14:creationId xmlns:p14="http://schemas.microsoft.com/office/powerpoint/2010/main" val="22995246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NumPy's </a:t>
            </a:r>
            <a:r>
              <a:rPr lang="en-US" altLang="en-US" b="1" dirty="0"/>
              <a:t>random</a:t>
            </a:r>
            <a:r>
              <a:rPr lang="en-US" altLang="en-US" dirty="0"/>
              <a:t> Submodule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array([0, 1, 2, 3, 4, 5, 6, 7, 8, 9])</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t>
            </a:r>
            <a:r>
              <a:rPr lang="en-US" altLang="en-US" sz="2000" b="1" dirty="0" err="1">
                <a:solidFill>
                  <a:srgbClr val="0070C0"/>
                </a:solidFill>
                <a:latin typeface="Courier New" panose="02070309020205020404" pitchFamily="49" charset="0"/>
                <a:cs typeface="Courier New" panose="02070309020205020404" pitchFamily="49" charset="0"/>
              </a:rPr>
              <a:t>np.random.permutation</a:t>
            </a:r>
            <a:r>
              <a:rPr lang="en-US" altLang="en-US" sz="2000" b="1" dirty="0">
                <a:solidFill>
                  <a:srgbClr val="0070C0"/>
                </a:solidFill>
                <a:latin typeface="Courier New" panose="02070309020205020404" pitchFamily="49" charset="0"/>
                <a:cs typeface="Courier New" panose="02070309020205020404" pitchFamily="49" charset="0"/>
              </a:rPr>
              <a:t>(a1) </a:t>
            </a:r>
            <a:r>
              <a:rPr lang="en-US" altLang="en-US" sz="2000" dirty="0">
                <a:solidFill>
                  <a:srgbClr val="0070C0"/>
                </a:solidFill>
                <a:latin typeface="Courier New" panose="02070309020205020404" pitchFamily="49" charset="0"/>
                <a:cs typeface="Courier New" panose="02070309020205020404" pitchFamily="49" charset="0"/>
              </a:rPr>
              <a:t># a1 </a:t>
            </a:r>
            <a:r>
              <a:rPr lang="en-US" altLang="en-US" sz="2000" dirty="0">
                <a:solidFill>
                  <a:srgbClr val="FF0000"/>
                </a:solidFill>
                <a:latin typeface="Courier New" panose="02070309020205020404" pitchFamily="49" charset="0"/>
                <a:cs typeface="Courier New" panose="02070309020205020404" pitchFamily="49" charset="0"/>
              </a:rPr>
              <a:t>not</a:t>
            </a:r>
            <a:r>
              <a:rPr lang="en-US" altLang="en-US" sz="2000" dirty="0">
                <a:solidFill>
                  <a:srgbClr val="0070C0"/>
                </a:solidFill>
                <a:latin typeface="Courier New" panose="02070309020205020404" pitchFamily="49" charset="0"/>
                <a:cs typeface="Courier New" panose="02070309020205020404" pitchFamily="49" charset="0"/>
              </a:rPr>
              <a:t> modified</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array([3, 8, 1, 9, 7, 4, 6, 0, 2, 5])</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t>
            </a:r>
            <a:r>
              <a:rPr lang="en-US" altLang="en-US" sz="2000" b="1" dirty="0" err="1">
                <a:solidFill>
                  <a:srgbClr val="0070C0"/>
                </a:solidFill>
                <a:latin typeface="Courier New" panose="02070309020205020404" pitchFamily="49" charset="0"/>
                <a:cs typeface="Courier New" panose="02070309020205020404" pitchFamily="49" charset="0"/>
              </a:rPr>
              <a:t>np.random.permutation</a:t>
            </a:r>
            <a:r>
              <a:rPr lang="en-US" altLang="en-US" sz="2000" b="1" dirty="0">
                <a:solidFill>
                  <a:srgbClr val="0070C0"/>
                </a:solidFill>
                <a:latin typeface="Courier New" panose="02070309020205020404" pitchFamily="49" charset="0"/>
                <a:cs typeface="Courier New" panose="02070309020205020404" pitchFamily="49" charset="0"/>
              </a:rPr>
              <a:t>(a1) </a:t>
            </a:r>
            <a:r>
              <a:rPr lang="en-US" altLang="en-US" sz="2000" dirty="0">
                <a:solidFill>
                  <a:srgbClr val="0070C0"/>
                </a:solidFill>
                <a:latin typeface="Courier New" panose="02070309020205020404" pitchFamily="49" charset="0"/>
                <a:cs typeface="Courier New" panose="02070309020205020404" pitchFamily="49" charset="0"/>
              </a:rPr>
              <a:t># a1 </a:t>
            </a:r>
            <a:r>
              <a:rPr lang="en-US" altLang="en-US" sz="2000" dirty="0">
                <a:solidFill>
                  <a:srgbClr val="FF0000"/>
                </a:solidFill>
                <a:latin typeface="Courier New" panose="02070309020205020404" pitchFamily="49" charset="0"/>
                <a:cs typeface="Courier New" panose="02070309020205020404" pitchFamily="49" charset="0"/>
              </a:rPr>
              <a:t>not</a:t>
            </a:r>
            <a:r>
              <a:rPr lang="en-US" altLang="en-US" sz="2000" dirty="0">
                <a:solidFill>
                  <a:srgbClr val="0070C0"/>
                </a:solidFill>
                <a:latin typeface="Courier New" panose="02070309020205020404" pitchFamily="49" charset="0"/>
                <a:cs typeface="Courier New" panose="02070309020205020404" pitchFamily="49" charset="0"/>
              </a:rPr>
              <a:t> modified</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array([7, 2, 9, 6, 0, 8, 4, 1, 3, 5])</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a1</a:t>
            </a:r>
            <a:endParaRPr lang="en-US" altLang="en-US" sz="2000" dirty="0">
              <a:solidFill>
                <a:srgbClr val="0070C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array([0, 1, 2, 3, 4, 5, 6, 7, 8, 9])</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 </a:t>
            </a:r>
            <a:r>
              <a:rPr lang="en-US" altLang="en-US" sz="2000" b="1" dirty="0" err="1">
                <a:solidFill>
                  <a:srgbClr val="FF0000"/>
                </a:solidFill>
                <a:latin typeface="Courier New" panose="02070309020205020404" pitchFamily="49" charset="0"/>
                <a:cs typeface="Courier New" panose="02070309020205020404" pitchFamily="49" charset="0"/>
              </a:rPr>
              <a:t>np.random.choice</a:t>
            </a:r>
            <a:r>
              <a:rPr lang="en-US" altLang="en-US" sz="2000" b="1" dirty="0">
                <a:solidFill>
                  <a:srgbClr val="FF0000"/>
                </a:solidFill>
                <a:latin typeface="Courier New" panose="02070309020205020404" pitchFamily="49" charset="0"/>
                <a:cs typeface="Courier New" panose="02070309020205020404" pitchFamily="49" charset="0"/>
              </a:rPr>
              <a:t>(a1, 5)</a:t>
            </a:r>
            <a:endParaRPr lang="en-US" altLang="en-US" sz="2000" dirty="0">
              <a:solidFill>
                <a:srgbClr val="FF0000"/>
              </a:solidFill>
              <a:latin typeface="Courier New" panose="02070309020205020404" pitchFamily="49" charset="0"/>
              <a:cs typeface="Courier New" panose="02070309020205020404" pitchFamily="49" charset="0"/>
            </a:endParaRP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array([5, 7, 0, 4, 7])</a:t>
            </a:r>
            <a:r>
              <a:rPr lang="en-US" altLang="en-US" sz="2000" b="1" dirty="0">
                <a:solidFill>
                  <a:srgbClr val="FF0000"/>
                </a:solidFill>
                <a:latin typeface="Courier New" panose="02070309020205020404" pitchFamily="49" charset="0"/>
                <a:cs typeface="Courier New" panose="02070309020205020404" pitchFamily="49" charset="0"/>
              </a:rPr>
              <a:t>  </a:t>
            </a:r>
            <a:r>
              <a:rPr lang="en-US" altLang="en-US" sz="2000" dirty="0">
                <a:solidFill>
                  <a:srgbClr val="FF0000"/>
                </a:solidFill>
                <a:latin typeface="Courier New" panose="02070309020205020404" pitchFamily="49" charset="0"/>
                <a:cs typeface="Courier New" panose="02070309020205020404" pitchFamily="49" charset="0"/>
              </a:rPr>
              <a:t># sample with replacement</a:t>
            </a:r>
          </a:p>
          <a:p>
            <a:pPr marL="0" indent="0" eaLnBrk="1" hangingPunct="1">
              <a:spcBef>
                <a:spcPts val="0"/>
              </a:spcBef>
              <a:buNone/>
            </a:pPr>
            <a:r>
              <a:rPr lang="en-US" altLang="en-US" sz="2000" b="1" dirty="0">
                <a:solidFill>
                  <a:srgbClr val="00B050"/>
                </a:solidFill>
                <a:latin typeface="Courier New" panose="02070309020205020404" pitchFamily="49" charset="0"/>
                <a:cs typeface="Courier New" panose="02070309020205020404" pitchFamily="49" charset="0"/>
              </a:rPr>
              <a:t>&gt;&gt;&gt; </a:t>
            </a:r>
            <a:r>
              <a:rPr lang="en-US" altLang="en-US" sz="2000" b="1" dirty="0" err="1">
                <a:solidFill>
                  <a:srgbClr val="00B050"/>
                </a:solidFill>
                <a:latin typeface="Courier New" panose="02070309020205020404" pitchFamily="49" charset="0"/>
                <a:cs typeface="Courier New" panose="02070309020205020404" pitchFamily="49" charset="0"/>
              </a:rPr>
              <a:t>np.random.choice</a:t>
            </a:r>
            <a:r>
              <a:rPr lang="en-US" altLang="en-US" sz="2000" b="1" dirty="0">
                <a:solidFill>
                  <a:srgbClr val="00B050"/>
                </a:solidFill>
                <a:latin typeface="Courier New" panose="02070309020205020404" pitchFamily="49" charset="0"/>
                <a:cs typeface="Courier New" panose="02070309020205020404" pitchFamily="49" charset="0"/>
              </a:rPr>
              <a:t>(a1, 5, replace=False)</a:t>
            </a:r>
          </a:p>
          <a:p>
            <a:pPr marL="0" indent="0" eaLnBrk="1" hangingPunct="1">
              <a:spcBef>
                <a:spcPts val="0"/>
              </a:spcBef>
              <a:buNone/>
            </a:pPr>
            <a:r>
              <a:rPr lang="en-US" altLang="en-US" sz="2000" dirty="0">
                <a:solidFill>
                  <a:srgbClr val="00B050"/>
                </a:solidFill>
                <a:latin typeface="Courier New" panose="02070309020205020404" pitchFamily="49" charset="0"/>
                <a:cs typeface="Courier New" panose="02070309020205020404" pitchFamily="49" charset="0"/>
              </a:rPr>
              <a:t>array([6, 3, 9, 4, 1])  # without replacement</a:t>
            </a:r>
            <a:endParaRPr lang="en-US" altLang="en-US" sz="2000" b="1" dirty="0">
              <a:solidFill>
                <a:srgbClr val="00B050"/>
              </a:solidFill>
              <a:latin typeface="Courier New" panose="02070309020205020404" pitchFamily="49" charset="0"/>
              <a:cs typeface="Courier New" panose="02070309020205020404" pitchFamily="49" charset="0"/>
            </a:endParaRPr>
          </a:p>
          <a:p>
            <a:pPr marL="0" indent="0" eaLnBrk="1" hangingPunct="1">
              <a:spcBef>
                <a:spcPts val="0"/>
              </a:spcBef>
              <a:buNone/>
            </a:pPr>
            <a:endParaRPr lang="en-US" altLang="en-US" sz="2000" dirty="0">
              <a:solidFill>
                <a:srgbClr val="FF000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1ACD2954-DBE5-4C9D-8A63-3D4B551C013E}"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75</a:t>
            </a:fld>
            <a:endParaRPr lang="en-US"/>
          </a:p>
        </p:txBody>
      </p:sp>
    </p:spTree>
    <p:extLst>
      <p:ext uri="{BB962C8B-B14F-4D97-AF65-F5344CB8AC3E}">
        <p14:creationId xmlns:p14="http://schemas.microsoft.com/office/powerpoint/2010/main" val="7320187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NumPy's </a:t>
            </a:r>
            <a:r>
              <a:rPr lang="en-US" altLang="en-US" b="1" dirty="0"/>
              <a:t>random</a:t>
            </a:r>
            <a:r>
              <a:rPr lang="en-US" altLang="en-US" dirty="0"/>
              <a:t> Submodule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Probability distribution PRNGs -- 35 functions!</a:t>
            </a:r>
          </a:p>
          <a:p>
            <a:pPr lvl="1" eaLnBrk="1" hangingPunct="1">
              <a:spcBef>
                <a:spcPts val="0"/>
              </a:spcBef>
            </a:pPr>
            <a:r>
              <a:rPr lang="en-US" altLang="en-US" sz="2400" dirty="0"/>
              <a:t>For example:</a:t>
            </a:r>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t>
            </a:r>
            <a:r>
              <a:rPr lang="en-US" altLang="en-US" sz="2000" b="1" dirty="0" err="1">
                <a:latin typeface="Courier New" panose="02070309020205020404" pitchFamily="49" charset="0"/>
                <a:cs typeface="Courier New" panose="02070309020205020404" pitchFamily="49" charset="0"/>
              </a:rPr>
              <a:t>np.random.normal</a:t>
            </a:r>
            <a:r>
              <a:rPr lang="en-US" altLang="en-US" sz="2000" b="1" dirty="0">
                <a:latin typeface="Courier New" panose="02070309020205020404" pitchFamily="49" charset="0"/>
                <a:cs typeface="Courier New" panose="02070309020205020404" pitchFamily="49" charset="0"/>
              </a:rPr>
              <a:t>(10, 2, 20)  </a:t>
            </a:r>
            <a:r>
              <a:rPr lang="en-US" altLang="en-US" sz="2000" dirty="0">
                <a:latin typeface="Courier New" panose="02070309020205020404" pitchFamily="49" charset="0"/>
                <a:cs typeface="Courier New" panose="02070309020205020404" pitchFamily="49" charset="0"/>
              </a:rPr>
              <a:t># Norm(10, 2)</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array([ 8.356, 10.704,  7.162,  9.011,</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7.631,  6.774, 12.751, 12.644,</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12.643,  6.578, 11.122,  9.155,</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10.15 , 10.638, 10.73 ,  9.815,</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9.837, 12.409, 11.198,  7.218])</a:t>
            </a:r>
          </a:p>
          <a:p>
            <a:pPr marL="0" indent="0" eaLnBrk="1" hangingPunct="1">
              <a:spcBef>
                <a:spcPts val="0"/>
              </a:spcBef>
              <a:buNone/>
            </a:pPr>
            <a:endParaRPr lang="en-US" altLang="en-US" sz="2000" dirty="0">
              <a:solidFill>
                <a:srgbClr val="FF0000"/>
              </a:solidFill>
              <a:latin typeface="Courier New" panose="02070309020205020404" pitchFamily="49" charset="0"/>
              <a:cs typeface="Courier New" panose="02070309020205020404" pitchFamily="49" charset="0"/>
            </a:endParaRPr>
          </a:p>
          <a:p>
            <a:pPr eaLnBrk="1" hangingPunct="1">
              <a:spcBef>
                <a:spcPts val="0"/>
              </a:spcBef>
            </a:pPr>
            <a:r>
              <a:rPr lang="en-US" altLang="en-US" sz="2800" b="1" dirty="0"/>
              <a:t>binomial</a:t>
            </a:r>
            <a:r>
              <a:rPr lang="en-US" altLang="en-US" sz="2800" dirty="0"/>
              <a:t>, </a:t>
            </a:r>
            <a:r>
              <a:rPr lang="en-US" altLang="en-US" sz="2800" b="1" dirty="0" err="1"/>
              <a:t>chisquare</a:t>
            </a:r>
            <a:r>
              <a:rPr lang="en-US" altLang="en-US" sz="2800" dirty="0"/>
              <a:t>, </a:t>
            </a:r>
            <a:r>
              <a:rPr lang="en-US" altLang="en-US" sz="2800" b="1" dirty="0" err="1"/>
              <a:t>dirichlet</a:t>
            </a:r>
            <a:r>
              <a:rPr lang="en-US" altLang="en-US" sz="2800" dirty="0"/>
              <a:t>, </a:t>
            </a:r>
            <a:r>
              <a:rPr lang="en-US" altLang="en-US" sz="2800" b="1" dirty="0"/>
              <a:t>exponential</a:t>
            </a:r>
            <a:r>
              <a:rPr lang="en-US" altLang="en-US" sz="2800" dirty="0"/>
              <a:t>, </a:t>
            </a:r>
            <a:r>
              <a:rPr lang="en-US" altLang="en-US" sz="2800" b="1" dirty="0"/>
              <a:t>gamma</a:t>
            </a:r>
            <a:r>
              <a:rPr lang="en-US" altLang="en-US" sz="2800" dirty="0"/>
              <a:t>, </a:t>
            </a:r>
            <a:r>
              <a:rPr lang="en-US" altLang="en-US" sz="2800" b="1" dirty="0" err="1"/>
              <a:t>poisson</a:t>
            </a:r>
            <a:r>
              <a:rPr lang="en-US" altLang="en-US" sz="2800" dirty="0"/>
              <a:t>, …</a:t>
            </a:r>
          </a:p>
        </p:txBody>
      </p:sp>
      <p:sp>
        <p:nvSpPr>
          <p:cNvPr id="2" name="Date Placeholder 1"/>
          <p:cNvSpPr>
            <a:spLocks noGrp="1"/>
          </p:cNvSpPr>
          <p:nvPr>
            <p:ph type="dt" sz="half" idx="10"/>
          </p:nvPr>
        </p:nvSpPr>
        <p:spPr/>
        <p:txBody>
          <a:bodyPr/>
          <a:lstStyle/>
          <a:p>
            <a:pPr>
              <a:defRPr/>
            </a:pPr>
            <a:fld id="{1ACD2954-DBE5-4C9D-8A63-3D4B551C013E}"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76</a:t>
            </a:fld>
            <a:endParaRPr lang="en-US"/>
          </a:p>
        </p:txBody>
      </p:sp>
    </p:spTree>
    <p:extLst>
      <p:ext uri="{BB962C8B-B14F-4D97-AF65-F5344CB8AC3E}">
        <p14:creationId xmlns:p14="http://schemas.microsoft.com/office/powerpoint/2010/main" val="14633792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Linear Algebra</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If </a:t>
            </a:r>
            <a:r>
              <a:rPr lang="en-US" altLang="en-US" sz="2800" i="1" dirty="0"/>
              <a:t>A</a:t>
            </a:r>
            <a:r>
              <a:rPr lang="en-US" altLang="en-US" sz="2800" dirty="0"/>
              <a:t> is an </a:t>
            </a:r>
            <a:r>
              <a:rPr lang="en-US" altLang="en-US" sz="2800" i="1" dirty="0"/>
              <a:t>M</a:t>
            </a:r>
            <a:r>
              <a:rPr lang="en-US" altLang="en-US" sz="1600" i="1" dirty="0"/>
              <a:t> </a:t>
            </a:r>
            <a:r>
              <a:rPr lang="en-US" altLang="en-US" sz="2800" dirty="0" err="1"/>
              <a:t>x</a:t>
            </a:r>
            <a:r>
              <a:rPr lang="en-US" altLang="en-US" sz="2800" i="1" dirty="0" err="1"/>
              <a:t>N</a:t>
            </a:r>
            <a:r>
              <a:rPr lang="en-US" altLang="en-US" sz="2800" dirty="0"/>
              <a:t> </a:t>
            </a:r>
            <a:r>
              <a:rPr lang="en-US" altLang="en-US" sz="2800" b="1" dirty="0" err="1"/>
              <a:t>ndarray</a:t>
            </a:r>
            <a:r>
              <a:rPr lang="en-US" altLang="en-US" sz="2800" dirty="0"/>
              <a:t>, and </a:t>
            </a:r>
            <a:r>
              <a:rPr lang="en-US" altLang="en-US" sz="2800" i="1" dirty="0"/>
              <a:t>B</a:t>
            </a:r>
            <a:r>
              <a:rPr lang="en-US" altLang="en-US" sz="2800" dirty="0"/>
              <a:t> is </a:t>
            </a:r>
            <a:r>
              <a:rPr lang="en-US" altLang="en-US" sz="2800" i="1" dirty="0"/>
              <a:t>N</a:t>
            </a:r>
            <a:r>
              <a:rPr lang="en-US" altLang="en-US" sz="1600" i="1" dirty="0"/>
              <a:t> </a:t>
            </a:r>
            <a:r>
              <a:rPr lang="en-US" altLang="en-US" sz="2800" dirty="0" err="1"/>
              <a:t>x</a:t>
            </a:r>
            <a:r>
              <a:rPr lang="en-US" altLang="en-US" sz="2800" i="1" dirty="0" err="1"/>
              <a:t>P</a:t>
            </a:r>
            <a:endParaRPr lang="en-US" altLang="en-US" sz="2800" i="1" dirty="0"/>
          </a:p>
          <a:p>
            <a:pPr lvl="1" eaLnBrk="1" hangingPunct="1">
              <a:spcBef>
                <a:spcPts val="0"/>
              </a:spcBef>
            </a:pPr>
            <a:r>
              <a:rPr lang="en-US" altLang="en-US" sz="2400" b="1" dirty="0"/>
              <a:t>np.dot(</a:t>
            </a:r>
            <a:r>
              <a:rPr lang="en-US" altLang="en-US" sz="2400" i="1" dirty="0"/>
              <a:t>A</a:t>
            </a:r>
            <a:r>
              <a:rPr lang="en-US" altLang="en-US" sz="2400" b="1" dirty="0"/>
              <a:t>, </a:t>
            </a:r>
            <a:r>
              <a:rPr lang="en-US" altLang="en-US" sz="2400" i="1" dirty="0"/>
              <a:t>B</a:t>
            </a:r>
            <a:r>
              <a:rPr lang="en-US" altLang="en-US" sz="1600" i="1" dirty="0"/>
              <a:t> </a:t>
            </a:r>
            <a:r>
              <a:rPr lang="en-US" altLang="en-US" sz="2400" b="1" dirty="0"/>
              <a:t>)</a:t>
            </a:r>
            <a:r>
              <a:rPr lang="en-US" altLang="en-US" sz="2400" dirty="0"/>
              <a:t> is the </a:t>
            </a:r>
            <a:r>
              <a:rPr lang="en-US" altLang="en-US" sz="2400" i="1" dirty="0"/>
              <a:t>M</a:t>
            </a:r>
            <a:r>
              <a:rPr lang="en-US" altLang="en-US" sz="1600" i="1" dirty="0"/>
              <a:t> </a:t>
            </a:r>
            <a:r>
              <a:rPr lang="en-US" altLang="en-US" sz="2400" dirty="0" err="1"/>
              <a:t>x</a:t>
            </a:r>
            <a:r>
              <a:rPr lang="en-US" altLang="en-US" sz="2400" i="1" dirty="0" err="1"/>
              <a:t>P</a:t>
            </a:r>
            <a:r>
              <a:rPr lang="en-US" altLang="en-US" sz="2400" dirty="0"/>
              <a:t> </a:t>
            </a:r>
            <a:r>
              <a:rPr lang="en-US" altLang="en-US" sz="2400" b="1" dirty="0" err="1"/>
              <a:t>ndarray</a:t>
            </a:r>
            <a:r>
              <a:rPr lang="en-US" altLang="en-US" sz="2400" dirty="0"/>
              <a:t> </a:t>
            </a:r>
            <a:r>
              <a:rPr lang="en-US" altLang="en-US" sz="2400" i="1" dirty="0"/>
              <a:t>AB</a:t>
            </a:r>
          </a:p>
          <a:p>
            <a:pPr lvl="1" eaLnBrk="1" hangingPunct="1">
              <a:spcBef>
                <a:spcPts val="0"/>
              </a:spcBef>
            </a:pPr>
            <a:r>
              <a:rPr lang="en-US" altLang="en-US" sz="2400" i="1" dirty="0"/>
              <a:t>A</a:t>
            </a:r>
            <a:r>
              <a:rPr lang="en-US" altLang="en-US" sz="2400" b="1" dirty="0"/>
              <a:t>.dot(</a:t>
            </a:r>
            <a:r>
              <a:rPr lang="en-US" altLang="en-US" sz="2400" i="1" dirty="0"/>
              <a:t>B</a:t>
            </a:r>
            <a:r>
              <a:rPr lang="en-US" altLang="en-US" sz="1600" i="1" dirty="0"/>
              <a:t> </a:t>
            </a:r>
            <a:r>
              <a:rPr lang="en-US" altLang="en-US" sz="2400" b="1" dirty="0"/>
              <a:t>)</a:t>
            </a:r>
            <a:r>
              <a:rPr lang="en-US" altLang="en-US" sz="2400" dirty="0"/>
              <a:t> means the same thing</a:t>
            </a:r>
            <a:endParaRPr lang="en-US" altLang="en-US" sz="2400" i="1" dirty="0"/>
          </a:p>
          <a:p>
            <a:pPr lvl="1" eaLnBrk="1" hangingPunct="1">
              <a:spcBef>
                <a:spcPts val="0"/>
              </a:spcBef>
            </a:pPr>
            <a:r>
              <a:rPr lang="en-US" altLang="en-US" sz="2400" i="1" dirty="0"/>
              <a:t>A</a:t>
            </a:r>
            <a:r>
              <a:rPr lang="en-US" altLang="en-US" sz="2400" b="1" dirty="0"/>
              <a:t>.T</a:t>
            </a:r>
            <a:r>
              <a:rPr lang="en-US" altLang="en-US" sz="2400" dirty="0"/>
              <a:t> is </a:t>
            </a:r>
            <a:r>
              <a:rPr lang="en-US" altLang="en-US" sz="2400" i="1" dirty="0"/>
              <a:t>A</a:t>
            </a:r>
            <a:r>
              <a:rPr lang="en-US" altLang="en-US" sz="2400" dirty="0"/>
              <a:t> transpose</a:t>
            </a:r>
          </a:p>
          <a:p>
            <a:pPr lvl="1" eaLnBrk="1" hangingPunct="1">
              <a:spcBef>
                <a:spcPts val="0"/>
              </a:spcBef>
            </a:pPr>
            <a:r>
              <a:rPr lang="en-US" altLang="en-US" sz="2400" dirty="0"/>
              <a:t>So </a:t>
            </a:r>
            <a:r>
              <a:rPr lang="en-US" altLang="en-US" sz="2400" b="1" dirty="0"/>
              <a:t>np.dot(</a:t>
            </a:r>
            <a:r>
              <a:rPr lang="en-US" altLang="en-US" sz="2400" i="1" dirty="0"/>
              <a:t>A</a:t>
            </a:r>
            <a:r>
              <a:rPr lang="en-US" altLang="en-US" sz="2400" b="1" dirty="0"/>
              <a:t>.T, </a:t>
            </a:r>
            <a:r>
              <a:rPr lang="en-US" altLang="en-US" sz="2400" i="1" dirty="0"/>
              <a:t>A</a:t>
            </a:r>
            <a:r>
              <a:rPr lang="en-US" altLang="en-US" sz="2400" b="1" dirty="0"/>
              <a:t>)</a:t>
            </a:r>
            <a:r>
              <a:rPr lang="en-US" altLang="en-US" sz="2400" dirty="0"/>
              <a:t> is </a:t>
            </a:r>
            <a:r>
              <a:rPr lang="en-US" altLang="en-US" sz="2400" i="1" dirty="0"/>
              <a:t>A</a:t>
            </a:r>
            <a:r>
              <a:rPr lang="en-US" altLang="en-US" sz="2400" b="1" baseline="30000" dirty="0"/>
              <a:t>T</a:t>
            </a:r>
            <a:r>
              <a:rPr lang="en-US" altLang="en-US" sz="2400" i="1" dirty="0"/>
              <a:t>A</a:t>
            </a:r>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a4 = </a:t>
            </a:r>
            <a:r>
              <a:rPr lang="en-US" altLang="en-US" sz="2000" b="1" dirty="0" err="1">
                <a:latin typeface="Courier New" panose="02070309020205020404" pitchFamily="49" charset="0"/>
                <a:cs typeface="Courier New" panose="02070309020205020404" pitchFamily="49" charset="0"/>
              </a:rPr>
              <a:t>np.random.randn</a:t>
            </a:r>
            <a:r>
              <a:rPr lang="en-US" altLang="en-US" sz="2000" b="1" dirty="0">
                <a:latin typeface="Courier New" panose="02070309020205020404" pitchFamily="49" charset="0"/>
                <a:cs typeface="Courier New" panose="02070309020205020404" pitchFamily="49" charset="0"/>
              </a:rPr>
              <a:t>(1, 3).round(3)</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a4</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array([[ 0.243,  0.521,  0.869]])</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a4.T</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array([[ 0.243],</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[ 0.521],</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[ 0.869]])</a:t>
            </a:r>
          </a:p>
          <a:p>
            <a:pPr marL="0" indent="0" eaLnBrk="1" hangingPunct="1">
              <a:spcBef>
                <a:spcPts val="0"/>
              </a:spcBef>
              <a:buNone/>
            </a:pPr>
            <a:endParaRPr lang="en-US" altLang="en-US" sz="2000" dirty="0">
              <a:solidFill>
                <a:srgbClr val="FF000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1ACD2954-DBE5-4C9D-8A63-3D4B551C013E}"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77</a:t>
            </a:fld>
            <a:endParaRPr lang="en-US"/>
          </a:p>
        </p:txBody>
      </p:sp>
    </p:spTree>
    <p:extLst>
      <p:ext uri="{BB962C8B-B14F-4D97-AF65-F5344CB8AC3E}">
        <p14:creationId xmlns:p14="http://schemas.microsoft.com/office/powerpoint/2010/main" val="152851350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Linear Algebra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lnSpc>
                <a:spcPts val="2200"/>
              </a:lnSpc>
              <a:spcBef>
                <a:spcPts val="0"/>
              </a:spcBef>
              <a:buNone/>
            </a:pPr>
            <a:r>
              <a:rPr lang="en-US" altLang="en-US" sz="2000" b="1" dirty="0">
                <a:latin typeface="Courier New" panose="02070309020205020404" pitchFamily="49" charset="0"/>
                <a:cs typeface="Courier New" panose="02070309020205020404" pitchFamily="49" charset="0"/>
              </a:rPr>
              <a:t>&gt;&gt;&gt; np.dot(a4, a4.T)         </a:t>
            </a:r>
            <a:r>
              <a:rPr lang="en-US" altLang="en-US" sz="2000" dirty="0">
                <a:latin typeface="Courier New" panose="02070309020205020404" pitchFamily="49" charset="0"/>
                <a:cs typeface="Courier New" panose="02070309020205020404" pitchFamily="49" charset="0"/>
              </a:rPr>
              <a:t># inner product</a:t>
            </a:r>
          </a:p>
          <a:p>
            <a:pPr marL="0" indent="0" eaLnBrk="1" hangingPunct="1">
              <a:lnSpc>
                <a:spcPts val="2200"/>
              </a:lnSpc>
              <a:spcBef>
                <a:spcPts val="0"/>
              </a:spcBef>
              <a:buNone/>
            </a:pPr>
            <a:r>
              <a:rPr lang="en-US" altLang="en-US" sz="2000" dirty="0">
                <a:latin typeface="Courier New" panose="02070309020205020404" pitchFamily="49" charset="0"/>
                <a:cs typeface="Courier New" panose="02070309020205020404" pitchFamily="49" charset="0"/>
              </a:rPr>
              <a:t>array([[ 1.085651]])</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a5 = np.dot(a4.T, a4)    </a:t>
            </a:r>
            <a:r>
              <a:rPr lang="en-US" altLang="en-US" sz="2000" dirty="0">
                <a:solidFill>
                  <a:srgbClr val="0070C0"/>
                </a:solidFill>
                <a:latin typeface="Courier New" panose="02070309020205020404" pitchFamily="49" charset="0"/>
                <a:cs typeface="Courier New" panose="02070309020205020404" pitchFamily="49" charset="0"/>
              </a:rPr>
              <a:t># outer product</a:t>
            </a:r>
          </a:p>
          <a:p>
            <a:pPr marL="0" indent="0" eaLnBrk="1" hangingPunct="1">
              <a:lnSpc>
                <a:spcPts val="2200"/>
              </a:lnSpc>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a:t>
            </a:r>
            <a:r>
              <a:rPr lang="en-US" altLang="en-US" sz="2000" dirty="0">
                <a:solidFill>
                  <a:srgbClr val="0070C0"/>
                </a:solidFill>
                <a:latin typeface="Courier New" panose="02070309020205020404" pitchFamily="49" charset="0"/>
                <a:cs typeface="Courier New" panose="02070309020205020404" pitchFamily="49" charset="0"/>
              </a:rPr>
              <a:t> </a:t>
            </a:r>
            <a:r>
              <a:rPr lang="en-US" altLang="en-US" sz="2000" b="1" dirty="0">
                <a:solidFill>
                  <a:srgbClr val="0070C0"/>
                </a:solidFill>
                <a:latin typeface="Courier New" panose="02070309020205020404" pitchFamily="49" charset="0"/>
                <a:cs typeface="Courier New" panose="02070309020205020404" pitchFamily="49" charset="0"/>
              </a:rPr>
              <a:t>a5</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array([[ 0.059049,  0.126603,  0.211167],</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[ 0.126603,  0.271441,  0.452749],</a:t>
            </a:r>
          </a:p>
          <a:p>
            <a:pPr marL="0" indent="0" eaLnBrk="1" hangingPunct="1">
              <a:lnSpc>
                <a:spcPts val="2200"/>
              </a:lnSpc>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[ 0.211167,  0.452749,  0.755161]])</a:t>
            </a:r>
          </a:p>
        </p:txBody>
      </p:sp>
      <p:sp>
        <p:nvSpPr>
          <p:cNvPr id="2" name="Date Placeholder 1"/>
          <p:cNvSpPr>
            <a:spLocks noGrp="1"/>
          </p:cNvSpPr>
          <p:nvPr>
            <p:ph type="dt" sz="half" idx="10"/>
          </p:nvPr>
        </p:nvSpPr>
        <p:spPr/>
        <p:txBody>
          <a:bodyPr/>
          <a:lstStyle/>
          <a:p>
            <a:pPr>
              <a:defRPr/>
            </a:pPr>
            <a:fld id="{1E05623D-FFDF-474C-BD78-E5689198D9B5}"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78</a:t>
            </a:fld>
            <a:endParaRPr lang="en-US"/>
          </a:p>
        </p:txBody>
      </p:sp>
    </p:spTree>
    <p:extLst>
      <p:ext uri="{BB962C8B-B14F-4D97-AF65-F5344CB8AC3E}">
        <p14:creationId xmlns:p14="http://schemas.microsoft.com/office/powerpoint/2010/main" val="16534567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Linear Algebra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a:t>Many other methods available in </a:t>
            </a:r>
            <a:r>
              <a:rPr lang="en-US" altLang="en-US" sz="2800" b="1" dirty="0" err="1"/>
              <a:t>numpy.linalg</a:t>
            </a:r>
            <a:endParaRPr lang="en-US" altLang="en-US" sz="2800" b="1" i="1" dirty="0"/>
          </a:p>
          <a:p>
            <a:pPr lvl="1" eaLnBrk="1" hangingPunct="1">
              <a:spcBef>
                <a:spcPts val="0"/>
              </a:spcBef>
            </a:pPr>
            <a:endParaRPr lang="en-US" altLang="en-US" sz="800" dirty="0"/>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import </a:t>
            </a:r>
            <a:r>
              <a:rPr lang="en-US" altLang="en-US" sz="2000" b="1" dirty="0" err="1">
                <a:latin typeface="Courier New" panose="02070309020205020404" pitchFamily="49" charset="0"/>
                <a:cs typeface="Courier New" panose="02070309020205020404" pitchFamily="49" charset="0"/>
              </a:rPr>
              <a:t>numpy.linalg</a:t>
            </a:r>
            <a:r>
              <a:rPr lang="en-US" altLang="en-US" sz="2000" b="1" dirty="0">
                <a:latin typeface="Courier New" panose="02070309020205020404" pitchFamily="49" charset="0"/>
                <a:cs typeface="Courier New" panose="02070309020205020404" pitchFamily="49" charset="0"/>
              </a:rPr>
              <a:t> as la</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a6 = </a:t>
            </a:r>
            <a:r>
              <a:rPr lang="en-US" altLang="en-US" sz="2000" b="1" dirty="0" err="1">
                <a:latin typeface="Courier New" panose="02070309020205020404" pitchFamily="49" charset="0"/>
                <a:cs typeface="Courier New" panose="02070309020205020404" pitchFamily="49" charset="0"/>
              </a:rPr>
              <a:t>np.random.randn</a:t>
            </a:r>
            <a:r>
              <a:rPr lang="en-US" altLang="en-US" sz="2000" b="1" dirty="0">
                <a:latin typeface="Courier New" panose="02070309020205020404" pitchFamily="49" charset="0"/>
                <a:cs typeface="Courier New" panose="02070309020205020404" pitchFamily="49" charset="0"/>
              </a:rPr>
              <a:t>(3,3).round(2)</a:t>
            </a:r>
          </a:p>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a:t>
            </a: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a6</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array([[-0.33,  1.06,  1.55],</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[-1.14,  1.38, -1.13],</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[ 0.21, -1.68,  0.78]])</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t>
            </a:r>
            <a:r>
              <a:rPr lang="en-US" altLang="en-US" sz="2000" b="1" dirty="0" err="1">
                <a:solidFill>
                  <a:srgbClr val="0070C0"/>
                </a:solidFill>
                <a:latin typeface="Courier New" panose="02070309020205020404" pitchFamily="49" charset="0"/>
                <a:cs typeface="Courier New" panose="02070309020205020404" pitchFamily="49" charset="0"/>
              </a:rPr>
              <a:t>la.inv</a:t>
            </a:r>
            <a:r>
              <a:rPr lang="en-US" altLang="en-US" sz="2000" b="1" dirty="0">
                <a:solidFill>
                  <a:srgbClr val="0070C0"/>
                </a:solidFill>
                <a:latin typeface="Courier New" panose="02070309020205020404" pitchFamily="49" charset="0"/>
                <a:cs typeface="Courier New" panose="02070309020205020404" pitchFamily="49" charset="0"/>
              </a:rPr>
              <a:t>(a6)    </a:t>
            </a:r>
            <a:r>
              <a:rPr lang="en-US" altLang="en-US" sz="2000" dirty="0">
                <a:solidFill>
                  <a:srgbClr val="0070C0"/>
                </a:solidFill>
                <a:latin typeface="Courier New" panose="02070309020205020404" pitchFamily="49" charset="0"/>
                <a:cs typeface="Courier New" panose="02070309020205020404" pitchFamily="49" charset="0"/>
              </a:rPr>
              <a:t># inverse</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array([[-0.23609536, -0.98539655, -0.95839781],</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[ 0.18723913, -0.16742091, -0.61462344],</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       [ 0.46684842, -0.09529981,  0.21627714]])</a:t>
            </a:r>
            <a:endParaRPr lang="en-US" altLang="en-US" sz="2000" dirty="0">
              <a:solidFill>
                <a:srgbClr val="FF000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37B16CC7-EC6C-4372-9EB5-2D591C3E79D9}"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79</a:t>
            </a:fld>
            <a:endParaRPr lang="en-US"/>
          </a:p>
        </p:txBody>
      </p:sp>
    </p:spTree>
    <p:extLst>
      <p:ext uri="{BB962C8B-B14F-4D97-AF65-F5344CB8AC3E}">
        <p14:creationId xmlns:p14="http://schemas.microsoft.com/office/powerpoint/2010/main" val="7434960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Linear Algebra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marL="0" indent="0" eaLnBrk="1" hangingPunct="1">
              <a:spcBef>
                <a:spcPts val="0"/>
              </a:spcBef>
              <a:buNone/>
            </a:pPr>
            <a:r>
              <a:rPr lang="en-US" altLang="en-US" sz="2000" b="1" dirty="0">
                <a:latin typeface="Courier New" panose="02070309020205020404" pitchFamily="49" charset="0"/>
                <a:cs typeface="Courier New" panose="02070309020205020404" pitchFamily="49" charset="0"/>
              </a:rPr>
              <a:t>&gt;&gt;&gt; a6.dot(</a:t>
            </a:r>
            <a:r>
              <a:rPr lang="en-US" altLang="en-US" sz="2000" b="1" dirty="0" err="1">
                <a:latin typeface="Courier New" panose="02070309020205020404" pitchFamily="49" charset="0"/>
                <a:cs typeface="Courier New" panose="02070309020205020404" pitchFamily="49" charset="0"/>
              </a:rPr>
              <a:t>la.inv</a:t>
            </a:r>
            <a:r>
              <a:rPr lang="en-US" altLang="en-US" sz="2000" b="1" dirty="0">
                <a:latin typeface="Courier New" panose="02070309020205020404" pitchFamily="49" charset="0"/>
                <a:cs typeface="Courier New" panose="02070309020205020404" pitchFamily="49" charset="0"/>
              </a:rPr>
              <a:t>(a6)).round(15)</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array([[ 1.,  0.,  0.],</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[ 0.,  1., -0.],</a:t>
            </a:r>
          </a:p>
          <a:p>
            <a:pPr marL="0" indent="0" eaLnBrk="1" hangingPunct="1">
              <a:spcBef>
                <a:spcPts val="0"/>
              </a:spcBef>
              <a:buNone/>
            </a:pPr>
            <a:r>
              <a:rPr lang="en-US" altLang="en-US" sz="2000" dirty="0">
                <a:latin typeface="Courier New" panose="02070309020205020404" pitchFamily="49" charset="0"/>
                <a:cs typeface="Courier New" panose="02070309020205020404" pitchFamily="49" charset="0"/>
              </a:rPr>
              <a:t>       [ 0.,  0.,  1.]])</a:t>
            </a:r>
          </a:p>
          <a:p>
            <a:pPr marL="0" indent="0" eaLnBrk="1" hangingPunct="1">
              <a:spcBef>
                <a:spcPts val="0"/>
              </a:spcBef>
              <a:buNone/>
            </a:pPr>
            <a:r>
              <a:rPr lang="en-US" altLang="en-US" sz="2000" b="1" dirty="0">
                <a:solidFill>
                  <a:srgbClr val="0070C0"/>
                </a:solidFill>
                <a:latin typeface="Courier New" panose="02070309020205020404" pitchFamily="49" charset="0"/>
                <a:cs typeface="Courier New" panose="02070309020205020404" pitchFamily="49" charset="0"/>
              </a:rPr>
              <a:t>&gt;&gt;&gt; </a:t>
            </a:r>
            <a:r>
              <a:rPr lang="en-US" altLang="en-US" sz="2000" b="1" dirty="0" err="1">
                <a:solidFill>
                  <a:srgbClr val="0070C0"/>
                </a:solidFill>
                <a:latin typeface="Courier New" panose="02070309020205020404" pitchFamily="49" charset="0"/>
                <a:cs typeface="Courier New" panose="02070309020205020404" pitchFamily="49" charset="0"/>
              </a:rPr>
              <a:t>la.det</a:t>
            </a:r>
            <a:r>
              <a:rPr lang="en-US" altLang="en-US" sz="2000" b="1" dirty="0">
                <a:solidFill>
                  <a:srgbClr val="0070C0"/>
                </a:solidFill>
                <a:latin typeface="Courier New" panose="02070309020205020404" pitchFamily="49" charset="0"/>
                <a:cs typeface="Courier New" panose="02070309020205020404" pitchFamily="49" charset="0"/>
              </a:rPr>
              <a:t>(a6)         </a:t>
            </a:r>
            <a:r>
              <a:rPr lang="en-US" altLang="en-US" sz="2000" dirty="0">
                <a:solidFill>
                  <a:srgbClr val="0070C0"/>
                </a:solidFill>
                <a:latin typeface="Courier New" panose="02070309020205020404" pitchFamily="49" charset="0"/>
                <a:cs typeface="Courier New" panose="02070309020205020404" pitchFamily="49" charset="0"/>
              </a:rPr>
              <a:t># determinant</a:t>
            </a:r>
          </a:p>
          <a:p>
            <a:pPr marL="0" indent="0" eaLnBrk="1" hangingPunct="1">
              <a:spcBef>
                <a:spcPts val="0"/>
              </a:spcBef>
              <a:buNone/>
            </a:pPr>
            <a:r>
              <a:rPr lang="en-US" altLang="en-US" sz="2000" dirty="0">
                <a:solidFill>
                  <a:srgbClr val="0070C0"/>
                </a:solidFill>
                <a:latin typeface="Courier New" panose="02070309020205020404" pitchFamily="49" charset="0"/>
                <a:cs typeface="Courier New" panose="02070309020205020404" pitchFamily="49" charset="0"/>
              </a:rPr>
              <a:t>3.4816439999999997</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b = </a:t>
            </a:r>
            <a:r>
              <a:rPr lang="en-US" altLang="en-US" sz="2000" b="1" dirty="0" err="1">
                <a:solidFill>
                  <a:srgbClr val="FF0000"/>
                </a:solidFill>
                <a:latin typeface="Courier New" panose="02070309020205020404" pitchFamily="49" charset="0"/>
                <a:cs typeface="Courier New" panose="02070309020205020404" pitchFamily="49" charset="0"/>
              </a:rPr>
              <a:t>np.array</a:t>
            </a:r>
            <a:r>
              <a:rPr lang="en-US" altLang="en-US" sz="2000" b="1" dirty="0">
                <a:solidFill>
                  <a:srgbClr val="FF0000"/>
                </a:solidFill>
                <a:latin typeface="Courier New" panose="02070309020205020404" pitchFamily="49" charset="0"/>
                <a:cs typeface="Courier New" panose="02070309020205020404" pitchFamily="49" charset="0"/>
              </a:rPr>
              <a:t>([1,1,1])</a:t>
            </a:r>
          </a:p>
          <a:p>
            <a:pPr marL="0" indent="0" eaLnBrk="1" hangingPunct="1">
              <a:spcBef>
                <a:spcPts val="0"/>
              </a:spcBef>
              <a:buNone/>
            </a:pPr>
            <a:r>
              <a:rPr lang="en-US" altLang="en-US" sz="2000" b="1" dirty="0">
                <a:solidFill>
                  <a:srgbClr val="FF0000"/>
                </a:solidFill>
                <a:latin typeface="Courier New" panose="02070309020205020404" pitchFamily="49" charset="0"/>
                <a:cs typeface="Courier New" panose="02070309020205020404" pitchFamily="49" charset="0"/>
              </a:rPr>
              <a:t>&gt;&gt;&gt;</a:t>
            </a:r>
            <a:r>
              <a:rPr lang="en-US" altLang="en-US" sz="2000" dirty="0">
                <a:solidFill>
                  <a:srgbClr val="FF0000"/>
                </a:solidFill>
                <a:latin typeface="Courier New" panose="02070309020205020404" pitchFamily="49" charset="0"/>
                <a:cs typeface="Courier New" panose="02070309020205020404" pitchFamily="49" charset="0"/>
              </a:rPr>
              <a:t> </a:t>
            </a:r>
            <a:r>
              <a:rPr lang="en-US" altLang="en-US" sz="2000" b="1" dirty="0" err="1">
                <a:solidFill>
                  <a:srgbClr val="FF0000"/>
                </a:solidFill>
                <a:latin typeface="Courier New" panose="02070309020205020404" pitchFamily="49" charset="0"/>
                <a:cs typeface="Courier New" panose="02070309020205020404" pitchFamily="49" charset="0"/>
              </a:rPr>
              <a:t>la.solve</a:t>
            </a:r>
            <a:r>
              <a:rPr lang="en-US" altLang="en-US" sz="2000" b="1" dirty="0">
                <a:solidFill>
                  <a:srgbClr val="FF0000"/>
                </a:solidFill>
                <a:latin typeface="Courier New" panose="02070309020205020404" pitchFamily="49" charset="0"/>
                <a:cs typeface="Courier New" panose="02070309020205020404" pitchFamily="49" charset="0"/>
              </a:rPr>
              <a:t>(a6, b)</a:t>
            </a:r>
            <a:r>
              <a:rPr lang="en-US" altLang="en-US" sz="2000" dirty="0">
                <a:solidFill>
                  <a:srgbClr val="FF0000"/>
                </a:solidFill>
                <a:latin typeface="Courier New" panose="02070309020205020404" pitchFamily="49" charset="0"/>
                <a:cs typeface="Courier New" panose="02070309020205020404" pitchFamily="49" charset="0"/>
              </a:rPr>
              <a:t>   # solve Ax = b</a:t>
            </a:r>
          </a:p>
          <a:p>
            <a:pPr marL="0" indent="0" eaLnBrk="1" hangingPunct="1">
              <a:spcBef>
                <a:spcPts val="0"/>
              </a:spcBef>
              <a:buNone/>
            </a:pPr>
            <a:r>
              <a:rPr lang="en-US" altLang="en-US" sz="2000" dirty="0">
                <a:solidFill>
                  <a:srgbClr val="FF0000"/>
                </a:solidFill>
                <a:latin typeface="Courier New" panose="02070309020205020404" pitchFamily="49" charset="0"/>
                <a:cs typeface="Courier New" panose="02070309020205020404" pitchFamily="49" charset="0"/>
              </a:rPr>
              <a:t>array([-2.17988973, -0.59480521,  0.58782575])</a:t>
            </a:r>
          </a:p>
          <a:p>
            <a:pPr marL="0" indent="0" eaLnBrk="1" hangingPunct="1">
              <a:spcBef>
                <a:spcPts val="0"/>
              </a:spcBef>
              <a:buNone/>
            </a:pPr>
            <a:endParaRPr lang="en-US" altLang="en-US" sz="2000" dirty="0">
              <a:solidFill>
                <a:srgbClr val="FF0000"/>
              </a:solidFill>
              <a:latin typeface="Courier New" panose="02070309020205020404" pitchFamily="49" charset="0"/>
              <a:cs typeface="Courier New" panose="02070309020205020404" pitchFamily="49" charset="0"/>
            </a:endParaRPr>
          </a:p>
        </p:txBody>
      </p:sp>
      <p:sp>
        <p:nvSpPr>
          <p:cNvPr id="2" name="Date Placeholder 1"/>
          <p:cNvSpPr>
            <a:spLocks noGrp="1"/>
          </p:cNvSpPr>
          <p:nvPr>
            <p:ph type="dt" sz="half" idx="10"/>
          </p:nvPr>
        </p:nvSpPr>
        <p:spPr/>
        <p:txBody>
          <a:bodyPr/>
          <a:lstStyle/>
          <a:p>
            <a:pPr>
              <a:defRPr/>
            </a:pPr>
            <a:fld id="{56593193-1E36-4D13-BAC6-9CAA0800F42F}"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80</a:t>
            </a:fld>
            <a:endParaRPr lang="en-US"/>
          </a:p>
        </p:txBody>
      </p:sp>
    </p:spTree>
    <p:extLst>
      <p:ext uri="{BB962C8B-B14F-4D97-AF65-F5344CB8AC3E}">
        <p14:creationId xmlns:p14="http://schemas.microsoft.com/office/powerpoint/2010/main" val="4721650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More </a:t>
            </a:r>
            <a:r>
              <a:rPr lang="en-US" altLang="en-US" dirty="0" err="1"/>
              <a:t>NumPy</a:t>
            </a:r>
            <a:endParaRPr lang="en-US" altLang="en-US" dirty="0"/>
          </a:p>
        </p:txBody>
      </p:sp>
      <p:sp>
        <p:nvSpPr>
          <p:cNvPr id="24579" name="Rectangle 3"/>
          <p:cNvSpPr>
            <a:spLocks noGrp="1" noChangeArrowheads="1"/>
          </p:cNvSpPr>
          <p:nvPr>
            <p:ph type="body" idx="1"/>
          </p:nvPr>
        </p:nvSpPr>
        <p:spPr/>
        <p:txBody>
          <a:bodyPr/>
          <a:lstStyle/>
          <a:p>
            <a:pPr eaLnBrk="1" hangingPunct="1">
              <a:spcBef>
                <a:spcPts val="0"/>
              </a:spcBef>
            </a:pPr>
            <a:r>
              <a:rPr lang="en-US" altLang="en-US" sz="2800" dirty="0" err="1"/>
              <a:t>NumPy</a:t>
            </a:r>
            <a:r>
              <a:rPr lang="en-US" altLang="en-US" sz="2800" dirty="0"/>
              <a:t> offers many other facilities/methods</a:t>
            </a:r>
            <a:endParaRPr lang="en-US" altLang="en-US" sz="2800" b="1" dirty="0"/>
          </a:p>
          <a:p>
            <a:pPr lvl="1" eaLnBrk="1" hangingPunct="1">
              <a:spcBef>
                <a:spcPts val="0"/>
              </a:spcBef>
            </a:pPr>
            <a:r>
              <a:rPr lang="en-US" altLang="en-US" sz="2400" dirty="0"/>
              <a:t>Vectorized array methods: </a:t>
            </a:r>
            <a:r>
              <a:rPr lang="en-US" altLang="en-US" sz="2400" b="1" dirty="0"/>
              <a:t>fabs</a:t>
            </a:r>
            <a:r>
              <a:rPr lang="en-US" altLang="en-US" sz="2400" dirty="0"/>
              <a:t>, </a:t>
            </a:r>
            <a:r>
              <a:rPr lang="en-US" altLang="en-US" sz="2400" b="1" dirty="0"/>
              <a:t>sqrt</a:t>
            </a:r>
            <a:r>
              <a:rPr lang="en-US" altLang="en-US" sz="2400" dirty="0"/>
              <a:t>, </a:t>
            </a:r>
            <a:r>
              <a:rPr lang="en-US" altLang="en-US" sz="2400" b="1" dirty="0"/>
              <a:t>exp</a:t>
            </a:r>
            <a:r>
              <a:rPr lang="en-US" altLang="en-US" sz="2400" dirty="0"/>
              <a:t>, </a:t>
            </a:r>
            <a:r>
              <a:rPr lang="en-US" altLang="en-US" sz="2400" b="1" dirty="0"/>
              <a:t>log</a:t>
            </a:r>
            <a:r>
              <a:rPr lang="en-US" altLang="en-US" sz="2400" dirty="0"/>
              <a:t>, </a:t>
            </a:r>
            <a:r>
              <a:rPr lang="en-US" altLang="en-US" sz="2400" b="1" dirty="0"/>
              <a:t>ceil</a:t>
            </a:r>
            <a:r>
              <a:rPr lang="en-US" altLang="en-US" sz="2400" dirty="0"/>
              <a:t>, </a:t>
            </a:r>
            <a:r>
              <a:rPr lang="en-US" altLang="en-US" sz="2400" b="1" dirty="0"/>
              <a:t>floor</a:t>
            </a:r>
            <a:r>
              <a:rPr lang="en-US" altLang="en-US" sz="2400" dirty="0"/>
              <a:t>, </a:t>
            </a:r>
            <a:r>
              <a:rPr lang="en-US" altLang="en-US" sz="2400" b="1" dirty="0"/>
              <a:t>sin</a:t>
            </a:r>
            <a:r>
              <a:rPr lang="en-US" altLang="en-US" sz="2400" dirty="0"/>
              <a:t>, </a:t>
            </a:r>
            <a:r>
              <a:rPr lang="en-US" altLang="en-US" sz="2400" b="1" dirty="0" err="1"/>
              <a:t>arcsin</a:t>
            </a:r>
            <a:r>
              <a:rPr lang="en-US" altLang="en-US" sz="2400" dirty="0"/>
              <a:t>, ...</a:t>
            </a:r>
          </a:p>
          <a:p>
            <a:pPr lvl="1" eaLnBrk="1" hangingPunct="1">
              <a:spcBef>
                <a:spcPts val="0"/>
              </a:spcBef>
            </a:pPr>
            <a:r>
              <a:rPr lang="en-US" altLang="en-US" sz="2400" dirty="0"/>
              <a:t>Statistical methods: </a:t>
            </a:r>
            <a:r>
              <a:rPr lang="en-US" altLang="en-US" sz="2400" b="1" dirty="0"/>
              <a:t>mean</a:t>
            </a:r>
            <a:r>
              <a:rPr lang="en-US" altLang="en-US" sz="2400" dirty="0"/>
              <a:t>, </a:t>
            </a:r>
            <a:r>
              <a:rPr lang="en-US" altLang="en-US" sz="2400" b="1" dirty="0"/>
              <a:t>sum</a:t>
            </a:r>
            <a:r>
              <a:rPr lang="en-US" altLang="en-US" sz="2400" dirty="0"/>
              <a:t>, </a:t>
            </a:r>
            <a:r>
              <a:rPr lang="en-US" altLang="en-US" sz="2400" b="1" dirty="0" err="1"/>
              <a:t>cumsum</a:t>
            </a:r>
            <a:r>
              <a:rPr lang="en-US" altLang="en-US" sz="2400" dirty="0"/>
              <a:t>, </a:t>
            </a:r>
            <a:r>
              <a:rPr lang="en-US" altLang="en-US" sz="2400" b="1" dirty="0" err="1"/>
              <a:t>std</a:t>
            </a:r>
            <a:r>
              <a:rPr lang="en-US" altLang="en-US" sz="2400" dirty="0"/>
              <a:t>, </a:t>
            </a:r>
            <a:r>
              <a:rPr lang="en-US" altLang="en-US" sz="2400" b="1" dirty="0" err="1"/>
              <a:t>var</a:t>
            </a:r>
            <a:r>
              <a:rPr lang="en-US" altLang="en-US" sz="2400" dirty="0"/>
              <a:t>, </a:t>
            </a:r>
            <a:r>
              <a:rPr lang="en-US" altLang="en-US" sz="2400" b="1" dirty="0"/>
              <a:t>min</a:t>
            </a:r>
            <a:r>
              <a:rPr lang="en-US" altLang="en-US" sz="2400" dirty="0"/>
              <a:t>, </a:t>
            </a:r>
            <a:r>
              <a:rPr lang="en-US" altLang="en-US" sz="2400" b="1" dirty="0"/>
              <a:t>max</a:t>
            </a:r>
            <a:r>
              <a:rPr lang="en-US" altLang="en-US" sz="2400" dirty="0"/>
              <a:t>, ...</a:t>
            </a:r>
          </a:p>
          <a:p>
            <a:pPr lvl="1" eaLnBrk="1" hangingPunct="1">
              <a:spcBef>
                <a:spcPts val="0"/>
              </a:spcBef>
            </a:pPr>
            <a:r>
              <a:rPr lang="en-US" altLang="en-US" sz="2400" dirty="0"/>
              <a:t>Sorting and set operations</a:t>
            </a:r>
          </a:p>
          <a:p>
            <a:pPr lvl="1" eaLnBrk="1" hangingPunct="1">
              <a:spcBef>
                <a:spcPts val="0"/>
              </a:spcBef>
            </a:pPr>
            <a:r>
              <a:rPr lang="en-US" altLang="en-US" sz="2400" dirty="0"/>
              <a:t>File input and output</a:t>
            </a:r>
          </a:p>
        </p:txBody>
      </p:sp>
      <p:sp>
        <p:nvSpPr>
          <p:cNvPr id="2" name="Date Placeholder 1"/>
          <p:cNvSpPr>
            <a:spLocks noGrp="1"/>
          </p:cNvSpPr>
          <p:nvPr>
            <p:ph type="dt" sz="half" idx="10"/>
          </p:nvPr>
        </p:nvSpPr>
        <p:spPr/>
        <p:txBody>
          <a:bodyPr/>
          <a:lstStyle/>
          <a:p>
            <a:pPr>
              <a:defRPr/>
            </a:pPr>
            <a:fld id="{41E0BABB-2A6D-466E-B033-78E91DD4D34D}"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dirty="0"/>
              <a:t>Copyright (c) John K. </a:t>
            </a:r>
            <a:r>
              <a:rPr lang="en-US" dirty="0" err="1"/>
              <a:t>Ostlund</a:t>
            </a:r>
            <a:endParaRPr lang="en-US" dirty="0"/>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81</a:t>
            </a:fld>
            <a:endParaRPr lang="en-US"/>
          </a:p>
        </p:txBody>
      </p:sp>
    </p:spTree>
    <p:extLst>
      <p:ext uri="{BB962C8B-B14F-4D97-AF65-F5344CB8AC3E}">
        <p14:creationId xmlns:p14="http://schemas.microsoft.com/office/powerpoint/2010/main" val="420759169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Week 3 Summary</a:t>
            </a:r>
          </a:p>
        </p:txBody>
      </p:sp>
      <p:sp>
        <p:nvSpPr>
          <p:cNvPr id="24579" name="Rectangle 3"/>
          <p:cNvSpPr>
            <a:spLocks noGrp="1" noChangeArrowheads="1"/>
          </p:cNvSpPr>
          <p:nvPr>
            <p:ph type="body" idx="1"/>
          </p:nvPr>
        </p:nvSpPr>
        <p:spPr/>
        <p:txBody>
          <a:bodyPr/>
          <a:lstStyle/>
          <a:p>
            <a:pPr eaLnBrk="1" hangingPunct="1"/>
            <a:r>
              <a:rPr lang="en-US" altLang="en-US" sz="2800" dirty="0"/>
              <a:t>Basic Python that we covered</a:t>
            </a:r>
          </a:p>
          <a:p>
            <a:pPr lvl="1" eaLnBrk="1" hangingPunct="1">
              <a:spcBef>
                <a:spcPts val="300"/>
              </a:spcBef>
            </a:pPr>
            <a:r>
              <a:rPr lang="en-US" altLang="en-US" sz="2400" b="1" dirty="0"/>
              <a:t>list, tuple, set, </a:t>
            </a:r>
            <a:r>
              <a:rPr lang="en-US" altLang="en-US" sz="2400" b="1" dirty="0" err="1"/>
              <a:t>dict</a:t>
            </a:r>
            <a:r>
              <a:rPr lang="en-US" altLang="en-US" sz="2400" dirty="0"/>
              <a:t> </a:t>
            </a:r>
            <a:r>
              <a:rPr lang="en-US" altLang="en-US" sz="2400" i="1" dirty="0"/>
              <a:t>construction</a:t>
            </a:r>
          </a:p>
          <a:p>
            <a:pPr lvl="2" eaLnBrk="1" hangingPunct="1">
              <a:spcBef>
                <a:spcPts val="300"/>
              </a:spcBef>
            </a:pPr>
            <a:r>
              <a:rPr lang="en-US" altLang="en-US" sz="2000" dirty="0"/>
              <a:t>From </a:t>
            </a:r>
            <a:r>
              <a:rPr lang="en-US" altLang="en-US" sz="2000" i="1" dirty="0" err="1"/>
              <a:t>iterables</a:t>
            </a:r>
            <a:endParaRPr lang="en-US" altLang="en-US" sz="2000" i="1" dirty="0"/>
          </a:p>
          <a:p>
            <a:pPr lvl="2" eaLnBrk="1" hangingPunct="1">
              <a:spcBef>
                <a:spcPts val="300"/>
              </a:spcBef>
            </a:pPr>
            <a:r>
              <a:rPr lang="en-US" altLang="en-US" sz="2000" dirty="0"/>
              <a:t>For </a:t>
            </a:r>
            <a:r>
              <a:rPr lang="en-US" altLang="en-US" sz="2000" b="1" dirty="0" err="1"/>
              <a:t>dict</a:t>
            </a:r>
            <a:r>
              <a:rPr lang="en-US" altLang="en-US" sz="2000" dirty="0"/>
              <a:t>: </a:t>
            </a:r>
            <a:r>
              <a:rPr lang="en-US" altLang="en-US" sz="2000" b="1" dirty="0"/>
              <a:t>zip()</a:t>
            </a:r>
            <a:r>
              <a:rPr lang="en-US" altLang="en-US" sz="2000" dirty="0"/>
              <a:t>, </a:t>
            </a:r>
            <a:r>
              <a:rPr lang="en-US" altLang="en-US" sz="2000" b="1" dirty="0"/>
              <a:t>enumerate()</a:t>
            </a:r>
            <a:endParaRPr lang="en-US" altLang="en-US" sz="2000" dirty="0"/>
          </a:p>
          <a:p>
            <a:pPr lvl="1" eaLnBrk="1" hangingPunct="1">
              <a:spcBef>
                <a:spcPts val="300"/>
              </a:spcBef>
            </a:pPr>
            <a:r>
              <a:rPr lang="en-US" altLang="en-US" sz="2400" i="1" dirty="0"/>
              <a:t>Comprehensions</a:t>
            </a:r>
          </a:p>
          <a:p>
            <a:pPr lvl="2" eaLnBrk="1" hangingPunct="1">
              <a:spcBef>
                <a:spcPts val="300"/>
              </a:spcBef>
            </a:pPr>
            <a:r>
              <a:rPr lang="en-US" altLang="en-US" sz="2000" dirty="0"/>
              <a:t>General form of </a:t>
            </a:r>
            <a:r>
              <a:rPr lang="en-US" altLang="en-US" sz="2000" b="1" dirty="0"/>
              <a:t>list</a:t>
            </a:r>
            <a:r>
              <a:rPr lang="en-US" altLang="en-US" sz="2000" dirty="0"/>
              <a:t> comprehension:</a:t>
            </a:r>
          </a:p>
          <a:p>
            <a:pPr lvl="2" eaLnBrk="1" hangingPunct="1">
              <a:spcBef>
                <a:spcPts val="300"/>
              </a:spcBef>
            </a:pPr>
            <a:endParaRPr lang="en-US" altLang="en-US" sz="1200" dirty="0"/>
          </a:p>
          <a:p>
            <a:pPr marL="914400" lvl="2" indent="0" eaLnBrk="1" hangingPunct="1">
              <a:spcBef>
                <a:spcPts val="300"/>
              </a:spcBef>
              <a:buNone/>
            </a:pPr>
            <a:r>
              <a:rPr lang="en-US" altLang="en-US" sz="2000" b="1" dirty="0">
                <a:latin typeface="Courier New" panose="02070309020205020404" pitchFamily="49" charset="0"/>
                <a:cs typeface="Courier New" panose="02070309020205020404" pitchFamily="49" charset="0"/>
              </a:rPr>
              <a:t>[ </a:t>
            </a:r>
            <a:r>
              <a:rPr lang="en-US" altLang="en-US" sz="2000" i="1" dirty="0">
                <a:solidFill>
                  <a:srgbClr val="0070C0"/>
                </a:solidFill>
                <a:latin typeface="Courier New" panose="02070309020205020404" pitchFamily="49" charset="0"/>
                <a:cs typeface="Courier New" panose="02070309020205020404" pitchFamily="49" charset="0"/>
              </a:rPr>
              <a:t>expr</a:t>
            </a:r>
            <a:r>
              <a:rPr lang="en-US" altLang="en-US" sz="2000" b="1" dirty="0">
                <a:latin typeface="Courier New" panose="02070309020205020404" pitchFamily="49" charset="0"/>
                <a:cs typeface="Courier New" panose="02070309020205020404" pitchFamily="49" charset="0"/>
              </a:rPr>
              <a:t> </a:t>
            </a:r>
            <a:r>
              <a:rPr lang="en-US" altLang="en-US" sz="2000" b="1" dirty="0">
                <a:solidFill>
                  <a:srgbClr val="FF0000"/>
                </a:solidFill>
                <a:latin typeface="Courier New" panose="02070309020205020404" pitchFamily="49" charset="0"/>
                <a:cs typeface="Courier New" panose="02070309020205020404" pitchFamily="49" charset="0"/>
              </a:rPr>
              <a:t>for </a:t>
            </a:r>
            <a:r>
              <a:rPr lang="en-US" altLang="en-US" sz="2000" i="1" dirty="0">
                <a:solidFill>
                  <a:srgbClr val="FF0000"/>
                </a:solidFill>
                <a:latin typeface="Courier New" panose="02070309020205020404" pitchFamily="49" charset="0"/>
                <a:cs typeface="Courier New" panose="02070309020205020404" pitchFamily="49" charset="0"/>
              </a:rPr>
              <a:t>var(s)</a:t>
            </a:r>
            <a:r>
              <a:rPr lang="en-US" altLang="en-US" sz="2000" b="1" dirty="0">
                <a:solidFill>
                  <a:srgbClr val="FF0000"/>
                </a:solidFill>
                <a:latin typeface="Courier New" panose="02070309020205020404" pitchFamily="49" charset="0"/>
                <a:cs typeface="Courier New" panose="02070309020205020404" pitchFamily="49" charset="0"/>
              </a:rPr>
              <a:t> in </a:t>
            </a:r>
            <a:r>
              <a:rPr lang="en-US" altLang="en-US" sz="2000" i="1" dirty="0" err="1">
                <a:solidFill>
                  <a:srgbClr val="FF0000"/>
                </a:solidFill>
                <a:latin typeface="Courier New" panose="02070309020205020404" pitchFamily="49" charset="0"/>
                <a:cs typeface="Courier New" panose="02070309020205020404" pitchFamily="49" charset="0"/>
              </a:rPr>
              <a:t>iter</a:t>
            </a:r>
            <a:r>
              <a:rPr lang="en-US" altLang="en-US" sz="2000" i="1" dirty="0">
                <a:latin typeface="Courier New" panose="02070309020205020404" pitchFamily="49" charset="0"/>
                <a:cs typeface="Courier New" panose="02070309020205020404" pitchFamily="49" charset="0"/>
              </a:rPr>
              <a:t> </a:t>
            </a:r>
            <a:r>
              <a:rPr lang="en-US" altLang="en-US" sz="2000" dirty="0">
                <a:solidFill>
                  <a:srgbClr val="00B050"/>
                </a:solidFill>
                <a:latin typeface="Courier New" panose="02070309020205020404" pitchFamily="49" charset="0"/>
                <a:cs typeface="Courier New" panose="02070309020205020404" pitchFamily="49" charset="0"/>
              </a:rPr>
              <a:t>[</a:t>
            </a:r>
            <a:r>
              <a:rPr lang="en-US" altLang="en-US" sz="2000" i="1" dirty="0" err="1">
                <a:solidFill>
                  <a:srgbClr val="00B050"/>
                </a:solidFill>
                <a:latin typeface="Courier New" panose="02070309020205020404" pitchFamily="49" charset="0"/>
                <a:cs typeface="Courier New" panose="02070309020205020404" pitchFamily="49" charset="0"/>
              </a:rPr>
              <a:t>for_or_if</a:t>
            </a:r>
            <a:r>
              <a:rPr lang="en-US" altLang="en-US" sz="2000" i="1" dirty="0">
                <a:solidFill>
                  <a:srgbClr val="00B050"/>
                </a:solidFill>
                <a:latin typeface="Courier New" panose="02070309020205020404" pitchFamily="49" charset="0"/>
                <a:cs typeface="Courier New" panose="02070309020205020404" pitchFamily="49" charset="0"/>
              </a:rPr>
              <a:t> ...</a:t>
            </a:r>
            <a:r>
              <a:rPr lang="en-US" altLang="en-US" sz="2000" dirty="0">
                <a:solidFill>
                  <a:srgbClr val="00B050"/>
                </a:solidFill>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a:t>
            </a:r>
            <a:endParaRPr lang="en-US" altLang="en-US" sz="2000" dirty="0"/>
          </a:p>
          <a:p>
            <a:pPr lvl="2" eaLnBrk="1" hangingPunct="1">
              <a:spcBef>
                <a:spcPts val="300"/>
              </a:spcBef>
            </a:pPr>
            <a:endParaRPr lang="en-US" altLang="en-US" sz="1200" dirty="0"/>
          </a:p>
          <a:p>
            <a:pPr lvl="2" eaLnBrk="1" hangingPunct="1">
              <a:spcBef>
                <a:spcPts val="300"/>
              </a:spcBef>
            </a:pPr>
            <a:r>
              <a:rPr lang="en-US" altLang="en-US" sz="2000" b="1" dirty="0"/>
              <a:t>set</a:t>
            </a:r>
            <a:r>
              <a:rPr lang="en-US" altLang="en-US" sz="2000" dirty="0"/>
              <a:t> comprehension:  </a:t>
            </a:r>
            <a:r>
              <a:rPr lang="en-US" altLang="en-US" sz="2000" b="1" dirty="0">
                <a:latin typeface="Courier New" panose="02070309020205020404" pitchFamily="49" charset="0"/>
                <a:cs typeface="Courier New" panose="02070309020205020404" pitchFamily="49" charset="0"/>
              </a:rPr>
              <a:t>{</a:t>
            </a:r>
            <a:r>
              <a:rPr lang="en-US" altLang="en-US" sz="2000" dirty="0">
                <a:latin typeface="Courier New" panose="02070309020205020404" pitchFamily="49" charset="0"/>
                <a:cs typeface="Courier New" panose="02070309020205020404" pitchFamily="49" charset="0"/>
              </a:rPr>
              <a:t> </a:t>
            </a:r>
            <a:r>
              <a:rPr lang="en-US" altLang="en-US" sz="2000" i="1" dirty="0">
                <a:solidFill>
                  <a:srgbClr val="0070C0"/>
                </a:solidFill>
                <a:latin typeface="Courier New" panose="02070309020205020404" pitchFamily="49" charset="0"/>
                <a:cs typeface="Courier New" panose="02070309020205020404" pitchFamily="49" charset="0"/>
              </a:rPr>
              <a:t>expr</a:t>
            </a:r>
            <a:r>
              <a:rPr lang="en-US" altLang="en-US" sz="2000" dirty="0">
                <a:latin typeface="Courier New" panose="02070309020205020404" pitchFamily="49" charset="0"/>
                <a:cs typeface="Courier New" panose="02070309020205020404" pitchFamily="49" charset="0"/>
              </a:rPr>
              <a:t> … </a:t>
            </a:r>
            <a:r>
              <a:rPr lang="en-US" altLang="en-US" sz="2000" b="1" dirty="0">
                <a:latin typeface="Courier New" panose="02070309020205020404" pitchFamily="49" charset="0"/>
                <a:cs typeface="Courier New" panose="02070309020205020404" pitchFamily="49" charset="0"/>
              </a:rPr>
              <a:t>}</a:t>
            </a:r>
            <a:endParaRPr lang="en-US" altLang="en-US" sz="2000" b="1" i="1" dirty="0">
              <a:latin typeface="Courier New" panose="02070309020205020404" pitchFamily="49" charset="0"/>
              <a:cs typeface="Courier New" panose="02070309020205020404" pitchFamily="49" charset="0"/>
            </a:endParaRPr>
          </a:p>
          <a:p>
            <a:pPr lvl="2" eaLnBrk="1" hangingPunct="1">
              <a:spcBef>
                <a:spcPts val="300"/>
              </a:spcBef>
            </a:pPr>
            <a:r>
              <a:rPr lang="en-US" altLang="en-US" sz="2000" b="1" dirty="0" err="1"/>
              <a:t>dict</a:t>
            </a:r>
            <a:r>
              <a:rPr lang="en-US" altLang="en-US" sz="2000" dirty="0"/>
              <a:t> comprehension:  </a:t>
            </a:r>
            <a:r>
              <a:rPr lang="en-US" altLang="en-US" sz="2000" b="1" dirty="0">
                <a:latin typeface="Courier New" panose="02070309020205020404" pitchFamily="49" charset="0"/>
                <a:cs typeface="Courier New" panose="02070309020205020404" pitchFamily="49" charset="0"/>
              </a:rPr>
              <a:t>{</a:t>
            </a:r>
            <a:r>
              <a:rPr lang="en-US" altLang="en-US" sz="2000" dirty="0">
                <a:latin typeface="Courier New" panose="02070309020205020404" pitchFamily="49" charset="0"/>
                <a:cs typeface="Courier New" panose="02070309020205020404" pitchFamily="49" charset="0"/>
              </a:rPr>
              <a:t> </a:t>
            </a:r>
            <a:r>
              <a:rPr lang="en-US" altLang="en-US" sz="2000" i="1" dirty="0">
                <a:solidFill>
                  <a:srgbClr val="0070C0"/>
                </a:solidFill>
                <a:latin typeface="Courier New" panose="02070309020205020404" pitchFamily="49" charset="0"/>
                <a:cs typeface="Courier New" panose="02070309020205020404" pitchFamily="49" charset="0"/>
              </a:rPr>
              <a:t>key </a:t>
            </a:r>
            <a:r>
              <a:rPr lang="en-US" altLang="en-US" sz="2000" b="1" dirty="0">
                <a:solidFill>
                  <a:srgbClr val="0070C0"/>
                </a:solidFill>
                <a:latin typeface="Courier New" panose="02070309020205020404" pitchFamily="49" charset="0"/>
                <a:cs typeface="Courier New" panose="02070309020205020404" pitchFamily="49" charset="0"/>
              </a:rPr>
              <a:t>:</a:t>
            </a:r>
            <a:r>
              <a:rPr lang="en-US" altLang="en-US" sz="2000" i="1" dirty="0">
                <a:solidFill>
                  <a:srgbClr val="0070C0"/>
                </a:solidFill>
                <a:latin typeface="Courier New" panose="02070309020205020404" pitchFamily="49" charset="0"/>
                <a:cs typeface="Courier New" panose="02070309020205020404" pitchFamily="49" charset="0"/>
              </a:rPr>
              <a:t> value</a:t>
            </a:r>
            <a:r>
              <a:rPr lang="en-US" altLang="en-US" sz="2000" dirty="0">
                <a:latin typeface="Courier New" panose="02070309020205020404" pitchFamily="49" charset="0"/>
                <a:cs typeface="Courier New" panose="02070309020205020404" pitchFamily="49" charset="0"/>
              </a:rPr>
              <a:t> … </a:t>
            </a:r>
            <a:r>
              <a:rPr lang="en-US" altLang="en-US" sz="2000" b="1" dirty="0">
                <a:latin typeface="Courier New" panose="02070309020205020404" pitchFamily="49" charset="0"/>
                <a:cs typeface="Courier New" panose="02070309020205020404" pitchFamily="49" charset="0"/>
              </a:rPr>
              <a:t>}</a:t>
            </a:r>
            <a:endParaRPr lang="en-US" altLang="en-US" sz="2000" b="1" i="1" dirty="0">
              <a:latin typeface="Courier New" panose="02070309020205020404" pitchFamily="49" charset="0"/>
              <a:cs typeface="Courier New" panose="02070309020205020404" pitchFamily="49" charset="0"/>
            </a:endParaRPr>
          </a:p>
          <a:p>
            <a:pPr lvl="2" eaLnBrk="1" hangingPunct="1">
              <a:spcBef>
                <a:spcPts val="300"/>
              </a:spcBef>
            </a:pPr>
            <a:r>
              <a:rPr lang="en-US" altLang="en-US" sz="2000" i="1" dirty="0"/>
              <a:t>No</a:t>
            </a:r>
            <a:r>
              <a:rPr lang="en-US" altLang="en-US" sz="2000" dirty="0"/>
              <a:t> </a:t>
            </a:r>
            <a:r>
              <a:rPr lang="en-US" altLang="en-US" sz="2000" b="1" dirty="0"/>
              <a:t>tuple</a:t>
            </a:r>
            <a:r>
              <a:rPr lang="en-US" altLang="en-US" sz="2000" dirty="0"/>
              <a:t> </a:t>
            </a:r>
            <a:r>
              <a:rPr lang="en-US" altLang="en-US" sz="2000" dirty="0" err="1"/>
              <a:t>comprension</a:t>
            </a:r>
            <a:r>
              <a:rPr lang="en-US" altLang="en-US" sz="2000" dirty="0"/>
              <a:t>: produces a </a:t>
            </a:r>
            <a:r>
              <a:rPr lang="en-US" altLang="en-US" sz="2000" i="1" dirty="0"/>
              <a:t>generator</a:t>
            </a:r>
            <a:r>
              <a:rPr lang="en-US" altLang="en-US" sz="2000" dirty="0"/>
              <a:t> instead</a:t>
            </a:r>
            <a:endParaRPr lang="en-US" altLang="en-US" sz="2400" dirty="0"/>
          </a:p>
          <a:p>
            <a:pPr lvl="2" eaLnBrk="1" hangingPunct="1">
              <a:spcBef>
                <a:spcPts val="300"/>
              </a:spcBef>
            </a:pPr>
            <a:endParaRPr lang="en-US" altLang="en-US" sz="2000" dirty="0"/>
          </a:p>
        </p:txBody>
      </p:sp>
      <p:sp>
        <p:nvSpPr>
          <p:cNvPr id="2" name="Date Placeholder 1"/>
          <p:cNvSpPr>
            <a:spLocks noGrp="1"/>
          </p:cNvSpPr>
          <p:nvPr>
            <p:ph type="dt" sz="half" idx="10"/>
          </p:nvPr>
        </p:nvSpPr>
        <p:spPr/>
        <p:txBody>
          <a:bodyPr/>
          <a:lstStyle/>
          <a:p>
            <a:pPr>
              <a:defRPr/>
            </a:pPr>
            <a:fld id="{FFF6099A-CC38-427F-9DE6-FE33CBEDA8C3}"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82</a:t>
            </a:fld>
            <a:endParaRPr lang="en-US"/>
          </a:p>
        </p:txBody>
      </p:sp>
    </p:spTree>
    <p:extLst>
      <p:ext uri="{BB962C8B-B14F-4D97-AF65-F5344CB8AC3E}">
        <p14:creationId xmlns:p14="http://schemas.microsoft.com/office/powerpoint/2010/main" val="32478845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Week 3 Summary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lvl="1" eaLnBrk="1" hangingPunct="1">
              <a:spcBef>
                <a:spcPts val="300"/>
              </a:spcBef>
            </a:pPr>
            <a:r>
              <a:rPr lang="en-US" altLang="en-US" sz="2400" dirty="0"/>
              <a:t>Text File I/O</a:t>
            </a:r>
          </a:p>
          <a:p>
            <a:pPr lvl="2" eaLnBrk="1" hangingPunct="1">
              <a:spcBef>
                <a:spcPts val="300"/>
              </a:spcBef>
            </a:pPr>
            <a:r>
              <a:rPr lang="en-US" altLang="en-US" sz="2000" b="1" dirty="0"/>
              <a:t>open()</a:t>
            </a:r>
            <a:r>
              <a:rPr lang="en-US" altLang="en-US" sz="2000" dirty="0"/>
              <a:t>, </a:t>
            </a:r>
            <a:r>
              <a:rPr lang="en-US" altLang="en-US" sz="2000" b="1" dirty="0"/>
              <a:t>write()</a:t>
            </a:r>
            <a:r>
              <a:rPr lang="en-US" altLang="en-US" sz="2000" dirty="0"/>
              <a:t>, </a:t>
            </a:r>
            <a:r>
              <a:rPr lang="en-US" altLang="en-US" sz="2000" b="1" dirty="0"/>
              <a:t>close()</a:t>
            </a:r>
          </a:p>
          <a:p>
            <a:pPr lvl="1" eaLnBrk="1" hangingPunct="1">
              <a:spcBef>
                <a:spcPts val="300"/>
              </a:spcBef>
            </a:pPr>
            <a:r>
              <a:rPr lang="en-US" altLang="en-US" sz="2400" dirty="0"/>
              <a:t>Function definitions</a:t>
            </a:r>
          </a:p>
          <a:p>
            <a:pPr lvl="2" eaLnBrk="1" hangingPunct="1">
              <a:spcBef>
                <a:spcPts val="300"/>
              </a:spcBef>
            </a:pPr>
            <a:r>
              <a:rPr lang="en-US" altLang="en-US" sz="2000" dirty="0"/>
              <a:t>Optional </a:t>
            </a:r>
            <a:r>
              <a:rPr lang="en-US" altLang="en-US" sz="2000" i="1" dirty="0"/>
              <a:t>docstring</a:t>
            </a:r>
          </a:p>
          <a:p>
            <a:pPr lvl="2" eaLnBrk="1" hangingPunct="1">
              <a:spcBef>
                <a:spcPts val="300"/>
              </a:spcBef>
            </a:pPr>
            <a:r>
              <a:rPr lang="en-US" altLang="en-US" sz="2000" i="1" dirty="0"/>
              <a:t>Positional</a:t>
            </a:r>
            <a:r>
              <a:rPr lang="en-US" altLang="en-US" sz="2000" dirty="0"/>
              <a:t> and </a:t>
            </a:r>
            <a:r>
              <a:rPr lang="en-US" altLang="en-US" sz="2000" i="1" dirty="0"/>
              <a:t>keyword</a:t>
            </a:r>
            <a:r>
              <a:rPr lang="en-US" altLang="en-US" sz="2000" dirty="0"/>
              <a:t> parameters</a:t>
            </a:r>
          </a:p>
          <a:p>
            <a:pPr lvl="2" eaLnBrk="1" hangingPunct="1">
              <a:spcBef>
                <a:spcPts val="300"/>
              </a:spcBef>
            </a:pPr>
            <a:r>
              <a:rPr lang="en-US" altLang="en-US" sz="2000" i="1" dirty="0"/>
              <a:t>Global</a:t>
            </a:r>
            <a:r>
              <a:rPr lang="en-US" altLang="en-US" sz="2000" dirty="0"/>
              <a:t> vs. </a:t>
            </a:r>
            <a:r>
              <a:rPr lang="en-US" altLang="en-US" sz="2000" i="1" dirty="0"/>
              <a:t>local</a:t>
            </a:r>
            <a:r>
              <a:rPr lang="en-US" altLang="en-US" sz="2000" dirty="0"/>
              <a:t> variables</a:t>
            </a:r>
          </a:p>
          <a:p>
            <a:pPr lvl="2" eaLnBrk="1" hangingPunct="1">
              <a:spcBef>
                <a:spcPts val="300"/>
              </a:spcBef>
            </a:pPr>
            <a:r>
              <a:rPr lang="en-US" altLang="en-US" sz="2000" dirty="0"/>
              <a:t>New </a:t>
            </a:r>
            <a:r>
              <a:rPr lang="en-US" altLang="en-US" sz="2000" i="1" dirty="0"/>
              <a:t>symbol table</a:t>
            </a:r>
            <a:r>
              <a:rPr lang="en-US" altLang="en-US" sz="2000" dirty="0"/>
              <a:t> for each function call</a:t>
            </a:r>
          </a:p>
          <a:p>
            <a:pPr lvl="2" eaLnBrk="1" hangingPunct="1">
              <a:spcBef>
                <a:spcPts val="300"/>
              </a:spcBef>
            </a:pPr>
            <a:r>
              <a:rPr lang="en-US" altLang="en-US" sz="2000" b="1" dirty="0"/>
              <a:t>return</a:t>
            </a:r>
            <a:r>
              <a:rPr lang="en-US" altLang="en-US" sz="2000" dirty="0"/>
              <a:t> statement (or not!)</a:t>
            </a:r>
          </a:p>
          <a:p>
            <a:pPr lvl="1" eaLnBrk="1" hangingPunct="1">
              <a:spcBef>
                <a:spcPts val="300"/>
              </a:spcBef>
            </a:pPr>
            <a:r>
              <a:rPr lang="en-US" altLang="en-US" sz="2400" dirty="0"/>
              <a:t>Recursion</a:t>
            </a:r>
            <a:endParaRPr lang="en-US" altLang="en-US" sz="2400" i="1" dirty="0"/>
          </a:p>
          <a:p>
            <a:pPr lvl="2" eaLnBrk="1" hangingPunct="1">
              <a:spcBef>
                <a:spcPts val="300"/>
              </a:spcBef>
            </a:pPr>
            <a:r>
              <a:rPr lang="en-US" altLang="en-US" sz="2000" dirty="0"/>
              <a:t>Stopping condition: the "nothing to do" case</a:t>
            </a:r>
          </a:p>
          <a:p>
            <a:pPr lvl="2" eaLnBrk="1" hangingPunct="1">
              <a:spcBef>
                <a:spcPts val="300"/>
              </a:spcBef>
            </a:pPr>
            <a:r>
              <a:rPr lang="en-US" altLang="en-US" sz="2000" dirty="0"/>
              <a:t>Otherwise, break problem into </a:t>
            </a:r>
            <a:r>
              <a:rPr lang="en-US" altLang="en-US" sz="2000" i="1" dirty="0"/>
              <a:t>simple part</a:t>
            </a:r>
            <a:r>
              <a:rPr lang="en-US" altLang="en-US" sz="2000" dirty="0"/>
              <a:t> (solve directly) and </a:t>
            </a:r>
            <a:r>
              <a:rPr lang="en-US" altLang="en-US" sz="2000" i="1" dirty="0"/>
              <a:t>hard part</a:t>
            </a:r>
            <a:r>
              <a:rPr lang="en-US" altLang="en-US" sz="2000" dirty="0"/>
              <a:t> (solve with recursive function call)</a:t>
            </a:r>
          </a:p>
          <a:p>
            <a:pPr marL="914400" lvl="2" indent="0" eaLnBrk="1" hangingPunct="1">
              <a:spcBef>
                <a:spcPts val="300"/>
              </a:spcBef>
              <a:buNone/>
            </a:pPr>
            <a:endParaRPr lang="en-US" altLang="en-US" sz="2000" b="1" dirty="0"/>
          </a:p>
          <a:p>
            <a:pPr marL="457200" lvl="1" indent="0" eaLnBrk="1" hangingPunct="1">
              <a:spcBef>
                <a:spcPts val="300"/>
              </a:spcBef>
              <a:buNone/>
            </a:pPr>
            <a:endParaRPr lang="en-US" altLang="en-US" sz="2400" dirty="0"/>
          </a:p>
          <a:p>
            <a:pPr lvl="2" eaLnBrk="1" hangingPunct="1">
              <a:spcBef>
                <a:spcPts val="300"/>
              </a:spcBef>
            </a:pPr>
            <a:endParaRPr lang="en-US" altLang="en-US" sz="2000" dirty="0"/>
          </a:p>
        </p:txBody>
      </p:sp>
      <p:sp>
        <p:nvSpPr>
          <p:cNvPr id="2" name="Date Placeholder 1"/>
          <p:cNvSpPr>
            <a:spLocks noGrp="1"/>
          </p:cNvSpPr>
          <p:nvPr>
            <p:ph type="dt" sz="half" idx="10"/>
          </p:nvPr>
        </p:nvSpPr>
        <p:spPr/>
        <p:txBody>
          <a:bodyPr/>
          <a:lstStyle/>
          <a:p>
            <a:pPr>
              <a:defRPr/>
            </a:pPr>
            <a:fld id="{FFF6099A-CC38-427F-9DE6-FE33CBEDA8C3}" type="datetime1">
              <a:rPr lang="en-US" smtClean="0"/>
              <a:t>7/10/2021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83</a:t>
            </a:fld>
            <a:endParaRPr lang="en-US"/>
          </a:p>
        </p:txBody>
      </p:sp>
    </p:spTree>
    <p:extLst>
      <p:ext uri="{BB962C8B-B14F-4D97-AF65-F5344CB8AC3E}">
        <p14:creationId xmlns:p14="http://schemas.microsoft.com/office/powerpoint/2010/main" val="22371862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Week 3 Summary (</a:t>
            </a:r>
            <a:r>
              <a:rPr lang="en-US" altLang="en-US" dirty="0" err="1"/>
              <a:t>cont</a:t>
            </a:r>
            <a:r>
              <a:rPr lang="en-US" altLang="en-US" dirty="0"/>
              <a:t>)</a:t>
            </a:r>
          </a:p>
        </p:txBody>
      </p:sp>
      <p:sp>
        <p:nvSpPr>
          <p:cNvPr id="24579" name="Rectangle 3"/>
          <p:cNvSpPr>
            <a:spLocks noGrp="1" noChangeArrowheads="1"/>
          </p:cNvSpPr>
          <p:nvPr>
            <p:ph type="body" idx="1"/>
          </p:nvPr>
        </p:nvSpPr>
        <p:spPr/>
        <p:txBody>
          <a:bodyPr/>
          <a:lstStyle/>
          <a:p>
            <a:pPr lvl="1" eaLnBrk="1" hangingPunct="1">
              <a:spcBef>
                <a:spcPts val="300"/>
              </a:spcBef>
            </a:pPr>
            <a:r>
              <a:rPr lang="en-US" altLang="en-US" sz="2400" dirty="0"/>
              <a:t>NumPy</a:t>
            </a:r>
          </a:p>
          <a:p>
            <a:pPr lvl="2" eaLnBrk="1" hangingPunct="1">
              <a:spcBef>
                <a:spcPts val="300"/>
              </a:spcBef>
            </a:pPr>
            <a:r>
              <a:rPr lang="en-US" altLang="en-US" sz="2000" b="1" dirty="0" err="1"/>
              <a:t>ndarray</a:t>
            </a:r>
            <a:r>
              <a:rPr lang="en-US" altLang="en-US" sz="2000" dirty="0"/>
              <a:t>: efficient array in contiguous memory</a:t>
            </a:r>
          </a:p>
          <a:p>
            <a:pPr lvl="2" eaLnBrk="1" hangingPunct="1">
              <a:spcBef>
                <a:spcPts val="300"/>
              </a:spcBef>
            </a:pPr>
            <a:r>
              <a:rPr lang="en-US" altLang="en-US" sz="2000" dirty="0"/>
              <a:t>Creation, and conversion to/from other collection types</a:t>
            </a:r>
          </a:p>
          <a:p>
            <a:pPr lvl="2" eaLnBrk="1" hangingPunct="1">
              <a:spcBef>
                <a:spcPts val="300"/>
              </a:spcBef>
            </a:pPr>
            <a:r>
              <a:rPr lang="en-US" altLang="en-US" sz="2000" dirty="0"/>
              <a:t>Vector-style arithmetic operations</a:t>
            </a:r>
          </a:p>
          <a:p>
            <a:pPr lvl="2" eaLnBrk="1" hangingPunct="1">
              <a:spcBef>
                <a:spcPts val="300"/>
              </a:spcBef>
            </a:pPr>
            <a:r>
              <a:rPr lang="en-US" altLang="en-US" sz="2000" dirty="0"/>
              <a:t>An </a:t>
            </a:r>
            <a:r>
              <a:rPr lang="en-US" altLang="en-US" sz="2000" b="1" dirty="0" err="1"/>
              <a:t>ndarray</a:t>
            </a:r>
            <a:r>
              <a:rPr lang="en-US" altLang="en-US" sz="2000" dirty="0"/>
              <a:t> slice is a </a:t>
            </a:r>
            <a:r>
              <a:rPr lang="en-US" altLang="en-US" sz="2000" i="1" dirty="0"/>
              <a:t>view</a:t>
            </a:r>
            <a:r>
              <a:rPr lang="en-US" altLang="en-US" sz="2000" dirty="0"/>
              <a:t>, unless using </a:t>
            </a:r>
            <a:r>
              <a:rPr lang="en-US" altLang="en-US" sz="2000" b="1" dirty="0"/>
              <a:t>.copy()</a:t>
            </a:r>
          </a:p>
          <a:p>
            <a:pPr lvl="2" eaLnBrk="1" hangingPunct="1">
              <a:spcBef>
                <a:spcPts val="300"/>
              </a:spcBef>
            </a:pPr>
            <a:r>
              <a:rPr lang="en-US" altLang="en-US" sz="2000" dirty="0"/>
              <a:t>Can have N-dimensional </a:t>
            </a:r>
            <a:r>
              <a:rPr lang="en-US" altLang="en-US" sz="2000" b="1" dirty="0" err="1"/>
              <a:t>ndarray</a:t>
            </a:r>
            <a:r>
              <a:rPr lang="en-US" altLang="en-US" sz="2000" dirty="0"/>
              <a:t> objects</a:t>
            </a:r>
          </a:p>
          <a:p>
            <a:pPr lvl="2" eaLnBrk="1" hangingPunct="1">
              <a:spcBef>
                <a:spcPts val="300"/>
              </a:spcBef>
            </a:pPr>
            <a:r>
              <a:rPr lang="en-US" altLang="en-US" sz="2000" dirty="0"/>
              <a:t>Select </a:t>
            </a:r>
            <a:r>
              <a:rPr lang="en-US" altLang="en-US" sz="2000" i="1" dirty="0" err="1"/>
              <a:t>ndarray</a:t>
            </a:r>
            <a:r>
              <a:rPr lang="en-US" altLang="en-US" sz="2000" dirty="0"/>
              <a:t> subsets using </a:t>
            </a:r>
            <a:r>
              <a:rPr lang="en-US" altLang="en-US" sz="2000" i="1" dirty="0"/>
              <a:t>slices</a:t>
            </a:r>
            <a:r>
              <a:rPr lang="en-US" altLang="en-US" sz="2000" dirty="0"/>
              <a:t>, </a:t>
            </a:r>
            <a:r>
              <a:rPr lang="en-US" altLang="en-US" sz="2000" i="1" dirty="0"/>
              <a:t>Boolean indexing</a:t>
            </a:r>
            <a:r>
              <a:rPr lang="en-US" altLang="en-US" sz="2000" dirty="0"/>
              <a:t>, or </a:t>
            </a:r>
            <a:r>
              <a:rPr lang="en-US" altLang="en-US" sz="2000" i="1" dirty="0"/>
              <a:t>"fancy"</a:t>
            </a:r>
            <a:r>
              <a:rPr lang="en-US" altLang="en-US" sz="2000" dirty="0"/>
              <a:t> (integer) </a:t>
            </a:r>
            <a:r>
              <a:rPr lang="en-US" altLang="en-US" sz="2000" i="1" dirty="0"/>
              <a:t>indexing</a:t>
            </a:r>
          </a:p>
          <a:p>
            <a:pPr lvl="2" eaLnBrk="1" hangingPunct="1">
              <a:spcBef>
                <a:spcPts val="300"/>
              </a:spcBef>
            </a:pPr>
            <a:r>
              <a:rPr lang="en-US" altLang="en-US" sz="2000" dirty="0"/>
              <a:t>Many PRNGs, shuffle, and premutation</a:t>
            </a:r>
          </a:p>
          <a:p>
            <a:pPr lvl="2" eaLnBrk="1" hangingPunct="1">
              <a:spcBef>
                <a:spcPts val="300"/>
              </a:spcBef>
            </a:pPr>
            <a:r>
              <a:rPr lang="en-US" altLang="en-US" sz="2000" dirty="0"/>
              <a:t>Extensive linear algebra facilities</a:t>
            </a:r>
          </a:p>
          <a:p>
            <a:pPr lvl="2" eaLnBrk="1" hangingPunct="1">
              <a:spcBef>
                <a:spcPts val="300"/>
              </a:spcBef>
            </a:pPr>
            <a:r>
              <a:rPr lang="en-US" altLang="en-US" sz="2000" dirty="0"/>
              <a:t>Math, statistical, sorting, set, file I/O facilities</a:t>
            </a:r>
          </a:p>
          <a:p>
            <a:pPr lvl="1" eaLnBrk="1" hangingPunct="1">
              <a:spcBef>
                <a:spcPts val="300"/>
              </a:spcBef>
            </a:pPr>
            <a:endParaRPr lang="en-US" altLang="en-US" sz="2000" dirty="0"/>
          </a:p>
        </p:txBody>
      </p:sp>
      <p:sp>
        <p:nvSpPr>
          <p:cNvPr id="2" name="Date Placeholder 1"/>
          <p:cNvSpPr>
            <a:spLocks noGrp="1"/>
          </p:cNvSpPr>
          <p:nvPr>
            <p:ph type="dt" sz="half" idx="10"/>
          </p:nvPr>
        </p:nvSpPr>
        <p:spPr/>
        <p:txBody>
          <a:bodyPr/>
          <a:lstStyle/>
          <a:p>
            <a:pPr>
              <a:defRPr/>
            </a:pPr>
            <a:fld id="{FFF6099A-CC38-427F-9DE6-FE33CBEDA8C3}" type="datetime1">
              <a:rPr lang="en-US" smtClean="0"/>
              <a:t>7/11/2021</a:t>
            </a:fld>
            <a:endParaRPr lang="en-US"/>
          </a:p>
        </p:txBody>
      </p:sp>
      <p:sp>
        <p:nvSpPr>
          <p:cNvPr id="3" name="Footer Placeholder 2"/>
          <p:cNvSpPr>
            <a:spLocks noGrp="1"/>
          </p:cNvSpPr>
          <p:nvPr>
            <p:ph type="ftr" sz="quarter" idx="11"/>
          </p:nvPr>
        </p:nvSpPr>
        <p:spPr/>
        <p:txBody>
          <a:bodyPr/>
          <a:lstStyle/>
          <a:p>
            <a:pPr>
              <a:defRPr/>
            </a:pPr>
            <a:r>
              <a:rPr lang="en-US"/>
              <a:t>Copyright (c) John K. Ostlund</a:t>
            </a:r>
          </a:p>
        </p:txBody>
      </p:sp>
      <p:sp>
        <p:nvSpPr>
          <p:cNvPr id="4" name="Slide Number Placeholder 3"/>
          <p:cNvSpPr>
            <a:spLocks noGrp="1"/>
          </p:cNvSpPr>
          <p:nvPr>
            <p:ph type="sldNum" sz="quarter" idx="12"/>
          </p:nvPr>
        </p:nvSpPr>
        <p:spPr/>
        <p:txBody>
          <a:bodyPr/>
          <a:lstStyle/>
          <a:p>
            <a:pPr>
              <a:defRPr/>
            </a:pPr>
            <a:fld id="{9E9676BE-5AF2-4172-BD19-31A2F83EF2EB}" type="slidenum">
              <a:rPr lang="en-US" smtClean="0"/>
              <a:pPr>
                <a:defRPr/>
              </a:pPr>
              <a:t>84</a:t>
            </a:fld>
            <a:endParaRPr lang="en-US"/>
          </a:p>
        </p:txBody>
      </p:sp>
    </p:spTree>
    <p:extLst>
      <p:ext uri="{BB962C8B-B14F-4D97-AF65-F5344CB8AC3E}">
        <p14:creationId xmlns:p14="http://schemas.microsoft.com/office/powerpoint/2010/main" val="3800935821"/>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80040</TotalTime>
  <Words>11153</Words>
  <Application>Microsoft Office PowerPoint</Application>
  <PresentationFormat>On-screen Show (4:3)</PresentationFormat>
  <Paragraphs>1492</Paragraphs>
  <Slides>84</Slides>
  <Notes>84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84</vt:i4>
      </vt:variant>
    </vt:vector>
  </HeadingPairs>
  <TitlesOfParts>
    <vt:vector size="89" baseType="lpstr">
      <vt:lpstr>Courier New</vt:lpstr>
      <vt:lpstr>Tahoma</vt:lpstr>
      <vt:lpstr>Times New Roman</vt:lpstr>
      <vt:lpstr>Wingdings</vt:lpstr>
      <vt:lpstr>Blends</vt:lpstr>
      <vt:lpstr>MSCF Python Programming Basics -- 2021</vt:lpstr>
      <vt:lpstr>list, tuple, set, and frozenset Construction</vt:lpstr>
      <vt:lpstr>list, tuple, set, and frozenset Construction (cont)</vt:lpstr>
      <vt:lpstr>dict Construction</vt:lpstr>
      <vt:lpstr>dict Construction (cont)</vt:lpstr>
      <vt:lpstr>The zip() Function</vt:lpstr>
      <vt:lpstr>The zip() Function (cont)</vt:lpstr>
      <vt:lpstr>The enumerate() Function</vt:lpstr>
      <vt:lpstr>The enumerate() Function (cont)</vt:lpstr>
      <vt:lpstr>The enumerate() Function (cont)</vt:lpstr>
      <vt:lpstr>dict Construction (cont)</vt:lpstr>
      <vt:lpstr>list Comprehensions</vt:lpstr>
      <vt:lpstr>list Comprehensions (cont)</vt:lpstr>
      <vt:lpstr>list Comprehensions (cont)</vt:lpstr>
      <vt:lpstr>list Comprehension Examples</vt:lpstr>
      <vt:lpstr>A list of lists</vt:lpstr>
      <vt:lpstr>A list of tuples</vt:lpstr>
      <vt:lpstr>set Comprehensions</vt:lpstr>
      <vt:lpstr>dict Comprehensions</vt:lpstr>
      <vt:lpstr>No tuple Comprehensions</vt:lpstr>
      <vt:lpstr>Displaying a Text File</vt:lpstr>
      <vt:lpstr>Eliminating the Newline</vt:lpstr>
      <vt:lpstr>Creating an Output File</vt:lpstr>
      <vt:lpstr>Defining and Calling Functions</vt:lpstr>
      <vt:lpstr>Defining and Calling Functions (cont)</vt:lpstr>
      <vt:lpstr>Defining and Calling Functions (cont)</vt:lpstr>
      <vt:lpstr>print() Function Keyword Parameters</vt:lpstr>
      <vt:lpstr>Function Return</vt:lpstr>
      <vt:lpstr>Function Return (cont)</vt:lpstr>
      <vt:lpstr>Symbol Tables</vt:lpstr>
      <vt:lpstr>Symbol Tables (cont)</vt:lpstr>
      <vt:lpstr>Top-Down Programming / Functional Decomposition</vt:lpstr>
      <vt:lpstr>About Recursion</vt:lpstr>
      <vt:lpstr>Example: Reversing a str</vt:lpstr>
      <vt:lpstr>Reversing a str: Iterative Approach</vt:lpstr>
      <vt:lpstr>Reversing a str: Recursive Approach</vt:lpstr>
      <vt:lpstr>About Recursion</vt:lpstr>
      <vt:lpstr>About Recursion (cont)</vt:lpstr>
      <vt:lpstr>Recursive factorial Function</vt:lpstr>
      <vt:lpstr>Recursive factorial Function (cont)</vt:lpstr>
      <vt:lpstr>Learning Recursion</vt:lpstr>
      <vt:lpstr>NumPy, Pandas, SciPy, and Statsmodels</vt:lpstr>
      <vt:lpstr>NumPy, Pandas, SciPy, and Statsmodels Import Conventions</vt:lpstr>
      <vt:lpstr>NumPy ndarray</vt:lpstr>
      <vt:lpstr>NumPy ndarray (cont.)</vt:lpstr>
      <vt:lpstr>NumPy ndarray (cont.)</vt:lpstr>
      <vt:lpstr>NumPy ndarray (cont.)</vt:lpstr>
      <vt:lpstr>NumPy ndarray (cont.)</vt:lpstr>
      <vt:lpstr>NumPy ndarray (cont.)</vt:lpstr>
      <vt:lpstr>Arithmetic: ndarray vs. list Operations</vt:lpstr>
      <vt:lpstr>Arithmetic: ndarray vs. list Operations (cont)</vt:lpstr>
      <vt:lpstr>ndarray Slices and Views</vt:lpstr>
      <vt:lpstr>ndarray Slices and Views (cont)</vt:lpstr>
      <vt:lpstr>ndarray copy()</vt:lpstr>
      <vt:lpstr>N-Dimensional ndarrays</vt:lpstr>
      <vt:lpstr>N-Dimensional ndarrays (cont)</vt:lpstr>
      <vt:lpstr>N-Dimensional ndarrays (cont)</vt:lpstr>
      <vt:lpstr>2-Dimensional ndarray Slices</vt:lpstr>
      <vt:lpstr>2-Dimensional ndarray Slices (cont)</vt:lpstr>
      <vt:lpstr>2-Dimensional ndarray Slices (cont)</vt:lpstr>
      <vt:lpstr>2-Dimensional ndarray Slices (cont)</vt:lpstr>
      <vt:lpstr>2-Dimensional ndarray Slices (cont)</vt:lpstr>
      <vt:lpstr>2-Dimensional ndarray Slices (cont)</vt:lpstr>
      <vt:lpstr>Boolean Indexes</vt:lpstr>
      <vt:lpstr>Boolean Indexes (cont)</vt:lpstr>
      <vt:lpstr>Boolean Indexes (cont)</vt:lpstr>
      <vt:lpstr>Boolean Indexes (cont)</vt:lpstr>
      <vt:lpstr>Boolean Indexes (cont)</vt:lpstr>
      <vt:lpstr>Boolean Indexes (cont)</vt:lpstr>
      <vt:lpstr>Integer (or "Fancy") Indexes</vt:lpstr>
      <vt:lpstr>Integer (or "Fancy") Indexes (cont)</vt:lpstr>
      <vt:lpstr>Integer (or "Fancy") Indexes (cont)</vt:lpstr>
      <vt:lpstr>NumPy's random Submodule</vt:lpstr>
      <vt:lpstr>NumPy's random Submodule (cont)</vt:lpstr>
      <vt:lpstr>NumPy's random Submodule (cont)</vt:lpstr>
      <vt:lpstr>NumPy's random Submodule (cont)</vt:lpstr>
      <vt:lpstr>Linear Algebra</vt:lpstr>
      <vt:lpstr>Linear Algebra (cont)</vt:lpstr>
      <vt:lpstr>Linear Algebra (cont)</vt:lpstr>
      <vt:lpstr>Linear Algebra (cont)</vt:lpstr>
      <vt:lpstr>More NumPy</vt:lpstr>
      <vt:lpstr>Week 3 Summary</vt:lpstr>
      <vt:lpstr>Week 3 Summary (cont)</vt:lpstr>
      <vt:lpstr>Week 3 Summary (cont)</vt:lpstr>
    </vt:vector>
  </TitlesOfParts>
  <Company>CMU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46-691</dc:title>
  <dc:creator>The Heinz School</dc:creator>
  <cp:lastModifiedBy>John</cp:lastModifiedBy>
  <cp:revision>689</cp:revision>
  <cp:lastPrinted>2021-07-12T00:07:33Z</cp:lastPrinted>
  <dcterms:created xsi:type="dcterms:W3CDTF">2003-08-31T19:53:38Z</dcterms:created>
  <dcterms:modified xsi:type="dcterms:W3CDTF">2021-07-12T00:24:05Z</dcterms:modified>
</cp:coreProperties>
</file>
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4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15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16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notesMasterIdLst>
    <p:notesMasterId r:id="rId78"/>
  </p:notesMasterIdLst>
  <p:sldIdLst>
    <p:sldId id="257" r:id="rId2"/>
    <p:sldId id="790" r:id="rId3"/>
    <p:sldId id="791" r:id="rId4"/>
    <p:sldId id="792" r:id="rId5"/>
    <p:sldId id="793" r:id="rId6"/>
    <p:sldId id="794" r:id="rId7"/>
    <p:sldId id="795" r:id="rId8"/>
    <p:sldId id="796" r:id="rId9"/>
    <p:sldId id="797" r:id="rId10"/>
    <p:sldId id="798" r:id="rId11"/>
    <p:sldId id="800" r:id="rId12"/>
    <p:sldId id="801" r:id="rId13"/>
    <p:sldId id="806" r:id="rId14"/>
    <p:sldId id="805" r:id="rId15"/>
    <p:sldId id="807" r:id="rId16"/>
    <p:sldId id="804" r:id="rId17"/>
    <p:sldId id="337" r:id="rId18"/>
    <p:sldId id="354" r:id="rId19"/>
    <p:sldId id="356" r:id="rId20"/>
    <p:sldId id="357" r:id="rId21"/>
    <p:sldId id="358" r:id="rId22"/>
    <p:sldId id="359" r:id="rId23"/>
    <p:sldId id="361" r:id="rId24"/>
    <p:sldId id="362" r:id="rId25"/>
    <p:sldId id="363" r:id="rId26"/>
    <p:sldId id="364" r:id="rId27"/>
    <p:sldId id="365" r:id="rId28"/>
    <p:sldId id="750" r:id="rId29"/>
    <p:sldId id="338" r:id="rId30"/>
    <p:sldId id="339" r:id="rId31"/>
    <p:sldId id="340" r:id="rId32"/>
    <p:sldId id="341" r:id="rId33"/>
    <p:sldId id="342" r:id="rId34"/>
    <p:sldId id="344" r:id="rId35"/>
    <p:sldId id="345" r:id="rId36"/>
    <p:sldId id="346" r:id="rId37"/>
    <p:sldId id="347" r:id="rId38"/>
    <p:sldId id="348" r:id="rId39"/>
    <p:sldId id="350" r:id="rId40"/>
    <p:sldId id="751" r:id="rId41"/>
    <p:sldId id="752" r:id="rId42"/>
    <p:sldId id="753" r:id="rId43"/>
    <p:sldId id="353" r:id="rId44"/>
    <p:sldId id="754" r:id="rId45"/>
    <p:sldId id="755" r:id="rId46"/>
    <p:sldId id="784" r:id="rId47"/>
    <p:sldId id="757" r:id="rId48"/>
    <p:sldId id="758" r:id="rId49"/>
    <p:sldId id="759" r:id="rId50"/>
    <p:sldId id="760" r:id="rId51"/>
    <p:sldId id="761" r:id="rId52"/>
    <p:sldId id="762" r:id="rId53"/>
    <p:sldId id="785" r:id="rId54"/>
    <p:sldId id="786" r:id="rId55"/>
    <p:sldId id="764" r:id="rId56"/>
    <p:sldId id="765" r:id="rId57"/>
    <p:sldId id="766" r:id="rId58"/>
    <p:sldId id="768" r:id="rId59"/>
    <p:sldId id="769" r:id="rId60"/>
    <p:sldId id="770" r:id="rId61"/>
    <p:sldId id="771" r:id="rId62"/>
    <p:sldId id="360" r:id="rId63"/>
    <p:sldId id="772" r:id="rId64"/>
    <p:sldId id="773" r:id="rId65"/>
    <p:sldId id="788" r:id="rId66"/>
    <p:sldId id="789" r:id="rId67"/>
    <p:sldId id="774" r:id="rId68"/>
    <p:sldId id="776" r:id="rId69"/>
    <p:sldId id="777" r:id="rId70"/>
    <p:sldId id="778" r:id="rId71"/>
    <p:sldId id="779" r:id="rId72"/>
    <p:sldId id="780" r:id="rId73"/>
    <p:sldId id="783" r:id="rId74"/>
    <p:sldId id="367" r:id="rId75"/>
    <p:sldId id="368" r:id="rId76"/>
    <p:sldId id="613" r:id="rId77"/>
  </p:sldIdLst>
  <p:sldSz cx="9144000" cy="6858000" type="screen4x3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080" autoAdjust="0"/>
    <p:restoredTop sz="97446" autoAdjust="0"/>
  </p:normalViewPr>
  <p:slideViewPr>
    <p:cSldViewPr>
      <p:cViewPr varScale="1">
        <p:scale>
          <a:sx n="89" d="100"/>
          <a:sy n="89" d="100"/>
        </p:scale>
        <p:origin x="108" y="178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notesMaster" Target="notesMasters/notesMaster1.xml"/><Relationship Id="rId8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jostlund\PP2019_examples\search_result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jostlund\PP2019_examples\search_results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jostlund\PP2019_examples\search_results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jostlund\PP2019_examples\search_results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 dirty="0"/>
              <a:t>Linear Search: Time (sec)</a:t>
            </a:r>
            <a:r>
              <a:rPr lang="en-US" b="1" baseline="0" dirty="0"/>
              <a:t> vs. Sample Size (000s)</a:t>
            </a:r>
          </a:p>
          <a:p>
            <a:pPr>
              <a:defRPr/>
            </a:pPr>
            <a:r>
              <a:rPr lang="en-US" b="1" baseline="0" dirty="0"/>
              <a:t>O(N)</a:t>
            </a:r>
            <a:endParaRPr lang="en-US" b="1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19050" cap="rnd">
              <a:solidFill>
                <a:srgbClr val="0070C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0070C0"/>
              </a:solidFill>
              <a:ln w="9525">
                <a:solidFill>
                  <a:srgbClr val="0070C0"/>
                </a:solidFill>
              </a:ln>
              <a:effectLst/>
            </c:spPr>
          </c:marker>
          <c:xVal>
            <c:numRef>
              <c:f>search_results!$A$1:$A$12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  <c:pt idx="5">
                  <c:v>32</c:v>
                </c:pt>
                <c:pt idx="6">
                  <c:v>64</c:v>
                </c:pt>
                <c:pt idx="7">
                  <c:v>128</c:v>
                </c:pt>
                <c:pt idx="8">
                  <c:v>256</c:v>
                </c:pt>
                <c:pt idx="9">
                  <c:v>512</c:v>
                </c:pt>
                <c:pt idx="10">
                  <c:v>1024</c:v>
                </c:pt>
                <c:pt idx="11">
                  <c:v>2048</c:v>
                </c:pt>
              </c:numCache>
            </c:numRef>
          </c:xVal>
          <c:yVal>
            <c:numRef>
              <c:f>search_results!$B$1:$B$12</c:f>
              <c:numCache>
                <c:formatCode>General</c:formatCode>
                <c:ptCount val="12"/>
                <c:pt idx="0">
                  <c:v>6.8559522629999998</c:v>
                </c:pt>
                <c:pt idx="1">
                  <c:v>12.477415561999999</c:v>
                </c:pt>
                <c:pt idx="2">
                  <c:v>25.071440934999998</c:v>
                </c:pt>
                <c:pt idx="3">
                  <c:v>49.841944456</c:v>
                </c:pt>
                <c:pt idx="4">
                  <c:v>101.180275202</c:v>
                </c:pt>
                <c:pt idx="5">
                  <c:v>198.86788725900001</c:v>
                </c:pt>
                <c:pt idx="6">
                  <c:v>403.013448477</c:v>
                </c:pt>
                <c:pt idx="7">
                  <c:v>803.36007785799995</c:v>
                </c:pt>
                <c:pt idx="8">
                  <c:v>1596.8429598810001</c:v>
                </c:pt>
                <c:pt idx="9">
                  <c:v>3191.761897802</c:v>
                </c:pt>
                <c:pt idx="10">
                  <c:v>6405.3694951529997</c:v>
                </c:pt>
                <c:pt idx="11">
                  <c:v>12766.439840555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D1F6-4B38-B62A-D2C7E48B6E4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743781936"/>
        <c:axId val="743782264"/>
      </c:scatterChart>
      <c:valAx>
        <c:axId val="74378193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43782264"/>
        <c:crosses val="autoZero"/>
        <c:crossBetween val="midCat"/>
      </c:valAx>
      <c:valAx>
        <c:axId val="7437822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43781936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 dirty="0"/>
              <a:t>Binary Search: Time (sec) vs. Sample Size (000s)</a:t>
            </a:r>
          </a:p>
          <a:p>
            <a:pPr>
              <a:defRPr/>
            </a:pPr>
            <a:r>
              <a:rPr lang="en-US" b="1" dirty="0"/>
              <a:t>O(log N)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19050" cap="rnd">
              <a:solidFill>
                <a:srgbClr val="0070C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0070C0"/>
              </a:solidFill>
              <a:ln w="9525">
                <a:solidFill>
                  <a:srgbClr val="0070C0"/>
                </a:solidFill>
              </a:ln>
              <a:effectLst/>
            </c:spPr>
          </c:marker>
          <c:xVal>
            <c:numRef>
              <c:f>search_results!$A$1:$A$12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  <c:pt idx="5">
                  <c:v>32</c:v>
                </c:pt>
                <c:pt idx="6">
                  <c:v>64</c:v>
                </c:pt>
                <c:pt idx="7">
                  <c:v>128</c:v>
                </c:pt>
                <c:pt idx="8">
                  <c:v>256</c:v>
                </c:pt>
                <c:pt idx="9">
                  <c:v>512</c:v>
                </c:pt>
                <c:pt idx="10">
                  <c:v>1024</c:v>
                </c:pt>
                <c:pt idx="11">
                  <c:v>2048</c:v>
                </c:pt>
              </c:numCache>
            </c:numRef>
          </c:xVal>
          <c:yVal>
            <c:numRef>
              <c:f>search_results!$C$1:$C$12</c:f>
              <c:numCache>
                <c:formatCode>General</c:formatCode>
                <c:ptCount val="12"/>
                <c:pt idx="0">
                  <c:v>0.233761311</c:v>
                </c:pt>
                <c:pt idx="1">
                  <c:v>0.25517868999999999</c:v>
                </c:pt>
                <c:pt idx="2">
                  <c:v>0.28621339800000001</c:v>
                </c:pt>
                <c:pt idx="3">
                  <c:v>0.29975843400000002</c:v>
                </c:pt>
                <c:pt idx="4">
                  <c:v>0.31893277199999998</c:v>
                </c:pt>
                <c:pt idx="5">
                  <c:v>0.33972430199999998</c:v>
                </c:pt>
                <c:pt idx="6">
                  <c:v>0.35839986800000001</c:v>
                </c:pt>
                <c:pt idx="7">
                  <c:v>0.39024972899999999</c:v>
                </c:pt>
                <c:pt idx="8">
                  <c:v>0.42259311700000002</c:v>
                </c:pt>
                <c:pt idx="9">
                  <c:v>0.44844794300000002</c:v>
                </c:pt>
                <c:pt idx="10">
                  <c:v>0.48108029400000002</c:v>
                </c:pt>
                <c:pt idx="11">
                  <c:v>0.501193047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C335-4C2A-A324-FB8747BD1B8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39559800"/>
        <c:axId val="339560128"/>
      </c:scatterChart>
      <c:valAx>
        <c:axId val="33955980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39560128"/>
        <c:crosses val="autoZero"/>
        <c:crossBetween val="midCat"/>
      </c:valAx>
      <c:valAx>
        <c:axId val="3395601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39559800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 dirty="0"/>
              <a:t>Binary Search: Time (sec) vs. Sample Size (000s)</a:t>
            </a:r>
          </a:p>
          <a:p>
            <a:pPr>
              <a:defRPr/>
            </a:pPr>
            <a:r>
              <a:rPr lang="en-US" b="1" dirty="0"/>
              <a:t>O(log N)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19050" cap="rnd">
              <a:solidFill>
                <a:srgbClr val="0070C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0070C0"/>
              </a:solidFill>
              <a:ln w="9525">
                <a:solidFill>
                  <a:srgbClr val="0070C0"/>
                </a:solidFill>
              </a:ln>
              <a:effectLst/>
            </c:spPr>
          </c:marker>
          <c:xVal>
            <c:numRef>
              <c:f>search_results!$A$1:$A$12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  <c:pt idx="5">
                  <c:v>32</c:v>
                </c:pt>
                <c:pt idx="6">
                  <c:v>64</c:v>
                </c:pt>
                <c:pt idx="7">
                  <c:v>128</c:v>
                </c:pt>
                <c:pt idx="8">
                  <c:v>256</c:v>
                </c:pt>
                <c:pt idx="9">
                  <c:v>512</c:v>
                </c:pt>
                <c:pt idx="10">
                  <c:v>1024</c:v>
                </c:pt>
                <c:pt idx="11">
                  <c:v>2048</c:v>
                </c:pt>
              </c:numCache>
            </c:numRef>
          </c:xVal>
          <c:yVal>
            <c:numRef>
              <c:f>search_results!$C$1:$C$12</c:f>
              <c:numCache>
                <c:formatCode>General</c:formatCode>
                <c:ptCount val="12"/>
                <c:pt idx="0">
                  <c:v>0.233761311</c:v>
                </c:pt>
                <c:pt idx="1">
                  <c:v>0.25517868999999999</c:v>
                </c:pt>
                <c:pt idx="2">
                  <c:v>0.28621339800000001</c:v>
                </c:pt>
                <c:pt idx="3">
                  <c:v>0.29975843400000002</c:v>
                </c:pt>
                <c:pt idx="4">
                  <c:v>0.31893277199999998</c:v>
                </c:pt>
                <c:pt idx="5">
                  <c:v>0.33972430199999998</c:v>
                </c:pt>
                <c:pt idx="6">
                  <c:v>0.35839986800000001</c:v>
                </c:pt>
                <c:pt idx="7">
                  <c:v>0.39024972899999999</c:v>
                </c:pt>
                <c:pt idx="8">
                  <c:v>0.42259311700000002</c:v>
                </c:pt>
                <c:pt idx="9">
                  <c:v>0.44844794300000002</c:v>
                </c:pt>
                <c:pt idx="10">
                  <c:v>0.48108029400000002</c:v>
                </c:pt>
                <c:pt idx="11">
                  <c:v>0.501193047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E15C-44C5-95E8-6D52D110942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39559800"/>
        <c:axId val="339560128"/>
      </c:scatterChart>
      <c:valAx>
        <c:axId val="339559800"/>
        <c:scaling>
          <c:logBase val="10"/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39560128"/>
        <c:crosses val="autoZero"/>
        <c:crossBetween val="midCat"/>
      </c:valAx>
      <c:valAx>
        <c:axId val="3395601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39559800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 dirty="0"/>
              <a:t>Set (Hash Table) Search: Time (sec) vs. Sample</a:t>
            </a:r>
          </a:p>
          <a:p>
            <a:pPr>
              <a:defRPr/>
            </a:pPr>
            <a:r>
              <a:rPr lang="en-US" b="1" dirty="0"/>
              <a:t>Size (000s) -- O(1)</a:t>
            </a:r>
            <a:r>
              <a:rPr lang="en-US" b="1" baseline="0" dirty="0"/>
              <a:t> (approximately)</a:t>
            </a:r>
            <a:endParaRPr lang="en-US" b="1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19050" cap="rnd">
              <a:solidFill>
                <a:srgbClr val="0070C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0070C0"/>
              </a:solidFill>
              <a:ln w="9525">
                <a:solidFill>
                  <a:srgbClr val="0070C0"/>
                </a:solidFill>
              </a:ln>
              <a:effectLst/>
            </c:spPr>
          </c:marker>
          <c:xVal>
            <c:numRef>
              <c:f>search_results!$A$1:$A$12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  <c:pt idx="5">
                  <c:v>32</c:v>
                </c:pt>
                <c:pt idx="6">
                  <c:v>64</c:v>
                </c:pt>
                <c:pt idx="7">
                  <c:v>128</c:v>
                </c:pt>
                <c:pt idx="8">
                  <c:v>256</c:v>
                </c:pt>
                <c:pt idx="9">
                  <c:v>512</c:v>
                </c:pt>
                <c:pt idx="10">
                  <c:v>1024</c:v>
                </c:pt>
                <c:pt idx="11">
                  <c:v>2048</c:v>
                </c:pt>
              </c:numCache>
            </c:numRef>
          </c:xVal>
          <c:yVal>
            <c:numRef>
              <c:f>search_results!$D$1:$D$12</c:f>
              <c:numCache>
                <c:formatCode>General</c:formatCode>
                <c:ptCount val="12"/>
                <c:pt idx="0">
                  <c:v>1.9013166000000001E-2</c:v>
                </c:pt>
                <c:pt idx="1">
                  <c:v>1.8980741999999998E-2</c:v>
                </c:pt>
                <c:pt idx="2">
                  <c:v>1.9986390999999999E-2</c:v>
                </c:pt>
                <c:pt idx="3">
                  <c:v>1.9981861E-2</c:v>
                </c:pt>
                <c:pt idx="4">
                  <c:v>1.9899844999999999E-2</c:v>
                </c:pt>
                <c:pt idx="5">
                  <c:v>2.1638870000000001E-2</c:v>
                </c:pt>
                <c:pt idx="6">
                  <c:v>2.1977901000000001E-2</c:v>
                </c:pt>
                <c:pt idx="7">
                  <c:v>2.3973464999999999E-2</c:v>
                </c:pt>
                <c:pt idx="8">
                  <c:v>2.7529954999999998E-2</c:v>
                </c:pt>
                <c:pt idx="9">
                  <c:v>2.8970003000000001E-2</c:v>
                </c:pt>
                <c:pt idx="10">
                  <c:v>2.9968261999999999E-2</c:v>
                </c:pt>
                <c:pt idx="11">
                  <c:v>3.2966137E-2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FB1E-4D6D-A0C0-08E4860C022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35803688"/>
        <c:axId val="335802704"/>
      </c:scatterChart>
      <c:valAx>
        <c:axId val="33580368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35802704"/>
        <c:crosses val="autoZero"/>
        <c:crossBetween val="midCat"/>
      </c:valAx>
      <c:valAx>
        <c:axId val="33580270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3580368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2" tIns="48331" rIns="96662" bIns="48331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47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588" y="0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2" tIns="48331" rIns="96662" bIns="48331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042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19138"/>
            <a:ext cx="4802188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47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1521" y="4560570"/>
            <a:ext cx="5852160" cy="4320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2" tIns="48331" rIns="96662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47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119474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2" tIns="48331" rIns="96662" bIns="48331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47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588" y="9119474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2" tIns="48331" rIns="96662" bIns="48331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fld id="{C3966094-34ED-42CC-B0A0-81B4FC9F48A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90040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373" indent="-302067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267" indent="-241654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574" indent="-241654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880" indent="-241654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8188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1495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801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8108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0C77F19E-6305-42C9-846D-8F6E264C89DD}" type="slidenum">
              <a:rPr lang="en-US" altLang="en-US" smtClean="0">
                <a:latin typeface="Times New Roman" pitchFamily="18" charset="0"/>
              </a:rPr>
              <a:pPr/>
              <a:t>1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ED64F5DF-0B52-4312-A1F1-1A9CC5685EAB}" type="slidenum">
              <a:rPr lang="en-US" altLang="en-US" smtClean="0">
                <a:latin typeface="Times New Roman" pitchFamily="18" charset="0"/>
              </a:rPr>
              <a:pPr/>
              <a:t>2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A “prototype” is a declaration of a function or method. </a:t>
            </a:r>
          </a:p>
        </p:txBody>
      </p:sp>
    </p:spTree>
    <p:extLst>
      <p:ext uri="{BB962C8B-B14F-4D97-AF65-F5344CB8AC3E}">
        <p14:creationId xmlns:p14="http://schemas.microsoft.com/office/powerpoint/2010/main" val="42876102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ED64F5DF-0B52-4312-A1F1-1A9CC5685EAB}" type="slidenum">
              <a:rPr lang="en-US" altLang="en-US" smtClean="0">
                <a:latin typeface="Times New Roman" pitchFamily="18" charset="0"/>
              </a:rPr>
              <a:pPr/>
              <a:t>3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A “prototype” is a declaration of a function or method. </a:t>
            </a:r>
          </a:p>
        </p:txBody>
      </p:sp>
    </p:spTree>
    <p:extLst>
      <p:ext uri="{BB962C8B-B14F-4D97-AF65-F5344CB8AC3E}">
        <p14:creationId xmlns:p14="http://schemas.microsoft.com/office/powerpoint/2010/main" val="13953239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ED64F5DF-0B52-4312-A1F1-1A9CC5685EAB}" type="slidenum">
              <a:rPr lang="en-US" altLang="en-US" smtClean="0">
                <a:latin typeface="Times New Roman" pitchFamily="18" charset="0"/>
              </a:rPr>
              <a:pPr/>
              <a:t>4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A “prototype” is a declaration of a function or method. </a:t>
            </a:r>
          </a:p>
        </p:txBody>
      </p:sp>
    </p:spTree>
    <p:extLst>
      <p:ext uri="{BB962C8B-B14F-4D97-AF65-F5344CB8AC3E}">
        <p14:creationId xmlns:p14="http://schemas.microsoft.com/office/powerpoint/2010/main" val="1534918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ED64F5DF-0B52-4312-A1F1-1A9CC5685EAB}" type="slidenum">
              <a:rPr lang="en-US" altLang="en-US" smtClean="0">
                <a:latin typeface="Times New Roman" pitchFamily="18" charset="0"/>
              </a:rPr>
              <a:pPr/>
              <a:t>5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A “prototype” is a declaration of a function or method. </a:t>
            </a:r>
          </a:p>
        </p:txBody>
      </p:sp>
    </p:spTree>
    <p:extLst>
      <p:ext uri="{BB962C8B-B14F-4D97-AF65-F5344CB8AC3E}">
        <p14:creationId xmlns:p14="http://schemas.microsoft.com/office/powerpoint/2010/main" val="27979943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ED64F5DF-0B52-4312-A1F1-1A9CC5685EAB}" type="slidenum">
              <a:rPr lang="en-US" altLang="en-US" smtClean="0">
                <a:latin typeface="Times New Roman" pitchFamily="18" charset="0"/>
              </a:rPr>
              <a:pPr/>
              <a:t>6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A “prototype” is a declaration of a function or method. </a:t>
            </a:r>
          </a:p>
        </p:txBody>
      </p:sp>
    </p:spTree>
    <p:extLst>
      <p:ext uri="{BB962C8B-B14F-4D97-AF65-F5344CB8AC3E}">
        <p14:creationId xmlns:p14="http://schemas.microsoft.com/office/powerpoint/2010/main" val="39740740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ED64F5DF-0B52-4312-A1F1-1A9CC5685EAB}" type="slidenum">
              <a:rPr lang="en-US" altLang="en-US" smtClean="0">
                <a:latin typeface="Times New Roman" pitchFamily="18" charset="0"/>
              </a:rPr>
              <a:pPr/>
              <a:t>7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A “prototype” is a declaration of a function or method. </a:t>
            </a:r>
          </a:p>
        </p:txBody>
      </p:sp>
    </p:spTree>
    <p:extLst>
      <p:ext uri="{BB962C8B-B14F-4D97-AF65-F5344CB8AC3E}">
        <p14:creationId xmlns:p14="http://schemas.microsoft.com/office/powerpoint/2010/main" val="21670633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ED64F5DF-0B52-4312-A1F1-1A9CC5685EAB}" type="slidenum">
              <a:rPr lang="en-US" altLang="en-US" smtClean="0">
                <a:latin typeface="Times New Roman" pitchFamily="18" charset="0"/>
              </a:rPr>
              <a:pPr/>
              <a:t>8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A “prototype” is a declaration of a function or method. </a:t>
            </a:r>
          </a:p>
        </p:txBody>
      </p:sp>
    </p:spTree>
    <p:extLst>
      <p:ext uri="{BB962C8B-B14F-4D97-AF65-F5344CB8AC3E}">
        <p14:creationId xmlns:p14="http://schemas.microsoft.com/office/powerpoint/2010/main" val="9406227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ED64F5DF-0B52-4312-A1F1-1A9CC5685EAB}" type="slidenum">
              <a:rPr lang="en-US" altLang="en-US" smtClean="0">
                <a:latin typeface="Times New Roman" pitchFamily="18" charset="0"/>
              </a:rPr>
              <a:pPr/>
              <a:t>9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A “prototype” is a declaration of a function or method. </a:t>
            </a:r>
          </a:p>
        </p:txBody>
      </p:sp>
    </p:spTree>
    <p:extLst>
      <p:ext uri="{BB962C8B-B14F-4D97-AF65-F5344CB8AC3E}">
        <p14:creationId xmlns:p14="http://schemas.microsoft.com/office/powerpoint/2010/main" val="9618887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ED64F5DF-0B52-4312-A1F1-1A9CC5685EAB}" type="slidenum">
              <a:rPr lang="en-US" altLang="en-US" smtClean="0">
                <a:latin typeface="Times New Roman" pitchFamily="18" charset="0"/>
              </a:rPr>
              <a:pPr/>
              <a:t>10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A “prototype” is a declaration of a function or method. </a:t>
            </a:r>
          </a:p>
        </p:txBody>
      </p:sp>
    </p:spTree>
    <p:extLst>
      <p:ext uri="{BB962C8B-B14F-4D97-AF65-F5344CB8AC3E}">
        <p14:creationId xmlns:p14="http://schemas.microsoft.com/office/powerpoint/2010/main" val="30103610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ED64F5DF-0B52-4312-A1F1-1A9CC5685EAB}" type="slidenum">
              <a:rPr lang="en-US" altLang="en-US" smtClean="0">
                <a:latin typeface="Times New Roman" pitchFamily="18" charset="0"/>
              </a:rPr>
              <a:pPr/>
              <a:t>11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A “prototype” is a declaration of a function or method. </a:t>
            </a:r>
          </a:p>
        </p:txBody>
      </p:sp>
    </p:spTree>
    <p:extLst>
      <p:ext uri="{BB962C8B-B14F-4D97-AF65-F5344CB8AC3E}">
        <p14:creationId xmlns:p14="http://schemas.microsoft.com/office/powerpoint/2010/main" val="408278585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ED64F5DF-0B52-4312-A1F1-1A9CC5685EAB}" type="slidenum">
              <a:rPr lang="en-US" altLang="en-US" smtClean="0">
                <a:latin typeface="Times New Roman" pitchFamily="18" charset="0"/>
              </a:rPr>
              <a:pPr/>
              <a:t>12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A “prototype” is a declaration of a function or method. </a:t>
            </a:r>
          </a:p>
        </p:txBody>
      </p:sp>
    </p:spTree>
    <p:extLst>
      <p:ext uri="{BB962C8B-B14F-4D97-AF65-F5344CB8AC3E}">
        <p14:creationId xmlns:p14="http://schemas.microsoft.com/office/powerpoint/2010/main" val="414814685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ED64F5DF-0B52-4312-A1F1-1A9CC5685EAB}" type="slidenum">
              <a:rPr lang="en-US" altLang="en-US" smtClean="0">
                <a:latin typeface="Times New Roman" pitchFamily="18" charset="0"/>
              </a:rPr>
              <a:pPr/>
              <a:t>13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A “prototype” is a declaration of a function or method. </a:t>
            </a:r>
          </a:p>
        </p:txBody>
      </p:sp>
    </p:spTree>
    <p:extLst>
      <p:ext uri="{BB962C8B-B14F-4D97-AF65-F5344CB8AC3E}">
        <p14:creationId xmlns:p14="http://schemas.microsoft.com/office/powerpoint/2010/main" val="286164236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ED64F5DF-0B52-4312-A1F1-1A9CC5685EAB}" type="slidenum">
              <a:rPr lang="en-US" altLang="en-US" smtClean="0">
                <a:latin typeface="Times New Roman" pitchFamily="18" charset="0"/>
              </a:rPr>
              <a:pPr/>
              <a:t>14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A “prototype” is a declaration of a function or method. </a:t>
            </a:r>
          </a:p>
        </p:txBody>
      </p:sp>
    </p:spTree>
    <p:extLst>
      <p:ext uri="{BB962C8B-B14F-4D97-AF65-F5344CB8AC3E}">
        <p14:creationId xmlns:p14="http://schemas.microsoft.com/office/powerpoint/2010/main" val="22457736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ED64F5DF-0B52-4312-A1F1-1A9CC5685EAB}" type="slidenum">
              <a:rPr lang="en-US" altLang="en-US" smtClean="0">
                <a:latin typeface="Times New Roman" pitchFamily="18" charset="0"/>
              </a:rPr>
              <a:pPr/>
              <a:t>15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A “prototype” is a declaration of a function or method. </a:t>
            </a:r>
          </a:p>
        </p:txBody>
      </p:sp>
    </p:spTree>
    <p:extLst>
      <p:ext uri="{BB962C8B-B14F-4D97-AF65-F5344CB8AC3E}">
        <p14:creationId xmlns:p14="http://schemas.microsoft.com/office/powerpoint/2010/main" val="15674396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ED64F5DF-0B52-4312-A1F1-1A9CC5685EAB}" type="slidenum">
              <a:rPr lang="en-US" altLang="en-US" smtClean="0">
                <a:latin typeface="Times New Roman" pitchFamily="18" charset="0"/>
              </a:rPr>
              <a:pPr/>
              <a:t>16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A “prototype” is a declaration of a function or method. </a:t>
            </a:r>
          </a:p>
        </p:txBody>
      </p:sp>
    </p:spTree>
    <p:extLst>
      <p:ext uri="{BB962C8B-B14F-4D97-AF65-F5344CB8AC3E}">
        <p14:creationId xmlns:p14="http://schemas.microsoft.com/office/powerpoint/2010/main" val="370833775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ED64F5DF-0B52-4312-A1F1-1A9CC5685EAB}" type="slidenum">
              <a:rPr lang="en-US" altLang="en-US" smtClean="0">
                <a:latin typeface="Times New Roman" pitchFamily="18" charset="0"/>
              </a:rPr>
              <a:pPr/>
              <a:t>17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A “prototype” is a declaration of a function or method. </a:t>
            </a:r>
          </a:p>
        </p:txBody>
      </p:sp>
    </p:spTree>
    <p:extLst>
      <p:ext uri="{BB962C8B-B14F-4D97-AF65-F5344CB8AC3E}">
        <p14:creationId xmlns:p14="http://schemas.microsoft.com/office/powerpoint/2010/main" val="60631474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ED64F5DF-0B52-4312-A1F1-1A9CC5685EAB}" type="slidenum">
              <a:rPr lang="en-US" altLang="en-US" smtClean="0">
                <a:latin typeface="Times New Roman" pitchFamily="18" charset="0"/>
              </a:rPr>
              <a:pPr/>
              <a:t>18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A “prototype” is a declaration of a function or method. </a:t>
            </a:r>
          </a:p>
        </p:txBody>
      </p:sp>
    </p:spTree>
    <p:extLst>
      <p:ext uri="{BB962C8B-B14F-4D97-AF65-F5344CB8AC3E}">
        <p14:creationId xmlns:p14="http://schemas.microsoft.com/office/powerpoint/2010/main" val="28239822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ED64F5DF-0B52-4312-A1F1-1A9CC5685EAB}" type="slidenum">
              <a:rPr lang="en-US" altLang="en-US" smtClean="0">
                <a:latin typeface="Times New Roman" pitchFamily="18" charset="0"/>
              </a:rPr>
              <a:pPr/>
              <a:t>19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A “prototype” is a declaration of a function or method. </a:t>
            </a:r>
          </a:p>
        </p:txBody>
      </p:sp>
    </p:spTree>
    <p:extLst>
      <p:ext uri="{BB962C8B-B14F-4D97-AF65-F5344CB8AC3E}">
        <p14:creationId xmlns:p14="http://schemas.microsoft.com/office/powerpoint/2010/main" val="54667138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ED64F5DF-0B52-4312-A1F1-1A9CC5685EAB}" type="slidenum">
              <a:rPr lang="en-US" altLang="en-US" smtClean="0">
                <a:latin typeface="Times New Roman" pitchFamily="18" charset="0"/>
              </a:rPr>
              <a:pPr/>
              <a:t>20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A “prototype” is a declaration of a function or method. </a:t>
            </a:r>
          </a:p>
        </p:txBody>
      </p:sp>
    </p:spTree>
    <p:extLst>
      <p:ext uri="{BB962C8B-B14F-4D97-AF65-F5344CB8AC3E}">
        <p14:creationId xmlns:p14="http://schemas.microsoft.com/office/powerpoint/2010/main" val="246252682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ED64F5DF-0B52-4312-A1F1-1A9CC5685EAB}" type="slidenum">
              <a:rPr lang="en-US" altLang="en-US" smtClean="0">
                <a:latin typeface="Times New Roman" pitchFamily="18" charset="0"/>
              </a:rPr>
              <a:pPr/>
              <a:t>21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A “prototype” is a declaration of a function or method. </a:t>
            </a:r>
          </a:p>
        </p:txBody>
      </p:sp>
    </p:spTree>
    <p:extLst>
      <p:ext uri="{BB962C8B-B14F-4D97-AF65-F5344CB8AC3E}">
        <p14:creationId xmlns:p14="http://schemas.microsoft.com/office/powerpoint/2010/main" val="132106282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ED64F5DF-0B52-4312-A1F1-1A9CC5685EAB}" type="slidenum">
              <a:rPr lang="en-US" altLang="en-US" smtClean="0">
                <a:latin typeface="Times New Roman" pitchFamily="18" charset="0"/>
              </a:rPr>
              <a:pPr/>
              <a:t>22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A “prototype” is a declaration of a function or method. </a:t>
            </a:r>
          </a:p>
        </p:txBody>
      </p:sp>
    </p:spTree>
    <p:extLst>
      <p:ext uri="{BB962C8B-B14F-4D97-AF65-F5344CB8AC3E}">
        <p14:creationId xmlns:p14="http://schemas.microsoft.com/office/powerpoint/2010/main" val="375105177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ED64F5DF-0B52-4312-A1F1-1A9CC5685EAB}" type="slidenum">
              <a:rPr lang="en-US" altLang="en-US" smtClean="0">
                <a:latin typeface="Times New Roman" pitchFamily="18" charset="0"/>
              </a:rPr>
              <a:pPr/>
              <a:t>23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A “prototype” is a declaration of a function or method. </a:t>
            </a:r>
          </a:p>
        </p:txBody>
      </p:sp>
    </p:spTree>
    <p:extLst>
      <p:ext uri="{BB962C8B-B14F-4D97-AF65-F5344CB8AC3E}">
        <p14:creationId xmlns:p14="http://schemas.microsoft.com/office/powerpoint/2010/main" val="82450381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ED64F5DF-0B52-4312-A1F1-1A9CC5685EAB}" type="slidenum">
              <a:rPr lang="en-US" altLang="en-US" smtClean="0">
                <a:latin typeface="Times New Roman" pitchFamily="18" charset="0"/>
              </a:rPr>
              <a:pPr/>
              <a:t>24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A “prototype” is a declaration of a function or method. </a:t>
            </a:r>
          </a:p>
        </p:txBody>
      </p:sp>
    </p:spTree>
    <p:extLst>
      <p:ext uri="{BB962C8B-B14F-4D97-AF65-F5344CB8AC3E}">
        <p14:creationId xmlns:p14="http://schemas.microsoft.com/office/powerpoint/2010/main" val="176282439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ED64F5DF-0B52-4312-A1F1-1A9CC5685EAB}" type="slidenum">
              <a:rPr lang="en-US" altLang="en-US" smtClean="0">
                <a:latin typeface="Times New Roman" pitchFamily="18" charset="0"/>
              </a:rPr>
              <a:pPr/>
              <a:t>25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A “prototype” is a declaration of a function or method. </a:t>
            </a:r>
          </a:p>
        </p:txBody>
      </p:sp>
    </p:spTree>
    <p:extLst>
      <p:ext uri="{BB962C8B-B14F-4D97-AF65-F5344CB8AC3E}">
        <p14:creationId xmlns:p14="http://schemas.microsoft.com/office/powerpoint/2010/main" val="246981686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ED64F5DF-0B52-4312-A1F1-1A9CC5685EAB}" type="slidenum">
              <a:rPr lang="en-US" altLang="en-US" smtClean="0">
                <a:latin typeface="Times New Roman" pitchFamily="18" charset="0"/>
              </a:rPr>
              <a:pPr/>
              <a:t>26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A “prototype” is a declaration of a function or method. </a:t>
            </a:r>
          </a:p>
        </p:txBody>
      </p:sp>
    </p:spTree>
    <p:extLst>
      <p:ext uri="{BB962C8B-B14F-4D97-AF65-F5344CB8AC3E}">
        <p14:creationId xmlns:p14="http://schemas.microsoft.com/office/powerpoint/2010/main" val="263789293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ED64F5DF-0B52-4312-A1F1-1A9CC5685EAB}" type="slidenum">
              <a:rPr lang="en-US" altLang="en-US" smtClean="0">
                <a:latin typeface="Times New Roman" pitchFamily="18" charset="0"/>
              </a:rPr>
              <a:pPr/>
              <a:t>27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A “prototype” is a declaration of a function or method. </a:t>
            </a:r>
          </a:p>
        </p:txBody>
      </p:sp>
    </p:spTree>
    <p:extLst>
      <p:ext uri="{BB962C8B-B14F-4D97-AF65-F5344CB8AC3E}">
        <p14:creationId xmlns:p14="http://schemas.microsoft.com/office/powerpoint/2010/main" val="5123493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ED64F5DF-0B52-4312-A1F1-1A9CC5685EAB}" type="slidenum">
              <a:rPr lang="en-US" altLang="en-US" smtClean="0">
                <a:latin typeface="Times New Roman" pitchFamily="18" charset="0"/>
              </a:rPr>
              <a:pPr/>
              <a:t>28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A “prototype” is a declaration of a function or method. </a:t>
            </a:r>
          </a:p>
        </p:txBody>
      </p:sp>
    </p:spTree>
    <p:extLst>
      <p:ext uri="{BB962C8B-B14F-4D97-AF65-F5344CB8AC3E}">
        <p14:creationId xmlns:p14="http://schemas.microsoft.com/office/powerpoint/2010/main" val="60631474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ED64F5DF-0B52-4312-A1F1-1A9CC5685EAB}" type="slidenum">
              <a:rPr lang="en-US" altLang="en-US" smtClean="0">
                <a:latin typeface="Times New Roman" pitchFamily="18" charset="0"/>
              </a:rPr>
              <a:pPr/>
              <a:t>29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A “prototype” is a declaration of a function or method. </a:t>
            </a:r>
          </a:p>
        </p:txBody>
      </p:sp>
    </p:spTree>
    <p:extLst>
      <p:ext uri="{BB962C8B-B14F-4D97-AF65-F5344CB8AC3E}">
        <p14:creationId xmlns:p14="http://schemas.microsoft.com/office/powerpoint/2010/main" val="11812660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ED64F5DF-0B52-4312-A1F1-1A9CC5685EAB}" type="slidenum">
              <a:rPr lang="en-US" altLang="en-US" smtClean="0">
                <a:latin typeface="Times New Roman" pitchFamily="18" charset="0"/>
              </a:rPr>
              <a:pPr/>
              <a:t>30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A “prototype” is a declaration of a function or method. </a:t>
            </a:r>
          </a:p>
        </p:txBody>
      </p:sp>
    </p:spTree>
    <p:extLst>
      <p:ext uri="{BB962C8B-B14F-4D97-AF65-F5344CB8AC3E}">
        <p14:creationId xmlns:p14="http://schemas.microsoft.com/office/powerpoint/2010/main" val="279318721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ED64F5DF-0B52-4312-A1F1-1A9CC5685EAB}" type="slidenum">
              <a:rPr lang="en-US" altLang="en-US" smtClean="0">
                <a:latin typeface="Times New Roman" pitchFamily="18" charset="0"/>
              </a:rPr>
              <a:pPr/>
              <a:t>31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A “prototype” is a declaration of a function or method. </a:t>
            </a:r>
          </a:p>
        </p:txBody>
      </p:sp>
    </p:spTree>
    <p:extLst>
      <p:ext uri="{BB962C8B-B14F-4D97-AF65-F5344CB8AC3E}">
        <p14:creationId xmlns:p14="http://schemas.microsoft.com/office/powerpoint/2010/main" val="110691085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ED64F5DF-0B52-4312-A1F1-1A9CC5685EAB}" type="slidenum">
              <a:rPr lang="en-US" altLang="en-US" smtClean="0">
                <a:latin typeface="Times New Roman" pitchFamily="18" charset="0"/>
              </a:rPr>
              <a:pPr/>
              <a:t>32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A “prototype” is a declaration of a function or method. </a:t>
            </a:r>
          </a:p>
        </p:txBody>
      </p:sp>
    </p:spTree>
    <p:extLst>
      <p:ext uri="{BB962C8B-B14F-4D97-AF65-F5344CB8AC3E}">
        <p14:creationId xmlns:p14="http://schemas.microsoft.com/office/powerpoint/2010/main" val="239573393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ED64F5DF-0B52-4312-A1F1-1A9CC5685EAB}" type="slidenum">
              <a:rPr lang="en-US" altLang="en-US" smtClean="0">
                <a:latin typeface="Times New Roman" pitchFamily="18" charset="0"/>
              </a:rPr>
              <a:pPr/>
              <a:t>33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A “prototype” is a declaration of a function or method. </a:t>
            </a:r>
          </a:p>
        </p:txBody>
      </p:sp>
    </p:spTree>
    <p:extLst>
      <p:ext uri="{BB962C8B-B14F-4D97-AF65-F5344CB8AC3E}">
        <p14:creationId xmlns:p14="http://schemas.microsoft.com/office/powerpoint/2010/main" val="173985625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ED64F5DF-0B52-4312-A1F1-1A9CC5685EAB}" type="slidenum">
              <a:rPr lang="en-US" altLang="en-US" smtClean="0">
                <a:latin typeface="Times New Roman" pitchFamily="18" charset="0"/>
              </a:rPr>
              <a:pPr/>
              <a:t>34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A “prototype” is a declaration of a function or method. </a:t>
            </a:r>
          </a:p>
        </p:txBody>
      </p:sp>
    </p:spTree>
    <p:extLst>
      <p:ext uri="{BB962C8B-B14F-4D97-AF65-F5344CB8AC3E}">
        <p14:creationId xmlns:p14="http://schemas.microsoft.com/office/powerpoint/2010/main" val="239506858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ED64F5DF-0B52-4312-A1F1-1A9CC5685EAB}" type="slidenum">
              <a:rPr lang="en-US" altLang="en-US" smtClean="0">
                <a:latin typeface="Times New Roman" pitchFamily="18" charset="0"/>
              </a:rPr>
              <a:pPr/>
              <a:t>35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A “prototype” is a declaration of a function or method. </a:t>
            </a:r>
          </a:p>
        </p:txBody>
      </p:sp>
    </p:spTree>
    <p:extLst>
      <p:ext uri="{BB962C8B-B14F-4D97-AF65-F5344CB8AC3E}">
        <p14:creationId xmlns:p14="http://schemas.microsoft.com/office/powerpoint/2010/main" val="166309445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ED64F5DF-0B52-4312-A1F1-1A9CC5685EAB}" type="slidenum">
              <a:rPr lang="en-US" altLang="en-US" smtClean="0">
                <a:latin typeface="Times New Roman" pitchFamily="18" charset="0"/>
              </a:rPr>
              <a:pPr/>
              <a:t>36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A “prototype” is a declaration of a function or method. </a:t>
            </a:r>
          </a:p>
        </p:txBody>
      </p:sp>
    </p:spTree>
    <p:extLst>
      <p:ext uri="{BB962C8B-B14F-4D97-AF65-F5344CB8AC3E}">
        <p14:creationId xmlns:p14="http://schemas.microsoft.com/office/powerpoint/2010/main" val="92730024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ED64F5DF-0B52-4312-A1F1-1A9CC5685EAB}" type="slidenum">
              <a:rPr lang="en-US" altLang="en-US" smtClean="0">
                <a:latin typeface="Times New Roman" pitchFamily="18" charset="0"/>
              </a:rPr>
              <a:pPr/>
              <a:t>37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A “prototype” is a declaration of a function or method. </a:t>
            </a:r>
          </a:p>
        </p:txBody>
      </p:sp>
    </p:spTree>
    <p:extLst>
      <p:ext uri="{BB962C8B-B14F-4D97-AF65-F5344CB8AC3E}">
        <p14:creationId xmlns:p14="http://schemas.microsoft.com/office/powerpoint/2010/main" val="194883761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ED64F5DF-0B52-4312-A1F1-1A9CC5685EAB}" type="slidenum">
              <a:rPr lang="en-US" altLang="en-US" smtClean="0">
                <a:latin typeface="Times New Roman" pitchFamily="18" charset="0"/>
              </a:rPr>
              <a:pPr/>
              <a:t>38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A “prototype” is a declaration of a function or method. </a:t>
            </a:r>
          </a:p>
        </p:txBody>
      </p:sp>
    </p:spTree>
    <p:extLst>
      <p:ext uri="{BB962C8B-B14F-4D97-AF65-F5344CB8AC3E}">
        <p14:creationId xmlns:p14="http://schemas.microsoft.com/office/powerpoint/2010/main" val="397366410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ED64F5DF-0B52-4312-A1F1-1A9CC5685EAB}" type="slidenum">
              <a:rPr lang="en-US" altLang="en-US" smtClean="0">
                <a:latin typeface="Times New Roman" pitchFamily="18" charset="0"/>
              </a:rPr>
              <a:pPr/>
              <a:t>39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A “prototype” is a declaration of a function or method. </a:t>
            </a:r>
          </a:p>
        </p:txBody>
      </p:sp>
    </p:spTree>
    <p:extLst>
      <p:ext uri="{BB962C8B-B14F-4D97-AF65-F5344CB8AC3E}">
        <p14:creationId xmlns:p14="http://schemas.microsoft.com/office/powerpoint/2010/main" val="109927697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ED64F5DF-0B52-4312-A1F1-1A9CC5685EAB}" type="slidenum">
              <a:rPr lang="en-US" altLang="en-US" smtClean="0">
                <a:latin typeface="Times New Roman" pitchFamily="18" charset="0"/>
              </a:rPr>
              <a:pPr/>
              <a:t>40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A “prototype” is a declaration of a function or method. </a:t>
            </a:r>
          </a:p>
        </p:txBody>
      </p:sp>
    </p:spTree>
    <p:extLst>
      <p:ext uri="{BB962C8B-B14F-4D97-AF65-F5344CB8AC3E}">
        <p14:creationId xmlns:p14="http://schemas.microsoft.com/office/powerpoint/2010/main" val="11812660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ED64F5DF-0B52-4312-A1F1-1A9CC5685EAB}" type="slidenum">
              <a:rPr lang="en-US" altLang="en-US" smtClean="0">
                <a:latin typeface="Times New Roman" pitchFamily="18" charset="0"/>
              </a:rPr>
              <a:pPr/>
              <a:t>41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A “prototype” is a declaration of a function or method. </a:t>
            </a:r>
          </a:p>
        </p:txBody>
      </p:sp>
    </p:spTree>
    <p:extLst>
      <p:ext uri="{BB962C8B-B14F-4D97-AF65-F5344CB8AC3E}">
        <p14:creationId xmlns:p14="http://schemas.microsoft.com/office/powerpoint/2010/main" val="166309445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ED64F5DF-0B52-4312-A1F1-1A9CC5685EAB}" type="slidenum">
              <a:rPr lang="en-US" altLang="en-US" smtClean="0">
                <a:latin typeface="Times New Roman" pitchFamily="18" charset="0"/>
              </a:rPr>
              <a:pPr/>
              <a:t>42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A “prototype” is a declaration of a function or method. </a:t>
            </a:r>
          </a:p>
        </p:txBody>
      </p:sp>
    </p:spTree>
    <p:extLst>
      <p:ext uri="{BB962C8B-B14F-4D97-AF65-F5344CB8AC3E}">
        <p14:creationId xmlns:p14="http://schemas.microsoft.com/office/powerpoint/2010/main" val="220502841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ED64F5DF-0B52-4312-A1F1-1A9CC5685EAB}" type="slidenum">
              <a:rPr lang="en-US" altLang="en-US" smtClean="0">
                <a:latin typeface="Times New Roman" pitchFamily="18" charset="0"/>
              </a:rPr>
              <a:pPr/>
              <a:t>43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A “prototype” is a declaration of a function or method. </a:t>
            </a:r>
          </a:p>
        </p:txBody>
      </p:sp>
    </p:spTree>
    <p:extLst>
      <p:ext uri="{BB962C8B-B14F-4D97-AF65-F5344CB8AC3E}">
        <p14:creationId xmlns:p14="http://schemas.microsoft.com/office/powerpoint/2010/main" val="1434727465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ED64F5DF-0B52-4312-A1F1-1A9CC5685EAB}" type="slidenum">
              <a:rPr lang="en-US" altLang="en-US" smtClean="0">
                <a:latin typeface="Times New Roman" pitchFamily="18" charset="0"/>
              </a:rPr>
              <a:pPr/>
              <a:t>44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A “prototype” is a declaration of a function or method. </a:t>
            </a:r>
          </a:p>
        </p:txBody>
      </p:sp>
    </p:spTree>
    <p:extLst>
      <p:ext uri="{BB962C8B-B14F-4D97-AF65-F5344CB8AC3E}">
        <p14:creationId xmlns:p14="http://schemas.microsoft.com/office/powerpoint/2010/main" val="21374728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ED64F5DF-0B52-4312-A1F1-1A9CC5685EAB}" type="slidenum">
              <a:rPr lang="en-US" altLang="en-US" smtClean="0">
                <a:latin typeface="Times New Roman" pitchFamily="18" charset="0"/>
              </a:rPr>
              <a:pPr/>
              <a:t>45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A “prototype” is a declaration of a function or method. </a:t>
            </a:r>
          </a:p>
        </p:txBody>
      </p:sp>
    </p:spTree>
    <p:extLst>
      <p:ext uri="{BB962C8B-B14F-4D97-AF65-F5344CB8AC3E}">
        <p14:creationId xmlns:p14="http://schemas.microsoft.com/office/powerpoint/2010/main" val="3973664100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ED64F5DF-0B52-4312-A1F1-1A9CC5685EAB}" type="slidenum">
              <a:rPr lang="en-US" altLang="en-US" smtClean="0">
                <a:latin typeface="Times New Roman" pitchFamily="18" charset="0"/>
              </a:rPr>
              <a:pPr/>
              <a:t>46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A “prototype” is a declaration of a function or method. </a:t>
            </a:r>
          </a:p>
        </p:txBody>
      </p:sp>
    </p:spTree>
    <p:extLst>
      <p:ext uri="{BB962C8B-B14F-4D97-AF65-F5344CB8AC3E}">
        <p14:creationId xmlns:p14="http://schemas.microsoft.com/office/powerpoint/2010/main" val="1692712347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ED64F5DF-0B52-4312-A1F1-1A9CC5685EAB}" type="slidenum">
              <a:rPr lang="en-US" altLang="en-US" smtClean="0">
                <a:latin typeface="Times New Roman" pitchFamily="18" charset="0"/>
              </a:rPr>
              <a:pPr/>
              <a:t>47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A “prototype” is a declaration of a function or method. </a:t>
            </a:r>
          </a:p>
        </p:txBody>
      </p:sp>
    </p:spTree>
    <p:extLst>
      <p:ext uri="{BB962C8B-B14F-4D97-AF65-F5344CB8AC3E}">
        <p14:creationId xmlns:p14="http://schemas.microsoft.com/office/powerpoint/2010/main" val="11812660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ED64F5DF-0B52-4312-A1F1-1A9CC5685EAB}" type="slidenum">
              <a:rPr lang="en-US" altLang="en-US" smtClean="0">
                <a:latin typeface="Times New Roman" pitchFamily="18" charset="0"/>
              </a:rPr>
              <a:pPr/>
              <a:t>48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A “prototype” is a declaration of a function or method. </a:t>
            </a:r>
          </a:p>
        </p:txBody>
      </p:sp>
    </p:spTree>
    <p:extLst>
      <p:ext uri="{BB962C8B-B14F-4D97-AF65-F5344CB8AC3E}">
        <p14:creationId xmlns:p14="http://schemas.microsoft.com/office/powerpoint/2010/main" val="1663094455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ED64F5DF-0B52-4312-A1F1-1A9CC5685EAB}" type="slidenum">
              <a:rPr lang="en-US" altLang="en-US" smtClean="0">
                <a:latin typeface="Times New Roman" pitchFamily="18" charset="0"/>
              </a:rPr>
              <a:pPr/>
              <a:t>49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A “prototype” is a declaration of a function or method. </a:t>
            </a:r>
          </a:p>
        </p:txBody>
      </p:sp>
    </p:spTree>
    <p:extLst>
      <p:ext uri="{BB962C8B-B14F-4D97-AF65-F5344CB8AC3E}">
        <p14:creationId xmlns:p14="http://schemas.microsoft.com/office/powerpoint/2010/main" val="1388530280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ED64F5DF-0B52-4312-A1F1-1A9CC5685EAB}" type="slidenum">
              <a:rPr lang="en-US" altLang="en-US" smtClean="0">
                <a:latin typeface="Times New Roman" pitchFamily="18" charset="0"/>
              </a:rPr>
              <a:pPr/>
              <a:t>50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A “prototype” is a declaration of a function or method. </a:t>
            </a:r>
          </a:p>
        </p:txBody>
      </p:sp>
    </p:spTree>
    <p:extLst>
      <p:ext uri="{BB962C8B-B14F-4D97-AF65-F5344CB8AC3E}">
        <p14:creationId xmlns:p14="http://schemas.microsoft.com/office/powerpoint/2010/main" val="3699205629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ED64F5DF-0B52-4312-A1F1-1A9CC5685EAB}" type="slidenum">
              <a:rPr lang="en-US" altLang="en-US" smtClean="0">
                <a:latin typeface="Times New Roman" pitchFamily="18" charset="0"/>
              </a:rPr>
              <a:pPr/>
              <a:t>51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A “prototype” is a declaration of a function or method. </a:t>
            </a:r>
          </a:p>
        </p:txBody>
      </p:sp>
    </p:spTree>
    <p:extLst>
      <p:ext uri="{BB962C8B-B14F-4D97-AF65-F5344CB8AC3E}">
        <p14:creationId xmlns:p14="http://schemas.microsoft.com/office/powerpoint/2010/main" val="2686747975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ED64F5DF-0B52-4312-A1F1-1A9CC5685EAB}" type="slidenum">
              <a:rPr lang="en-US" altLang="en-US" smtClean="0">
                <a:latin typeface="Times New Roman" pitchFamily="18" charset="0"/>
              </a:rPr>
              <a:pPr/>
              <a:t>52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A “prototype” is a declaration of a function or method. </a:t>
            </a:r>
          </a:p>
        </p:txBody>
      </p:sp>
    </p:spTree>
    <p:extLst>
      <p:ext uri="{BB962C8B-B14F-4D97-AF65-F5344CB8AC3E}">
        <p14:creationId xmlns:p14="http://schemas.microsoft.com/office/powerpoint/2010/main" val="3973664100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ED64F5DF-0B52-4312-A1F1-1A9CC5685EAB}" type="slidenum">
              <a:rPr lang="en-US" altLang="en-US" smtClean="0">
                <a:latin typeface="Times New Roman" pitchFamily="18" charset="0"/>
              </a:rPr>
              <a:pPr/>
              <a:t>53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A “prototype” is a declaration of a function or method. </a:t>
            </a:r>
          </a:p>
        </p:txBody>
      </p:sp>
    </p:spTree>
    <p:extLst>
      <p:ext uri="{BB962C8B-B14F-4D97-AF65-F5344CB8AC3E}">
        <p14:creationId xmlns:p14="http://schemas.microsoft.com/office/powerpoint/2010/main" val="1395048393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ED64F5DF-0B52-4312-A1F1-1A9CC5685EAB}" type="slidenum">
              <a:rPr lang="en-US" altLang="en-US" smtClean="0">
                <a:latin typeface="Times New Roman" pitchFamily="18" charset="0"/>
              </a:rPr>
              <a:pPr/>
              <a:t>54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A “prototype” is a declaration of a function or method. </a:t>
            </a:r>
          </a:p>
        </p:txBody>
      </p:sp>
    </p:spTree>
    <p:extLst>
      <p:ext uri="{BB962C8B-B14F-4D97-AF65-F5344CB8AC3E}">
        <p14:creationId xmlns:p14="http://schemas.microsoft.com/office/powerpoint/2010/main" val="1579233624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ED64F5DF-0B52-4312-A1F1-1A9CC5685EAB}" type="slidenum">
              <a:rPr lang="en-US" altLang="en-US" smtClean="0">
                <a:latin typeface="Times New Roman" pitchFamily="18" charset="0"/>
              </a:rPr>
              <a:pPr/>
              <a:t>55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A “prototype” is a declaration of a function or method. </a:t>
            </a:r>
          </a:p>
        </p:txBody>
      </p:sp>
    </p:spTree>
    <p:extLst>
      <p:ext uri="{BB962C8B-B14F-4D97-AF65-F5344CB8AC3E}">
        <p14:creationId xmlns:p14="http://schemas.microsoft.com/office/powerpoint/2010/main" val="11812660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ED64F5DF-0B52-4312-A1F1-1A9CC5685EAB}" type="slidenum">
              <a:rPr lang="en-US" altLang="en-US" smtClean="0">
                <a:latin typeface="Times New Roman" pitchFamily="18" charset="0"/>
              </a:rPr>
              <a:pPr/>
              <a:t>56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A “prototype” is a declaration of a function or method. </a:t>
            </a:r>
          </a:p>
        </p:txBody>
      </p:sp>
    </p:spTree>
    <p:extLst>
      <p:ext uri="{BB962C8B-B14F-4D97-AF65-F5344CB8AC3E}">
        <p14:creationId xmlns:p14="http://schemas.microsoft.com/office/powerpoint/2010/main" val="3747847087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ED64F5DF-0B52-4312-A1F1-1A9CC5685EAB}" type="slidenum">
              <a:rPr lang="en-US" altLang="en-US" smtClean="0">
                <a:latin typeface="Times New Roman" pitchFamily="18" charset="0"/>
              </a:rPr>
              <a:pPr/>
              <a:t>57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A “prototype” is a declaration of a function or method. </a:t>
            </a:r>
          </a:p>
        </p:txBody>
      </p:sp>
    </p:spTree>
    <p:extLst>
      <p:ext uri="{BB962C8B-B14F-4D97-AF65-F5344CB8AC3E}">
        <p14:creationId xmlns:p14="http://schemas.microsoft.com/office/powerpoint/2010/main" val="210503475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ED64F5DF-0B52-4312-A1F1-1A9CC5685EAB}" type="slidenum">
              <a:rPr lang="en-US" altLang="en-US" smtClean="0">
                <a:latin typeface="Times New Roman" pitchFamily="18" charset="0"/>
              </a:rPr>
              <a:pPr/>
              <a:t>58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A “prototype” is a declaration of a function or method. </a:t>
            </a:r>
          </a:p>
        </p:txBody>
      </p:sp>
    </p:spTree>
    <p:extLst>
      <p:ext uri="{BB962C8B-B14F-4D97-AF65-F5344CB8AC3E}">
        <p14:creationId xmlns:p14="http://schemas.microsoft.com/office/powerpoint/2010/main" val="1073021502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ED64F5DF-0B52-4312-A1F1-1A9CC5685EAB}" type="slidenum">
              <a:rPr lang="en-US" altLang="en-US" smtClean="0">
                <a:latin typeface="Times New Roman" pitchFamily="18" charset="0"/>
              </a:rPr>
              <a:pPr/>
              <a:t>59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A “prototype” is a declaration of a function or method. </a:t>
            </a:r>
          </a:p>
        </p:txBody>
      </p:sp>
    </p:spTree>
    <p:extLst>
      <p:ext uri="{BB962C8B-B14F-4D97-AF65-F5344CB8AC3E}">
        <p14:creationId xmlns:p14="http://schemas.microsoft.com/office/powerpoint/2010/main" val="2160539190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ED64F5DF-0B52-4312-A1F1-1A9CC5685EAB}" type="slidenum">
              <a:rPr lang="en-US" altLang="en-US" smtClean="0">
                <a:latin typeface="Times New Roman" pitchFamily="18" charset="0"/>
              </a:rPr>
              <a:pPr/>
              <a:t>60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A “prototype” is a declaration of a function or method. </a:t>
            </a:r>
          </a:p>
        </p:txBody>
      </p:sp>
    </p:spTree>
    <p:extLst>
      <p:ext uri="{BB962C8B-B14F-4D97-AF65-F5344CB8AC3E}">
        <p14:creationId xmlns:p14="http://schemas.microsoft.com/office/powerpoint/2010/main" val="11812660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ED64F5DF-0B52-4312-A1F1-1A9CC5685EAB}" type="slidenum">
              <a:rPr lang="en-US" altLang="en-US" smtClean="0">
                <a:latin typeface="Times New Roman" pitchFamily="18" charset="0"/>
              </a:rPr>
              <a:pPr/>
              <a:t>61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A “prototype” is a declaration of a function or method. </a:t>
            </a:r>
          </a:p>
        </p:txBody>
      </p:sp>
    </p:spTree>
    <p:extLst>
      <p:ext uri="{BB962C8B-B14F-4D97-AF65-F5344CB8AC3E}">
        <p14:creationId xmlns:p14="http://schemas.microsoft.com/office/powerpoint/2010/main" val="3747847087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ED64F5DF-0B52-4312-A1F1-1A9CC5685EAB}" type="slidenum">
              <a:rPr lang="en-US" altLang="en-US" smtClean="0">
                <a:latin typeface="Times New Roman" pitchFamily="18" charset="0"/>
              </a:rPr>
              <a:pPr/>
              <a:t>62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A “prototype” is a declaration of a function or method. </a:t>
            </a:r>
          </a:p>
        </p:txBody>
      </p:sp>
    </p:spTree>
    <p:extLst>
      <p:ext uri="{BB962C8B-B14F-4D97-AF65-F5344CB8AC3E}">
        <p14:creationId xmlns:p14="http://schemas.microsoft.com/office/powerpoint/2010/main" val="3423847083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ED64F5DF-0B52-4312-A1F1-1A9CC5685EAB}" type="slidenum">
              <a:rPr lang="en-US" altLang="en-US" smtClean="0">
                <a:latin typeface="Times New Roman" pitchFamily="18" charset="0"/>
              </a:rPr>
              <a:pPr/>
              <a:t>63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A “prototype” is a declaration of a function or method. </a:t>
            </a:r>
          </a:p>
        </p:txBody>
      </p:sp>
    </p:spTree>
    <p:extLst>
      <p:ext uri="{BB962C8B-B14F-4D97-AF65-F5344CB8AC3E}">
        <p14:creationId xmlns:p14="http://schemas.microsoft.com/office/powerpoint/2010/main" val="1296577702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ED64F5DF-0B52-4312-A1F1-1A9CC5685EAB}" type="slidenum">
              <a:rPr lang="en-US" altLang="en-US" smtClean="0">
                <a:latin typeface="Times New Roman" pitchFamily="18" charset="0"/>
              </a:rPr>
              <a:pPr/>
              <a:t>64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A “prototype” is a declaration of a function or method. </a:t>
            </a:r>
          </a:p>
        </p:txBody>
      </p:sp>
    </p:spTree>
    <p:extLst>
      <p:ext uri="{BB962C8B-B14F-4D97-AF65-F5344CB8AC3E}">
        <p14:creationId xmlns:p14="http://schemas.microsoft.com/office/powerpoint/2010/main" val="1085045882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ED64F5DF-0B52-4312-A1F1-1A9CC5685EAB}" type="slidenum">
              <a:rPr lang="en-US" altLang="en-US" smtClean="0">
                <a:latin typeface="Times New Roman" pitchFamily="18" charset="0"/>
              </a:rPr>
              <a:pPr/>
              <a:t>65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A “prototype” is a declaration of a function or method. </a:t>
            </a:r>
          </a:p>
        </p:txBody>
      </p:sp>
    </p:spTree>
    <p:extLst>
      <p:ext uri="{BB962C8B-B14F-4D97-AF65-F5344CB8AC3E}">
        <p14:creationId xmlns:p14="http://schemas.microsoft.com/office/powerpoint/2010/main" val="2289695392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ED64F5DF-0B52-4312-A1F1-1A9CC5685EAB}" type="slidenum">
              <a:rPr lang="en-US" altLang="en-US" smtClean="0">
                <a:latin typeface="Times New Roman" pitchFamily="18" charset="0"/>
              </a:rPr>
              <a:pPr/>
              <a:t>66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A “prototype” is a declaration of a function or method. </a:t>
            </a:r>
          </a:p>
        </p:txBody>
      </p:sp>
    </p:spTree>
    <p:extLst>
      <p:ext uri="{BB962C8B-B14F-4D97-AF65-F5344CB8AC3E}">
        <p14:creationId xmlns:p14="http://schemas.microsoft.com/office/powerpoint/2010/main" val="4172500499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ED64F5DF-0B52-4312-A1F1-1A9CC5685EAB}" type="slidenum">
              <a:rPr lang="en-US" altLang="en-US" smtClean="0">
                <a:latin typeface="Times New Roman" pitchFamily="18" charset="0"/>
              </a:rPr>
              <a:pPr/>
              <a:t>67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A “prototype” is a declaration of a function or method. </a:t>
            </a:r>
          </a:p>
        </p:txBody>
      </p:sp>
    </p:spTree>
    <p:extLst>
      <p:ext uri="{BB962C8B-B14F-4D97-AF65-F5344CB8AC3E}">
        <p14:creationId xmlns:p14="http://schemas.microsoft.com/office/powerpoint/2010/main" val="381681812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ED64F5DF-0B52-4312-A1F1-1A9CC5685EAB}" type="slidenum">
              <a:rPr lang="en-US" altLang="en-US" smtClean="0">
                <a:latin typeface="Times New Roman" pitchFamily="18" charset="0"/>
              </a:rPr>
              <a:pPr/>
              <a:t>68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A “prototype” is a declaration of a function or method. </a:t>
            </a:r>
          </a:p>
        </p:txBody>
      </p:sp>
    </p:spTree>
    <p:extLst>
      <p:ext uri="{BB962C8B-B14F-4D97-AF65-F5344CB8AC3E}">
        <p14:creationId xmlns:p14="http://schemas.microsoft.com/office/powerpoint/2010/main" val="11812660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ED64F5DF-0B52-4312-A1F1-1A9CC5685EAB}" type="slidenum">
              <a:rPr lang="en-US" altLang="en-US" smtClean="0">
                <a:latin typeface="Times New Roman" pitchFamily="18" charset="0"/>
              </a:rPr>
              <a:pPr/>
              <a:t>69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A “prototype” is a declaration of a function or method. </a:t>
            </a:r>
          </a:p>
        </p:txBody>
      </p:sp>
    </p:spTree>
    <p:extLst>
      <p:ext uri="{BB962C8B-B14F-4D97-AF65-F5344CB8AC3E}">
        <p14:creationId xmlns:p14="http://schemas.microsoft.com/office/powerpoint/2010/main" val="2973443553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ED64F5DF-0B52-4312-A1F1-1A9CC5685EAB}" type="slidenum">
              <a:rPr lang="en-US" altLang="en-US" smtClean="0">
                <a:latin typeface="Times New Roman" pitchFamily="18" charset="0"/>
              </a:rPr>
              <a:pPr/>
              <a:t>70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A “prototype” is a declaration of a function or method. </a:t>
            </a:r>
          </a:p>
        </p:txBody>
      </p:sp>
    </p:spTree>
    <p:extLst>
      <p:ext uri="{BB962C8B-B14F-4D97-AF65-F5344CB8AC3E}">
        <p14:creationId xmlns:p14="http://schemas.microsoft.com/office/powerpoint/2010/main" val="307934765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ED64F5DF-0B52-4312-A1F1-1A9CC5685EAB}" type="slidenum">
              <a:rPr lang="en-US" altLang="en-US" smtClean="0">
                <a:latin typeface="Times New Roman" pitchFamily="18" charset="0"/>
              </a:rPr>
              <a:pPr/>
              <a:t>71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A “prototype” is a declaration of a function or method. </a:t>
            </a:r>
          </a:p>
        </p:txBody>
      </p:sp>
    </p:spTree>
    <p:extLst>
      <p:ext uri="{BB962C8B-B14F-4D97-AF65-F5344CB8AC3E}">
        <p14:creationId xmlns:p14="http://schemas.microsoft.com/office/powerpoint/2010/main" val="3747847087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ED64F5DF-0B52-4312-A1F1-1A9CC5685EAB}" type="slidenum">
              <a:rPr lang="en-US" altLang="en-US" smtClean="0">
                <a:latin typeface="Times New Roman" pitchFamily="18" charset="0"/>
              </a:rPr>
              <a:pPr/>
              <a:t>72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A “prototype” is a declaration of a function or method. </a:t>
            </a:r>
          </a:p>
        </p:txBody>
      </p:sp>
    </p:spTree>
    <p:extLst>
      <p:ext uri="{BB962C8B-B14F-4D97-AF65-F5344CB8AC3E}">
        <p14:creationId xmlns:p14="http://schemas.microsoft.com/office/powerpoint/2010/main" val="1738271953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ED64F5DF-0B52-4312-A1F1-1A9CC5685EAB}" type="slidenum">
              <a:rPr lang="en-US" altLang="en-US" smtClean="0">
                <a:latin typeface="Times New Roman" pitchFamily="18" charset="0"/>
              </a:rPr>
              <a:pPr/>
              <a:t>73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A “prototype” is a declaration of a function or method. </a:t>
            </a:r>
          </a:p>
        </p:txBody>
      </p:sp>
    </p:spTree>
    <p:extLst>
      <p:ext uri="{BB962C8B-B14F-4D97-AF65-F5344CB8AC3E}">
        <p14:creationId xmlns:p14="http://schemas.microsoft.com/office/powerpoint/2010/main" val="381681812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ED64F5DF-0B52-4312-A1F1-1A9CC5685EAB}" type="slidenum">
              <a:rPr lang="en-US" altLang="en-US" smtClean="0">
                <a:latin typeface="Times New Roman" pitchFamily="18" charset="0"/>
              </a:rPr>
              <a:pPr/>
              <a:t>74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A “prototype” is a declaration of a function or method. </a:t>
            </a:r>
          </a:p>
        </p:txBody>
      </p:sp>
    </p:spTree>
    <p:extLst>
      <p:ext uri="{BB962C8B-B14F-4D97-AF65-F5344CB8AC3E}">
        <p14:creationId xmlns:p14="http://schemas.microsoft.com/office/powerpoint/2010/main" val="2326929928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ED64F5DF-0B52-4312-A1F1-1A9CC5685EAB}" type="slidenum">
              <a:rPr lang="en-US" altLang="en-US" smtClean="0">
                <a:latin typeface="Times New Roman" pitchFamily="18" charset="0"/>
              </a:rPr>
              <a:pPr/>
              <a:t>75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A “prototype” is a declaration of a function or method. </a:t>
            </a:r>
          </a:p>
        </p:txBody>
      </p:sp>
    </p:spTree>
    <p:extLst>
      <p:ext uri="{BB962C8B-B14F-4D97-AF65-F5344CB8AC3E}">
        <p14:creationId xmlns:p14="http://schemas.microsoft.com/office/powerpoint/2010/main" val="355689675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373" indent="-302067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267" indent="-241654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574" indent="-241654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880" indent="-241654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8188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1495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801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8108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76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23870142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>
                  <a:defRPr/>
                </a:pPr>
                <a:endParaRPr lang="en-US" altLang="en-US"/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>
                  <a:defRPr/>
                </a:pPr>
                <a:endParaRPr lang="en-US" altLang="en-US"/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>
                  <a:defRPr/>
                </a:pPr>
                <a:endParaRPr lang="en-US" altLang="en-US"/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>
                  <a:defRPr/>
                </a:pPr>
                <a:endParaRPr lang="en-US" altLang="en-US"/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</p:grpSp>
      <p:sp>
        <p:nvSpPr>
          <p:cNvPr id="138252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8253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5EB65EF9-C149-4E5B-BEA8-44287920F813}" type="datetime1">
              <a:rPr lang="en-US" smtClean="0"/>
              <a:t>7/15/2021</a:t>
            </a:fld>
            <a:endParaRPr lang="en-US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r>
              <a:rPr lang="en-US"/>
              <a:t>Copyright (c) John K. Ostlund</a:t>
            </a:r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5239B93A-74DE-4B25-B352-2D94A7B0ECE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8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CE6832-6BD4-4A6C-91DA-31F3E770C91E}" type="datetime1">
              <a:rPr lang="en-US" smtClean="0"/>
              <a:t>7/15/2021</a:t>
            </a:fld>
            <a:endParaRPr 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(c) John K. Ostlund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9676BE-5AF2-4172-BD19-31A2F83EF2E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231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7C15C1-8FA5-45A8-AEDE-3FE687490E86}" type="datetime1">
              <a:rPr lang="en-US" smtClean="0"/>
              <a:t>7/15/2021</a:t>
            </a:fld>
            <a:endParaRPr 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(c) John K. Ostlund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441145-DF2F-4F5F-87FB-6F34B812BFA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5709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A107D5-338D-4E60-9F7B-5BC2FA2BFF9D}" type="datetime1">
              <a:rPr lang="en-US" smtClean="0"/>
              <a:t>7/15/2021</a:t>
            </a:fld>
            <a:endParaRPr 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(c) John K. Ostlund</a:t>
            </a: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3359A0-D876-470E-A03B-B54B4EF9A55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7320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DC6272-EFD4-47F9-BD12-5822791D518E}" type="datetime1">
              <a:rPr lang="en-US" smtClean="0"/>
              <a:t>7/15/2021</a:t>
            </a:fld>
            <a:endParaRPr lang="en-US"/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(c) John K. Ostlund</a:t>
            </a:r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55BDD2-431D-4473-B6F1-AD9C47ED042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4909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B8863C-C396-4554-B7FD-ADE133543E65}" type="datetime1">
              <a:rPr lang="en-US" smtClean="0"/>
              <a:t>7/15/2021</a:t>
            </a:fld>
            <a:endParaRPr lang="en-US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(c) John K. Ostlund</a:t>
            </a: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BC0419-96C4-40C9-AA2D-27D42EB4E32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917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4067CA-5841-4831-8F62-8A848C1DA48D}" type="datetime1">
              <a:rPr lang="en-US" smtClean="0"/>
              <a:t>7/15/2021</a:t>
            </a:fld>
            <a:endParaRPr lang="en-US"/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(c) John K. Ostlund</a:t>
            </a:r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862B98-9A01-4C44-BDC6-515C05E58F7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6482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44C391-9417-482B-A325-BD47A31486DE}" type="datetime1">
              <a:rPr lang="en-US" smtClean="0"/>
              <a:t>7/15/2021</a:t>
            </a:fld>
            <a:endParaRPr 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(c) John K. Ostlund</a:t>
            </a: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2D8208-D527-49A2-9034-D654B1EF281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3744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482FE6-0D9C-4216-8197-A57596A7D130}" type="datetime1">
              <a:rPr lang="en-US" smtClean="0"/>
              <a:t>7/15/2021</a:t>
            </a:fld>
            <a:endParaRPr 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(c) John K. Ostlund</a:t>
            </a: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169637-7F5D-47B5-84F3-031C50CD82B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2047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068B98-E851-4765-AF99-1F026A6BED09}" type="datetime1">
              <a:rPr lang="en-US" smtClean="0"/>
              <a:t>7/15/2021</a:t>
            </a:fld>
            <a:endParaRPr 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(c) John K. Ostlund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9F3A7A-80FC-4CCB-802A-CD06628E145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0638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542FF8-E5E9-4BE8-A9B5-625227FF880E}" type="datetime1">
              <a:rPr lang="en-US" smtClean="0"/>
              <a:t>7/15/2021</a:t>
            </a:fld>
            <a:endParaRPr 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(c) John K. Ostlund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5F157A-85D2-470A-87E4-A935A04F8C7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541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altLang="en-US" sz="2400"/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altLang="en-US" sz="2400"/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altLang="en-US" sz="2400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altLang="en-US" sz="2400"/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altLang="en-US" sz="2400"/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altLang="en-US" sz="2400"/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altLang="en-US" sz="2400"/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37227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fld id="{E0054407-CF2D-4370-93D8-09D4B0B02375}" type="datetime1">
              <a:rPr lang="en-US" smtClean="0"/>
              <a:t>7/15/2021</a:t>
            </a:fld>
            <a:endParaRPr lang="en-US"/>
          </a:p>
        </p:txBody>
      </p:sp>
      <p:sp>
        <p:nvSpPr>
          <p:cNvPr id="137228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r>
              <a:rPr lang="en-US"/>
              <a:t>Copyright (c) John K. Ostlund</a:t>
            </a:r>
          </a:p>
        </p:txBody>
      </p:sp>
      <p:sp>
        <p:nvSpPr>
          <p:cNvPr id="137229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B6BFBACB-D4B5-4FCB-958C-A311D48A19C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8" r:id="rId1"/>
    <p:sldLayoutId id="2147483808" r:id="rId2"/>
    <p:sldLayoutId id="2147483809" r:id="rId3"/>
    <p:sldLayoutId id="2147483810" r:id="rId4"/>
    <p:sldLayoutId id="2147483811" r:id="rId5"/>
    <p:sldLayoutId id="2147483812" r:id="rId6"/>
    <p:sldLayoutId id="2147483813" r:id="rId7"/>
    <p:sldLayoutId id="2147483814" r:id="rId8"/>
    <p:sldLayoutId id="2147483815" r:id="rId9"/>
    <p:sldLayoutId id="2147483816" r:id="rId10"/>
    <p:sldLayoutId id="2147483817" r:id="rId11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MSCF Python Programming Basics -- 2021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657600"/>
            <a:ext cx="6400800" cy="2209800"/>
          </a:xfrm>
        </p:spPr>
        <p:txBody>
          <a:bodyPr/>
          <a:lstStyle/>
          <a:p>
            <a:pPr eaLnBrk="1" hangingPunct="1"/>
            <a:r>
              <a:rPr lang="en-US" altLang="en-US" dirty="0"/>
              <a:t>MSCF, Carnegie Mellon University</a:t>
            </a:r>
          </a:p>
          <a:p>
            <a:pPr eaLnBrk="1" hangingPunct="1"/>
            <a:r>
              <a:rPr lang="en-US" altLang="en-US" dirty="0"/>
              <a:t>Week 5: "Big-O" Notation and</a:t>
            </a:r>
          </a:p>
          <a:p>
            <a:pPr eaLnBrk="1" hangingPunct="1"/>
            <a:r>
              <a:rPr lang="en-US" altLang="en-US" dirty="0"/>
              <a:t>Sorting Algorithms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546B670-63B9-4A4C-AEA8-1FEC93EE20C5}" type="datetime1">
              <a:rPr lang="en-US" smtClean="0"/>
              <a:t>7/15/2021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John K. Ostlund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239B93A-74DE-4B25-B352-2D94A7B0ECE9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Linear Search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981200"/>
            <a:ext cx="7772400" cy="4114800"/>
          </a:xfrm>
        </p:spPr>
        <p:txBody>
          <a:bodyPr/>
          <a:lstStyle/>
          <a:p>
            <a:pPr marL="533400" indent="-533400" eaLnBrk="1" hangingPunct="1">
              <a:lnSpc>
                <a:spcPct val="90000"/>
              </a:lnSpc>
              <a:defRPr/>
            </a:pPr>
            <a:r>
              <a:rPr lang="en-US" altLang="en-US" sz="2400" dirty="0"/>
              <a:t>Suppose we have an </a:t>
            </a:r>
            <a:r>
              <a:rPr lang="en-US" altLang="en-US" sz="2400" i="1" dirty="0"/>
              <a:t>unordered</a:t>
            </a:r>
            <a:r>
              <a:rPr lang="en-US" altLang="en-US" sz="2400" dirty="0"/>
              <a:t> sequence, </a:t>
            </a:r>
            <a:r>
              <a:rPr lang="en-US" altLang="en-US" sz="2400" b="1" dirty="0"/>
              <a:t>v</a:t>
            </a:r>
            <a:r>
              <a:rPr lang="en-US" altLang="en-US" sz="2400" dirty="0"/>
              <a:t>, of values</a:t>
            </a:r>
          </a:p>
          <a:p>
            <a:pPr marL="933450" lvl="1" indent="-533400" eaLnBrk="1" hangingPunct="1">
              <a:lnSpc>
                <a:spcPct val="90000"/>
              </a:lnSpc>
              <a:defRPr/>
            </a:pPr>
            <a:r>
              <a:rPr lang="en-US" altLang="en-US" sz="2000" dirty="0"/>
              <a:t>We need to search for some specific value, </a:t>
            </a:r>
            <a:r>
              <a:rPr lang="en-US" altLang="en-US" sz="2000" b="1" dirty="0"/>
              <a:t>j</a:t>
            </a:r>
          </a:p>
          <a:p>
            <a:pPr marL="933450" lvl="1" indent="-533400" eaLnBrk="1" hangingPunct="1">
              <a:lnSpc>
                <a:spcPct val="90000"/>
              </a:lnSpc>
              <a:defRPr/>
            </a:pPr>
            <a:endParaRPr lang="en-US" altLang="en-US" sz="1000" b="1" dirty="0"/>
          </a:p>
          <a:p>
            <a:pPr marL="533400" indent="-533400" eaLnBrk="1" hangingPunct="1">
              <a:lnSpc>
                <a:spcPct val="90000"/>
              </a:lnSpc>
              <a:defRPr/>
            </a:pPr>
            <a:r>
              <a:rPr lang="en-US" altLang="en-US" sz="2400" dirty="0"/>
              <a:t>Since we have no information about where </a:t>
            </a:r>
            <a:r>
              <a:rPr lang="en-US" altLang="en-US" sz="2400" b="1" dirty="0"/>
              <a:t>j</a:t>
            </a:r>
            <a:r>
              <a:rPr lang="en-US" altLang="en-US" sz="2400" dirty="0"/>
              <a:t> might be in </a:t>
            </a:r>
            <a:r>
              <a:rPr lang="en-US" altLang="en-US" sz="2400" b="1" dirty="0"/>
              <a:t>v</a:t>
            </a:r>
            <a:r>
              <a:rPr lang="en-US" altLang="en-US" sz="2400" dirty="0"/>
              <a:t>, we have to check each value in </a:t>
            </a:r>
            <a:r>
              <a:rPr lang="en-US" altLang="en-US" sz="2400" b="1" dirty="0"/>
              <a:t>v</a:t>
            </a:r>
            <a:r>
              <a:rPr lang="en-US" altLang="en-US" sz="2400" dirty="0"/>
              <a:t> until either</a:t>
            </a:r>
          </a:p>
          <a:p>
            <a:pPr marL="933450" lvl="1" indent="-533400" eaLnBrk="1" hangingPunct="1">
              <a:lnSpc>
                <a:spcPct val="90000"/>
              </a:lnSpc>
              <a:defRPr/>
            </a:pPr>
            <a:r>
              <a:rPr lang="en-US" altLang="en-US" sz="2000" b="1" dirty="0"/>
              <a:t>j</a:t>
            </a:r>
            <a:r>
              <a:rPr lang="en-US" altLang="en-US" sz="2000" dirty="0"/>
              <a:t> is found, or</a:t>
            </a:r>
          </a:p>
          <a:p>
            <a:pPr marL="933450" lvl="1" indent="-533400" eaLnBrk="1" hangingPunct="1">
              <a:lnSpc>
                <a:spcPct val="90000"/>
              </a:lnSpc>
              <a:defRPr/>
            </a:pPr>
            <a:r>
              <a:rPr lang="en-US" altLang="en-US" sz="2000" dirty="0"/>
              <a:t>We exhaust all values in </a:t>
            </a:r>
            <a:r>
              <a:rPr lang="en-US" altLang="en-US" sz="2000" b="1" dirty="0"/>
              <a:t>v</a:t>
            </a:r>
            <a:r>
              <a:rPr lang="en-US" altLang="en-US" sz="2000" dirty="0"/>
              <a:t> without finding </a:t>
            </a:r>
            <a:r>
              <a:rPr lang="en-US" altLang="en-US" sz="2000" b="1" dirty="0"/>
              <a:t>j</a:t>
            </a:r>
          </a:p>
          <a:p>
            <a:pPr marL="933450" lvl="1" indent="-533400" eaLnBrk="1" hangingPunct="1">
              <a:lnSpc>
                <a:spcPct val="90000"/>
              </a:lnSpc>
              <a:defRPr/>
            </a:pPr>
            <a:endParaRPr lang="en-US" altLang="en-US" sz="1000" b="1" dirty="0"/>
          </a:p>
          <a:p>
            <a:pPr marL="533400" indent="-533400" eaLnBrk="1" hangingPunct="1">
              <a:lnSpc>
                <a:spcPct val="90000"/>
              </a:lnSpc>
              <a:defRPr/>
            </a:pPr>
            <a:r>
              <a:rPr lang="en-US" altLang="en-US" sz="2400" dirty="0"/>
              <a:t>It should be "clear" that doubling the length of </a:t>
            </a:r>
            <a:r>
              <a:rPr lang="en-US" altLang="en-US" sz="2400" b="1" dirty="0"/>
              <a:t>v</a:t>
            </a:r>
            <a:r>
              <a:rPr lang="en-US" altLang="en-US" sz="2400" dirty="0"/>
              <a:t> will, on average, </a:t>
            </a:r>
            <a:r>
              <a:rPr lang="en-US" altLang="en-US" sz="2400" i="1" dirty="0"/>
              <a:t>double</a:t>
            </a:r>
            <a:r>
              <a:rPr lang="en-US" altLang="en-US" sz="2400" dirty="0"/>
              <a:t> the search time for </a:t>
            </a:r>
            <a:r>
              <a:rPr lang="en-US" altLang="en-US" sz="2400" b="1" dirty="0"/>
              <a:t>j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6A67CE0-F0E5-41A8-A405-D295D96172D8}" type="datetime1">
              <a:rPr lang="en-US" smtClean="0"/>
              <a:t>7/15/2021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Copyright (c) John K. </a:t>
            </a:r>
            <a:r>
              <a:rPr lang="en-US" dirty="0" err="1"/>
              <a:t>Ostlund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72943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>
            <a:extLst>
              <a:ext uri="{FF2B5EF4-FFF2-40B4-BE49-F238E27FC236}">
                <a16:creationId xmlns:a16="http://schemas.microsoft.com/office/drawing/2014/main" id="{DD785B32-0BD4-4D55-A597-5644DC3176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2688" y="1987256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altLang="en-US" sz="20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def </a:t>
            </a:r>
            <a:r>
              <a:rPr lang="en-US" altLang="en-US" sz="2000" b="1" kern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linear_search</a:t>
            </a:r>
            <a:r>
              <a:rPr lang="en-US" altLang="en-US" sz="20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(v, j): </a:t>
            </a:r>
            <a:r>
              <a:rPr lang="en-US" altLang="en-US" sz="20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 # v is unordered</a:t>
            </a: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altLang="en-US" sz="20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2000" b="1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'''return True if j in v, else False'''</a:t>
            </a: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altLang="en-US" sz="20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   for </a:t>
            </a:r>
            <a:r>
              <a:rPr lang="en-US" altLang="en-US" sz="2000" b="1" kern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altLang="en-US" sz="20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in v:</a:t>
            </a: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altLang="en-US" sz="20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       if </a:t>
            </a:r>
            <a:r>
              <a:rPr lang="en-US" altLang="en-US" sz="2000" b="1" kern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altLang="en-US" sz="20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== j:</a:t>
            </a: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altLang="en-US" sz="20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return True</a:t>
            </a: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altLang="en-US" sz="20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   return False</a:t>
            </a:r>
            <a:endParaRPr lang="en-US" altLang="en-US" sz="1600" b="1" kern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Linear Search: Python Code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6A67CE0-F0E5-41A8-A405-D295D96172D8}" type="datetime1">
              <a:rPr lang="en-US" smtClean="0"/>
              <a:t>7/15/2021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Copyright (c) John K. </a:t>
            </a:r>
            <a:r>
              <a:rPr lang="en-US" dirty="0" err="1"/>
              <a:t>Ostlund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94521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Binary Search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981200"/>
            <a:ext cx="7772400" cy="4114800"/>
          </a:xfrm>
        </p:spPr>
        <p:txBody>
          <a:bodyPr/>
          <a:lstStyle/>
          <a:p>
            <a:pPr marL="533400" indent="-533400" eaLnBrk="1" hangingPunct="1">
              <a:lnSpc>
                <a:spcPct val="90000"/>
              </a:lnSpc>
              <a:defRPr/>
            </a:pPr>
            <a:r>
              <a:rPr lang="en-US" altLang="en-US" sz="2400" dirty="0"/>
              <a:t>Suppose we have a </a:t>
            </a:r>
            <a:r>
              <a:rPr lang="en-US" altLang="en-US" sz="2400" i="1" dirty="0"/>
              <a:t>sorted </a:t>
            </a:r>
            <a:r>
              <a:rPr lang="en-US" altLang="en-US" sz="2400" dirty="0"/>
              <a:t>(non-descending) sequence, </a:t>
            </a:r>
            <a:r>
              <a:rPr lang="en-US" altLang="en-US" sz="2400" b="1" dirty="0"/>
              <a:t>v</a:t>
            </a:r>
            <a:r>
              <a:rPr lang="en-US" altLang="en-US" sz="2400" dirty="0"/>
              <a:t>, of values</a:t>
            </a:r>
          </a:p>
          <a:p>
            <a:pPr marL="933450" lvl="1" indent="-533400" eaLnBrk="1" hangingPunct="1">
              <a:lnSpc>
                <a:spcPct val="90000"/>
              </a:lnSpc>
              <a:defRPr/>
            </a:pPr>
            <a:r>
              <a:rPr lang="en-US" altLang="en-US" sz="2000" dirty="0"/>
              <a:t>We need to search for some specific value, </a:t>
            </a:r>
            <a:r>
              <a:rPr lang="en-US" altLang="en-US" sz="2000" b="1" dirty="0"/>
              <a:t>j</a:t>
            </a:r>
          </a:p>
          <a:p>
            <a:pPr marL="933450" lvl="1" indent="-533400" eaLnBrk="1" hangingPunct="1">
              <a:lnSpc>
                <a:spcPct val="90000"/>
              </a:lnSpc>
              <a:defRPr/>
            </a:pPr>
            <a:endParaRPr lang="en-US" altLang="en-US" sz="1000" b="1" dirty="0"/>
          </a:p>
          <a:p>
            <a:pPr marL="533400" indent="-533400" eaLnBrk="1" hangingPunct="1">
              <a:lnSpc>
                <a:spcPct val="90000"/>
              </a:lnSpc>
              <a:defRPr/>
            </a:pPr>
            <a:r>
              <a:rPr lang="en-US" altLang="en-US" sz="2400" dirty="0"/>
              <a:t>If </a:t>
            </a:r>
            <a:r>
              <a:rPr lang="en-US" altLang="en-US" sz="2400" b="1" dirty="0"/>
              <a:t>v[</a:t>
            </a:r>
            <a:r>
              <a:rPr lang="en-US" altLang="en-US" sz="2400" i="1" dirty="0" err="1"/>
              <a:t>mid_point</a:t>
            </a:r>
            <a:r>
              <a:rPr lang="en-US" altLang="en-US" sz="2400" b="1" dirty="0"/>
              <a:t>] &lt; j</a:t>
            </a:r>
          </a:p>
          <a:p>
            <a:pPr marL="933450" lvl="1" indent="-533400" eaLnBrk="1" hangingPunct="1">
              <a:lnSpc>
                <a:spcPct val="90000"/>
              </a:lnSpc>
              <a:defRPr/>
            </a:pPr>
            <a:r>
              <a:rPr lang="en-US" altLang="en-US" sz="2000" dirty="0"/>
              <a:t>Look for </a:t>
            </a:r>
            <a:r>
              <a:rPr lang="en-US" altLang="en-US" sz="2000" b="1" dirty="0"/>
              <a:t>j</a:t>
            </a:r>
            <a:r>
              <a:rPr lang="en-US" altLang="en-US" sz="2000" dirty="0"/>
              <a:t> to the </a:t>
            </a:r>
            <a:r>
              <a:rPr lang="en-US" altLang="en-US" sz="2000" i="1" dirty="0"/>
              <a:t>right</a:t>
            </a:r>
            <a:r>
              <a:rPr lang="en-US" altLang="en-US" sz="2000" dirty="0"/>
              <a:t> of </a:t>
            </a:r>
            <a:r>
              <a:rPr lang="en-US" altLang="en-US" sz="2000" i="1" dirty="0" err="1"/>
              <a:t>mid_point</a:t>
            </a:r>
            <a:endParaRPr lang="en-US" altLang="en-US" sz="2000" i="1" dirty="0"/>
          </a:p>
          <a:p>
            <a:pPr marL="933450" lvl="1" indent="-533400" eaLnBrk="1" hangingPunct="1">
              <a:lnSpc>
                <a:spcPct val="90000"/>
              </a:lnSpc>
              <a:defRPr/>
            </a:pPr>
            <a:r>
              <a:rPr lang="en-US" altLang="en-US" sz="2000" dirty="0"/>
              <a:t>Else, to the </a:t>
            </a:r>
            <a:r>
              <a:rPr lang="en-US" altLang="en-US" sz="2000" i="1" dirty="0"/>
              <a:t>left</a:t>
            </a:r>
          </a:p>
          <a:p>
            <a:pPr marL="933450" lvl="1" indent="-533400" eaLnBrk="1" hangingPunct="1">
              <a:lnSpc>
                <a:spcPct val="90000"/>
              </a:lnSpc>
              <a:defRPr/>
            </a:pPr>
            <a:r>
              <a:rPr lang="en-US" altLang="en-US" sz="2000" dirty="0"/>
              <a:t>Repeat, iteratively or recursively, until </a:t>
            </a:r>
            <a:r>
              <a:rPr lang="en-US" altLang="en-US" sz="2000" i="1" dirty="0"/>
              <a:t>just one</a:t>
            </a:r>
            <a:r>
              <a:rPr lang="en-US" altLang="en-US" sz="2000" dirty="0"/>
              <a:t> item of </a:t>
            </a:r>
            <a:r>
              <a:rPr lang="en-US" altLang="en-US" sz="2000" b="1" dirty="0"/>
              <a:t>v</a:t>
            </a:r>
            <a:r>
              <a:rPr lang="en-US" altLang="en-US" sz="2000" dirty="0"/>
              <a:t> remains to be tested: if </a:t>
            </a:r>
            <a:r>
              <a:rPr lang="en-US" altLang="en-US" sz="2000" b="1" dirty="0"/>
              <a:t>== j</a:t>
            </a:r>
            <a:r>
              <a:rPr lang="en-US" altLang="en-US" sz="2000" dirty="0"/>
              <a:t>, </a:t>
            </a:r>
            <a:r>
              <a:rPr lang="en-US" altLang="en-US" sz="2000" b="1" dirty="0"/>
              <a:t>True</a:t>
            </a:r>
            <a:r>
              <a:rPr lang="en-US" altLang="en-US" sz="2000" dirty="0"/>
              <a:t>; otherwise, </a:t>
            </a:r>
            <a:r>
              <a:rPr lang="en-US" altLang="en-US" sz="2000" b="1" dirty="0"/>
              <a:t>False</a:t>
            </a:r>
          </a:p>
          <a:p>
            <a:pPr marL="933450" lvl="1" indent="-533400" eaLnBrk="1" hangingPunct="1">
              <a:lnSpc>
                <a:spcPct val="90000"/>
              </a:lnSpc>
              <a:defRPr/>
            </a:pPr>
            <a:endParaRPr lang="en-US" altLang="en-US" sz="1000" b="1" dirty="0"/>
          </a:p>
          <a:p>
            <a:pPr marL="533400" indent="-533400" eaLnBrk="1" hangingPunct="1">
              <a:lnSpc>
                <a:spcPct val="90000"/>
              </a:lnSpc>
              <a:defRPr/>
            </a:pPr>
            <a:r>
              <a:rPr lang="en-US" altLang="en-US" sz="2400" dirty="0"/>
              <a:t>It should be "clear" that doubling the length of </a:t>
            </a:r>
            <a:r>
              <a:rPr lang="en-US" altLang="en-US" sz="2400" b="1" dirty="0"/>
              <a:t>v</a:t>
            </a:r>
            <a:r>
              <a:rPr lang="en-US" altLang="en-US" sz="2400" dirty="0"/>
              <a:t> will, on average, add 1 step to the search time for </a:t>
            </a:r>
            <a:r>
              <a:rPr lang="en-US" altLang="en-US" sz="2400" b="1" dirty="0"/>
              <a:t>j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6A67CE0-F0E5-41A8-A405-D295D96172D8}" type="datetime1">
              <a:rPr lang="en-US" smtClean="0"/>
              <a:t>7/15/2021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Copyright (c) John K. </a:t>
            </a:r>
            <a:r>
              <a:rPr lang="en-US" dirty="0" err="1"/>
              <a:t>Ostlund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939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>
            <a:extLst>
              <a:ext uri="{FF2B5EF4-FFF2-40B4-BE49-F238E27FC236}">
                <a16:creationId xmlns:a16="http://schemas.microsoft.com/office/drawing/2014/main" id="{DD785B32-0BD4-4D55-A597-5644DC3176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2688" y="1987256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altLang="en-US" sz="20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def </a:t>
            </a:r>
            <a:r>
              <a:rPr lang="en-US" altLang="en-US" sz="2000" b="1" kern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binary_search</a:t>
            </a:r>
            <a:r>
              <a:rPr lang="en-US" altLang="en-US" sz="20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(v, j): </a:t>
            </a:r>
            <a:r>
              <a:rPr lang="en-US" altLang="en-US" sz="20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# v is sorted</a:t>
            </a: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altLang="en-US" sz="2000" b="1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'''return True if j in v, else False'''</a:t>
            </a: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altLang="en-US" sz="20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   lo = 0</a:t>
            </a: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altLang="en-US" sz="20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   hi = </a:t>
            </a:r>
            <a:r>
              <a:rPr lang="en-US" altLang="en-US" sz="2000" b="1" kern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US" altLang="en-US" sz="20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(v) - 1</a:t>
            </a: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altLang="en-US" sz="20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   while lo &lt; hi:</a:t>
            </a: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altLang="en-US" sz="20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       mid = (hi + lo) // 2  </a:t>
            </a:r>
            <a:r>
              <a:rPr lang="en-US" altLang="en-US" sz="2000" kern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floor divide ...</a:t>
            </a: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altLang="en-US" sz="20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       if v[mid] &lt; j:</a:t>
            </a: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altLang="en-US" sz="20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lo = mid + 1      </a:t>
            </a:r>
            <a:r>
              <a:rPr lang="en-US" altLang="en-US" sz="2000" kern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... so add 1 here</a:t>
            </a: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altLang="en-US" sz="20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       else:</a:t>
            </a: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altLang="en-US" sz="20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hi = mid</a:t>
            </a: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altLang="en-US" sz="20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   return True if v[lo] == j else False</a:t>
            </a:r>
          </a:p>
        </p:txBody>
      </p:sp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Binary Search: Python Code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6A67CE0-F0E5-41A8-A405-D295D96172D8}" type="datetime1">
              <a:rPr lang="en-US" smtClean="0"/>
              <a:t>7/15/2021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Copyright (c) John K. </a:t>
            </a:r>
            <a:r>
              <a:rPr lang="en-US" dirty="0" err="1"/>
              <a:t>Ostlund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41812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 dirty="0"/>
              <a:t>set</a:t>
            </a:r>
            <a:r>
              <a:rPr lang="en-US" altLang="en-US" dirty="0"/>
              <a:t> (Hash Table) Search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981200"/>
            <a:ext cx="7772400" cy="4114800"/>
          </a:xfrm>
        </p:spPr>
        <p:txBody>
          <a:bodyPr/>
          <a:lstStyle/>
          <a:p>
            <a:pPr marL="533400" indent="-533400" eaLnBrk="1" hangingPunct="1">
              <a:lnSpc>
                <a:spcPct val="90000"/>
              </a:lnSpc>
              <a:defRPr/>
            </a:pPr>
            <a:r>
              <a:rPr lang="en-US" altLang="en-US" sz="2400" dirty="0"/>
              <a:t>Suppose we have a </a:t>
            </a:r>
            <a:r>
              <a:rPr lang="en-US" altLang="en-US" sz="2400" b="1" dirty="0"/>
              <a:t>set</a:t>
            </a:r>
            <a:r>
              <a:rPr lang="en-US" altLang="en-US" sz="2400" dirty="0"/>
              <a:t>, </a:t>
            </a:r>
            <a:r>
              <a:rPr lang="en-US" altLang="en-US" sz="2400" b="1" dirty="0"/>
              <a:t>s</a:t>
            </a:r>
            <a:r>
              <a:rPr lang="en-US" altLang="en-US" sz="2400" dirty="0"/>
              <a:t>, of values</a:t>
            </a:r>
          </a:p>
          <a:p>
            <a:pPr marL="933450" lvl="1" indent="-533400" eaLnBrk="1" hangingPunct="1">
              <a:lnSpc>
                <a:spcPct val="90000"/>
              </a:lnSpc>
              <a:defRPr/>
            </a:pPr>
            <a:r>
              <a:rPr lang="en-US" altLang="en-US" sz="2000" dirty="0"/>
              <a:t>We need to search for some specific value, </a:t>
            </a:r>
            <a:r>
              <a:rPr lang="en-US" altLang="en-US" sz="2000" b="1" dirty="0"/>
              <a:t>j</a:t>
            </a:r>
          </a:p>
          <a:p>
            <a:pPr marL="533400" indent="-533400" eaLnBrk="1" hangingPunct="1">
              <a:lnSpc>
                <a:spcPct val="90000"/>
              </a:lnSpc>
              <a:defRPr/>
            </a:pPr>
            <a:endParaRPr lang="en-US" altLang="en-US" sz="1000" dirty="0"/>
          </a:p>
          <a:p>
            <a:pPr marL="533400" indent="-533400" eaLnBrk="1" hangingPunct="1">
              <a:lnSpc>
                <a:spcPct val="90000"/>
              </a:lnSpc>
              <a:defRPr/>
            </a:pPr>
            <a:r>
              <a:rPr lang="en-US" altLang="en-US" sz="2400" dirty="0"/>
              <a:t>A </a:t>
            </a:r>
            <a:r>
              <a:rPr lang="en-US" altLang="en-US" sz="2400" i="1" dirty="0"/>
              <a:t>hash table</a:t>
            </a:r>
            <a:r>
              <a:rPr lang="en-US" altLang="en-US" sz="2400" dirty="0"/>
              <a:t> is a data structure in which searching for </a:t>
            </a:r>
            <a:r>
              <a:rPr lang="en-US" altLang="en-US" sz="2400" i="1" dirty="0"/>
              <a:t>any</a:t>
            </a:r>
            <a:r>
              <a:rPr lang="en-US" altLang="en-US" sz="2400" dirty="0"/>
              <a:t> value takes </a:t>
            </a:r>
            <a:r>
              <a:rPr lang="en-US" altLang="en-US" sz="2400" i="1" dirty="0"/>
              <a:t>the same</a:t>
            </a:r>
            <a:r>
              <a:rPr lang="en-US" altLang="en-US" sz="2400" dirty="0"/>
              <a:t> amount of time, regardless of the size of the hash table</a:t>
            </a:r>
          </a:p>
          <a:p>
            <a:pPr marL="933450" lvl="1" indent="-533400" eaLnBrk="1" hangingPunct="1">
              <a:lnSpc>
                <a:spcPct val="90000"/>
              </a:lnSpc>
              <a:defRPr/>
            </a:pPr>
            <a:r>
              <a:rPr lang="en-US" altLang="en-US" sz="2000" dirty="0"/>
              <a:t>In Python, a </a:t>
            </a:r>
            <a:r>
              <a:rPr lang="en-US" altLang="en-US" sz="2000" b="1" dirty="0"/>
              <a:t>set</a:t>
            </a:r>
            <a:r>
              <a:rPr lang="en-US" altLang="en-US" sz="2000" dirty="0"/>
              <a:t> is implemented as a hash table</a:t>
            </a:r>
            <a:endParaRPr lang="en-US" altLang="en-US" sz="2000" b="1" dirty="0"/>
          </a:p>
          <a:p>
            <a:pPr marL="933450" lvl="1" indent="-533400" eaLnBrk="1" hangingPunct="1">
              <a:lnSpc>
                <a:spcPct val="90000"/>
              </a:lnSpc>
              <a:defRPr/>
            </a:pPr>
            <a:endParaRPr lang="en-US" altLang="en-US" sz="1000" b="1" dirty="0"/>
          </a:p>
          <a:p>
            <a:pPr marL="533400" indent="-533400" eaLnBrk="1" hangingPunct="1">
              <a:lnSpc>
                <a:spcPct val="90000"/>
              </a:lnSpc>
              <a:defRPr/>
            </a:pPr>
            <a:r>
              <a:rPr lang="en-US" altLang="en-US" sz="2400" dirty="0"/>
              <a:t>It should be "clear" that doubling the size of </a:t>
            </a:r>
            <a:r>
              <a:rPr lang="en-US" altLang="en-US" sz="2400" b="1" dirty="0"/>
              <a:t>v</a:t>
            </a:r>
            <a:r>
              <a:rPr lang="en-US" altLang="en-US" sz="2400" dirty="0"/>
              <a:t> will, on average, </a:t>
            </a:r>
            <a:r>
              <a:rPr lang="en-US" altLang="en-US" sz="2400" i="1" dirty="0"/>
              <a:t>not change</a:t>
            </a:r>
            <a:r>
              <a:rPr lang="en-US" altLang="en-US" sz="2400" dirty="0"/>
              <a:t> the search time for </a:t>
            </a:r>
            <a:r>
              <a:rPr lang="en-US" altLang="en-US" sz="2400" b="1" dirty="0"/>
              <a:t>j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6A67CE0-F0E5-41A8-A405-D295D96172D8}" type="datetime1">
              <a:rPr lang="en-US" smtClean="0"/>
              <a:t>7/15/2021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Copyright (c) John K. </a:t>
            </a:r>
            <a:r>
              <a:rPr lang="en-US" dirty="0" err="1"/>
              <a:t>Ostlund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92094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>
            <a:extLst>
              <a:ext uri="{FF2B5EF4-FFF2-40B4-BE49-F238E27FC236}">
                <a16:creationId xmlns:a16="http://schemas.microsoft.com/office/drawing/2014/main" id="{DD785B32-0BD4-4D55-A597-5644DC3176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2688" y="1987256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altLang="en-US" sz="20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def </a:t>
            </a:r>
            <a:r>
              <a:rPr lang="en-US" altLang="en-US" sz="2000" b="1" kern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set_search</a:t>
            </a:r>
            <a:r>
              <a:rPr lang="en-US" altLang="en-US" sz="20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(s, j):   </a:t>
            </a:r>
            <a:r>
              <a:rPr lang="en-US" altLang="en-US" sz="20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# s is a set</a:t>
            </a: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altLang="en-US" sz="2000" b="1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'''return True if j in s, else False'''</a:t>
            </a: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altLang="en-US" sz="20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   return j in s</a:t>
            </a:r>
          </a:p>
        </p:txBody>
      </p:sp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 dirty="0"/>
              <a:t>set</a:t>
            </a:r>
            <a:r>
              <a:rPr lang="en-US" altLang="en-US" dirty="0"/>
              <a:t> Search: Python Code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6A67CE0-F0E5-41A8-A405-D295D96172D8}" type="datetime1">
              <a:rPr lang="en-US" smtClean="0"/>
              <a:t>7/15/2021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Copyright (c) John K. </a:t>
            </a:r>
            <a:r>
              <a:rPr lang="en-US" dirty="0" err="1"/>
              <a:t>Ostlund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73005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>
            <a:extLst>
              <a:ext uri="{FF2B5EF4-FFF2-40B4-BE49-F238E27FC236}">
                <a16:creationId xmlns:a16="http://schemas.microsoft.com/office/drawing/2014/main" id="{DD785B32-0BD4-4D55-A597-5644DC3176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2688" y="19050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altLang="en-US" sz="20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# File:    searches.py</a:t>
            </a: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altLang="en-US" sz="20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... </a:t>
            </a:r>
            <a:r>
              <a:rPr lang="en-US" altLang="en-US" sz="2000" kern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linear_search</a:t>
            </a:r>
            <a:r>
              <a:rPr lang="en-US" altLang="en-US" sz="20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en-US" sz="2000" kern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binary_search</a:t>
            </a:r>
            <a:r>
              <a:rPr lang="en-US" altLang="en-US" sz="20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en-US" sz="2000" kern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set_search</a:t>
            </a:r>
            <a:r>
              <a:rPr lang="en-US" altLang="en-US" sz="20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...</a:t>
            </a: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endParaRPr lang="en-US" altLang="en-US" sz="1000" b="1" kern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altLang="en-US" sz="20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import </a:t>
            </a:r>
            <a:r>
              <a:rPr lang="en-US" altLang="en-US" sz="2000" b="1" kern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numpy</a:t>
            </a:r>
            <a:r>
              <a:rPr lang="en-US" altLang="en-US" sz="20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as np   </a:t>
            </a:r>
            <a:r>
              <a:rPr lang="en-US" altLang="en-US" sz="20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# for random integers</a:t>
            </a: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endParaRPr lang="en-US" altLang="en-US" sz="1000" b="1" kern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altLang="en-US" sz="2000" b="1" kern="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v_len</a:t>
            </a:r>
            <a:r>
              <a:rPr lang="en-US" altLang="en-US" sz="2000" b="1" kern="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1000   </a:t>
            </a:r>
            <a:r>
              <a:rPr lang="en-US" altLang="en-US" sz="2000" kern="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size of list or set to search</a:t>
            </a: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endParaRPr lang="en-US" altLang="en-US" sz="1000" b="1" kern="0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altLang="en-US" sz="2000" kern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1000 random </a:t>
            </a:r>
            <a:r>
              <a:rPr lang="en-US" altLang="en-US" sz="2000" kern="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ints</a:t>
            </a:r>
            <a:r>
              <a:rPr lang="en-US" altLang="en-US" sz="2000" kern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from ~</a:t>
            </a:r>
            <a:r>
              <a:rPr lang="en-US" altLang="en-US" sz="2000" kern="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Unif</a:t>
            </a:r>
            <a:r>
              <a:rPr lang="en-US" altLang="en-US" sz="2000" kern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[0,2_000_000_000)</a:t>
            </a: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altLang="en-US" sz="2000" b="1" kern="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v_raw</a:t>
            </a:r>
            <a:r>
              <a:rPr lang="en-US" altLang="en-US" sz="2000" b="1" kern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en-US" sz="2000" b="1" kern="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np.random.randint</a:t>
            </a:r>
            <a:r>
              <a:rPr lang="en-US" altLang="en-US" sz="2000" b="1" kern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(2_000_000_000,</a:t>
            </a: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altLang="en-US" sz="2000" b="1" kern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size=</a:t>
            </a:r>
            <a:r>
              <a:rPr lang="en-US" altLang="en-US" sz="2000" b="1" kern="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v_len</a:t>
            </a:r>
            <a:r>
              <a:rPr lang="en-US" altLang="en-US" sz="2000" b="1" kern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endParaRPr lang="en-US" altLang="en-US" sz="1000" b="1" kern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altLang="en-US" sz="2000" b="1" kern="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v_unordered</a:t>
            </a:r>
            <a:r>
              <a:rPr lang="en-US" altLang="en-US" sz="2000" b="1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en-US" sz="2000" b="1" kern="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v_raw.copy</a:t>
            </a:r>
            <a:r>
              <a:rPr lang="en-US" altLang="en-US" sz="2000" b="1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 </a:t>
            </a:r>
            <a:r>
              <a:rPr lang="en-US" altLang="en-US" sz="2000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altLang="en-US" sz="2000" kern="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ndarray</a:t>
            </a:r>
            <a:r>
              <a:rPr lang="en-US" altLang="en-US" sz="2000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but okay</a:t>
            </a: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altLang="en-US" sz="2000" b="1" kern="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v_sorted</a:t>
            </a:r>
            <a:r>
              <a:rPr lang="en-US" altLang="en-US" sz="2000" b="1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en-US" sz="2000" b="1" kern="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v_raw.sort</a:t>
            </a:r>
            <a:r>
              <a:rPr lang="en-US" altLang="en-US" sz="2000" b="1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altLang="en-US" sz="2000" b="1" kern="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v_set</a:t>
            </a:r>
            <a:r>
              <a:rPr lang="en-US" altLang="en-US" sz="2000" b="1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set(</a:t>
            </a:r>
            <a:r>
              <a:rPr lang="en-US" altLang="en-US" sz="2000" b="1" kern="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v_raw</a:t>
            </a:r>
            <a:r>
              <a:rPr lang="en-US" altLang="en-US" sz="2000" b="1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endParaRPr lang="en-US" altLang="en-US" sz="2000" b="1" kern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Testing Performance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6A67CE0-F0E5-41A8-A405-D295D96172D8}" type="datetime1">
              <a:rPr lang="en-US" smtClean="0"/>
              <a:t>7/15/2021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Copyright (c) John K. </a:t>
            </a:r>
            <a:r>
              <a:rPr lang="en-US" dirty="0" err="1"/>
              <a:t>Ostlund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3012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>
            <a:extLst>
              <a:ext uri="{FF2B5EF4-FFF2-40B4-BE49-F238E27FC236}">
                <a16:creationId xmlns:a16="http://schemas.microsoft.com/office/drawing/2014/main" id="{DD785B32-0BD4-4D55-A597-5644DC3176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2688" y="19050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altLang="en-US" sz="20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# search sample is always 100_000 </a:t>
            </a:r>
            <a:r>
              <a:rPr lang="en-US" altLang="en-US" sz="2000" kern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ints</a:t>
            </a:r>
            <a:endParaRPr lang="en-US" altLang="en-US" sz="2000" kern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altLang="en-US" sz="20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#   from ~</a:t>
            </a:r>
            <a:r>
              <a:rPr lang="en-US" altLang="en-US" sz="2000" kern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Unif</a:t>
            </a:r>
            <a:r>
              <a:rPr lang="en-US" altLang="en-US" sz="20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[0, 2_000_000_000)</a:t>
            </a: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altLang="en-US" sz="20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samples = </a:t>
            </a:r>
            <a:r>
              <a:rPr lang="en-US" altLang="en-US" sz="2000" b="1" kern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np.random.randint</a:t>
            </a:r>
            <a:r>
              <a:rPr lang="en-US" altLang="en-US" sz="20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(2_000_000_000,</a:t>
            </a: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altLang="en-US" sz="20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size=100_000)</a:t>
            </a: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endParaRPr lang="en-US" altLang="en-US" sz="1000" b="1" kern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altLang="en-US" sz="2000" b="1" kern="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 time</a:t>
            </a:r>
            <a:r>
              <a:rPr lang="en-US" altLang="en-US" sz="2000" kern="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# </a:t>
            </a:r>
            <a:r>
              <a:rPr lang="en-US" altLang="en-US" sz="2000" kern="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time.time</a:t>
            </a:r>
            <a:r>
              <a:rPr lang="en-US" altLang="en-US" sz="2000" kern="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is secs since 1/1/1970</a:t>
            </a: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endParaRPr lang="en-US" altLang="en-US" sz="1000" b="1" kern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altLang="en-US" sz="2000" b="1" kern="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v_linear_begin</a:t>
            </a:r>
            <a:r>
              <a:rPr lang="en-US" altLang="en-US" sz="2000" b="1" kern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en-US" sz="2000" b="1" kern="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time.time</a:t>
            </a:r>
            <a:r>
              <a:rPr lang="en-US" altLang="en-US" sz="2000" b="1" kern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altLang="en-US" sz="2000" b="1" kern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j in samples:</a:t>
            </a: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altLang="en-US" sz="2000" b="1" kern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2000" b="1" kern="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linear_search</a:t>
            </a:r>
            <a:r>
              <a:rPr lang="en-US" altLang="en-US" sz="2000" b="1" kern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2000" b="1" kern="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v_unordered</a:t>
            </a:r>
            <a:r>
              <a:rPr lang="en-US" altLang="en-US" sz="2000" b="1" kern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j)</a:t>
            </a: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altLang="en-US" sz="2000" b="1" kern="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v_linear_end</a:t>
            </a:r>
            <a:r>
              <a:rPr lang="en-US" altLang="en-US" sz="2000" b="1" kern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en-US" sz="2000" b="1" kern="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time.time</a:t>
            </a:r>
            <a:r>
              <a:rPr lang="en-US" altLang="en-US" sz="2000" b="1" kern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endParaRPr lang="en-US" altLang="en-US" sz="2000" b="1" kern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Testing Performance (</a:t>
            </a:r>
            <a:r>
              <a:rPr lang="en-US" altLang="en-US" dirty="0" err="1"/>
              <a:t>cont</a:t>
            </a:r>
            <a:r>
              <a:rPr lang="en-US" altLang="en-US" dirty="0"/>
              <a:t>)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6A67CE0-F0E5-41A8-A405-D295D96172D8}" type="datetime1">
              <a:rPr lang="en-US" smtClean="0"/>
              <a:t>7/15/2021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Copyright (c) John K. </a:t>
            </a:r>
            <a:r>
              <a:rPr lang="en-US" dirty="0" err="1"/>
              <a:t>Ostlund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56210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>
            <a:extLst>
              <a:ext uri="{FF2B5EF4-FFF2-40B4-BE49-F238E27FC236}">
                <a16:creationId xmlns:a16="http://schemas.microsoft.com/office/drawing/2014/main" id="{DD785B32-0BD4-4D55-A597-5644DC3176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2688" y="19050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altLang="en-US" sz="2000" b="1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altLang="en-US" sz="2000" b="1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2000" b="1" kern="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binary_search</a:t>
            </a:r>
            <a:r>
              <a:rPr lang="en-US" altLang="en-US" sz="2000" b="1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2000" b="1" kern="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v_sorted</a:t>
            </a:r>
            <a:r>
              <a:rPr lang="en-US" altLang="en-US" sz="2000" b="1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j)</a:t>
            </a: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altLang="en-US" sz="2000" b="1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endParaRPr lang="en-US" altLang="en-US" sz="800" b="1" kern="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altLang="en-US" sz="2000" b="1" kern="0" dirty="0">
                <a:solidFill>
                  <a:schemeClr val="bg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altLang="en-US" sz="2000" b="1" kern="0" dirty="0">
                <a:solidFill>
                  <a:schemeClr val="bg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2000" b="1" kern="0" dirty="0" err="1">
                <a:solidFill>
                  <a:schemeClr val="bg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set_search</a:t>
            </a:r>
            <a:r>
              <a:rPr lang="en-US" altLang="en-US" sz="2000" b="1" kern="0" dirty="0">
                <a:solidFill>
                  <a:schemeClr val="bg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2000" b="1" kern="0" dirty="0" err="1">
                <a:solidFill>
                  <a:schemeClr val="bg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v_set</a:t>
            </a:r>
            <a:r>
              <a:rPr lang="en-US" altLang="en-US" sz="2000" b="1" kern="0" dirty="0">
                <a:solidFill>
                  <a:schemeClr val="bg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j)</a:t>
            </a: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altLang="en-US" sz="2000" b="1" kern="0" dirty="0">
                <a:solidFill>
                  <a:schemeClr val="bg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endParaRPr lang="en-US" altLang="en-US" sz="800" b="1" kern="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altLang="en-US" sz="2000" b="1" kern="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print('{:5d},{:20.9f},{:12.9f},{:12.9f}'.format(</a:t>
            </a: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altLang="en-US" sz="2000" b="1" kern="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altLang="en-US" sz="2000" b="1" kern="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v_len</a:t>
            </a:r>
            <a:r>
              <a:rPr lang="en-US" altLang="en-US" sz="2000" b="1" kern="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// 1000,</a:t>
            </a: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altLang="en-US" sz="2000" b="1" kern="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(</a:t>
            </a:r>
            <a:r>
              <a:rPr lang="en-US" altLang="en-US" sz="2000" b="1" kern="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v_linear_end</a:t>
            </a:r>
            <a:r>
              <a:rPr lang="en-US" altLang="en-US" sz="2000" b="1" kern="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- </a:t>
            </a:r>
            <a:r>
              <a:rPr lang="en-US" altLang="en-US" sz="2000" b="1" kern="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v_linear_begin</a:t>
            </a:r>
            <a:r>
              <a:rPr lang="en-US" altLang="en-US" sz="2000" b="1" kern="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),</a:t>
            </a: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altLang="en-US" sz="2000" b="1" kern="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(</a:t>
            </a:r>
            <a:r>
              <a:rPr lang="en-US" altLang="en-US" sz="2000" b="1" kern="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v_binary_end</a:t>
            </a:r>
            <a:r>
              <a:rPr lang="en-US" altLang="en-US" sz="2000" b="1" kern="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- </a:t>
            </a:r>
            <a:r>
              <a:rPr lang="en-US" altLang="en-US" sz="2000" b="1" kern="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v_binary_begin</a:t>
            </a:r>
            <a:r>
              <a:rPr lang="en-US" altLang="en-US" sz="2000" b="1" kern="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),</a:t>
            </a: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altLang="en-US" sz="2000" b="1" kern="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(</a:t>
            </a:r>
            <a:r>
              <a:rPr lang="en-US" altLang="en-US" sz="2000" b="1" kern="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v_set_end</a:t>
            </a:r>
            <a:r>
              <a:rPr lang="en-US" altLang="en-US" sz="2000" b="1" kern="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- </a:t>
            </a:r>
            <a:r>
              <a:rPr lang="en-US" altLang="en-US" sz="2000" b="1" kern="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v_set_begin</a:t>
            </a:r>
            <a:r>
              <a:rPr lang="en-US" altLang="en-US" sz="2000" b="1" kern="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)))</a:t>
            </a:r>
          </a:p>
        </p:txBody>
      </p:sp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Testing Performance (</a:t>
            </a:r>
            <a:r>
              <a:rPr lang="en-US" altLang="en-US" dirty="0" err="1"/>
              <a:t>cont</a:t>
            </a:r>
            <a:r>
              <a:rPr lang="en-US" altLang="en-US" dirty="0"/>
              <a:t>)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6A67CE0-F0E5-41A8-A405-D295D96172D8}" type="datetime1">
              <a:rPr lang="en-US" smtClean="0"/>
              <a:t>7/15/2021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Copyright (c) John K. </a:t>
            </a:r>
            <a:r>
              <a:rPr lang="en-US" dirty="0" err="1"/>
              <a:t>Ostlund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48675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Performance Testing Results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981200"/>
            <a:ext cx="7772400" cy="4114800"/>
          </a:xfrm>
        </p:spPr>
        <p:txBody>
          <a:bodyPr/>
          <a:lstStyle/>
          <a:p>
            <a:pPr marL="533400" indent="-533400" eaLnBrk="1" hangingPunct="1">
              <a:lnSpc>
                <a:spcPct val="90000"/>
              </a:lnSpc>
              <a:defRPr/>
            </a:pPr>
            <a:r>
              <a:rPr lang="en-US" altLang="en-US" sz="2400" dirty="0"/>
              <a:t>Output from performance test of 100,000 searches in a 1000 item data set (on my system):</a:t>
            </a: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endParaRPr lang="en-US" altLang="en-US" sz="1000" dirty="0"/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altLang="en-US" sz="2200" i="1" dirty="0">
                <a:latin typeface="Courier New" panose="02070309020205020404" pitchFamily="49" charset="0"/>
                <a:cs typeface="Courier New" panose="02070309020205020404" pitchFamily="49" charset="0"/>
              </a:rPr>
              <a:t>Size    Linear        Binary    set/Hash </a:t>
            </a:r>
            <a:r>
              <a:rPr lang="en-US" altLang="en-US" sz="2200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Tbl</a:t>
            </a:r>
            <a:endParaRPr lang="en-US" altLang="en-US" sz="2200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alt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1, 6.855952263, 0.233761311, 0.019013166</a:t>
            </a: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endParaRPr lang="en-US" altLang="en-US" sz="1000" dirty="0"/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endParaRPr lang="en-US" altLang="en-US" sz="1000" dirty="0"/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endParaRPr lang="en-US" altLang="en-US" sz="1000" dirty="0"/>
          </a:p>
          <a:p>
            <a:pPr marL="533400" indent="-533400" eaLnBrk="1" hangingPunct="1">
              <a:lnSpc>
                <a:spcPct val="90000"/>
              </a:lnSpc>
              <a:defRPr/>
            </a:pPr>
            <a:r>
              <a:rPr lang="en-US" altLang="en-US" b="1" dirty="0">
                <a:solidFill>
                  <a:srgbClr val="FF0000"/>
                </a:solidFill>
              </a:rPr>
              <a:t>But what are the </a:t>
            </a:r>
            <a:r>
              <a:rPr lang="en-US" altLang="en-US" b="1" i="1" dirty="0">
                <a:solidFill>
                  <a:srgbClr val="FF0000"/>
                </a:solidFill>
              </a:rPr>
              <a:t>trends</a:t>
            </a:r>
            <a:r>
              <a:rPr lang="en-US" altLang="en-US" b="1" dirty="0">
                <a:solidFill>
                  <a:srgbClr val="FF0000"/>
                </a:solidFill>
              </a:rPr>
              <a:t> as the data set size </a:t>
            </a:r>
            <a:r>
              <a:rPr lang="en-US" altLang="en-US" b="1" i="1" dirty="0">
                <a:solidFill>
                  <a:srgbClr val="FF0000"/>
                </a:solidFill>
              </a:rPr>
              <a:t>increases</a:t>
            </a:r>
            <a:r>
              <a:rPr lang="en-US" altLang="en-US" b="1" dirty="0">
                <a:solidFill>
                  <a:srgbClr val="FF0000"/>
                </a:solidFill>
              </a:rPr>
              <a:t>?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6A67CE0-F0E5-41A8-A405-D295D96172D8}" type="datetime1">
              <a:rPr lang="en-US" smtClean="0"/>
              <a:t>7/15/2021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Copyright (c) John K. </a:t>
            </a:r>
            <a:r>
              <a:rPr lang="en-US" dirty="0" err="1"/>
              <a:t>Ostlund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41013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Performance Testing Results (</a:t>
            </a:r>
            <a:r>
              <a:rPr lang="en-US" altLang="en-US" dirty="0" err="1"/>
              <a:t>cont</a:t>
            </a:r>
            <a:r>
              <a:rPr lang="en-US" altLang="en-US" dirty="0"/>
              <a:t>)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981200"/>
            <a:ext cx="7772400" cy="4114800"/>
          </a:xfrm>
        </p:spPr>
        <p:txBody>
          <a:bodyPr/>
          <a:lstStyle/>
          <a:p>
            <a:pPr marL="533400" indent="-533400" eaLnBrk="1" hangingPunct="1">
              <a:lnSpc>
                <a:spcPct val="90000"/>
              </a:lnSpc>
              <a:defRPr/>
            </a:pPr>
            <a:r>
              <a:rPr lang="en-US" altLang="en-US" sz="2400" i="1" dirty="0">
                <a:solidFill>
                  <a:srgbClr val="FF0000"/>
                </a:solidFill>
              </a:rPr>
              <a:t>Doubling</a:t>
            </a:r>
            <a:r>
              <a:rPr lang="en-US" altLang="en-US" sz="2400" dirty="0"/>
              <a:t> the data set size of each test (my system):</a:t>
            </a:r>
          </a:p>
          <a:p>
            <a:pPr marL="0" indent="0" eaLnBrk="1" hangingPunct="1">
              <a:lnSpc>
                <a:spcPct val="90000"/>
              </a:lnSpc>
              <a:spcBef>
                <a:spcPts val="0"/>
              </a:spcBef>
              <a:buNone/>
              <a:defRPr/>
            </a:pPr>
            <a:endParaRPr lang="en-US" altLang="en-US" sz="800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lnSpc>
                <a:spcPct val="90000"/>
              </a:lnSpc>
              <a:spcBef>
                <a:spcPts val="0"/>
              </a:spcBef>
              <a:buNone/>
              <a:defRPr/>
            </a:pPr>
            <a:r>
              <a:rPr lang="en-US" altLang="en-US" sz="2000" i="1" dirty="0">
                <a:latin typeface="Courier New" panose="02070309020205020404" pitchFamily="49" charset="0"/>
                <a:cs typeface="Courier New" panose="02070309020205020404" pitchFamily="49" charset="0"/>
              </a:rPr>
              <a:t>Size       Linear        Binary    set/Hash </a:t>
            </a:r>
            <a:r>
              <a:rPr lang="en-US" altLang="en-US" sz="2000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Tbl</a:t>
            </a:r>
            <a:endParaRPr lang="en-US" altLang="en-US" sz="2000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lnSpc>
                <a:spcPct val="90000"/>
              </a:lnSpc>
              <a:spcBef>
                <a:spcPts val="0"/>
              </a:spcBef>
              <a:buNone/>
              <a:defRPr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1,    6.855952263, 0.233761311, 0.019013166</a:t>
            </a:r>
          </a:p>
          <a:p>
            <a:pPr marL="0" indent="0" eaLnBrk="1" hangingPunct="1">
              <a:lnSpc>
                <a:spcPct val="90000"/>
              </a:lnSpc>
              <a:spcBef>
                <a:spcPts val="0"/>
              </a:spcBef>
              <a:buNone/>
              <a:defRPr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2,   12.477415562, 0.255178690, 0.018980742</a:t>
            </a:r>
          </a:p>
          <a:p>
            <a:pPr marL="0" indent="0" eaLnBrk="1" hangingPunct="1">
              <a:lnSpc>
                <a:spcPct val="90000"/>
              </a:lnSpc>
              <a:spcBef>
                <a:spcPts val="0"/>
              </a:spcBef>
              <a:buNone/>
              <a:defRPr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4,   25.071440935, 0.286213398, 0.019986391</a:t>
            </a:r>
          </a:p>
          <a:p>
            <a:pPr marL="0" indent="0" eaLnBrk="1" hangingPunct="1">
              <a:lnSpc>
                <a:spcPct val="90000"/>
              </a:lnSpc>
              <a:spcBef>
                <a:spcPts val="0"/>
              </a:spcBef>
              <a:buNone/>
              <a:defRPr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8,   49.841944456, 0.299758434, 0.019981861</a:t>
            </a:r>
          </a:p>
          <a:p>
            <a:pPr marL="0" indent="0" eaLnBrk="1" hangingPunct="1">
              <a:lnSpc>
                <a:spcPct val="90000"/>
              </a:lnSpc>
              <a:spcBef>
                <a:spcPts val="0"/>
              </a:spcBef>
              <a:buNone/>
              <a:defRPr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16,  101.180275202, 0.318932772, 0.019899845</a:t>
            </a:r>
          </a:p>
          <a:p>
            <a:pPr marL="0" indent="0" eaLnBrk="1" hangingPunct="1">
              <a:lnSpc>
                <a:spcPct val="90000"/>
              </a:lnSpc>
              <a:spcBef>
                <a:spcPts val="0"/>
              </a:spcBef>
              <a:buNone/>
              <a:defRPr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32,  198.867887259, 0.339724302, 0.021638870</a:t>
            </a:r>
          </a:p>
          <a:p>
            <a:pPr marL="0" indent="0" eaLnBrk="1" hangingPunct="1">
              <a:lnSpc>
                <a:spcPct val="90000"/>
              </a:lnSpc>
              <a:spcBef>
                <a:spcPts val="0"/>
              </a:spcBef>
              <a:buNone/>
              <a:defRPr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64,  403.013448477, 0.358399868, 0.021977901</a:t>
            </a:r>
          </a:p>
          <a:p>
            <a:pPr marL="0" indent="0" eaLnBrk="1" hangingPunct="1">
              <a:lnSpc>
                <a:spcPct val="90000"/>
              </a:lnSpc>
              <a:spcBef>
                <a:spcPts val="0"/>
              </a:spcBef>
              <a:buNone/>
              <a:defRPr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128,  803.360077858, 0.390249729, 0.023973465</a:t>
            </a:r>
          </a:p>
          <a:p>
            <a:pPr marL="0" indent="0" eaLnBrk="1" hangingPunct="1">
              <a:lnSpc>
                <a:spcPct val="90000"/>
              </a:lnSpc>
              <a:spcBef>
                <a:spcPts val="0"/>
              </a:spcBef>
              <a:buNone/>
              <a:defRPr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256, 1596.842959881, 0.422593117, 0.027529955</a:t>
            </a:r>
          </a:p>
          <a:p>
            <a:pPr marL="0" indent="0" eaLnBrk="1" hangingPunct="1">
              <a:lnSpc>
                <a:spcPct val="90000"/>
              </a:lnSpc>
              <a:spcBef>
                <a:spcPts val="0"/>
              </a:spcBef>
              <a:buNone/>
              <a:defRPr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512, 3191.761897802, 0.448447943, 0.028970003</a:t>
            </a:r>
          </a:p>
          <a:p>
            <a:pPr marL="0" indent="0" eaLnBrk="1" hangingPunct="1">
              <a:lnSpc>
                <a:spcPct val="90000"/>
              </a:lnSpc>
              <a:spcBef>
                <a:spcPts val="0"/>
              </a:spcBef>
              <a:buNone/>
              <a:defRPr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1024, 6405.369495153, 0.481080294, 0.029968262</a:t>
            </a:r>
          </a:p>
          <a:p>
            <a:pPr marL="0" indent="0" eaLnBrk="1" hangingPunct="1">
              <a:lnSpc>
                <a:spcPct val="90000"/>
              </a:lnSpc>
              <a:spcBef>
                <a:spcPts val="0"/>
              </a:spcBef>
              <a:buNone/>
              <a:defRPr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2048,12766.439840555, 0.501193047, 0.032966137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6A67CE0-F0E5-41A8-A405-D295D96172D8}" type="datetime1">
              <a:rPr lang="en-US" smtClean="0"/>
              <a:t>7/15/2021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Copyright (c) John K. </a:t>
            </a:r>
            <a:r>
              <a:rPr lang="en-US" dirty="0" err="1"/>
              <a:t>Ostlund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66856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Performance Testing Results: Linear Search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981200"/>
            <a:ext cx="7772400" cy="4114800"/>
          </a:xfrm>
        </p:spPr>
        <p:txBody>
          <a:bodyPr/>
          <a:lstStyle/>
          <a:p>
            <a:pPr marL="0" indent="0" eaLnBrk="1" hangingPunct="1">
              <a:lnSpc>
                <a:spcPct val="90000"/>
              </a:lnSpc>
              <a:buNone/>
              <a:defRPr/>
            </a:pPr>
            <a:endParaRPr lang="en-US" altLang="en-US" sz="10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6A67CE0-F0E5-41A8-A405-D295D96172D8}" type="datetime1">
              <a:rPr lang="en-US" smtClean="0"/>
              <a:t>7/15/2021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Copyright (c) John K. </a:t>
            </a:r>
            <a:r>
              <a:rPr lang="en-US" dirty="0" err="1"/>
              <a:t>Ostlund</a:t>
            </a:r>
            <a:endParaRPr lang="en-US" dirty="0"/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0ED657BD-D635-42EB-AECD-FD1D5124309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36095098"/>
              </p:ext>
            </p:extLst>
          </p:nvPr>
        </p:nvGraphicFramePr>
        <p:xfrm>
          <a:off x="1182688" y="1981200"/>
          <a:ext cx="7123112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4804683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Performance Testing Results: Binary Search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981200"/>
            <a:ext cx="7772400" cy="4114800"/>
          </a:xfrm>
        </p:spPr>
        <p:txBody>
          <a:bodyPr/>
          <a:lstStyle/>
          <a:p>
            <a:pPr marL="0" indent="0" eaLnBrk="1" hangingPunct="1">
              <a:lnSpc>
                <a:spcPct val="90000"/>
              </a:lnSpc>
              <a:buNone/>
              <a:defRPr/>
            </a:pPr>
            <a:endParaRPr lang="en-US" altLang="en-US" sz="10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6A67CE0-F0E5-41A8-A405-D295D96172D8}" type="datetime1">
              <a:rPr lang="en-US" smtClean="0"/>
              <a:t>7/15/2021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Copyright (c) John K. </a:t>
            </a:r>
            <a:r>
              <a:rPr lang="en-US" dirty="0" err="1"/>
              <a:t>Ostlund</a:t>
            </a:r>
            <a:endParaRPr lang="en-US" dirty="0"/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8C7EED0B-DE63-429C-897A-F6A14D8DDB5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7930749"/>
              </p:ext>
            </p:extLst>
          </p:nvPr>
        </p:nvGraphicFramePr>
        <p:xfrm>
          <a:off x="1162050" y="1981200"/>
          <a:ext cx="714375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5099512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Performance Testing Results: Binary Search: Log Scale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981200"/>
            <a:ext cx="7772400" cy="4114800"/>
          </a:xfrm>
        </p:spPr>
        <p:txBody>
          <a:bodyPr/>
          <a:lstStyle/>
          <a:p>
            <a:pPr marL="0" indent="0" eaLnBrk="1" hangingPunct="1">
              <a:lnSpc>
                <a:spcPct val="90000"/>
              </a:lnSpc>
              <a:buNone/>
              <a:defRPr/>
            </a:pPr>
            <a:endParaRPr lang="en-US" altLang="en-US" sz="10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6A67CE0-F0E5-41A8-A405-D295D96172D8}" type="datetime1">
              <a:rPr lang="en-US" smtClean="0"/>
              <a:t>7/15/2021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Copyright (c) John K. </a:t>
            </a:r>
            <a:r>
              <a:rPr lang="en-US" dirty="0" err="1"/>
              <a:t>Ostlund</a:t>
            </a:r>
            <a:endParaRPr lang="en-US" dirty="0"/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8C7EED0B-DE63-429C-897A-F6A14D8DDB5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80829650"/>
              </p:ext>
            </p:extLst>
          </p:nvPr>
        </p:nvGraphicFramePr>
        <p:xfrm>
          <a:off x="1182688" y="1981200"/>
          <a:ext cx="7123112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9004046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Performance Testing Results: </a:t>
            </a:r>
            <a:r>
              <a:rPr lang="en-US" altLang="en-US" b="1" dirty="0"/>
              <a:t>set</a:t>
            </a:r>
            <a:r>
              <a:rPr lang="en-US" altLang="en-US" dirty="0"/>
              <a:t> (Hash Table) Search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981200"/>
            <a:ext cx="7772400" cy="4114800"/>
          </a:xfrm>
        </p:spPr>
        <p:txBody>
          <a:bodyPr/>
          <a:lstStyle/>
          <a:p>
            <a:pPr marL="0" indent="0" eaLnBrk="1" hangingPunct="1">
              <a:lnSpc>
                <a:spcPct val="90000"/>
              </a:lnSpc>
              <a:buNone/>
              <a:defRPr/>
            </a:pPr>
            <a:endParaRPr lang="en-US" altLang="en-US" sz="10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6A67CE0-F0E5-41A8-A405-D295D96172D8}" type="datetime1">
              <a:rPr lang="en-US" smtClean="0"/>
              <a:t>7/15/2021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Copyright (c) John K. </a:t>
            </a:r>
            <a:r>
              <a:rPr lang="en-US" dirty="0" err="1"/>
              <a:t>Ostlund</a:t>
            </a:r>
            <a:endParaRPr lang="en-US" dirty="0"/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7A886C92-2D74-42EB-94D3-6378D663B11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9355545"/>
              </p:ext>
            </p:extLst>
          </p:nvPr>
        </p:nvGraphicFramePr>
        <p:xfrm>
          <a:off x="1182688" y="1981200"/>
          <a:ext cx="7123112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9798664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Algorithm Performance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981200"/>
            <a:ext cx="7772400" cy="4114800"/>
          </a:xfrm>
        </p:spPr>
        <p:txBody>
          <a:bodyPr/>
          <a:lstStyle/>
          <a:p>
            <a:pPr marL="533400" indent="-533400" eaLnBrk="1" hangingPunct="1">
              <a:lnSpc>
                <a:spcPct val="90000"/>
              </a:lnSpc>
              <a:defRPr/>
            </a:pPr>
            <a:r>
              <a:rPr lang="en-US" altLang="en-US" sz="2400" dirty="0"/>
              <a:t>From searching through </a:t>
            </a:r>
            <a:r>
              <a:rPr lang="en-US" altLang="en-US" sz="2400" i="1" dirty="0"/>
              <a:t>unordered</a:t>
            </a:r>
            <a:r>
              <a:rPr lang="en-US" altLang="en-US" sz="2400" dirty="0"/>
              <a:t> sequence, </a:t>
            </a:r>
            <a:r>
              <a:rPr lang="en-US" altLang="en-US" sz="2400" i="1" dirty="0"/>
              <a:t>sorted</a:t>
            </a:r>
            <a:r>
              <a:rPr lang="en-US" altLang="en-US" sz="2400" dirty="0"/>
              <a:t> sequence, and </a:t>
            </a:r>
            <a:r>
              <a:rPr lang="en-US" altLang="en-US" sz="2400" b="1" dirty="0"/>
              <a:t>set</a:t>
            </a:r>
            <a:r>
              <a:rPr lang="en-US" altLang="en-US" sz="2400" dirty="0"/>
              <a:t> (hash table) objects, we have gained some appreciation of</a:t>
            </a:r>
          </a:p>
          <a:p>
            <a:pPr marL="933450" lvl="1" indent="-533400" eaLnBrk="1" hangingPunct="1">
              <a:lnSpc>
                <a:spcPct val="90000"/>
              </a:lnSpc>
              <a:defRPr/>
            </a:pPr>
            <a:r>
              <a:rPr lang="en-US" altLang="en-US" sz="2000" b="1" dirty="0"/>
              <a:t>O(N)</a:t>
            </a:r>
            <a:r>
              <a:rPr lang="en-US" altLang="en-US" sz="2000" dirty="0"/>
              <a:t> performance: not great</a:t>
            </a:r>
          </a:p>
          <a:p>
            <a:pPr marL="933450" lvl="1" indent="-533400" eaLnBrk="1" hangingPunct="1">
              <a:lnSpc>
                <a:spcPct val="90000"/>
              </a:lnSpc>
              <a:defRPr/>
            </a:pPr>
            <a:r>
              <a:rPr lang="en-US" altLang="en-US" sz="2000" b="1" dirty="0"/>
              <a:t>O(log N)</a:t>
            </a:r>
            <a:r>
              <a:rPr lang="en-US" altLang="en-US" sz="2000" dirty="0"/>
              <a:t> performance: really good</a:t>
            </a:r>
          </a:p>
          <a:p>
            <a:pPr marL="933450" lvl="1" indent="-533400" eaLnBrk="1" hangingPunct="1">
              <a:lnSpc>
                <a:spcPct val="90000"/>
              </a:lnSpc>
              <a:defRPr/>
            </a:pPr>
            <a:r>
              <a:rPr lang="en-US" altLang="en-US" sz="2000" b="1" dirty="0"/>
              <a:t>O(1)</a:t>
            </a:r>
            <a:r>
              <a:rPr lang="en-US" altLang="en-US" sz="2000" dirty="0"/>
              <a:t> performance: the best!</a:t>
            </a:r>
          </a:p>
          <a:p>
            <a:pPr marL="533400" indent="-533400" eaLnBrk="1" hangingPunct="1">
              <a:lnSpc>
                <a:spcPct val="90000"/>
              </a:lnSpc>
              <a:defRPr/>
            </a:pPr>
            <a:r>
              <a:rPr lang="en-US" altLang="en-US" sz="2400" dirty="0"/>
              <a:t>Now, we will formalize what Big-O notation means with regard to algorithm performance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6A67CE0-F0E5-41A8-A405-D295D96172D8}" type="datetime1">
              <a:rPr lang="en-US" smtClean="0"/>
              <a:t>7/15/2021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Copyright (c) John K. </a:t>
            </a:r>
            <a:r>
              <a:rPr lang="en-US" dirty="0" err="1"/>
              <a:t>Ostlund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45912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Formal Definition of Big-O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981200"/>
            <a:ext cx="7772400" cy="4114800"/>
          </a:xfrm>
        </p:spPr>
        <p:txBody>
          <a:bodyPr/>
          <a:lstStyle/>
          <a:p>
            <a:pPr marL="533400" indent="-533400" eaLnBrk="1" hangingPunct="1">
              <a:lnSpc>
                <a:spcPct val="90000"/>
              </a:lnSpc>
              <a:defRPr/>
            </a:pPr>
            <a:r>
              <a:rPr lang="en-US" altLang="en-US" sz="2400" dirty="0"/>
              <a:t>We say that some function, </a:t>
            </a:r>
            <a:r>
              <a:rPr lang="en-US" altLang="en-US" sz="2400" b="1" dirty="0"/>
              <a:t>f(n)</a:t>
            </a:r>
            <a:r>
              <a:rPr lang="en-US" altLang="en-US" sz="2400" dirty="0"/>
              <a:t>, is "</a:t>
            </a:r>
            <a:r>
              <a:rPr lang="en-US" altLang="en-US" sz="2400" b="1" dirty="0"/>
              <a:t>O</a:t>
            </a:r>
            <a:r>
              <a:rPr lang="en-US" altLang="en-US" sz="2400" dirty="0"/>
              <a:t> of" some other function, </a:t>
            </a:r>
            <a:r>
              <a:rPr lang="en-US" altLang="en-US" sz="2400" b="1" dirty="0"/>
              <a:t>g(n)</a:t>
            </a:r>
            <a:r>
              <a:rPr lang="en-US" altLang="en-US" sz="2400" dirty="0"/>
              <a:t>, if we can find some </a:t>
            </a:r>
            <a:r>
              <a:rPr lang="en-US" altLang="en-US" sz="2400" b="1" dirty="0"/>
              <a:t>n</a:t>
            </a:r>
            <a:r>
              <a:rPr lang="en-US" altLang="en-US" sz="2400" b="1" baseline="-25000" dirty="0"/>
              <a:t>0</a:t>
            </a:r>
            <a:r>
              <a:rPr lang="en-US" altLang="en-US" sz="2400" b="1" dirty="0"/>
              <a:t> &gt;= 0</a:t>
            </a:r>
            <a:r>
              <a:rPr lang="en-US" altLang="en-US" sz="2400" dirty="0"/>
              <a:t> and some constant </a:t>
            </a:r>
            <a:r>
              <a:rPr lang="en-US" altLang="en-US" sz="2400" b="1" dirty="0"/>
              <a:t>c &gt; 0</a:t>
            </a:r>
            <a:r>
              <a:rPr lang="en-US" altLang="en-US" sz="2400" dirty="0"/>
              <a:t> such that:</a:t>
            </a:r>
            <a:endParaRPr lang="en-US" altLang="en-US" sz="2400" b="1" dirty="0"/>
          </a:p>
          <a:p>
            <a:pPr marL="933450" lvl="1" indent="-533400" eaLnBrk="1" hangingPunct="1">
              <a:lnSpc>
                <a:spcPct val="90000"/>
              </a:lnSpc>
              <a:defRPr/>
            </a:pPr>
            <a:r>
              <a:rPr lang="en-US" altLang="en-US" sz="2000" b="1" dirty="0"/>
              <a:t>f(n) &lt;= cg(n)</a:t>
            </a:r>
            <a:r>
              <a:rPr lang="en-US" altLang="en-US" sz="2000" dirty="0"/>
              <a:t> for </a:t>
            </a:r>
            <a:r>
              <a:rPr lang="en-US" altLang="en-US" sz="2000" b="1" dirty="0"/>
              <a:t>n &gt;= n</a:t>
            </a:r>
            <a:r>
              <a:rPr lang="en-US" altLang="en-US" sz="2400" b="1" baseline="-25000" dirty="0">
                <a:ea typeface="+mn-ea"/>
                <a:cs typeface="+mn-cs"/>
              </a:rPr>
              <a:t>0</a:t>
            </a:r>
          </a:p>
          <a:p>
            <a:pPr marL="933450" lvl="1" indent="-533400" eaLnBrk="1" hangingPunct="1">
              <a:lnSpc>
                <a:spcPct val="90000"/>
              </a:lnSpc>
              <a:defRPr/>
            </a:pPr>
            <a:r>
              <a:rPr lang="en-US" altLang="en-US" sz="2000" dirty="0"/>
              <a:t>That is, </a:t>
            </a:r>
            <a:r>
              <a:rPr lang="en-US" altLang="en-US" sz="2000" b="1" dirty="0"/>
              <a:t>cg(n)</a:t>
            </a:r>
            <a:r>
              <a:rPr lang="en-US" altLang="en-US" sz="2000" dirty="0"/>
              <a:t> is an </a:t>
            </a:r>
            <a:r>
              <a:rPr lang="en-US" altLang="en-US" sz="2000" i="1" dirty="0"/>
              <a:t>upper bound</a:t>
            </a:r>
            <a:r>
              <a:rPr lang="en-US" altLang="en-US" sz="2000" dirty="0"/>
              <a:t> for </a:t>
            </a:r>
            <a:r>
              <a:rPr lang="en-US" altLang="en-US" sz="2000" b="1" dirty="0"/>
              <a:t>f(n)</a:t>
            </a:r>
            <a:r>
              <a:rPr lang="en-US" altLang="en-US" sz="2000" dirty="0"/>
              <a:t>, for </a:t>
            </a:r>
            <a:r>
              <a:rPr lang="en-US" altLang="en-US" sz="2000" b="1" dirty="0"/>
              <a:t>n &gt;= n</a:t>
            </a:r>
            <a:r>
              <a:rPr lang="en-US" altLang="en-US" sz="2400" b="1" baseline="-25000" dirty="0">
                <a:ea typeface="+mn-ea"/>
                <a:cs typeface="+mn-cs"/>
              </a:rPr>
              <a:t>0</a:t>
            </a:r>
          </a:p>
          <a:p>
            <a:pPr marL="533400" indent="-533400" eaLnBrk="1" hangingPunct="1">
              <a:lnSpc>
                <a:spcPct val="90000"/>
              </a:lnSpc>
              <a:defRPr/>
            </a:pPr>
            <a:endParaRPr lang="en-US" altLang="en-US" sz="2400" dirty="0"/>
          </a:p>
          <a:p>
            <a:pPr marL="533400" indent="-533400" eaLnBrk="1" hangingPunct="1">
              <a:lnSpc>
                <a:spcPct val="90000"/>
              </a:lnSpc>
              <a:defRPr/>
            </a:pPr>
            <a:r>
              <a:rPr lang="en-US" altLang="en-US" sz="2400" dirty="0" err="1"/>
              <a:t>Mathishly</a:t>
            </a:r>
            <a:r>
              <a:rPr lang="en-US" altLang="en-US" sz="2400" dirty="0"/>
              <a:t>:</a:t>
            </a: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endParaRPr lang="en-US" altLang="en-US" sz="1200" b="1" dirty="0"/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altLang="en-US" sz="2400" b="1" dirty="0"/>
              <a:t>      f(n) = O(g(n))</a:t>
            </a:r>
            <a:r>
              <a:rPr lang="en-US" altLang="en-US" sz="2400" dirty="0"/>
              <a:t> if there exist </a:t>
            </a:r>
            <a:r>
              <a:rPr lang="en-US" altLang="en-US" sz="2400" b="1" dirty="0"/>
              <a:t>c &gt; 0</a:t>
            </a:r>
            <a:r>
              <a:rPr lang="en-US" altLang="en-US" sz="2400" dirty="0"/>
              <a:t>,</a:t>
            </a:r>
            <a:r>
              <a:rPr lang="en-US" altLang="en-US" sz="2400" b="1" dirty="0"/>
              <a:t> n</a:t>
            </a:r>
            <a:r>
              <a:rPr lang="en-US" altLang="en-US" sz="2400" b="1" baseline="-25000" dirty="0"/>
              <a:t>0</a:t>
            </a:r>
            <a:r>
              <a:rPr lang="en-US" altLang="en-US" sz="2400" b="1" dirty="0"/>
              <a:t> &gt;= 0</a:t>
            </a: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altLang="en-US" sz="2400" b="1" dirty="0"/>
              <a:t>               : f(n) &lt;= cg(n)</a:t>
            </a:r>
            <a:r>
              <a:rPr lang="en-US" altLang="en-US" sz="2400" dirty="0"/>
              <a:t> for all </a:t>
            </a:r>
            <a:r>
              <a:rPr lang="en-US" altLang="en-US" sz="2400" b="1" dirty="0"/>
              <a:t>n &gt;= n</a:t>
            </a:r>
            <a:r>
              <a:rPr lang="en-US" altLang="en-US" sz="2400" b="1" baseline="-25000" dirty="0"/>
              <a:t>0</a:t>
            </a:r>
          </a:p>
          <a:p>
            <a:pPr marL="933450" lvl="1" indent="-533400" eaLnBrk="1" hangingPunct="1">
              <a:lnSpc>
                <a:spcPct val="90000"/>
              </a:lnSpc>
              <a:defRPr/>
            </a:pPr>
            <a:endParaRPr lang="en-US" altLang="en-US" sz="2000" b="1" i="1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6A67CE0-F0E5-41A8-A405-D295D96172D8}" type="datetime1">
              <a:rPr lang="en-US" smtClean="0"/>
              <a:t>7/15/2021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Copyright (c) John K. </a:t>
            </a:r>
            <a:r>
              <a:rPr lang="en-US" dirty="0" err="1"/>
              <a:t>Ostlund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95189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Big-O Example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981200"/>
            <a:ext cx="7772400" cy="4114800"/>
          </a:xfrm>
        </p:spPr>
        <p:txBody>
          <a:bodyPr/>
          <a:lstStyle/>
          <a:p>
            <a:pPr marL="533400" indent="-533400" eaLnBrk="1" hangingPunct="1">
              <a:lnSpc>
                <a:spcPct val="90000"/>
              </a:lnSpc>
              <a:defRPr/>
            </a:pPr>
            <a:r>
              <a:rPr lang="en-US" altLang="en-US" sz="2400" dirty="0"/>
              <a:t>Suppose we have some operation </a:t>
            </a:r>
            <a:r>
              <a:rPr lang="en-US" altLang="en-US" sz="2400" b="1" i="1" dirty="0" err="1"/>
              <a:t>oper</a:t>
            </a:r>
            <a:r>
              <a:rPr lang="en-US" altLang="en-US" sz="2400" dirty="0"/>
              <a:t> that takes some amount of time </a:t>
            </a:r>
            <a:r>
              <a:rPr lang="en-US" altLang="en-US" sz="2400" b="1" dirty="0"/>
              <a:t>t</a:t>
            </a:r>
            <a:r>
              <a:rPr lang="en-US" altLang="en-US" sz="2400" dirty="0"/>
              <a:t> &gt; 0</a:t>
            </a:r>
            <a:endParaRPr lang="en-US" altLang="en-US" sz="2400" b="1" dirty="0"/>
          </a:p>
          <a:p>
            <a:pPr marL="533400" indent="-533400" eaLnBrk="1" hangingPunct="1">
              <a:lnSpc>
                <a:spcPct val="90000"/>
              </a:lnSpc>
              <a:defRPr/>
            </a:pPr>
            <a:r>
              <a:rPr lang="en-US" altLang="en-US" sz="2400" dirty="0"/>
              <a:t>Suppose we have a program like this:</a:t>
            </a:r>
          </a:p>
          <a:p>
            <a:pPr marL="400050" lvl="1" indent="0" eaLnBrk="1" hangingPunct="1">
              <a:lnSpc>
                <a:spcPct val="90000"/>
              </a:lnSpc>
              <a:buNone/>
              <a:defRPr/>
            </a:pPr>
            <a:endParaRPr lang="en-US" altLang="en-US" sz="1200" dirty="0"/>
          </a:p>
          <a:p>
            <a:pPr marL="400050" lvl="1" indent="0" eaLnBrk="1" hangingPunct="1">
              <a:lnSpc>
                <a:spcPct val="90000"/>
              </a:lnSpc>
              <a:buNone/>
              <a:defRPr/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	</a:t>
            </a:r>
            <a:r>
              <a:rPr lang="en-US" altLang="en-US" sz="1800" b="1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oper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			// initialize</a:t>
            </a:r>
          </a:p>
          <a:p>
            <a:pPr marL="400050" lvl="1" indent="0" eaLnBrk="1" hangingPunct="1">
              <a:lnSpc>
                <a:spcPct val="90000"/>
              </a:lnSpc>
              <a:buNone/>
              <a:defRPr/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	for </a:t>
            </a:r>
            <a:r>
              <a:rPr lang="en-US" alt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in range(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):		// process</a:t>
            </a:r>
          </a:p>
          <a:p>
            <a:pPr marL="400050" lvl="1" indent="0" eaLnBrk="1" hangingPunct="1">
              <a:lnSpc>
                <a:spcPct val="90000"/>
              </a:lnSpc>
              <a:buNone/>
              <a:defRPr/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    for j in range(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</a:p>
          <a:p>
            <a:pPr marL="400050" lvl="1" indent="0" eaLnBrk="1" hangingPunct="1">
              <a:lnSpc>
                <a:spcPct val="90000"/>
              </a:lnSpc>
              <a:buNone/>
              <a:defRPr/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        for k in range(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</a:p>
          <a:p>
            <a:pPr marL="400050" lvl="1" indent="0" eaLnBrk="1" hangingPunct="1">
              <a:lnSpc>
                <a:spcPct val="90000"/>
              </a:lnSpc>
              <a:buNone/>
              <a:defRPr/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            </a:t>
            </a:r>
            <a:r>
              <a:rPr lang="en-US" altLang="en-US" sz="1800" b="1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oper</a:t>
            </a:r>
            <a:endParaRPr lang="en-US" altLang="en-US" sz="1800" b="1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00050" lvl="1" indent="0" eaLnBrk="1" hangingPunct="1">
              <a:lnSpc>
                <a:spcPct val="90000"/>
              </a:lnSpc>
              <a:buNone/>
              <a:defRPr/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for m in range(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 		// report</a:t>
            </a:r>
          </a:p>
          <a:p>
            <a:pPr marL="400050" lvl="1" indent="0" eaLnBrk="1" hangingPunct="1">
              <a:lnSpc>
                <a:spcPct val="90000"/>
              </a:lnSpc>
              <a:buNone/>
              <a:defRPr/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    for n in range(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400050" lvl="1" indent="0" eaLnBrk="1" hangingPunct="1">
              <a:lnSpc>
                <a:spcPct val="90000"/>
              </a:lnSpc>
              <a:buNone/>
              <a:defRPr/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	        </a:t>
            </a:r>
            <a:r>
              <a:rPr lang="en-US" altLang="en-US" sz="1800" b="1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oper</a:t>
            </a:r>
            <a:endParaRPr lang="en-US" altLang="en-US" sz="1800" b="1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00050" lvl="1" indent="0" eaLnBrk="1" hangingPunct="1">
              <a:lnSpc>
                <a:spcPct val="90000"/>
              </a:lnSpc>
              <a:buNone/>
              <a:defRPr/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en-US" sz="1800" b="1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oper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			// finalize</a:t>
            </a:r>
          </a:p>
          <a:p>
            <a:pPr marL="400050" lvl="1" indent="0" eaLnBrk="1" hangingPunct="1">
              <a:lnSpc>
                <a:spcPct val="90000"/>
              </a:lnSpc>
              <a:buNone/>
              <a:defRPr/>
            </a:pPr>
            <a:r>
              <a:rPr lang="en-US" altLang="en-US" sz="2000" dirty="0"/>
              <a:t>	</a:t>
            </a:r>
          </a:p>
          <a:p>
            <a:pPr marL="933450" lvl="1" indent="-533400" eaLnBrk="1" hangingPunct="1">
              <a:lnSpc>
                <a:spcPct val="90000"/>
              </a:lnSpc>
              <a:defRPr/>
            </a:pPr>
            <a:endParaRPr lang="en-US" altLang="en-US" sz="2000" b="1" i="1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6A67CE0-F0E5-41A8-A405-D295D96172D8}" type="datetime1">
              <a:rPr lang="en-US" smtClean="0"/>
              <a:t>7/15/2021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Copyright (c) John K. </a:t>
            </a:r>
            <a:r>
              <a:rPr lang="en-US" dirty="0" err="1"/>
              <a:t>Ostlund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27120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Big-O Example (</a:t>
            </a:r>
            <a:r>
              <a:rPr lang="en-US" altLang="en-US" dirty="0" err="1"/>
              <a:t>cont</a:t>
            </a:r>
            <a:r>
              <a:rPr lang="en-US" altLang="en-US" dirty="0"/>
              <a:t>)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981200"/>
            <a:ext cx="7772400" cy="4114800"/>
          </a:xfrm>
        </p:spPr>
        <p:txBody>
          <a:bodyPr/>
          <a:lstStyle/>
          <a:p>
            <a:pPr marL="533400" indent="-533400" eaLnBrk="1" hangingPunct="1">
              <a:lnSpc>
                <a:spcPct val="90000"/>
              </a:lnSpc>
              <a:defRPr/>
            </a:pPr>
            <a:r>
              <a:rPr lang="en-US" altLang="en-US" sz="2400" dirty="0"/>
              <a:t>It should be clear that the time to run this program will be about:</a:t>
            </a:r>
            <a:endParaRPr lang="en-US" altLang="en-US" sz="2400" b="1" dirty="0"/>
          </a:p>
          <a:p>
            <a:pPr marL="400050" lvl="1" indent="0" eaLnBrk="1" hangingPunct="1">
              <a:lnSpc>
                <a:spcPct val="90000"/>
              </a:lnSpc>
              <a:buNone/>
              <a:defRPr/>
            </a:pPr>
            <a:endParaRPr lang="en-US" altLang="en-US" sz="1200" dirty="0"/>
          </a:p>
          <a:p>
            <a:pPr marL="400050" lvl="1" indent="0" eaLnBrk="1" hangingPunct="1">
              <a:lnSpc>
                <a:spcPct val="90000"/>
              </a:lnSpc>
              <a:buNone/>
              <a:defRPr/>
            </a:pPr>
            <a:r>
              <a:rPr lang="en-US" altLang="en-US" sz="1800" dirty="0">
                <a:cs typeface="Courier New" panose="02070309020205020404" pitchFamily="49" charset="0"/>
              </a:rPr>
              <a:t> 	time = </a:t>
            </a:r>
            <a:r>
              <a:rPr lang="en-US" altLang="en-US" sz="1800" b="1" dirty="0">
                <a:cs typeface="Courier New" panose="02070309020205020404" pitchFamily="49" charset="0"/>
              </a:rPr>
              <a:t>t</a:t>
            </a:r>
            <a:r>
              <a:rPr lang="en-US" altLang="en-US" sz="1800" dirty="0">
                <a:cs typeface="Courier New" panose="02070309020205020404" pitchFamily="49" charset="0"/>
              </a:rPr>
              <a:t> * </a:t>
            </a:r>
            <a:r>
              <a:rPr lang="en-US" altLang="en-US" sz="1800" b="1" dirty="0">
                <a:solidFill>
                  <a:srgbClr val="FF0000"/>
                </a:solidFill>
                <a:cs typeface="Courier New" panose="02070309020205020404" pitchFamily="49" charset="0"/>
              </a:rPr>
              <a:t>( </a:t>
            </a:r>
            <a:r>
              <a:rPr lang="en-US" altLang="en-US" sz="1800" dirty="0">
                <a:cs typeface="Courier New" panose="02070309020205020404" pitchFamily="49" charset="0"/>
              </a:rPr>
              <a:t>1 + (4 * </a:t>
            </a:r>
            <a:r>
              <a:rPr lang="en-US" altLang="en-US" sz="1800" b="1" dirty="0">
                <a:cs typeface="Courier New" panose="02070309020205020404" pitchFamily="49" charset="0"/>
              </a:rPr>
              <a:t>N</a:t>
            </a:r>
            <a:r>
              <a:rPr lang="en-US" altLang="en-US" sz="1800" dirty="0">
                <a:cs typeface="Courier New" panose="02070309020205020404" pitchFamily="49" charset="0"/>
              </a:rPr>
              <a:t> * </a:t>
            </a:r>
            <a:r>
              <a:rPr lang="en-US" altLang="en-US" sz="1800" b="1" dirty="0">
                <a:cs typeface="Courier New" panose="02070309020205020404" pitchFamily="49" charset="0"/>
              </a:rPr>
              <a:t>N</a:t>
            </a:r>
            <a:r>
              <a:rPr lang="en-US" altLang="en-US" sz="1800" dirty="0">
                <a:cs typeface="Courier New" panose="02070309020205020404" pitchFamily="49" charset="0"/>
              </a:rPr>
              <a:t>) + (3 * </a:t>
            </a:r>
            <a:r>
              <a:rPr lang="en-US" altLang="en-US" sz="1800" b="1" dirty="0">
                <a:cs typeface="Courier New" panose="02070309020205020404" pitchFamily="49" charset="0"/>
              </a:rPr>
              <a:t>N</a:t>
            </a:r>
            <a:r>
              <a:rPr lang="en-US" altLang="en-US" sz="1800" dirty="0">
                <a:cs typeface="Courier New" panose="02070309020205020404" pitchFamily="49" charset="0"/>
              </a:rPr>
              <a:t>) + 1 </a:t>
            </a:r>
            <a:r>
              <a:rPr lang="en-US" altLang="en-US" sz="1800" b="1" dirty="0">
                <a:solidFill>
                  <a:srgbClr val="FF0000"/>
                </a:solidFill>
                <a:cs typeface="Courier New" panose="02070309020205020404" pitchFamily="49" charset="0"/>
              </a:rPr>
              <a:t>)</a:t>
            </a:r>
          </a:p>
          <a:p>
            <a:pPr marL="400050" lvl="1" indent="0" eaLnBrk="1" hangingPunct="1">
              <a:lnSpc>
                <a:spcPct val="90000"/>
              </a:lnSpc>
              <a:buNone/>
              <a:defRPr/>
            </a:pPr>
            <a:r>
              <a:rPr lang="en-US" altLang="en-US" sz="1800" dirty="0">
                <a:cs typeface="Courier New" panose="02070309020205020404" pitchFamily="49" charset="0"/>
              </a:rPr>
              <a:t>	       = </a:t>
            </a:r>
            <a:r>
              <a:rPr lang="en-US" altLang="en-US" sz="1800" b="1" dirty="0">
                <a:cs typeface="Courier New" panose="02070309020205020404" pitchFamily="49" charset="0"/>
              </a:rPr>
              <a:t>t</a:t>
            </a:r>
            <a:r>
              <a:rPr lang="en-US" altLang="en-US" sz="1800" dirty="0">
                <a:cs typeface="Courier New" panose="02070309020205020404" pitchFamily="49" charset="0"/>
              </a:rPr>
              <a:t> * (4</a:t>
            </a:r>
            <a:r>
              <a:rPr lang="en-US" altLang="en-US" sz="1800" b="1" dirty="0">
                <a:cs typeface="Courier New" panose="02070309020205020404" pitchFamily="49" charset="0"/>
              </a:rPr>
              <a:t>N</a:t>
            </a:r>
            <a:r>
              <a:rPr lang="en-US" altLang="en-US" sz="1800" b="1" baseline="30000" dirty="0">
                <a:cs typeface="Courier New" panose="02070309020205020404" pitchFamily="49" charset="0"/>
              </a:rPr>
              <a:t>2</a:t>
            </a:r>
            <a:r>
              <a:rPr lang="en-US" altLang="en-US" sz="1800" dirty="0">
                <a:cs typeface="Courier New" panose="02070309020205020404" pitchFamily="49" charset="0"/>
              </a:rPr>
              <a:t> + 3</a:t>
            </a:r>
            <a:r>
              <a:rPr lang="en-US" altLang="en-US" sz="1800" b="1" dirty="0">
                <a:cs typeface="Courier New" panose="02070309020205020404" pitchFamily="49" charset="0"/>
              </a:rPr>
              <a:t>N</a:t>
            </a:r>
            <a:r>
              <a:rPr lang="en-US" altLang="en-US" sz="1800" dirty="0">
                <a:cs typeface="Courier New" panose="02070309020205020404" pitchFamily="49" charset="0"/>
              </a:rPr>
              <a:t> + 2)</a:t>
            </a:r>
          </a:p>
          <a:p>
            <a:pPr marL="400050" lvl="1" indent="0" eaLnBrk="1" hangingPunct="1">
              <a:lnSpc>
                <a:spcPct val="90000"/>
              </a:lnSpc>
              <a:buNone/>
              <a:defRPr/>
            </a:pPr>
            <a:r>
              <a:rPr lang="en-US" altLang="en-US" sz="2000" dirty="0"/>
              <a:t>	</a:t>
            </a:r>
          </a:p>
          <a:p>
            <a:pPr marL="533400" indent="-533400" eaLnBrk="1" hangingPunct="1">
              <a:lnSpc>
                <a:spcPct val="90000"/>
              </a:lnSpc>
              <a:defRPr/>
            </a:pPr>
            <a:r>
              <a:rPr lang="en-US" altLang="en-US" sz="2400" dirty="0"/>
              <a:t>The </a:t>
            </a:r>
            <a:r>
              <a:rPr lang="en-US" altLang="en-US" sz="2400" i="1" dirty="0"/>
              <a:t>rate of increase</a:t>
            </a:r>
            <a:r>
              <a:rPr lang="en-US" altLang="en-US" sz="2400" dirty="0"/>
              <a:t> in run time as the amount of data increases is dependent on </a:t>
            </a:r>
            <a:r>
              <a:rPr lang="en-US" altLang="en-US" sz="2400" b="1" dirty="0"/>
              <a:t>N</a:t>
            </a:r>
            <a:r>
              <a:rPr lang="en-US" altLang="en-US" sz="2400" dirty="0"/>
              <a:t>, not on the constant </a:t>
            </a:r>
            <a:r>
              <a:rPr lang="en-US" altLang="en-US" sz="2400" b="1" dirty="0"/>
              <a:t>t</a:t>
            </a:r>
          </a:p>
          <a:p>
            <a:pPr marL="933450" lvl="1" indent="-533400" eaLnBrk="1" hangingPunct="1">
              <a:lnSpc>
                <a:spcPct val="90000"/>
              </a:lnSpc>
              <a:defRPr/>
            </a:pPr>
            <a:r>
              <a:rPr lang="en-US" altLang="en-US" sz="2000" dirty="0"/>
              <a:t>Let:</a:t>
            </a:r>
            <a:r>
              <a:rPr lang="en-US" altLang="en-US" sz="2000" b="1" dirty="0"/>
              <a:t>	f(N) = 4N</a:t>
            </a:r>
            <a:r>
              <a:rPr lang="en-US" altLang="en-US" sz="2000" b="1" baseline="30000" dirty="0"/>
              <a:t>2</a:t>
            </a:r>
            <a:r>
              <a:rPr lang="en-US" altLang="en-US" sz="2000" b="1" dirty="0"/>
              <a:t> + 3N + 2</a:t>
            </a:r>
          </a:p>
          <a:p>
            <a:pPr marL="933450" lvl="1" indent="-533400" eaLnBrk="1" hangingPunct="1">
              <a:lnSpc>
                <a:spcPct val="90000"/>
              </a:lnSpc>
              <a:defRPr/>
            </a:pPr>
            <a:r>
              <a:rPr lang="en-US" altLang="en-US" sz="2000" dirty="0"/>
              <a:t>Can we find </a:t>
            </a:r>
            <a:r>
              <a:rPr lang="en-US" altLang="en-US" sz="2000" b="1" dirty="0"/>
              <a:t>g(N)</a:t>
            </a:r>
            <a:r>
              <a:rPr lang="en-US" altLang="en-US" sz="2000" dirty="0"/>
              <a:t> such that </a:t>
            </a:r>
            <a:r>
              <a:rPr lang="en-US" altLang="en-US" sz="2000" b="1" dirty="0"/>
              <a:t>f(N) = O(g(N))</a:t>
            </a:r>
            <a:r>
              <a:rPr lang="en-US" altLang="en-US" sz="2000" dirty="0"/>
              <a:t>?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6A67CE0-F0E5-41A8-A405-D295D96172D8}" type="datetime1">
              <a:rPr lang="en-US" smtClean="0"/>
              <a:t>7/15/2021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Copyright (c) John K. </a:t>
            </a:r>
            <a:r>
              <a:rPr lang="en-US" dirty="0" err="1"/>
              <a:t>Ostlund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97095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Big-O Example (</a:t>
            </a:r>
            <a:r>
              <a:rPr lang="en-US" altLang="en-US" dirty="0" err="1"/>
              <a:t>cont</a:t>
            </a:r>
            <a:r>
              <a:rPr lang="en-US" altLang="en-US" dirty="0"/>
              <a:t>)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981200"/>
            <a:ext cx="7772400" cy="4114800"/>
          </a:xfrm>
        </p:spPr>
        <p:txBody>
          <a:bodyPr/>
          <a:lstStyle/>
          <a:p>
            <a:pPr marL="533400" indent="-533400" eaLnBrk="1" hangingPunct="1">
              <a:lnSpc>
                <a:spcPct val="90000"/>
              </a:lnSpc>
              <a:defRPr/>
            </a:pPr>
            <a:r>
              <a:rPr lang="en-US" altLang="en-US" sz="2400" dirty="0"/>
              <a:t>Try </a:t>
            </a:r>
            <a:r>
              <a:rPr lang="en-US" altLang="en-US" sz="2400" b="1" dirty="0"/>
              <a:t>g(N) = N</a:t>
            </a:r>
            <a:r>
              <a:rPr lang="en-US" altLang="en-US" sz="2400" b="1" baseline="30000" dirty="0"/>
              <a:t>3</a:t>
            </a:r>
            <a:r>
              <a:rPr lang="en-US" altLang="en-US" sz="2400" dirty="0"/>
              <a:t>, </a:t>
            </a:r>
            <a:r>
              <a:rPr lang="en-US" altLang="en-US" sz="2400" b="1" dirty="0"/>
              <a:t>c = 1</a:t>
            </a:r>
            <a:r>
              <a:rPr lang="en-US" altLang="en-US" sz="2400" dirty="0"/>
              <a:t> (&gt; 0)</a:t>
            </a:r>
            <a:endParaRPr lang="en-US" altLang="en-US" sz="2400" b="1" dirty="0"/>
          </a:p>
          <a:p>
            <a:pPr marL="400050" lvl="1" indent="0" eaLnBrk="1" hangingPunct="1">
              <a:lnSpc>
                <a:spcPct val="90000"/>
              </a:lnSpc>
              <a:buNone/>
              <a:defRPr/>
            </a:pPr>
            <a:endParaRPr lang="en-US" altLang="en-US" sz="1200" dirty="0"/>
          </a:p>
          <a:p>
            <a:pPr marL="400050" lvl="1" indent="0" eaLnBrk="1" hangingPunct="1">
              <a:lnSpc>
                <a:spcPct val="90000"/>
              </a:lnSpc>
              <a:buNone/>
              <a:defRPr/>
            </a:pPr>
            <a:endParaRPr lang="en-US" altLang="en-US" sz="2000" dirty="0"/>
          </a:p>
          <a:p>
            <a:pPr marL="400050" lvl="1" indent="0" eaLnBrk="1" hangingPunct="1">
              <a:lnSpc>
                <a:spcPct val="90000"/>
              </a:lnSpc>
              <a:buNone/>
              <a:defRPr/>
            </a:pPr>
            <a:endParaRPr lang="en-US" altLang="en-US" sz="2000" dirty="0"/>
          </a:p>
          <a:p>
            <a:pPr marL="400050" lvl="1" indent="0" eaLnBrk="1" hangingPunct="1">
              <a:lnSpc>
                <a:spcPct val="90000"/>
              </a:lnSpc>
              <a:buNone/>
              <a:defRPr/>
            </a:pPr>
            <a:endParaRPr lang="en-US" altLang="en-US" sz="2000" dirty="0"/>
          </a:p>
          <a:p>
            <a:pPr marL="400050" lvl="1" indent="0" eaLnBrk="1" hangingPunct="1">
              <a:lnSpc>
                <a:spcPct val="90000"/>
              </a:lnSpc>
              <a:buNone/>
              <a:defRPr/>
            </a:pPr>
            <a:r>
              <a:rPr lang="en-US" altLang="en-US" sz="2000" dirty="0"/>
              <a:t>	</a:t>
            </a:r>
          </a:p>
          <a:p>
            <a:pPr marL="533400" indent="-533400" eaLnBrk="1" hangingPunct="1">
              <a:lnSpc>
                <a:spcPct val="90000"/>
              </a:lnSpc>
              <a:defRPr/>
            </a:pPr>
            <a:r>
              <a:rPr lang="en-US" altLang="en-US" sz="2400" dirty="0"/>
              <a:t>Let </a:t>
            </a:r>
            <a:r>
              <a:rPr lang="en-US" altLang="en-US" sz="2400" b="1" dirty="0"/>
              <a:t>n</a:t>
            </a:r>
            <a:r>
              <a:rPr lang="en-US" altLang="en-US" sz="2400" b="1" baseline="-25000" dirty="0"/>
              <a:t>0</a:t>
            </a:r>
            <a:r>
              <a:rPr lang="en-US" altLang="en-US" sz="2400" b="1" dirty="0"/>
              <a:t> = 5</a:t>
            </a:r>
            <a:r>
              <a:rPr lang="en-US" altLang="en-US" sz="2400" dirty="0"/>
              <a:t>, then </a:t>
            </a:r>
            <a:r>
              <a:rPr lang="en-US" altLang="en-US" sz="2400" b="1" dirty="0"/>
              <a:t>f(n) &lt;= 1g(n)</a:t>
            </a:r>
            <a:r>
              <a:rPr lang="en-US" altLang="en-US" sz="2400" dirty="0"/>
              <a:t> for </a:t>
            </a:r>
            <a:r>
              <a:rPr lang="en-US" altLang="en-US" sz="2400" b="1" dirty="0"/>
              <a:t>n &gt;= n</a:t>
            </a:r>
            <a:r>
              <a:rPr lang="en-US" altLang="en-US" sz="2400" b="1" baseline="-25000" dirty="0"/>
              <a:t>0</a:t>
            </a:r>
            <a:r>
              <a:rPr lang="en-US" altLang="en-US" sz="2400" dirty="0"/>
              <a:t> </a:t>
            </a:r>
          </a:p>
          <a:p>
            <a:pPr marL="933450" lvl="1" indent="-533400" eaLnBrk="1" hangingPunct="1">
              <a:lnSpc>
                <a:spcPct val="90000"/>
              </a:lnSpc>
              <a:defRPr/>
            </a:pPr>
            <a:r>
              <a:rPr lang="en-US" altLang="en-US" sz="2000" dirty="0"/>
              <a:t>So </a:t>
            </a:r>
            <a:r>
              <a:rPr lang="en-US" altLang="en-US" sz="2000" b="1" dirty="0"/>
              <a:t>f(N) = O(g(N))</a:t>
            </a:r>
          </a:p>
          <a:p>
            <a:pPr marL="933450" lvl="1" indent="-533400" eaLnBrk="1" hangingPunct="1">
              <a:lnSpc>
                <a:spcPct val="90000"/>
              </a:lnSpc>
              <a:defRPr/>
            </a:pPr>
            <a:r>
              <a:rPr lang="en-US" altLang="en-US" sz="2000" b="1" dirty="0"/>
              <a:t>N</a:t>
            </a:r>
            <a:r>
              <a:rPr lang="en-US" altLang="en-US" sz="2000" b="1" baseline="30000" dirty="0"/>
              <a:t>3</a:t>
            </a:r>
            <a:r>
              <a:rPr lang="en-US" altLang="en-US" sz="2000" dirty="0"/>
              <a:t> is an upper bound on </a:t>
            </a:r>
            <a:r>
              <a:rPr lang="en-US" altLang="en-US" sz="2000" b="1" dirty="0"/>
              <a:t>4N</a:t>
            </a:r>
            <a:r>
              <a:rPr lang="en-US" altLang="en-US" sz="2000" b="1" baseline="30000" dirty="0"/>
              <a:t>2</a:t>
            </a:r>
            <a:r>
              <a:rPr lang="en-US" altLang="en-US" sz="2000" b="1" dirty="0"/>
              <a:t> + 3N + 2</a:t>
            </a:r>
            <a:endParaRPr lang="en-US" altLang="en-US" sz="2000" b="1" baseline="30000" dirty="0"/>
          </a:p>
          <a:p>
            <a:pPr marL="1333500" lvl="2" indent="-533400" eaLnBrk="1" hangingPunct="1">
              <a:lnSpc>
                <a:spcPct val="90000"/>
              </a:lnSpc>
              <a:defRPr/>
            </a:pPr>
            <a:r>
              <a:rPr lang="en-US" altLang="en-US" sz="1600" dirty="0"/>
              <a:t>Surprise!  Who cares?</a:t>
            </a:r>
          </a:p>
          <a:p>
            <a:pPr marL="400050" lvl="1" indent="0" eaLnBrk="1" hangingPunct="1">
              <a:lnSpc>
                <a:spcPct val="90000"/>
              </a:lnSpc>
              <a:buNone/>
              <a:defRPr/>
            </a:pPr>
            <a:endParaRPr lang="en-US" altLang="en-US" sz="20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6A67CE0-F0E5-41A8-A405-D295D96172D8}" type="datetime1">
              <a:rPr lang="en-US" smtClean="0"/>
              <a:t>7/15/2021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Copyright (c) John K. </a:t>
            </a:r>
            <a:r>
              <a:rPr lang="en-US" dirty="0" err="1"/>
              <a:t>Ostlund</a:t>
            </a: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B06559F-4F10-4591-935F-78B9C74374CD}"/>
              </a:ext>
            </a:extLst>
          </p:cNvPr>
          <p:cNvGraphicFramePr>
            <a:graphicFrameLocks noGrp="1"/>
          </p:cNvGraphicFramePr>
          <p:nvPr/>
        </p:nvGraphicFramePr>
        <p:xfrm>
          <a:off x="1760169" y="2632348"/>
          <a:ext cx="6096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324752055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397247846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755433306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87032605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2387222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6270337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solidFill>
                      <a:schemeClr val="bg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solidFill>
                      <a:schemeClr val="bg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solidFill>
                      <a:schemeClr val="bg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solidFill>
                      <a:schemeClr val="bg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>
                    <a:solidFill>
                      <a:schemeClr val="bg1">
                        <a:alpha val="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8721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f(N</a:t>
                      </a:r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>
                    <a:solidFill>
                      <a:schemeClr val="bg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>
                    <a:solidFill>
                      <a:schemeClr val="bg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24</a:t>
                      </a:r>
                    </a:p>
                  </a:txBody>
                  <a:tcPr>
                    <a:solidFill>
                      <a:schemeClr val="bg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47</a:t>
                      </a:r>
                    </a:p>
                  </a:txBody>
                  <a:tcPr>
                    <a:solidFill>
                      <a:schemeClr val="bg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78</a:t>
                      </a:r>
                    </a:p>
                  </a:txBody>
                  <a:tcPr>
                    <a:solidFill>
                      <a:schemeClr val="bg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117</a:t>
                      </a:r>
                    </a:p>
                  </a:txBody>
                  <a:tcPr>
                    <a:solidFill>
                      <a:schemeClr val="bg1">
                        <a:alpha val="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46798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g(N)</a:t>
                      </a:r>
                    </a:p>
                  </a:txBody>
                  <a:tcPr>
                    <a:solidFill>
                      <a:schemeClr val="bg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solidFill>
                      <a:schemeClr val="bg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>
                    <a:solidFill>
                      <a:schemeClr val="bg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27</a:t>
                      </a:r>
                    </a:p>
                  </a:txBody>
                  <a:tcPr>
                    <a:solidFill>
                      <a:schemeClr val="bg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64</a:t>
                      </a:r>
                    </a:p>
                  </a:txBody>
                  <a:tcPr>
                    <a:solidFill>
                      <a:schemeClr val="bg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125</a:t>
                      </a:r>
                    </a:p>
                  </a:txBody>
                  <a:tcPr>
                    <a:solidFill>
                      <a:schemeClr val="bg1">
                        <a:alpha val="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2012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958177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Formal Definition of Big-</a:t>
            </a:r>
            <a:r>
              <a:rPr lang="el-GR" altLang="en-US" dirty="0"/>
              <a:t>Ω</a:t>
            </a:r>
            <a:endParaRPr lang="en-US" altLang="en-US" dirty="0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981200"/>
            <a:ext cx="7772400" cy="4114800"/>
          </a:xfrm>
        </p:spPr>
        <p:txBody>
          <a:bodyPr/>
          <a:lstStyle/>
          <a:p>
            <a:pPr marL="533400" indent="-533400" eaLnBrk="1" hangingPunct="1">
              <a:lnSpc>
                <a:spcPct val="90000"/>
              </a:lnSpc>
              <a:defRPr/>
            </a:pPr>
            <a:r>
              <a:rPr lang="en-US" altLang="en-US" sz="2400" dirty="0"/>
              <a:t>We say that some function, </a:t>
            </a:r>
            <a:r>
              <a:rPr lang="en-US" altLang="en-US" sz="2400" b="1" dirty="0"/>
              <a:t>f(n)</a:t>
            </a:r>
            <a:r>
              <a:rPr lang="en-US" altLang="en-US" sz="2400" dirty="0"/>
              <a:t>, is "</a:t>
            </a:r>
            <a:r>
              <a:rPr lang="el-GR" altLang="en-US" sz="2400" b="1" dirty="0"/>
              <a:t>Ω</a:t>
            </a:r>
            <a:r>
              <a:rPr lang="en-US" altLang="en-US" sz="2400" dirty="0"/>
              <a:t> of" some other function, </a:t>
            </a:r>
            <a:r>
              <a:rPr lang="en-US" altLang="en-US" sz="2400" b="1" dirty="0"/>
              <a:t>g(n)</a:t>
            </a:r>
            <a:r>
              <a:rPr lang="en-US" altLang="en-US" sz="2400" dirty="0"/>
              <a:t>, if we can find some </a:t>
            </a:r>
            <a:r>
              <a:rPr lang="en-US" altLang="en-US" sz="2400" b="1" dirty="0"/>
              <a:t>n</a:t>
            </a:r>
            <a:r>
              <a:rPr lang="en-US" altLang="en-US" sz="2400" b="1" baseline="-25000" dirty="0"/>
              <a:t>0</a:t>
            </a:r>
            <a:r>
              <a:rPr lang="en-US" altLang="en-US" sz="2400" b="1" dirty="0"/>
              <a:t> &gt;= 0</a:t>
            </a:r>
            <a:r>
              <a:rPr lang="en-US" altLang="en-US" sz="2400" dirty="0"/>
              <a:t> and some constant </a:t>
            </a:r>
            <a:r>
              <a:rPr lang="en-US" altLang="en-US" sz="2400" b="1" dirty="0"/>
              <a:t>c &gt; 0</a:t>
            </a:r>
            <a:r>
              <a:rPr lang="en-US" altLang="en-US" sz="2400" dirty="0"/>
              <a:t> such that:</a:t>
            </a:r>
            <a:endParaRPr lang="en-US" altLang="en-US" sz="2400" b="1" dirty="0"/>
          </a:p>
          <a:p>
            <a:pPr marL="933450" lvl="1" indent="-533400" eaLnBrk="1" hangingPunct="1">
              <a:lnSpc>
                <a:spcPct val="90000"/>
              </a:lnSpc>
              <a:defRPr/>
            </a:pPr>
            <a:r>
              <a:rPr lang="en-US" altLang="en-US" sz="2000" b="1" dirty="0"/>
              <a:t>f(n) </a:t>
            </a:r>
            <a:r>
              <a:rPr lang="en-US" altLang="en-US" sz="2000" b="1" dirty="0">
                <a:solidFill>
                  <a:srgbClr val="FF0000"/>
                </a:solidFill>
              </a:rPr>
              <a:t>&gt;</a:t>
            </a:r>
            <a:r>
              <a:rPr lang="en-US" altLang="en-US" sz="2000" b="1" dirty="0"/>
              <a:t>= cg(n)</a:t>
            </a:r>
            <a:r>
              <a:rPr lang="en-US" altLang="en-US" sz="2000" dirty="0"/>
              <a:t> for </a:t>
            </a:r>
            <a:r>
              <a:rPr lang="en-US" altLang="en-US" sz="2000" b="1" dirty="0"/>
              <a:t>n &gt;= n</a:t>
            </a:r>
            <a:r>
              <a:rPr lang="en-US" altLang="en-US" sz="2400" b="1" baseline="-25000" dirty="0">
                <a:ea typeface="+mn-ea"/>
                <a:cs typeface="+mn-cs"/>
              </a:rPr>
              <a:t>0</a:t>
            </a:r>
          </a:p>
          <a:p>
            <a:pPr marL="933450" lvl="1" indent="-533400" eaLnBrk="1" hangingPunct="1">
              <a:lnSpc>
                <a:spcPct val="90000"/>
              </a:lnSpc>
              <a:defRPr/>
            </a:pPr>
            <a:r>
              <a:rPr lang="en-US" altLang="en-US" sz="2000" dirty="0"/>
              <a:t>That is, </a:t>
            </a:r>
            <a:r>
              <a:rPr lang="en-US" altLang="en-US" sz="2000" b="1" dirty="0"/>
              <a:t>cg(n)</a:t>
            </a:r>
            <a:r>
              <a:rPr lang="en-US" altLang="en-US" sz="2000" dirty="0"/>
              <a:t> is a </a:t>
            </a:r>
            <a:r>
              <a:rPr lang="en-US" altLang="en-US" sz="2000" i="1" dirty="0">
                <a:solidFill>
                  <a:srgbClr val="FF0000"/>
                </a:solidFill>
              </a:rPr>
              <a:t>lower</a:t>
            </a:r>
            <a:r>
              <a:rPr lang="en-US" altLang="en-US" sz="2000" i="1" dirty="0"/>
              <a:t> bound</a:t>
            </a:r>
            <a:r>
              <a:rPr lang="en-US" altLang="en-US" sz="2000" dirty="0"/>
              <a:t> for </a:t>
            </a:r>
            <a:r>
              <a:rPr lang="en-US" altLang="en-US" sz="2000" b="1" dirty="0"/>
              <a:t>f(n)</a:t>
            </a:r>
            <a:r>
              <a:rPr lang="en-US" altLang="en-US" sz="2000" dirty="0"/>
              <a:t>, for </a:t>
            </a:r>
            <a:r>
              <a:rPr lang="en-US" altLang="en-US" sz="2000" b="1" dirty="0"/>
              <a:t>n &gt;= n</a:t>
            </a:r>
            <a:r>
              <a:rPr lang="en-US" altLang="en-US" sz="2400" b="1" baseline="-25000" dirty="0">
                <a:ea typeface="+mn-ea"/>
                <a:cs typeface="+mn-cs"/>
              </a:rPr>
              <a:t>0</a:t>
            </a:r>
          </a:p>
          <a:p>
            <a:pPr marL="533400" indent="-533400" eaLnBrk="1" hangingPunct="1">
              <a:lnSpc>
                <a:spcPct val="90000"/>
              </a:lnSpc>
              <a:defRPr/>
            </a:pPr>
            <a:endParaRPr lang="en-US" altLang="en-US" sz="2400" dirty="0"/>
          </a:p>
          <a:p>
            <a:pPr marL="533400" indent="-533400" eaLnBrk="1" hangingPunct="1">
              <a:lnSpc>
                <a:spcPct val="90000"/>
              </a:lnSpc>
              <a:defRPr/>
            </a:pPr>
            <a:r>
              <a:rPr lang="en-US" altLang="en-US" sz="2400" dirty="0" err="1"/>
              <a:t>Mathishly</a:t>
            </a:r>
            <a:r>
              <a:rPr lang="en-US" altLang="en-US" sz="2400" dirty="0"/>
              <a:t>:</a:t>
            </a: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endParaRPr lang="en-US" altLang="en-US" sz="1200" b="1" dirty="0"/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altLang="en-US" sz="2400" b="1" dirty="0"/>
              <a:t>      f(n) = </a:t>
            </a:r>
            <a:r>
              <a:rPr lang="el-GR" altLang="en-US" sz="2400" b="1" dirty="0"/>
              <a:t>Ω</a:t>
            </a:r>
            <a:r>
              <a:rPr lang="en-US" altLang="en-US" sz="2400" b="1" dirty="0"/>
              <a:t>(g(n))</a:t>
            </a:r>
            <a:r>
              <a:rPr lang="en-US" altLang="en-US" sz="2400" dirty="0"/>
              <a:t> if there exist </a:t>
            </a:r>
            <a:r>
              <a:rPr lang="en-US" altLang="en-US" sz="2400" b="1" dirty="0"/>
              <a:t>c &gt; 0</a:t>
            </a:r>
            <a:r>
              <a:rPr lang="en-US" altLang="en-US" sz="2400" dirty="0"/>
              <a:t>,</a:t>
            </a:r>
            <a:r>
              <a:rPr lang="en-US" altLang="en-US" sz="2400" b="1" dirty="0"/>
              <a:t> n</a:t>
            </a:r>
            <a:r>
              <a:rPr lang="en-US" altLang="en-US" sz="2400" b="1" baseline="-25000" dirty="0"/>
              <a:t>0</a:t>
            </a:r>
            <a:r>
              <a:rPr lang="en-US" altLang="en-US" sz="2400" b="1" dirty="0"/>
              <a:t> &gt;= 0</a:t>
            </a: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altLang="en-US" sz="2400" b="1" dirty="0"/>
              <a:t>               : f(n) </a:t>
            </a:r>
            <a:r>
              <a:rPr lang="en-US" altLang="en-US" sz="2400" b="1" dirty="0">
                <a:solidFill>
                  <a:srgbClr val="FF0000"/>
                </a:solidFill>
              </a:rPr>
              <a:t>&gt;</a:t>
            </a:r>
            <a:r>
              <a:rPr lang="en-US" altLang="en-US" sz="2400" b="1" dirty="0"/>
              <a:t>= cg(n)</a:t>
            </a:r>
            <a:r>
              <a:rPr lang="en-US" altLang="en-US" sz="2400" dirty="0"/>
              <a:t> for all </a:t>
            </a:r>
            <a:r>
              <a:rPr lang="en-US" altLang="en-US" sz="2400" b="1" dirty="0"/>
              <a:t>n &gt;= n</a:t>
            </a:r>
            <a:r>
              <a:rPr lang="en-US" altLang="en-US" sz="2400" b="1" baseline="-25000" dirty="0"/>
              <a:t>0</a:t>
            </a:r>
          </a:p>
          <a:p>
            <a:pPr marL="933450" lvl="1" indent="-533400" eaLnBrk="1" hangingPunct="1">
              <a:lnSpc>
                <a:spcPct val="90000"/>
              </a:lnSpc>
              <a:defRPr/>
            </a:pPr>
            <a:endParaRPr lang="en-US" altLang="en-US" sz="2000" b="1" i="1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6A67CE0-F0E5-41A8-A405-D295D96172D8}" type="datetime1">
              <a:rPr lang="en-US" smtClean="0"/>
              <a:t>7/15/2021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Copyright (c) John K. </a:t>
            </a:r>
            <a:r>
              <a:rPr lang="en-US" dirty="0" err="1"/>
              <a:t>Ostlund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43794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Big-</a:t>
            </a:r>
            <a:r>
              <a:rPr lang="el-GR" altLang="en-US" dirty="0"/>
              <a:t>Ω</a:t>
            </a:r>
            <a:r>
              <a:rPr lang="en-US" altLang="en-US" dirty="0"/>
              <a:t> Example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981200"/>
            <a:ext cx="7772400" cy="4114800"/>
          </a:xfrm>
        </p:spPr>
        <p:txBody>
          <a:bodyPr/>
          <a:lstStyle/>
          <a:p>
            <a:pPr marL="533400" indent="-533400" eaLnBrk="1" hangingPunct="1">
              <a:lnSpc>
                <a:spcPct val="90000"/>
              </a:lnSpc>
              <a:defRPr/>
            </a:pPr>
            <a:r>
              <a:rPr lang="en-US" altLang="en-US" sz="2400" dirty="0"/>
              <a:t>Same example program, so:</a:t>
            </a:r>
            <a:endParaRPr lang="en-US" altLang="en-US" sz="2400" b="1" dirty="0"/>
          </a:p>
          <a:p>
            <a:pPr marL="933450" lvl="1" indent="-533400" eaLnBrk="1" hangingPunct="1">
              <a:lnSpc>
                <a:spcPct val="90000"/>
              </a:lnSpc>
              <a:spcBef>
                <a:spcPts val="1200"/>
              </a:spcBef>
              <a:defRPr/>
            </a:pPr>
            <a:r>
              <a:rPr lang="en-US" altLang="en-US" sz="2000" dirty="0"/>
              <a:t>Let:</a:t>
            </a:r>
            <a:r>
              <a:rPr lang="en-US" altLang="en-US" sz="2000" b="1" dirty="0"/>
              <a:t>	f(N) = 4N</a:t>
            </a:r>
            <a:r>
              <a:rPr lang="en-US" altLang="en-US" sz="2000" b="1" baseline="30000" dirty="0"/>
              <a:t>2</a:t>
            </a:r>
            <a:r>
              <a:rPr lang="en-US" altLang="en-US" sz="2000" b="1" dirty="0"/>
              <a:t> + 3N + 2</a:t>
            </a:r>
          </a:p>
          <a:p>
            <a:pPr marL="933450" lvl="1" indent="-533400" eaLnBrk="1" hangingPunct="1">
              <a:lnSpc>
                <a:spcPct val="90000"/>
              </a:lnSpc>
              <a:spcBef>
                <a:spcPts val="1200"/>
              </a:spcBef>
              <a:defRPr/>
            </a:pPr>
            <a:r>
              <a:rPr lang="en-US" altLang="en-US" sz="2000" dirty="0"/>
              <a:t>Can we find </a:t>
            </a:r>
            <a:r>
              <a:rPr lang="en-US" altLang="en-US" sz="2000" b="1" dirty="0"/>
              <a:t>g(N)</a:t>
            </a:r>
            <a:r>
              <a:rPr lang="en-US" altLang="en-US" sz="2000" dirty="0"/>
              <a:t> such that </a:t>
            </a:r>
            <a:r>
              <a:rPr lang="en-US" altLang="en-US" sz="2000" b="1" dirty="0"/>
              <a:t>f(N) = </a:t>
            </a:r>
            <a:r>
              <a:rPr lang="el-GR" altLang="en-US" sz="2000" b="1" dirty="0"/>
              <a:t>Ω</a:t>
            </a:r>
            <a:r>
              <a:rPr lang="en-US" altLang="en-US" sz="2000" b="1" dirty="0"/>
              <a:t>(g(N))</a:t>
            </a:r>
            <a:r>
              <a:rPr lang="en-US" altLang="en-US" sz="2000" dirty="0"/>
              <a:t>?</a:t>
            </a:r>
          </a:p>
          <a:p>
            <a:pPr marL="533400" indent="-533400" eaLnBrk="1" hangingPunct="1">
              <a:lnSpc>
                <a:spcPct val="90000"/>
              </a:lnSpc>
              <a:defRPr/>
            </a:pPr>
            <a:endParaRPr lang="en-US" altLang="en-US" sz="2400" dirty="0"/>
          </a:p>
          <a:p>
            <a:pPr marL="533400" indent="-533400" eaLnBrk="1" hangingPunct="1">
              <a:lnSpc>
                <a:spcPct val="90000"/>
              </a:lnSpc>
              <a:defRPr/>
            </a:pPr>
            <a:r>
              <a:rPr lang="en-US" altLang="en-US" sz="2400" dirty="0"/>
              <a:t>Trivially, let </a:t>
            </a:r>
            <a:r>
              <a:rPr lang="en-US" altLang="en-US" sz="2400" b="1" dirty="0"/>
              <a:t>g(N) = 1</a:t>
            </a:r>
            <a:r>
              <a:rPr lang="en-US" altLang="en-US" sz="2400" dirty="0"/>
              <a:t>, </a:t>
            </a:r>
            <a:r>
              <a:rPr lang="en-US" altLang="en-US" sz="2400" b="1" dirty="0"/>
              <a:t>c = 1</a:t>
            </a:r>
            <a:r>
              <a:rPr lang="en-US" altLang="en-US" sz="2400" dirty="0"/>
              <a:t>, </a:t>
            </a:r>
            <a:r>
              <a:rPr lang="en-US" altLang="en-US" sz="2400" b="1" dirty="0"/>
              <a:t>n</a:t>
            </a:r>
            <a:r>
              <a:rPr lang="en-US" altLang="en-US" sz="2400" b="1" baseline="-25000" dirty="0"/>
              <a:t>0</a:t>
            </a:r>
            <a:r>
              <a:rPr lang="en-US" altLang="en-US" sz="2400" b="1" dirty="0"/>
              <a:t> = 1</a:t>
            </a:r>
          </a:p>
          <a:p>
            <a:pPr marL="933450" lvl="1" indent="-533400" eaLnBrk="1" hangingPunct="1">
              <a:lnSpc>
                <a:spcPct val="90000"/>
              </a:lnSpc>
              <a:spcBef>
                <a:spcPts val="1200"/>
              </a:spcBef>
              <a:defRPr/>
            </a:pPr>
            <a:r>
              <a:rPr lang="en-US" altLang="en-US" sz="2000" dirty="0"/>
              <a:t>Then </a:t>
            </a:r>
            <a:r>
              <a:rPr lang="en-US" altLang="en-US" sz="2000" b="1" dirty="0"/>
              <a:t>f(N) &gt;= 1</a:t>
            </a:r>
            <a:r>
              <a:rPr lang="en-US" altLang="en-US" sz="2000" dirty="0"/>
              <a:t> for </a:t>
            </a:r>
            <a:r>
              <a:rPr lang="en-US" altLang="en-US" sz="2000" b="1" dirty="0"/>
              <a:t>N &gt;= n</a:t>
            </a:r>
            <a:r>
              <a:rPr lang="en-US" altLang="en-US" sz="2000" b="1" baseline="-25000" dirty="0"/>
              <a:t>0</a:t>
            </a:r>
          </a:p>
          <a:p>
            <a:pPr marL="933450" lvl="1" indent="-533400" eaLnBrk="1" hangingPunct="1">
              <a:lnSpc>
                <a:spcPct val="90000"/>
              </a:lnSpc>
              <a:spcBef>
                <a:spcPts val="1200"/>
              </a:spcBef>
              <a:defRPr/>
            </a:pPr>
            <a:r>
              <a:rPr lang="en-US" altLang="en-US" sz="2000" dirty="0"/>
              <a:t>So </a:t>
            </a:r>
            <a:r>
              <a:rPr lang="en-US" altLang="en-US" sz="2000" b="1" dirty="0"/>
              <a:t>f(N) = </a:t>
            </a:r>
            <a:r>
              <a:rPr lang="el-GR" altLang="en-US" sz="2000" b="1" dirty="0"/>
              <a:t>Ω</a:t>
            </a:r>
            <a:r>
              <a:rPr lang="en-US" altLang="en-US" sz="2000" b="1" dirty="0"/>
              <a:t>(g(N))</a:t>
            </a:r>
          </a:p>
          <a:p>
            <a:pPr marL="1333500" lvl="2" indent="-533400" eaLnBrk="1" hangingPunct="1">
              <a:lnSpc>
                <a:spcPct val="90000"/>
              </a:lnSpc>
              <a:defRPr/>
            </a:pPr>
            <a:r>
              <a:rPr lang="en-US" altLang="en-US" sz="1600" dirty="0"/>
              <a:t>Okay, so … who cares?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6A67CE0-F0E5-41A8-A405-D295D96172D8}" type="datetime1">
              <a:rPr lang="en-US" smtClean="0"/>
              <a:t>7/15/2021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Copyright (c) John K. </a:t>
            </a:r>
            <a:r>
              <a:rPr lang="en-US" dirty="0" err="1"/>
              <a:t>Ostlund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22421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Formal Definition of Big-</a:t>
            </a:r>
            <a:r>
              <a:rPr lang="el-GR" altLang="en-US" dirty="0"/>
              <a:t>Θ</a:t>
            </a:r>
            <a:endParaRPr lang="en-US" altLang="en-US" dirty="0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981200"/>
            <a:ext cx="7772400" cy="4114800"/>
          </a:xfrm>
        </p:spPr>
        <p:txBody>
          <a:bodyPr/>
          <a:lstStyle/>
          <a:p>
            <a:pPr marL="533400" indent="-533400" eaLnBrk="1" hangingPunct="1">
              <a:lnSpc>
                <a:spcPct val="90000"/>
              </a:lnSpc>
              <a:defRPr/>
            </a:pPr>
            <a:r>
              <a:rPr lang="en-US" altLang="en-US" sz="2400" dirty="0"/>
              <a:t>We say that some function, </a:t>
            </a:r>
            <a:r>
              <a:rPr lang="en-US" altLang="en-US" sz="2400" b="1" dirty="0"/>
              <a:t>f(n)</a:t>
            </a:r>
            <a:r>
              <a:rPr lang="en-US" altLang="en-US" sz="2400" dirty="0"/>
              <a:t>, is "</a:t>
            </a:r>
            <a:r>
              <a:rPr lang="el-GR" altLang="en-US" sz="2400" b="1" dirty="0"/>
              <a:t>Θ</a:t>
            </a:r>
            <a:r>
              <a:rPr lang="en-US" altLang="en-US" sz="2400" dirty="0"/>
              <a:t> of" some other function, </a:t>
            </a:r>
            <a:r>
              <a:rPr lang="en-US" altLang="en-US" sz="2400" b="1" dirty="0"/>
              <a:t>g(n)</a:t>
            </a:r>
            <a:r>
              <a:rPr lang="en-US" altLang="en-US" sz="2400" dirty="0"/>
              <a:t>, </a:t>
            </a:r>
            <a:r>
              <a:rPr lang="en-US" altLang="en-US" sz="2400" dirty="0">
                <a:solidFill>
                  <a:srgbClr val="FF0000"/>
                </a:solidFill>
              </a:rPr>
              <a:t>if </a:t>
            </a:r>
            <a:r>
              <a:rPr lang="en-US" altLang="en-US" sz="2400" b="1" dirty="0">
                <a:solidFill>
                  <a:srgbClr val="FF0000"/>
                </a:solidFill>
              </a:rPr>
              <a:t>f(n) = O(g(n))</a:t>
            </a:r>
            <a:r>
              <a:rPr lang="en-US" altLang="en-US" sz="2400" dirty="0">
                <a:solidFill>
                  <a:srgbClr val="FF0000"/>
                </a:solidFill>
              </a:rPr>
              <a:t> </a:t>
            </a:r>
            <a:r>
              <a:rPr lang="en-US" altLang="en-US" sz="2400" i="1" dirty="0">
                <a:solidFill>
                  <a:srgbClr val="FF0000"/>
                </a:solidFill>
              </a:rPr>
              <a:t>and</a:t>
            </a:r>
            <a:r>
              <a:rPr lang="en-US" altLang="en-US" sz="2400" dirty="0">
                <a:solidFill>
                  <a:srgbClr val="FF0000"/>
                </a:solidFill>
              </a:rPr>
              <a:t> </a:t>
            </a:r>
            <a:r>
              <a:rPr lang="en-US" altLang="en-US" sz="2400" b="1" dirty="0">
                <a:solidFill>
                  <a:srgbClr val="FF0000"/>
                </a:solidFill>
              </a:rPr>
              <a:t>f(n) = </a:t>
            </a:r>
            <a:r>
              <a:rPr lang="el-GR" altLang="en-US" sz="2400" b="1" dirty="0">
                <a:solidFill>
                  <a:srgbClr val="FF0000"/>
                </a:solidFill>
              </a:rPr>
              <a:t>Ω</a:t>
            </a:r>
            <a:r>
              <a:rPr lang="en-US" altLang="en-US" sz="2400" b="1" dirty="0">
                <a:solidFill>
                  <a:srgbClr val="FF0000"/>
                </a:solidFill>
              </a:rPr>
              <a:t>(g(n))</a:t>
            </a:r>
          </a:p>
          <a:p>
            <a:pPr marL="933450" lvl="1" indent="-533400" eaLnBrk="1" hangingPunct="1">
              <a:lnSpc>
                <a:spcPct val="90000"/>
              </a:lnSpc>
              <a:defRPr/>
            </a:pPr>
            <a:r>
              <a:rPr lang="en-US" altLang="en-US" sz="2000" dirty="0"/>
              <a:t>That is, </a:t>
            </a:r>
            <a:r>
              <a:rPr lang="en-US" altLang="en-US" sz="2000" b="1" dirty="0" err="1"/>
              <a:t>c</a:t>
            </a:r>
            <a:r>
              <a:rPr lang="en-US" altLang="en-US" sz="2000" i="1" baseline="-25000" dirty="0" err="1"/>
              <a:t>j</a:t>
            </a:r>
            <a:r>
              <a:rPr lang="en-US" altLang="en-US" sz="2000" b="1" dirty="0" err="1"/>
              <a:t>g</a:t>
            </a:r>
            <a:r>
              <a:rPr lang="en-US" altLang="en-US" sz="2000" b="1" dirty="0"/>
              <a:t>(n)</a:t>
            </a:r>
            <a:r>
              <a:rPr lang="en-US" altLang="en-US" sz="2000" dirty="0"/>
              <a:t> is </a:t>
            </a:r>
            <a:r>
              <a:rPr lang="en-US" altLang="en-US" sz="2000" i="1" dirty="0">
                <a:solidFill>
                  <a:srgbClr val="FF0000"/>
                </a:solidFill>
              </a:rPr>
              <a:t>both</a:t>
            </a:r>
            <a:r>
              <a:rPr lang="en-US" altLang="en-US" sz="2000" dirty="0"/>
              <a:t> a </a:t>
            </a:r>
            <a:r>
              <a:rPr lang="en-US" altLang="en-US" sz="2000" i="1" dirty="0">
                <a:solidFill>
                  <a:srgbClr val="FF0000"/>
                </a:solidFill>
              </a:rPr>
              <a:t>lower</a:t>
            </a:r>
            <a:r>
              <a:rPr lang="en-US" altLang="en-US" sz="2000" i="1" dirty="0"/>
              <a:t> bound</a:t>
            </a:r>
            <a:r>
              <a:rPr lang="en-US" altLang="en-US" sz="2000" dirty="0"/>
              <a:t> for </a:t>
            </a:r>
            <a:r>
              <a:rPr lang="en-US" altLang="en-US" sz="2000" b="1" dirty="0"/>
              <a:t>f(n)</a:t>
            </a:r>
            <a:r>
              <a:rPr lang="en-US" altLang="en-US" sz="2000" dirty="0"/>
              <a:t> </a:t>
            </a:r>
            <a:r>
              <a:rPr lang="en-US" altLang="en-US" sz="2000" i="1" dirty="0">
                <a:solidFill>
                  <a:srgbClr val="FF0000"/>
                </a:solidFill>
              </a:rPr>
              <a:t>and</a:t>
            </a:r>
            <a:r>
              <a:rPr lang="en-US" altLang="en-US" sz="2000" dirty="0"/>
              <a:t> an </a:t>
            </a:r>
            <a:r>
              <a:rPr lang="en-US" altLang="en-US" sz="2000" i="1" dirty="0">
                <a:solidFill>
                  <a:srgbClr val="FF0000"/>
                </a:solidFill>
              </a:rPr>
              <a:t>upper </a:t>
            </a:r>
            <a:r>
              <a:rPr lang="en-US" altLang="en-US" sz="2000" i="1" dirty="0"/>
              <a:t>bound</a:t>
            </a:r>
            <a:r>
              <a:rPr lang="en-US" altLang="en-US" sz="2000" dirty="0"/>
              <a:t> for </a:t>
            </a:r>
            <a:r>
              <a:rPr lang="en-US" altLang="en-US" sz="2000" b="1" dirty="0"/>
              <a:t>f(n)</a:t>
            </a:r>
            <a:endParaRPr lang="en-US" altLang="en-US" sz="2400" b="1" baseline="-25000" dirty="0"/>
          </a:p>
          <a:p>
            <a:pPr marL="1333500" lvl="2" indent="-533400" eaLnBrk="1" hangingPunct="1">
              <a:lnSpc>
                <a:spcPct val="90000"/>
              </a:lnSpc>
              <a:defRPr/>
            </a:pPr>
            <a:r>
              <a:rPr lang="en-US" altLang="en-US" sz="1600" dirty="0"/>
              <a:t>For constants </a:t>
            </a:r>
            <a:r>
              <a:rPr lang="en-US" altLang="en-US" sz="1600" b="1" dirty="0"/>
              <a:t>c</a:t>
            </a:r>
            <a:r>
              <a:rPr lang="en-US" altLang="en-US" sz="1600" b="1" baseline="-25000" dirty="0"/>
              <a:t>1</a:t>
            </a:r>
            <a:r>
              <a:rPr lang="en-US" altLang="en-US" sz="1600" b="1" dirty="0"/>
              <a:t> &gt; 0</a:t>
            </a:r>
            <a:r>
              <a:rPr lang="en-US" altLang="en-US" sz="1600" dirty="0"/>
              <a:t> and </a:t>
            </a:r>
            <a:r>
              <a:rPr lang="en-US" altLang="en-US" sz="1600" b="1" dirty="0"/>
              <a:t>c</a:t>
            </a:r>
            <a:r>
              <a:rPr lang="en-US" altLang="en-US" sz="1600" b="1" baseline="-25000" dirty="0"/>
              <a:t>2</a:t>
            </a:r>
            <a:r>
              <a:rPr lang="en-US" altLang="en-US" sz="1600" b="1" dirty="0"/>
              <a:t> &gt; 0</a:t>
            </a:r>
            <a:r>
              <a:rPr lang="en-US" altLang="en-US" sz="1600" dirty="0"/>
              <a:t>, </a:t>
            </a:r>
            <a:r>
              <a:rPr lang="en-US" altLang="en-US" sz="1600" b="1" dirty="0"/>
              <a:t>n &gt;= n</a:t>
            </a:r>
            <a:r>
              <a:rPr lang="en-US" altLang="en-US" sz="1600" b="1" baseline="-25000" dirty="0"/>
              <a:t>0</a:t>
            </a:r>
            <a:endParaRPr lang="en-US" altLang="en-US" sz="2000" b="1" baseline="-25000" dirty="0"/>
          </a:p>
          <a:p>
            <a:pPr marL="933450" lvl="1" indent="-533400" eaLnBrk="1" hangingPunct="1">
              <a:lnSpc>
                <a:spcPct val="90000"/>
              </a:lnSpc>
              <a:defRPr/>
            </a:pPr>
            <a:r>
              <a:rPr lang="en-US" altLang="en-US" sz="2000" b="1" dirty="0"/>
              <a:t>g(n)</a:t>
            </a:r>
            <a:r>
              <a:rPr lang="en-US" altLang="en-US" sz="2000" dirty="0"/>
              <a:t> is a tight bound, in some sense, on </a:t>
            </a:r>
            <a:r>
              <a:rPr lang="en-US" altLang="en-US" sz="2000" b="1" dirty="0"/>
              <a:t>f(n)</a:t>
            </a:r>
            <a:endParaRPr lang="en-US" altLang="en-US" sz="2400" b="1" baseline="-25000" dirty="0"/>
          </a:p>
          <a:p>
            <a:pPr marL="533400" indent="-533400" eaLnBrk="1" hangingPunct="1">
              <a:lnSpc>
                <a:spcPct val="90000"/>
              </a:lnSpc>
              <a:defRPr/>
            </a:pPr>
            <a:endParaRPr lang="en-US" altLang="en-US" sz="2400" dirty="0"/>
          </a:p>
          <a:p>
            <a:pPr marL="933450" lvl="1" indent="-533400" eaLnBrk="1" hangingPunct="1">
              <a:lnSpc>
                <a:spcPct val="90000"/>
              </a:lnSpc>
              <a:defRPr/>
            </a:pPr>
            <a:endParaRPr lang="en-US" altLang="en-US" sz="2000" b="1" i="1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6A67CE0-F0E5-41A8-A405-D295D96172D8}" type="datetime1">
              <a:rPr lang="en-US" smtClean="0"/>
              <a:t>7/15/2021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Copyright (c) John K. </a:t>
            </a:r>
            <a:r>
              <a:rPr lang="en-US" dirty="0" err="1"/>
              <a:t>Ostlund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87400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Big-</a:t>
            </a:r>
            <a:r>
              <a:rPr lang="el-GR" altLang="en-US" dirty="0"/>
              <a:t>Θ</a:t>
            </a:r>
            <a:r>
              <a:rPr lang="en-US" altLang="en-US" dirty="0"/>
              <a:t> Example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981200"/>
            <a:ext cx="7772400" cy="4114800"/>
          </a:xfrm>
        </p:spPr>
        <p:txBody>
          <a:bodyPr/>
          <a:lstStyle/>
          <a:p>
            <a:pPr marL="533400" indent="-533400" eaLnBrk="1" hangingPunct="1">
              <a:lnSpc>
                <a:spcPct val="90000"/>
              </a:lnSpc>
              <a:defRPr/>
            </a:pPr>
            <a:r>
              <a:rPr lang="en-US" altLang="en-US" sz="2400" dirty="0"/>
              <a:t>Same example program, so:</a:t>
            </a:r>
            <a:endParaRPr lang="en-US" altLang="en-US" sz="2400" b="1" dirty="0"/>
          </a:p>
          <a:p>
            <a:pPr marL="933450" lvl="1" indent="-533400" eaLnBrk="1" hangingPunct="1">
              <a:lnSpc>
                <a:spcPct val="90000"/>
              </a:lnSpc>
              <a:spcBef>
                <a:spcPts val="600"/>
              </a:spcBef>
              <a:defRPr/>
            </a:pPr>
            <a:r>
              <a:rPr lang="en-US" altLang="en-US" sz="2000" dirty="0"/>
              <a:t>Let:</a:t>
            </a:r>
            <a:r>
              <a:rPr lang="en-US" altLang="en-US" sz="2000" b="1" dirty="0"/>
              <a:t>	f(N) = 4N</a:t>
            </a:r>
            <a:r>
              <a:rPr lang="en-US" altLang="en-US" sz="2000" b="1" baseline="30000" dirty="0"/>
              <a:t>2</a:t>
            </a:r>
            <a:r>
              <a:rPr lang="en-US" altLang="en-US" sz="2000" b="1" dirty="0"/>
              <a:t> + 3N + 2</a:t>
            </a:r>
          </a:p>
          <a:p>
            <a:pPr marL="933450" lvl="1" indent="-533400" eaLnBrk="1" hangingPunct="1">
              <a:lnSpc>
                <a:spcPct val="90000"/>
              </a:lnSpc>
              <a:spcBef>
                <a:spcPts val="600"/>
              </a:spcBef>
              <a:defRPr/>
            </a:pPr>
            <a:r>
              <a:rPr lang="en-US" altLang="en-US" sz="2000" dirty="0"/>
              <a:t>Can we find </a:t>
            </a:r>
            <a:r>
              <a:rPr lang="en-US" altLang="en-US" sz="2000" b="1" dirty="0"/>
              <a:t>g(N)</a:t>
            </a:r>
            <a:r>
              <a:rPr lang="en-US" altLang="en-US" sz="2000" dirty="0"/>
              <a:t> such that </a:t>
            </a:r>
            <a:r>
              <a:rPr lang="en-US" altLang="en-US" sz="2000" b="1" dirty="0"/>
              <a:t>f(N) = </a:t>
            </a:r>
            <a:r>
              <a:rPr lang="el-GR" altLang="en-US" sz="2000" b="1" dirty="0"/>
              <a:t>Θ</a:t>
            </a:r>
            <a:r>
              <a:rPr lang="en-US" altLang="en-US" sz="2000" b="1" dirty="0"/>
              <a:t>(g(N))</a:t>
            </a:r>
            <a:r>
              <a:rPr lang="en-US" altLang="en-US" sz="2000" dirty="0"/>
              <a:t>?</a:t>
            </a:r>
          </a:p>
          <a:p>
            <a:pPr marL="533400" indent="-533400" eaLnBrk="1" hangingPunct="1">
              <a:lnSpc>
                <a:spcPct val="90000"/>
              </a:lnSpc>
              <a:defRPr/>
            </a:pPr>
            <a:endParaRPr lang="en-US" altLang="en-US" sz="2400" dirty="0"/>
          </a:p>
          <a:p>
            <a:pPr marL="533400" indent="-533400" eaLnBrk="1" hangingPunct="1">
              <a:lnSpc>
                <a:spcPct val="90000"/>
              </a:lnSpc>
              <a:defRPr/>
            </a:pPr>
            <a:r>
              <a:rPr lang="en-US" altLang="en-US" sz="2400" dirty="0"/>
              <a:t>Let </a:t>
            </a:r>
            <a:r>
              <a:rPr lang="en-US" altLang="en-US" sz="2400" b="1" dirty="0"/>
              <a:t>g(N) = N</a:t>
            </a:r>
            <a:r>
              <a:rPr lang="en-US" altLang="en-US" sz="2400" b="1" baseline="30000" dirty="0"/>
              <a:t>2</a:t>
            </a:r>
            <a:r>
              <a:rPr lang="en-US" altLang="en-US" sz="2400" dirty="0"/>
              <a:t>, </a:t>
            </a:r>
            <a:r>
              <a:rPr lang="en-US" altLang="en-US" sz="2400" b="1" dirty="0"/>
              <a:t>c</a:t>
            </a:r>
            <a:r>
              <a:rPr lang="en-US" altLang="en-US" sz="2400" b="1" baseline="-25000" dirty="0"/>
              <a:t>1</a:t>
            </a:r>
            <a:r>
              <a:rPr lang="en-US" altLang="en-US" sz="2400" b="1" dirty="0"/>
              <a:t> = 9, c</a:t>
            </a:r>
            <a:r>
              <a:rPr lang="en-US" altLang="en-US" sz="2400" b="1" baseline="-25000" dirty="0"/>
              <a:t>2</a:t>
            </a:r>
            <a:r>
              <a:rPr lang="en-US" altLang="en-US" sz="2400" b="1" dirty="0"/>
              <a:t> = 1</a:t>
            </a:r>
            <a:r>
              <a:rPr lang="en-US" altLang="en-US" sz="2400" dirty="0"/>
              <a:t>, </a:t>
            </a:r>
            <a:r>
              <a:rPr lang="en-US" altLang="en-US" sz="2400" b="1" dirty="0"/>
              <a:t>n</a:t>
            </a:r>
            <a:r>
              <a:rPr lang="en-US" altLang="en-US" sz="2400" b="1" baseline="-25000" dirty="0"/>
              <a:t>0</a:t>
            </a:r>
            <a:r>
              <a:rPr lang="en-US" altLang="en-US" sz="2400" b="1" dirty="0"/>
              <a:t> = 1</a:t>
            </a:r>
          </a:p>
          <a:p>
            <a:pPr marL="933450" lvl="1" indent="-533400" eaLnBrk="1" hangingPunct="1">
              <a:lnSpc>
                <a:spcPct val="90000"/>
              </a:lnSpc>
              <a:spcBef>
                <a:spcPts val="900"/>
              </a:spcBef>
              <a:defRPr/>
            </a:pPr>
            <a:r>
              <a:rPr lang="en-US" altLang="en-US" sz="2000" dirty="0"/>
              <a:t>Then </a:t>
            </a:r>
            <a:r>
              <a:rPr lang="en-US" altLang="en-US" sz="2000" b="1" dirty="0"/>
              <a:t>f(N) &lt;= c</a:t>
            </a:r>
            <a:r>
              <a:rPr lang="en-US" altLang="en-US" sz="2000" b="1" baseline="-25000" dirty="0"/>
              <a:t>1</a:t>
            </a:r>
            <a:r>
              <a:rPr lang="en-US" altLang="en-US" sz="2000" b="1" dirty="0"/>
              <a:t>g(N)</a:t>
            </a:r>
            <a:r>
              <a:rPr lang="en-US" altLang="en-US" sz="2000" dirty="0"/>
              <a:t> for </a:t>
            </a:r>
            <a:r>
              <a:rPr lang="en-US" altLang="en-US" sz="2000" b="1" dirty="0"/>
              <a:t>N &gt;= n</a:t>
            </a:r>
            <a:r>
              <a:rPr lang="en-US" altLang="en-US" sz="2000" b="1" baseline="-25000" dirty="0"/>
              <a:t>0</a:t>
            </a:r>
            <a:r>
              <a:rPr lang="en-US" altLang="en-US" sz="2000" dirty="0"/>
              <a:t>, so</a:t>
            </a:r>
            <a:r>
              <a:rPr lang="en-US" altLang="en-US" sz="2000" b="1" dirty="0"/>
              <a:t> f(N) = O(g(N))</a:t>
            </a:r>
          </a:p>
          <a:p>
            <a:pPr marL="933450" lvl="1" indent="-533400" eaLnBrk="1" hangingPunct="1">
              <a:lnSpc>
                <a:spcPct val="90000"/>
              </a:lnSpc>
              <a:spcBef>
                <a:spcPts val="900"/>
              </a:spcBef>
              <a:defRPr/>
            </a:pPr>
            <a:r>
              <a:rPr lang="en-US" altLang="en-US" sz="2000" dirty="0"/>
              <a:t>And </a:t>
            </a:r>
            <a:r>
              <a:rPr lang="en-US" altLang="en-US" sz="2000" b="1" dirty="0"/>
              <a:t>f(N) &gt;= c</a:t>
            </a:r>
            <a:r>
              <a:rPr lang="en-US" altLang="en-US" sz="2000" b="1" baseline="-25000" dirty="0"/>
              <a:t>2</a:t>
            </a:r>
            <a:r>
              <a:rPr lang="en-US" altLang="en-US" sz="2000" b="1" dirty="0"/>
              <a:t>g(N)</a:t>
            </a:r>
            <a:r>
              <a:rPr lang="en-US" altLang="en-US" sz="2000" dirty="0"/>
              <a:t> for </a:t>
            </a:r>
            <a:r>
              <a:rPr lang="en-US" altLang="en-US" sz="2000" b="1" dirty="0"/>
              <a:t>N &gt;= n</a:t>
            </a:r>
            <a:r>
              <a:rPr lang="en-US" altLang="en-US" sz="2000" b="1" baseline="-25000" dirty="0"/>
              <a:t>0</a:t>
            </a:r>
            <a:r>
              <a:rPr lang="en-US" altLang="en-US" sz="2000" dirty="0"/>
              <a:t>, so</a:t>
            </a:r>
            <a:r>
              <a:rPr lang="en-US" altLang="en-US" sz="2000" b="1" dirty="0"/>
              <a:t> f(N) = </a:t>
            </a:r>
            <a:r>
              <a:rPr lang="el-GR" altLang="en-US" sz="2000" b="1" dirty="0"/>
              <a:t>Ω</a:t>
            </a:r>
            <a:r>
              <a:rPr lang="en-US" altLang="en-US" sz="2000" b="1" dirty="0"/>
              <a:t>(g(N))</a:t>
            </a:r>
            <a:endParaRPr lang="en-US" altLang="en-US" sz="2000" b="1" baseline="-25000" dirty="0"/>
          </a:p>
          <a:p>
            <a:pPr marL="933450" lvl="1" indent="-533400" eaLnBrk="1" hangingPunct="1">
              <a:lnSpc>
                <a:spcPct val="90000"/>
              </a:lnSpc>
              <a:spcBef>
                <a:spcPts val="900"/>
              </a:spcBef>
              <a:defRPr/>
            </a:pPr>
            <a:r>
              <a:rPr lang="en-US" altLang="en-US" sz="2000" dirty="0"/>
              <a:t>Hence </a:t>
            </a:r>
            <a:r>
              <a:rPr lang="en-US" altLang="en-US" sz="2000" b="1" dirty="0"/>
              <a:t>f(N) = </a:t>
            </a:r>
            <a:r>
              <a:rPr lang="el-GR" altLang="en-US" sz="2000" b="1" dirty="0"/>
              <a:t>Θ</a:t>
            </a:r>
            <a:r>
              <a:rPr lang="en-US" altLang="en-US" sz="2000" b="1" dirty="0"/>
              <a:t>(g(N)) = </a:t>
            </a:r>
            <a:r>
              <a:rPr lang="el-GR" altLang="en-US" sz="2000" b="1" dirty="0"/>
              <a:t>Θ</a:t>
            </a:r>
            <a:r>
              <a:rPr lang="en-US" altLang="en-US" sz="2000" b="1" dirty="0"/>
              <a:t>(N</a:t>
            </a:r>
            <a:r>
              <a:rPr lang="en-US" altLang="en-US" sz="2000" b="1" baseline="30000" dirty="0"/>
              <a:t>2</a:t>
            </a:r>
            <a:r>
              <a:rPr lang="en-US" altLang="en-US" sz="2000" b="1" dirty="0"/>
              <a:t>)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6A67CE0-F0E5-41A8-A405-D295D96172D8}" type="datetime1">
              <a:rPr lang="en-US" smtClean="0"/>
              <a:t>7/15/2021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Copyright (c) John K. </a:t>
            </a:r>
            <a:r>
              <a:rPr lang="en-US" dirty="0" err="1"/>
              <a:t>Ostlund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81060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So What Does Big-O Mean?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981200"/>
            <a:ext cx="7772400" cy="4114800"/>
          </a:xfrm>
        </p:spPr>
        <p:txBody>
          <a:bodyPr/>
          <a:lstStyle/>
          <a:p>
            <a:pPr marL="533400" indent="-533400" eaLnBrk="1" hangingPunct="1">
              <a:lnSpc>
                <a:spcPct val="90000"/>
              </a:lnSpc>
              <a:defRPr/>
            </a:pPr>
            <a:r>
              <a:rPr lang="en-US" altLang="en-US" sz="2400" dirty="0"/>
              <a:t>In industry, </a:t>
            </a:r>
            <a:r>
              <a:rPr lang="en-US" altLang="en-US" sz="2400" b="1" dirty="0"/>
              <a:t>O</a:t>
            </a:r>
            <a:r>
              <a:rPr lang="en-US" altLang="en-US" sz="2400" dirty="0"/>
              <a:t> usually means what </a:t>
            </a:r>
            <a:r>
              <a:rPr lang="el-GR" altLang="en-US" sz="2400" b="1" dirty="0"/>
              <a:t>Θ</a:t>
            </a:r>
            <a:r>
              <a:rPr lang="en-US" altLang="en-US" sz="2400" dirty="0"/>
              <a:t> means in academia</a:t>
            </a:r>
          </a:p>
          <a:p>
            <a:pPr marL="533400" indent="-533400" eaLnBrk="1" hangingPunct="1">
              <a:lnSpc>
                <a:spcPct val="90000"/>
              </a:lnSpc>
              <a:defRPr/>
            </a:pPr>
            <a:r>
              <a:rPr lang="en-US" altLang="en-US" sz="2400" i="1" dirty="0"/>
              <a:t>Please note</a:t>
            </a:r>
            <a:r>
              <a:rPr lang="en-US" altLang="en-US" sz="2400" dirty="0"/>
              <a:t>: you will very likely be asked Big-O questions during interviews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6A67CE0-F0E5-41A8-A405-D295D96172D8}" type="datetime1">
              <a:rPr lang="en-US" smtClean="0"/>
              <a:t>7/15/2021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Copyright (c) John K. </a:t>
            </a:r>
            <a:r>
              <a:rPr lang="en-US" dirty="0" err="1"/>
              <a:t>Ostlund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577286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Some Big-O Examples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981200"/>
            <a:ext cx="7772400" cy="4114800"/>
          </a:xfrm>
        </p:spPr>
        <p:txBody>
          <a:bodyPr/>
          <a:lstStyle/>
          <a:p>
            <a:pPr marL="533400" indent="-533400" eaLnBrk="1" hangingPunct="1">
              <a:lnSpc>
                <a:spcPct val="90000"/>
              </a:lnSpc>
              <a:defRPr/>
            </a:pPr>
            <a:r>
              <a:rPr lang="en-US" altLang="en-US" sz="2400" dirty="0"/>
              <a:t>A search in a hash table (</a:t>
            </a:r>
            <a:r>
              <a:rPr lang="en-US" altLang="en-US" sz="2400" b="1" dirty="0"/>
              <a:t>set</a:t>
            </a:r>
            <a:r>
              <a:rPr lang="en-US" altLang="en-US" sz="2400" dirty="0"/>
              <a:t> or </a:t>
            </a:r>
            <a:r>
              <a:rPr lang="en-US" altLang="en-US" sz="2400" b="1" dirty="0" err="1"/>
              <a:t>dict</a:t>
            </a:r>
            <a:r>
              <a:rPr lang="en-US" altLang="en-US" sz="2400" dirty="0"/>
              <a:t>), or an array lookup using a subscript, is </a:t>
            </a:r>
            <a:r>
              <a:rPr lang="en-US" altLang="en-US" sz="2400" b="1" dirty="0"/>
              <a:t>O(1)</a:t>
            </a:r>
            <a:r>
              <a:rPr lang="en-US" altLang="en-US" sz="2400" dirty="0"/>
              <a:t>: utter bliss</a:t>
            </a:r>
          </a:p>
          <a:p>
            <a:pPr marL="533400" indent="-533400" eaLnBrk="1" hangingPunct="1">
              <a:lnSpc>
                <a:spcPct val="90000"/>
              </a:lnSpc>
              <a:defRPr/>
            </a:pPr>
            <a:endParaRPr lang="en-US" altLang="en-US" sz="1200" dirty="0"/>
          </a:p>
          <a:p>
            <a:pPr marL="533400" indent="-533400" eaLnBrk="1" hangingPunct="1">
              <a:lnSpc>
                <a:spcPct val="90000"/>
              </a:lnSpc>
              <a:spcBef>
                <a:spcPts val="600"/>
              </a:spcBef>
              <a:defRPr/>
            </a:pPr>
            <a:r>
              <a:rPr lang="en-US" altLang="en-US" sz="2400" dirty="0"/>
              <a:t>A binary search in a sorted array or </a:t>
            </a:r>
            <a:r>
              <a:rPr lang="en-US" altLang="en-US" sz="2400" b="1" dirty="0"/>
              <a:t>list</a:t>
            </a:r>
            <a:r>
              <a:rPr lang="en-US" altLang="en-US" sz="2400" dirty="0"/>
              <a:t> (or a search in a balanced binary search tree) is </a:t>
            </a:r>
            <a:r>
              <a:rPr lang="en-US" altLang="en-US" sz="2400" b="1" dirty="0"/>
              <a:t>O(log N)</a:t>
            </a:r>
            <a:r>
              <a:rPr lang="en-US" altLang="en-US" sz="2400" dirty="0"/>
              <a:t>: nice</a:t>
            </a:r>
          </a:p>
          <a:p>
            <a:pPr marL="933450" lvl="1" indent="-533400" eaLnBrk="1" hangingPunct="1">
              <a:lnSpc>
                <a:spcPct val="90000"/>
              </a:lnSpc>
              <a:spcBef>
                <a:spcPts val="600"/>
              </a:spcBef>
              <a:defRPr/>
            </a:pPr>
            <a:r>
              <a:rPr lang="en-US" altLang="en-US" sz="2000" dirty="0"/>
              <a:t>At each step in the search, the remaining number of values you need to look at is reduced by 50%</a:t>
            </a:r>
          </a:p>
          <a:p>
            <a:pPr marL="933450" lvl="1" indent="-533400" eaLnBrk="1" hangingPunct="1">
              <a:lnSpc>
                <a:spcPct val="90000"/>
              </a:lnSpc>
              <a:spcBef>
                <a:spcPts val="600"/>
              </a:spcBef>
              <a:defRPr/>
            </a:pPr>
            <a:endParaRPr lang="en-US" altLang="en-US" sz="1200" dirty="0"/>
          </a:p>
          <a:p>
            <a:pPr marL="533400" indent="-533400" eaLnBrk="1" hangingPunct="1">
              <a:lnSpc>
                <a:spcPct val="90000"/>
              </a:lnSpc>
              <a:defRPr/>
            </a:pPr>
            <a:r>
              <a:rPr lang="en-US" altLang="en-US" sz="2400" dirty="0"/>
              <a:t>A loop on </a:t>
            </a:r>
            <a:r>
              <a:rPr lang="en-US" altLang="en-US" sz="2400" b="1" dirty="0"/>
              <a:t>N</a:t>
            </a:r>
            <a:r>
              <a:rPr lang="en-US" altLang="en-US" sz="2400" dirty="0"/>
              <a:t> values (or a search in an unordered </a:t>
            </a:r>
            <a:r>
              <a:rPr lang="en-US" altLang="en-US" sz="2400" b="1" dirty="0"/>
              <a:t>list</a:t>
            </a:r>
            <a:r>
              <a:rPr lang="en-US" altLang="en-US" sz="2400" dirty="0"/>
              <a:t>) is </a:t>
            </a:r>
            <a:r>
              <a:rPr lang="en-US" altLang="en-US" sz="2400" b="1" dirty="0"/>
              <a:t>O(N)</a:t>
            </a:r>
            <a:r>
              <a:rPr lang="en-US" altLang="en-US" sz="2400" dirty="0"/>
              <a:t>: bad</a:t>
            </a:r>
            <a:endParaRPr lang="en-US" altLang="en-US" sz="2400" b="1" dirty="0"/>
          </a:p>
          <a:p>
            <a:pPr marL="933450" lvl="1" indent="-533400" eaLnBrk="1" hangingPunct="1">
              <a:lnSpc>
                <a:spcPct val="90000"/>
              </a:lnSpc>
              <a:spcBef>
                <a:spcPts val="600"/>
              </a:spcBef>
              <a:defRPr/>
            </a:pPr>
            <a:r>
              <a:rPr lang="en-US" altLang="en-US" sz="2000" dirty="0"/>
              <a:t>A nested loop is </a:t>
            </a:r>
            <a:r>
              <a:rPr lang="en-US" altLang="en-US" sz="2000" b="1" dirty="0"/>
              <a:t>O(N</a:t>
            </a:r>
            <a:r>
              <a:rPr lang="en-US" altLang="en-US" sz="2000" b="1" baseline="30000" dirty="0"/>
              <a:t>2</a:t>
            </a:r>
            <a:r>
              <a:rPr lang="en-US" altLang="en-US" sz="2000" b="1" dirty="0"/>
              <a:t>)</a:t>
            </a:r>
            <a:r>
              <a:rPr lang="en-US" altLang="en-US" sz="2000" dirty="0"/>
              <a:t>: much, much worse</a:t>
            </a:r>
          </a:p>
          <a:p>
            <a:pPr marL="933450" lvl="1" indent="-533400" eaLnBrk="1" hangingPunct="1">
              <a:lnSpc>
                <a:spcPct val="90000"/>
              </a:lnSpc>
              <a:spcBef>
                <a:spcPts val="600"/>
              </a:spcBef>
              <a:defRPr/>
            </a:pPr>
            <a:r>
              <a:rPr lang="en-US" altLang="en-US" sz="2000" dirty="0"/>
              <a:t>A doubly nested loop is </a:t>
            </a:r>
            <a:r>
              <a:rPr lang="en-US" altLang="en-US" sz="2000" b="1" dirty="0"/>
              <a:t>O(N</a:t>
            </a:r>
            <a:r>
              <a:rPr lang="en-US" altLang="en-US" sz="2000" b="1" baseline="30000" dirty="0"/>
              <a:t>3</a:t>
            </a:r>
            <a:r>
              <a:rPr lang="en-US" altLang="en-US" sz="2000" b="1" dirty="0"/>
              <a:t>)</a:t>
            </a:r>
            <a:r>
              <a:rPr lang="en-US" altLang="en-US" sz="2000" dirty="0"/>
              <a:t>: unspeakably awful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6A67CE0-F0E5-41A8-A405-D295D96172D8}" type="datetime1">
              <a:rPr lang="en-US" smtClean="0"/>
              <a:t>7/15/2021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Copyright (c) John K. </a:t>
            </a:r>
            <a:r>
              <a:rPr lang="en-US" dirty="0" err="1"/>
              <a:t>Ostlund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009396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Sorting Algorithms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981200"/>
            <a:ext cx="7772400" cy="4114800"/>
          </a:xfrm>
        </p:spPr>
        <p:txBody>
          <a:bodyPr/>
          <a:lstStyle/>
          <a:p>
            <a:pPr marL="533400" indent="-533400" eaLnBrk="1" hangingPunct="1">
              <a:lnSpc>
                <a:spcPct val="90000"/>
              </a:lnSpc>
              <a:defRPr/>
            </a:pPr>
            <a:r>
              <a:rPr lang="en-US" altLang="en-US" sz="2400" dirty="0"/>
              <a:t>We </a:t>
            </a:r>
            <a:r>
              <a:rPr lang="en-US" altLang="en-US" sz="2400" i="1" dirty="0"/>
              <a:t>sort</a:t>
            </a:r>
            <a:r>
              <a:rPr lang="en-US" altLang="en-US" sz="2400" dirty="0"/>
              <a:t> data in order to make </a:t>
            </a:r>
            <a:r>
              <a:rPr lang="en-US" altLang="en-US" sz="2400" i="1" dirty="0"/>
              <a:t>searching</a:t>
            </a:r>
            <a:r>
              <a:rPr lang="en-US" altLang="en-US" sz="2400" dirty="0"/>
              <a:t> easier (faster!)</a:t>
            </a:r>
          </a:p>
          <a:p>
            <a:pPr marL="533400" indent="-533400" eaLnBrk="1" hangingPunct="1">
              <a:lnSpc>
                <a:spcPct val="90000"/>
              </a:lnSpc>
              <a:defRPr/>
            </a:pPr>
            <a:r>
              <a:rPr lang="en-US" altLang="en-US" sz="2400" dirty="0"/>
              <a:t>We will investigate several sorting algorithms, because:</a:t>
            </a:r>
          </a:p>
          <a:p>
            <a:pPr marL="933450" lvl="1" indent="-533400" eaLnBrk="1" hangingPunct="1">
              <a:lnSpc>
                <a:spcPct val="90000"/>
              </a:lnSpc>
              <a:defRPr/>
            </a:pPr>
            <a:r>
              <a:rPr lang="en-US" altLang="en-US" sz="2000" dirty="0"/>
              <a:t>They are useful</a:t>
            </a:r>
          </a:p>
          <a:p>
            <a:pPr marL="933450" lvl="1" indent="-533400" eaLnBrk="1" hangingPunct="1">
              <a:lnSpc>
                <a:spcPct val="90000"/>
              </a:lnSpc>
              <a:defRPr/>
            </a:pPr>
            <a:r>
              <a:rPr lang="en-US" altLang="en-US" sz="2000" dirty="0"/>
              <a:t>They are tractable</a:t>
            </a:r>
          </a:p>
          <a:p>
            <a:pPr marL="933450" lvl="1" indent="-533400" eaLnBrk="1" hangingPunct="1">
              <a:lnSpc>
                <a:spcPct val="90000"/>
              </a:lnSpc>
              <a:defRPr/>
            </a:pPr>
            <a:r>
              <a:rPr lang="en-US" altLang="en-US" sz="2000" dirty="0"/>
              <a:t>You may be asked about some in interviews</a:t>
            </a:r>
          </a:p>
          <a:p>
            <a:pPr marL="933450" lvl="1" indent="-533400" eaLnBrk="1" hangingPunct="1">
              <a:lnSpc>
                <a:spcPct val="90000"/>
              </a:lnSpc>
              <a:defRPr/>
            </a:pPr>
            <a:r>
              <a:rPr lang="en-US" altLang="en-US" sz="2000" dirty="0"/>
              <a:t>Most importantly, they illustrate several ways of looking at the same problem and finding different, interesting solutions!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6A67CE0-F0E5-41A8-A405-D295D96172D8}" type="datetime1">
              <a:rPr lang="en-US" smtClean="0"/>
              <a:t>7/15/2021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Copyright (c) John K. </a:t>
            </a:r>
            <a:r>
              <a:rPr lang="en-US" dirty="0" err="1"/>
              <a:t>Ostlund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071494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Selection Sort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981200"/>
            <a:ext cx="7772400" cy="4114800"/>
          </a:xfrm>
        </p:spPr>
        <p:txBody>
          <a:bodyPr/>
          <a:lstStyle/>
          <a:p>
            <a:pPr marL="533400" indent="-533400" eaLnBrk="1" hangingPunct="1">
              <a:lnSpc>
                <a:spcPct val="90000"/>
              </a:lnSpc>
              <a:defRPr/>
            </a:pPr>
            <a:r>
              <a:rPr lang="en-US" altLang="en-US" sz="2400" dirty="0"/>
              <a:t>Suppose you have </a:t>
            </a:r>
            <a:r>
              <a:rPr lang="en-US" altLang="en-US" sz="2400" b="1" i="1" dirty="0"/>
              <a:t>A History of </a:t>
            </a:r>
            <a:r>
              <a:rPr lang="en-US" altLang="en-US" sz="2400" b="1" i="1" dirty="0" err="1"/>
              <a:t>Floogleland</a:t>
            </a:r>
            <a:r>
              <a:rPr lang="en-US" altLang="en-US" sz="2400" dirty="0"/>
              <a:t>, Volumes </a:t>
            </a:r>
            <a:r>
              <a:rPr lang="en-US" altLang="en-US" sz="2400" b="1" dirty="0"/>
              <a:t>1</a:t>
            </a:r>
            <a:r>
              <a:rPr lang="en-US" altLang="en-US" sz="2400" dirty="0"/>
              <a:t> through </a:t>
            </a:r>
            <a:r>
              <a:rPr lang="en-US" altLang="en-US" sz="2400" b="1" dirty="0"/>
              <a:t>10</a:t>
            </a:r>
            <a:r>
              <a:rPr lang="en-US" altLang="en-US" sz="2400" dirty="0"/>
              <a:t>, in some shuffled order on a shelf</a:t>
            </a:r>
          </a:p>
          <a:p>
            <a:pPr marL="533400" indent="-533400" eaLnBrk="1" hangingPunct="1">
              <a:lnSpc>
                <a:spcPct val="90000"/>
              </a:lnSpc>
              <a:defRPr/>
            </a:pPr>
            <a:r>
              <a:rPr lang="en-US" altLang="en-US" sz="2400" dirty="0"/>
              <a:t>You would like to put these in sorted order by volume on another shelf</a:t>
            </a:r>
          </a:p>
          <a:p>
            <a:pPr marL="533400" indent="-533400" eaLnBrk="1" hangingPunct="1">
              <a:lnSpc>
                <a:spcPct val="90000"/>
              </a:lnSpc>
              <a:defRPr/>
            </a:pPr>
            <a:r>
              <a:rPr lang="en-US" altLang="en-US" sz="2400" b="1" dirty="0"/>
              <a:t>Idea:</a:t>
            </a:r>
          </a:p>
          <a:p>
            <a:pPr marL="933450" lvl="1" indent="-533400" eaLnBrk="1" hangingPunct="1">
              <a:lnSpc>
                <a:spcPct val="90000"/>
              </a:lnSpc>
              <a:defRPr/>
            </a:pPr>
            <a:r>
              <a:rPr lang="en-US" altLang="en-US" sz="2000" b="1" i="1" dirty="0"/>
              <a:t>Select</a:t>
            </a:r>
            <a:r>
              <a:rPr lang="en-US" altLang="en-US" sz="2000" dirty="0"/>
              <a:t> the lowest numbered volume on the shuffled shelf</a:t>
            </a:r>
          </a:p>
          <a:p>
            <a:pPr marL="933450" lvl="1" indent="-533400" eaLnBrk="1" hangingPunct="1">
              <a:lnSpc>
                <a:spcPct val="90000"/>
              </a:lnSpc>
              <a:defRPr/>
            </a:pPr>
            <a:r>
              <a:rPr lang="en-US" altLang="en-US" sz="2000" dirty="0"/>
              <a:t>Put it in the next available slot on the other shelf</a:t>
            </a:r>
          </a:p>
          <a:p>
            <a:pPr marL="933450" lvl="1" indent="-533400" eaLnBrk="1" hangingPunct="1">
              <a:lnSpc>
                <a:spcPct val="90000"/>
              </a:lnSpc>
              <a:defRPr/>
            </a:pPr>
            <a:r>
              <a:rPr lang="en-US" altLang="en-US" sz="2000" dirty="0"/>
              <a:t>Repeat until no volumes remain on the shuffled shelf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6A67CE0-F0E5-41A8-A405-D295D96172D8}" type="datetime1">
              <a:rPr lang="en-US" smtClean="0"/>
              <a:t>7/15/2021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Copyright (c) John K. </a:t>
            </a:r>
            <a:r>
              <a:rPr lang="en-US" dirty="0" err="1"/>
              <a:t>Ostlund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931170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Selection Sort Example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981200"/>
            <a:ext cx="7772400" cy="4114800"/>
          </a:xfrm>
        </p:spPr>
        <p:txBody>
          <a:bodyPr/>
          <a:lstStyle/>
          <a:p>
            <a:pPr marL="533400" indent="-533400" eaLnBrk="1" hangingPunct="1">
              <a:lnSpc>
                <a:spcPct val="90000"/>
              </a:lnSpc>
              <a:defRPr/>
            </a:pPr>
            <a:r>
              <a:rPr lang="en-US" altLang="en-US" sz="2400" dirty="0"/>
              <a:t>Starting shelves:</a:t>
            </a:r>
          </a:p>
          <a:p>
            <a:pPr marL="533400" indent="-533400" eaLnBrk="1" hangingPunct="1">
              <a:lnSpc>
                <a:spcPct val="90000"/>
              </a:lnSpc>
              <a:defRPr/>
            </a:pPr>
            <a:endParaRPr lang="en-US" altLang="en-US" sz="2400" dirty="0"/>
          </a:p>
          <a:p>
            <a:pPr marL="533400" indent="-533400" eaLnBrk="1" hangingPunct="1">
              <a:lnSpc>
                <a:spcPct val="90000"/>
              </a:lnSpc>
              <a:defRPr/>
            </a:pPr>
            <a:endParaRPr lang="en-US" altLang="en-US" sz="2400" dirty="0"/>
          </a:p>
          <a:p>
            <a:pPr marL="533400" indent="-533400" eaLnBrk="1" hangingPunct="1">
              <a:lnSpc>
                <a:spcPct val="90000"/>
              </a:lnSpc>
              <a:defRPr/>
            </a:pPr>
            <a:r>
              <a:rPr lang="en-US" altLang="en-US" sz="2400" dirty="0"/>
              <a:t>Step 1a: select the lowest remaining volume</a:t>
            </a:r>
          </a:p>
          <a:p>
            <a:pPr marL="533400" indent="-533400" eaLnBrk="1" hangingPunct="1">
              <a:lnSpc>
                <a:spcPct val="90000"/>
              </a:lnSpc>
              <a:defRPr/>
            </a:pPr>
            <a:endParaRPr lang="en-US" altLang="en-US" sz="2400" dirty="0"/>
          </a:p>
          <a:p>
            <a:pPr marL="533400" indent="-533400" eaLnBrk="1" hangingPunct="1">
              <a:lnSpc>
                <a:spcPct val="90000"/>
              </a:lnSpc>
              <a:defRPr/>
            </a:pPr>
            <a:endParaRPr lang="en-US" altLang="en-US" sz="2400" dirty="0"/>
          </a:p>
          <a:p>
            <a:pPr marL="533400" indent="-533400" eaLnBrk="1" hangingPunct="1">
              <a:lnSpc>
                <a:spcPct val="90000"/>
              </a:lnSpc>
              <a:defRPr/>
            </a:pPr>
            <a:r>
              <a:rPr lang="en-US" altLang="en-US" sz="2400" dirty="0"/>
              <a:t>Step 1b: put it in the next slot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6A67CE0-F0E5-41A8-A405-D295D96172D8}" type="datetime1">
              <a:rPr lang="en-US" smtClean="0"/>
              <a:t>7/15/2021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Copyright (c) John K. </a:t>
            </a:r>
            <a:r>
              <a:rPr lang="en-US" dirty="0" err="1"/>
              <a:t>Ostlund</a:t>
            </a:r>
            <a:endParaRPr lang="en-US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4F9D01F-585B-4F34-BAD2-609251D762C2}"/>
              </a:ext>
            </a:extLst>
          </p:cNvPr>
          <p:cNvGrpSpPr/>
          <p:nvPr/>
        </p:nvGrpSpPr>
        <p:grpSpPr>
          <a:xfrm>
            <a:off x="2379863" y="2385911"/>
            <a:ext cx="4644668" cy="770030"/>
            <a:chOff x="2912757" y="2391967"/>
            <a:chExt cx="3358434" cy="770030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927ABE92-D7D0-4EA7-8AB4-16402F58517E}"/>
                </a:ext>
              </a:extLst>
            </p:cNvPr>
            <p:cNvGrpSpPr/>
            <p:nvPr/>
          </p:nvGrpSpPr>
          <p:grpSpPr>
            <a:xfrm>
              <a:off x="2912757" y="2391967"/>
              <a:ext cx="3357425" cy="308789"/>
              <a:chOff x="2912757" y="2440415"/>
              <a:chExt cx="3357425" cy="308789"/>
            </a:xfrm>
          </p:grpSpPr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012C025-6765-4B09-8FC6-A3813759BE47}"/>
                  </a:ext>
                </a:extLst>
              </p:cNvPr>
              <p:cNvSpPr txBox="1"/>
              <p:nvPr/>
            </p:nvSpPr>
            <p:spPr>
              <a:xfrm>
                <a:off x="2912757" y="2440419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9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27A6C65-330F-4C72-B7E9-B091EF6E2DC1}"/>
                  </a:ext>
                </a:extLst>
              </p:cNvPr>
              <p:cNvSpPr txBox="1"/>
              <p:nvPr/>
            </p:nvSpPr>
            <p:spPr>
              <a:xfrm>
                <a:off x="3249207" y="2441427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10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C159A07-5786-49A5-8639-441BFE6A7CE3}"/>
                  </a:ext>
                </a:extLst>
              </p:cNvPr>
              <p:cNvSpPr txBox="1"/>
              <p:nvPr/>
            </p:nvSpPr>
            <p:spPr>
              <a:xfrm>
                <a:off x="3584272" y="2440415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3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70A787E-94F8-41D3-A63A-38ED22CC1714}"/>
                  </a:ext>
                </a:extLst>
              </p:cNvPr>
              <p:cNvSpPr txBox="1"/>
              <p:nvPr/>
            </p:nvSpPr>
            <p:spPr>
              <a:xfrm>
                <a:off x="3920722" y="2441426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1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41C9C38-5568-46A1-A3B9-19587FD243C6}"/>
                  </a:ext>
                </a:extLst>
              </p:cNvPr>
              <p:cNvSpPr txBox="1"/>
              <p:nvPr/>
            </p:nvSpPr>
            <p:spPr>
              <a:xfrm>
                <a:off x="4255796" y="2440416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7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9AA98E5-3F6D-4478-A430-D16AAD9A057E}"/>
                  </a:ext>
                </a:extLst>
              </p:cNvPr>
              <p:cNvSpPr txBox="1"/>
              <p:nvPr/>
            </p:nvSpPr>
            <p:spPr>
              <a:xfrm>
                <a:off x="4592246" y="2441424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8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F039154-AF3B-49FA-B32F-15946B348501}"/>
                  </a:ext>
                </a:extLst>
              </p:cNvPr>
              <p:cNvSpPr txBox="1"/>
              <p:nvPr/>
            </p:nvSpPr>
            <p:spPr>
              <a:xfrm>
                <a:off x="4927308" y="2440417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2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EBB0347-5A26-4B64-A7CC-1F0462FE598D}"/>
                  </a:ext>
                </a:extLst>
              </p:cNvPr>
              <p:cNvSpPr txBox="1"/>
              <p:nvPr/>
            </p:nvSpPr>
            <p:spPr>
              <a:xfrm>
                <a:off x="5263758" y="2441425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6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505DB26-A1C0-4148-8A7E-B598313D77CE}"/>
                  </a:ext>
                </a:extLst>
              </p:cNvPr>
              <p:cNvSpPr txBox="1"/>
              <p:nvPr/>
            </p:nvSpPr>
            <p:spPr>
              <a:xfrm>
                <a:off x="5598832" y="2440415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4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ECCC3F4-12F5-4F83-BD0F-3EA958C79AB9}"/>
                  </a:ext>
                </a:extLst>
              </p:cNvPr>
              <p:cNvSpPr txBox="1"/>
              <p:nvPr/>
            </p:nvSpPr>
            <p:spPr>
              <a:xfrm>
                <a:off x="5935282" y="2441423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5</a:t>
                </a:r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7A4B36B4-15BF-4E9A-92C5-85A8B7BCA15A}"/>
                </a:ext>
              </a:extLst>
            </p:cNvPr>
            <p:cNvGrpSpPr/>
            <p:nvPr/>
          </p:nvGrpSpPr>
          <p:grpSpPr>
            <a:xfrm>
              <a:off x="2913766" y="2853208"/>
              <a:ext cx="3357425" cy="308789"/>
              <a:chOff x="2912757" y="2440415"/>
              <a:chExt cx="3357425" cy="308789"/>
            </a:xfrm>
          </p:grpSpPr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346D493-140C-42F9-AFC6-9E36DCB7E11C}"/>
                  </a:ext>
                </a:extLst>
              </p:cNvPr>
              <p:cNvSpPr txBox="1"/>
              <p:nvPr/>
            </p:nvSpPr>
            <p:spPr>
              <a:xfrm>
                <a:off x="2912757" y="2440419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49996BB-5B5E-43C1-A0AC-80A3C1F74EC1}"/>
                  </a:ext>
                </a:extLst>
              </p:cNvPr>
              <p:cNvSpPr txBox="1"/>
              <p:nvPr/>
            </p:nvSpPr>
            <p:spPr>
              <a:xfrm>
                <a:off x="3249207" y="2441427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B83DADD-6EA9-4B37-B2B5-65EC19429A86}"/>
                  </a:ext>
                </a:extLst>
              </p:cNvPr>
              <p:cNvSpPr txBox="1"/>
              <p:nvPr/>
            </p:nvSpPr>
            <p:spPr>
              <a:xfrm>
                <a:off x="3584272" y="2440418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4F10BD34-6027-47E3-80CF-EFE72F5B5666}"/>
                  </a:ext>
                </a:extLst>
              </p:cNvPr>
              <p:cNvSpPr txBox="1"/>
              <p:nvPr/>
            </p:nvSpPr>
            <p:spPr>
              <a:xfrm>
                <a:off x="3920722" y="2441426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151646B-9F0F-4CBF-AB97-0836BE6809DD}"/>
                  </a:ext>
                </a:extLst>
              </p:cNvPr>
              <p:cNvSpPr txBox="1"/>
              <p:nvPr/>
            </p:nvSpPr>
            <p:spPr>
              <a:xfrm>
                <a:off x="4255796" y="2440416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72D6D2A-6230-4160-9971-EEC462A120CC}"/>
                  </a:ext>
                </a:extLst>
              </p:cNvPr>
              <p:cNvSpPr txBox="1"/>
              <p:nvPr/>
            </p:nvSpPr>
            <p:spPr>
              <a:xfrm>
                <a:off x="4592246" y="2441424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330F282F-C3B3-45F7-8BF5-A0436D3D7B07}"/>
                  </a:ext>
                </a:extLst>
              </p:cNvPr>
              <p:cNvSpPr txBox="1"/>
              <p:nvPr/>
            </p:nvSpPr>
            <p:spPr>
              <a:xfrm>
                <a:off x="4927308" y="2440417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47AACC2-17E9-4321-9678-530C1B077C24}"/>
                  </a:ext>
                </a:extLst>
              </p:cNvPr>
              <p:cNvSpPr txBox="1"/>
              <p:nvPr/>
            </p:nvSpPr>
            <p:spPr>
              <a:xfrm>
                <a:off x="5263758" y="2441425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BB5A43C5-5100-451E-BB92-203E83A9EA5C}"/>
                  </a:ext>
                </a:extLst>
              </p:cNvPr>
              <p:cNvSpPr txBox="1"/>
              <p:nvPr/>
            </p:nvSpPr>
            <p:spPr>
              <a:xfrm>
                <a:off x="5598832" y="2440415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8DA07D8-A1F4-4FCC-9AC5-A0F08910C0D8}"/>
                  </a:ext>
                </a:extLst>
              </p:cNvPr>
              <p:cNvSpPr txBox="1"/>
              <p:nvPr/>
            </p:nvSpPr>
            <p:spPr>
              <a:xfrm>
                <a:off x="5935282" y="2441423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endParaRPr lang="en-US" sz="1400" dirty="0"/>
              </a:p>
            </p:txBody>
          </p:sp>
        </p:grp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64BA061C-8B51-4A27-ACD9-3BCEDE0BD010}"/>
              </a:ext>
            </a:extLst>
          </p:cNvPr>
          <p:cNvGrpSpPr/>
          <p:nvPr/>
        </p:nvGrpSpPr>
        <p:grpSpPr>
          <a:xfrm>
            <a:off x="2380871" y="3616212"/>
            <a:ext cx="4644668" cy="770030"/>
            <a:chOff x="2912757" y="2391967"/>
            <a:chExt cx="3358434" cy="770030"/>
          </a:xfrm>
        </p:grpSpPr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BB3ED1F7-13D3-468D-8503-4E476B09E4DA}"/>
                </a:ext>
              </a:extLst>
            </p:cNvPr>
            <p:cNvGrpSpPr/>
            <p:nvPr/>
          </p:nvGrpSpPr>
          <p:grpSpPr>
            <a:xfrm>
              <a:off x="2912757" y="2391967"/>
              <a:ext cx="3357425" cy="308789"/>
              <a:chOff x="2912757" y="2440415"/>
              <a:chExt cx="3357425" cy="308789"/>
            </a:xfrm>
          </p:grpSpPr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94ED12C9-1354-4931-86C9-FDC004F424D2}"/>
                  </a:ext>
                </a:extLst>
              </p:cNvPr>
              <p:cNvSpPr txBox="1"/>
              <p:nvPr/>
            </p:nvSpPr>
            <p:spPr>
              <a:xfrm>
                <a:off x="2912757" y="2440419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9</a:t>
                </a:r>
              </a:p>
            </p:txBody>
          </p:sp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03FE5208-2275-461C-B2E1-BBB6E5873E14}"/>
                  </a:ext>
                </a:extLst>
              </p:cNvPr>
              <p:cNvSpPr txBox="1"/>
              <p:nvPr/>
            </p:nvSpPr>
            <p:spPr>
              <a:xfrm>
                <a:off x="3249207" y="2441427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10</a:t>
                </a:r>
              </a:p>
            </p:txBody>
          </p: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6D17361F-F328-4CE5-8896-18D8FA8274A0}"/>
                  </a:ext>
                </a:extLst>
              </p:cNvPr>
              <p:cNvSpPr txBox="1"/>
              <p:nvPr/>
            </p:nvSpPr>
            <p:spPr>
              <a:xfrm>
                <a:off x="3584272" y="2440415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3</a:t>
                </a:r>
              </a:p>
            </p:txBody>
          </p:sp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C3B75A9B-C4E5-4E74-A5AE-3EF8DA8A54BC}"/>
                  </a:ext>
                </a:extLst>
              </p:cNvPr>
              <p:cNvSpPr txBox="1"/>
              <p:nvPr/>
            </p:nvSpPr>
            <p:spPr>
              <a:xfrm>
                <a:off x="3920722" y="2441426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 dirty="0">
                    <a:solidFill>
                      <a:srgbClr val="FF0000"/>
                    </a:solidFill>
                  </a:rPr>
                  <a:t>1</a:t>
                </a:r>
              </a:p>
            </p:txBody>
          </p:sp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BFC515F8-133A-4B3B-B2A6-1FBB1145CFDC}"/>
                  </a:ext>
                </a:extLst>
              </p:cNvPr>
              <p:cNvSpPr txBox="1"/>
              <p:nvPr/>
            </p:nvSpPr>
            <p:spPr>
              <a:xfrm>
                <a:off x="4255796" y="2440416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7</a:t>
                </a:r>
              </a:p>
            </p:txBody>
          </p:sp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004F2063-2068-49AF-984C-CB6C24930188}"/>
                  </a:ext>
                </a:extLst>
              </p:cNvPr>
              <p:cNvSpPr txBox="1"/>
              <p:nvPr/>
            </p:nvSpPr>
            <p:spPr>
              <a:xfrm>
                <a:off x="4592246" y="2441424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8</a:t>
                </a:r>
              </a:p>
            </p:txBody>
          </p:sp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CA4DCA04-E29C-49E1-8391-DC9822EA68E7}"/>
                  </a:ext>
                </a:extLst>
              </p:cNvPr>
              <p:cNvSpPr txBox="1"/>
              <p:nvPr/>
            </p:nvSpPr>
            <p:spPr>
              <a:xfrm>
                <a:off x="4927308" y="2440417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2</a:t>
                </a:r>
              </a:p>
            </p:txBody>
          </p:sp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CDA71BEA-6348-46B1-B6A6-EEE9F3617453}"/>
                  </a:ext>
                </a:extLst>
              </p:cNvPr>
              <p:cNvSpPr txBox="1"/>
              <p:nvPr/>
            </p:nvSpPr>
            <p:spPr>
              <a:xfrm>
                <a:off x="5263758" y="2441425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6</a:t>
                </a:r>
              </a:p>
            </p:txBody>
          </p:sp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919CDBD0-1300-482A-BA67-2D48C98F6F9D}"/>
                  </a:ext>
                </a:extLst>
              </p:cNvPr>
              <p:cNvSpPr txBox="1"/>
              <p:nvPr/>
            </p:nvSpPr>
            <p:spPr>
              <a:xfrm>
                <a:off x="5598832" y="2440415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4</a:t>
                </a:r>
              </a:p>
            </p:txBody>
          </p:sp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7D1694BF-5E4D-4FCF-B1BE-CBEE664C44AB}"/>
                  </a:ext>
                </a:extLst>
              </p:cNvPr>
              <p:cNvSpPr txBox="1"/>
              <p:nvPr/>
            </p:nvSpPr>
            <p:spPr>
              <a:xfrm>
                <a:off x="5935282" y="2441423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5</a:t>
                </a:r>
              </a:p>
            </p:txBody>
          </p:sp>
        </p:grp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334B4608-697C-44F8-B333-643D70768DE2}"/>
                </a:ext>
              </a:extLst>
            </p:cNvPr>
            <p:cNvGrpSpPr/>
            <p:nvPr/>
          </p:nvGrpSpPr>
          <p:grpSpPr>
            <a:xfrm>
              <a:off x="2913766" y="2853208"/>
              <a:ext cx="3357425" cy="308789"/>
              <a:chOff x="2912757" y="2440415"/>
              <a:chExt cx="3357425" cy="308789"/>
            </a:xfrm>
          </p:grpSpPr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1DCD2967-BBC1-4DDB-873E-54E58983BED6}"/>
                  </a:ext>
                </a:extLst>
              </p:cNvPr>
              <p:cNvSpPr txBox="1"/>
              <p:nvPr/>
            </p:nvSpPr>
            <p:spPr>
              <a:xfrm>
                <a:off x="2912757" y="2440419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F715ECE3-A601-4FAB-B78C-A909299C4CF6}"/>
                  </a:ext>
                </a:extLst>
              </p:cNvPr>
              <p:cNvSpPr txBox="1"/>
              <p:nvPr/>
            </p:nvSpPr>
            <p:spPr>
              <a:xfrm>
                <a:off x="3249207" y="2441427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1FFCAC22-1C86-49C9-A31E-5BE7C53BF6FC}"/>
                  </a:ext>
                </a:extLst>
              </p:cNvPr>
              <p:cNvSpPr txBox="1"/>
              <p:nvPr/>
            </p:nvSpPr>
            <p:spPr>
              <a:xfrm>
                <a:off x="3584272" y="2440418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9795490E-400E-4E58-9048-E3757BCE938E}"/>
                  </a:ext>
                </a:extLst>
              </p:cNvPr>
              <p:cNvSpPr txBox="1"/>
              <p:nvPr/>
            </p:nvSpPr>
            <p:spPr>
              <a:xfrm>
                <a:off x="3920722" y="2441426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5F80381E-283E-418D-97F2-DE744B9EE9A3}"/>
                  </a:ext>
                </a:extLst>
              </p:cNvPr>
              <p:cNvSpPr txBox="1"/>
              <p:nvPr/>
            </p:nvSpPr>
            <p:spPr>
              <a:xfrm>
                <a:off x="4255796" y="2440416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80377850-AEBB-4BD2-AC21-0B772D72D4A5}"/>
                  </a:ext>
                </a:extLst>
              </p:cNvPr>
              <p:cNvSpPr txBox="1"/>
              <p:nvPr/>
            </p:nvSpPr>
            <p:spPr>
              <a:xfrm>
                <a:off x="4592246" y="2441424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B721F332-178B-49BB-871C-D7FE006991B5}"/>
                  </a:ext>
                </a:extLst>
              </p:cNvPr>
              <p:cNvSpPr txBox="1"/>
              <p:nvPr/>
            </p:nvSpPr>
            <p:spPr>
              <a:xfrm>
                <a:off x="4927308" y="2440417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3B481D87-B121-46EB-92CC-8884396B0974}"/>
                  </a:ext>
                </a:extLst>
              </p:cNvPr>
              <p:cNvSpPr txBox="1"/>
              <p:nvPr/>
            </p:nvSpPr>
            <p:spPr>
              <a:xfrm>
                <a:off x="5263758" y="2441425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750A91BC-09AF-4D43-BCB3-59627F98968C}"/>
                  </a:ext>
                </a:extLst>
              </p:cNvPr>
              <p:cNvSpPr txBox="1"/>
              <p:nvPr/>
            </p:nvSpPr>
            <p:spPr>
              <a:xfrm>
                <a:off x="5598832" y="2440415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EB14F249-6983-4E8F-A98C-49C9157274C8}"/>
                  </a:ext>
                </a:extLst>
              </p:cNvPr>
              <p:cNvSpPr txBox="1"/>
              <p:nvPr/>
            </p:nvSpPr>
            <p:spPr>
              <a:xfrm>
                <a:off x="5935282" y="2441423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endParaRPr lang="en-US" sz="1400" dirty="0"/>
              </a:p>
            </p:txBody>
          </p:sp>
        </p:grp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ECD76577-3B93-461A-87BC-3183E4726813}"/>
              </a:ext>
            </a:extLst>
          </p:cNvPr>
          <p:cNvGrpSpPr/>
          <p:nvPr/>
        </p:nvGrpSpPr>
        <p:grpSpPr>
          <a:xfrm>
            <a:off x="2381880" y="4858628"/>
            <a:ext cx="4644668" cy="770030"/>
            <a:chOff x="2912757" y="2391967"/>
            <a:chExt cx="3358434" cy="770030"/>
          </a:xfrm>
        </p:grpSpPr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EFC09229-382B-4270-9815-D0D923438E12}"/>
                </a:ext>
              </a:extLst>
            </p:cNvPr>
            <p:cNvGrpSpPr/>
            <p:nvPr/>
          </p:nvGrpSpPr>
          <p:grpSpPr>
            <a:xfrm>
              <a:off x="2912757" y="2391967"/>
              <a:ext cx="3357425" cy="308789"/>
              <a:chOff x="2912757" y="2440415"/>
              <a:chExt cx="3357425" cy="308789"/>
            </a:xfrm>
          </p:grpSpPr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F7110B78-0072-497D-83D4-3171463CC861}"/>
                  </a:ext>
                </a:extLst>
              </p:cNvPr>
              <p:cNvSpPr txBox="1"/>
              <p:nvPr/>
            </p:nvSpPr>
            <p:spPr>
              <a:xfrm>
                <a:off x="2912757" y="2440419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9</a:t>
                </a:r>
              </a:p>
            </p:txBody>
          </p:sp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BF22DDF6-C892-4F7F-A79F-CCC30DFD4389}"/>
                  </a:ext>
                </a:extLst>
              </p:cNvPr>
              <p:cNvSpPr txBox="1"/>
              <p:nvPr/>
            </p:nvSpPr>
            <p:spPr>
              <a:xfrm>
                <a:off x="3249207" y="2441427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10</a:t>
                </a:r>
              </a:p>
            </p:txBody>
          </p:sp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C2691B90-DC19-45F3-9442-670E94BDF438}"/>
                  </a:ext>
                </a:extLst>
              </p:cNvPr>
              <p:cNvSpPr txBox="1"/>
              <p:nvPr/>
            </p:nvSpPr>
            <p:spPr>
              <a:xfrm>
                <a:off x="3584272" y="2440415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3</a:t>
                </a:r>
              </a:p>
            </p:txBody>
          </p:sp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C5F94270-B1B1-48FA-8913-B445CB4D0CEF}"/>
                  </a:ext>
                </a:extLst>
              </p:cNvPr>
              <p:cNvSpPr txBox="1"/>
              <p:nvPr/>
            </p:nvSpPr>
            <p:spPr>
              <a:xfrm>
                <a:off x="3920722" y="2441426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endParaRPr lang="en-US" sz="1400" b="1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50CA5B8A-B410-436F-99CA-80576D7573AF}"/>
                  </a:ext>
                </a:extLst>
              </p:cNvPr>
              <p:cNvSpPr txBox="1"/>
              <p:nvPr/>
            </p:nvSpPr>
            <p:spPr>
              <a:xfrm>
                <a:off x="4255796" y="2440416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7</a:t>
                </a:r>
              </a:p>
            </p:txBody>
          </p:sp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7F24AEBF-CBEC-49B7-93F3-9CE86925057C}"/>
                  </a:ext>
                </a:extLst>
              </p:cNvPr>
              <p:cNvSpPr txBox="1"/>
              <p:nvPr/>
            </p:nvSpPr>
            <p:spPr>
              <a:xfrm>
                <a:off x="4592246" y="2441424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8</a:t>
                </a:r>
              </a:p>
            </p:txBody>
          </p:sp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7360B4DA-104F-4F2A-B099-6C2E2532CF1C}"/>
                  </a:ext>
                </a:extLst>
              </p:cNvPr>
              <p:cNvSpPr txBox="1"/>
              <p:nvPr/>
            </p:nvSpPr>
            <p:spPr>
              <a:xfrm>
                <a:off x="4927308" y="2440417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2</a:t>
                </a:r>
              </a:p>
            </p:txBody>
          </p:sp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D050C3C6-0301-4222-AD7C-6B8BE99BC25C}"/>
                  </a:ext>
                </a:extLst>
              </p:cNvPr>
              <p:cNvSpPr txBox="1"/>
              <p:nvPr/>
            </p:nvSpPr>
            <p:spPr>
              <a:xfrm>
                <a:off x="5263758" y="2441425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6</a:t>
                </a:r>
              </a:p>
            </p:txBody>
          </p:sp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3776D397-5138-4EB5-8657-EB59330BBD8B}"/>
                  </a:ext>
                </a:extLst>
              </p:cNvPr>
              <p:cNvSpPr txBox="1"/>
              <p:nvPr/>
            </p:nvSpPr>
            <p:spPr>
              <a:xfrm>
                <a:off x="5598832" y="2440415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4</a:t>
                </a:r>
              </a:p>
            </p:txBody>
          </p:sp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9C43FBFF-E493-43E6-B920-82983FC31408}"/>
                  </a:ext>
                </a:extLst>
              </p:cNvPr>
              <p:cNvSpPr txBox="1"/>
              <p:nvPr/>
            </p:nvSpPr>
            <p:spPr>
              <a:xfrm>
                <a:off x="5935282" y="2441423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5</a:t>
                </a:r>
              </a:p>
            </p:txBody>
          </p:sp>
        </p:grpSp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B3C68D09-57E3-46FD-A49D-EDA24B9C00AA}"/>
                </a:ext>
              </a:extLst>
            </p:cNvPr>
            <p:cNvGrpSpPr/>
            <p:nvPr/>
          </p:nvGrpSpPr>
          <p:grpSpPr>
            <a:xfrm>
              <a:off x="2913766" y="2853208"/>
              <a:ext cx="3357425" cy="308789"/>
              <a:chOff x="2912757" y="2440415"/>
              <a:chExt cx="3357425" cy="308789"/>
            </a:xfrm>
          </p:grpSpPr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D33FE613-67CE-4A3B-AC73-96E91E7C39BF}"/>
                  </a:ext>
                </a:extLst>
              </p:cNvPr>
              <p:cNvSpPr txBox="1"/>
              <p:nvPr/>
            </p:nvSpPr>
            <p:spPr>
              <a:xfrm>
                <a:off x="2912757" y="2440419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 dirty="0">
                    <a:solidFill>
                      <a:srgbClr val="FF0000"/>
                    </a:solidFill>
                  </a:rPr>
                  <a:t>1</a:t>
                </a:r>
              </a:p>
            </p:txBody>
          </p:sp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27BBA433-295D-4F5D-BDB5-367848193D76}"/>
                  </a:ext>
                </a:extLst>
              </p:cNvPr>
              <p:cNvSpPr txBox="1"/>
              <p:nvPr/>
            </p:nvSpPr>
            <p:spPr>
              <a:xfrm>
                <a:off x="3249207" y="2441427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D2F2EFF7-B76F-4910-A413-8775D2376FCC}"/>
                  </a:ext>
                </a:extLst>
              </p:cNvPr>
              <p:cNvSpPr txBox="1"/>
              <p:nvPr/>
            </p:nvSpPr>
            <p:spPr>
              <a:xfrm>
                <a:off x="3584272" y="2440418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A5120F47-4CC5-447B-B2D6-AC78DCCD6E99}"/>
                  </a:ext>
                </a:extLst>
              </p:cNvPr>
              <p:cNvSpPr txBox="1"/>
              <p:nvPr/>
            </p:nvSpPr>
            <p:spPr>
              <a:xfrm>
                <a:off x="3920722" y="2441426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A82BC176-C35D-4904-B1F9-075507774C67}"/>
                  </a:ext>
                </a:extLst>
              </p:cNvPr>
              <p:cNvSpPr txBox="1"/>
              <p:nvPr/>
            </p:nvSpPr>
            <p:spPr>
              <a:xfrm>
                <a:off x="4255796" y="2440416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D31B2FC6-D68C-46A0-A029-4EE64A416B34}"/>
                  </a:ext>
                </a:extLst>
              </p:cNvPr>
              <p:cNvSpPr txBox="1"/>
              <p:nvPr/>
            </p:nvSpPr>
            <p:spPr>
              <a:xfrm>
                <a:off x="4592246" y="2441424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C4F86503-6AC3-4647-ACF3-AC5684B06249}"/>
                  </a:ext>
                </a:extLst>
              </p:cNvPr>
              <p:cNvSpPr txBox="1"/>
              <p:nvPr/>
            </p:nvSpPr>
            <p:spPr>
              <a:xfrm>
                <a:off x="4927308" y="2440417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1D8FD2DE-D703-4695-A754-82D3497C24BA}"/>
                  </a:ext>
                </a:extLst>
              </p:cNvPr>
              <p:cNvSpPr txBox="1"/>
              <p:nvPr/>
            </p:nvSpPr>
            <p:spPr>
              <a:xfrm>
                <a:off x="5263758" y="2441425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ACD04B70-C41E-4F33-9E96-BF348CC266D5}"/>
                  </a:ext>
                </a:extLst>
              </p:cNvPr>
              <p:cNvSpPr txBox="1"/>
              <p:nvPr/>
            </p:nvSpPr>
            <p:spPr>
              <a:xfrm>
                <a:off x="5598832" y="2440415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7597DA1B-29B3-40D7-A97B-294F2298DB78}"/>
                  </a:ext>
                </a:extLst>
              </p:cNvPr>
              <p:cNvSpPr txBox="1"/>
              <p:nvPr/>
            </p:nvSpPr>
            <p:spPr>
              <a:xfrm>
                <a:off x="5935282" y="2441423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endParaRPr lang="en-US" sz="1400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90673734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Selection Sort Example (</a:t>
            </a:r>
            <a:r>
              <a:rPr lang="en-US" altLang="en-US" dirty="0" err="1"/>
              <a:t>cont</a:t>
            </a:r>
            <a:r>
              <a:rPr lang="en-US" altLang="en-US" dirty="0"/>
              <a:t>)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981200"/>
            <a:ext cx="7772400" cy="4114800"/>
          </a:xfrm>
        </p:spPr>
        <p:txBody>
          <a:bodyPr/>
          <a:lstStyle/>
          <a:p>
            <a:pPr marL="533400" indent="-533400" eaLnBrk="1" hangingPunct="1">
              <a:lnSpc>
                <a:spcPct val="90000"/>
              </a:lnSpc>
              <a:defRPr/>
            </a:pPr>
            <a:r>
              <a:rPr lang="en-US" altLang="en-US" sz="2400" dirty="0"/>
              <a:t>Step 2a:</a:t>
            </a:r>
          </a:p>
          <a:p>
            <a:pPr marL="533400" indent="-533400" eaLnBrk="1" hangingPunct="1">
              <a:lnSpc>
                <a:spcPct val="90000"/>
              </a:lnSpc>
              <a:defRPr/>
            </a:pPr>
            <a:endParaRPr lang="en-US" altLang="en-US" sz="2400" dirty="0"/>
          </a:p>
          <a:p>
            <a:pPr marL="533400" indent="-533400" eaLnBrk="1" hangingPunct="1">
              <a:lnSpc>
                <a:spcPct val="90000"/>
              </a:lnSpc>
              <a:defRPr/>
            </a:pPr>
            <a:endParaRPr lang="en-US" altLang="en-US" sz="2400" dirty="0"/>
          </a:p>
          <a:p>
            <a:pPr marL="533400" indent="-533400" eaLnBrk="1" hangingPunct="1">
              <a:lnSpc>
                <a:spcPct val="90000"/>
              </a:lnSpc>
              <a:defRPr/>
            </a:pPr>
            <a:r>
              <a:rPr lang="en-US" altLang="en-US" sz="2400" dirty="0"/>
              <a:t>Step 2b:</a:t>
            </a:r>
          </a:p>
          <a:p>
            <a:pPr marL="533400" indent="-533400" eaLnBrk="1" hangingPunct="1">
              <a:lnSpc>
                <a:spcPct val="90000"/>
              </a:lnSpc>
              <a:defRPr/>
            </a:pPr>
            <a:endParaRPr lang="en-US" altLang="en-US" sz="2400" dirty="0"/>
          </a:p>
          <a:p>
            <a:pPr marL="533400" indent="-533400" eaLnBrk="1" hangingPunct="1">
              <a:lnSpc>
                <a:spcPct val="90000"/>
              </a:lnSpc>
              <a:defRPr/>
            </a:pPr>
            <a:endParaRPr lang="en-US" altLang="en-US" sz="2400" dirty="0"/>
          </a:p>
          <a:p>
            <a:pPr marL="533400" indent="-533400" eaLnBrk="1" hangingPunct="1">
              <a:lnSpc>
                <a:spcPct val="90000"/>
              </a:lnSpc>
              <a:defRPr/>
            </a:pPr>
            <a:r>
              <a:rPr lang="en-US" altLang="en-US" sz="2400" dirty="0"/>
              <a:t>Step 3: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6A67CE0-F0E5-41A8-A405-D295D96172D8}" type="datetime1">
              <a:rPr lang="en-US" smtClean="0"/>
              <a:t>7/15/2021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Copyright (c) John K. </a:t>
            </a:r>
            <a:r>
              <a:rPr lang="en-US" dirty="0" err="1"/>
              <a:t>Ostlund</a:t>
            </a:r>
            <a:endParaRPr lang="en-US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4F9D01F-585B-4F34-BAD2-609251D762C2}"/>
              </a:ext>
            </a:extLst>
          </p:cNvPr>
          <p:cNvGrpSpPr/>
          <p:nvPr/>
        </p:nvGrpSpPr>
        <p:grpSpPr>
          <a:xfrm>
            <a:off x="2379863" y="2385911"/>
            <a:ext cx="4644668" cy="770030"/>
            <a:chOff x="2912757" y="2391967"/>
            <a:chExt cx="3358434" cy="770030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927ABE92-D7D0-4EA7-8AB4-16402F58517E}"/>
                </a:ext>
              </a:extLst>
            </p:cNvPr>
            <p:cNvGrpSpPr/>
            <p:nvPr/>
          </p:nvGrpSpPr>
          <p:grpSpPr>
            <a:xfrm>
              <a:off x="2912757" y="2391967"/>
              <a:ext cx="3357425" cy="308789"/>
              <a:chOff x="2912757" y="2440415"/>
              <a:chExt cx="3357425" cy="308789"/>
            </a:xfrm>
          </p:grpSpPr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012C025-6765-4B09-8FC6-A3813759BE47}"/>
                  </a:ext>
                </a:extLst>
              </p:cNvPr>
              <p:cNvSpPr txBox="1"/>
              <p:nvPr/>
            </p:nvSpPr>
            <p:spPr>
              <a:xfrm>
                <a:off x="2912757" y="2440419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9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27A6C65-330F-4C72-B7E9-B091EF6E2DC1}"/>
                  </a:ext>
                </a:extLst>
              </p:cNvPr>
              <p:cNvSpPr txBox="1"/>
              <p:nvPr/>
            </p:nvSpPr>
            <p:spPr>
              <a:xfrm>
                <a:off x="3249207" y="2441427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10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C159A07-5786-49A5-8639-441BFE6A7CE3}"/>
                  </a:ext>
                </a:extLst>
              </p:cNvPr>
              <p:cNvSpPr txBox="1"/>
              <p:nvPr/>
            </p:nvSpPr>
            <p:spPr>
              <a:xfrm>
                <a:off x="3584272" y="2440415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3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70A787E-94F8-41D3-A63A-38ED22CC1714}"/>
                  </a:ext>
                </a:extLst>
              </p:cNvPr>
              <p:cNvSpPr txBox="1"/>
              <p:nvPr/>
            </p:nvSpPr>
            <p:spPr>
              <a:xfrm>
                <a:off x="3920722" y="2441426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41C9C38-5568-46A1-A3B9-19587FD243C6}"/>
                  </a:ext>
                </a:extLst>
              </p:cNvPr>
              <p:cNvSpPr txBox="1"/>
              <p:nvPr/>
            </p:nvSpPr>
            <p:spPr>
              <a:xfrm>
                <a:off x="4255796" y="2440416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7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9AA98E5-3F6D-4478-A430-D16AAD9A057E}"/>
                  </a:ext>
                </a:extLst>
              </p:cNvPr>
              <p:cNvSpPr txBox="1"/>
              <p:nvPr/>
            </p:nvSpPr>
            <p:spPr>
              <a:xfrm>
                <a:off x="4592246" y="2441424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8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F039154-AF3B-49FA-B32F-15946B348501}"/>
                  </a:ext>
                </a:extLst>
              </p:cNvPr>
              <p:cNvSpPr txBox="1"/>
              <p:nvPr/>
            </p:nvSpPr>
            <p:spPr>
              <a:xfrm>
                <a:off x="4927308" y="2440417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 dirty="0">
                    <a:solidFill>
                      <a:srgbClr val="FF0000"/>
                    </a:solidFill>
                  </a:rPr>
                  <a:t>2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EBB0347-5A26-4B64-A7CC-1F0462FE598D}"/>
                  </a:ext>
                </a:extLst>
              </p:cNvPr>
              <p:cNvSpPr txBox="1"/>
              <p:nvPr/>
            </p:nvSpPr>
            <p:spPr>
              <a:xfrm>
                <a:off x="5263758" y="2441425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6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505DB26-A1C0-4148-8A7E-B598313D77CE}"/>
                  </a:ext>
                </a:extLst>
              </p:cNvPr>
              <p:cNvSpPr txBox="1"/>
              <p:nvPr/>
            </p:nvSpPr>
            <p:spPr>
              <a:xfrm>
                <a:off x="5598832" y="2440415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4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ECCC3F4-12F5-4F83-BD0F-3EA958C79AB9}"/>
                  </a:ext>
                </a:extLst>
              </p:cNvPr>
              <p:cNvSpPr txBox="1"/>
              <p:nvPr/>
            </p:nvSpPr>
            <p:spPr>
              <a:xfrm>
                <a:off x="5935282" y="2441423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5</a:t>
                </a:r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7A4B36B4-15BF-4E9A-92C5-85A8B7BCA15A}"/>
                </a:ext>
              </a:extLst>
            </p:cNvPr>
            <p:cNvGrpSpPr/>
            <p:nvPr/>
          </p:nvGrpSpPr>
          <p:grpSpPr>
            <a:xfrm>
              <a:off x="2913766" y="2853208"/>
              <a:ext cx="3357425" cy="308789"/>
              <a:chOff x="2912757" y="2440415"/>
              <a:chExt cx="3357425" cy="308789"/>
            </a:xfrm>
          </p:grpSpPr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346D493-140C-42F9-AFC6-9E36DCB7E11C}"/>
                  </a:ext>
                </a:extLst>
              </p:cNvPr>
              <p:cNvSpPr txBox="1"/>
              <p:nvPr/>
            </p:nvSpPr>
            <p:spPr>
              <a:xfrm>
                <a:off x="2912757" y="2440419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 dirty="0">
                    <a:solidFill>
                      <a:srgbClr val="FF0000"/>
                    </a:solidFill>
                  </a:rPr>
                  <a:t>1</a:t>
                </a: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49996BB-5B5E-43C1-A0AC-80A3C1F74EC1}"/>
                  </a:ext>
                </a:extLst>
              </p:cNvPr>
              <p:cNvSpPr txBox="1"/>
              <p:nvPr/>
            </p:nvSpPr>
            <p:spPr>
              <a:xfrm>
                <a:off x="3249207" y="2441427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B83DADD-6EA9-4B37-B2B5-65EC19429A86}"/>
                  </a:ext>
                </a:extLst>
              </p:cNvPr>
              <p:cNvSpPr txBox="1"/>
              <p:nvPr/>
            </p:nvSpPr>
            <p:spPr>
              <a:xfrm>
                <a:off x="3584272" y="2440418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4F10BD34-6027-47E3-80CF-EFE72F5B5666}"/>
                  </a:ext>
                </a:extLst>
              </p:cNvPr>
              <p:cNvSpPr txBox="1"/>
              <p:nvPr/>
            </p:nvSpPr>
            <p:spPr>
              <a:xfrm>
                <a:off x="3920722" y="2441426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151646B-9F0F-4CBF-AB97-0836BE6809DD}"/>
                  </a:ext>
                </a:extLst>
              </p:cNvPr>
              <p:cNvSpPr txBox="1"/>
              <p:nvPr/>
            </p:nvSpPr>
            <p:spPr>
              <a:xfrm>
                <a:off x="4255796" y="2440416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72D6D2A-6230-4160-9971-EEC462A120CC}"/>
                  </a:ext>
                </a:extLst>
              </p:cNvPr>
              <p:cNvSpPr txBox="1"/>
              <p:nvPr/>
            </p:nvSpPr>
            <p:spPr>
              <a:xfrm>
                <a:off x="4592246" y="2441424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330F282F-C3B3-45F7-8BF5-A0436D3D7B07}"/>
                  </a:ext>
                </a:extLst>
              </p:cNvPr>
              <p:cNvSpPr txBox="1"/>
              <p:nvPr/>
            </p:nvSpPr>
            <p:spPr>
              <a:xfrm>
                <a:off x="4927308" y="2440417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47AACC2-17E9-4321-9678-530C1B077C24}"/>
                  </a:ext>
                </a:extLst>
              </p:cNvPr>
              <p:cNvSpPr txBox="1"/>
              <p:nvPr/>
            </p:nvSpPr>
            <p:spPr>
              <a:xfrm>
                <a:off x="5263758" y="2441425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BB5A43C5-5100-451E-BB92-203E83A9EA5C}"/>
                  </a:ext>
                </a:extLst>
              </p:cNvPr>
              <p:cNvSpPr txBox="1"/>
              <p:nvPr/>
            </p:nvSpPr>
            <p:spPr>
              <a:xfrm>
                <a:off x="5598832" y="2440415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8DA07D8-A1F4-4FCC-9AC5-A0F08910C0D8}"/>
                  </a:ext>
                </a:extLst>
              </p:cNvPr>
              <p:cNvSpPr txBox="1"/>
              <p:nvPr/>
            </p:nvSpPr>
            <p:spPr>
              <a:xfrm>
                <a:off x="5935282" y="2441423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endParaRPr lang="en-US" sz="1400" dirty="0"/>
              </a:p>
            </p:txBody>
          </p:sp>
        </p:grp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64BA061C-8B51-4A27-ACD9-3BCEDE0BD010}"/>
              </a:ext>
            </a:extLst>
          </p:cNvPr>
          <p:cNvGrpSpPr/>
          <p:nvPr/>
        </p:nvGrpSpPr>
        <p:grpSpPr>
          <a:xfrm>
            <a:off x="2380871" y="3616212"/>
            <a:ext cx="4644668" cy="770030"/>
            <a:chOff x="2912757" y="2391967"/>
            <a:chExt cx="3358434" cy="770030"/>
          </a:xfrm>
        </p:grpSpPr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BB3ED1F7-13D3-468D-8503-4E476B09E4DA}"/>
                </a:ext>
              </a:extLst>
            </p:cNvPr>
            <p:cNvGrpSpPr/>
            <p:nvPr/>
          </p:nvGrpSpPr>
          <p:grpSpPr>
            <a:xfrm>
              <a:off x="2912757" y="2391967"/>
              <a:ext cx="3357425" cy="308789"/>
              <a:chOff x="2912757" y="2440415"/>
              <a:chExt cx="3357425" cy="308789"/>
            </a:xfrm>
          </p:grpSpPr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94ED12C9-1354-4931-86C9-FDC004F424D2}"/>
                  </a:ext>
                </a:extLst>
              </p:cNvPr>
              <p:cNvSpPr txBox="1"/>
              <p:nvPr/>
            </p:nvSpPr>
            <p:spPr>
              <a:xfrm>
                <a:off x="2912757" y="2440419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9</a:t>
                </a:r>
              </a:p>
            </p:txBody>
          </p:sp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03FE5208-2275-461C-B2E1-BBB6E5873E14}"/>
                  </a:ext>
                </a:extLst>
              </p:cNvPr>
              <p:cNvSpPr txBox="1"/>
              <p:nvPr/>
            </p:nvSpPr>
            <p:spPr>
              <a:xfrm>
                <a:off x="3249207" y="2441427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10</a:t>
                </a:r>
              </a:p>
            </p:txBody>
          </p: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6D17361F-F328-4CE5-8896-18D8FA8274A0}"/>
                  </a:ext>
                </a:extLst>
              </p:cNvPr>
              <p:cNvSpPr txBox="1"/>
              <p:nvPr/>
            </p:nvSpPr>
            <p:spPr>
              <a:xfrm>
                <a:off x="3584272" y="2440415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3</a:t>
                </a:r>
              </a:p>
            </p:txBody>
          </p:sp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C3B75A9B-C4E5-4E74-A5AE-3EF8DA8A54BC}"/>
                  </a:ext>
                </a:extLst>
              </p:cNvPr>
              <p:cNvSpPr txBox="1"/>
              <p:nvPr/>
            </p:nvSpPr>
            <p:spPr>
              <a:xfrm>
                <a:off x="3920722" y="2441426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endParaRPr lang="en-US" sz="1400" b="1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BFC515F8-133A-4B3B-B2A6-1FBB1145CFDC}"/>
                  </a:ext>
                </a:extLst>
              </p:cNvPr>
              <p:cNvSpPr txBox="1"/>
              <p:nvPr/>
            </p:nvSpPr>
            <p:spPr>
              <a:xfrm>
                <a:off x="4255796" y="2440416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7</a:t>
                </a:r>
              </a:p>
            </p:txBody>
          </p:sp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004F2063-2068-49AF-984C-CB6C24930188}"/>
                  </a:ext>
                </a:extLst>
              </p:cNvPr>
              <p:cNvSpPr txBox="1"/>
              <p:nvPr/>
            </p:nvSpPr>
            <p:spPr>
              <a:xfrm>
                <a:off x="4592246" y="2441424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8</a:t>
                </a:r>
              </a:p>
            </p:txBody>
          </p:sp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CA4DCA04-E29C-49E1-8391-DC9822EA68E7}"/>
                  </a:ext>
                </a:extLst>
              </p:cNvPr>
              <p:cNvSpPr txBox="1"/>
              <p:nvPr/>
            </p:nvSpPr>
            <p:spPr>
              <a:xfrm>
                <a:off x="4927308" y="2440417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CDA71BEA-6348-46B1-B6A6-EEE9F3617453}"/>
                  </a:ext>
                </a:extLst>
              </p:cNvPr>
              <p:cNvSpPr txBox="1"/>
              <p:nvPr/>
            </p:nvSpPr>
            <p:spPr>
              <a:xfrm>
                <a:off x="5263758" y="2441425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6</a:t>
                </a:r>
              </a:p>
            </p:txBody>
          </p:sp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919CDBD0-1300-482A-BA67-2D48C98F6F9D}"/>
                  </a:ext>
                </a:extLst>
              </p:cNvPr>
              <p:cNvSpPr txBox="1"/>
              <p:nvPr/>
            </p:nvSpPr>
            <p:spPr>
              <a:xfrm>
                <a:off x="5598832" y="2440415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4</a:t>
                </a:r>
              </a:p>
            </p:txBody>
          </p:sp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7D1694BF-5E4D-4FCF-B1BE-CBEE664C44AB}"/>
                  </a:ext>
                </a:extLst>
              </p:cNvPr>
              <p:cNvSpPr txBox="1"/>
              <p:nvPr/>
            </p:nvSpPr>
            <p:spPr>
              <a:xfrm>
                <a:off x="5935282" y="2441423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5</a:t>
                </a:r>
              </a:p>
            </p:txBody>
          </p:sp>
        </p:grp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334B4608-697C-44F8-B333-643D70768DE2}"/>
                </a:ext>
              </a:extLst>
            </p:cNvPr>
            <p:cNvGrpSpPr/>
            <p:nvPr/>
          </p:nvGrpSpPr>
          <p:grpSpPr>
            <a:xfrm>
              <a:off x="2913766" y="2853208"/>
              <a:ext cx="3357425" cy="308789"/>
              <a:chOff x="2912757" y="2440415"/>
              <a:chExt cx="3357425" cy="308789"/>
            </a:xfrm>
          </p:grpSpPr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1DCD2967-BBC1-4DDB-873E-54E58983BED6}"/>
                  </a:ext>
                </a:extLst>
              </p:cNvPr>
              <p:cNvSpPr txBox="1"/>
              <p:nvPr/>
            </p:nvSpPr>
            <p:spPr>
              <a:xfrm>
                <a:off x="2912757" y="2440419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 dirty="0">
                    <a:solidFill>
                      <a:srgbClr val="FF0000"/>
                    </a:solidFill>
                  </a:rPr>
                  <a:t>1</a:t>
                </a:r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F715ECE3-A601-4FAB-B78C-A909299C4CF6}"/>
                  </a:ext>
                </a:extLst>
              </p:cNvPr>
              <p:cNvSpPr txBox="1"/>
              <p:nvPr/>
            </p:nvSpPr>
            <p:spPr>
              <a:xfrm>
                <a:off x="3249207" y="2441427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 dirty="0">
                    <a:solidFill>
                      <a:srgbClr val="FF0000"/>
                    </a:solidFill>
                  </a:rPr>
                  <a:t>2</a:t>
                </a:r>
              </a:p>
            </p:txBody>
          </p: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1FFCAC22-1C86-49C9-A31E-5BE7C53BF6FC}"/>
                  </a:ext>
                </a:extLst>
              </p:cNvPr>
              <p:cNvSpPr txBox="1"/>
              <p:nvPr/>
            </p:nvSpPr>
            <p:spPr>
              <a:xfrm>
                <a:off x="3584272" y="2440418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9795490E-400E-4E58-9048-E3757BCE938E}"/>
                  </a:ext>
                </a:extLst>
              </p:cNvPr>
              <p:cNvSpPr txBox="1"/>
              <p:nvPr/>
            </p:nvSpPr>
            <p:spPr>
              <a:xfrm>
                <a:off x="3920722" y="2441426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5F80381E-283E-418D-97F2-DE744B9EE9A3}"/>
                  </a:ext>
                </a:extLst>
              </p:cNvPr>
              <p:cNvSpPr txBox="1"/>
              <p:nvPr/>
            </p:nvSpPr>
            <p:spPr>
              <a:xfrm>
                <a:off x="4255796" y="2440416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80377850-AEBB-4BD2-AC21-0B772D72D4A5}"/>
                  </a:ext>
                </a:extLst>
              </p:cNvPr>
              <p:cNvSpPr txBox="1"/>
              <p:nvPr/>
            </p:nvSpPr>
            <p:spPr>
              <a:xfrm>
                <a:off x="4592246" y="2441424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B721F332-178B-49BB-871C-D7FE006991B5}"/>
                  </a:ext>
                </a:extLst>
              </p:cNvPr>
              <p:cNvSpPr txBox="1"/>
              <p:nvPr/>
            </p:nvSpPr>
            <p:spPr>
              <a:xfrm>
                <a:off x="4927308" y="2440417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3B481D87-B121-46EB-92CC-8884396B0974}"/>
                  </a:ext>
                </a:extLst>
              </p:cNvPr>
              <p:cNvSpPr txBox="1"/>
              <p:nvPr/>
            </p:nvSpPr>
            <p:spPr>
              <a:xfrm>
                <a:off x="5263758" y="2441425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750A91BC-09AF-4D43-BCB3-59627F98968C}"/>
                  </a:ext>
                </a:extLst>
              </p:cNvPr>
              <p:cNvSpPr txBox="1"/>
              <p:nvPr/>
            </p:nvSpPr>
            <p:spPr>
              <a:xfrm>
                <a:off x="5598832" y="2440415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EB14F249-6983-4E8F-A98C-49C9157274C8}"/>
                  </a:ext>
                </a:extLst>
              </p:cNvPr>
              <p:cNvSpPr txBox="1"/>
              <p:nvPr/>
            </p:nvSpPr>
            <p:spPr>
              <a:xfrm>
                <a:off x="5935282" y="2441423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endParaRPr lang="en-US" sz="1400" dirty="0"/>
              </a:p>
            </p:txBody>
          </p:sp>
        </p:grp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ECD76577-3B93-461A-87BC-3183E4726813}"/>
              </a:ext>
            </a:extLst>
          </p:cNvPr>
          <p:cNvGrpSpPr/>
          <p:nvPr/>
        </p:nvGrpSpPr>
        <p:grpSpPr>
          <a:xfrm>
            <a:off x="2381880" y="4858628"/>
            <a:ext cx="4644668" cy="770030"/>
            <a:chOff x="2912757" y="2391967"/>
            <a:chExt cx="3358434" cy="770030"/>
          </a:xfrm>
        </p:grpSpPr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EFC09229-382B-4270-9815-D0D923438E12}"/>
                </a:ext>
              </a:extLst>
            </p:cNvPr>
            <p:cNvGrpSpPr/>
            <p:nvPr/>
          </p:nvGrpSpPr>
          <p:grpSpPr>
            <a:xfrm>
              <a:off x="2912757" y="2391967"/>
              <a:ext cx="3357425" cy="308789"/>
              <a:chOff x="2912757" y="2440415"/>
              <a:chExt cx="3357425" cy="308789"/>
            </a:xfrm>
          </p:grpSpPr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F7110B78-0072-497D-83D4-3171463CC861}"/>
                  </a:ext>
                </a:extLst>
              </p:cNvPr>
              <p:cNvSpPr txBox="1"/>
              <p:nvPr/>
            </p:nvSpPr>
            <p:spPr>
              <a:xfrm>
                <a:off x="2912757" y="2440419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9</a:t>
                </a:r>
              </a:p>
            </p:txBody>
          </p:sp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BF22DDF6-C892-4F7F-A79F-CCC30DFD4389}"/>
                  </a:ext>
                </a:extLst>
              </p:cNvPr>
              <p:cNvSpPr txBox="1"/>
              <p:nvPr/>
            </p:nvSpPr>
            <p:spPr>
              <a:xfrm>
                <a:off x="3249207" y="2441427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10</a:t>
                </a:r>
              </a:p>
            </p:txBody>
          </p:sp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C2691B90-DC19-45F3-9442-670E94BDF438}"/>
                  </a:ext>
                </a:extLst>
              </p:cNvPr>
              <p:cNvSpPr txBox="1"/>
              <p:nvPr/>
            </p:nvSpPr>
            <p:spPr>
              <a:xfrm>
                <a:off x="3584272" y="2440415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C5F94270-B1B1-48FA-8913-B445CB4D0CEF}"/>
                  </a:ext>
                </a:extLst>
              </p:cNvPr>
              <p:cNvSpPr txBox="1"/>
              <p:nvPr/>
            </p:nvSpPr>
            <p:spPr>
              <a:xfrm>
                <a:off x="3920722" y="2441426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endParaRPr lang="en-US" sz="1400" b="1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50CA5B8A-B410-436F-99CA-80576D7573AF}"/>
                  </a:ext>
                </a:extLst>
              </p:cNvPr>
              <p:cNvSpPr txBox="1"/>
              <p:nvPr/>
            </p:nvSpPr>
            <p:spPr>
              <a:xfrm>
                <a:off x="4255796" y="2440416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7</a:t>
                </a:r>
              </a:p>
            </p:txBody>
          </p:sp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7F24AEBF-CBEC-49B7-93F3-9CE86925057C}"/>
                  </a:ext>
                </a:extLst>
              </p:cNvPr>
              <p:cNvSpPr txBox="1"/>
              <p:nvPr/>
            </p:nvSpPr>
            <p:spPr>
              <a:xfrm>
                <a:off x="4592246" y="2441424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8</a:t>
                </a:r>
              </a:p>
            </p:txBody>
          </p:sp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7360B4DA-104F-4F2A-B099-6C2E2532CF1C}"/>
                  </a:ext>
                </a:extLst>
              </p:cNvPr>
              <p:cNvSpPr txBox="1"/>
              <p:nvPr/>
            </p:nvSpPr>
            <p:spPr>
              <a:xfrm>
                <a:off x="4927308" y="2440417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2</a:t>
                </a:r>
              </a:p>
            </p:txBody>
          </p:sp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D050C3C6-0301-4222-AD7C-6B8BE99BC25C}"/>
                  </a:ext>
                </a:extLst>
              </p:cNvPr>
              <p:cNvSpPr txBox="1"/>
              <p:nvPr/>
            </p:nvSpPr>
            <p:spPr>
              <a:xfrm>
                <a:off x="5263758" y="2441425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6</a:t>
                </a:r>
              </a:p>
            </p:txBody>
          </p:sp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3776D397-5138-4EB5-8657-EB59330BBD8B}"/>
                  </a:ext>
                </a:extLst>
              </p:cNvPr>
              <p:cNvSpPr txBox="1"/>
              <p:nvPr/>
            </p:nvSpPr>
            <p:spPr>
              <a:xfrm>
                <a:off x="5598832" y="2440415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4</a:t>
                </a:r>
              </a:p>
            </p:txBody>
          </p:sp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9C43FBFF-E493-43E6-B920-82983FC31408}"/>
                  </a:ext>
                </a:extLst>
              </p:cNvPr>
              <p:cNvSpPr txBox="1"/>
              <p:nvPr/>
            </p:nvSpPr>
            <p:spPr>
              <a:xfrm>
                <a:off x="5935282" y="2441423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5</a:t>
                </a:r>
              </a:p>
            </p:txBody>
          </p:sp>
        </p:grpSp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B3C68D09-57E3-46FD-A49D-EDA24B9C00AA}"/>
                </a:ext>
              </a:extLst>
            </p:cNvPr>
            <p:cNvGrpSpPr/>
            <p:nvPr/>
          </p:nvGrpSpPr>
          <p:grpSpPr>
            <a:xfrm>
              <a:off x="2913766" y="2853208"/>
              <a:ext cx="3357425" cy="308789"/>
              <a:chOff x="2912757" y="2440415"/>
              <a:chExt cx="3357425" cy="308789"/>
            </a:xfrm>
          </p:grpSpPr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D33FE613-67CE-4A3B-AC73-96E91E7C39BF}"/>
                  </a:ext>
                </a:extLst>
              </p:cNvPr>
              <p:cNvSpPr txBox="1"/>
              <p:nvPr/>
            </p:nvSpPr>
            <p:spPr>
              <a:xfrm>
                <a:off x="2912757" y="2440419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 dirty="0">
                    <a:solidFill>
                      <a:srgbClr val="FF0000"/>
                    </a:solidFill>
                  </a:rPr>
                  <a:t>1</a:t>
                </a:r>
              </a:p>
            </p:txBody>
          </p:sp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27BBA433-295D-4F5D-BDB5-367848193D76}"/>
                  </a:ext>
                </a:extLst>
              </p:cNvPr>
              <p:cNvSpPr txBox="1"/>
              <p:nvPr/>
            </p:nvSpPr>
            <p:spPr>
              <a:xfrm>
                <a:off x="3249207" y="2441427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 dirty="0">
                    <a:solidFill>
                      <a:srgbClr val="FF0000"/>
                    </a:solidFill>
                  </a:rPr>
                  <a:t>2</a:t>
                </a:r>
              </a:p>
            </p:txBody>
          </p:sp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D2F2EFF7-B76F-4910-A413-8775D2376FCC}"/>
                  </a:ext>
                </a:extLst>
              </p:cNvPr>
              <p:cNvSpPr txBox="1"/>
              <p:nvPr/>
            </p:nvSpPr>
            <p:spPr>
              <a:xfrm>
                <a:off x="3584272" y="2440418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 dirty="0">
                    <a:solidFill>
                      <a:srgbClr val="FF0000"/>
                    </a:solidFill>
                  </a:rPr>
                  <a:t>3</a:t>
                </a:r>
              </a:p>
            </p:txBody>
          </p:sp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A5120F47-4CC5-447B-B2D6-AC78DCCD6E99}"/>
                  </a:ext>
                </a:extLst>
              </p:cNvPr>
              <p:cNvSpPr txBox="1"/>
              <p:nvPr/>
            </p:nvSpPr>
            <p:spPr>
              <a:xfrm>
                <a:off x="3920722" y="2441426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A82BC176-C35D-4904-B1F9-075507774C67}"/>
                  </a:ext>
                </a:extLst>
              </p:cNvPr>
              <p:cNvSpPr txBox="1"/>
              <p:nvPr/>
            </p:nvSpPr>
            <p:spPr>
              <a:xfrm>
                <a:off x="4255796" y="2440416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D31B2FC6-D68C-46A0-A029-4EE64A416B34}"/>
                  </a:ext>
                </a:extLst>
              </p:cNvPr>
              <p:cNvSpPr txBox="1"/>
              <p:nvPr/>
            </p:nvSpPr>
            <p:spPr>
              <a:xfrm>
                <a:off x="4592246" y="2441424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C4F86503-6AC3-4647-ACF3-AC5684B06249}"/>
                  </a:ext>
                </a:extLst>
              </p:cNvPr>
              <p:cNvSpPr txBox="1"/>
              <p:nvPr/>
            </p:nvSpPr>
            <p:spPr>
              <a:xfrm>
                <a:off x="4927308" y="2440417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1D8FD2DE-D703-4695-A754-82D3497C24BA}"/>
                  </a:ext>
                </a:extLst>
              </p:cNvPr>
              <p:cNvSpPr txBox="1"/>
              <p:nvPr/>
            </p:nvSpPr>
            <p:spPr>
              <a:xfrm>
                <a:off x="5263758" y="2441425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ACD04B70-C41E-4F33-9E96-BF348CC266D5}"/>
                  </a:ext>
                </a:extLst>
              </p:cNvPr>
              <p:cNvSpPr txBox="1"/>
              <p:nvPr/>
            </p:nvSpPr>
            <p:spPr>
              <a:xfrm>
                <a:off x="5598832" y="2440415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7597DA1B-29B3-40D7-A97B-294F2298DB78}"/>
                  </a:ext>
                </a:extLst>
              </p:cNvPr>
              <p:cNvSpPr txBox="1"/>
              <p:nvPr/>
            </p:nvSpPr>
            <p:spPr>
              <a:xfrm>
                <a:off x="5935282" y="2441423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endParaRPr lang="en-US" sz="1400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3263114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Selection Sort Example (</a:t>
            </a:r>
            <a:r>
              <a:rPr lang="en-US" altLang="en-US" dirty="0" err="1"/>
              <a:t>cont</a:t>
            </a:r>
            <a:r>
              <a:rPr lang="en-US" altLang="en-US" dirty="0"/>
              <a:t>)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981200"/>
            <a:ext cx="7772400" cy="4114800"/>
          </a:xfrm>
        </p:spPr>
        <p:txBody>
          <a:bodyPr/>
          <a:lstStyle/>
          <a:p>
            <a:pPr marL="533400" indent="-533400" eaLnBrk="1" hangingPunct="1">
              <a:lnSpc>
                <a:spcPct val="90000"/>
              </a:lnSpc>
              <a:defRPr/>
            </a:pPr>
            <a:r>
              <a:rPr lang="en-US" altLang="en-US" sz="2400" dirty="0"/>
              <a:t>Step 4:</a:t>
            </a:r>
          </a:p>
          <a:p>
            <a:pPr marL="533400" indent="-533400" eaLnBrk="1" hangingPunct="1">
              <a:lnSpc>
                <a:spcPct val="90000"/>
              </a:lnSpc>
              <a:defRPr/>
            </a:pPr>
            <a:endParaRPr lang="en-US" altLang="en-US" sz="2400" dirty="0"/>
          </a:p>
          <a:p>
            <a:pPr marL="533400" indent="-533400" eaLnBrk="1" hangingPunct="1">
              <a:lnSpc>
                <a:spcPct val="90000"/>
              </a:lnSpc>
              <a:defRPr/>
            </a:pPr>
            <a:endParaRPr lang="en-US" altLang="en-US" sz="2400" dirty="0"/>
          </a:p>
          <a:p>
            <a:pPr marL="533400" indent="-533400" eaLnBrk="1" hangingPunct="1">
              <a:lnSpc>
                <a:spcPct val="90000"/>
              </a:lnSpc>
              <a:defRPr/>
            </a:pPr>
            <a:r>
              <a:rPr lang="en-US" altLang="en-US" sz="2400" dirty="0"/>
              <a:t>Step 5:</a:t>
            </a:r>
          </a:p>
          <a:p>
            <a:pPr marL="533400" indent="-533400" eaLnBrk="1" hangingPunct="1">
              <a:lnSpc>
                <a:spcPct val="90000"/>
              </a:lnSpc>
              <a:defRPr/>
            </a:pPr>
            <a:endParaRPr lang="en-US" altLang="en-US" sz="2400" dirty="0"/>
          </a:p>
          <a:p>
            <a:pPr marL="533400" indent="-533400" eaLnBrk="1" hangingPunct="1">
              <a:lnSpc>
                <a:spcPct val="90000"/>
              </a:lnSpc>
              <a:defRPr/>
            </a:pPr>
            <a:endParaRPr lang="en-US" altLang="en-US" sz="2400" dirty="0"/>
          </a:p>
          <a:p>
            <a:pPr marL="533400" indent="-533400" eaLnBrk="1" hangingPunct="1">
              <a:lnSpc>
                <a:spcPct val="90000"/>
              </a:lnSpc>
              <a:defRPr/>
            </a:pPr>
            <a:r>
              <a:rPr lang="en-US" altLang="en-US" sz="2400" dirty="0"/>
              <a:t>Step 6: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6A67CE0-F0E5-41A8-A405-D295D96172D8}" type="datetime1">
              <a:rPr lang="en-US" smtClean="0"/>
              <a:t>7/15/2021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Copyright (c) John K. </a:t>
            </a:r>
            <a:r>
              <a:rPr lang="en-US" dirty="0" err="1"/>
              <a:t>Ostlund</a:t>
            </a:r>
            <a:endParaRPr lang="en-US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4F9D01F-585B-4F34-BAD2-609251D762C2}"/>
              </a:ext>
            </a:extLst>
          </p:cNvPr>
          <p:cNvGrpSpPr/>
          <p:nvPr/>
        </p:nvGrpSpPr>
        <p:grpSpPr>
          <a:xfrm>
            <a:off x="2379863" y="2385911"/>
            <a:ext cx="4644668" cy="770030"/>
            <a:chOff x="2912757" y="2391967"/>
            <a:chExt cx="3358434" cy="770030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927ABE92-D7D0-4EA7-8AB4-16402F58517E}"/>
                </a:ext>
              </a:extLst>
            </p:cNvPr>
            <p:cNvGrpSpPr/>
            <p:nvPr/>
          </p:nvGrpSpPr>
          <p:grpSpPr>
            <a:xfrm>
              <a:off x="2912757" y="2391967"/>
              <a:ext cx="3357425" cy="308789"/>
              <a:chOff x="2912757" y="2440415"/>
              <a:chExt cx="3357425" cy="308789"/>
            </a:xfrm>
          </p:grpSpPr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012C025-6765-4B09-8FC6-A3813759BE47}"/>
                  </a:ext>
                </a:extLst>
              </p:cNvPr>
              <p:cNvSpPr txBox="1"/>
              <p:nvPr/>
            </p:nvSpPr>
            <p:spPr>
              <a:xfrm>
                <a:off x="2912757" y="2440419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9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27A6C65-330F-4C72-B7E9-B091EF6E2DC1}"/>
                  </a:ext>
                </a:extLst>
              </p:cNvPr>
              <p:cNvSpPr txBox="1"/>
              <p:nvPr/>
            </p:nvSpPr>
            <p:spPr>
              <a:xfrm>
                <a:off x="3249207" y="2441427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10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C159A07-5786-49A5-8639-441BFE6A7CE3}"/>
                  </a:ext>
                </a:extLst>
              </p:cNvPr>
              <p:cNvSpPr txBox="1"/>
              <p:nvPr/>
            </p:nvSpPr>
            <p:spPr>
              <a:xfrm>
                <a:off x="3584272" y="2440415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70A787E-94F8-41D3-A63A-38ED22CC1714}"/>
                  </a:ext>
                </a:extLst>
              </p:cNvPr>
              <p:cNvSpPr txBox="1"/>
              <p:nvPr/>
            </p:nvSpPr>
            <p:spPr>
              <a:xfrm>
                <a:off x="3920722" y="2441426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41C9C38-5568-46A1-A3B9-19587FD243C6}"/>
                  </a:ext>
                </a:extLst>
              </p:cNvPr>
              <p:cNvSpPr txBox="1"/>
              <p:nvPr/>
            </p:nvSpPr>
            <p:spPr>
              <a:xfrm>
                <a:off x="4255796" y="2440416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7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9AA98E5-3F6D-4478-A430-D16AAD9A057E}"/>
                  </a:ext>
                </a:extLst>
              </p:cNvPr>
              <p:cNvSpPr txBox="1"/>
              <p:nvPr/>
            </p:nvSpPr>
            <p:spPr>
              <a:xfrm>
                <a:off x="4592246" y="2441424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8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F039154-AF3B-49FA-B32F-15946B348501}"/>
                  </a:ext>
                </a:extLst>
              </p:cNvPr>
              <p:cNvSpPr txBox="1"/>
              <p:nvPr/>
            </p:nvSpPr>
            <p:spPr>
              <a:xfrm>
                <a:off x="4927308" y="2440417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endParaRPr lang="en-US" sz="1400" b="1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EBB0347-5A26-4B64-A7CC-1F0462FE598D}"/>
                  </a:ext>
                </a:extLst>
              </p:cNvPr>
              <p:cNvSpPr txBox="1"/>
              <p:nvPr/>
            </p:nvSpPr>
            <p:spPr>
              <a:xfrm>
                <a:off x="5263758" y="2441425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6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505DB26-A1C0-4148-8A7E-B598313D77CE}"/>
                  </a:ext>
                </a:extLst>
              </p:cNvPr>
              <p:cNvSpPr txBox="1"/>
              <p:nvPr/>
            </p:nvSpPr>
            <p:spPr>
              <a:xfrm>
                <a:off x="5598832" y="2440415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ECCC3F4-12F5-4F83-BD0F-3EA958C79AB9}"/>
                  </a:ext>
                </a:extLst>
              </p:cNvPr>
              <p:cNvSpPr txBox="1"/>
              <p:nvPr/>
            </p:nvSpPr>
            <p:spPr>
              <a:xfrm>
                <a:off x="5935282" y="2441423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5</a:t>
                </a:r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7A4B36B4-15BF-4E9A-92C5-85A8B7BCA15A}"/>
                </a:ext>
              </a:extLst>
            </p:cNvPr>
            <p:cNvGrpSpPr/>
            <p:nvPr/>
          </p:nvGrpSpPr>
          <p:grpSpPr>
            <a:xfrm>
              <a:off x="2913766" y="2853208"/>
              <a:ext cx="3357425" cy="308789"/>
              <a:chOff x="2912757" y="2440415"/>
              <a:chExt cx="3357425" cy="308789"/>
            </a:xfrm>
          </p:grpSpPr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346D493-140C-42F9-AFC6-9E36DCB7E11C}"/>
                  </a:ext>
                </a:extLst>
              </p:cNvPr>
              <p:cNvSpPr txBox="1"/>
              <p:nvPr/>
            </p:nvSpPr>
            <p:spPr>
              <a:xfrm>
                <a:off x="2912757" y="2440419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 dirty="0">
                    <a:solidFill>
                      <a:srgbClr val="FF0000"/>
                    </a:solidFill>
                  </a:rPr>
                  <a:t>1</a:t>
                </a: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49996BB-5B5E-43C1-A0AC-80A3C1F74EC1}"/>
                  </a:ext>
                </a:extLst>
              </p:cNvPr>
              <p:cNvSpPr txBox="1"/>
              <p:nvPr/>
            </p:nvSpPr>
            <p:spPr>
              <a:xfrm>
                <a:off x="3249207" y="2441427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 dirty="0">
                    <a:solidFill>
                      <a:srgbClr val="FF0000"/>
                    </a:solidFill>
                  </a:rPr>
                  <a:t>2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B83DADD-6EA9-4B37-B2B5-65EC19429A86}"/>
                  </a:ext>
                </a:extLst>
              </p:cNvPr>
              <p:cNvSpPr txBox="1"/>
              <p:nvPr/>
            </p:nvSpPr>
            <p:spPr>
              <a:xfrm>
                <a:off x="3584272" y="2440418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 dirty="0">
                    <a:solidFill>
                      <a:srgbClr val="FF0000"/>
                    </a:solidFill>
                  </a:rPr>
                  <a:t>3</a:t>
                </a: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4F10BD34-6027-47E3-80CF-EFE72F5B5666}"/>
                  </a:ext>
                </a:extLst>
              </p:cNvPr>
              <p:cNvSpPr txBox="1"/>
              <p:nvPr/>
            </p:nvSpPr>
            <p:spPr>
              <a:xfrm>
                <a:off x="3920722" y="2441426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 dirty="0">
                    <a:solidFill>
                      <a:srgbClr val="FF0000"/>
                    </a:solidFill>
                  </a:rPr>
                  <a:t>4</a:t>
                </a: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151646B-9F0F-4CBF-AB97-0836BE6809DD}"/>
                  </a:ext>
                </a:extLst>
              </p:cNvPr>
              <p:cNvSpPr txBox="1"/>
              <p:nvPr/>
            </p:nvSpPr>
            <p:spPr>
              <a:xfrm>
                <a:off x="4255796" y="2440416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72D6D2A-6230-4160-9971-EEC462A120CC}"/>
                  </a:ext>
                </a:extLst>
              </p:cNvPr>
              <p:cNvSpPr txBox="1"/>
              <p:nvPr/>
            </p:nvSpPr>
            <p:spPr>
              <a:xfrm>
                <a:off x="4592246" y="2441424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330F282F-C3B3-45F7-8BF5-A0436D3D7B07}"/>
                  </a:ext>
                </a:extLst>
              </p:cNvPr>
              <p:cNvSpPr txBox="1"/>
              <p:nvPr/>
            </p:nvSpPr>
            <p:spPr>
              <a:xfrm>
                <a:off x="4927308" y="2440417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47AACC2-17E9-4321-9678-530C1B077C24}"/>
                  </a:ext>
                </a:extLst>
              </p:cNvPr>
              <p:cNvSpPr txBox="1"/>
              <p:nvPr/>
            </p:nvSpPr>
            <p:spPr>
              <a:xfrm>
                <a:off x="5263758" y="2441425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BB5A43C5-5100-451E-BB92-203E83A9EA5C}"/>
                  </a:ext>
                </a:extLst>
              </p:cNvPr>
              <p:cNvSpPr txBox="1"/>
              <p:nvPr/>
            </p:nvSpPr>
            <p:spPr>
              <a:xfrm>
                <a:off x="5598832" y="2440415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8DA07D8-A1F4-4FCC-9AC5-A0F08910C0D8}"/>
                  </a:ext>
                </a:extLst>
              </p:cNvPr>
              <p:cNvSpPr txBox="1"/>
              <p:nvPr/>
            </p:nvSpPr>
            <p:spPr>
              <a:xfrm>
                <a:off x="5935282" y="2441423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endParaRPr lang="en-US" sz="1400" dirty="0"/>
              </a:p>
            </p:txBody>
          </p:sp>
        </p:grp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64BA061C-8B51-4A27-ACD9-3BCEDE0BD010}"/>
              </a:ext>
            </a:extLst>
          </p:cNvPr>
          <p:cNvGrpSpPr/>
          <p:nvPr/>
        </p:nvGrpSpPr>
        <p:grpSpPr>
          <a:xfrm>
            <a:off x="2380871" y="3616212"/>
            <a:ext cx="4644668" cy="770030"/>
            <a:chOff x="2912757" y="2391967"/>
            <a:chExt cx="3358434" cy="770030"/>
          </a:xfrm>
        </p:grpSpPr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BB3ED1F7-13D3-468D-8503-4E476B09E4DA}"/>
                </a:ext>
              </a:extLst>
            </p:cNvPr>
            <p:cNvGrpSpPr/>
            <p:nvPr/>
          </p:nvGrpSpPr>
          <p:grpSpPr>
            <a:xfrm>
              <a:off x="2912757" y="2391967"/>
              <a:ext cx="3357425" cy="308789"/>
              <a:chOff x="2912757" y="2440415"/>
              <a:chExt cx="3357425" cy="308789"/>
            </a:xfrm>
          </p:grpSpPr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94ED12C9-1354-4931-86C9-FDC004F424D2}"/>
                  </a:ext>
                </a:extLst>
              </p:cNvPr>
              <p:cNvSpPr txBox="1"/>
              <p:nvPr/>
            </p:nvSpPr>
            <p:spPr>
              <a:xfrm>
                <a:off x="2912757" y="2440419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9</a:t>
                </a:r>
              </a:p>
            </p:txBody>
          </p:sp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03FE5208-2275-461C-B2E1-BBB6E5873E14}"/>
                  </a:ext>
                </a:extLst>
              </p:cNvPr>
              <p:cNvSpPr txBox="1"/>
              <p:nvPr/>
            </p:nvSpPr>
            <p:spPr>
              <a:xfrm>
                <a:off x="3249207" y="2441427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10</a:t>
                </a:r>
              </a:p>
            </p:txBody>
          </p: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6D17361F-F328-4CE5-8896-18D8FA8274A0}"/>
                  </a:ext>
                </a:extLst>
              </p:cNvPr>
              <p:cNvSpPr txBox="1"/>
              <p:nvPr/>
            </p:nvSpPr>
            <p:spPr>
              <a:xfrm>
                <a:off x="3584272" y="2440415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C3B75A9B-C4E5-4E74-A5AE-3EF8DA8A54BC}"/>
                  </a:ext>
                </a:extLst>
              </p:cNvPr>
              <p:cNvSpPr txBox="1"/>
              <p:nvPr/>
            </p:nvSpPr>
            <p:spPr>
              <a:xfrm>
                <a:off x="3920722" y="2441426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endParaRPr lang="en-US" sz="1400" b="1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BFC515F8-133A-4B3B-B2A6-1FBB1145CFDC}"/>
                  </a:ext>
                </a:extLst>
              </p:cNvPr>
              <p:cNvSpPr txBox="1"/>
              <p:nvPr/>
            </p:nvSpPr>
            <p:spPr>
              <a:xfrm>
                <a:off x="4255796" y="2440416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7</a:t>
                </a:r>
              </a:p>
            </p:txBody>
          </p:sp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004F2063-2068-49AF-984C-CB6C24930188}"/>
                  </a:ext>
                </a:extLst>
              </p:cNvPr>
              <p:cNvSpPr txBox="1"/>
              <p:nvPr/>
            </p:nvSpPr>
            <p:spPr>
              <a:xfrm>
                <a:off x="4592246" y="2441424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8</a:t>
                </a:r>
              </a:p>
            </p:txBody>
          </p:sp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CA4DCA04-E29C-49E1-8391-DC9822EA68E7}"/>
                  </a:ext>
                </a:extLst>
              </p:cNvPr>
              <p:cNvSpPr txBox="1"/>
              <p:nvPr/>
            </p:nvSpPr>
            <p:spPr>
              <a:xfrm>
                <a:off x="4927308" y="2440417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CDA71BEA-6348-46B1-B6A6-EEE9F3617453}"/>
                  </a:ext>
                </a:extLst>
              </p:cNvPr>
              <p:cNvSpPr txBox="1"/>
              <p:nvPr/>
            </p:nvSpPr>
            <p:spPr>
              <a:xfrm>
                <a:off x="5263758" y="2441425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6</a:t>
                </a:r>
              </a:p>
            </p:txBody>
          </p:sp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919CDBD0-1300-482A-BA67-2D48C98F6F9D}"/>
                  </a:ext>
                </a:extLst>
              </p:cNvPr>
              <p:cNvSpPr txBox="1"/>
              <p:nvPr/>
            </p:nvSpPr>
            <p:spPr>
              <a:xfrm>
                <a:off x="5598832" y="2440415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7D1694BF-5E4D-4FCF-B1BE-CBEE664C44AB}"/>
                  </a:ext>
                </a:extLst>
              </p:cNvPr>
              <p:cNvSpPr txBox="1"/>
              <p:nvPr/>
            </p:nvSpPr>
            <p:spPr>
              <a:xfrm>
                <a:off x="5935282" y="2441423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endParaRPr lang="en-US" sz="1400" dirty="0"/>
              </a:p>
            </p:txBody>
          </p:sp>
        </p:grp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334B4608-697C-44F8-B333-643D70768DE2}"/>
                </a:ext>
              </a:extLst>
            </p:cNvPr>
            <p:cNvGrpSpPr/>
            <p:nvPr/>
          </p:nvGrpSpPr>
          <p:grpSpPr>
            <a:xfrm>
              <a:off x="2913766" y="2853208"/>
              <a:ext cx="3357425" cy="308789"/>
              <a:chOff x="2912757" y="2440415"/>
              <a:chExt cx="3357425" cy="308789"/>
            </a:xfrm>
          </p:grpSpPr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1DCD2967-BBC1-4DDB-873E-54E58983BED6}"/>
                  </a:ext>
                </a:extLst>
              </p:cNvPr>
              <p:cNvSpPr txBox="1"/>
              <p:nvPr/>
            </p:nvSpPr>
            <p:spPr>
              <a:xfrm>
                <a:off x="2912757" y="2440419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 dirty="0">
                    <a:solidFill>
                      <a:srgbClr val="FF0000"/>
                    </a:solidFill>
                  </a:rPr>
                  <a:t>1</a:t>
                </a:r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F715ECE3-A601-4FAB-B78C-A909299C4CF6}"/>
                  </a:ext>
                </a:extLst>
              </p:cNvPr>
              <p:cNvSpPr txBox="1"/>
              <p:nvPr/>
            </p:nvSpPr>
            <p:spPr>
              <a:xfrm>
                <a:off x="3249207" y="2441427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 dirty="0">
                    <a:solidFill>
                      <a:srgbClr val="FF0000"/>
                    </a:solidFill>
                  </a:rPr>
                  <a:t>2</a:t>
                </a:r>
              </a:p>
            </p:txBody>
          </p: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1FFCAC22-1C86-49C9-A31E-5BE7C53BF6FC}"/>
                  </a:ext>
                </a:extLst>
              </p:cNvPr>
              <p:cNvSpPr txBox="1"/>
              <p:nvPr/>
            </p:nvSpPr>
            <p:spPr>
              <a:xfrm>
                <a:off x="3584272" y="2440418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 dirty="0">
                    <a:solidFill>
                      <a:srgbClr val="FF0000"/>
                    </a:solidFill>
                  </a:rPr>
                  <a:t>3</a:t>
                </a:r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9795490E-400E-4E58-9048-E3757BCE938E}"/>
                  </a:ext>
                </a:extLst>
              </p:cNvPr>
              <p:cNvSpPr txBox="1"/>
              <p:nvPr/>
            </p:nvSpPr>
            <p:spPr>
              <a:xfrm>
                <a:off x="3920722" y="2441426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 dirty="0">
                    <a:solidFill>
                      <a:srgbClr val="FF0000"/>
                    </a:solidFill>
                  </a:rPr>
                  <a:t>4</a:t>
                </a:r>
              </a:p>
            </p:txBody>
          </p: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5F80381E-283E-418D-97F2-DE744B9EE9A3}"/>
                  </a:ext>
                </a:extLst>
              </p:cNvPr>
              <p:cNvSpPr txBox="1"/>
              <p:nvPr/>
            </p:nvSpPr>
            <p:spPr>
              <a:xfrm>
                <a:off x="4255796" y="2440416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 dirty="0">
                    <a:solidFill>
                      <a:srgbClr val="FF0000"/>
                    </a:solidFill>
                  </a:rPr>
                  <a:t>5</a:t>
                </a:r>
              </a:p>
            </p:txBody>
          </p: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80377850-AEBB-4BD2-AC21-0B772D72D4A5}"/>
                  </a:ext>
                </a:extLst>
              </p:cNvPr>
              <p:cNvSpPr txBox="1"/>
              <p:nvPr/>
            </p:nvSpPr>
            <p:spPr>
              <a:xfrm>
                <a:off x="4592246" y="2441424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B721F332-178B-49BB-871C-D7FE006991B5}"/>
                  </a:ext>
                </a:extLst>
              </p:cNvPr>
              <p:cNvSpPr txBox="1"/>
              <p:nvPr/>
            </p:nvSpPr>
            <p:spPr>
              <a:xfrm>
                <a:off x="4927308" y="2440417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3B481D87-B121-46EB-92CC-8884396B0974}"/>
                  </a:ext>
                </a:extLst>
              </p:cNvPr>
              <p:cNvSpPr txBox="1"/>
              <p:nvPr/>
            </p:nvSpPr>
            <p:spPr>
              <a:xfrm>
                <a:off x="5263758" y="2441425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750A91BC-09AF-4D43-BCB3-59627F98968C}"/>
                  </a:ext>
                </a:extLst>
              </p:cNvPr>
              <p:cNvSpPr txBox="1"/>
              <p:nvPr/>
            </p:nvSpPr>
            <p:spPr>
              <a:xfrm>
                <a:off x="5598832" y="2440415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EB14F249-6983-4E8F-A98C-49C9157274C8}"/>
                  </a:ext>
                </a:extLst>
              </p:cNvPr>
              <p:cNvSpPr txBox="1"/>
              <p:nvPr/>
            </p:nvSpPr>
            <p:spPr>
              <a:xfrm>
                <a:off x="5935282" y="2441423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endParaRPr lang="en-US" sz="1400" dirty="0"/>
              </a:p>
            </p:txBody>
          </p:sp>
        </p:grp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ECD76577-3B93-461A-87BC-3183E4726813}"/>
              </a:ext>
            </a:extLst>
          </p:cNvPr>
          <p:cNvGrpSpPr/>
          <p:nvPr/>
        </p:nvGrpSpPr>
        <p:grpSpPr>
          <a:xfrm>
            <a:off x="2381880" y="4858628"/>
            <a:ext cx="4644668" cy="770030"/>
            <a:chOff x="2912757" y="2391967"/>
            <a:chExt cx="3358434" cy="770030"/>
          </a:xfrm>
        </p:grpSpPr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EFC09229-382B-4270-9815-D0D923438E12}"/>
                </a:ext>
              </a:extLst>
            </p:cNvPr>
            <p:cNvGrpSpPr/>
            <p:nvPr/>
          </p:nvGrpSpPr>
          <p:grpSpPr>
            <a:xfrm>
              <a:off x="2912757" y="2391967"/>
              <a:ext cx="3357425" cy="308789"/>
              <a:chOff x="2912757" y="2440415"/>
              <a:chExt cx="3357425" cy="308789"/>
            </a:xfrm>
          </p:grpSpPr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F7110B78-0072-497D-83D4-3171463CC861}"/>
                  </a:ext>
                </a:extLst>
              </p:cNvPr>
              <p:cNvSpPr txBox="1"/>
              <p:nvPr/>
            </p:nvSpPr>
            <p:spPr>
              <a:xfrm>
                <a:off x="2912757" y="2440419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9</a:t>
                </a:r>
              </a:p>
            </p:txBody>
          </p:sp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BF22DDF6-C892-4F7F-A79F-CCC30DFD4389}"/>
                  </a:ext>
                </a:extLst>
              </p:cNvPr>
              <p:cNvSpPr txBox="1"/>
              <p:nvPr/>
            </p:nvSpPr>
            <p:spPr>
              <a:xfrm>
                <a:off x="3249207" y="2441427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10</a:t>
                </a:r>
              </a:p>
            </p:txBody>
          </p:sp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C2691B90-DC19-45F3-9442-670E94BDF438}"/>
                  </a:ext>
                </a:extLst>
              </p:cNvPr>
              <p:cNvSpPr txBox="1"/>
              <p:nvPr/>
            </p:nvSpPr>
            <p:spPr>
              <a:xfrm>
                <a:off x="3584272" y="2440415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C5F94270-B1B1-48FA-8913-B445CB4D0CEF}"/>
                  </a:ext>
                </a:extLst>
              </p:cNvPr>
              <p:cNvSpPr txBox="1"/>
              <p:nvPr/>
            </p:nvSpPr>
            <p:spPr>
              <a:xfrm>
                <a:off x="3920722" y="2441426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endParaRPr lang="en-US" sz="1400" b="1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50CA5B8A-B410-436F-99CA-80576D7573AF}"/>
                  </a:ext>
                </a:extLst>
              </p:cNvPr>
              <p:cNvSpPr txBox="1"/>
              <p:nvPr/>
            </p:nvSpPr>
            <p:spPr>
              <a:xfrm>
                <a:off x="4255796" y="2440416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7</a:t>
                </a:r>
              </a:p>
            </p:txBody>
          </p:sp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7F24AEBF-CBEC-49B7-93F3-9CE86925057C}"/>
                  </a:ext>
                </a:extLst>
              </p:cNvPr>
              <p:cNvSpPr txBox="1"/>
              <p:nvPr/>
            </p:nvSpPr>
            <p:spPr>
              <a:xfrm>
                <a:off x="4592246" y="2441424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8</a:t>
                </a:r>
              </a:p>
            </p:txBody>
          </p:sp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7360B4DA-104F-4F2A-B099-6C2E2532CF1C}"/>
                  </a:ext>
                </a:extLst>
              </p:cNvPr>
              <p:cNvSpPr txBox="1"/>
              <p:nvPr/>
            </p:nvSpPr>
            <p:spPr>
              <a:xfrm>
                <a:off x="4927308" y="2440417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D050C3C6-0301-4222-AD7C-6B8BE99BC25C}"/>
                  </a:ext>
                </a:extLst>
              </p:cNvPr>
              <p:cNvSpPr txBox="1"/>
              <p:nvPr/>
            </p:nvSpPr>
            <p:spPr>
              <a:xfrm>
                <a:off x="5263758" y="2441425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3776D397-5138-4EB5-8657-EB59330BBD8B}"/>
                  </a:ext>
                </a:extLst>
              </p:cNvPr>
              <p:cNvSpPr txBox="1"/>
              <p:nvPr/>
            </p:nvSpPr>
            <p:spPr>
              <a:xfrm>
                <a:off x="5598832" y="2440415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9C43FBFF-E493-43E6-B920-82983FC31408}"/>
                  </a:ext>
                </a:extLst>
              </p:cNvPr>
              <p:cNvSpPr txBox="1"/>
              <p:nvPr/>
            </p:nvSpPr>
            <p:spPr>
              <a:xfrm>
                <a:off x="5935282" y="2441423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endParaRPr lang="en-US" sz="1400" dirty="0"/>
              </a:p>
            </p:txBody>
          </p:sp>
        </p:grpSp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B3C68D09-57E3-46FD-A49D-EDA24B9C00AA}"/>
                </a:ext>
              </a:extLst>
            </p:cNvPr>
            <p:cNvGrpSpPr/>
            <p:nvPr/>
          </p:nvGrpSpPr>
          <p:grpSpPr>
            <a:xfrm>
              <a:off x="2913766" y="2853208"/>
              <a:ext cx="3357425" cy="308789"/>
              <a:chOff x="2912757" y="2440415"/>
              <a:chExt cx="3357425" cy="308789"/>
            </a:xfrm>
          </p:grpSpPr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D33FE613-67CE-4A3B-AC73-96E91E7C39BF}"/>
                  </a:ext>
                </a:extLst>
              </p:cNvPr>
              <p:cNvSpPr txBox="1"/>
              <p:nvPr/>
            </p:nvSpPr>
            <p:spPr>
              <a:xfrm>
                <a:off x="2912757" y="2440419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 dirty="0">
                    <a:solidFill>
                      <a:srgbClr val="FF0000"/>
                    </a:solidFill>
                  </a:rPr>
                  <a:t>1</a:t>
                </a:r>
              </a:p>
            </p:txBody>
          </p:sp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27BBA433-295D-4F5D-BDB5-367848193D76}"/>
                  </a:ext>
                </a:extLst>
              </p:cNvPr>
              <p:cNvSpPr txBox="1"/>
              <p:nvPr/>
            </p:nvSpPr>
            <p:spPr>
              <a:xfrm>
                <a:off x="3249207" y="2441427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 dirty="0">
                    <a:solidFill>
                      <a:srgbClr val="FF0000"/>
                    </a:solidFill>
                  </a:rPr>
                  <a:t>2</a:t>
                </a:r>
              </a:p>
            </p:txBody>
          </p:sp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D2F2EFF7-B76F-4910-A413-8775D2376FCC}"/>
                  </a:ext>
                </a:extLst>
              </p:cNvPr>
              <p:cNvSpPr txBox="1"/>
              <p:nvPr/>
            </p:nvSpPr>
            <p:spPr>
              <a:xfrm>
                <a:off x="3584272" y="2440418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 dirty="0">
                    <a:solidFill>
                      <a:srgbClr val="FF0000"/>
                    </a:solidFill>
                  </a:rPr>
                  <a:t>3</a:t>
                </a:r>
              </a:p>
            </p:txBody>
          </p:sp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A5120F47-4CC5-447B-B2D6-AC78DCCD6E99}"/>
                  </a:ext>
                </a:extLst>
              </p:cNvPr>
              <p:cNvSpPr txBox="1"/>
              <p:nvPr/>
            </p:nvSpPr>
            <p:spPr>
              <a:xfrm>
                <a:off x="3920722" y="2441426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 dirty="0">
                    <a:solidFill>
                      <a:srgbClr val="FF0000"/>
                    </a:solidFill>
                  </a:rPr>
                  <a:t>4</a:t>
                </a:r>
              </a:p>
            </p:txBody>
          </p:sp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A82BC176-C35D-4904-B1F9-075507774C67}"/>
                  </a:ext>
                </a:extLst>
              </p:cNvPr>
              <p:cNvSpPr txBox="1"/>
              <p:nvPr/>
            </p:nvSpPr>
            <p:spPr>
              <a:xfrm>
                <a:off x="4255796" y="2440416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 dirty="0">
                    <a:solidFill>
                      <a:srgbClr val="FF0000"/>
                    </a:solidFill>
                  </a:rPr>
                  <a:t>5</a:t>
                </a:r>
              </a:p>
            </p:txBody>
          </p:sp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D31B2FC6-D68C-46A0-A029-4EE64A416B34}"/>
                  </a:ext>
                </a:extLst>
              </p:cNvPr>
              <p:cNvSpPr txBox="1"/>
              <p:nvPr/>
            </p:nvSpPr>
            <p:spPr>
              <a:xfrm>
                <a:off x="4592246" y="2441424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 dirty="0">
                    <a:solidFill>
                      <a:srgbClr val="FF0000"/>
                    </a:solidFill>
                  </a:rPr>
                  <a:t>6</a:t>
                </a:r>
              </a:p>
            </p:txBody>
          </p:sp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C4F86503-6AC3-4647-ACF3-AC5684B06249}"/>
                  </a:ext>
                </a:extLst>
              </p:cNvPr>
              <p:cNvSpPr txBox="1"/>
              <p:nvPr/>
            </p:nvSpPr>
            <p:spPr>
              <a:xfrm>
                <a:off x="4927308" y="2440417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1D8FD2DE-D703-4695-A754-82D3497C24BA}"/>
                  </a:ext>
                </a:extLst>
              </p:cNvPr>
              <p:cNvSpPr txBox="1"/>
              <p:nvPr/>
            </p:nvSpPr>
            <p:spPr>
              <a:xfrm>
                <a:off x="5263758" y="2441425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ACD04B70-C41E-4F33-9E96-BF348CC266D5}"/>
                  </a:ext>
                </a:extLst>
              </p:cNvPr>
              <p:cNvSpPr txBox="1"/>
              <p:nvPr/>
            </p:nvSpPr>
            <p:spPr>
              <a:xfrm>
                <a:off x="5598832" y="2440415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7597DA1B-29B3-40D7-A97B-294F2298DB78}"/>
                  </a:ext>
                </a:extLst>
              </p:cNvPr>
              <p:cNvSpPr txBox="1"/>
              <p:nvPr/>
            </p:nvSpPr>
            <p:spPr>
              <a:xfrm>
                <a:off x="5935282" y="2441423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endParaRPr lang="en-US" sz="1400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86360645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Selection Sort Example (</a:t>
            </a:r>
            <a:r>
              <a:rPr lang="en-US" altLang="en-US" dirty="0" err="1"/>
              <a:t>cont</a:t>
            </a:r>
            <a:r>
              <a:rPr lang="en-US" altLang="en-US" dirty="0"/>
              <a:t>)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981200"/>
            <a:ext cx="7772400" cy="4114800"/>
          </a:xfrm>
        </p:spPr>
        <p:txBody>
          <a:bodyPr/>
          <a:lstStyle/>
          <a:p>
            <a:pPr marL="533400" indent="-533400" eaLnBrk="1" hangingPunct="1">
              <a:lnSpc>
                <a:spcPct val="90000"/>
              </a:lnSpc>
              <a:defRPr/>
            </a:pPr>
            <a:r>
              <a:rPr lang="en-US" altLang="en-US" sz="2400" dirty="0"/>
              <a:t>Step 10a:</a:t>
            </a:r>
          </a:p>
          <a:p>
            <a:pPr marL="533400" indent="-533400" eaLnBrk="1" hangingPunct="1">
              <a:lnSpc>
                <a:spcPct val="90000"/>
              </a:lnSpc>
              <a:defRPr/>
            </a:pPr>
            <a:endParaRPr lang="en-US" altLang="en-US" sz="2400" dirty="0"/>
          </a:p>
          <a:p>
            <a:pPr marL="533400" indent="-533400" eaLnBrk="1" hangingPunct="1">
              <a:lnSpc>
                <a:spcPct val="90000"/>
              </a:lnSpc>
              <a:defRPr/>
            </a:pPr>
            <a:endParaRPr lang="en-US" altLang="en-US" sz="2400" dirty="0"/>
          </a:p>
          <a:p>
            <a:pPr marL="533400" indent="-533400" eaLnBrk="1" hangingPunct="1">
              <a:lnSpc>
                <a:spcPct val="90000"/>
              </a:lnSpc>
              <a:defRPr/>
            </a:pPr>
            <a:r>
              <a:rPr lang="en-US" altLang="en-US" sz="2400" dirty="0"/>
              <a:t>Step 10b:</a:t>
            </a:r>
          </a:p>
          <a:p>
            <a:pPr marL="533400" indent="-533400" eaLnBrk="1" hangingPunct="1">
              <a:lnSpc>
                <a:spcPct val="90000"/>
              </a:lnSpc>
              <a:defRPr/>
            </a:pPr>
            <a:endParaRPr lang="en-US" altLang="en-US" sz="2400" dirty="0"/>
          </a:p>
          <a:p>
            <a:pPr marL="533400" indent="-533400" eaLnBrk="1" hangingPunct="1">
              <a:lnSpc>
                <a:spcPct val="90000"/>
              </a:lnSpc>
              <a:defRPr/>
            </a:pPr>
            <a:endParaRPr lang="en-US" altLang="en-US" sz="2400" dirty="0"/>
          </a:p>
          <a:p>
            <a:pPr marL="533400" indent="-533400" eaLnBrk="1" hangingPunct="1">
              <a:lnSpc>
                <a:spcPct val="90000"/>
              </a:lnSpc>
              <a:defRPr/>
            </a:pPr>
            <a:r>
              <a:rPr lang="en-US" altLang="en-US" sz="2400" i="1" dirty="0"/>
              <a:t>Notice that once a volume is placed in its sorted position, it does not move</a:t>
            </a:r>
          </a:p>
          <a:p>
            <a:pPr marL="933450" lvl="1" indent="-533400" eaLnBrk="1" hangingPunct="1">
              <a:lnSpc>
                <a:spcPct val="90000"/>
              </a:lnSpc>
              <a:defRPr/>
            </a:pPr>
            <a:endParaRPr lang="en-US" altLang="en-US" sz="20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33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6A67CE0-F0E5-41A8-A405-D295D96172D8}" type="datetime1">
              <a:rPr lang="en-US" smtClean="0"/>
              <a:t>7/15/2021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Copyright (c) John K. </a:t>
            </a:r>
            <a:r>
              <a:rPr lang="en-US" dirty="0" err="1"/>
              <a:t>Ostlund</a:t>
            </a:r>
            <a:endParaRPr lang="en-US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4F9D01F-585B-4F34-BAD2-609251D762C2}"/>
              </a:ext>
            </a:extLst>
          </p:cNvPr>
          <p:cNvGrpSpPr/>
          <p:nvPr/>
        </p:nvGrpSpPr>
        <p:grpSpPr>
          <a:xfrm>
            <a:off x="2379863" y="2385911"/>
            <a:ext cx="4644668" cy="770030"/>
            <a:chOff x="2912757" y="2391967"/>
            <a:chExt cx="3358434" cy="770030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927ABE92-D7D0-4EA7-8AB4-16402F58517E}"/>
                </a:ext>
              </a:extLst>
            </p:cNvPr>
            <p:cNvGrpSpPr/>
            <p:nvPr/>
          </p:nvGrpSpPr>
          <p:grpSpPr>
            <a:xfrm>
              <a:off x="2912757" y="2391967"/>
              <a:ext cx="3357425" cy="308789"/>
              <a:chOff x="2912757" y="2440415"/>
              <a:chExt cx="3357425" cy="308789"/>
            </a:xfrm>
          </p:grpSpPr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012C025-6765-4B09-8FC6-A3813759BE47}"/>
                  </a:ext>
                </a:extLst>
              </p:cNvPr>
              <p:cNvSpPr txBox="1"/>
              <p:nvPr/>
            </p:nvSpPr>
            <p:spPr>
              <a:xfrm>
                <a:off x="2912757" y="2440419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27A6C65-330F-4C72-B7E9-B091EF6E2DC1}"/>
                  </a:ext>
                </a:extLst>
              </p:cNvPr>
              <p:cNvSpPr txBox="1"/>
              <p:nvPr/>
            </p:nvSpPr>
            <p:spPr>
              <a:xfrm>
                <a:off x="3249207" y="2441427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 dirty="0">
                    <a:solidFill>
                      <a:srgbClr val="FF0000"/>
                    </a:solidFill>
                  </a:rPr>
                  <a:t>10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C159A07-5786-49A5-8639-441BFE6A7CE3}"/>
                  </a:ext>
                </a:extLst>
              </p:cNvPr>
              <p:cNvSpPr txBox="1"/>
              <p:nvPr/>
            </p:nvSpPr>
            <p:spPr>
              <a:xfrm>
                <a:off x="3584272" y="2440415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70A787E-94F8-41D3-A63A-38ED22CC1714}"/>
                  </a:ext>
                </a:extLst>
              </p:cNvPr>
              <p:cNvSpPr txBox="1"/>
              <p:nvPr/>
            </p:nvSpPr>
            <p:spPr>
              <a:xfrm>
                <a:off x="3920722" y="2441426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41C9C38-5568-46A1-A3B9-19587FD243C6}"/>
                  </a:ext>
                </a:extLst>
              </p:cNvPr>
              <p:cNvSpPr txBox="1"/>
              <p:nvPr/>
            </p:nvSpPr>
            <p:spPr>
              <a:xfrm>
                <a:off x="4255796" y="2440416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9AA98E5-3F6D-4478-A430-D16AAD9A057E}"/>
                  </a:ext>
                </a:extLst>
              </p:cNvPr>
              <p:cNvSpPr txBox="1"/>
              <p:nvPr/>
            </p:nvSpPr>
            <p:spPr>
              <a:xfrm>
                <a:off x="4592246" y="2441424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F039154-AF3B-49FA-B32F-15946B348501}"/>
                  </a:ext>
                </a:extLst>
              </p:cNvPr>
              <p:cNvSpPr txBox="1"/>
              <p:nvPr/>
            </p:nvSpPr>
            <p:spPr>
              <a:xfrm>
                <a:off x="4927308" y="2440417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endParaRPr lang="en-US" sz="1400" b="1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EBB0347-5A26-4B64-A7CC-1F0462FE598D}"/>
                  </a:ext>
                </a:extLst>
              </p:cNvPr>
              <p:cNvSpPr txBox="1"/>
              <p:nvPr/>
            </p:nvSpPr>
            <p:spPr>
              <a:xfrm>
                <a:off x="5263758" y="2441425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505DB26-A1C0-4148-8A7E-B598313D77CE}"/>
                  </a:ext>
                </a:extLst>
              </p:cNvPr>
              <p:cNvSpPr txBox="1"/>
              <p:nvPr/>
            </p:nvSpPr>
            <p:spPr>
              <a:xfrm>
                <a:off x="5598832" y="2440415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ECCC3F4-12F5-4F83-BD0F-3EA958C79AB9}"/>
                  </a:ext>
                </a:extLst>
              </p:cNvPr>
              <p:cNvSpPr txBox="1"/>
              <p:nvPr/>
            </p:nvSpPr>
            <p:spPr>
              <a:xfrm>
                <a:off x="5935282" y="2441423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endParaRPr lang="en-US" sz="1400" dirty="0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7A4B36B4-15BF-4E9A-92C5-85A8B7BCA15A}"/>
                </a:ext>
              </a:extLst>
            </p:cNvPr>
            <p:cNvGrpSpPr/>
            <p:nvPr/>
          </p:nvGrpSpPr>
          <p:grpSpPr>
            <a:xfrm>
              <a:off x="2913766" y="2853208"/>
              <a:ext cx="3357425" cy="308789"/>
              <a:chOff x="2912757" y="2440415"/>
              <a:chExt cx="3357425" cy="308789"/>
            </a:xfrm>
          </p:grpSpPr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346D493-140C-42F9-AFC6-9E36DCB7E11C}"/>
                  </a:ext>
                </a:extLst>
              </p:cNvPr>
              <p:cNvSpPr txBox="1"/>
              <p:nvPr/>
            </p:nvSpPr>
            <p:spPr>
              <a:xfrm>
                <a:off x="2912757" y="2440419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 dirty="0">
                    <a:solidFill>
                      <a:srgbClr val="FF0000"/>
                    </a:solidFill>
                  </a:rPr>
                  <a:t>1</a:t>
                </a: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49996BB-5B5E-43C1-A0AC-80A3C1F74EC1}"/>
                  </a:ext>
                </a:extLst>
              </p:cNvPr>
              <p:cNvSpPr txBox="1"/>
              <p:nvPr/>
            </p:nvSpPr>
            <p:spPr>
              <a:xfrm>
                <a:off x="3249207" y="2441427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 dirty="0">
                    <a:solidFill>
                      <a:srgbClr val="FF0000"/>
                    </a:solidFill>
                  </a:rPr>
                  <a:t>2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B83DADD-6EA9-4B37-B2B5-65EC19429A86}"/>
                  </a:ext>
                </a:extLst>
              </p:cNvPr>
              <p:cNvSpPr txBox="1"/>
              <p:nvPr/>
            </p:nvSpPr>
            <p:spPr>
              <a:xfrm>
                <a:off x="3584272" y="2440418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 dirty="0">
                    <a:solidFill>
                      <a:srgbClr val="FF0000"/>
                    </a:solidFill>
                  </a:rPr>
                  <a:t>3</a:t>
                </a: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4F10BD34-6027-47E3-80CF-EFE72F5B5666}"/>
                  </a:ext>
                </a:extLst>
              </p:cNvPr>
              <p:cNvSpPr txBox="1"/>
              <p:nvPr/>
            </p:nvSpPr>
            <p:spPr>
              <a:xfrm>
                <a:off x="3920722" y="2441426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 dirty="0">
                    <a:solidFill>
                      <a:srgbClr val="FF0000"/>
                    </a:solidFill>
                  </a:rPr>
                  <a:t>4</a:t>
                </a: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151646B-9F0F-4CBF-AB97-0836BE6809DD}"/>
                  </a:ext>
                </a:extLst>
              </p:cNvPr>
              <p:cNvSpPr txBox="1"/>
              <p:nvPr/>
            </p:nvSpPr>
            <p:spPr>
              <a:xfrm>
                <a:off x="4255796" y="2440416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 dirty="0">
                    <a:solidFill>
                      <a:srgbClr val="FF0000"/>
                    </a:solidFill>
                  </a:rPr>
                  <a:t>5</a:t>
                </a: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72D6D2A-6230-4160-9971-EEC462A120CC}"/>
                  </a:ext>
                </a:extLst>
              </p:cNvPr>
              <p:cNvSpPr txBox="1"/>
              <p:nvPr/>
            </p:nvSpPr>
            <p:spPr>
              <a:xfrm>
                <a:off x="4592246" y="2441424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 dirty="0">
                    <a:solidFill>
                      <a:srgbClr val="FF0000"/>
                    </a:solidFill>
                  </a:rPr>
                  <a:t>6</a:t>
                </a: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330F282F-C3B3-45F7-8BF5-A0436D3D7B07}"/>
                  </a:ext>
                </a:extLst>
              </p:cNvPr>
              <p:cNvSpPr txBox="1"/>
              <p:nvPr/>
            </p:nvSpPr>
            <p:spPr>
              <a:xfrm>
                <a:off x="4927308" y="2440417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 dirty="0">
                    <a:solidFill>
                      <a:srgbClr val="FF0000"/>
                    </a:solidFill>
                  </a:rPr>
                  <a:t>7</a:t>
                </a: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47AACC2-17E9-4321-9678-530C1B077C24}"/>
                  </a:ext>
                </a:extLst>
              </p:cNvPr>
              <p:cNvSpPr txBox="1"/>
              <p:nvPr/>
            </p:nvSpPr>
            <p:spPr>
              <a:xfrm>
                <a:off x="5263758" y="2441425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 dirty="0">
                    <a:solidFill>
                      <a:srgbClr val="FF0000"/>
                    </a:solidFill>
                  </a:rPr>
                  <a:t>8</a:t>
                </a: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BB5A43C5-5100-451E-BB92-203E83A9EA5C}"/>
                  </a:ext>
                </a:extLst>
              </p:cNvPr>
              <p:cNvSpPr txBox="1"/>
              <p:nvPr/>
            </p:nvSpPr>
            <p:spPr>
              <a:xfrm>
                <a:off x="5598832" y="2440415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 dirty="0">
                    <a:solidFill>
                      <a:srgbClr val="FF0000"/>
                    </a:solidFill>
                  </a:rPr>
                  <a:t>9</a:t>
                </a: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8DA07D8-A1F4-4FCC-9AC5-A0F08910C0D8}"/>
                  </a:ext>
                </a:extLst>
              </p:cNvPr>
              <p:cNvSpPr txBox="1"/>
              <p:nvPr/>
            </p:nvSpPr>
            <p:spPr>
              <a:xfrm>
                <a:off x="5935282" y="2441423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endParaRPr lang="en-US" sz="1400" dirty="0"/>
              </a:p>
            </p:txBody>
          </p:sp>
        </p:grp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64BA061C-8B51-4A27-ACD9-3BCEDE0BD010}"/>
              </a:ext>
            </a:extLst>
          </p:cNvPr>
          <p:cNvGrpSpPr/>
          <p:nvPr/>
        </p:nvGrpSpPr>
        <p:grpSpPr>
          <a:xfrm>
            <a:off x="2380871" y="3616212"/>
            <a:ext cx="4644668" cy="770030"/>
            <a:chOff x="2912757" y="2391967"/>
            <a:chExt cx="3358434" cy="770030"/>
          </a:xfrm>
        </p:grpSpPr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BB3ED1F7-13D3-468D-8503-4E476B09E4DA}"/>
                </a:ext>
              </a:extLst>
            </p:cNvPr>
            <p:cNvGrpSpPr/>
            <p:nvPr/>
          </p:nvGrpSpPr>
          <p:grpSpPr>
            <a:xfrm>
              <a:off x="2912757" y="2391967"/>
              <a:ext cx="3357425" cy="308789"/>
              <a:chOff x="2912757" y="2440415"/>
              <a:chExt cx="3357425" cy="308789"/>
            </a:xfrm>
          </p:grpSpPr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94ED12C9-1354-4931-86C9-FDC004F424D2}"/>
                  </a:ext>
                </a:extLst>
              </p:cNvPr>
              <p:cNvSpPr txBox="1"/>
              <p:nvPr/>
            </p:nvSpPr>
            <p:spPr>
              <a:xfrm>
                <a:off x="2912757" y="2440419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endParaRPr lang="en-US" sz="1400" b="1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03FE5208-2275-461C-B2E1-BBB6E5873E14}"/>
                  </a:ext>
                </a:extLst>
              </p:cNvPr>
              <p:cNvSpPr txBox="1"/>
              <p:nvPr/>
            </p:nvSpPr>
            <p:spPr>
              <a:xfrm>
                <a:off x="3249207" y="2441427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endParaRPr lang="en-US" sz="1400" b="1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6D17361F-F328-4CE5-8896-18D8FA8274A0}"/>
                  </a:ext>
                </a:extLst>
              </p:cNvPr>
              <p:cNvSpPr txBox="1"/>
              <p:nvPr/>
            </p:nvSpPr>
            <p:spPr>
              <a:xfrm>
                <a:off x="3584272" y="2440415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endParaRPr lang="en-US" sz="1400" b="1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C3B75A9B-C4E5-4E74-A5AE-3EF8DA8A54BC}"/>
                  </a:ext>
                </a:extLst>
              </p:cNvPr>
              <p:cNvSpPr txBox="1"/>
              <p:nvPr/>
            </p:nvSpPr>
            <p:spPr>
              <a:xfrm>
                <a:off x="3920722" y="2441426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endParaRPr lang="en-US" sz="1400" b="1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BFC515F8-133A-4B3B-B2A6-1FBB1145CFDC}"/>
                  </a:ext>
                </a:extLst>
              </p:cNvPr>
              <p:cNvSpPr txBox="1"/>
              <p:nvPr/>
            </p:nvSpPr>
            <p:spPr>
              <a:xfrm>
                <a:off x="4255796" y="2440416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endParaRPr lang="en-US" sz="1400" b="1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004F2063-2068-49AF-984C-CB6C24930188}"/>
                  </a:ext>
                </a:extLst>
              </p:cNvPr>
              <p:cNvSpPr txBox="1"/>
              <p:nvPr/>
            </p:nvSpPr>
            <p:spPr>
              <a:xfrm>
                <a:off x="4592246" y="2441424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endParaRPr lang="en-US" sz="1400" b="1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CA4DCA04-E29C-49E1-8391-DC9822EA68E7}"/>
                  </a:ext>
                </a:extLst>
              </p:cNvPr>
              <p:cNvSpPr txBox="1"/>
              <p:nvPr/>
            </p:nvSpPr>
            <p:spPr>
              <a:xfrm>
                <a:off x="4927308" y="2440417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endParaRPr lang="en-US" sz="1400" b="1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CDA71BEA-6348-46B1-B6A6-EEE9F3617453}"/>
                  </a:ext>
                </a:extLst>
              </p:cNvPr>
              <p:cNvSpPr txBox="1"/>
              <p:nvPr/>
            </p:nvSpPr>
            <p:spPr>
              <a:xfrm>
                <a:off x="5263758" y="2441425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endParaRPr lang="en-US" sz="1400" b="1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919CDBD0-1300-482A-BA67-2D48C98F6F9D}"/>
                  </a:ext>
                </a:extLst>
              </p:cNvPr>
              <p:cNvSpPr txBox="1"/>
              <p:nvPr/>
            </p:nvSpPr>
            <p:spPr>
              <a:xfrm>
                <a:off x="5598832" y="2440415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endParaRPr lang="en-US" sz="1400" b="1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7D1694BF-5E4D-4FCF-B1BE-CBEE664C44AB}"/>
                  </a:ext>
                </a:extLst>
              </p:cNvPr>
              <p:cNvSpPr txBox="1"/>
              <p:nvPr/>
            </p:nvSpPr>
            <p:spPr>
              <a:xfrm>
                <a:off x="5935282" y="2441423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endParaRPr lang="en-US" sz="1400" b="1" dirty="0">
                  <a:solidFill>
                    <a:srgbClr val="FF0000"/>
                  </a:solidFill>
                </a:endParaRPr>
              </a:p>
            </p:txBody>
          </p:sp>
        </p:grp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334B4608-697C-44F8-B333-643D70768DE2}"/>
                </a:ext>
              </a:extLst>
            </p:cNvPr>
            <p:cNvGrpSpPr/>
            <p:nvPr/>
          </p:nvGrpSpPr>
          <p:grpSpPr>
            <a:xfrm>
              <a:off x="2913766" y="2853208"/>
              <a:ext cx="3357425" cy="308789"/>
              <a:chOff x="2912757" y="2440415"/>
              <a:chExt cx="3357425" cy="308789"/>
            </a:xfrm>
          </p:grpSpPr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1DCD2967-BBC1-4DDB-873E-54E58983BED6}"/>
                  </a:ext>
                </a:extLst>
              </p:cNvPr>
              <p:cNvSpPr txBox="1"/>
              <p:nvPr/>
            </p:nvSpPr>
            <p:spPr>
              <a:xfrm>
                <a:off x="2912757" y="2440419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 dirty="0">
                    <a:solidFill>
                      <a:srgbClr val="FF0000"/>
                    </a:solidFill>
                  </a:rPr>
                  <a:t>1</a:t>
                </a:r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F715ECE3-A601-4FAB-B78C-A909299C4CF6}"/>
                  </a:ext>
                </a:extLst>
              </p:cNvPr>
              <p:cNvSpPr txBox="1"/>
              <p:nvPr/>
            </p:nvSpPr>
            <p:spPr>
              <a:xfrm>
                <a:off x="3249207" y="2441427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 dirty="0">
                    <a:solidFill>
                      <a:srgbClr val="FF0000"/>
                    </a:solidFill>
                  </a:rPr>
                  <a:t>2</a:t>
                </a:r>
              </a:p>
            </p:txBody>
          </p: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1FFCAC22-1C86-49C9-A31E-5BE7C53BF6FC}"/>
                  </a:ext>
                </a:extLst>
              </p:cNvPr>
              <p:cNvSpPr txBox="1"/>
              <p:nvPr/>
            </p:nvSpPr>
            <p:spPr>
              <a:xfrm>
                <a:off x="3584272" y="2440418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 dirty="0">
                    <a:solidFill>
                      <a:srgbClr val="FF0000"/>
                    </a:solidFill>
                  </a:rPr>
                  <a:t>3</a:t>
                </a:r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9795490E-400E-4E58-9048-E3757BCE938E}"/>
                  </a:ext>
                </a:extLst>
              </p:cNvPr>
              <p:cNvSpPr txBox="1"/>
              <p:nvPr/>
            </p:nvSpPr>
            <p:spPr>
              <a:xfrm>
                <a:off x="3920722" y="2441426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 dirty="0">
                    <a:solidFill>
                      <a:srgbClr val="FF0000"/>
                    </a:solidFill>
                  </a:rPr>
                  <a:t>4</a:t>
                </a:r>
              </a:p>
            </p:txBody>
          </p: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5F80381E-283E-418D-97F2-DE744B9EE9A3}"/>
                  </a:ext>
                </a:extLst>
              </p:cNvPr>
              <p:cNvSpPr txBox="1"/>
              <p:nvPr/>
            </p:nvSpPr>
            <p:spPr>
              <a:xfrm>
                <a:off x="4255796" y="2440416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 dirty="0">
                    <a:solidFill>
                      <a:srgbClr val="FF0000"/>
                    </a:solidFill>
                  </a:rPr>
                  <a:t>5</a:t>
                </a:r>
              </a:p>
            </p:txBody>
          </p: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80377850-AEBB-4BD2-AC21-0B772D72D4A5}"/>
                  </a:ext>
                </a:extLst>
              </p:cNvPr>
              <p:cNvSpPr txBox="1"/>
              <p:nvPr/>
            </p:nvSpPr>
            <p:spPr>
              <a:xfrm>
                <a:off x="4592246" y="2441424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 dirty="0">
                    <a:solidFill>
                      <a:srgbClr val="FF0000"/>
                    </a:solidFill>
                  </a:rPr>
                  <a:t>6</a:t>
                </a:r>
              </a:p>
            </p:txBody>
          </p: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B721F332-178B-49BB-871C-D7FE006991B5}"/>
                  </a:ext>
                </a:extLst>
              </p:cNvPr>
              <p:cNvSpPr txBox="1"/>
              <p:nvPr/>
            </p:nvSpPr>
            <p:spPr>
              <a:xfrm>
                <a:off x="4927308" y="2440417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 dirty="0">
                    <a:solidFill>
                      <a:srgbClr val="FF0000"/>
                    </a:solidFill>
                  </a:rPr>
                  <a:t>7</a:t>
                </a:r>
              </a:p>
            </p:txBody>
          </p:sp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3B481D87-B121-46EB-92CC-8884396B0974}"/>
                  </a:ext>
                </a:extLst>
              </p:cNvPr>
              <p:cNvSpPr txBox="1"/>
              <p:nvPr/>
            </p:nvSpPr>
            <p:spPr>
              <a:xfrm>
                <a:off x="5263758" y="2441425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 dirty="0">
                    <a:solidFill>
                      <a:srgbClr val="FF0000"/>
                    </a:solidFill>
                  </a:rPr>
                  <a:t>8</a:t>
                </a:r>
              </a:p>
            </p:txBody>
          </p: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750A91BC-09AF-4D43-BCB3-59627F98968C}"/>
                  </a:ext>
                </a:extLst>
              </p:cNvPr>
              <p:cNvSpPr txBox="1"/>
              <p:nvPr/>
            </p:nvSpPr>
            <p:spPr>
              <a:xfrm>
                <a:off x="5598832" y="2440415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 dirty="0">
                    <a:solidFill>
                      <a:srgbClr val="FF0000"/>
                    </a:solidFill>
                  </a:rPr>
                  <a:t>9</a:t>
                </a:r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EB14F249-6983-4E8F-A98C-49C9157274C8}"/>
                  </a:ext>
                </a:extLst>
              </p:cNvPr>
              <p:cNvSpPr txBox="1"/>
              <p:nvPr/>
            </p:nvSpPr>
            <p:spPr>
              <a:xfrm>
                <a:off x="5935282" y="2441423"/>
                <a:ext cx="3349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 dirty="0">
                    <a:solidFill>
                      <a:srgbClr val="FF0000"/>
                    </a:solidFill>
                  </a:rPr>
                  <a:t>10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23036812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Selection Sort: In Place Algorithm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981200"/>
            <a:ext cx="7772400" cy="4114800"/>
          </a:xfrm>
        </p:spPr>
        <p:txBody>
          <a:bodyPr/>
          <a:lstStyle/>
          <a:p>
            <a:pPr marL="533400" indent="-533400" eaLnBrk="1" hangingPunct="1">
              <a:lnSpc>
                <a:spcPct val="90000"/>
              </a:lnSpc>
              <a:defRPr/>
            </a:pPr>
            <a:r>
              <a:rPr lang="en-US" altLang="en-US" sz="2400" dirty="0"/>
              <a:t>In your system, you may have many more than 10 values to sort</a:t>
            </a:r>
          </a:p>
          <a:p>
            <a:pPr marL="933450" lvl="1" indent="-533400" eaLnBrk="1" hangingPunct="1">
              <a:lnSpc>
                <a:spcPct val="90000"/>
              </a:lnSpc>
              <a:defRPr/>
            </a:pPr>
            <a:r>
              <a:rPr lang="en-US" altLang="en-US" sz="2000" dirty="0"/>
              <a:t>Ideally, you would like to do an </a:t>
            </a:r>
            <a:r>
              <a:rPr lang="en-US" altLang="en-US" sz="2000" i="1" dirty="0"/>
              <a:t>in place</a:t>
            </a:r>
            <a:r>
              <a:rPr lang="en-US" altLang="en-US" sz="2000" dirty="0"/>
              <a:t> sort</a:t>
            </a:r>
          </a:p>
          <a:p>
            <a:pPr marL="933450" lvl="1" indent="-533400" eaLnBrk="1" hangingPunct="1">
              <a:lnSpc>
                <a:spcPct val="90000"/>
              </a:lnSpc>
              <a:defRPr/>
            </a:pPr>
            <a:r>
              <a:rPr lang="en-US" altLang="en-US" sz="2000" dirty="0"/>
              <a:t>Avoid using a "second shelf" of memory</a:t>
            </a:r>
          </a:p>
          <a:p>
            <a:pPr marL="533400" indent="-533400" eaLnBrk="1" hangingPunct="1">
              <a:lnSpc>
                <a:spcPct val="90000"/>
              </a:lnSpc>
              <a:defRPr/>
            </a:pPr>
            <a:r>
              <a:rPr lang="en-US" altLang="en-US" sz="2400" b="1" dirty="0"/>
              <a:t>Sub-idea:</a:t>
            </a:r>
          </a:p>
          <a:p>
            <a:pPr marL="933450" lvl="1" indent="-533400" eaLnBrk="1" hangingPunct="1">
              <a:lnSpc>
                <a:spcPct val="90000"/>
              </a:lnSpc>
              <a:defRPr/>
            </a:pPr>
            <a:r>
              <a:rPr lang="en-US" altLang="en-US" sz="2000" dirty="0"/>
              <a:t>Swap the </a:t>
            </a:r>
            <a:r>
              <a:rPr lang="en-US" altLang="en-US" sz="2000" b="1" i="1" dirty="0"/>
              <a:t>selected</a:t>
            </a:r>
            <a:r>
              <a:rPr lang="en-US" altLang="en-US" sz="2000" dirty="0"/>
              <a:t> lowest value with whatever value is in that selected value's correct position</a:t>
            </a:r>
          </a:p>
          <a:p>
            <a:pPr marL="933450" lvl="1" indent="-533400" eaLnBrk="1" hangingPunct="1">
              <a:lnSpc>
                <a:spcPct val="90000"/>
              </a:lnSpc>
              <a:defRPr/>
            </a:pPr>
            <a:r>
              <a:rPr lang="en-US" altLang="en-US" sz="2000" dirty="0"/>
              <a:t>Repeat, to sort all </a:t>
            </a:r>
            <a:r>
              <a:rPr lang="en-US" altLang="en-US" sz="2000" b="1" dirty="0"/>
              <a:t>N</a:t>
            </a:r>
            <a:r>
              <a:rPr lang="en-US" altLang="en-US" sz="2000" dirty="0"/>
              <a:t> values</a:t>
            </a:r>
          </a:p>
          <a:p>
            <a:pPr marL="800100" lvl="2" indent="0" eaLnBrk="1" hangingPunct="1">
              <a:lnSpc>
                <a:spcPct val="90000"/>
              </a:lnSpc>
              <a:buNone/>
              <a:defRPr/>
            </a:pPr>
            <a:endParaRPr lang="en-US" altLang="en-US" sz="16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34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6A67CE0-F0E5-41A8-A405-D295D96172D8}" type="datetime1">
              <a:rPr lang="en-US" smtClean="0"/>
              <a:t>7/15/2021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Copyright (c) John K. </a:t>
            </a:r>
            <a:r>
              <a:rPr lang="en-US" dirty="0" err="1"/>
              <a:t>Ostlund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971310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Selection Sort In-Place Example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981200"/>
            <a:ext cx="7772400" cy="4114800"/>
          </a:xfrm>
        </p:spPr>
        <p:txBody>
          <a:bodyPr/>
          <a:lstStyle/>
          <a:p>
            <a:pPr marL="533400" indent="-533400" eaLnBrk="1" hangingPunct="1">
              <a:lnSpc>
                <a:spcPct val="90000"/>
              </a:lnSpc>
              <a:defRPr/>
            </a:pPr>
            <a:r>
              <a:rPr lang="en-US" altLang="en-US" sz="2400" dirty="0"/>
              <a:t>Starting array:</a:t>
            </a:r>
          </a:p>
          <a:p>
            <a:pPr marL="533400" indent="-533400" eaLnBrk="1" hangingPunct="1">
              <a:lnSpc>
                <a:spcPct val="90000"/>
              </a:lnSpc>
              <a:defRPr/>
            </a:pPr>
            <a:endParaRPr lang="en-US" altLang="en-US" sz="2400" dirty="0"/>
          </a:p>
          <a:p>
            <a:pPr marL="533400" indent="-533400" eaLnBrk="1" hangingPunct="1">
              <a:lnSpc>
                <a:spcPct val="90000"/>
              </a:lnSpc>
              <a:defRPr/>
            </a:pPr>
            <a:r>
              <a:rPr lang="en-US" altLang="en-US" sz="2400" dirty="0"/>
              <a:t>Step 1a: select the lowest remaining value</a:t>
            </a:r>
          </a:p>
          <a:p>
            <a:pPr marL="533400" indent="-533400" eaLnBrk="1" hangingPunct="1">
              <a:lnSpc>
                <a:spcPct val="90000"/>
              </a:lnSpc>
              <a:defRPr/>
            </a:pPr>
            <a:endParaRPr lang="en-US" altLang="en-US" sz="2400" dirty="0"/>
          </a:p>
          <a:p>
            <a:pPr marL="533400" indent="-533400" eaLnBrk="1" hangingPunct="1">
              <a:lnSpc>
                <a:spcPct val="90000"/>
              </a:lnSpc>
              <a:defRPr/>
            </a:pPr>
            <a:r>
              <a:rPr lang="en-US" altLang="en-US" sz="2400" dirty="0"/>
              <a:t>Step 1b: swap with value in the sub-0 slot</a:t>
            </a:r>
          </a:p>
          <a:p>
            <a:pPr marL="533400" indent="-533400" eaLnBrk="1" hangingPunct="1">
              <a:lnSpc>
                <a:spcPct val="90000"/>
              </a:lnSpc>
              <a:defRPr/>
            </a:pPr>
            <a:endParaRPr lang="en-US" altLang="en-US" sz="2400" dirty="0"/>
          </a:p>
          <a:p>
            <a:pPr marL="533400" indent="-533400" eaLnBrk="1" hangingPunct="1">
              <a:lnSpc>
                <a:spcPct val="90000"/>
              </a:lnSpc>
              <a:defRPr/>
            </a:pPr>
            <a:r>
              <a:rPr lang="en-US" altLang="en-US" sz="2400" dirty="0"/>
              <a:t>Step 2a: select the lowest remaining value</a:t>
            </a:r>
          </a:p>
          <a:p>
            <a:pPr marL="533400" indent="-533400" eaLnBrk="1" hangingPunct="1">
              <a:lnSpc>
                <a:spcPct val="90000"/>
              </a:lnSpc>
              <a:defRPr/>
            </a:pPr>
            <a:endParaRPr lang="en-US" altLang="en-US" sz="2400" dirty="0"/>
          </a:p>
          <a:p>
            <a:pPr marL="533400" indent="-533400" eaLnBrk="1" hangingPunct="1">
              <a:lnSpc>
                <a:spcPct val="90000"/>
              </a:lnSpc>
              <a:defRPr/>
            </a:pPr>
            <a:r>
              <a:rPr lang="en-US" altLang="en-US" sz="2400" dirty="0"/>
              <a:t>Step 2b: swap with value in the sub-1 slot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35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6A67CE0-F0E5-41A8-A405-D295D96172D8}" type="datetime1">
              <a:rPr lang="en-US" smtClean="0"/>
              <a:t>7/15/2021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Copyright (c) John K. </a:t>
            </a:r>
            <a:r>
              <a:rPr lang="en-US" dirty="0" err="1"/>
              <a:t>Ostlund</a:t>
            </a:r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27ABE92-D7D0-4EA7-8AB4-16402F58517E}"/>
              </a:ext>
            </a:extLst>
          </p:cNvPr>
          <p:cNvGrpSpPr/>
          <p:nvPr/>
        </p:nvGrpSpPr>
        <p:grpSpPr>
          <a:xfrm>
            <a:off x="2379863" y="2440411"/>
            <a:ext cx="4643273" cy="308789"/>
            <a:chOff x="2912757" y="2440415"/>
            <a:chExt cx="3357425" cy="308789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E012C025-6765-4B09-8FC6-A3813759BE47}"/>
                </a:ext>
              </a:extLst>
            </p:cNvPr>
            <p:cNvSpPr txBox="1"/>
            <p:nvPr/>
          </p:nvSpPr>
          <p:spPr>
            <a:xfrm>
              <a:off x="2912757" y="2440419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9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27A6C65-330F-4C72-B7E9-B091EF6E2DC1}"/>
                </a:ext>
              </a:extLst>
            </p:cNvPr>
            <p:cNvSpPr txBox="1"/>
            <p:nvPr/>
          </p:nvSpPr>
          <p:spPr>
            <a:xfrm>
              <a:off x="3249207" y="2441427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10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C159A07-5786-49A5-8639-441BFE6A7CE3}"/>
                </a:ext>
              </a:extLst>
            </p:cNvPr>
            <p:cNvSpPr txBox="1"/>
            <p:nvPr/>
          </p:nvSpPr>
          <p:spPr>
            <a:xfrm>
              <a:off x="3584272" y="2440415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3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70A787E-94F8-41D3-A63A-38ED22CC1714}"/>
                </a:ext>
              </a:extLst>
            </p:cNvPr>
            <p:cNvSpPr txBox="1"/>
            <p:nvPr/>
          </p:nvSpPr>
          <p:spPr>
            <a:xfrm>
              <a:off x="3920722" y="2441426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1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41C9C38-5568-46A1-A3B9-19587FD243C6}"/>
                </a:ext>
              </a:extLst>
            </p:cNvPr>
            <p:cNvSpPr txBox="1"/>
            <p:nvPr/>
          </p:nvSpPr>
          <p:spPr>
            <a:xfrm>
              <a:off x="4255796" y="2440416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7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9AA98E5-3F6D-4478-A430-D16AAD9A057E}"/>
                </a:ext>
              </a:extLst>
            </p:cNvPr>
            <p:cNvSpPr txBox="1"/>
            <p:nvPr/>
          </p:nvSpPr>
          <p:spPr>
            <a:xfrm>
              <a:off x="4592246" y="2441424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8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F039154-AF3B-49FA-B32F-15946B348501}"/>
                </a:ext>
              </a:extLst>
            </p:cNvPr>
            <p:cNvSpPr txBox="1"/>
            <p:nvPr/>
          </p:nvSpPr>
          <p:spPr>
            <a:xfrm>
              <a:off x="4927308" y="2440417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2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EBB0347-5A26-4B64-A7CC-1F0462FE598D}"/>
                </a:ext>
              </a:extLst>
            </p:cNvPr>
            <p:cNvSpPr txBox="1"/>
            <p:nvPr/>
          </p:nvSpPr>
          <p:spPr>
            <a:xfrm>
              <a:off x="5263758" y="2441425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6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505DB26-A1C0-4148-8A7E-B598313D77CE}"/>
                </a:ext>
              </a:extLst>
            </p:cNvPr>
            <p:cNvSpPr txBox="1"/>
            <p:nvPr/>
          </p:nvSpPr>
          <p:spPr>
            <a:xfrm>
              <a:off x="5598832" y="2440415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4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ECCC3F4-12F5-4F83-BD0F-3EA958C79AB9}"/>
                </a:ext>
              </a:extLst>
            </p:cNvPr>
            <p:cNvSpPr txBox="1"/>
            <p:nvPr/>
          </p:nvSpPr>
          <p:spPr>
            <a:xfrm>
              <a:off x="5935282" y="2441423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5</a:t>
              </a:r>
            </a:p>
          </p:txBody>
        </p:sp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41E22520-2D43-4647-A73E-99939B7E1EF9}"/>
              </a:ext>
            </a:extLst>
          </p:cNvPr>
          <p:cNvGrpSpPr/>
          <p:nvPr/>
        </p:nvGrpSpPr>
        <p:grpSpPr>
          <a:xfrm>
            <a:off x="2379863" y="3251862"/>
            <a:ext cx="4643273" cy="308789"/>
            <a:chOff x="2912757" y="2440415"/>
            <a:chExt cx="3357425" cy="308789"/>
          </a:xfrm>
        </p:grpSpPr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3284EC74-6A33-4921-AB7A-1C0EB4E67069}"/>
                </a:ext>
              </a:extLst>
            </p:cNvPr>
            <p:cNvSpPr txBox="1"/>
            <p:nvPr/>
          </p:nvSpPr>
          <p:spPr>
            <a:xfrm>
              <a:off x="2912757" y="2440419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9</a:t>
              </a: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F8DFFE87-8A6B-4598-8C54-3AE3F232C188}"/>
                </a:ext>
              </a:extLst>
            </p:cNvPr>
            <p:cNvSpPr txBox="1"/>
            <p:nvPr/>
          </p:nvSpPr>
          <p:spPr>
            <a:xfrm>
              <a:off x="3249207" y="2441427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10</a:t>
              </a: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708066B8-D51C-4D3E-88E1-BD4ACBCC474B}"/>
                </a:ext>
              </a:extLst>
            </p:cNvPr>
            <p:cNvSpPr txBox="1"/>
            <p:nvPr/>
          </p:nvSpPr>
          <p:spPr>
            <a:xfrm>
              <a:off x="3584272" y="2440415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3</a:t>
              </a: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06315041-2B72-4329-8C73-B46156A8E9A8}"/>
                </a:ext>
              </a:extLst>
            </p:cNvPr>
            <p:cNvSpPr txBox="1"/>
            <p:nvPr/>
          </p:nvSpPr>
          <p:spPr>
            <a:xfrm>
              <a:off x="3920722" y="2441426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DD8E368F-7439-4091-82C0-73DE4528ED5A}"/>
                </a:ext>
              </a:extLst>
            </p:cNvPr>
            <p:cNvSpPr txBox="1"/>
            <p:nvPr/>
          </p:nvSpPr>
          <p:spPr>
            <a:xfrm>
              <a:off x="4255796" y="2440416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7</a:t>
              </a:r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D80392C4-8F7B-498B-BAAF-363E69291CAA}"/>
                </a:ext>
              </a:extLst>
            </p:cNvPr>
            <p:cNvSpPr txBox="1"/>
            <p:nvPr/>
          </p:nvSpPr>
          <p:spPr>
            <a:xfrm>
              <a:off x="4592246" y="2441424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8</a:t>
              </a: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2C5C769A-231E-4C63-886E-211A59E2B572}"/>
                </a:ext>
              </a:extLst>
            </p:cNvPr>
            <p:cNvSpPr txBox="1"/>
            <p:nvPr/>
          </p:nvSpPr>
          <p:spPr>
            <a:xfrm>
              <a:off x="4927308" y="2440417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2</a:t>
              </a: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A5AF1627-C7A9-4EA7-A33E-AB55CCD6CF60}"/>
                </a:ext>
              </a:extLst>
            </p:cNvPr>
            <p:cNvSpPr txBox="1"/>
            <p:nvPr/>
          </p:nvSpPr>
          <p:spPr>
            <a:xfrm>
              <a:off x="5263758" y="2441425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6</a:t>
              </a:r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08AE2949-68FE-402E-841D-E2F2049C7145}"/>
                </a:ext>
              </a:extLst>
            </p:cNvPr>
            <p:cNvSpPr txBox="1"/>
            <p:nvPr/>
          </p:nvSpPr>
          <p:spPr>
            <a:xfrm>
              <a:off x="5598832" y="2440415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4</a:t>
              </a: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5A55D6FA-B162-496D-892D-7DAF05E04FCC}"/>
                </a:ext>
              </a:extLst>
            </p:cNvPr>
            <p:cNvSpPr txBox="1"/>
            <p:nvPr/>
          </p:nvSpPr>
          <p:spPr>
            <a:xfrm>
              <a:off x="5935282" y="2441423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5</a:t>
              </a:r>
            </a:p>
          </p:txBody>
        </p:sp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86E8EF97-33F5-4FB0-A2F0-A88E103DFDA1}"/>
              </a:ext>
            </a:extLst>
          </p:cNvPr>
          <p:cNvGrpSpPr/>
          <p:nvPr/>
        </p:nvGrpSpPr>
        <p:grpSpPr>
          <a:xfrm>
            <a:off x="2380870" y="4052208"/>
            <a:ext cx="4643273" cy="308789"/>
            <a:chOff x="2912757" y="2440415"/>
            <a:chExt cx="3357425" cy="308789"/>
          </a:xfrm>
        </p:grpSpPr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9BC5AA5D-98BE-4E22-8BD8-C8CFD8C3FD87}"/>
                </a:ext>
              </a:extLst>
            </p:cNvPr>
            <p:cNvSpPr txBox="1"/>
            <p:nvPr/>
          </p:nvSpPr>
          <p:spPr>
            <a:xfrm>
              <a:off x="2912757" y="2440419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0C49DD73-1DA2-4179-AD37-36C02508215E}"/>
                </a:ext>
              </a:extLst>
            </p:cNvPr>
            <p:cNvSpPr txBox="1"/>
            <p:nvPr/>
          </p:nvSpPr>
          <p:spPr>
            <a:xfrm>
              <a:off x="3249207" y="2441427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10</a:t>
              </a:r>
            </a:p>
          </p:txBody>
        </p: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AE8C8171-5E34-4772-A97E-6E953FE2701D}"/>
                </a:ext>
              </a:extLst>
            </p:cNvPr>
            <p:cNvSpPr txBox="1"/>
            <p:nvPr/>
          </p:nvSpPr>
          <p:spPr>
            <a:xfrm>
              <a:off x="3584272" y="2440415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3</a:t>
              </a:r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4783C369-C640-45FE-AA2D-9CE8933BC020}"/>
                </a:ext>
              </a:extLst>
            </p:cNvPr>
            <p:cNvSpPr txBox="1"/>
            <p:nvPr/>
          </p:nvSpPr>
          <p:spPr>
            <a:xfrm>
              <a:off x="3920722" y="2441426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00B050"/>
                  </a:solidFill>
                </a:rPr>
                <a:t>9</a:t>
              </a: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8759AC8E-2F22-4E97-BD80-31A728EEDCB0}"/>
                </a:ext>
              </a:extLst>
            </p:cNvPr>
            <p:cNvSpPr txBox="1"/>
            <p:nvPr/>
          </p:nvSpPr>
          <p:spPr>
            <a:xfrm>
              <a:off x="4255796" y="2440416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7</a:t>
              </a:r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512F0EFC-D546-4D66-8C27-77CF0BE989A9}"/>
                </a:ext>
              </a:extLst>
            </p:cNvPr>
            <p:cNvSpPr txBox="1"/>
            <p:nvPr/>
          </p:nvSpPr>
          <p:spPr>
            <a:xfrm>
              <a:off x="4592246" y="2441424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8</a:t>
              </a: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6ED42AF4-8262-47B5-98AA-D2FE3E489096}"/>
                </a:ext>
              </a:extLst>
            </p:cNvPr>
            <p:cNvSpPr txBox="1"/>
            <p:nvPr/>
          </p:nvSpPr>
          <p:spPr>
            <a:xfrm>
              <a:off x="4927308" y="2440417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2</a:t>
              </a:r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6467876F-4CFF-46CA-B584-2CF42DC5292F}"/>
                </a:ext>
              </a:extLst>
            </p:cNvPr>
            <p:cNvSpPr txBox="1"/>
            <p:nvPr/>
          </p:nvSpPr>
          <p:spPr>
            <a:xfrm>
              <a:off x="5263758" y="2441425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6</a:t>
              </a:r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44B7CA51-D460-4BF2-9748-1E9753722DB7}"/>
                </a:ext>
              </a:extLst>
            </p:cNvPr>
            <p:cNvSpPr txBox="1"/>
            <p:nvPr/>
          </p:nvSpPr>
          <p:spPr>
            <a:xfrm>
              <a:off x="5598832" y="2440415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4</a:t>
              </a:r>
            </a:p>
          </p:txBody>
        </p: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5C6B6AA1-3D00-40E6-A322-947C4DC65A9E}"/>
                </a:ext>
              </a:extLst>
            </p:cNvPr>
            <p:cNvSpPr txBox="1"/>
            <p:nvPr/>
          </p:nvSpPr>
          <p:spPr>
            <a:xfrm>
              <a:off x="5935282" y="2441423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5</a:t>
              </a:r>
            </a:p>
          </p:txBody>
        </p:sp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CCDF5036-9D2B-4545-8562-B8010D095F05}"/>
              </a:ext>
            </a:extLst>
          </p:cNvPr>
          <p:cNvGrpSpPr/>
          <p:nvPr/>
        </p:nvGrpSpPr>
        <p:grpSpPr>
          <a:xfrm>
            <a:off x="2381879" y="4822278"/>
            <a:ext cx="4643273" cy="308789"/>
            <a:chOff x="2912757" y="2440415"/>
            <a:chExt cx="3357425" cy="308789"/>
          </a:xfrm>
        </p:grpSpPr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0E994534-A223-4C34-8DFD-7DB57E7BF8FE}"/>
                </a:ext>
              </a:extLst>
            </p:cNvPr>
            <p:cNvSpPr txBox="1"/>
            <p:nvPr/>
          </p:nvSpPr>
          <p:spPr>
            <a:xfrm>
              <a:off x="2912757" y="2440419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8B21EF22-EF64-4CED-8036-A39B6E83069F}"/>
                </a:ext>
              </a:extLst>
            </p:cNvPr>
            <p:cNvSpPr txBox="1"/>
            <p:nvPr/>
          </p:nvSpPr>
          <p:spPr>
            <a:xfrm>
              <a:off x="3249207" y="2441427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10</a:t>
              </a:r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0913256C-5EB0-4901-BCD2-3DD0DF4252C5}"/>
                </a:ext>
              </a:extLst>
            </p:cNvPr>
            <p:cNvSpPr txBox="1"/>
            <p:nvPr/>
          </p:nvSpPr>
          <p:spPr>
            <a:xfrm>
              <a:off x="3584272" y="2440415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3</a:t>
              </a:r>
            </a:p>
          </p:txBody>
        </p: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CEDCA795-7D27-4DF5-A0E1-3E51BCA08A7C}"/>
                </a:ext>
              </a:extLst>
            </p:cNvPr>
            <p:cNvSpPr txBox="1"/>
            <p:nvPr/>
          </p:nvSpPr>
          <p:spPr>
            <a:xfrm>
              <a:off x="3920722" y="2441426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00B050"/>
                  </a:solidFill>
                </a:rPr>
                <a:t>9</a:t>
              </a:r>
            </a:p>
          </p:txBody>
        </p: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97C05AD3-3CC6-474D-B8F0-B3455C53E6AB}"/>
                </a:ext>
              </a:extLst>
            </p:cNvPr>
            <p:cNvSpPr txBox="1"/>
            <p:nvPr/>
          </p:nvSpPr>
          <p:spPr>
            <a:xfrm>
              <a:off x="4255796" y="2440416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7</a:t>
              </a:r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CBACEF4E-A4D6-4549-A998-71E589513C60}"/>
                </a:ext>
              </a:extLst>
            </p:cNvPr>
            <p:cNvSpPr txBox="1"/>
            <p:nvPr/>
          </p:nvSpPr>
          <p:spPr>
            <a:xfrm>
              <a:off x="4592246" y="2441424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8</a:t>
              </a:r>
            </a:p>
          </p:txBody>
        </p: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01A157D3-3B61-4830-B816-FE342CE74D7D}"/>
                </a:ext>
              </a:extLst>
            </p:cNvPr>
            <p:cNvSpPr txBox="1"/>
            <p:nvPr/>
          </p:nvSpPr>
          <p:spPr>
            <a:xfrm>
              <a:off x="4927308" y="2440417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</a:rPr>
                <a:t>2</a:t>
              </a: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E2D359D4-0D77-4583-9062-AC0CB1CCE20E}"/>
                </a:ext>
              </a:extLst>
            </p:cNvPr>
            <p:cNvSpPr txBox="1"/>
            <p:nvPr/>
          </p:nvSpPr>
          <p:spPr>
            <a:xfrm>
              <a:off x="5263758" y="2441425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6</a:t>
              </a:r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6457F3A4-B1C2-4823-9F94-B30D73BE26B4}"/>
                </a:ext>
              </a:extLst>
            </p:cNvPr>
            <p:cNvSpPr txBox="1"/>
            <p:nvPr/>
          </p:nvSpPr>
          <p:spPr>
            <a:xfrm>
              <a:off x="5598832" y="2440415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4</a:t>
              </a:r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191ECC27-C3AD-4294-AE31-EB239D9FCB56}"/>
                </a:ext>
              </a:extLst>
            </p:cNvPr>
            <p:cNvSpPr txBox="1"/>
            <p:nvPr/>
          </p:nvSpPr>
          <p:spPr>
            <a:xfrm>
              <a:off x="5935282" y="2441423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5</a:t>
              </a:r>
            </a:p>
          </p:txBody>
        </p:sp>
      </p:grp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25E6FA57-E1A5-458C-9F6B-15C6E91EA70F}"/>
              </a:ext>
            </a:extLst>
          </p:cNvPr>
          <p:cNvGrpSpPr/>
          <p:nvPr/>
        </p:nvGrpSpPr>
        <p:grpSpPr>
          <a:xfrm>
            <a:off x="2382885" y="5610518"/>
            <a:ext cx="4643273" cy="308789"/>
            <a:chOff x="2912757" y="2440415"/>
            <a:chExt cx="3357425" cy="308789"/>
          </a:xfrm>
        </p:grpSpPr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5A627573-098C-4ACC-B019-05B289B7CE97}"/>
                </a:ext>
              </a:extLst>
            </p:cNvPr>
            <p:cNvSpPr txBox="1"/>
            <p:nvPr/>
          </p:nvSpPr>
          <p:spPr>
            <a:xfrm>
              <a:off x="2912757" y="2440419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592C5E31-4307-4A32-A340-8D852EEEA5AF}"/>
                </a:ext>
              </a:extLst>
            </p:cNvPr>
            <p:cNvSpPr txBox="1"/>
            <p:nvPr/>
          </p:nvSpPr>
          <p:spPr>
            <a:xfrm>
              <a:off x="3249207" y="2441427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</a:rPr>
                <a:t>2</a:t>
              </a:r>
            </a:p>
          </p:txBody>
        </p:sp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DB74E000-C3D3-401D-BBCC-03582BF9E50A}"/>
                </a:ext>
              </a:extLst>
            </p:cNvPr>
            <p:cNvSpPr txBox="1"/>
            <p:nvPr/>
          </p:nvSpPr>
          <p:spPr>
            <a:xfrm>
              <a:off x="3584272" y="2440415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3</a:t>
              </a:r>
            </a:p>
          </p:txBody>
        </p: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8364EFCD-0A9A-48B9-AB47-8EB42B49C486}"/>
                </a:ext>
              </a:extLst>
            </p:cNvPr>
            <p:cNvSpPr txBox="1"/>
            <p:nvPr/>
          </p:nvSpPr>
          <p:spPr>
            <a:xfrm>
              <a:off x="3920722" y="2441426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00B050"/>
                  </a:solidFill>
                </a:rPr>
                <a:t>9</a:t>
              </a:r>
            </a:p>
          </p:txBody>
        </p: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93D9F992-232C-44F2-8DB0-F23548BDCC58}"/>
                </a:ext>
              </a:extLst>
            </p:cNvPr>
            <p:cNvSpPr txBox="1"/>
            <p:nvPr/>
          </p:nvSpPr>
          <p:spPr>
            <a:xfrm>
              <a:off x="4255796" y="2440416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7</a:t>
              </a: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1CC6962E-76EE-4D45-92E1-D19F58C5F095}"/>
                </a:ext>
              </a:extLst>
            </p:cNvPr>
            <p:cNvSpPr txBox="1"/>
            <p:nvPr/>
          </p:nvSpPr>
          <p:spPr>
            <a:xfrm>
              <a:off x="4592246" y="2441424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8</a:t>
              </a:r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173B59E5-F273-4219-99FF-219D3CF85F70}"/>
                </a:ext>
              </a:extLst>
            </p:cNvPr>
            <p:cNvSpPr txBox="1"/>
            <p:nvPr/>
          </p:nvSpPr>
          <p:spPr>
            <a:xfrm>
              <a:off x="4927308" y="2440417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00B050"/>
                  </a:solidFill>
                </a:rPr>
                <a:t>10</a:t>
              </a:r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97521EEE-E74D-401E-BB1B-1568F6D3E261}"/>
                </a:ext>
              </a:extLst>
            </p:cNvPr>
            <p:cNvSpPr txBox="1"/>
            <p:nvPr/>
          </p:nvSpPr>
          <p:spPr>
            <a:xfrm>
              <a:off x="5263758" y="2441425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6</a:t>
              </a:r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7672907F-804C-4AFD-8522-611E39D8DE1F}"/>
                </a:ext>
              </a:extLst>
            </p:cNvPr>
            <p:cNvSpPr txBox="1"/>
            <p:nvPr/>
          </p:nvSpPr>
          <p:spPr>
            <a:xfrm>
              <a:off x="5598832" y="2440415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4</a:t>
              </a:r>
            </a:p>
          </p:txBody>
        </p: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3177E58B-96D4-466D-924E-81CF70F94CDE}"/>
                </a:ext>
              </a:extLst>
            </p:cNvPr>
            <p:cNvSpPr txBox="1"/>
            <p:nvPr/>
          </p:nvSpPr>
          <p:spPr>
            <a:xfrm>
              <a:off x="5935282" y="2441423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6036438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Selection Sort In-Place Example (</a:t>
            </a:r>
            <a:r>
              <a:rPr lang="en-US" altLang="en-US" dirty="0" err="1"/>
              <a:t>cont</a:t>
            </a:r>
            <a:r>
              <a:rPr lang="en-US" altLang="en-US" dirty="0"/>
              <a:t>)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981200"/>
            <a:ext cx="7772400" cy="4114800"/>
          </a:xfrm>
        </p:spPr>
        <p:txBody>
          <a:bodyPr/>
          <a:lstStyle/>
          <a:p>
            <a:pPr marL="533400" indent="-533400" eaLnBrk="1" hangingPunct="1">
              <a:lnSpc>
                <a:spcPct val="90000"/>
              </a:lnSpc>
              <a:defRPr/>
            </a:pPr>
            <a:r>
              <a:rPr lang="en-US" altLang="en-US" sz="2400" dirty="0"/>
              <a:t>Step 3 (3 swaps with itself):</a:t>
            </a:r>
          </a:p>
          <a:p>
            <a:pPr marL="533400" indent="-533400" eaLnBrk="1" hangingPunct="1">
              <a:lnSpc>
                <a:spcPct val="90000"/>
              </a:lnSpc>
              <a:defRPr/>
            </a:pPr>
            <a:endParaRPr lang="en-US" altLang="en-US" sz="2400" dirty="0"/>
          </a:p>
          <a:p>
            <a:pPr marL="533400" indent="-533400" eaLnBrk="1" hangingPunct="1">
              <a:lnSpc>
                <a:spcPct val="90000"/>
              </a:lnSpc>
              <a:defRPr/>
            </a:pPr>
            <a:r>
              <a:rPr lang="en-US" altLang="en-US" sz="2400" dirty="0"/>
              <a:t>Step 4 (4 swaps with 9):</a:t>
            </a:r>
          </a:p>
          <a:p>
            <a:pPr marL="533400" indent="-533400" eaLnBrk="1" hangingPunct="1">
              <a:lnSpc>
                <a:spcPct val="90000"/>
              </a:lnSpc>
              <a:defRPr/>
            </a:pPr>
            <a:endParaRPr lang="en-US" altLang="en-US" sz="2400" dirty="0"/>
          </a:p>
          <a:p>
            <a:pPr marL="533400" indent="-533400" eaLnBrk="1" hangingPunct="1">
              <a:lnSpc>
                <a:spcPct val="90000"/>
              </a:lnSpc>
              <a:defRPr/>
            </a:pPr>
            <a:r>
              <a:rPr lang="en-US" altLang="en-US" sz="2400" dirty="0"/>
              <a:t>Step 5 (5 swaps with 7):</a:t>
            </a:r>
          </a:p>
          <a:p>
            <a:pPr marL="533400" indent="-533400" eaLnBrk="1" hangingPunct="1">
              <a:lnSpc>
                <a:spcPct val="90000"/>
              </a:lnSpc>
              <a:defRPr/>
            </a:pPr>
            <a:endParaRPr lang="en-US" altLang="en-US" sz="2400" dirty="0"/>
          </a:p>
          <a:p>
            <a:pPr marL="533400" indent="-533400" eaLnBrk="1" hangingPunct="1">
              <a:lnSpc>
                <a:spcPct val="90000"/>
              </a:lnSpc>
              <a:defRPr/>
            </a:pPr>
            <a:r>
              <a:rPr lang="en-US" altLang="en-US" sz="2400" dirty="0"/>
              <a:t>Step 6 (6 swaps with 8):</a:t>
            </a:r>
          </a:p>
          <a:p>
            <a:pPr marL="533400" indent="-533400" eaLnBrk="1" hangingPunct="1">
              <a:lnSpc>
                <a:spcPct val="90000"/>
              </a:lnSpc>
              <a:defRPr/>
            </a:pPr>
            <a:endParaRPr lang="en-US" altLang="en-US" sz="2400" dirty="0"/>
          </a:p>
          <a:p>
            <a:pPr marL="533400" indent="-533400" eaLnBrk="1" hangingPunct="1">
              <a:lnSpc>
                <a:spcPct val="90000"/>
              </a:lnSpc>
              <a:defRPr/>
            </a:pPr>
            <a:r>
              <a:rPr lang="en-US" altLang="en-US" sz="2400" dirty="0"/>
              <a:t>Step 7 (7 swaps with 10):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36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6A67CE0-F0E5-41A8-A405-D295D96172D8}" type="datetime1">
              <a:rPr lang="en-US" smtClean="0"/>
              <a:t>7/15/2021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Copyright (c) John K. </a:t>
            </a:r>
            <a:r>
              <a:rPr lang="en-US" dirty="0" err="1"/>
              <a:t>Ostlund</a:t>
            </a:r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27ABE92-D7D0-4EA7-8AB4-16402F58517E}"/>
              </a:ext>
            </a:extLst>
          </p:cNvPr>
          <p:cNvGrpSpPr/>
          <p:nvPr/>
        </p:nvGrpSpPr>
        <p:grpSpPr>
          <a:xfrm>
            <a:off x="2379863" y="2440411"/>
            <a:ext cx="4643273" cy="308789"/>
            <a:chOff x="2912757" y="2440415"/>
            <a:chExt cx="3357425" cy="308789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E012C025-6765-4B09-8FC6-A3813759BE47}"/>
                </a:ext>
              </a:extLst>
            </p:cNvPr>
            <p:cNvSpPr txBox="1"/>
            <p:nvPr/>
          </p:nvSpPr>
          <p:spPr>
            <a:xfrm>
              <a:off x="2912757" y="2440419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27A6C65-330F-4C72-B7E9-B091EF6E2DC1}"/>
                </a:ext>
              </a:extLst>
            </p:cNvPr>
            <p:cNvSpPr txBox="1"/>
            <p:nvPr/>
          </p:nvSpPr>
          <p:spPr>
            <a:xfrm>
              <a:off x="3249207" y="2441427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</a:rPr>
                <a:t>2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C159A07-5786-49A5-8639-441BFE6A7CE3}"/>
                </a:ext>
              </a:extLst>
            </p:cNvPr>
            <p:cNvSpPr txBox="1"/>
            <p:nvPr/>
          </p:nvSpPr>
          <p:spPr>
            <a:xfrm>
              <a:off x="3584272" y="2440415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</a:rPr>
                <a:t>3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70A787E-94F8-41D3-A63A-38ED22CC1714}"/>
                </a:ext>
              </a:extLst>
            </p:cNvPr>
            <p:cNvSpPr txBox="1"/>
            <p:nvPr/>
          </p:nvSpPr>
          <p:spPr>
            <a:xfrm>
              <a:off x="3920722" y="2441426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00B050"/>
                  </a:solidFill>
                </a:rPr>
                <a:t>9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41C9C38-5568-46A1-A3B9-19587FD243C6}"/>
                </a:ext>
              </a:extLst>
            </p:cNvPr>
            <p:cNvSpPr txBox="1"/>
            <p:nvPr/>
          </p:nvSpPr>
          <p:spPr>
            <a:xfrm>
              <a:off x="4255796" y="2440416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7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9AA98E5-3F6D-4478-A430-D16AAD9A057E}"/>
                </a:ext>
              </a:extLst>
            </p:cNvPr>
            <p:cNvSpPr txBox="1"/>
            <p:nvPr/>
          </p:nvSpPr>
          <p:spPr>
            <a:xfrm>
              <a:off x="4592246" y="2441424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8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F039154-AF3B-49FA-B32F-15946B348501}"/>
                </a:ext>
              </a:extLst>
            </p:cNvPr>
            <p:cNvSpPr txBox="1"/>
            <p:nvPr/>
          </p:nvSpPr>
          <p:spPr>
            <a:xfrm>
              <a:off x="4927308" y="2440417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00B050"/>
                  </a:solidFill>
                </a:rPr>
                <a:t>10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EBB0347-5A26-4B64-A7CC-1F0462FE598D}"/>
                </a:ext>
              </a:extLst>
            </p:cNvPr>
            <p:cNvSpPr txBox="1"/>
            <p:nvPr/>
          </p:nvSpPr>
          <p:spPr>
            <a:xfrm>
              <a:off x="5263758" y="2441425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6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505DB26-A1C0-4148-8A7E-B598313D77CE}"/>
                </a:ext>
              </a:extLst>
            </p:cNvPr>
            <p:cNvSpPr txBox="1"/>
            <p:nvPr/>
          </p:nvSpPr>
          <p:spPr>
            <a:xfrm>
              <a:off x="5598832" y="2440415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4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ECCC3F4-12F5-4F83-BD0F-3EA958C79AB9}"/>
                </a:ext>
              </a:extLst>
            </p:cNvPr>
            <p:cNvSpPr txBox="1"/>
            <p:nvPr/>
          </p:nvSpPr>
          <p:spPr>
            <a:xfrm>
              <a:off x="5935282" y="2441423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5</a:t>
              </a:r>
            </a:p>
          </p:txBody>
        </p:sp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41E22520-2D43-4647-A73E-99939B7E1EF9}"/>
              </a:ext>
            </a:extLst>
          </p:cNvPr>
          <p:cNvGrpSpPr/>
          <p:nvPr/>
        </p:nvGrpSpPr>
        <p:grpSpPr>
          <a:xfrm>
            <a:off x="2379863" y="3251862"/>
            <a:ext cx="4643273" cy="308789"/>
            <a:chOff x="2912757" y="2440415"/>
            <a:chExt cx="3357425" cy="308789"/>
          </a:xfrm>
        </p:grpSpPr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3284EC74-6A33-4921-AB7A-1C0EB4E67069}"/>
                </a:ext>
              </a:extLst>
            </p:cNvPr>
            <p:cNvSpPr txBox="1"/>
            <p:nvPr/>
          </p:nvSpPr>
          <p:spPr>
            <a:xfrm>
              <a:off x="2912757" y="2440419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F8DFFE87-8A6B-4598-8C54-3AE3F232C188}"/>
                </a:ext>
              </a:extLst>
            </p:cNvPr>
            <p:cNvSpPr txBox="1"/>
            <p:nvPr/>
          </p:nvSpPr>
          <p:spPr>
            <a:xfrm>
              <a:off x="3249207" y="2441427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</a:rPr>
                <a:t>2</a:t>
              </a: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708066B8-D51C-4D3E-88E1-BD4ACBCC474B}"/>
                </a:ext>
              </a:extLst>
            </p:cNvPr>
            <p:cNvSpPr txBox="1"/>
            <p:nvPr/>
          </p:nvSpPr>
          <p:spPr>
            <a:xfrm>
              <a:off x="3584272" y="2440415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</a:rPr>
                <a:t>3</a:t>
              </a: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06315041-2B72-4329-8C73-B46156A8E9A8}"/>
                </a:ext>
              </a:extLst>
            </p:cNvPr>
            <p:cNvSpPr txBox="1"/>
            <p:nvPr/>
          </p:nvSpPr>
          <p:spPr>
            <a:xfrm>
              <a:off x="3920722" y="2441426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</a:rPr>
                <a:t>4</a:t>
              </a:r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DD8E368F-7439-4091-82C0-73DE4528ED5A}"/>
                </a:ext>
              </a:extLst>
            </p:cNvPr>
            <p:cNvSpPr txBox="1"/>
            <p:nvPr/>
          </p:nvSpPr>
          <p:spPr>
            <a:xfrm>
              <a:off x="4255796" y="2440416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7</a:t>
              </a:r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D80392C4-8F7B-498B-BAAF-363E69291CAA}"/>
                </a:ext>
              </a:extLst>
            </p:cNvPr>
            <p:cNvSpPr txBox="1"/>
            <p:nvPr/>
          </p:nvSpPr>
          <p:spPr>
            <a:xfrm>
              <a:off x="4592246" y="2441424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8</a:t>
              </a: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2C5C769A-231E-4C63-886E-211A59E2B572}"/>
                </a:ext>
              </a:extLst>
            </p:cNvPr>
            <p:cNvSpPr txBox="1"/>
            <p:nvPr/>
          </p:nvSpPr>
          <p:spPr>
            <a:xfrm>
              <a:off x="4927308" y="2440417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00B050"/>
                  </a:solidFill>
                </a:rPr>
                <a:t>10</a:t>
              </a: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A5AF1627-C7A9-4EA7-A33E-AB55CCD6CF60}"/>
                </a:ext>
              </a:extLst>
            </p:cNvPr>
            <p:cNvSpPr txBox="1"/>
            <p:nvPr/>
          </p:nvSpPr>
          <p:spPr>
            <a:xfrm>
              <a:off x="5263758" y="2441425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6</a:t>
              </a:r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08AE2949-68FE-402E-841D-E2F2049C7145}"/>
                </a:ext>
              </a:extLst>
            </p:cNvPr>
            <p:cNvSpPr txBox="1"/>
            <p:nvPr/>
          </p:nvSpPr>
          <p:spPr>
            <a:xfrm>
              <a:off x="5598832" y="2440415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00B050"/>
                  </a:solidFill>
                </a:rPr>
                <a:t>9</a:t>
              </a: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5A55D6FA-B162-496D-892D-7DAF05E04FCC}"/>
                </a:ext>
              </a:extLst>
            </p:cNvPr>
            <p:cNvSpPr txBox="1"/>
            <p:nvPr/>
          </p:nvSpPr>
          <p:spPr>
            <a:xfrm>
              <a:off x="5935282" y="2441423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5</a:t>
              </a:r>
            </a:p>
          </p:txBody>
        </p:sp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86E8EF97-33F5-4FB0-A2F0-A88E103DFDA1}"/>
              </a:ext>
            </a:extLst>
          </p:cNvPr>
          <p:cNvGrpSpPr/>
          <p:nvPr/>
        </p:nvGrpSpPr>
        <p:grpSpPr>
          <a:xfrm>
            <a:off x="2380870" y="4052208"/>
            <a:ext cx="4643273" cy="308789"/>
            <a:chOff x="2912757" y="2440415"/>
            <a:chExt cx="3357425" cy="308789"/>
          </a:xfrm>
        </p:grpSpPr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9BC5AA5D-98BE-4E22-8BD8-C8CFD8C3FD87}"/>
                </a:ext>
              </a:extLst>
            </p:cNvPr>
            <p:cNvSpPr txBox="1"/>
            <p:nvPr/>
          </p:nvSpPr>
          <p:spPr>
            <a:xfrm>
              <a:off x="2912757" y="2440419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0C49DD73-1DA2-4179-AD37-36C02508215E}"/>
                </a:ext>
              </a:extLst>
            </p:cNvPr>
            <p:cNvSpPr txBox="1"/>
            <p:nvPr/>
          </p:nvSpPr>
          <p:spPr>
            <a:xfrm>
              <a:off x="3249207" y="2441427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</a:rPr>
                <a:t>2</a:t>
              </a:r>
            </a:p>
          </p:txBody>
        </p: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AE8C8171-5E34-4772-A97E-6E953FE2701D}"/>
                </a:ext>
              </a:extLst>
            </p:cNvPr>
            <p:cNvSpPr txBox="1"/>
            <p:nvPr/>
          </p:nvSpPr>
          <p:spPr>
            <a:xfrm>
              <a:off x="3584272" y="2440415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</a:rPr>
                <a:t>3</a:t>
              </a:r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4783C369-C640-45FE-AA2D-9CE8933BC020}"/>
                </a:ext>
              </a:extLst>
            </p:cNvPr>
            <p:cNvSpPr txBox="1"/>
            <p:nvPr/>
          </p:nvSpPr>
          <p:spPr>
            <a:xfrm>
              <a:off x="3920722" y="2441426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</a:rPr>
                <a:t>4</a:t>
              </a: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8759AC8E-2F22-4E97-BD80-31A728EEDCB0}"/>
                </a:ext>
              </a:extLst>
            </p:cNvPr>
            <p:cNvSpPr txBox="1"/>
            <p:nvPr/>
          </p:nvSpPr>
          <p:spPr>
            <a:xfrm>
              <a:off x="4255796" y="2440416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</a:rPr>
                <a:t>5</a:t>
              </a:r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512F0EFC-D546-4D66-8C27-77CF0BE989A9}"/>
                </a:ext>
              </a:extLst>
            </p:cNvPr>
            <p:cNvSpPr txBox="1"/>
            <p:nvPr/>
          </p:nvSpPr>
          <p:spPr>
            <a:xfrm>
              <a:off x="4592246" y="2441424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8</a:t>
              </a: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6ED42AF4-8262-47B5-98AA-D2FE3E489096}"/>
                </a:ext>
              </a:extLst>
            </p:cNvPr>
            <p:cNvSpPr txBox="1"/>
            <p:nvPr/>
          </p:nvSpPr>
          <p:spPr>
            <a:xfrm>
              <a:off x="4927308" y="2440417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00B050"/>
                  </a:solidFill>
                </a:rPr>
                <a:t>10</a:t>
              </a:r>
              <a:endParaRPr lang="en-US" sz="1400" dirty="0"/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6467876F-4CFF-46CA-B584-2CF42DC5292F}"/>
                </a:ext>
              </a:extLst>
            </p:cNvPr>
            <p:cNvSpPr txBox="1"/>
            <p:nvPr/>
          </p:nvSpPr>
          <p:spPr>
            <a:xfrm>
              <a:off x="5263758" y="2441425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6</a:t>
              </a:r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44B7CA51-D460-4BF2-9748-1E9753722DB7}"/>
                </a:ext>
              </a:extLst>
            </p:cNvPr>
            <p:cNvSpPr txBox="1"/>
            <p:nvPr/>
          </p:nvSpPr>
          <p:spPr>
            <a:xfrm>
              <a:off x="5598832" y="2440415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00B050"/>
                  </a:solidFill>
                </a:rPr>
                <a:t>9</a:t>
              </a:r>
              <a:endParaRPr lang="en-US" sz="1400" dirty="0"/>
            </a:p>
          </p:txBody>
        </p: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5C6B6AA1-3D00-40E6-A322-947C4DC65A9E}"/>
                </a:ext>
              </a:extLst>
            </p:cNvPr>
            <p:cNvSpPr txBox="1"/>
            <p:nvPr/>
          </p:nvSpPr>
          <p:spPr>
            <a:xfrm>
              <a:off x="5935282" y="2441423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00B050"/>
                  </a:solidFill>
                </a:rPr>
                <a:t>7</a:t>
              </a:r>
              <a:endParaRPr lang="en-US" sz="1400" dirty="0"/>
            </a:p>
          </p:txBody>
        </p:sp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CCDF5036-9D2B-4545-8562-B8010D095F05}"/>
              </a:ext>
            </a:extLst>
          </p:cNvPr>
          <p:cNvGrpSpPr/>
          <p:nvPr/>
        </p:nvGrpSpPr>
        <p:grpSpPr>
          <a:xfrm>
            <a:off x="2381879" y="4822278"/>
            <a:ext cx="4643273" cy="308789"/>
            <a:chOff x="2912757" y="2440415"/>
            <a:chExt cx="3357425" cy="308789"/>
          </a:xfrm>
        </p:grpSpPr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0E994534-A223-4C34-8DFD-7DB57E7BF8FE}"/>
                </a:ext>
              </a:extLst>
            </p:cNvPr>
            <p:cNvSpPr txBox="1"/>
            <p:nvPr/>
          </p:nvSpPr>
          <p:spPr>
            <a:xfrm>
              <a:off x="2912757" y="2440419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8B21EF22-EF64-4CED-8036-A39B6E83069F}"/>
                </a:ext>
              </a:extLst>
            </p:cNvPr>
            <p:cNvSpPr txBox="1"/>
            <p:nvPr/>
          </p:nvSpPr>
          <p:spPr>
            <a:xfrm>
              <a:off x="3249207" y="2441427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</a:rPr>
                <a:t>2</a:t>
              </a:r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0913256C-5EB0-4901-BCD2-3DD0DF4252C5}"/>
                </a:ext>
              </a:extLst>
            </p:cNvPr>
            <p:cNvSpPr txBox="1"/>
            <p:nvPr/>
          </p:nvSpPr>
          <p:spPr>
            <a:xfrm>
              <a:off x="3584272" y="2440415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</a:rPr>
                <a:t>3</a:t>
              </a:r>
            </a:p>
          </p:txBody>
        </p: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CEDCA795-7D27-4DF5-A0E1-3E51BCA08A7C}"/>
                </a:ext>
              </a:extLst>
            </p:cNvPr>
            <p:cNvSpPr txBox="1"/>
            <p:nvPr/>
          </p:nvSpPr>
          <p:spPr>
            <a:xfrm>
              <a:off x="3920722" y="2441426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</a:rPr>
                <a:t>4</a:t>
              </a:r>
            </a:p>
          </p:txBody>
        </p: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97C05AD3-3CC6-474D-B8F0-B3455C53E6AB}"/>
                </a:ext>
              </a:extLst>
            </p:cNvPr>
            <p:cNvSpPr txBox="1"/>
            <p:nvPr/>
          </p:nvSpPr>
          <p:spPr>
            <a:xfrm>
              <a:off x="4255796" y="2440416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</a:rPr>
                <a:t>5</a:t>
              </a:r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CBACEF4E-A4D6-4549-A998-71E589513C60}"/>
                </a:ext>
              </a:extLst>
            </p:cNvPr>
            <p:cNvSpPr txBox="1"/>
            <p:nvPr/>
          </p:nvSpPr>
          <p:spPr>
            <a:xfrm>
              <a:off x="4592246" y="2441424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</a:rPr>
                <a:t>6</a:t>
              </a:r>
            </a:p>
          </p:txBody>
        </p: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01A157D3-3B61-4830-B816-FE342CE74D7D}"/>
                </a:ext>
              </a:extLst>
            </p:cNvPr>
            <p:cNvSpPr txBox="1"/>
            <p:nvPr/>
          </p:nvSpPr>
          <p:spPr>
            <a:xfrm>
              <a:off x="4927308" y="2440417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00B050"/>
                  </a:solidFill>
                </a:rPr>
                <a:t>10</a:t>
              </a:r>
              <a:endParaRPr lang="en-US" sz="1400" b="1" dirty="0">
                <a:solidFill>
                  <a:srgbClr val="FF0000"/>
                </a:solidFill>
              </a:endParaRP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E2D359D4-0D77-4583-9062-AC0CB1CCE20E}"/>
                </a:ext>
              </a:extLst>
            </p:cNvPr>
            <p:cNvSpPr txBox="1"/>
            <p:nvPr/>
          </p:nvSpPr>
          <p:spPr>
            <a:xfrm>
              <a:off x="5263758" y="2441425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00B050"/>
                  </a:solidFill>
                </a:rPr>
                <a:t>8</a:t>
              </a:r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6457F3A4-B1C2-4823-9F94-B30D73BE26B4}"/>
                </a:ext>
              </a:extLst>
            </p:cNvPr>
            <p:cNvSpPr txBox="1"/>
            <p:nvPr/>
          </p:nvSpPr>
          <p:spPr>
            <a:xfrm>
              <a:off x="5598832" y="2440415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00B050"/>
                  </a:solidFill>
                </a:rPr>
                <a:t>9</a:t>
              </a:r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191ECC27-C3AD-4294-AE31-EB239D9FCB56}"/>
                </a:ext>
              </a:extLst>
            </p:cNvPr>
            <p:cNvSpPr txBox="1"/>
            <p:nvPr/>
          </p:nvSpPr>
          <p:spPr>
            <a:xfrm>
              <a:off x="5935282" y="2441423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00B050"/>
                  </a:solidFill>
                </a:rPr>
                <a:t>7</a:t>
              </a:r>
            </a:p>
          </p:txBody>
        </p:sp>
      </p:grp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25E6FA57-E1A5-458C-9F6B-15C6E91EA70F}"/>
              </a:ext>
            </a:extLst>
          </p:cNvPr>
          <p:cNvGrpSpPr/>
          <p:nvPr/>
        </p:nvGrpSpPr>
        <p:grpSpPr>
          <a:xfrm>
            <a:off x="2382885" y="5610518"/>
            <a:ext cx="4643273" cy="308789"/>
            <a:chOff x="2912757" y="2440415"/>
            <a:chExt cx="3357425" cy="308789"/>
          </a:xfrm>
        </p:grpSpPr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5A627573-098C-4ACC-B019-05B289B7CE97}"/>
                </a:ext>
              </a:extLst>
            </p:cNvPr>
            <p:cNvSpPr txBox="1"/>
            <p:nvPr/>
          </p:nvSpPr>
          <p:spPr>
            <a:xfrm>
              <a:off x="2912757" y="2440419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592C5E31-4307-4A32-A340-8D852EEEA5AF}"/>
                </a:ext>
              </a:extLst>
            </p:cNvPr>
            <p:cNvSpPr txBox="1"/>
            <p:nvPr/>
          </p:nvSpPr>
          <p:spPr>
            <a:xfrm>
              <a:off x="3249207" y="2441427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</a:rPr>
                <a:t>2</a:t>
              </a:r>
            </a:p>
          </p:txBody>
        </p:sp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DB74E000-C3D3-401D-BBCC-03582BF9E50A}"/>
                </a:ext>
              </a:extLst>
            </p:cNvPr>
            <p:cNvSpPr txBox="1"/>
            <p:nvPr/>
          </p:nvSpPr>
          <p:spPr>
            <a:xfrm>
              <a:off x="3584272" y="2440415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</a:rPr>
                <a:t>3</a:t>
              </a:r>
            </a:p>
          </p:txBody>
        </p: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8364EFCD-0A9A-48B9-AB47-8EB42B49C486}"/>
                </a:ext>
              </a:extLst>
            </p:cNvPr>
            <p:cNvSpPr txBox="1"/>
            <p:nvPr/>
          </p:nvSpPr>
          <p:spPr>
            <a:xfrm>
              <a:off x="3920722" y="2441426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</a:rPr>
                <a:t>4</a:t>
              </a:r>
            </a:p>
          </p:txBody>
        </p: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93D9F992-232C-44F2-8DB0-F23548BDCC58}"/>
                </a:ext>
              </a:extLst>
            </p:cNvPr>
            <p:cNvSpPr txBox="1"/>
            <p:nvPr/>
          </p:nvSpPr>
          <p:spPr>
            <a:xfrm>
              <a:off x="4255796" y="2440416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</a:rPr>
                <a:t>5</a:t>
              </a: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1CC6962E-76EE-4D45-92E1-D19F58C5F095}"/>
                </a:ext>
              </a:extLst>
            </p:cNvPr>
            <p:cNvSpPr txBox="1"/>
            <p:nvPr/>
          </p:nvSpPr>
          <p:spPr>
            <a:xfrm>
              <a:off x="4592246" y="2441424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</a:rPr>
                <a:t>6</a:t>
              </a:r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173B59E5-F273-4219-99FF-219D3CF85F70}"/>
                </a:ext>
              </a:extLst>
            </p:cNvPr>
            <p:cNvSpPr txBox="1"/>
            <p:nvPr/>
          </p:nvSpPr>
          <p:spPr>
            <a:xfrm>
              <a:off x="4927308" y="2440417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</a:rPr>
                <a:t>7</a:t>
              </a:r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97521EEE-E74D-401E-BB1B-1568F6D3E261}"/>
                </a:ext>
              </a:extLst>
            </p:cNvPr>
            <p:cNvSpPr txBox="1"/>
            <p:nvPr/>
          </p:nvSpPr>
          <p:spPr>
            <a:xfrm>
              <a:off x="5263758" y="2441425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00B050"/>
                  </a:solidFill>
                </a:rPr>
                <a:t>8</a:t>
              </a:r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7672907F-804C-4AFD-8522-611E39D8DE1F}"/>
                </a:ext>
              </a:extLst>
            </p:cNvPr>
            <p:cNvSpPr txBox="1"/>
            <p:nvPr/>
          </p:nvSpPr>
          <p:spPr>
            <a:xfrm>
              <a:off x="5598832" y="2440415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00B050"/>
                  </a:solidFill>
                </a:rPr>
                <a:t>9</a:t>
              </a:r>
            </a:p>
          </p:txBody>
        </p: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3177E58B-96D4-466D-924E-81CF70F94CDE}"/>
                </a:ext>
              </a:extLst>
            </p:cNvPr>
            <p:cNvSpPr txBox="1"/>
            <p:nvPr/>
          </p:nvSpPr>
          <p:spPr>
            <a:xfrm>
              <a:off x="5935282" y="2441423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00B050"/>
                  </a:solidFill>
                </a:rPr>
                <a:t>10</a:t>
              </a:r>
              <a:endParaRPr lang="en-US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303553257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Selection Sort In-Place Example (</a:t>
            </a:r>
            <a:r>
              <a:rPr lang="en-US" altLang="en-US" dirty="0" err="1"/>
              <a:t>cont</a:t>
            </a:r>
            <a:r>
              <a:rPr lang="en-US" altLang="en-US" dirty="0"/>
              <a:t>)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981200"/>
            <a:ext cx="7772400" cy="4114800"/>
          </a:xfrm>
        </p:spPr>
        <p:txBody>
          <a:bodyPr/>
          <a:lstStyle/>
          <a:p>
            <a:pPr marL="533400" indent="-533400" eaLnBrk="1" hangingPunct="1">
              <a:lnSpc>
                <a:spcPct val="90000"/>
              </a:lnSpc>
              <a:defRPr/>
            </a:pPr>
            <a:r>
              <a:rPr lang="en-US" altLang="en-US" sz="2400" dirty="0"/>
              <a:t>Step 8 (8 swaps with itself):</a:t>
            </a:r>
          </a:p>
          <a:p>
            <a:pPr marL="533400" indent="-533400" eaLnBrk="1" hangingPunct="1">
              <a:lnSpc>
                <a:spcPct val="90000"/>
              </a:lnSpc>
              <a:defRPr/>
            </a:pPr>
            <a:endParaRPr lang="en-US" altLang="en-US" sz="2400" dirty="0"/>
          </a:p>
          <a:p>
            <a:pPr marL="533400" indent="-533400" eaLnBrk="1" hangingPunct="1">
              <a:lnSpc>
                <a:spcPct val="90000"/>
              </a:lnSpc>
              <a:defRPr/>
            </a:pPr>
            <a:r>
              <a:rPr lang="en-US" altLang="en-US" sz="2400" dirty="0"/>
              <a:t>Step 9 (9 swaps with itself):</a:t>
            </a:r>
          </a:p>
          <a:p>
            <a:pPr marL="533400" indent="-533400" eaLnBrk="1" hangingPunct="1">
              <a:lnSpc>
                <a:spcPct val="90000"/>
              </a:lnSpc>
              <a:defRPr/>
            </a:pPr>
            <a:endParaRPr lang="en-US" altLang="en-US" sz="2400" dirty="0"/>
          </a:p>
          <a:p>
            <a:pPr marL="533400" indent="-533400" eaLnBrk="1" hangingPunct="1">
              <a:lnSpc>
                <a:spcPct val="90000"/>
              </a:lnSpc>
              <a:defRPr/>
            </a:pPr>
            <a:r>
              <a:rPr lang="en-US" altLang="en-US" sz="2400" dirty="0"/>
              <a:t>We are done: don't need to perform step 10</a:t>
            </a:r>
          </a:p>
          <a:p>
            <a:pPr marL="533400" indent="-533400" eaLnBrk="1" hangingPunct="1">
              <a:lnSpc>
                <a:spcPct val="90000"/>
              </a:lnSpc>
              <a:defRPr/>
            </a:pPr>
            <a:r>
              <a:rPr lang="en-US" altLang="en-US" sz="2400" dirty="0"/>
              <a:t>We humans can see that the array is sorted after step 7</a:t>
            </a:r>
          </a:p>
          <a:p>
            <a:pPr marL="933450" lvl="1" indent="-533400" eaLnBrk="1" hangingPunct="1">
              <a:lnSpc>
                <a:spcPct val="90000"/>
              </a:lnSpc>
              <a:defRPr/>
            </a:pPr>
            <a:r>
              <a:rPr lang="en-US" altLang="en-US" sz="2000" dirty="0"/>
              <a:t>The algorithm is not so smart, and must continue grinding along to conclusion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37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6A67CE0-F0E5-41A8-A405-D295D96172D8}" type="datetime1">
              <a:rPr lang="en-US" smtClean="0"/>
              <a:t>7/15/2021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Copyright (c) John K. </a:t>
            </a:r>
            <a:r>
              <a:rPr lang="en-US" dirty="0" err="1"/>
              <a:t>Ostlund</a:t>
            </a:r>
            <a:endParaRPr lang="en-US" dirty="0"/>
          </a:p>
        </p:txBody>
      </p: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25E6FA57-E1A5-458C-9F6B-15C6E91EA70F}"/>
              </a:ext>
            </a:extLst>
          </p:cNvPr>
          <p:cNvGrpSpPr/>
          <p:nvPr/>
        </p:nvGrpSpPr>
        <p:grpSpPr>
          <a:xfrm>
            <a:off x="2382885" y="3224606"/>
            <a:ext cx="4643273" cy="308789"/>
            <a:chOff x="2912757" y="2440415"/>
            <a:chExt cx="3357425" cy="308789"/>
          </a:xfrm>
        </p:grpSpPr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5A627573-098C-4ACC-B019-05B289B7CE97}"/>
                </a:ext>
              </a:extLst>
            </p:cNvPr>
            <p:cNvSpPr txBox="1"/>
            <p:nvPr/>
          </p:nvSpPr>
          <p:spPr>
            <a:xfrm>
              <a:off x="2912757" y="2440419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592C5E31-4307-4A32-A340-8D852EEEA5AF}"/>
                </a:ext>
              </a:extLst>
            </p:cNvPr>
            <p:cNvSpPr txBox="1"/>
            <p:nvPr/>
          </p:nvSpPr>
          <p:spPr>
            <a:xfrm>
              <a:off x="3249207" y="2441427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</a:rPr>
                <a:t>2</a:t>
              </a:r>
            </a:p>
          </p:txBody>
        </p:sp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DB74E000-C3D3-401D-BBCC-03582BF9E50A}"/>
                </a:ext>
              </a:extLst>
            </p:cNvPr>
            <p:cNvSpPr txBox="1"/>
            <p:nvPr/>
          </p:nvSpPr>
          <p:spPr>
            <a:xfrm>
              <a:off x="3584272" y="2440415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</a:rPr>
                <a:t>3</a:t>
              </a:r>
            </a:p>
          </p:txBody>
        </p: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8364EFCD-0A9A-48B9-AB47-8EB42B49C486}"/>
                </a:ext>
              </a:extLst>
            </p:cNvPr>
            <p:cNvSpPr txBox="1"/>
            <p:nvPr/>
          </p:nvSpPr>
          <p:spPr>
            <a:xfrm>
              <a:off x="3920722" y="2441426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</a:rPr>
                <a:t>4</a:t>
              </a:r>
            </a:p>
          </p:txBody>
        </p: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93D9F992-232C-44F2-8DB0-F23548BDCC58}"/>
                </a:ext>
              </a:extLst>
            </p:cNvPr>
            <p:cNvSpPr txBox="1"/>
            <p:nvPr/>
          </p:nvSpPr>
          <p:spPr>
            <a:xfrm>
              <a:off x="4255796" y="2440416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</a:rPr>
                <a:t>5</a:t>
              </a: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1CC6962E-76EE-4D45-92E1-D19F58C5F095}"/>
                </a:ext>
              </a:extLst>
            </p:cNvPr>
            <p:cNvSpPr txBox="1"/>
            <p:nvPr/>
          </p:nvSpPr>
          <p:spPr>
            <a:xfrm>
              <a:off x="4592246" y="2441424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</a:rPr>
                <a:t>6</a:t>
              </a:r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173B59E5-F273-4219-99FF-219D3CF85F70}"/>
                </a:ext>
              </a:extLst>
            </p:cNvPr>
            <p:cNvSpPr txBox="1"/>
            <p:nvPr/>
          </p:nvSpPr>
          <p:spPr>
            <a:xfrm>
              <a:off x="4927308" y="2440417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</a:rPr>
                <a:t>7</a:t>
              </a:r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97521EEE-E74D-401E-BB1B-1568F6D3E261}"/>
                </a:ext>
              </a:extLst>
            </p:cNvPr>
            <p:cNvSpPr txBox="1"/>
            <p:nvPr/>
          </p:nvSpPr>
          <p:spPr>
            <a:xfrm>
              <a:off x="5263758" y="2441425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</a:rPr>
                <a:t>8</a:t>
              </a:r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7672907F-804C-4AFD-8522-611E39D8DE1F}"/>
                </a:ext>
              </a:extLst>
            </p:cNvPr>
            <p:cNvSpPr txBox="1"/>
            <p:nvPr/>
          </p:nvSpPr>
          <p:spPr>
            <a:xfrm>
              <a:off x="5598832" y="2440415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</a:rPr>
                <a:t>9</a:t>
              </a:r>
            </a:p>
          </p:txBody>
        </p: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3177E58B-96D4-466D-924E-81CF70F94CDE}"/>
                </a:ext>
              </a:extLst>
            </p:cNvPr>
            <p:cNvSpPr txBox="1"/>
            <p:nvPr/>
          </p:nvSpPr>
          <p:spPr>
            <a:xfrm>
              <a:off x="5935282" y="2441423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00B050"/>
                  </a:solidFill>
                </a:rPr>
                <a:t>10</a:t>
              </a:r>
              <a:endParaRPr lang="en-US" sz="1400" dirty="0"/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7E0422E8-CEA3-4136-8AD7-6787D6B81DE4}"/>
              </a:ext>
            </a:extLst>
          </p:cNvPr>
          <p:cNvGrpSpPr/>
          <p:nvPr/>
        </p:nvGrpSpPr>
        <p:grpSpPr>
          <a:xfrm>
            <a:off x="2377838" y="2420218"/>
            <a:ext cx="4643273" cy="308789"/>
            <a:chOff x="2912757" y="2440415"/>
            <a:chExt cx="3357425" cy="308789"/>
          </a:xfrm>
        </p:grpSpPr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4375F0BF-2ECC-4C9F-9D08-AF88A8D985CE}"/>
                </a:ext>
              </a:extLst>
            </p:cNvPr>
            <p:cNvSpPr txBox="1"/>
            <p:nvPr/>
          </p:nvSpPr>
          <p:spPr>
            <a:xfrm>
              <a:off x="2912757" y="2440419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6202A014-D3B4-496A-99A0-EEDF3D2E4505}"/>
                </a:ext>
              </a:extLst>
            </p:cNvPr>
            <p:cNvSpPr txBox="1"/>
            <p:nvPr/>
          </p:nvSpPr>
          <p:spPr>
            <a:xfrm>
              <a:off x="3249207" y="2441427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</a:rPr>
                <a:t>2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DB07DCB6-7431-4D00-BDAA-E752360CD04C}"/>
                </a:ext>
              </a:extLst>
            </p:cNvPr>
            <p:cNvSpPr txBox="1"/>
            <p:nvPr/>
          </p:nvSpPr>
          <p:spPr>
            <a:xfrm>
              <a:off x="3584272" y="2440415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</a:rPr>
                <a:t>3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35B50199-2198-4936-B4E7-06152BE5EAD7}"/>
                </a:ext>
              </a:extLst>
            </p:cNvPr>
            <p:cNvSpPr txBox="1"/>
            <p:nvPr/>
          </p:nvSpPr>
          <p:spPr>
            <a:xfrm>
              <a:off x="3920722" y="2441426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</a:rPr>
                <a:t>4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FAD34B3C-29EC-4EF4-BA3A-B5CA1BDFCB61}"/>
                </a:ext>
              </a:extLst>
            </p:cNvPr>
            <p:cNvSpPr txBox="1"/>
            <p:nvPr/>
          </p:nvSpPr>
          <p:spPr>
            <a:xfrm>
              <a:off x="4255796" y="2440416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</a:rPr>
                <a:t>5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B2F2F99D-A17C-40D5-9D3F-5678979EFB38}"/>
                </a:ext>
              </a:extLst>
            </p:cNvPr>
            <p:cNvSpPr txBox="1"/>
            <p:nvPr/>
          </p:nvSpPr>
          <p:spPr>
            <a:xfrm>
              <a:off x="4592246" y="2441424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</a:rPr>
                <a:t>6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D406E0A9-C808-415D-B718-7F27D0E08D17}"/>
                </a:ext>
              </a:extLst>
            </p:cNvPr>
            <p:cNvSpPr txBox="1"/>
            <p:nvPr/>
          </p:nvSpPr>
          <p:spPr>
            <a:xfrm>
              <a:off x="4927308" y="2440417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</a:rPr>
                <a:t>7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CADF89A8-99C2-4438-9820-071B7743B374}"/>
                </a:ext>
              </a:extLst>
            </p:cNvPr>
            <p:cNvSpPr txBox="1"/>
            <p:nvPr/>
          </p:nvSpPr>
          <p:spPr>
            <a:xfrm>
              <a:off x="5263758" y="2441425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</a:rPr>
                <a:t>8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D944740F-1EB5-4211-BA1E-E6D645EFDF7D}"/>
                </a:ext>
              </a:extLst>
            </p:cNvPr>
            <p:cNvSpPr txBox="1"/>
            <p:nvPr/>
          </p:nvSpPr>
          <p:spPr>
            <a:xfrm>
              <a:off x="5598832" y="2440415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00B050"/>
                  </a:solidFill>
                </a:rPr>
                <a:t>9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AB516061-239D-4894-902E-48406B224561}"/>
                </a:ext>
              </a:extLst>
            </p:cNvPr>
            <p:cNvSpPr txBox="1"/>
            <p:nvPr/>
          </p:nvSpPr>
          <p:spPr>
            <a:xfrm>
              <a:off x="5935282" y="2441423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00B050"/>
                  </a:solidFill>
                </a:rPr>
                <a:t>10</a:t>
              </a:r>
              <a:endParaRPr lang="en-US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125418682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Selection Sort Performance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387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1182688" y="1981200"/>
                <a:ext cx="7772400" cy="4114800"/>
              </a:xfrm>
            </p:spPr>
            <p:txBody>
              <a:bodyPr/>
              <a:lstStyle/>
              <a:p>
                <a:pPr marL="533400" indent="-533400" eaLnBrk="1" hangingPunct="1">
                  <a:lnSpc>
                    <a:spcPct val="90000"/>
                  </a:lnSpc>
                  <a:defRPr/>
                </a:pPr>
                <a:r>
                  <a:rPr lang="en-US" altLang="en-US" sz="2400" dirty="0"/>
                  <a:t>Let's assume it takes the same amount of time to </a:t>
                </a:r>
                <a:r>
                  <a:rPr lang="en-US" altLang="en-US" sz="2400" i="1" dirty="0"/>
                  <a:t>compare</a:t>
                </a:r>
                <a:r>
                  <a:rPr lang="en-US" altLang="en-US" sz="2400" dirty="0"/>
                  <a:t> two values as to </a:t>
                </a:r>
                <a:r>
                  <a:rPr lang="en-US" altLang="en-US" sz="2400" i="1" dirty="0"/>
                  <a:t>swap</a:t>
                </a:r>
                <a:r>
                  <a:rPr lang="en-US" altLang="en-US" sz="2400" dirty="0"/>
                  <a:t> two values</a:t>
                </a:r>
              </a:p>
              <a:p>
                <a:pPr marL="533400" indent="-533400" eaLnBrk="1" hangingPunct="1">
                  <a:lnSpc>
                    <a:spcPct val="90000"/>
                  </a:lnSpc>
                  <a:defRPr/>
                </a:pPr>
                <a:r>
                  <a:rPr lang="en-US" altLang="en-US" sz="2400" dirty="0"/>
                  <a:t>To sort </a:t>
                </a:r>
                <a:r>
                  <a:rPr lang="en-US" altLang="en-US" sz="2400" b="1" dirty="0"/>
                  <a:t>N</a:t>
                </a:r>
                <a:r>
                  <a:rPr lang="en-US" altLang="en-US" sz="2400" dirty="0"/>
                  <a:t> values</a:t>
                </a:r>
              </a:p>
              <a:p>
                <a:pPr marL="933450" lvl="1" indent="-533400" eaLnBrk="1" hangingPunct="1">
                  <a:lnSpc>
                    <a:spcPct val="90000"/>
                  </a:lnSpc>
                  <a:defRPr/>
                </a:pPr>
                <a:r>
                  <a:rPr lang="en-US" altLang="en-US" sz="2000" dirty="0"/>
                  <a:t>Step 1: </a:t>
                </a:r>
                <a:r>
                  <a:rPr lang="en-US" altLang="en-US" sz="2000" b="1" dirty="0"/>
                  <a:t>N-1</a:t>
                </a:r>
                <a:r>
                  <a:rPr lang="en-US" altLang="en-US" sz="2000" dirty="0"/>
                  <a:t> compares and </a:t>
                </a:r>
                <a:r>
                  <a:rPr lang="en-US" altLang="en-US" sz="2000" b="1" dirty="0"/>
                  <a:t>1</a:t>
                </a:r>
                <a:r>
                  <a:rPr lang="en-US" altLang="en-US" sz="2000" dirty="0"/>
                  <a:t> swap, so </a:t>
                </a:r>
                <a:r>
                  <a:rPr lang="en-US" altLang="en-US" sz="2000" b="1" dirty="0"/>
                  <a:t>N</a:t>
                </a:r>
                <a:r>
                  <a:rPr lang="en-US" altLang="en-US" sz="2000" dirty="0"/>
                  <a:t> operations</a:t>
                </a:r>
              </a:p>
              <a:p>
                <a:pPr marL="933450" lvl="1" indent="-533400" eaLnBrk="1" hangingPunct="1">
                  <a:lnSpc>
                    <a:spcPct val="90000"/>
                  </a:lnSpc>
                  <a:defRPr/>
                </a:pPr>
                <a:r>
                  <a:rPr lang="en-US" altLang="en-US" sz="2000" dirty="0"/>
                  <a:t>Step 2: </a:t>
                </a:r>
                <a:r>
                  <a:rPr lang="en-US" altLang="en-US" sz="2000" b="1" dirty="0"/>
                  <a:t>N-2</a:t>
                </a:r>
                <a:r>
                  <a:rPr lang="en-US" altLang="en-US" sz="2000" dirty="0"/>
                  <a:t> compares and </a:t>
                </a:r>
                <a:r>
                  <a:rPr lang="en-US" altLang="en-US" sz="2000" b="1" dirty="0"/>
                  <a:t>1</a:t>
                </a:r>
                <a:r>
                  <a:rPr lang="en-US" altLang="en-US" sz="2000" dirty="0"/>
                  <a:t> swap, so </a:t>
                </a:r>
                <a:r>
                  <a:rPr lang="en-US" altLang="en-US" sz="2000" b="1" dirty="0"/>
                  <a:t>N-1</a:t>
                </a:r>
                <a:r>
                  <a:rPr lang="en-US" altLang="en-US" sz="2000" dirty="0"/>
                  <a:t> operations</a:t>
                </a:r>
              </a:p>
              <a:p>
                <a:pPr marL="933450" lvl="1" indent="-533400" eaLnBrk="1" hangingPunct="1">
                  <a:lnSpc>
                    <a:spcPct val="90000"/>
                  </a:lnSpc>
                  <a:defRPr/>
                </a:pPr>
                <a:r>
                  <a:rPr lang="en-US" altLang="en-US" sz="2000" dirty="0"/>
                  <a:t>Step N-1: </a:t>
                </a:r>
                <a:r>
                  <a:rPr lang="en-US" altLang="en-US" sz="2000" b="1" dirty="0"/>
                  <a:t>1</a:t>
                </a:r>
                <a:r>
                  <a:rPr lang="en-US" altLang="en-US" sz="2000" dirty="0"/>
                  <a:t> compares and </a:t>
                </a:r>
                <a:r>
                  <a:rPr lang="en-US" altLang="en-US" sz="2000" b="1" dirty="0"/>
                  <a:t>1</a:t>
                </a:r>
                <a:r>
                  <a:rPr lang="en-US" altLang="en-US" sz="2000" dirty="0"/>
                  <a:t> swap, so </a:t>
                </a:r>
                <a:r>
                  <a:rPr lang="en-US" altLang="en-US" sz="2000" b="1" dirty="0"/>
                  <a:t>2</a:t>
                </a:r>
                <a:r>
                  <a:rPr lang="en-US" altLang="en-US" sz="2000" dirty="0"/>
                  <a:t> operations</a:t>
                </a:r>
              </a:p>
              <a:p>
                <a:pPr marL="533400" indent="-533400" eaLnBrk="1" hangingPunct="1">
                  <a:lnSpc>
                    <a:spcPct val="90000"/>
                  </a:lnSpc>
                  <a:defRPr/>
                </a:pPr>
                <a:r>
                  <a:rPr lang="en-US" altLang="en-US" sz="2800" dirty="0"/>
                  <a:t>Total time is thus:</a:t>
                </a:r>
              </a:p>
              <a:p>
                <a:pPr marL="0" indent="0" eaLnBrk="1" hangingPunct="1">
                  <a:lnSpc>
                    <a:spcPct val="90000"/>
                  </a:lnSpc>
                  <a:buNone/>
                  <a:defRPr/>
                </a:pPr>
                <a:r>
                  <a:rPr lang="en-US" altLang="en-US" sz="2400" dirty="0"/>
                  <a:t>  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en-US" sz="24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  <m:t>=2</m:t>
                        </m:r>
                      </m:sub>
                      <m:sup>
                        <m: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  <m:t>  =  (</m:t>
                        </m:r>
                        <m:nary>
                          <m:naryPr>
                            <m:chr m:val="∑"/>
                            <m:ctrlPr>
                              <a:rPr lang="en-US" altLang="en-US" sz="24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en-US" sz="24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altLang="en-US" sz="2400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en-US" sz="24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p>
                          <m:e>
                            <m:r>
                              <a:rPr lang="en-US" altLang="en-US" sz="24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altLang="en-US" sz="2400" b="0" i="1" smtClean="0">
                                <a:latin typeface="Cambria Math" panose="02040503050406030204" pitchFamily="18" charset="0"/>
                              </a:rPr>
                              <m:t>)−1  =  </m:t>
                            </m:r>
                            <m:f>
                              <m:fPr>
                                <m:ctrlPr>
                                  <a:rPr lang="en-US" alt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en-US" sz="2400" b="0" i="1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  <m:d>
                                  <m:dPr>
                                    <m:ctrlPr>
                                      <a:rPr lang="en-US" alt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en-US" sz="2400" b="0" i="1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  <m:r>
                                      <a:rPr lang="en-US" altLang="en-US" sz="2400" b="0" i="1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e>
                                </m:d>
                              </m:num>
                              <m:den>
                                <m:r>
                                  <a:rPr lang="en-US" alt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en-US" altLang="en-US" sz="2400" b="0" i="1" smtClean="0">
                                <a:latin typeface="Cambria Math" panose="02040503050406030204" pitchFamily="18" charset="0"/>
                              </a:rPr>
                              <m:t> −1 </m:t>
                            </m:r>
                          </m:e>
                        </m:nary>
                      </m:e>
                    </m:nary>
                  </m:oMath>
                </a14:m>
                <a:endParaRPr lang="en-US" altLang="en-US" sz="2400" dirty="0"/>
              </a:p>
              <a:p>
                <a:pPr marL="0" indent="0" eaLnBrk="1" hangingPunct="1">
                  <a:lnSpc>
                    <a:spcPct val="90000"/>
                  </a:lnSpc>
                  <a:buNone/>
                  <a:defRPr/>
                </a:pPr>
                <a:r>
                  <a:rPr lang="en-US" altLang="en-US" sz="2400" dirty="0"/>
                  <a:t>	</a:t>
                </a:r>
                <a14:m>
                  <m:oMath xmlns:m="http://schemas.openxmlformats.org/officeDocument/2006/math">
                    <m:r>
                      <a:rPr lang="en-US" altLang="en-US" sz="2400" b="0" i="0" smtClean="0">
                        <a:latin typeface="Cambria Math" panose="02040503050406030204" pitchFamily="18" charset="0"/>
                      </a:rPr>
                      <m:t>      </m:t>
                    </m:r>
                    <m:r>
                      <a:rPr lang="en-US" altLang="en-US" sz="2400" b="0" i="1" smtClean="0">
                        <a:latin typeface="Cambria Math" panose="02040503050406030204" pitchFamily="18" charset="0"/>
                      </a:rPr>
                      <m:t>=  </m:t>
                    </m:r>
                    <m:f>
                      <m:fPr>
                        <m:ctrlP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en-US" sz="24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p>
                            <m:r>
                              <a:rPr lang="en-US" alt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  <m:t> −2</m:t>
                        </m:r>
                      </m:num>
                      <m:den>
                        <m: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en-US" sz="2400" dirty="0"/>
                  <a:t>   =   </a:t>
                </a:r>
                <a:r>
                  <a:rPr lang="en-US" altLang="en-US" sz="2400" b="1" dirty="0"/>
                  <a:t>O(N</a:t>
                </a:r>
                <a:r>
                  <a:rPr lang="en-US" altLang="en-US" sz="2400" b="1" baseline="30000" dirty="0"/>
                  <a:t>2</a:t>
                </a:r>
                <a:r>
                  <a:rPr lang="en-US" altLang="en-US" sz="2400" b="1" dirty="0"/>
                  <a:t>)</a:t>
                </a:r>
              </a:p>
            </p:txBody>
          </p:sp>
        </mc:Choice>
        <mc:Fallback xmlns="">
          <p:sp>
            <p:nvSpPr>
              <p:cNvPr id="1638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182688" y="1981200"/>
                <a:ext cx="7772400" cy="4114800"/>
              </a:xfrm>
              <a:blipFill>
                <a:blip r:embed="rId3"/>
                <a:stretch>
                  <a:fillRect l="-314" t="-20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38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6A67CE0-F0E5-41A8-A405-D295D96172D8}" type="datetime1">
              <a:rPr lang="en-US" smtClean="0"/>
              <a:t>7/15/2021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Copyright (c) John K. </a:t>
            </a:r>
            <a:r>
              <a:rPr lang="en-US" dirty="0" err="1"/>
              <a:t>Ostlund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791334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Python Code For Selection Sort</a:t>
            </a:r>
            <a:endParaRPr lang="en-US" altLang="en-US" b="1" dirty="0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987256"/>
            <a:ext cx="7772400" cy="4114800"/>
          </a:xfrm>
        </p:spPr>
        <p:txBody>
          <a:bodyPr/>
          <a:lstStyle/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def 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selection_sort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(a):   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# a is a list or </a:t>
            </a:r>
            <a:r>
              <a:rPr lang="en-US" alt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ndarray</a:t>
            </a:r>
            <a:endParaRPr lang="en-US" alt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dim_a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(a)</a:t>
            </a: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endParaRPr lang="en-US" altLang="en-US" sz="1000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altLang="en-US" sz="20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# for each slot ...</a:t>
            </a: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for slot in range(</a:t>
            </a:r>
            <a:r>
              <a:rPr lang="en-US" altLang="en-US" sz="20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dim_a</a:t>
            </a:r>
            <a:r>
              <a:rPr lang="en-US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alt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# ... find index of lowest </a:t>
            </a:r>
            <a:r>
              <a:rPr lang="en-US" altLang="en-US" sz="20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alt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...</a:t>
            </a: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en-US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low_idx</a:t>
            </a: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slot</a:t>
            </a: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for k in range(</a:t>
            </a:r>
            <a:r>
              <a:rPr lang="en-US" altLang="en-US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low_idx</a:t>
            </a: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+ 1, </a:t>
            </a:r>
            <a:r>
              <a:rPr lang="en-US" altLang="en-US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dim_a</a:t>
            </a: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if a[k] &lt; a[</a:t>
            </a:r>
            <a:r>
              <a:rPr lang="en-US" altLang="en-US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low_idx</a:t>
            </a: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]:</a:t>
            </a: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</a:t>
            </a:r>
            <a:r>
              <a:rPr lang="en-US" altLang="en-US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low_idx</a:t>
            </a: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k</a:t>
            </a: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endParaRPr lang="en-US" altLang="en-US" sz="1000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altLang="en-US" sz="20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# ... swap lowest </a:t>
            </a:r>
            <a:r>
              <a:rPr lang="en-US" altLang="en-US" sz="20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altLang="en-US" sz="20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to current slot</a:t>
            </a: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altLang="en-US" sz="20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a[slot], a[</a:t>
            </a:r>
            <a:r>
              <a:rPr lang="en-US" altLang="en-US" sz="20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low_idx</a:t>
            </a:r>
            <a:r>
              <a:rPr lang="en-US" altLang="en-US" sz="20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= a[</a:t>
            </a:r>
            <a:r>
              <a:rPr lang="en-US" altLang="en-US" sz="20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low_idx</a:t>
            </a:r>
            <a:r>
              <a:rPr lang="en-US" altLang="en-US" sz="20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], a[slot]</a:t>
            </a: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endParaRPr lang="en-US" alt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39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6A67CE0-F0E5-41A8-A405-D295D96172D8}" type="datetime1">
              <a:rPr lang="en-US" smtClean="0"/>
              <a:t>7/15/2021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Copyright (c) John K. </a:t>
            </a:r>
            <a:r>
              <a:rPr lang="en-US" dirty="0" err="1"/>
              <a:t>Ostlund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201819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Insertion Sort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981200"/>
            <a:ext cx="7772400" cy="4114800"/>
          </a:xfrm>
        </p:spPr>
        <p:txBody>
          <a:bodyPr/>
          <a:lstStyle/>
          <a:p>
            <a:pPr marL="533400" indent="-533400" eaLnBrk="1" hangingPunct="1">
              <a:lnSpc>
                <a:spcPct val="90000"/>
              </a:lnSpc>
              <a:defRPr/>
            </a:pPr>
            <a:r>
              <a:rPr lang="en-US" altLang="en-US" sz="2400" dirty="0"/>
              <a:t>Suppose (again!) you have </a:t>
            </a:r>
            <a:r>
              <a:rPr lang="en-US" altLang="en-US" sz="2400" b="1" i="1" dirty="0"/>
              <a:t>A History of </a:t>
            </a:r>
            <a:r>
              <a:rPr lang="en-US" altLang="en-US" sz="2400" b="1" i="1" dirty="0" err="1"/>
              <a:t>Floogleland</a:t>
            </a:r>
            <a:r>
              <a:rPr lang="en-US" altLang="en-US" sz="2400" dirty="0"/>
              <a:t>, Volumes </a:t>
            </a:r>
            <a:r>
              <a:rPr lang="en-US" altLang="en-US" sz="2400" b="1" dirty="0"/>
              <a:t>1</a:t>
            </a:r>
            <a:r>
              <a:rPr lang="en-US" altLang="en-US" sz="2400" dirty="0"/>
              <a:t> through </a:t>
            </a:r>
            <a:r>
              <a:rPr lang="en-US" altLang="en-US" sz="2400" b="1" dirty="0"/>
              <a:t>10</a:t>
            </a:r>
            <a:r>
              <a:rPr lang="en-US" altLang="en-US" sz="2400" dirty="0"/>
              <a:t>, in some shuffled order on a shelf</a:t>
            </a:r>
          </a:p>
          <a:p>
            <a:pPr marL="533400" indent="-533400" eaLnBrk="1" hangingPunct="1">
              <a:lnSpc>
                <a:spcPct val="90000"/>
              </a:lnSpc>
              <a:defRPr/>
            </a:pPr>
            <a:r>
              <a:rPr lang="en-US" altLang="en-US" sz="2400" dirty="0"/>
              <a:t>You would like to put these in sorted order by volume (on </a:t>
            </a:r>
            <a:r>
              <a:rPr lang="en-US" altLang="en-US" sz="2400" i="1" dirty="0"/>
              <a:t>the same</a:t>
            </a:r>
            <a:r>
              <a:rPr lang="en-US" altLang="en-US" sz="2400" dirty="0"/>
              <a:t> shelf)</a:t>
            </a:r>
          </a:p>
          <a:p>
            <a:pPr marL="533400" indent="-533400" eaLnBrk="1" hangingPunct="1">
              <a:lnSpc>
                <a:spcPct val="90000"/>
              </a:lnSpc>
              <a:defRPr/>
            </a:pPr>
            <a:r>
              <a:rPr lang="en-US" altLang="en-US" sz="2400" b="1" dirty="0"/>
              <a:t>Idea:</a:t>
            </a:r>
          </a:p>
          <a:p>
            <a:pPr marL="933450" lvl="1" indent="-533400" eaLnBrk="1" hangingPunct="1">
              <a:lnSpc>
                <a:spcPct val="90000"/>
              </a:lnSpc>
              <a:defRPr/>
            </a:pPr>
            <a:r>
              <a:rPr lang="en-US" altLang="en-US" sz="2000" dirty="0"/>
              <a:t>The volume in the sub-0 slot is already sorted </a:t>
            </a:r>
            <a:r>
              <a:rPr lang="en-US" altLang="en-US" sz="2000" i="1" dirty="0"/>
              <a:t>relative to itself</a:t>
            </a:r>
          </a:p>
          <a:p>
            <a:pPr marL="933450" lvl="1" indent="-533400" eaLnBrk="1" hangingPunct="1">
              <a:lnSpc>
                <a:spcPct val="90000"/>
              </a:lnSpc>
              <a:defRPr/>
            </a:pPr>
            <a:r>
              <a:rPr lang="en-US" altLang="en-US" sz="2000" dirty="0"/>
              <a:t>Compare the volume in the sub-1 slot to the already sorted volume(s), and </a:t>
            </a:r>
            <a:r>
              <a:rPr lang="en-US" altLang="en-US" sz="2000" b="1" i="1" dirty="0"/>
              <a:t>insert</a:t>
            </a:r>
            <a:r>
              <a:rPr lang="en-US" altLang="en-US" sz="2000" dirty="0"/>
              <a:t> this volume in the correct place</a:t>
            </a:r>
          </a:p>
          <a:p>
            <a:pPr marL="1333500" lvl="2" indent="-533400" eaLnBrk="1" hangingPunct="1">
              <a:lnSpc>
                <a:spcPct val="90000"/>
              </a:lnSpc>
              <a:defRPr/>
            </a:pPr>
            <a:r>
              <a:rPr lang="en-US" altLang="en-US" sz="1600" dirty="0"/>
              <a:t>Shift other volumes to the right, as needed</a:t>
            </a:r>
          </a:p>
          <a:p>
            <a:pPr marL="933450" lvl="1" indent="-533400" eaLnBrk="1" hangingPunct="1">
              <a:lnSpc>
                <a:spcPct val="90000"/>
              </a:lnSpc>
              <a:defRPr/>
            </a:pPr>
            <a:r>
              <a:rPr lang="en-US" altLang="en-US" sz="2000" dirty="0"/>
              <a:t>Repeat with the sub-2, … , sub-9 volumes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40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6A67CE0-F0E5-41A8-A405-D295D96172D8}" type="datetime1">
              <a:rPr lang="en-US" smtClean="0"/>
              <a:t>7/15/2021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Copyright (c) John K. </a:t>
            </a:r>
            <a:r>
              <a:rPr lang="en-US" dirty="0" err="1"/>
              <a:t>Ostlund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786590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Insertion Sort In-Place Example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981200"/>
            <a:ext cx="7772400" cy="4114800"/>
          </a:xfrm>
        </p:spPr>
        <p:txBody>
          <a:bodyPr/>
          <a:lstStyle/>
          <a:p>
            <a:pPr marL="533400" indent="-533400" eaLnBrk="1" hangingPunct="1">
              <a:lnSpc>
                <a:spcPct val="90000"/>
              </a:lnSpc>
              <a:defRPr/>
            </a:pPr>
            <a:r>
              <a:rPr lang="en-US" altLang="en-US" sz="2400" dirty="0"/>
              <a:t>Starting array:</a:t>
            </a:r>
          </a:p>
          <a:p>
            <a:pPr marL="533400" indent="-533400" eaLnBrk="1" hangingPunct="1">
              <a:lnSpc>
                <a:spcPct val="90000"/>
              </a:lnSpc>
              <a:defRPr/>
            </a:pPr>
            <a:endParaRPr lang="en-US" altLang="en-US" sz="2400" dirty="0"/>
          </a:p>
          <a:p>
            <a:pPr marL="533400" indent="-533400" eaLnBrk="1" hangingPunct="1">
              <a:lnSpc>
                <a:spcPct val="90000"/>
              </a:lnSpc>
              <a:defRPr/>
            </a:pPr>
            <a:r>
              <a:rPr lang="en-US" altLang="en-US" sz="2400" dirty="0"/>
              <a:t>Step 1: 9 is sorted, </a:t>
            </a:r>
            <a:r>
              <a:rPr lang="en-US" altLang="en-US" sz="2400" i="1" dirty="0"/>
              <a:t>relative to itself</a:t>
            </a:r>
          </a:p>
          <a:p>
            <a:pPr marL="533400" indent="-533400" eaLnBrk="1" hangingPunct="1">
              <a:lnSpc>
                <a:spcPct val="90000"/>
              </a:lnSpc>
              <a:defRPr/>
            </a:pPr>
            <a:endParaRPr lang="en-US" altLang="en-US" sz="2400" dirty="0"/>
          </a:p>
          <a:p>
            <a:pPr marL="533400" indent="-533400" eaLnBrk="1" hangingPunct="1">
              <a:lnSpc>
                <a:spcPct val="90000"/>
              </a:lnSpc>
              <a:defRPr/>
            </a:pPr>
            <a:r>
              <a:rPr lang="en-US" altLang="en-US" sz="2400" dirty="0"/>
              <a:t>Step 2: insert 10 in the correct slot, relative to the already-sorted values</a:t>
            </a:r>
          </a:p>
          <a:p>
            <a:pPr marL="533400" indent="-533400" eaLnBrk="1" hangingPunct="1">
              <a:lnSpc>
                <a:spcPct val="90000"/>
              </a:lnSpc>
              <a:defRPr/>
            </a:pPr>
            <a:endParaRPr lang="en-US" altLang="en-US" sz="2400" dirty="0"/>
          </a:p>
          <a:p>
            <a:pPr marL="933450" lvl="1" indent="-533400" eaLnBrk="1" hangingPunct="1">
              <a:lnSpc>
                <a:spcPct val="90000"/>
              </a:lnSpc>
              <a:defRPr/>
            </a:pPr>
            <a:r>
              <a:rPr lang="en-US" altLang="en-US" sz="2000" dirty="0"/>
              <a:t>No shift of 9 needed</a:t>
            </a:r>
          </a:p>
          <a:p>
            <a:pPr marL="933450" lvl="1" indent="-533400" eaLnBrk="1" hangingPunct="1">
              <a:lnSpc>
                <a:spcPct val="90000"/>
              </a:lnSpc>
              <a:defRPr/>
            </a:pPr>
            <a:r>
              <a:rPr lang="en-US" altLang="en-US" sz="2000" dirty="0"/>
              <a:t>First 2 slots now sorted (relative to each other)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41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6A67CE0-F0E5-41A8-A405-D295D96172D8}" type="datetime1">
              <a:rPr lang="en-US" smtClean="0"/>
              <a:t>7/15/2021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Copyright (c) John K. </a:t>
            </a:r>
            <a:r>
              <a:rPr lang="en-US" dirty="0" err="1"/>
              <a:t>Ostlund</a:t>
            </a:r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27ABE92-D7D0-4EA7-8AB4-16402F58517E}"/>
              </a:ext>
            </a:extLst>
          </p:cNvPr>
          <p:cNvGrpSpPr/>
          <p:nvPr/>
        </p:nvGrpSpPr>
        <p:grpSpPr>
          <a:xfrm>
            <a:off x="2379863" y="2440411"/>
            <a:ext cx="4643273" cy="308789"/>
            <a:chOff x="2912757" y="2440415"/>
            <a:chExt cx="3357425" cy="308789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E012C025-6765-4B09-8FC6-A3813759BE47}"/>
                </a:ext>
              </a:extLst>
            </p:cNvPr>
            <p:cNvSpPr txBox="1"/>
            <p:nvPr/>
          </p:nvSpPr>
          <p:spPr>
            <a:xfrm>
              <a:off x="2912757" y="2440419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9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27A6C65-330F-4C72-B7E9-B091EF6E2DC1}"/>
                </a:ext>
              </a:extLst>
            </p:cNvPr>
            <p:cNvSpPr txBox="1"/>
            <p:nvPr/>
          </p:nvSpPr>
          <p:spPr>
            <a:xfrm>
              <a:off x="3249207" y="2441427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10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C159A07-5786-49A5-8639-441BFE6A7CE3}"/>
                </a:ext>
              </a:extLst>
            </p:cNvPr>
            <p:cNvSpPr txBox="1"/>
            <p:nvPr/>
          </p:nvSpPr>
          <p:spPr>
            <a:xfrm>
              <a:off x="3584272" y="2440415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3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70A787E-94F8-41D3-A63A-38ED22CC1714}"/>
                </a:ext>
              </a:extLst>
            </p:cNvPr>
            <p:cNvSpPr txBox="1"/>
            <p:nvPr/>
          </p:nvSpPr>
          <p:spPr>
            <a:xfrm>
              <a:off x="3920722" y="2441426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1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41C9C38-5568-46A1-A3B9-19587FD243C6}"/>
                </a:ext>
              </a:extLst>
            </p:cNvPr>
            <p:cNvSpPr txBox="1"/>
            <p:nvPr/>
          </p:nvSpPr>
          <p:spPr>
            <a:xfrm>
              <a:off x="4255796" y="2440416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7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9AA98E5-3F6D-4478-A430-D16AAD9A057E}"/>
                </a:ext>
              </a:extLst>
            </p:cNvPr>
            <p:cNvSpPr txBox="1"/>
            <p:nvPr/>
          </p:nvSpPr>
          <p:spPr>
            <a:xfrm>
              <a:off x="4592246" y="2441424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8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F039154-AF3B-49FA-B32F-15946B348501}"/>
                </a:ext>
              </a:extLst>
            </p:cNvPr>
            <p:cNvSpPr txBox="1"/>
            <p:nvPr/>
          </p:nvSpPr>
          <p:spPr>
            <a:xfrm>
              <a:off x="4927308" y="2440417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2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EBB0347-5A26-4B64-A7CC-1F0462FE598D}"/>
                </a:ext>
              </a:extLst>
            </p:cNvPr>
            <p:cNvSpPr txBox="1"/>
            <p:nvPr/>
          </p:nvSpPr>
          <p:spPr>
            <a:xfrm>
              <a:off x="5263758" y="2441425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6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505DB26-A1C0-4148-8A7E-B598313D77CE}"/>
                </a:ext>
              </a:extLst>
            </p:cNvPr>
            <p:cNvSpPr txBox="1"/>
            <p:nvPr/>
          </p:nvSpPr>
          <p:spPr>
            <a:xfrm>
              <a:off x="5598832" y="2440415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4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ECCC3F4-12F5-4F83-BD0F-3EA958C79AB9}"/>
                </a:ext>
              </a:extLst>
            </p:cNvPr>
            <p:cNvSpPr txBox="1"/>
            <p:nvPr/>
          </p:nvSpPr>
          <p:spPr>
            <a:xfrm>
              <a:off x="5935282" y="2441423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5</a:t>
              </a:r>
            </a:p>
          </p:txBody>
        </p:sp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41E22520-2D43-4647-A73E-99939B7E1EF9}"/>
              </a:ext>
            </a:extLst>
          </p:cNvPr>
          <p:cNvGrpSpPr/>
          <p:nvPr/>
        </p:nvGrpSpPr>
        <p:grpSpPr>
          <a:xfrm>
            <a:off x="2379863" y="3251862"/>
            <a:ext cx="4643273" cy="308789"/>
            <a:chOff x="2912757" y="2440415"/>
            <a:chExt cx="3357425" cy="308789"/>
          </a:xfrm>
        </p:grpSpPr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3284EC74-6A33-4921-AB7A-1C0EB4E67069}"/>
                </a:ext>
              </a:extLst>
            </p:cNvPr>
            <p:cNvSpPr txBox="1"/>
            <p:nvPr/>
          </p:nvSpPr>
          <p:spPr>
            <a:xfrm>
              <a:off x="2912757" y="2440419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</a:rPr>
                <a:t>9</a:t>
              </a: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F8DFFE87-8A6B-4598-8C54-3AE3F232C188}"/>
                </a:ext>
              </a:extLst>
            </p:cNvPr>
            <p:cNvSpPr txBox="1"/>
            <p:nvPr/>
          </p:nvSpPr>
          <p:spPr>
            <a:xfrm>
              <a:off x="3249207" y="2441427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10</a:t>
              </a: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708066B8-D51C-4D3E-88E1-BD4ACBCC474B}"/>
                </a:ext>
              </a:extLst>
            </p:cNvPr>
            <p:cNvSpPr txBox="1"/>
            <p:nvPr/>
          </p:nvSpPr>
          <p:spPr>
            <a:xfrm>
              <a:off x="3584272" y="2440415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3</a:t>
              </a: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06315041-2B72-4329-8C73-B46156A8E9A8}"/>
                </a:ext>
              </a:extLst>
            </p:cNvPr>
            <p:cNvSpPr txBox="1"/>
            <p:nvPr/>
          </p:nvSpPr>
          <p:spPr>
            <a:xfrm>
              <a:off x="3920722" y="2441426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1</a:t>
              </a:r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DD8E368F-7439-4091-82C0-73DE4528ED5A}"/>
                </a:ext>
              </a:extLst>
            </p:cNvPr>
            <p:cNvSpPr txBox="1"/>
            <p:nvPr/>
          </p:nvSpPr>
          <p:spPr>
            <a:xfrm>
              <a:off x="4255796" y="2440416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7</a:t>
              </a:r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D80392C4-8F7B-498B-BAAF-363E69291CAA}"/>
                </a:ext>
              </a:extLst>
            </p:cNvPr>
            <p:cNvSpPr txBox="1"/>
            <p:nvPr/>
          </p:nvSpPr>
          <p:spPr>
            <a:xfrm>
              <a:off x="4592246" y="2441424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8</a:t>
              </a: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2C5C769A-231E-4C63-886E-211A59E2B572}"/>
                </a:ext>
              </a:extLst>
            </p:cNvPr>
            <p:cNvSpPr txBox="1"/>
            <p:nvPr/>
          </p:nvSpPr>
          <p:spPr>
            <a:xfrm>
              <a:off x="4927308" y="2440417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2</a:t>
              </a: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A5AF1627-C7A9-4EA7-A33E-AB55CCD6CF60}"/>
                </a:ext>
              </a:extLst>
            </p:cNvPr>
            <p:cNvSpPr txBox="1"/>
            <p:nvPr/>
          </p:nvSpPr>
          <p:spPr>
            <a:xfrm>
              <a:off x="5263758" y="2441425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6</a:t>
              </a:r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08AE2949-68FE-402E-841D-E2F2049C7145}"/>
                </a:ext>
              </a:extLst>
            </p:cNvPr>
            <p:cNvSpPr txBox="1"/>
            <p:nvPr/>
          </p:nvSpPr>
          <p:spPr>
            <a:xfrm>
              <a:off x="5598832" y="2440415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4</a:t>
              </a: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5A55D6FA-B162-496D-892D-7DAF05E04FCC}"/>
                </a:ext>
              </a:extLst>
            </p:cNvPr>
            <p:cNvSpPr txBox="1"/>
            <p:nvPr/>
          </p:nvSpPr>
          <p:spPr>
            <a:xfrm>
              <a:off x="5935282" y="2441423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5</a:t>
              </a:r>
            </a:p>
          </p:txBody>
        </p:sp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86E8EF97-33F5-4FB0-A2F0-A88E103DFDA1}"/>
              </a:ext>
            </a:extLst>
          </p:cNvPr>
          <p:cNvGrpSpPr/>
          <p:nvPr/>
        </p:nvGrpSpPr>
        <p:grpSpPr>
          <a:xfrm>
            <a:off x="2380870" y="4361043"/>
            <a:ext cx="4643273" cy="308789"/>
            <a:chOff x="2912757" y="2440415"/>
            <a:chExt cx="3357425" cy="308789"/>
          </a:xfrm>
        </p:grpSpPr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9BC5AA5D-98BE-4E22-8BD8-C8CFD8C3FD87}"/>
                </a:ext>
              </a:extLst>
            </p:cNvPr>
            <p:cNvSpPr txBox="1"/>
            <p:nvPr/>
          </p:nvSpPr>
          <p:spPr>
            <a:xfrm>
              <a:off x="2912757" y="2440419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</a:rPr>
                <a:t>9</a:t>
              </a: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0C49DD73-1DA2-4179-AD37-36C02508215E}"/>
                </a:ext>
              </a:extLst>
            </p:cNvPr>
            <p:cNvSpPr txBox="1"/>
            <p:nvPr/>
          </p:nvSpPr>
          <p:spPr>
            <a:xfrm>
              <a:off x="3249207" y="2441427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</a:rPr>
                <a:t>10</a:t>
              </a:r>
            </a:p>
          </p:txBody>
        </p: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AE8C8171-5E34-4772-A97E-6E953FE2701D}"/>
                </a:ext>
              </a:extLst>
            </p:cNvPr>
            <p:cNvSpPr txBox="1"/>
            <p:nvPr/>
          </p:nvSpPr>
          <p:spPr>
            <a:xfrm>
              <a:off x="3584272" y="2440415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3</a:t>
              </a:r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4783C369-C640-45FE-AA2D-9CE8933BC020}"/>
                </a:ext>
              </a:extLst>
            </p:cNvPr>
            <p:cNvSpPr txBox="1"/>
            <p:nvPr/>
          </p:nvSpPr>
          <p:spPr>
            <a:xfrm>
              <a:off x="3920722" y="2441426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1</a:t>
              </a: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8759AC8E-2F22-4E97-BD80-31A728EEDCB0}"/>
                </a:ext>
              </a:extLst>
            </p:cNvPr>
            <p:cNvSpPr txBox="1"/>
            <p:nvPr/>
          </p:nvSpPr>
          <p:spPr>
            <a:xfrm>
              <a:off x="4255796" y="2440416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7</a:t>
              </a:r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512F0EFC-D546-4D66-8C27-77CF0BE989A9}"/>
                </a:ext>
              </a:extLst>
            </p:cNvPr>
            <p:cNvSpPr txBox="1"/>
            <p:nvPr/>
          </p:nvSpPr>
          <p:spPr>
            <a:xfrm>
              <a:off x="4592246" y="2441424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8</a:t>
              </a: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6ED42AF4-8262-47B5-98AA-D2FE3E489096}"/>
                </a:ext>
              </a:extLst>
            </p:cNvPr>
            <p:cNvSpPr txBox="1"/>
            <p:nvPr/>
          </p:nvSpPr>
          <p:spPr>
            <a:xfrm>
              <a:off x="4927308" y="2440417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2</a:t>
              </a:r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6467876F-4CFF-46CA-B584-2CF42DC5292F}"/>
                </a:ext>
              </a:extLst>
            </p:cNvPr>
            <p:cNvSpPr txBox="1"/>
            <p:nvPr/>
          </p:nvSpPr>
          <p:spPr>
            <a:xfrm>
              <a:off x="5263758" y="2441425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6</a:t>
              </a:r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44B7CA51-D460-4BF2-9748-1E9753722DB7}"/>
                </a:ext>
              </a:extLst>
            </p:cNvPr>
            <p:cNvSpPr txBox="1"/>
            <p:nvPr/>
          </p:nvSpPr>
          <p:spPr>
            <a:xfrm>
              <a:off x="5598832" y="2440415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4</a:t>
              </a:r>
            </a:p>
          </p:txBody>
        </p: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5C6B6AA1-3D00-40E6-A322-947C4DC65A9E}"/>
                </a:ext>
              </a:extLst>
            </p:cNvPr>
            <p:cNvSpPr txBox="1"/>
            <p:nvPr/>
          </p:nvSpPr>
          <p:spPr>
            <a:xfrm>
              <a:off x="5935282" y="2441423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8462903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Insertion Sort In-Place Example (</a:t>
            </a:r>
            <a:r>
              <a:rPr lang="en-US" altLang="en-US" dirty="0" err="1"/>
              <a:t>cont</a:t>
            </a:r>
            <a:r>
              <a:rPr lang="en-US" altLang="en-US" dirty="0"/>
              <a:t>)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981200"/>
            <a:ext cx="7772400" cy="4114800"/>
          </a:xfrm>
        </p:spPr>
        <p:txBody>
          <a:bodyPr/>
          <a:lstStyle/>
          <a:p>
            <a:pPr marL="533400" indent="-533400" eaLnBrk="1" hangingPunct="1">
              <a:lnSpc>
                <a:spcPct val="90000"/>
              </a:lnSpc>
              <a:defRPr/>
            </a:pPr>
            <a:r>
              <a:rPr lang="en-US" altLang="en-US" sz="2400" dirty="0"/>
              <a:t>Step 3: insert 3 in the correct slot, relative to the already-sorted values</a:t>
            </a:r>
          </a:p>
          <a:p>
            <a:pPr marL="533400" indent="-533400" eaLnBrk="1" hangingPunct="1">
              <a:lnSpc>
                <a:spcPct val="90000"/>
              </a:lnSpc>
              <a:defRPr/>
            </a:pPr>
            <a:endParaRPr lang="en-US" altLang="en-US" sz="2400" dirty="0"/>
          </a:p>
          <a:p>
            <a:pPr marL="933450" lvl="1" indent="-533400" eaLnBrk="1" hangingPunct="1">
              <a:lnSpc>
                <a:spcPct val="90000"/>
              </a:lnSpc>
              <a:defRPr/>
            </a:pPr>
            <a:r>
              <a:rPr lang="en-US" altLang="en-US" sz="2000" dirty="0"/>
              <a:t>Shift 10 right, then shift 9 right</a:t>
            </a:r>
          </a:p>
          <a:p>
            <a:pPr marL="933450" lvl="1" indent="-533400" eaLnBrk="1" hangingPunct="1">
              <a:lnSpc>
                <a:spcPct val="90000"/>
              </a:lnSpc>
              <a:defRPr/>
            </a:pPr>
            <a:r>
              <a:rPr lang="en-US" altLang="en-US" sz="2000" dirty="0"/>
              <a:t>Put 3 in the sub-0 slot</a:t>
            </a:r>
          </a:p>
          <a:p>
            <a:pPr marL="933450" lvl="1" indent="-533400" eaLnBrk="1" hangingPunct="1">
              <a:lnSpc>
                <a:spcPct val="90000"/>
              </a:lnSpc>
              <a:defRPr/>
            </a:pPr>
            <a:r>
              <a:rPr lang="en-US" altLang="en-US" sz="2000" dirty="0"/>
              <a:t>First 3 slots now sorted (relative to each other)</a:t>
            </a:r>
          </a:p>
          <a:p>
            <a:pPr marL="533400" indent="-533400" eaLnBrk="1" hangingPunct="1">
              <a:lnSpc>
                <a:spcPct val="90000"/>
              </a:lnSpc>
              <a:defRPr/>
            </a:pPr>
            <a:r>
              <a:rPr lang="en-US" altLang="en-US" sz="2400" dirty="0"/>
              <a:t>Step 4:</a:t>
            </a:r>
          </a:p>
          <a:p>
            <a:pPr marL="533400" indent="-533400" eaLnBrk="1" hangingPunct="1">
              <a:lnSpc>
                <a:spcPct val="90000"/>
              </a:lnSpc>
              <a:defRPr/>
            </a:pPr>
            <a:endParaRPr lang="en-US" altLang="en-US" sz="2400" dirty="0"/>
          </a:p>
          <a:p>
            <a:pPr marL="933450" lvl="1" indent="-533400" eaLnBrk="1" hangingPunct="1">
              <a:lnSpc>
                <a:spcPct val="90000"/>
              </a:lnSpc>
              <a:defRPr/>
            </a:pPr>
            <a:r>
              <a:rPr lang="en-US" altLang="en-US" sz="2000" dirty="0"/>
              <a:t>Shift 10 right, shift 9 right, shift 3 right</a:t>
            </a:r>
          </a:p>
          <a:p>
            <a:pPr marL="933450" lvl="1" indent="-533400" eaLnBrk="1" hangingPunct="1">
              <a:lnSpc>
                <a:spcPct val="90000"/>
              </a:lnSpc>
              <a:defRPr/>
            </a:pPr>
            <a:r>
              <a:rPr lang="en-US" altLang="en-US" sz="2000" dirty="0"/>
              <a:t>Put 1 in the sub-0 slot</a:t>
            </a:r>
          </a:p>
          <a:p>
            <a:pPr marL="933450" lvl="1" indent="-533400" eaLnBrk="1" hangingPunct="1">
              <a:lnSpc>
                <a:spcPct val="90000"/>
              </a:lnSpc>
              <a:defRPr/>
            </a:pPr>
            <a:r>
              <a:rPr lang="en-US" altLang="en-US" sz="2000" dirty="0"/>
              <a:t>First 4 slots now sorted (relative to each other)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42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6A67CE0-F0E5-41A8-A405-D295D96172D8}" type="datetime1">
              <a:rPr lang="en-US" smtClean="0"/>
              <a:t>7/15/2021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Copyright (c) John K. </a:t>
            </a:r>
            <a:r>
              <a:rPr lang="en-US" dirty="0" err="1"/>
              <a:t>Ostlund</a:t>
            </a:r>
            <a:endParaRPr lang="en-US" dirty="0"/>
          </a:p>
        </p:txBody>
      </p: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86E8EF97-33F5-4FB0-A2F0-A88E103DFDA1}"/>
              </a:ext>
            </a:extLst>
          </p:cNvPr>
          <p:cNvGrpSpPr/>
          <p:nvPr/>
        </p:nvGrpSpPr>
        <p:grpSpPr>
          <a:xfrm>
            <a:off x="2380870" y="2744187"/>
            <a:ext cx="4643273" cy="308789"/>
            <a:chOff x="2912757" y="2440415"/>
            <a:chExt cx="3357425" cy="308789"/>
          </a:xfrm>
        </p:grpSpPr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9BC5AA5D-98BE-4E22-8BD8-C8CFD8C3FD87}"/>
                </a:ext>
              </a:extLst>
            </p:cNvPr>
            <p:cNvSpPr txBox="1"/>
            <p:nvPr/>
          </p:nvSpPr>
          <p:spPr>
            <a:xfrm>
              <a:off x="2912757" y="2440419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</a:rPr>
                <a:t>3</a:t>
              </a: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0C49DD73-1DA2-4179-AD37-36C02508215E}"/>
                </a:ext>
              </a:extLst>
            </p:cNvPr>
            <p:cNvSpPr txBox="1"/>
            <p:nvPr/>
          </p:nvSpPr>
          <p:spPr>
            <a:xfrm>
              <a:off x="3249207" y="2441427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</a:rPr>
                <a:t>9</a:t>
              </a:r>
            </a:p>
          </p:txBody>
        </p: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AE8C8171-5E34-4772-A97E-6E953FE2701D}"/>
                </a:ext>
              </a:extLst>
            </p:cNvPr>
            <p:cNvSpPr txBox="1"/>
            <p:nvPr/>
          </p:nvSpPr>
          <p:spPr>
            <a:xfrm>
              <a:off x="3584272" y="2440415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</a:rPr>
                <a:t>10</a:t>
              </a:r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4783C369-C640-45FE-AA2D-9CE8933BC020}"/>
                </a:ext>
              </a:extLst>
            </p:cNvPr>
            <p:cNvSpPr txBox="1"/>
            <p:nvPr/>
          </p:nvSpPr>
          <p:spPr>
            <a:xfrm>
              <a:off x="3920722" y="2441426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1</a:t>
              </a: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8759AC8E-2F22-4E97-BD80-31A728EEDCB0}"/>
                </a:ext>
              </a:extLst>
            </p:cNvPr>
            <p:cNvSpPr txBox="1"/>
            <p:nvPr/>
          </p:nvSpPr>
          <p:spPr>
            <a:xfrm>
              <a:off x="4255796" y="2440416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7</a:t>
              </a:r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512F0EFC-D546-4D66-8C27-77CF0BE989A9}"/>
                </a:ext>
              </a:extLst>
            </p:cNvPr>
            <p:cNvSpPr txBox="1"/>
            <p:nvPr/>
          </p:nvSpPr>
          <p:spPr>
            <a:xfrm>
              <a:off x="4592246" y="2441424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8</a:t>
              </a: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6ED42AF4-8262-47B5-98AA-D2FE3E489096}"/>
                </a:ext>
              </a:extLst>
            </p:cNvPr>
            <p:cNvSpPr txBox="1"/>
            <p:nvPr/>
          </p:nvSpPr>
          <p:spPr>
            <a:xfrm>
              <a:off x="4927308" y="2440417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2</a:t>
              </a:r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6467876F-4CFF-46CA-B584-2CF42DC5292F}"/>
                </a:ext>
              </a:extLst>
            </p:cNvPr>
            <p:cNvSpPr txBox="1"/>
            <p:nvPr/>
          </p:nvSpPr>
          <p:spPr>
            <a:xfrm>
              <a:off x="5263758" y="2441425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6</a:t>
              </a:r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44B7CA51-D460-4BF2-9748-1E9753722DB7}"/>
                </a:ext>
              </a:extLst>
            </p:cNvPr>
            <p:cNvSpPr txBox="1"/>
            <p:nvPr/>
          </p:nvSpPr>
          <p:spPr>
            <a:xfrm>
              <a:off x="5598832" y="2440415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4</a:t>
              </a:r>
            </a:p>
          </p:txBody>
        </p: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5C6B6AA1-3D00-40E6-A322-947C4DC65A9E}"/>
                </a:ext>
              </a:extLst>
            </p:cNvPr>
            <p:cNvSpPr txBox="1"/>
            <p:nvPr/>
          </p:nvSpPr>
          <p:spPr>
            <a:xfrm>
              <a:off x="5935282" y="2441423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5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85518133-3E16-4C36-B30F-D4E1E7E7428D}"/>
              </a:ext>
            </a:extLst>
          </p:cNvPr>
          <p:cNvGrpSpPr/>
          <p:nvPr/>
        </p:nvGrpSpPr>
        <p:grpSpPr>
          <a:xfrm>
            <a:off x="2381881" y="4549771"/>
            <a:ext cx="4643273" cy="308789"/>
            <a:chOff x="2912757" y="2440415"/>
            <a:chExt cx="3357425" cy="308789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99E7DB2F-A887-41AB-A3EC-0C55ACA00BE8}"/>
                </a:ext>
              </a:extLst>
            </p:cNvPr>
            <p:cNvSpPr txBox="1"/>
            <p:nvPr/>
          </p:nvSpPr>
          <p:spPr>
            <a:xfrm>
              <a:off x="2912757" y="2440419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4740E44D-9660-47ED-B881-12C50777A01F}"/>
                </a:ext>
              </a:extLst>
            </p:cNvPr>
            <p:cNvSpPr txBox="1"/>
            <p:nvPr/>
          </p:nvSpPr>
          <p:spPr>
            <a:xfrm>
              <a:off x="3249207" y="2441427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</a:rPr>
                <a:t>3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805A82B9-169A-4468-8EA4-C034F458FC35}"/>
                </a:ext>
              </a:extLst>
            </p:cNvPr>
            <p:cNvSpPr txBox="1"/>
            <p:nvPr/>
          </p:nvSpPr>
          <p:spPr>
            <a:xfrm>
              <a:off x="3584272" y="2440415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</a:rPr>
                <a:t>9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FD8C3ED5-6A25-491D-A102-31C851E2E195}"/>
                </a:ext>
              </a:extLst>
            </p:cNvPr>
            <p:cNvSpPr txBox="1"/>
            <p:nvPr/>
          </p:nvSpPr>
          <p:spPr>
            <a:xfrm>
              <a:off x="3920722" y="2441426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</a:rPr>
                <a:t>10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8B55924D-2106-4590-A6B4-1C54E5A76086}"/>
                </a:ext>
              </a:extLst>
            </p:cNvPr>
            <p:cNvSpPr txBox="1"/>
            <p:nvPr/>
          </p:nvSpPr>
          <p:spPr>
            <a:xfrm>
              <a:off x="4255796" y="2440416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7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6E17B23D-46B5-4A3F-9AE6-3253588B3A2C}"/>
                </a:ext>
              </a:extLst>
            </p:cNvPr>
            <p:cNvSpPr txBox="1"/>
            <p:nvPr/>
          </p:nvSpPr>
          <p:spPr>
            <a:xfrm>
              <a:off x="4592246" y="2441424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8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56EB4A16-C61D-41E8-B668-A5ECEC36FE9A}"/>
                </a:ext>
              </a:extLst>
            </p:cNvPr>
            <p:cNvSpPr txBox="1"/>
            <p:nvPr/>
          </p:nvSpPr>
          <p:spPr>
            <a:xfrm>
              <a:off x="4927308" y="2440417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2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6A2DFCDE-2532-4CD8-9570-A2CF3ACB504F}"/>
                </a:ext>
              </a:extLst>
            </p:cNvPr>
            <p:cNvSpPr txBox="1"/>
            <p:nvPr/>
          </p:nvSpPr>
          <p:spPr>
            <a:xfrm>
              <a:off x="5263758" y="2441425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6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D61FFFAE-D3B5-476D-9DE5-82C1125C4306}"/>
                </a:ext>
              </a:extLst>
            </p:cNvPr>
            <p:cNvSpPr txBox="1"/>
            <p:nvPr/>
          </p:nvSpPr>
          <p:spPr>
            <a:xfrm>
              <a:off x="5598832" y="2440415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4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9F6FE0AA-0A90-42A2-BE59-4979EE39C262}"/>
                </a:ext>
              </a:extLst>
            </p:cNvPr>
            <p:cNvSpPr txBox="1"/>
            <p:nvPr/>
          </p:nvSpPr>
          <p:spPr>
            <a:xfrm>
              <a:off x="5935282" y="2441423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216354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Insertion Sort In-Place Example (</a:t>
            </a:r>
            <a:r>
              <a:rPr lang="en-US" altLang="en-US" dirty="0" err="1"/>
              <a:t>cont</a:t>
            </a:r>
            <a:r>
              <a:rPr lang="en-US" altLang="en-US" dirty="0"/>
              <a:t>)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981200"/>
            <a:ext cx="7772400" cy="4114800"/>
          </a:xfrm>
        </p:spPr>
        <p:txBody>
          <a:bodyPr/>
          <a:lstStyle/>
          <a:p>
            <a:pPr marL="533400" indent="-533400" eaLnBrk="1" hangingPunct="1">
              <a:lnSpc>
                <a:spcPct val="90000"/>
              </a:lnSpc>
              <a:defRPr/>
            </a:pPr>
            <a:r>
              <a:rPr lang="en-US" altLang="en-US" sz="2400" dirty="0"/>
              <a:t>Step 5:</a:t>
            </a:r>
          </a:p>
          <a:p>
            <a:pPr marL="533400" indent="-533400" eaLnBrk="1" hangingPunct="1">
              <a:lnSpc>
                <a:spcPct val="90000"/>
              </a:lnSpc>
              <a:defRPr/>
            </a:pPr>
            <a:endParaRPr lang="en-US" altLang="en-US" sz="2400" dirty="0"/>
          </a:p>
          <a:p>
            <a:pPr marL="933450" lvl="1" indent="-533400" eaLnBrk="1" hangingPunct="1">
              <a:lnSpc>
                <a:spcPct val="90000"/>
              </a:lnSpc>
              <a:defRPr/>
            </a:pPr>
            <a:r>
              <a:rPr lang="en-US" altLang="en-US" sz="2000" dirty="0"/>
              <a:t>Shift 10 right, 9 right</a:t>
            </a:r>
          </a:p>
          <a:p>
            <a:pPr marL="933450" lvl="1" indent="-533400" eaLnBrk="1" hangingPunct="1">
              <a:lnSpc>
                <a:spcPct val="90000"/>
              </a:lnSpc>
              <a:defRPr/>
            </a:pPr>
            <a:r>
              <a:rPr lang="en-US" altLang="en-US" sz="2000" dirty="0"/>
              <a:t>Put 7 in the sub-2 slot (after 3)</a:t>
            </a:r>
          </a:p>
          <a:p>
            <a:pPr marL="933450" lvl="1" indent="-533400" eaLnBrk="1" hangingPunct="1">
              <a:lnSpc>
                <a:spcPct val="90000"/>
              </a:lnSpc>
              <a:defRPr/>
            </a:pPr>
            <a:r>
              <a:rPr lang="en-US" altLang="en-US" sz="2000" dirty="0"/>
              <a:t>First 5 slots now sorted (relative to each other)</a:t>
            </a:r>
          </a:p>
          <a:p>
            <a:pPr marL="533400" indent="-533400" eaLnBrk="1" hangingPunct="1">
              <a:lnSpc>
                <a:spcPct val="90000"/>
              </a:lnSpc>
              <a:defRPr/>
            </a:pPr>
            <a:r>
              <a:rPr lang="en-US" altLang="en-US" sz="2400" dirty="0"/>
              <a:t>Step 6:</a:t>
            </a:r>
          </a:p>
          <a:p>
            <a:pPr marL="533400" indent="-533400" eaLnBrk="1" hangingPunct="1">
              <a:lnSpc>
                <a:spcPct val="90000"/>
              </a:lnSpc>
              <a:defRPr/>
            </a:pPr>
            <a:endParaRPr lang="en-US" altLang="en-US" sz="2400" dirty="0"/>
          </a:p>
          <a:p>
            <a:pPr marL="933450" lvl="1" indent="-533400" eaLnBrk="1" hangingPunct="1">
              <a:lnSpc>
                <a:spcPct val="90000"/>
              </a:lnSpc>
              <a:defRPr/>
            </a:pPr>
            <a:r>
              <a:rPr lang="en-US" altLang="en-US" sz="2000" dirty="0"/>
              <a:t>Shift 10 right, 9 right</a:t>
            </a:r>
          </a:p>
          <a:p>
            <a:pPr marL="933450" lvl="1" indent="-533400" eaLnBrk="1" hangingPunct="1">
              <a:lnSpc>
                <a:spcPct val="90000"/>
              </a:lnSpc>
              <a:defRPr/>
            </a:pPr>
            <a:r>
              <a:rPr lang="en-US" altLang="en-US" sz="2000" dirty="0"/>
              <a:t>Put 8 in the sub-3 slot (after 7)</a:t>
            </a:r>
          </a:p>
          <a:p>
            <a:pPr marL="933450" lvl="1" indent="-533400" eaLnBrk="1" hangingPunct="1">
              <a:lnSpc>
                <a:spcPct val="90000"/>
              </a:lnSpc>
              <a:defRPr/>
            </a:pPr>
            <a:r>
              <a:rPr lang="en-US" altLang="en-US" sz="2000" dirty="0"/>
              <a:t>First 6 slots now sorted (relative to each other)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43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6A67CE0-F0E5-41A8-A405-D295D96172D8}" type="datetime1">
              <a:rPr lang="en-US" smtClean="0"/>
              <a:t>7/15/2021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Copyright (c) John K. </a:t>
            </a:r>
            <a:r>
              <a:rPr lang="en-US" dirty="0" err="1"/>
              <a:t>Ostlund</a:t>
            </a:r>
            <a:endParaRPr lang="en-US" dirty="0"/>
          </a:p>
        </p:txBody>
      </p: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86E8EF97-33F5-4FB0-A2F0-A88E103DFDA1}"/>
              </a:ext>
            </a:extLst>
          </p:cNvPr>
          <p:cNvGrpSpPr/>
          <p:nvPr/>
        </p:nvGrpSpPr>
        <p:grpSpPr>
          <a:xfrm>
            <a:off x="2380870" y="2380851"/>
            <a:ext cx="4643273" cy="308789"/>
            <a:chOff x="2912757" y="2440415"/>
            <a:chExt cx="3357425" cy="308789"/>
          </a:xfrm>
        </p:grpSpPr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9BC5AA5D-98BE-4E22-8BD8-C8CFD8C3FD87}"/>
                </a:ext>
              </a:extLst>
            </p:cNvPr>
            <p:cNvSpPr txBox="1"/>
            <p:nvPr/>
          </p:nvSpPr>
          <p:spPr>
            <a:xfrm>
              <a:off x="2912757" y="2440419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0C49DD73-1DA2-4179-AD37-36C02508215E}"/>
                </a:ext>
              </a:extLst>
            </p:cNvPr>
            <p:cNvSpPr txBox="1"/>
            <p:nvPr/>
          </p:nvSpPr>
          <p:spPr>
            <a:xfrm>
              <a:off x="3249207" y="2441427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</a:rPr>
                <a:t>3</a:t>
              </a:r>
            </a:p>
          </p:txBody>
        </p: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AE8C8171-5E34-4772-A97E-6E953FE2701D}"/>
                </a:ext>
              </a:extLst>
            </p:cNvPr>
            <p:cNvSpPr txBox="1"/>
            <p:nvPr/>
          </p:nvSpPr>
          <p:spPr>
            <a:xfrm>
              <a:off x="3584272" y="2440415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</a:rPr>
                <a:t>7</a:t>
              </a:r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4783C369-C640-45FE-AA2D-9CE8933BC020}"/>
                </a:ext>
              </a:extLst>
            </p:cNvPr>
            <p:cNvSpPr txBox="1"/>
            <p:nvPr/>
          </p:nvSpPr>
          <p:spPr>
            <a:xfrm>
              <a:off x="3920722" y="2441426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</a:rPr>
                <a:t>9</a:t>
              </a: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8759AC8E-2F22-4E97-BD80-31A728EEDCB0}"/>
                </a:ext>
              </a:extLst>
            </p:cNvPr>
            <p:cNvSpPr txBox="1"/>
            <p:nvPr/>
          </p:nvSpPr>
          <p:spPr>
            <a:xfrm>
              <a:off x="4255796" y="2440416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</a:rPr>
                <a:t>10</a:t>
              </a:r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512F0EFC-D546-4D66-8C27-77CF0BE989A9}"/>
                </a:ext>
              </a:extLst>
            </p:cNvPr>
            <p:cNvSpPr txBox="1"/>
            <p:nvPr/>
          </p:nvSpPr>
          <p:spPr>
            <a:xfrm>
              <a:off x="4592246" y="2441424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8</a:t>
              </a: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6ED42AF4-8262-47B5-98AA-D2FE3E489096}"/>
                </a:ext>
              </a:extLst>
            </p:cNvPr>
            <p:cNvSpPr txBox="1"/>
            <p:nvPr/>
          </p:nvSpPr>
          <p:spPr>
            <a:xfrm>
              <a:off x="4927308" y="2440417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2</a:t>
              </a:r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6467876F-4CFF-46CA-B584-2CF42DC5292F}"/>
                </a:ext>
              </a:extLst>
            </p:cNvPr>
            <p:cNvSpPr txBox="1"/>
            <p:nvPr/>
          </p:nvSpPr>
          <p:spPr>
            <a:xfrm>
              <a:off x="5263758" y="2441425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6</a:t>
              </a:r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44B7CA51-D460-4BF2-9748-1E9753722DB7}"/>
                </a:ext>
              </a:extLst>
            </p:cNvPr>
            <p:cNvSpPr txBox="1"/>
            <p:nvPr/>
          </p:nvSpPr>
          <p:spPr>
            <a:xfrm>
              <a:off x="5598832" y="2440415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4</a:t>
              </a:r>
            </a:p>
          </p:txBody>
        </p: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5C6B6AA1-3D00-40E6-A322-947C4DC65A9E}"/>
                </a:ext>
              </a:extLst>
            </p:cNvPr>
            <p:cNvSpPr txBox="1"/>
            <p:nvPr/>
          </p:nvSpPr>
          <p:spPr>
            <a:xfrm>
              <a:off x="5935282" y="2441423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5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85518133-3E16-4C36-B30F-D4E1E7E7428D}"/>
              </a:ext>
            </a:extLst>
          </p:cNvPr>
          <p:cNvGrpSpPr/>
          <p:nvPr/>
        </p:nvGrpSpPr>
        <p:grpSpPr>
          <a:xfrm>
            <a:off x="2381881" y="4222772"/>
            <a:ext cx="4643273" cy="308789"/>
            <a:chOff x="2912757" y="2440415"/>
            <a:chExt cx="3357425" cy="308789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99E7DB2F-A887-41AB-A3EC-0C55ACA00BE8}"/>
                </a:ext>
              </a:extLst>
            </p:cNvPr>
            <p:cNvSpPr txBox="1"/>
            <p:nvPr/>
          </p:nvSpPr>
          <p:spPr>
            <a:xfrm>
              <a:off x="2912757" y="2440419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4740E44D-9660-47ED-B881-12C50777A01F}"/>
                </a:ext>
              </a:extLst>
            </p:cNvPr>
            <p:cNvSpPr txBox="1"/>
            <p:nvPr/>
          </p:nvSpPr>
          <p:spPr>
            <a:xfrm>
              <a:off x="3249207" y="2441427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</a:rPr>
                <a:t>3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805A82B9-169A-4468-8EA4-C034F458FC35}"/>
                </a:ext>
              </a:extLst>
            </p:cNvPr>
            <p:cNvSpPr txBox="1"/>
            <p:nvPr/>
          </p:nvSpPr>
          <p:spPr>
            <a:xfrm>
              <a:off x="3584272" y="2440415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</a:rPr>
                <a:t>7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FD8C3ED5-6A25-491D-A102-31C851E2E195}"/>
                </a:ext>
              </a:extLst>
            </p:cNvPr>
            <p:cNvSpPr txBox="1"/>
            <p:nvPr/>
          </p:nvSpPr>
          <p:spPr>
            <a:xfrm>
              <a:off x="3920722" y="2441426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</a:rPr>
                <a:t>8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8B55924D-2106-4590-A6B4-1C54E5A76086}"/>
                </a:ext>
              </a:extLst>
            </p:cNvPr>
            <p:cNvSpPr txBox="1"/>
            <p:nvPr/>
          </p:nvSpPr>
          <p:spPr>
            <a:xfrm>
              <a:off x="4255796" y="2440416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</a:rPr>
                <a:t>9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6E17B23D-46B5-4A3F-9AE6-3253588B3A2C}"/>
                </a:ext>
              </a:extLst>
            </p:cNvPr>
            <p:cNvSpPr txBox="1"/>
            <p:nvPr/>
          </p:nvSpPr>
          <p:spPr>
            <a:xfrm>
              <a:off x="4592246" y="2441424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</a:rPr>
                <a:t>10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56EB4A16-C61D-41E8-B668-A5ECEC36FE9A}"/>
                </a:ext>
              </a:extLst>
            </p:cNvPr>
            <p:cNvSpPr txBox="1"/>
            <p:nvPr/>
          </p:nvSpPr>
          <p:spPr>
            <a:xfrm>
              <a:off x="4927308" y="2440417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2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6A2DFCDE-2532-4CD8-9570-A2CF3ACB504F}"/>
                </a:ext>
              </a:extLst>
            </p:cNvPr>
            <p:cNvSpPr txBox="1"/>
            <p:nvPr/>
          </p:nvSpPr>
          <p:spPr>
            <a:xfrm>
              <a:off x="5263758" y="2441425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6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D61FFFAE-D3B5-476D-9DE5-82C1125C4306}"/>
                </a:ext>
              </a:extLst>
            </p:cNvPr>
            <p:cNvSpPr txBox="1"/>
            <p:nvPr/>
          </p:nvSpPr>
          <p:spPr>
            <a:xfrm>
              <a:off x="5598832" y="2440415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4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9F6FE0AA-0A90-42A2-BE59-4979EE39C262}"/>
                </a:ext>
              </a:extLst>
            </p:cNvPr>
            <p:cNvSpPr txBox="1"/>
            <p:nvPr/>
          </p:nvSpPr>
          <p:spPr>
            <a:xfrm>
              <a:off x="5935282" y="2441423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6197534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Insertion Sort In-Place Example (</a:t>
            </a:r>
            <a:r>
              <a:rPr lang="en-US" altLang="en-US" dirty="0" err="1"/>
              <a:t>cont</a:t>
            </a:r>
            <a:r>
              <a:rPr lang="en-US" altLang="en-US" dirty="0"/>
              <a:t>)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981200"/>
            <a:ext cx="7772400" cy="4114800"/>
          </a:xfrm>
        </p:spPr>
        <p:txBody>
          <a:bodyPr/>
          <a:lstStyle/>
          <a:p>
            <a:pPr marL="533400" indent="-533400" eaLnBrk="1" hangingPunct="1">
              <a:lnSpc>
                <a:spcPct val="90000"/>
              </a:lnSpc>
              <a:defRPr/>
            </a:pPr>
            <a:r>
              <a:rPr lang="en-US" altLang="en-US" sz="2400" dirty="0"/>
              <a:t>… and continue through Step 10:</a:t>
            </a:r>
          </a:p>
          <a:p>
            <a:pPr marL="533400" indent="-533400" eaLnBrk="1" hangingPunct="1">
              <a:lnSpc>
                <a:spcPct val="90000"/>
              </a:lnSpc>
              <a:defRPr/>
            </a:pPr>
            <a:endParaRPr lang="en-US" altLang="en-US" sz="2400" dirty="0"/>
          </a:p>
          <a:p>
            <a:pPr marL="933450" lvl="1" indent="-533400" eaLnBrk="1" hangingPunct="1">
              <a:lnSpc>
                <a:spcPct val="90000"/>
              </a:lnSpc>
              <a:defRPr/>
            </a:pPr>
            <a:r>
              <a:rPr lang="en-US" altLang="en-US" sz="2000" dirty="0"/>
              <a:t>First 10 slots now sorted--DONE!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44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6A67CE0-F0E5-41A8-A405-D295D96172D8}" type="datetime1">
              <a:rPr lang="en-US" smtClean="0"/>
              <a:t>7/15/2021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Copyright (c) John K. </a:t>
            </a:r>
            <a:r>
              <a:rPr lang="en-US" dirty="0" err="1"/>
              <a:t>Ostlund</a:t>
            </a:r>
            <a:endParaRPr lang="en-US" dirty="0"/>
          </a:p>
        </p:txBody>
      </p: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86E8EF97-33F5-4FB0-A2F0-A88E103DFDA1}"/>
              </a:ext>
            </a:extLst>
          </p:cNvPr>
          <p:cNvGrpSpPr/>
          <p:nvPr/>
        </p:nvGrpSpPr>
        <p:grpSpPr>
          <a:xfrm>
            <a:off x="2380870" y="2380851"/>
            <a:ext cx="4643273" cy="308789"/>
            <a:chOff x="2912757" y="2440415"/>
            <a:chExt cx="3357425" cy="308789"/>
          </a:xfrm>
        </p:grpSpPr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9BC5AA5D-98BE-4E22-8BD8-C8CFD8C3FD87}"/>
                </a:ext>
              </a:extLst>
            </p:cNvPr>
            <p:cNvSpPr txBox="1"/>
            <p:nvPr/>
          </p:nvSpPr>
          <p:spPr>
            <a:xfrm>
              <a:off x="2912757" y="2440419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0C49DD73-1DA2-4179-AD37-36C02508215E}"/>
                </a:ext>
              </a:extLst>
            </p:cNvPr>
            <p:cNvSpPr txBox="1"/>
            <p:nvPr/>
          </p:nvSpPr>
          <p:spPr>
            <a:xfrm>
              <a:off x="3249207" y="2441427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</a:rPr>
                <a:t>2</a:t>
              </a:r>
            </a:p>
          </p:txBody>
        </p: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AE8C8171-5E34-4772-A97E-6E953FE2701D}"/>
                </a:ext>
              </a:extLst>
            </p:cNvPr>
            <p:cNvSpPr txBox="1"/>
            <p:nvPr/>
          </p:nvSpPr>
          <p:spPr>
            <a:xfrm>
              <a:off x="3584272" y="2440415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</a:rPr>
                <a:t>3</a:t>
              </a:r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4783C369-C640-45FE-AA2D-9CE8933BC020}"/>
                </a:ext>
              </a:extLst>
            </p:cNvPr>
            <p:cNvSpPr txBox="1"/>
            <p:nvPr/>
          </p:nvSpPr>
          <p:spPr>
            <a:xfrm>
              <a:off x="3920722" y="2441426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</a:rPr>
                <a:t>4</a:t>
              </a: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8759AC8E-2F22-4E97-BD80-31A728EEDCB0}"/>
                </a:ext>
              </a:extLst>
            </p:cNvPr>
            <p:cNvSpPr txBox="1"/>
            <p:nvPr/>
          </p:nvSpPr>
          <p:spPr>
            <a:xfrm>
              <a:off x="4255796" y="2440416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</a:rPr>
                <a:t>5</a:t>
              </a:r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512F0EFC-D546-4D66-8C27-77CF0BE989A9}"/>
                </a:ext>
              </a:extLst>
            </p:cNvPr>
            <p:cNvSpPr txBox="1"/>
            <p:nvPr/>
          </p:nvSpPr>
          <p:spPr>
            <a:xfrm>
              <a:off x="4592246" y="2441424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</a:rPr>
                <a:t>6</a:t>
              </a: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6ED42AF4-8262-47B5-98AA-D2FE3E489096}"/>
                </a:ext>
              </a:extLst>
            </p:cNvPr>
            <p:cNvSpPr txBox="1"/>
            <p:nvPr/>
          </p:nvSpPr>
          <p:spPr>
            <a:xfrm>
              <a:off x="4927308" y="2440417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</a:rPr>
                <a:t>7</a:t>
              </a:r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6467876F-4CFF-46CA-B584-2CF42DC5292F}"/>
                </a:ext>
              </a:extLst>
            </p:cNvPr>
            <p:cNvSpPr txBox="1"/>
            <p:nvPr/>
          </p:nvSpPr>
          <p:spPr>
            <a:xfrm>
              <a:off x="5263758" y="2441425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</a:rPr>
                <a:t>8</a:t>
              </a:r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44B7CA51-D460-4BF2-9748-1E9753722DB7}"/>
                </a:ext>
              </a:extLst>
            </p:cNvPr>
            <p:cNvSpPr txBox="1"/>
            <p:nvPr/>
          </p:nvSpPr>
          <p:spPr>
            <a:xfrm>
              <a:off x="5598832" y="2440415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</a:rPr>
                <a:t>9</a:t>
              </a:r>
            </a:p>
          </p:txBody>
        </p: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5C6B6AA1-3D00-40E6-A322-947C4DC65A9E}"/>
                </a:ext>
              </a:extLst>
            </p:cNvPr>
            <p:cNvSpPr txBox="1"/>
            <p:nvPr/>
          </p:nvSpPr>
          <p:spPr>
            <a:xfrm>
              <a:off x="5935282" y="2441423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</a:rPr>
                <a:t>10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95580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Insertion Sort Performance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387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1182688" y="1981200"/>
                <a:ext cx="7772400" cy="4114800"/>
              </a:xfrm>
            </p:spPr>
            <p:txBody>
              <a:bodyPr/>
              <a:lstStyle/>
              <a:p>
                <a:pPr marL="533400" indent="-533400" eaLnBrk="1" hangingPunct="1">
                  <a:lnSpc>
                    <a:spcPct val="90000"/>
                  </a:lnSpc>
                  <a:defRPr/>
                </a:pPr>
                <a:r>
                  <a:rPr lang="en-US" altLang="en-US" sz="2400" dirty="0"/>
                  <a:t>Let's assume that it takes about the same amount of time to shift one value as it does to compare two values</a:t>
                </a:r>
              </a:p>
              <a:p>
                <a:pPr marL="533400" indent="-533400" eaLnBrk="1" hangingPunct="1">
                  <a:lnSpc>
                    <a:spcPct val="90000"/>
                  </a:lnSpc>
                  <a:defRPr/>
                </a:pPr>
                <a:r>
                  <a:rPr lang="en-US" altLang="en-US" sz="2400" dirty="0"/>
                  <a:t>To sort </a:t>
                </a:r>
                <a:r>
                  <a:rPr lang="en-US" altLang="en-US" sz="2400" b="1" dirty="0"/>
                  <a:t>N</a:t>
                </a:r>
                <a:r>
                  <a:rPr lang="en-US" altLang="en-US" sz="2400" dirty="0"/>
                  <a:t> values</a:t>
                </a:r>
              </a:p>
              <a:p>
                <a:pPr marL="933450" lvl="1" indent="-533400" eaLnBrk="1" hangingPunct="1">
                  <a:lnSpc>
                    <a:spcPct val="90000"/>
                  </a:lnSpc>
                  <a:defRPr/>
                </a:pPr>
                <a:r>
                  <a:rPr lang="en-US" altLang="en-US" sz="2000" dirty="0"/>
                  <a:t>At step </a:t>
                </a:r>
                <a:r>
                  <a:rPr lang="en-US" altLang="en-US" sz="2000" b="1" dirty="0"/>
                  <a:t>1</a:t>
                </a:r>
                <a:r>
                  <a:rPr lang="en-US" altLang="en-US" sz="2000" dirty="0"/>
                  <a:t> we must do </a:t>
                </a:r>
                <a:r>
                  <a:rPr lang="en-US" altLang="en-US" sz="2000" b="1" dirty="0"/>
                  <a:t>0</a:t>
                </a:r>
                <a:r>
                  <a:rPr lang="en-US" altLang="en-US" sz="2000" dirty="0"/>
                  <a:t> compares and </a:t>
                </a:r>
                <a:r>
                  <a:rPr lang="en-US" altLang="en-US" sz="2000" b="1" dirty="0"/>
                  <a:t>0</a:t>
                </a:r>
                <a:r>
                  <a:rPr lang="en-US" altLang="en-US" sz="2000" dirty="0"/>
                  <a:t> shifts, so </a:t>
                </a:r>
                <a:r>
                  <a:rPr lang="en-US" altLang="en-US" sz="2000" b="1" dirty="0"/>
                  <a:t>0</a:t>
                </a:r>
                <a:r>
                  <a:rPr lang="en-US" altLang="en-US" sz="2000" dirty="0"/>
                  <a:t> operations</a:t>
                </a:r>
              </a:p>
              <a:p>
                <a:pPr marL="933450" lvl="1" indent="-533400" eaLnBrk="1" hangingPunct="1">
                  <a:lnSpc>
                    <a:spcPct val="90000"/>
                  </a:lnSpc>
                  <a:defRPr/>
                </a:pPr>
                <a:r>
                  <a:rPr lang="en-US" altLang="en-US" sz="2000" dirty="0"/>
                  <a:t>At step </a:t>
                </a:r>
                <a:r>
                  <a:rPr lang="en-US" altLang="en-US" sz="2000" b="1" dirty="0"/>
                  <a:t>2</a:t>
                </a:r>
                <a:r>
                  <a:rPr lang="en-US" altLang="en-US" sz="2000" dirty="0"/>
                  <a:t> we must do </a:t>
                </a:r>
                <a:r>
                  <a:rPr lang="en-US" altLang="en-US" sz="2000" b="1" dirty="0"/>
                  <a:t>1</a:t>
                </a:r>
                <a:r>
                  <a:rPr lang="en-US" altLang="en-US" sz="2000" dirty="0"/>
                  <a:t> compare and </a:t>
                </a:r>
                <a:r>
                  <a:rPr lang="en-US" altLang="en-US" sz="2000" i="1" dirty="0"/>
                  <a:t>at most</a:t>
                </a:r>
                <a:r>
                  <a:rPr lang="en-US" altLang="en-US" sz="2000" dirty="0"/>
                  <a:t> </a:t>
                </a:r>
                <a:r>
                  <a:rPr lang="en-US" altLang="en-US" sz="2000" b="1" dirty="0"/>
                  <a:t>1</a:t>
                </a:r>
                <a:r>
                  <a:rPr lang="en-US" altLang="en-US" sz="2000" dirty="0"/>
                  <a:t> shift, so </a:t>
                </a:r>
                <a:r>
                  <a:rPr lang="en-US" altLang="en-US" sz="2000" b="1" dirty="0"/>
                  <a:t>2</a:t>
                </a:r>
                <a:r>
                  <a:rPr lang="en-US" altLang="en-US" sz="2000" dirty="0"/>
                  <a:t> operations maximum</a:t>
                </a:r>
              </a:p>
              <a:p>
                <a:pPr marL="933450" lvl="1" indent="-533400" eaLnBrk="1" hangingPunct="1">
                  <a:lnSpc>
                    <a:spcPct val="90000"/>
                  </a:lnSpc>
                  <a:defRPr/>
                </a:pPr>
                <a:r>
                  <a:rPr lang="en-US" altLang="en-US" sz="2000" dirty="0"/>
                  <a:t>In general, at step </a:t>
                </a:r>
                <a:r>
                  <a:rPr lang="en-US" altLang="en-US" sz="2000" b="1" dirty="0"/>
                  <a:t>j</a:t>
                </a:r>
                <a:r>
                  <a:rPr lang="en-US" altLang="en-US" sz="2000" dirty="0"/>
                  <a:t>, we must do </a:t>
                </a:r>
                <a:r>
                  <a:rPr lang="en-US" altLang="en-US" sz="2000" i="1" dirty="0"/>
                  <a:t>at most</a:t>
                </a:r>
                <a:r>
                  <a:rPr lang="en-US" altLang="en-US" sz="2000" dirty="0"/>
                  <a:t> </a:t>
                </a:r>
                <a:r>
                  <a:rPr lang="en-US" altLang="en-US" sz="2000" b="1" dirty="0"/>
                  <a:t>j-1</a:t>
                </a:r>
                <a:r>
                  <a:rPr lang="en-US" altLang="en-US" sz="2000" dirty="0"/>
                  <a:t> compares and </a:t>
                </a:r>
                <a:r>
                  <a:rPr lang="en-US" altLang="en-US" sz="2000" i="1" dirty="0"/>
                  <a:t>at most</a:t>
                </a:r>
                <a:r>
                  <a:rPr lang="en-US" altLang="en-US" sz="2000" dirty="0"/>
                  <a:t> </a:t>
                </a:r>
                <a:r>
                  <a:rPr lang="en-US" altLang="en-US" sz="2000" b="1" dirty="0"/>
                  <a:t>j-1</a:t>
                </a:r>
                <a:r>
                  <a:rPr lang="en-US" altLang="en-US" sz="2000" dirty="0"/>
                  <a:t> swaps, so </a:t>
                </a:r>
                <a:r>
                  <a:rPr lang="en-US" altLang="en-US" sz="2000" b="1" dirty="0"/>
                  <a:t>2j-2</a:t>
                </a:r>
                <a:r>
                  <a:rPr lang="en-US" altLang="en-US" sz="2000" dirty="0"/>
                  <a:t> operations maximum</a:t>
                </a:r>
              </a:p>
              <a:p>
                <a:pPr marL="533400" indent="-533400" eaLnBrk="1" hangingPunct="1">
                  <a:lnSpc>
                    <a:spcPct val="90000"/>
                  </a:lnSpc>
                  <a:defRPr/>
                </a:pPr>
                <a:r>
                  <a:rPr lang="en-US" altLang="en-US" sz="2400" dirty="0"/>
                  <a:t>Worst case performance is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en-US" sz="24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  <m:t>(2</m:t>
                        </m:r>
                        <m: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  <m:t>−2)</m:t>
                        </m:r>
                      </m:e>
                    </m:nary>
                  </m:oMath>
                </a14:m>
                <a:r>
                  <a:rPr lang="en-US" altLang="en-US" sz="2400" dirty="0"/>
                  <a:t> = </a:t>
                </a:r>
                <a:r>
                  <a:rPr lang="en-US" altLang="en-US" sz="2400" b="1" dirty="0"/>
                  <a:t>O(N</a:t>
                </a:r>
                <a:r>
                  <a:rPr lang="en-US" altLang="en-US" sz="2400" b="1" baseline="30000" dirty="0"/>
                  <a:t>2</a:t>
                </a:r>
                <a:r>
                  <a:rPr lang="en-US" altLang="en-US" sz="2400" b="1" dirty="0"/>
                  <a:t>)</a:t>
                </a:r>
              </a:p>
            </p:txBody>
          </p:sp>
        </mc:Choice>
        <mc:Fallback xmlns="">
          <p:sp>
            <p:nvSpPr>
              <p:cNvPr id="1638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182688" y="1981200"/>
                <a:ext cx="7772400" cy="4114800"/>
              </a:xfrm>
              <a:blipFill>
                <a:blip r:embed="rId3"/>
                <a:stretch>
                  <a:fillRect l="-157" t="-2074" r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45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6A67CE0-F0E5-41A8-A405-D295D96172D8}" type="datetime1">
              <a:rPr lang="en-US" smtClean="0"/>
              <a:t>7/15/2021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Copyright (c) John K. </a:t>
            </a:r>
            <a:r>
              <a:rPr lang="en-US" dirty="0" err="1"/>
              <a:t>Ostlund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449253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Python Code For Insertion Sort</a:t>
            </a:r>
            <a:endParaRPr lang="en-US" altLang="en-US" b="1" dirty="0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987256"/>
            <a:ext cx="7772400" cy="4114800"/>
          </a:xfrm>
        </p:spPr>
        <p:txBody>
          <a:bodyPr/>
          <a:lstStyle/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def 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insertion_sort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(a):   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# a is a list or </a:t>
            </a:r>
            <a:r>
              <a:rPr lang="en-US" alt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ndarray</a:t>
            </a:r>
            <a:endParaRPr lang="en-US" alt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dim_a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(a)</a:t>
            </a: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endParaRPr lang="en-US" altLang="en-US" sz="1000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altLang="en-US" sz="20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# for each slot past the first ...</a:t>
            </a: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for slot in range(1, </a:t>
            </a:r>
            <a:r>
              <a:rPr lang="en-US" altLang="en-US" sz="20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dim_a</a:t>
            </a:r>
            <a:r>
              <a:rPr lang="en-US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alt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# ... insert in correct location</a:t>
            </a: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cur, </a:t>
            </a:r>
            <a:r>
              <a:rPr lang="en-US" altLang="en-US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prev</a:t>
            </a: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slot, slot - 1</a:t>
            </a: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while </a:t>
            </a:r>
            <a:r>
              <a:rPr lang="en-US" altLang="en-US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prev</a:t>
            </a: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&gt;= 0 and a[</a:t>
            </a:r>
            <a:r>
              <a:rPr lang="en-US" altLang="en-US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prev</a:t>
            </a: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&gt; a[cur]:</a:t>
            </a: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a[</a:t>
            </a:r>
            <a:r>
              <a:rPr lang="en-US" altLang="en-US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prev</a:t>
            </a: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], a[cur] = a[cur], a[</a:t>
            </a:r>
            <a:r>
              <a:rPr lang="en-US" altLang="en-US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prev</a:t>
            </a: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cur, </a:t>
            </a:r>
            <a:r>
              <a:rPr lang="en-US" altLang="en-US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prev</a:t>
            </a: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en-US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prev</a:t>
            </a: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en-US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prev</a:t>
            </a: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- 1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46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6A67CE0-F0E5-41A8-A405-D295D96172D8}" type="datetime1">
              <a:rPr lang="en-US" smtClean="0"/>
              <a:t>7/15/2021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Copyright (c) John K. </a:t>
            </a:r>
            <a:r>
              <a:rPr lang="en-US" dirty="0" err="1"/>
              <a:t>Ostlund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309144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Bubble Sort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981200"/>
            <a:ext cx="7772400" cy="4114800"/>
          </a:xfrm>
        </p:spPr>
        <p:txBody>
          <a:bodyPr/>
          <a:lstStyle/>
          <a:p>
            <a:pPr marL="533400" indent="-533400" eaLnBrk="1" hangingPunct="1">
              <a:lnSpc>
                <a:spcPct val="90000"/>
              </a:lnSpc>
              <a:defRPr/>
            </a:pPr>
            <a:r>
              <a:rPr lang="en-US" altLang="en-US" sz="2400" dirty="0"/>
              <a:t>Suppose (and again!) you have </a:t>
            </a:r>
            <a:r>
              <a:rPr lang="en-US" altLang="en-US" sz="2400" b="1" i="1" dirty="0"/>
              <a:t>A History of </a:t>
            </a:r>
            <a:r>
              <a:rPr lang="en-US" altLang="en-US" sz="2400" b="1" i="1" dirty="0" err="1"/>
              <a:t>Floogleland</a:t>
            </a:r>
            <a:r>
              <a:rPr lang="en-US" altLang="en-US" sz="2400" dirty="0"/>
              <a:t>, Volumes </a:t>
            </a:r>
            <a:r>
              <a:rPr lang="en-US" altLang="en-US" sz="2400" b="1" dirty="0"/>
              <a:t>1</a:t>
            </a:r>
            <a:r>
              <a:rPr lang="en-US" altLang="en-US" sz="2400" dirty="0"/>
              <a:t> through </a:t>
            </a:r>
            <a:r>
              <a:rPr lang="en-US" altLang="en-US" sz="2400" b="1" dirty="0"/>
              <a:t>10</a:t>
            </a:r>
            <a:r>
              <a:rPr lang="en-US" altLang="en-US" sz="2400" dirty="0"/>
              <a:t>, in some shuffled order on a shelf</a:t>
            </a:r>
          </a:p>
          <a:p>
            <a:pPr marL="533400" indent="-533400" eaLnBrk="1" hangingPunct="1">
              <a:lnSpc>
                <a:spcPct val="90000"/>
              </a:lnSpc>
              <a:defRPr/>
            </a:pPr>
            <a:r>
              <a:rPr lang="en-US" altLang="en-US" sz="2400" dirty="0"/>
              <a:t>You would like to put these in sorted order by volume (on </a:t>
            </a:r>
            <a:r>
              <a:rPr lang="en-US" altLang="en-US" sz="2400" i="1" dirty="0"/>
              <a:t>the same</a:t>
            </a:r>
            <a:r>
              <a:rPr lang="en-US" altLang="en-US" sz="2400" dirty="0"/>
              <a:t> shelf)</a:t>
            </a:r>
          </a:p>
          <a:p>
            <a:pPr marL="533400" indent="-533400" eaLnBrk="1" hangingPunct="1">
              <a:lnSpc>
                <a:spcPct val="90000"/>
              </a:lnSpc>
              <a:defRPr/>
            </a:pPr>
            <a:r>
              <a:rPr lang="en-US" altLang="en-US" sz="2400" b="1" dirty="0"/>
              <a:t>Idea:</a:t>
            </a:r>
          </a:p>
          <a:p>
            <a:pPr marL="933450" lvl="1" indent="-533400" eaLnBrk="1" hangingPunct="1">
              <a:lnSpc>
                <a:spcPct val="90000"/>
              </a:lnSpc>
              <a:defRPr/>
            </a:pPr>
            <a:r>
              <a:rPr lang="en-US" altLang="en-US" sz="2000" dirty="0"/>
              <a:t>For each slot </a:t>
            </a:r>
            <a:r>
              <a:rPr lang="en-US" altLang="en-US" sz="2000" b="1" dirty="0"/>
              <a:t>k</a:t>
            </a:r>
            <a:r>
              <a:rPr lang="en-US" altLang="en-US" sz="2000" dirty="0"/>
              <a:t> from </a:t>
            </a:r>
            <a:r>
              <a:rPr lang="en-US" altLang="en-US" sz="2000" b="1" dirty="0"/>
              <a:t>0</a:t>
            </a:r>
            <a:r>
              <a:rPr lang="en-US" altLang="en-US" sz="2000" dirty="0"/>
              <a:t> to </a:t>
            </a:r>
            <a:r>
              <a:rPr lang="en-US" altLang="en-US" sz="2000" b="1" dirty="0"/>
              <a:t>8</a:t>
            </a:r>
          </a:p>
          <a:p>
            <a:pPr marL="1333500" lvl="2" indent="-533400" eaLnBrk="1" hangingPunct="1">
              <a:lnSpc>
                <a:spcPct val="90000"/>
              </a:lnSpc>
              <a:defRPr/>
            </a:pPr>
            <a:r>
              <a:rPr lang="en-US" altLang="en-US" sz="1600" dirty="0"/>
              <a:t>Compare the sub-</a:t>
            </a:r>
            <a:r>
              <a:rPr lang="en-US" altLang="en-US" sz="1600" b="1" dirty="0"/>
              <a:t>k</a:t>
            </a:r>
            <a:r>
              <a:rPr lang="en-US" altLang="en-US" sz="1600" dirty="0"/>
              <a:t> volume with the sub-(</a:t>
            </a:r>
            <a:r>
              <a:rPr lang="en-US" altLang="en-US" sz="1600" b="1" dirty="0"/>
              <a:t>k+1</a:t>
            </a:r>
            <a:r>
              <a:rPr lang="en-US" altLang="en-US" sz="1600" dirty="0"/>
              <a:t>) volume</a:t>
            </a:r>
          </a:p>
          <a:p>
            <a:pPr marL="1333500" lvl="2" indent="-533400" eaLnBrk="1" hangingPunct="1">
              <a:lnSpc>
                <a:spcPct val="90000"/>
              </a:lnSpc>
              <a:defRPr/>
            </a:pPr>
            <a:r>
              <a:rPr lang="en-US" altLang="en-US" sz="1600" dirty="0"/>
              <a:t>If the sub-</a:t>
            </a:r>
            <a:r>
              <a:rPr lang="en-US" altLang="en-US" sz="1600" b="1" dirty="0"/>
              <a:t>k</a:t>
            </a:r>
            <a:r>
              <a:rPr lang="en-US" altLang="en-US" sz="1600" dirty="0"/>
              <a:t> volume is </a:t>
            </a:r>
            <a:r>
              <a:rPr lang="en-US" altLang="en-US" sz="1600" b="1" dirty="0"/>
              <a:t>&gt;</a:t>
            </a:r>
            <a:r>
              <a:rPr lang="en-US" altLang="en-US" sz="1600" dirty="0"/>
              <a:t> the sub-(</a:t>
            </a:r>
            <a:r>
              <a:rPr lang="en-US" altLang="en-US" sz="1600" b="1" dirty="0"/>
              <a:t>k+1</a:t>
            </a:r>
            <a:r>
              <a:rPr lang="en-US" altLang="en-US" sz="1600" dirty="0"/>
              <a:t>) volume, swap them</a:t>
            </a:r>
          </a:p>
          <a:p>
            <a:pPr marL="933450" lvl="1" indent="-533400" eaLnBrk="1" hangingPunct="1">
              <a:lnSpc>
                <a:spcPct val="90000"/>
              </a:lnSpc>
              <a:defRPr/>
            </a:pPr>
            <a:r>
              <a:rPr lang="en-US" altLang="en-US" sz="2000" dirty="0"/>
              <a:t>Repeat a total of 10 times, once for each volume</a:t>
            </a:r>
          </a:p>
          <a:p>
            <a:pPr marL="1333500" lvl="2" indent="-533400" eaLnBrk="1" hangingPunct="1">
              <a:lnSpc>
                <a:spcPct val="90000"/>
              </a:lnSpc>
              <a:defRPr/>
            </a:pPr>
            <a:r>
              <a:rPr lang="en-US" altLang="en-US" sz="1600" dirty="0"/>
              <a:t>At that point, the volumes are sorted</a:t>
            </a:r>
          </a:p>
          <a:p>
            <a:pPr marL="1333500" lvl="2" indent="-533400" eaLnBrk="1" hangingPunct="1">
              <a:lnSpc>
                <a:spcPct val="90000"/>
              </a:lnSpc>
              <a:defRPr/>
            </a:pPr>
            <a:r>
              <a:rPr lang="en-US" altLang="en-US" sz="1600" dirty="0"/>
              <a:t>This must finish: each swap improves sorting; finitely many volumes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47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6A67CE0-F0E5-41A8-A405-D295D96172D8}" type="datetime1">
              <a:rPr lang="en-US" smtClean="0"/>
              <a:t>7/15/2021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Copyright (c) John K. </a:t>
            </a:r>
            <a:r>
              <a:rPr lang="en-US" dirty="0" err="1"/>
              <a:t>Ostlund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721604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Bubble Sort In-Place Example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981200"/>
            <a:ext cx="7772400" cy="4114800"/>
          </a:xfrm>
        </p:spPr>
        <p:txBody>
          <a:bodyPr/>
          <a:lstStyle/>
          <a:p>
            <a:pPr marL="533400" indent="-533400" eaLnBrk="1" hangingPunct="1">
              <a:lnSpc>
                <a:spcPct val="90000"/>
              </a:lnSpc>
              <a:defRPr/>
            </a:pPr>
            <a:r>
              <a:rPr lang="en-US" altLang="en-US" sz="2400" dirty="0"/>
              <a:t>Starting array:</a:t>
            </a:r>
          </a:p>
          <a:p>
            <a:pPr marL="533400" indent="-533400" eaLnBrk="1" hangingPunct="1">
              <a:lnSpc>
                <a:spcPct val="90000"/>
              </a:lnSpc>
              <a:defRPr/>
            </a:pPr>
            <a:endParaRPr lang="en-US" altLang="en-US" sz="2400" dirty="0"/>
          </a:p>
          <a:p>
            <a:pPr marL="533400" indent="-533400" eaLnBrk="1" hangingPunct="1">
              <a:lnSpc>
                <a:spcPct val="90000"/>
              </a:lnSpc>
              <a:defRPr/>
            </a:pPr>
            <a:r>
              <a:rPr lang="en-US" altLang="en-US" sz="2400" dirty="0"/>
              <a:t>Step 1.0: 9 is </a:t>
            </a:r>
            <a:r>
              <a:rPr lang="en-US" altLang="en-US" sz="2400" i="1" dirty="0"/>
              <a:t>not</a:t>
            </a:r>
            <a:r>
              <a:rPr lang="en-US" altLang="en-US" sz="2400" dirty="0"/>
              <a:t> &gt; 10, so </a:t>
            </a:r>
            <a:r>
              <a:rPr lang="en-US" altLang="en-US" sz="2400" i="1" dirty="0"/>
              <a:t>no</a:t>
            </a:r>
            <a:r>
              <a:rPr lang="en-US" altLang="en-US" sz="2400" dirty="0"/>
              <a:t> swap</a:t>
            </a:r>
            <a:endParaRPr lang="en-US" altLang="en-US" sz="2400" i="1" dirty="0"/>
          </a:p>
          <a:p>
            <a:pPr marL="533400" indent="-533400" eaLnBrk="1" hangingPunct="1">
              <a:lnSpc>
                <a:spcPct val="90000"/>
              </a:lnSpc>
              <a:defRPr/>
            </a:pPr>
            <a:endParaRPr lang="en-US" altLang="en-US" sz="2400" dirty="0"/>
          </a:p>
          <a:p>
            <a:pPr marL="533400" indent="-533400" eaLnBrk="1" hangingPunct="1">
              <a:lnSpc>
                <a:spcPct val="90000"/>
              </a:lnSpc>
              <a:defRPr/>
            </a:pPr>
            <a:r>
              <a:rPr lang="en-US" altLang="en-US" sz="2400" dirty="0"/>
              <a:t>Step 1.1: 10 &gt; 3, so swap</a:t>
            </a:r>
          </a:p>
          <a:p>
            <a:pPr marL="533400" indent="-533400" eaLnBrk="1" hangingPunct="1">
              <a:lnSpc>
                <a:spcPct val="90000"/>
              </a:lnSpc>
              <a:defRPr/>
            </a:pPr>
            <a:endParaRPr lang="en-US" altLang="en-US" sz="2400" dirty="0"/>
          </a:p>
          <a:p>
            <a:pPr marL="533400" indent="-533400" eaLnBrk="1" hangingPunct="1">
              <a:lnSpc>
                <a:spcPct val="90000"/>
              </a:lnSpc>
              <a:defRPr/>
            </a:pPr>
            <a:r>
              <a:rPr lang="en-US" altLang="en-US" sz="2400" dirty="0"/>
              <a:t>Step 1.2: 10 &gt; 1, so swap</a:t>
            </a:r>
          </a:p>
          <a:p>
            <a:pPr marL="533400" indent="-533400" eaLnBrk="1" hangingPunct="1">
              <a:lnSpc>
                <a:spcPct val="90000"/>
              </a:lnSpc>
              <a:defRPr/>
            </a:pPr>
            <a:endParaRPr lang="en-US" altLang="en-US" sz="2400" dirty="0"/>
          </a:p>
          <a:p>
            <a:pPr marL="533400" indent="-533400" eaLnBrk="1" hangingPunct="1">
              <a:lnSpc>
                <a:spcPct val="90000"/>
              </a:lnSpc>
              <a:defRPr/>
            </a:pPr>
            <a:r>
              <a:rPr lang="en-US" altLang="en-US" sz="2400" dirty="0"/>
              <a:t>Step 1.3: 10 &gt; 7, so swap</a:t>
            </a:r>
          </a:p>
          <a:p>
            <a:pPr marL="533400" indent="-533400" eaLnBrk="1" hangingPunct="1">
              <a:lnSpc>
                <a:spcPct val="90000"/>
              </a:lnSpc>
              <a:defRPr/>
            </a:pPr>
            <a:endParaRPr lang="en-US" altLang="en-US" sz="24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48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6A67CE0-F0E5-41A8-A405-D295D96172D8}" type="datetime1">
              <a:rPr lang="en-US" smtClean="0"/>
              <a:t>7/15/2021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Copyright (c) John K. </a:t>
            </a:r>
            <a:r>
              <a:rPr lang="en-US" dirty="0" err="1"/>
              <a:t>Ostlund</a:t>
            </a:r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27ABE92-D7D0-4EA7-8AB4-16402F58517E}"/>
              </a:ext>
            </a:extLst>
          </p:cNvPr>
          <p:cNvGrpSpPr/>
          <p:nvPr/>
        </p:nvGrpSpPr>
        <p:grpSpPr>
          <a:xfrm>
            <a:off x="2379863" y="2440411"/>
            <a:ext cx="4643273" cy="308789"/>
            <a:chOff x="2912757" y="2440415"/>
            <a:chExt cx="3357425" cy="308789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E012C025-6765-4B09-8FC6-A3813759BE47}"/>
                </a:ext>
              </a:extLst>
            </p:cNvPr>
            <p:cNvSpPr txBox="1"/>
            <p:nvPr/>
          </p:nvSpPr>
          <p:spPr>
            <a:xfrm>
              <a:off x="2912757" y="2440419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9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27A6C65-330F-4C72-B7E9-B091EF6E2DC1}"/>
                </a:ext>
              </a:extLst>
            </p:cNvPr>
            <p:cNvSpPr txBox="1"/>
            <p:nvPr/>
          </p:nvSpPr>
          <p:spPr>
            <a:xfrm>
              <a:off x="3249207" y="2441427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10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C159A07-5786-49A5-8639-441BFE6A7CE3}"/>
                </a:ext>
              </a:extLst>
            </p:cNvPr>
            <p:cNvSpPr txBox="1"/>
            <p:nvPr/>
          </p:nvSpPr>
          <p:spPr>
            <a:xfrm>
              <a:off x="3584272" y="2440415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3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70A787E-94F8-41D3-A63A-38ED22CC1714}"/>
                </a:ext>
              </a:extLst>
            </p:cNvPr>
            <p:cNvSpPr txBox="1"/>
            <p:nvPr/>
          </p:nvSpPr>
          <p:spPr>
            <a:xfrm>
              <a:off x="3920722" y="2441426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1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41C9C38-5568-46A1-A3B9-19587FD243C6}"/>
                </a:ext>
              </a:extLst>
            </p:cNvPr>
            <p:cNvSpPr txBox="1"/>
            <p:nvPr/>
          </p:nvSpPr>
          <p:spPr>
            <a:xfrm>
              <a:off x="4255796" y="2440416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7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9AA98E5-3F6D-4478-A430-D16AAD9A057E}"/>
                </a:ext>
              </a:extLst>
            </p:cNvPr>
            <p:cNvSpPr txBox="1"/>
            <p:nvPr/>
          </p:nvSpPr>
          <p:spPr>
            <a:xfrm>
              <a:off x="4592246" y="2441424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8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F039154-AF3B-49FA-B32F-15946B348501}"/>
                </a:ext>
              </a:extLst>
            </p:cNvPr>
            <p:cNvSpPr txBox="1"/>
            <p:nvPr/>
          </p:nvSpPr>
          <p:spPr>
            <a:xfrm>
              <a:off x="4927308" y="2440417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2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EBB0347-5A26-4B64-A7CC-1F0462FE598D}"/>
                </a:ext>
              </a:extLst>
            </p:cNvPr>
            <p:cNvSpPr txBox="1"/>
            <p:nvPr/>
          </p:nvSpPr>
          <p:spPr>
            <a:xfrm>
              <a:off x="5263758" y="2441425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6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505DB26-A1C0-4148-8A7E-B598313D77CE}"/>
                </a:ext>
              </a:extLst>
            </p:cNvPr>
            <p:cNvSpPr txBox="1"/>
            <p:nvPr/>
          </p:nvSpPr>
          <p:spPr>
            <a:xfrm>
              <a:off x="5598832" y="2440415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4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ECCC3F4-12F5-4F83-BD0F-3EA958C79AB9}"/>
                </a:ext>
              </a:extLst>
            </p:cNvPr>
            <p:cNvSpPr txBox="1"/>
            <p:nvPr/>
          </p:nvSpPr>
          <p:spPr>
            <a:xfrm>
              <a:off x="5935282" y="2441423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5</a:t>
              </a:r>
            </a:p>
          </p:txBody>
        </p:sp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41E22520-2D43-4647-A73E-99939B7E1EF9}"/>
              </a:ext>
            </a:extLst>
          </p:cNvPr>
          <p:cNvGrpSpPr/>
          <p:nvPr/>
        </p:nvGrpSpPr>
        <p:grpSpPr>
          <a:xfrm>
            <a:off x="2379863" y="3251862"/>
            <a:ext cx="4643273" cy="308789"/>
            <a:chOff x="2912757" y="2440415"/>
            <a:chExt cx="3357425" cy="308789"/>
          </a:xfrm>
        </p:grpSpPr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3284EC74-6A33-4921-AB7A-1C0EB4E67069}"/>
                </a:ext>
              </a:extLst>
            </p:cNvPr>
            <p:cNvSpPr txBox="1"/>
            <p:nvPr/>
          </p:nvSpPr>
          <p:spPr>
            <a:xfrm>
              <a:off x="2912757" y="2440419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</a:rPr>
                <a:t>9</a:t>
              </a: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F8DFFE87-8A6B-4598-8C54-3AE3F232C188}"/>
                </a:ext>
              </a:extLst>
            </p:cNvPr>
            <p:cNvSpPr txBox="1"/>
            <p:nvPr/>
          </p:nvSpPr>
          <p:spPr>
            <a:xfrm>
              <a:off x="3249207" y="2441427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</a:rPr>
                <a:t>10</a:t>
              </a: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708066B8-D51C-4D3E-88E1-BD4ACBCC474B}"/>
                </a:ext>
              </a:extLst>
            </p:cNvPr>
            <p:cNvSpPr txBox="1"/>
            <p:nvPr/>
          </p:nvSpPr>
          <p:spPr>
            <a:xfrm>
              <a:off x="3584272" y="2440415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3</a:t>
              </a: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06315041-2B72-4329-8C73-B46156A8E9A8}"/>
                </a:ext>
              </a:extLst>
            </p:cNvPr>
            <p:cNvSpPr txBox="1"/>
            <p:nvPr/>
          </p:nvSpPr>
          <p:spPr>
            <a:xfrm>
              <a:off x="3920722" y="2441426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1</a:t>
              </a:r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DD8E368F-7439-4091-82C0-73DE4528ED5A}"/>
                </a:ext>
              </a:extLst>
            </p:cNvPr>
            <p:cNvSpPr txBox="1"/>
            <p:nvPr/>
          </p:nvSpPr>
          <p:spPr>
            <a:xfrm>
              <a:off x="4255796" y="2440416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7</a:t>
              </a:r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D80392C4-8F7B-498B-BAAF-363E69291CAA}"/>
                </a:ext>
              </a:extLst>
            </p:cNvPr>
            <p:cNvSpPr txBox="1"/>
            <p:nvPr/>
          </p:nvSpPr>
          <p:spPr>
            <a:xfrm>
              <a:off x="4592246" y="2441424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8</a:t>
              </a: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2C5C769A-231E-4C63-886E-211A59E2B572}"/>
                </a:ext>
              </a:extLst>
            </p:cNvPr>
            <p:cNvSpPr txBox="1"/>
            <p:nvPr/>
          </p:nvSpPr>
          <p:spPr>
            <a:xfrm>
              <a:off x="4927308" y="2440417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2</a:t>
              </a: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A5AF1627-C7A9-4EA7-A33E-AB55CCD6CF60}"/>
                </a:ext>
              </a:extLst>
            </p:cNvPr>
            <p:cNvSpPr txBox="1"/>
            <p:nvPr/>
          </p:nvSpPr>
          <p:spPr>
            <a:xfrm>
              <a:off x="5263758" y="2441425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6</a:t>
              </a:r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08AE2949-68FE-402E-841D-E2F2049C7145}"/>
                </a:ext>
              </a:extLst>
            </p:cNvPr>
            <p:cNvSpPr txBox="1"/>
            <p:nvPr/>
          </p:nvSpPr>
          <p:spPr>
            <a:xfrm>
              <a:off x="5598832" y="2440415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4</a:t>
              </a: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5A55D6FA-B162-496D-892D-7DAF05E04FCC}"/>
                </a:ext>
              </a:extLst>
            </p:cNvPr>
            <p:cNvSpPr txBox="1"/>
            <p:nvPr/>
          </p:nvSpPr>
          <p:spPr>
            <a:xfrm>
              <a:off x="5935282" y="2441423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5</a:t>
              </a:r>
            </a:p>
          </p:txBody>
        </p:sp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86E8EF97-33F5-4FB0-A2F0-A88E103DFDA1}"/>
              </a:ext>
            </a:extLst>
          </p:cNvPr>
          <p:cNvGrpSpPr/>
          <p:nvPr/>
        </p:nvGrpSpPr>
        <p:grpSpPr>
          <a:xfrm>
            <a:off x="2380870" y="4058252"/>
            <a:ext cx="4643273" cy="308789"/>
            <a:chOff x="2912757" y="2440415"/>
            <a:chExt cx="3357425" cy="308789"/>
          </a:xfrm>
        </p:grpSpPr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9BC5AA5D-98BE-4E22-8BD8-C8CFD8C3FD87}"/>
                </a:ext>
              </a:extLst>
            </p:cNvPr>
            <p:cNvSpPr txBox="1"/>
            <p:nvPr/>
          </p:nvSpPr>
          <p:spPr>
            <a:xfrm>
              <a:off x="2912757" y="2440419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9</a:t>
              </a: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0C49DD73-1DA2-4179-AD37-36C02508215E}"/>
                </a:ext>
              </a:extLst>
            </p:cNvPr>
            <p:cNvSpPr txBox="1"/>
            <p:nvPr/>
          </p:nvSpPr>
          <p:spPr>
            <a:xfrm>
              <a:off x="3249207" y="2441427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</a:rPr>
                <a:t>3</a:t>
              </a:r>
            </a:p>
          </p:txBody>
        </p: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AE8C8171-5E34-4772-A97E-6E953FE2701D}"/>
                </a:ext>
              </a:extLst>
            </p:cNvPr>
            <p:cNvSpPr txBox="1"/>
            <p:nvPr/>
          </p:nvSpPr>
          <p:spPr>
            <a:xfrm>
              <a:off x="3584272" y="2440415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</a:rPr>
                <a:t>10</a:t>
              </a:r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4783C369-C640-45FE-AA2D-9CE8933BC020}"/>
                </a:ext>
              </a:extLst>
            </p:cNvPr>
            <p:cNvSpPr txBox="1"/>
            <p:nvPr/>
          </p:nvSpPr>
          <p:spPr>
            <a:xfrm>
              <a:off x="3920722" y="2441426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1</a:t>
              </a: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8759AC8E-2F22-4E97-BD80-31A728EEDCB0}"/>
                </a:ext>
              </a:extLst>
            </p:cNvPr>
            <p:cNvSpPr txBox="1"/>
            <p:nvPr/>
          </p:nvSpPr>
          <p:spPr>
            <a:xfrm>
              <a:off x="4255796" y="2440416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7</a:t>
              </a:r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512F0EFC-D546-4D66-8C27-77CF0BE989A9}"/>
                </a:ext>
              </a:extLst>
            </p:cNvPr>
            <p:cNvSpPr txBox="1"/>
            <p:nvPr/>
          </p:nvSpPr>
          <p:spPr>
            <a:xfrm>
              <a:off x="4592246" y="2441424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8</a:t>
              </a: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6ED42AF4-8262-47B5-98AA-D2FE3E489096}"/>
                </a:ext>
              </a:extLst>
            </p:cNvPr>
            <p:cNvSpPr txBox="1"/>
            <p:nvPr/>
          </p:nvSpPr>
          <p:spPr>
            <a:xfrm>
              <a:off x="4927308" y="2440417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2</a:t>
              </a:r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6467876F-4CFF-46CA-B584-2CF42DC5292F}"/>
                </a:ext>
              </a:extLst>
            </p:cNvPr>
            <p:cNvSpPr txBox="1"/>
            <p:nvPr/>
          </p:nvSpPr>
          <p:spPr>
            <a:xfrm>
              <a:off x="5263758" y="2441425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6</a:t>
              </a:r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44B7CA51-D460-4BF2-9748-1E9753722DB7}"/>
                </a:ext>
              </a:extLst>
            </p:cNvPr>
            <p:cNvSpPr txBox="1"/>
            <p:nvPr/>
          </p:nvSpPr>
          <p:spPr>
            <a:xfrm>
              <a:off x="5598832" y="2440415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4</a:t>
              </a:r>
            </a:p>
          </p:txBody>
        </p: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5C6B6AA1-3D00-40E6-A322-947C4DC65A9E}"/>
                </a:ext>
              </a:extLst>
            </p:cNvPr>
            <p:cNvSpPr txBox="1"/>
            <p:nvPr/>
          </p:nvSpPr>
          <p:spPr>
            <a:xfrm>
              <a:off x="5935282" y="2441423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5</a:t>
              </a:r>
            </a:p>
          </p:txBody>
        </p:sp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45310DC8-017F-4824-BD89-BDE47D734684}"/>
              </a:ext>
            </a:extLst>
          </p:cNvPr>
          <p:cNvGrpSpPr/>
          <p:nvPr/>
        </p:nvGrpSpPr>
        <p:grpSpPr>
          <a:xfrm>
            <a:off x="2381881" y="4876769"/>
            <a:ext cx="4643273" cy="308789"/>
            <a:chOff x="2912757" y="2440415"/>
            <a:chExt cx="3357425" cy="308789"/>
          </a:xfrm>
        </p:grpSpPr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5FABC758-0A4B-4C09-A9FE-DE937378A8A4}"/>
                </a:ext>
              </a:extLst>
            </p:cNvPr>
            <p:cNvSpPr txBox="1"/>
            <p:nvPr/>
          </p:nvSpPr>
          <p:spPr>
            <a:xfrm>
              <a:off x="2912757" y="2440419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9</a:t>
              </a:r>
            </a:p>
          </p:txBody>
        </p: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41AF8FDB-C71C-406D-981E-B060B1911410}"/>
                </a:ext>
              </a:extLst>
            </p:cNvPr>
            <p:cNvSpPr txBox="1"/>
            <p:nvPr/>
          </p:nvSpPr>
          <p:spPr>
            <a:xfrm>
              <a:off x="3249207" y="2441427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3</a:t>
              </a:r>
            </a:p>
          </p:txBody>
        </p: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5B83FD3D-31E4-4261-9F71-17A91E8C1E40}"/>
                </a:ext>
              </a:extLst>
            </p:cNvPr>
            <p:cNvSpPr txBox="1"/>
            <p:nvPr/>
          </p:nvSpPr>
          <p:spPr>
            <a:xfrm>
              <a:off x="3584272" y="2440415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C65ADCFF-54C5-42B0-A6BD-D579330E29CB}"/>
                </a:ext>
              </a:extLst>
            </p:cNvPr>
            <p:cNvSpPr txBox="1"/>
            <p:nvPr/>
          </p:nvSpPr>
          <p:spPr>
            <a:xfrm>
              <a:off x="3920722" y="2441426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</a:rPr>
                <a:t>10</a:t>
              </a:r>
            </a:p>
          </p:txBody>
        </p: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8DD94486-7A25-491D-99C2-4316F3FBB548}"/>
                </a:ext>
              </a:extLst>
            </p:cNvPr>
            <p:cNvSpPr txBox="1"/>
            <p:nvPr/>
          </p:nvSpPr>
          <p:spPr>
            <a:xfrm>
              <a:off x="4255796" y="2440416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7</a:t>
              </a:r>
            </a:p>
          </p:txBody>
        </p: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4AD68FA5-B7CC-4B4C-A512-5C35794AB92F}"/>
                </a:ext>
              </a:extLst>
            </p:cNvPr>
            <p:cNvSpPr txBox="1"/>
            <p:nvPr/>
          </p:nvSpPr>
          <p:spPr>
            <a:xfrm>
              <a:off x="4592246" y="2441424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8</a:t>
              </a:r>
            </a:p>
          </p:txBody>
        </p:sp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4BC5BFF6-8348-41C1-8BE1-ADA083E37E7C}"/>
                </a:ext>
              </a:extLst>
            </p:cNvPr>
            <p:cNvSpPr txBox="1"/>
            <p:nvPr/>
          </p:nvSpPr>
          <p:spPr>
            <a:xfrm>
              <a:off x="4927308" y="2440417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2</a:t>
              </a:r>
            </a:p>
          </p:txBody>
        </p: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CBDF7ECC-6E2A-47DD-87FD-28EF511D1E7B}"/>
                </a:ext>
              </a:extLst>
            </p:cNvPr>
            <p:cNvSpPr txBox="1"/>
            <p:nvPr/>
          </p:nvSpPr>
          <p:spPr>
            <a:xfrm>
              <a:off x="5263758" y="2441425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6</a:t>
              </a:r>
            </a:p>
          </p:txBody>
        </p:sp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22A8BA0E-AE4F-4F1B-86AF-0D65756714AD}"/>
                </a:ext>
              </a:extLst>
            </p:cNvPr>
            <p:cNvSpPr txBox="1"/>
            <p:nvPr/>
          </p:nvSpPr>
          <p:spPr>
            <a:xfrm>
              <a:off x="5598832" y="2440415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4</a:t>
              </a:r>
            </a:p>
          </p:txBody>
        </p:sp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00E80586-4024-48F2-8EE4-007E31214235}"/>
                </a:ext>
              </a:extLst>
            </p:cNvPr>
            <p:cNvSpPr txBox="1"/>
            <p:nvPr/>
          </p:nvSpPr>
          <p:spPr>
            <a:xfrm>
              <a:off x="5935282" y="2441423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5</a:t>
              </a:r>
            </a:p>
          </p:txBody>
        </p:sp>
      </p:grp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7DB4C49C-9BF1-49F8-A618-21B678733BF9}"/>
              </a:ext>
            </a:extLst>
          </p:cNvPr>
          <p:cNvGrpSpPr/>
          <p:nvPr/>
        </p:nvGrpSpPr>
        <p:grpSpPr>
          <a:xfrm>
            <a:off x="2382889" y="5646843"/>
            <a:ext cx="4643273" cy="308789"/>
            <a:chOff x="2912757" y="2440415"/>
            <a:chExt cx="3357425" cy="308789"/>
          </a:xfrm>
        </p:grpSpPr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AD5CA402-BFB7-4E5F-BF09-7EDD4C751E6E}"/>
                </a:ext>
              </a:extLst>
            </p:cNvPr>
            <p:cNvSpPr txBox="1"/>
            <p:nvPr/>
          </p:nvSpPr>
          <p:spPr>
            <a:xfrm>
              <a:off x="2912757" y="2440419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9</a:t>
              </a:r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0AFE949F-F55A-4915-8E9E-12FC1076B08D}"/>
                </a:ext>
              </a:extLst>
            </p:cNvPr>
            <p:cNvSpPr txBox="1"/>
            <p:nvPr/>
          </p:nvSpPr>
          <p:spPr>
            <a:xfrm>
              <a:off x="3249207" y="2441427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3</a:t>
              </a:r>
            </a:p>
          </p:txBody>
        </p:sp>
        <p:sp>
          <p:nvSpPr>
            <p:cNvPr id="159" name="TextBox 158">
              <a:extLst>
                <a:ext uri="{FF2B5EF4-FFF2-40B4-BE49-F238E27FC236}">
                  <a16:creationId xmlns:a16="http://schemas.microsoft.com/office/drawing/2014/main" id="{D2E2657E-1CF4-442C-B27C-D88B2DC78B0A}"/>
                </a:ext>
              </a:extLst>
            </p:cNvPr>
            <p:cNvSpPr txBox="1"/>
            <p:nvPr/>
          </p:nvSpPr>
          <p:spPr>
            <a:xfrm>
              <a:off x="3584272" y="2440415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1</a:t>
              </a:r>
            </a:p>
          </p:txBody>
        </p: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D98C7EFE-A818-4FC5-9A27-36E43ED3891D}"/>
                </a:ext>
              </a:extLst>
            </p:cNvPr>
            <p:cNvSpPr txBox="1"/>
            <p:nvPr/>
          </p:nvSpPr>
          <p:spPr>
            <a:xfrm>
              <a:off x="3920722" y="2441426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</a:rPr>
                <a:t>7</a:t>
              </a: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2FAB1A09-9603-456E-87AA-D6928634B558}"/>
                </a:ext>
              </a:extLst>
            </p:cNvPr>
            <p:cNvSpPr txBox="1"/>
            <p:nvPr/>
          </p:nvSpPr>
          <p:spPr>
            <a:xfrm>
              <a:off x="4255796" y="2440416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</a:rPr>
                <a:t>10</a:t>
              </a:r>
            </a:p>
          </p:txBody>
        </p:sp>
        <p:sp>
          <p:nvSpPr>
            <p:cNvPr id="162" name="TextBox 161">
              <a:extLst>
                <a:ext uri="{FF2B5EF4-FFF2-40B4-BE49-F238E27FC236}">
                  <a16:creationId xmlns:a16="http://schemas.microsoft.com/office/drawing/2014/main" id="{2ABACE1F-21DB-4FDC-A20A-634F465ED811}"/>
                </a:ext>
              </a:extLst>
            </p:cNvPr>
            <p:cNvSpPr txBox="1"/>
            <p:nvPr/>
          </p:nvSpPr>
          <p:spPr>
            <a:xfrm>
              <a:off x="4592246" y="2441424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8</a:t>
              </a:r>
            </a:p>
          </p:txBody>
        </p:sp>
        <p:sp>
          <p:nvSpPr>
            <p:cNvPr id="163" name="TextBox 162">
              <a:extLst>
                <a:ext uri="{FF2B5EF4-FFF2-40B4-BE49-F238E27FC236}">
                  <a16:creationId xmlns:a16="http://schemas.microsoft.com/office/drawing/2014/main" id="{441DC74F-E143-4852-86A4-01A580167CCA}"/>
                </a:ext>
              </a:extLst>
            </p:cNvPr>
            <p:cNvSpPr txBox="1"/>
            <p:nvPr/>
          </p:nvSpPr>
          <p:spPr>
            <a:xfrm>
              <a:off x="4927308" y="2440417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2</a:t>
              </a:r>
            </a:p>
          </p:txBody>
        </p: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9ED65BD8-887C-47FD-B1D8-224BDC494A91}"/>
                </a:ext>
              </a:extLst>
            </p:cNvPr>
            <p:cNvSpPr txBox="1"/>
            <p:nvPr/>
          </p:nvSpPr>
          <p:spPr>
            <a:xfrm>
              <a:off x="5263758" y="2441425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6</a:t>
              </a:r>
            </a:p>
          </p:txBody>
        </p:sp>
        <p:sp>
          <p:nvSpPr>
            <p:cNvPr id="165" name="TextBox 164">
              <a:extLst>
                <a:ext uri="{FF2B5EF4-FFF2-40B4-BE49-F238E27FC236}">
                  <a16:creationId xmlns:a16="http://schemas.microsoft.com/office/drawing/2014/main" id="{D15C56DF-B931-4769-97AF-77AADB1F1081}"/>
                </a:ext>
              </a:extLst>
            </p:cNvPr>
            <p:cNvSpPr txBox="1"/>
            <p:nvPr/>
          </p:nvSpPr>
          <p:spPr>
            <a:xfrm>
              <a:off x="5598832" y="2440415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4</a:t>
              </a:r>
            </a:p>
          </p:txBody>
        </p:sp>
        <p:sp>
          <p:nvSpPr>
            <p:cNvPr id="166" name="TextBox 165">
              <a:extLst>
                <a:ext uri="{FF2B5EF4-FFF2-40B4-BE49-F238E27FC236}">
                  <a16:creationId xmlns:a16="http://schemas.microsoft.com/office/drawing/2014/main" id="{47C0A25C-7ABF-4FB3-A218-01FB26C3D693}"/>
                </a:ext>
              </a:extLst>
            </p:cNvPr>
            <p:cNvSpPr txBox="1"/>
            <p:nvPr/>
          </p:nvSpPr>
          <p:spPr>
            <a:xfrm>
              <a:off x="5935282" y="2441423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2703287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Bubble Sort In-Place Example (</a:t>
            </a:r>
            <a:r>
              <a:rPr lang="en-US" altLang="en-US" dirty="0" err="1"/>
              <a:t>cont</a:t>
            </a:r>
            <a:r>
              <a:rPr lang="en-US" altLang="en-US" dirty="0"/>
              <a:t>)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981200"/>
            <a:ext cx="7772400" cy="4114800"/>
          </a:xfrm>
        </p:spPr>
        <p:txBody>
          <a:bodyPr/>
          <a:lstStyle/>
          <a:p>
            <a:pPr marL="533400" indent="-533400" eaLnBrk="1" hangingPunct="1">
              <a:lnSpc>
                <a:spcPct val="90000"/>
              </a:lnSpc>
              <a:defRPr/>
            </a:pPr>
            <a:r>
              <a:rPr lang="en-US" altLang="en-US" sz="2400" dirty="0"/>
              <a:t>Step 1.4: 10 &gt; 8, so swap</a:t>
            </a:r>
          </a:p>
          <a:p>
            <a:pPr marL="533400" indent="-533400" eaLnBrk="1" hangingPunct="1">
              <a:lnSpc>
                <a:spcPct val="90000"/>
              </a:lnSpc>
              <a:defRPr/>
            </a:pPr>
            <a:endParaRPr lang="en-US" altLang="en-US" sz="2400" dirty="0"/>
          </a:p>
          <a:p>
            <a:pPr marL="533400" indent="-533400" eaLnBrk="1" hangingPunct="1">
              <a:lnSpc>
                <a:spcPct val="90000"/>
              </a:lnSpc>
              <a:defRPr/>
            </a:pPr>
            <a:r>
              <a:rPr lang="en-US" altLang="en-US" sz="2400" dirty="0"/>
              <a:t>Step 1.5: 10 &gt; 2, so swap</a:t>
            </a:r>
            <a:endParaRPr lang="en-US" altLang="en-US" sz="2400" i="1" dirty="0"/>
          </a:p>
          <a:p>
            <a:pPr marL="533400" indent="-533400" eaLnBrk="1" hangingPunct="1">
              <a:lnSpc>
                <a:spcPct val="90000"/>
              </a:lnSpc>
              <a:defRPr/>
            </a:pPr>
            <a:endParaRPr lang="en-US" altLang="en-US" sz="2400" dirty="0"/>
          </a:p>
          <a:p>
            <a:pPr marL="533400" indent="-533400" eaLnBrk="1" hangingPunct="1">
              <a:lnSpc>
                <a:spcPct val="90000"/>
              </a:lnSpc>
              <a:defRPr/>
            </a:pPr>
            <a:r>
              <a:rPr lang="en-US" altLang="en-US" sz="2400" dirty="0"/>
              <a:t>Step 1.6: 10 &gt; 6, so swap</a:t>
            </a:r>
          </a:p>
          <a:p>
            <a:pPr marL="533400" indent="-533400" eaLnBrk="1" hangingPunct="1">
              <a:lnSpc>
                <a:spcPct val="90000"/>
              </a:lnSpc>
              <a:defRPr/>
            </a:pPr>
            <a:endParaRPr lang="en-US" altLang="en-US" sz="2400" dirty="0"/>
          </a:p>
          <a:p>
            <a:pPr marL="533400" indent="-533400" eaLnBrk="1" hangingPunct="1">
              <a:lnSpc>
                <a:spcPct val="90000"/>
              </a:lnSpc>
              <a:defRPr/>
            </a:pPr>
            <a:r>
              <a:rPr lang="en-US" altLang="en-US" sz="2400" dirty="0"/>
              <a:t>Step 1.7: 10 &gt; 4, so swap</a:t>
            </a:r>
          </a:p>
          <a:p>
            <a:pPr marL="533400" indent="-533400" eaLnBrk="1" hangingPunct="1">
              <a:lnSpc>
                <a:spcPct val="90000"/>
              </a:lnSpc>
              <a:defRPr/>
            </a:pPr>
            <a:endParaRPr lang="en-US" altLang="en-US" sz="2400" dirty="0"/>
          </a:p>
          <a:p>
            <a:pPr marL="533400" indent="-533400" eaLnBrk="1" hangingPunct="1">
              <a:lnSpc>
                <a:spcPct val="90000"/>
              </a:lnSpc>
              <a:defRPr/>
            </a:pPr>
            <a:r>
              <a:rPr lang="en-US" altLang="en-US" sz="2400" dirty="0"/>
              <a:t>Step 1.8: 10 &gt; 5, so swap</a:t>
            </a:r>
          </a:p>
          <a:p>
            <a:pPr marL="533400" indent="-533400" eaLnBrk="1" hangingPunct="1">
              <a:lnSpc>
                <a:spcPct val="90000"/>
              </a:lnSpc>
              <a:defRPr/>
            </a:pPr>
            <a:endParaRPr lang="en-US" altLang="en-US" sz="24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49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6A67CE0-F0E5-41A8-A405-D295D96172D8}" type="datetime1">
              <a:rPr lang="en-US" smtClean="0"/>
              <a:t>7/15/2021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Copyright (c) John K. </a:t>
            </a:r>
            <a:r>
              <a:rPr lang="en-US" dirty="0" err="1"/>
              <a:t>Ostlund</a:t>
            </a:r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27ABE92-D7D0-4EA7-8AB4-16402F58517E}"/>
              </a:ext>
            </a:extLst>
          </p:cNvPr>
          <p:cNvGrpSpPr/>
          <p:nvPr/>
        </p:nvGrpSpPr>
        <p:grpSpPr>
          <a:xfrm>
            <a:off x="2379863" y="2440411"/>
            <a:ext cx="4643273" cy="308789"/>
            <a:chOff x="2912757" y="2440415"/>
            <a:chExt cx="3357425" cy="308789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E012C025-6765-4B09-8FC6-A3813759BE47}"/>
                </a:ext>
              </a:extLst>
            </p:cNvPr>
            <p:cNvSpPr txBox="1"/>
            <p:nvPr/>
          </p:nvSpPr>
          <p:spPr>
            <a:xfrm>
              <a:off x="2912757" y="2440419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9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27A6C65-330F-4C72-B7E9-B091EF6E2DC1}"/>
                </a:ext>
              </a:extLst>
            </p:cNvPr>
            <p:cNvSpPr txBox="1"/>
            <p:nvPr/>
          </p:nvSpPr>
          <p:spPr>
            <a:xfrm>
              <a:off x="3249207" y="2441427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3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C159A07-5786-49A5-8639-441BFE6A7CE3}"/>
                </a:ext>
              </a:extLst>
            </p:cNvPr>
            <p:cNvSpPr txBox="1"/>
            <p:nvPr/>
          </p:nvSpPr>
          <p:spPr>
            <a:xfrm>
              <a:off x="3584272" y="2440415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1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70A787E-94F8-41D3-A63A-38ED22CC1714}"/>
                </a:ext>
              </a:extLst>
            </p:cNvPr>
            <p:cNvSpPr txBox="1"/>
            <p:nvPr/>
          </p:nvSpPr>
          <p:spPr>
            <a:xfrm>
              <a:off x="3920722" y="2441426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7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41C9C38-5568-46A1-A3B9-19587FD243C6}"/>
                </a:ext>
              </a:extLst>
            </p:cNvPr>
            <p:cNvSpPr txBox="1"/>
            <p:nvPr/>
          </p:nvSpPr>
          <p:spPr>
            <a:xfrm>
              <a:off x="4255796" y="2440416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</a:rPr>
                <a:t>8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9AA98E5-3F6D-4478-A430-D16AAD9A057E}"/>
                </a:ext>
              </a:extLst>
            </p:cNvPr>
            <p:cNvSpPr txBox="1"/>
            <p:nvPr/>
          </p:nvSpPr>
          <p:spPr>
            <a:xfrm>
              <a:off x="4592246" y="2441424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</a:rPr>
                <a:t>10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F039154-AF3B-49FA-B32F-15946B348501}"/>
                </a:ext>
              </a:extLst>
            </p:cNvPr>
            <p:cNvSpPr txBox="1"/>
            <p:nvPr/>
          </p:nvSpPr>
          <p:spPr>
            <a:xfrm>
              <a:off x="4927308" y="2440417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2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EBB0347-5A26-4B64-A7CC-1F0462FE598D}"/>
                </a:ext>
              </a:extLst>
            </p:cNvPr>
            <p:cNvSpPr txBox="1"/>
            <p:nvPr/>
          </p:nvSpPr>
          <p:spPr>
            <a:xfrm>
              <a:off x="5263758" y="2441425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6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505DB26-A1C0-4148-8A7E-B598313D77CE}"/>
                </a:ext>
              </a:extLst>
            </p:cNvPr>
            <p:cNvSpPr txBox="1"/>
            <p:nvPr/>
          </p:nvSpPr>
          <p:spPr>
            <a:xfrm>
              <a:off x="5598832" y="2440415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4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ECCC3F4-12F5-4F83-BD0F-3EA958C79AB9}"/>
                </a:ext>
              </a:extLst>
            </p:cNvPr>
            <p:cNvSpPr txBox="1"/>
            <p:nvPr/>
          </p:nvSpPr>
          <p:spPr>
            <a:xfrm>
              <a:off x="5935282" y="2441423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5</a:t>
              </a:r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FA730258-9665-4C75-94D2-3A4DDCE7CEAE}"/>
              </a:ext>
            </a:extLst>
          </p:cNvPr>
          <p:cNvGrpSpPr/>
          <p:nvPr/>
        </p:nvGrpSpPr>
        <p:grpSpPr>
          <a:xfrm>
            <a:off x="2380871" y="3234702"/>
            <a:ext cx="4643273" cy="308789"/>
            <a:chOff x="2912757" y="2440415"/>
            <a:chExt cx="3357425" cy="308789"/>
          </a:xfrm>
        </p:grpSpPr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651E1BA6-96A6-4986-AED0-85AFD8CF0C58}"/>
                </a:ext>
              </a:extLst>
            </p:cNvPr>
            <p:cNvSpPr txBox="1"/>
            <p:nvPr/>
          </p:nvSpPr>
          <p:spPr>
            <a:xfrm>
              <a:off x="2912757" y="2440419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9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985973A2-220C-44C9-A54B-BA93428BDF9E}"/>
                </a:ext>
              </a:extLst>
            </p:cNvPr>
            <p:cNvSpPr txBox="1"/>
            <p:nvPr/>
          </p:nvSpPr>
          <p:spPr>
            <a:xfrm>
              <a:off x="3249207" y="2441427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3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3858C2E8-67B3-48F7-9226-090296B43921}"/>
                </a:ext>
              </a:extLst>
            </p:cNvPr>
            <p:cNvSpPr txBox="1"/>
            <p:nvPr/>
          </p:nvSpPr>
          <p:spPr>
            <a:xfrm>
              <a:off x="3584272" y="2440415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1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088A9570-3C8E-4B52-99BB-9675A512E93B}"/>
                </a:ext>
              </a:extLst>
            </p:cNvPr>
            <p:cNvSpPr txBox="1"/>
            <p:nvPr/>
          </p:nvSpPr>
          <p:spPr>
            <a:xfrm>
              <a:off x="3920722" y="2441426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7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0AE76DF3-92C4-4053-A40B-0861A92ECBF1}"/>
                </a:ext>
              </a:extLst>
            </p:cNvPr>
            <p:cNvSpPr txBox="1"/>
            <p:nvPr/>
          </p:nvSpPr>
          <p:spPr>
            <a:xfrm>
              <a:off x="4255796" y="2440416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8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23FCE3F5-A609-4380-86DF-F39C0C5B980E}"/>
                </a:ext>
              </a:extLst>
            </p:cNvPr>
            <p:cNvSpPr txBox="1"/>
            <p:nvPr/>
          </p:nvSpPr>
          <p:spPr>
            <a:xfrm>
              <a:off x="4592246" y="2441424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</a:rPr>
                <a:t>2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C8D6BC77-22FD-4164-84E2-AAC3D9BD8247}"/>
                </a:ext>
              </a:extLst>
            </p:cNvPr>
            <p:cNvSpPr txBox="1"/>
            <p:nvPr/>
          </p:nvSpPr>
          <p:spPr>
            <a:xfrm>
              <a:off x="4927308" y="2440417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</a:rPr>
                <a:t>10</a:t>
              </a:r>
              <a:endParaRPr lang="en-US" sz="1400" dirty="0"/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223D7562-F6F1-4097-8C80-DB2B5332A254}"/>
                </a:ext>
              </a:extLst>
            </p:cNvPr>
            <p:cNvSpPr txBox="1"/>
            <p:nvPr/>
          </p:nvSpPr>
          <p:spPr>
            <a:xfrm>
              <a:off x="5263758" y="2441425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6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B88C00C8-1513-47DF-9194-E158AAED34D9}"/>
                </a:ext>
              </a:extLst>
            </p:cNvPr>
            <p:cNvSpPr txBox="1"/>
            <p:nvPr/>
          </p:nvSpPr>
          <p:spPr>
            <a:xfrm>
              <a:off x="5598832" y="2440415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4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0276C495-849C-4FD6-A947-6C262474D670}"/>
                </a:ext>
              </a:extLst>
            </p:cNvPr>
            <p:cNvSpPr txBox="1"/>
            <p:nvPr/>
          </p:nvSpPr>
          <p:spPr>
            <a:xfrm>
              <a:off x="5935282" y="2441423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5</a:t>
              </a:r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2FF9FE26-8601-4AAD-9E2E-9C83DAD1C958}"/>
              </a:ext>
            </a:extLst>
          </p:cNvPr>
          <p:cNvGrpSpPr/>
          <p:nvPr/>
        </p:nvGrpSpPr>
        <p:grpSpPr>
          <a:xfrm>
            <a:off x="2381880" y="4047167"/>
            <a:ext cx="4643273" cy="308789"/>
            <a:chOff x="2912757" y="2440415"/>
            <a:chExt cx="3357425" cy="308789"/>
          </a:xfrm>
        </p:grpSpPr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64DCA88E-6711-461F-838D-5F0160D50190}"/>
                </a:ext>
              </a:extLst>
            </p:cNvPr>
            <p:cNvSpPr txBox="1"/>
            <p:nvPr/>
          </p:nvSpPr>
          <p:spPr>
            <a:xfrm>
              <a:off x="2912757" y="2440419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9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D8FE39EC-245F-43BF-9420-00C52D9257CE}"/>
                </a:ext>
              </a:extLst>
            </p:cNvPr>
            <p:cNvSpPr txBox="1"/>
            <p:nvPr/>
          </p:nvSpPr>
          <p:spPr>
            <a:xfrm>
              <a:off x="3249207" y="2441427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3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21B690B9-C3FA-4557-A3AA-C3FC3E2B1FDB}"/>
                </a:ext>
              </a:extLst>
            </p:cNvPr>
            <p:cNvSpPr txBox="1"/>
            <p:nvPr/>
          </p:nvSpPr>
          <p:spPr>
            <a:xfrm>
              <a:off x="3584272" y="2440415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1</a:t>
              </a: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339FBAE0-630B-41A1-BB03-E56399E12786}"/>
                </a:ext>
              </a:extLst>
            </p:cNvPr>
            <p:cNvSpPr txBox="1"/>
            <p:nvPr/>
          </p:nvSpPr>
          <p:spPr>
            <a:xfrm>
              <a:off x="3920722" y="2441426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7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461D4427-FFDD-47CF-A9BB-89CEB108383C}"/>
                </a:ext>
              </a:extLst>
            </p:cNvPr>
            <p:cNvSpPr txBox="1"/>
            <p:nvPr/>
          </p:nvSpPr>
          <p:spPr>
            <a:xfrm>
              <a:off x="4255796" y="2440416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8</a:t>
              </a: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F7E21962-1AE8-499A-A0E3-33546FE12E1E}"/>
                </a:ext>
              </a:extLst>
            </p:cNvPr>
            <p:cNvSpPr txBox="1"/>
            <p:nvPr/>
          </p:nvSpPr>
          <p:spPr>
            <a:xfrm>
              <a:off x="4592246" y="2441424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2</a:t>
              </a: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8CB9EC3D-E4B9-4343-83BF-606407073D30}"/>
                </a:ext>
              </a:extLst>
            </p:cNvPr>
            <p:cNvSpPr txBox="1"/>
            <p:nvPr/>
          </p:nvSpPr>
          <p:spPr>
            <a:xfrm>
              <a:off x="4927308" y="2440417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</a:rPr>
                <a:t>6</a:t>
              </a:r>
              <a:endParaRPr lang="en-US" sz="1400" dirty="0"/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CED3E5B7-47FD-4B7E-A55A-E19ABB1A1250}"/>
                </a:ext>
              </a:extLst>
            </p:cNvPr>
            <p:cNvSpPr txBox="1"/>
            <p:nvPr/>
          </p:nvSpPr>
          <p:spPr>
            <a:xfrm>
              <a:off x="5263758" y="2441425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</a:rPr>
                <a:t>10</a:t>
              </a:r>
              <a:endParaRPr lang="en-US" sz="1400" dirty="0"/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AFD08F38-5894-4AD6-8069-C3E61D60E246}"/>
                </a:ext>
              </a:extLst>
            </p:cNvPr>
            <p:cNvSpPr txBox="1"/>
            <p:nvPr/>
          </p:nvSpPr>
          <p:spPr>
            <a:xfrm>
              <a:off x="5598832" y="2440415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4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5D865118-810A-4D8F-942A-9B5BC2D31C27}"/>
                </a:ext>
              </a:extLst>
            </p:cNvPr>
            <p:cNvSpPr txBox="1"/>
            <p:nvPr/>
          </p:nvSpPr>
          <p:spPr>
            <a:xfrm>
              <a:off x="5935282" y="2441423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5</a:t>
              </a:r>
            </a:p>
          </p:txBody>
        </p:sp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367F3491-E1F0-4216-B7E8-58CC25B204E9}"/>
              </a:ext>
            </a:extLst>
          </p:cNvPr>
          <p:cNvGrpSpPr/>
          <p:nvPr/>
        </p:nvGrpSpPr>
        <p:grpSpPr>
          <a:xfrm>
            <a:off x="2382888" y="4847520"/>
            <a:ext cx="4643273" cy="308789"/>
            <a:chOff x="2912757" y="2440415"/>
            <a:chExt cx="3357425" cy="308789"/>
          </a:xfrm>
        </p:grpSpPr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5EA39109-E7B4-4EF9-ABC6-B0C874F1581C}"/>
                </a:ext>
              </a:extLst>
            </p:cNvPr>
            <p:cNvSpPr txBox="1"/>
            <p:nvPr/>
          </p:nvSpPr>
          <p:spPr>
            <a:xfrm>
              <a:off x="2912757" y="2440419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9</a:t>
              </a: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DECCBBFB-9645-4E7F-9005-F81221AE0F68}"/>
                </a:ext>
              </a:extLst>
            </p:cNvPr>
            <p:cNvSpPr txBox="1"/>
            <p:nvPr/>
          </p:nvSpPr>
          <p:spPr>
            <a:xfrm>
              <a:off x="3249207" y="2441427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3</a:t>
              </a: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7C99D9DD-A1D9-41CE-BC83-49D903A4AEA0}"/>
                </a:ext>
              </a:extLst>
            </p:cNvPr>
            <p:cNvSpPr txBox="1"/>
            <p:nvPr/>
          </p:nvSpPr>
          <p:spPr>
            <a:xfrm>
              <a:off x="3584272" y="2440415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1</a:t>
              </a: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38281717-1D1D-4301-BF4E-4EB7211BD9D9}"/>
                </a:ext>
              </a:extLst>
            </p:cNvPr>
            <p:cNvSpPr txBox="1"/>
            <p:nvPr/>
          </p:nvSpPr>
          <p:spPr>
            <a:xfrm>
              <a:off x="3920722" y="2441426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7</a:t>
              </a: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383D42B5-B209-4587-95E8-2D7791394664}"/>
                </a:ext>
              </a:extLst>
            </p:cNvPr>
            <p:cNvSpPr txBox="1"/>
            <p:nvPr/>
          </p:nvSpPr>
          <p:spPr>
            <a:xfrm>
              <a:off x="4255796" y="2440416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8</a:t>
              </a: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9C6C3AB7-10BA-46C3-A95B-1EF1159CAF18}"/>
                </a:ext>
              </a:extLst>
            </p:cNvPr>
            <p:cNvSpPr txBox="1"/>
            <p:nvPr/>
          </p:nvSpPr>
          <p:spPr>
            <a:xfrm>
              <a:off x="4592246" y="2441424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2</a:t>
              </a: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C9CA197C-49A0-40E5-85E8-D87042CFBC9F}"/>
                </a:ext>
              </a:extLst>
            </p:cNvPr>
            <p:cNvSpPr txBox="1"/>
            <p:nvPr/>
          </p:nvSpPr>
          <p:spPr>
            <a:xfrm>
              <a:off x="4927308" y="2440417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6</a:t>
              </a: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E04593EE-0A5F-4038-A629-757B839DE043}"/>
                </a:ext>
              </a:extLst>
            </p:cNvPr>
            <p:cNvSpPr txBox="1"/>
            <p:nvPr/>
          </p:nvSpPr>
          <p:spPr>
            <a:xfrm>
              <a:off x="5263758" y="2441425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</a:rPr>
                <a:t>4</a:t>
              </a:r>
              <a:endParaRPr lang="en-US" sz="1400" dirty="0"/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F1C73F72-0F10-4E7B-8253-716B3F562576}"/>
                </a:ext>
              </a:extLst>
            </p:cNvPr>
            <p:cNvSpPr txBox="1"/>
            <p:nvPr/>
          </p:nvSpPr>
          <p:spPr>
            <a:xfrm>
              <a:off x="5598832" y="2440415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</a:rPr>
                <a:t>10</a:t>
              </a:r>
              <a:endParaRPr lang="en-US" sz="1400" dirty="0"/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AE895637-5978-4749-B1F5-3568ECAA24D9}"/>
                </a:ext>
              </a:extLst>
            </p:cNvPr>
            <p:cNvSpPr txBox="1"/>
            <p:nvPr/>
          </p:nvSpPr>
          <p:spPr>
            <a:xfrm>
              <a:off x="5935282" y="2441423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5</a:t>
              </a:r>
            </a:p>
          </p:txBody>
        </p:sp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7CBB0706-DE4B-4AB8-82F4-6D0BE9782BF8}"/>
              </a:ext>
            </a:extLst>
          </p:cNvPr>
          <p:cNvGrpSpPr/>
          <p:nvPr/>
        </p:nvGrpSpPr>
        <p:grpSpPr>
          <a:xfrm>
            <a:off x="2377841" y="5641820"/>
            <a:ext cx="4643273" cy="308789"/>
            <a:chOff x="2912757" y="2440415"/>
            <a:chExt cx="3357425" cy="308789"/>
          </a:xfrm>
        </p:grpSpPr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B5C5970E-E353-4D56-A92E-17104D80DF2B}"/>
                </a:ext>
              </a:extLst>
            </p:cNvPr>
            <p:cNvSpPr txBox="1"/>
            <p:nvPr/>
          </p:nvSpPr>
          <p:spPr>
            <a:xfrm>
              <a:off x="2912757" y="2440419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9</a:t>
              </a: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092EA00A-DB09-49B9-B5DF-8CDB5293BE9A}"/>
                </a:ext>
              </a:extLst>
            </p:cNvPr>
            <p:cNvSpPr txBox="1"/>
            <p:nvPr/>
          </p:nvSpPr>
          <p:spPr>
            <a:xfrm>
              <a:off x="3249207" y="2441427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3</a:t>
              </a: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0122A396-D7E3-44A6-BC7E-ABE951BB180D}"/>
                </a:ext>
              </a:extLst>
            </p:cNvPr>
            <p:cNvSpPr txBox="1"/>
            <p:nvPr/>
          </p:nvSpPr>
          <p:spPr>
            <a:xfrm>
              <a:off x="3584272" y="2440415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1</a:t>
              </a: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F8C686E4-01AE-4604-84AC-56FE697972ED}"/>
                </a:ext>
              </a:extLst>
            </p:cNvPr>
            <p:cNvSpPr txBox="1"/>
            <p:nvPr/>
          </p:nvSpPr>
          <p:spPr>
            <a:xfrm>
              <a:off x="3920722" y="2441426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7</a:t>
              </a: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D6AAF7C3-027B-4F26-9588-5E277731499C}"/>
                </a:ext>
              </a:extLst>
            </p:cNvPr>
            <p:cNvSpPr txBox="1"/>
            <p:nvPr/>
          </p:nvSpPr>
          <p:spPr>
            <a:xfrm>
              <a:off x="4255796" y="2440416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8</a:t>
              </a:r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1DB1C288-BB86-4B80-9917-D7805588433A}"/>
                </a:ext>
              </a:extLst>
            </p:cNvPr>
            <p:cNvSpPr txBox="1"/>
            <p:nvPr/>
          </p:nvSpPr>
          <p:spPr>
            <a:xfrm>
              <a:off x="4592246" y="2441424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2</a:t>
              </a:r>
            </a:p>
          </p:txBody>
        </p: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3F1A2BE4-A40F-4D9D-8E87-99840AB360C6}"/>
                </a:ext>
              </a:extLst>
            </p:cNvPr>
            <p:cNvSpPr txBox="1"/>
            <p:nvPr/>
          </p:nvSpPr>
          <p:spPr>
            <a:xfrm>
              <a:off x="4927308" y="2440417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6</a:t>
              </a:r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74B075FA-E5FF-4777-AFFB-5EF38A8734A2}"/>
                </a:ext>
              </a:extLst>
            </p:cNvPr>
            <p:cNvSpPr txBox="1"/>
            <p:nvPr/>
          </p:nvSpPr>
          <p:spPr>
            <a:xfrm>
              <a:off x="5263758" y="2441425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4</a:t>
              </a:r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20D190CE-10FF-47C6-8BD4-6F8AE4DBFDB9}"/>
                </a:ext>
              </a:extLst>
            </p:cNvPr>
            <p:cNvSpPr txBox="1"/>
            <p:nvPr/>
          </p:nvSpPr>
          <p:spPr>
            <a:xfrm>
              <a:off x="5598832" y="2440415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</a:rPr>
                <a:t>5</a:t>
              </a:r>
              <a:endParaRPr lang="en-US" sz="1400" dirty="0"/>
            </a:p>
          </p:txBody>
        </p: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254FF2BE-5BB4-4607-A465-DF421BFD540C}"/>
                </a:ext>
              </a:extLst>
            </p:cNvPr>
            <p:cNvSpPr txBox="1"/>
            <p:nvPr/>
          </p:nvSpPr>
          <p:spPr>
            <a:xfrm>
              <a:off x="5935282" y="2441423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</a:rPr>
                <a:t>10</a:t>
              </a:r>
              <a:endParaRPr lang="en-US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43292691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Bubble Sort In-Place Example (</a:t>
            </a:r>
            <a:r>
              <a:rPr lang="en-US" altLang="en-US" dirty="0" err="1"/>
              <a:t>cont</a:t>
            </a:r>
            <a:r>
              <a:rPr lang="en-US" altLang="en-US" dirty="0"/>
              <a:t>)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981200"/>
            <a:ext cx="7772400" cy="4114800"/>
          </a:xfrm>
        </p:spPr>
        <p:txBody>
          <a:bodyPr/>
          <a:lstStyle/>
          <a:p>
            <a:pPr marL="533400" indent="-533400" eaLnBrk="1" hangingPunct="1">
              <a:lnSpc>
                <a:spcPct val="90000"/>
              </a:lnSpc>
              <a:defRPr/>
            </a:pPr>
            <a:r>
              <a:rPr lang="en-US" altLang="en-US" sz="2400" dirty="0"/>
              <a:t>Step 2.0: 9 &gt; 3, so swap</a:t>
            </a:r>
          </a:p>
          <a:p>
            <a:pPr marL="533400" indent="-533400" eaLnBrk="1" hangingPunct="1">
              <a:lnSpc>
                <a:spcPct val="90000"/>
              </a:lnSpc>
              <a:defRPr/>
            </a:pPr>
            <a:endParaRPr lang="en-US" altLang="en-US" sz="2400" dirty="0"/>
          </a:p>
          <a:p>
            <a:pPr marL="533400" indent="-533400" eaLnBrk="1" hangingPunct="1">
              <a:lnSpc>
                <a:spcPct val="90000"/>
              </a:lnSpc>
              <a:defRPr/>
            </a:pPr>
            <a:r>
              <a:rPr lang="en-US" altLang="en-US" sz="2400" dirty="0"/>
              <a:t>Step 2.1: 9 &gt; 1, so swap</a:t>
            </a:r>
            <a:endParaRPr lang="en-US" altLang="en-US" sz="2400" i="1" dirty="0"/>
          </a:p>
          <a:p>
            <a:pPr marL="533400" indent="-533400" eaLnBrk="1" hangingPunct="1">
              <a:lnSpc>
                <a:spcPct val="90000"/>
              </a:lnSpc>
              <a:defRPr/>
            </a:pPr>
            <a:endParaRPr lang="en-US" altLang="en-US" sz="2400" dirty="0"/>
          </a:p>
          <a:p>
            <a:pPr marL="533400" indent="-533400" eaLnBrk="1" hangingPunct="1">
              <a:lnSpc>
                <a:spcPct val="90000"/>
              </a:lnSpc>
              <a:defRPr/>
            </a:pPr>
            <a:r>
              <a:rPr lang="en-US" altLang="en-US" sz="2400" dirty="0"/>
              <a:t>2.2, …, 2.6</a:t>
            </a:r>
          </a:p>
          <a:p>
            <a:pPr marL="533400" indent="-533400" eaLnBrk="1" hangingPunct="1">
              <a:lnSpc>
                <a:spcPct val="90000"/>
              </a:lnSpc>
              <a:defRPr/>
            </a:pPr>
            <a:endParaRPr lang="en-US" altLang="en-US" sz="2400" dirty="0"/>
          </a:p>
          <a:p>
            <a:pPr marL="533400" indent="-533400" eaLnBrk="1" hangingPunct="1">
              <a:lnSpc>
                <a:spcPct val="90000"/>
              </a:lnSpc>
              <a:defRPr/>
            </a:pPr>
            <a:r>
              <a:rPr lang="en-US" altLang="en-US" sz="2400" dirty="0"/>
              <a:t>Step 2.7: 9 &gt; 5, so swap</a:t>
            </a:r>
          </a:p>
          <a:p>
            <a:pPr marL="533400" indent="-533400" eaLnBrk="1" hangingPunct="1">
              <a:lnSpc>
                <a:spcPct val="90000"/>
              </a:lnSpc>
              <a:defRPr/>
            </a:pPr>
            <a:endParaRPr lang="en-US" altLang="en-US" sz="2400" dirty="0"/>
          </a:p>
          <a:p>
            <a:pPr marL="533400" indent="-533400" eaLnBrk="1" hangingPunct="1">
              <a:lnSpc>
                <a:spcPct val="90000"/>
              </a:lnSpc>
              <a:defRPr/>
            </a:pPr>
            <a:r>
              <a:rPr lang="en-US" altLang="en-US" sz="2400" dirty="0"/>
              <a:t>Step 2.8: 9 is </a:t>
            </a:r>
            <a:r>
              <a:rPr lang="en-US" altLang="en-US" sz="2400" i="1" dirty="0"/>
              <a:t>not</a:t>
            </a:r>
            <a:r>
              <a:rPr lang="en-US" altLang="en-US" sz="2400" dirty="0"/>
              <a:t> &gt; 10, so </a:t>
            </a:r>
            <a:r>
              <a:rPr lang="en-US" altLang="en-US" sz="2400" i="1" dirty="0"/>
              <a:t>no</a:t>
            </a:r>
            <a:r>
              <a:rPr lang="en-US" altLang="en-US" sz="2400" dirty="0"/>
              <a:t> swap</a:t>
            </a:r>
          </a:p>
          <a:p>
            <a:pPr marL="533400" indent="-533400" eaLnBrk="1" hangingPunct="1">
              <a:lnSpc>
                <a:spcPct val="90000"/>
              </a:lnSpc>
              <a:defRPr/>
            </a:pPr>
            <a:endParaRPr lang="en-US" altLang="en-US" sz="2400" dirty="0"/>
          </a:p>
          <a:p>
            <a:pPr marL="533400" indent="-533400" eaLnBrk="1" hangingPunct="1">
              <a:lnSpc>
                <a:spcPct val="90000"/>
              </a:lnSpc>
              <a:defRPr/>
            </a:pPr>
            <a:endParaRPr lang="en-US" altLang="en-US" sz="24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50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6A67CE0-F0E5-41A8-A405-D295D96172D8}" type="datetime1">
              <a:rPr lang="en-US" smtClean="0"/>
              <a:t>7/15/2021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Copyright (c) John K. </a:t>
            </a:r>
            <a:r>
              <a:rPr lang="en-US" dirty="0" err="1"/>
              <a:t>Ostlund</a:t>
            </a:r>
            <a:endParaRPr lang="en-US" dirty="0"/>
          </a:p>
        </p:txBody>
      </p:sp>
      <p:grpSp>
        <p:nvGrpSpPr>
          <p:cNvPr id="95" name="Group 94">
            <a:extLst>
              <a:ext uri="{FF2B5EF4-FFF2-40B4-BE49-F238E27FC236}">
                <a16:creationId xmlns:a16="http://schemas.microsoft.com/office/drawing/2014/main" id="{7CBB0706-DE4B-4AB8-82F4-6D0BE9782BF8}"/>
              </a:ext>
            </a:extLst>
          </p:cNvPr>
          <p:cNvGrpSpPr/>
          <p:nvPr/>
        </p:nvGrpSpPr>
        <p:grpSpPr>
          <a:xfrm>
            <a:off x="2377841" y="2407109"/>
            <a:ext cx="4643273" cy="309799"/>
            <a:chOff x="2912757" y="2439404"/>
            <a:chExt cx="3357425" cy="309799"/>
          </a:xfrm>
        </p:grpSpPr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B5C5970E-E353-4D56-A92E-17104D80DF2B}"/>
                </a:ext>
              </a:extLst>
            </p:cNvPr>
            <p:cNvSpPr txBox="1"/>
            <p:nvPr/>
          </p:nvSpPr>
          <p:spPr>
            <a:xfrm>
              <a:off x="2912757" y="2440419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</a:rPr>
                <a:t>3</a:t>
              </a: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092EA00A-DB09-49B9-B5DF-8CDB5293BE9A}"/>
                </a:ext>
              </a:extLst>
            </p:cNvPr>
            <p:cNvSpPr txBox="1"/>
            <p:nvPr/>
          </p:nvSpPr>
          <p:spPr>
            <a:xfrm>
              <a:off x="3248597" y="2439404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</a:rPr>
                <a:t>9</a:t>
              </a: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0122A396-D7E3-44A6-BC7E-ABE951BB180D}"/>
                </a:ext>
              </a:extLst>
            </p:cNvPr>
            <p:cNvSpPr txBox="1"/>
            <p:nvPr/>
          </p:nvSpPr>
          <p:spPr>
            <a:xfrm>
              <a:off x="3584272" y="2440415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1</a:t>
              </a: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F8C686E4-01AE-4604-84AC-56FE697972ED}"/>
                </a:ext>
              </a:extLst>
            </p:cNvPr>
            <p:cNvSpPr txBox="1"/>
            <p:nvPr/>
          </p:nvSpPr>
          <p:spPr>
            <a:xfrm>
              <a:off x="3920722" y="2441426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7</a:t>
              </a: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D6AAF7C3-027B-4F26-9588-5E277731499C}"/>
                </a:ext>
              </a:extLst>
            </p:cNvPr>
            <p:cNvSpPr txBox="1"/>
            <p:nvPr/>
          </p:nvSpPr>
          <p:spPr>
            <a:xfrm>
              <a:off x="4255796" y="2440416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8</a:t>
              </a:r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1DB1C288-BB86-4B80-9917-D7805588433A}"/>
                </a:ext>
              </a:extLst>
            </p:cNvPr>
            <p:cNvSpPr txBox="1"/>
            <p:nvPr/>
          </p:nvSpPr>
          <p:spPr>
            <a:xfrm>
              <a:off x="4592246" y="2441424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2</a:t>
              </a:r>
            </a:p>
          </p:txBody>
        </p: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3F1A2BE4-A40F-4D9D-8E87-99840AB360C6}"/>
                </a:ext>
              </a:extLst>
            </p:cNvPr>
            <p:cNvSpPr txBox="1"/>
            <p:nvPr/>
          </p:nvSpPr>
          <p:spPr>
            <a:xfrm>
              <a:off x="4927308" y="2440417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6</a:t>
              </a:r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74B075FA-E5FF-4777-AFFB-5EF38A8734A2}"/>
                </a:ext>
              </a:extLst>
            </p:cNvPr>
            <p:cNvSpPr txBox="1"/>
            <p:nvPr/>
          </p:nvSpPr>
          <p:spPr>
            <a:xfrm>
              <a:off x="5263758" y="2441425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4</a:t>
              </a:r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20D190CE-10FF-47C6-8BD4-6F8AE4DBFDB9}"/>
                </a:ext>
              </a:extLst>
            </p:cNvPr>
            <p:cNvSpPr txBox="1"/>
            <p:nvPr/>
          </p:nvSpPr>
          <p:spPr>
            <a:xfrm>
              <a:off x="5598832" y="2440415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5</a:t>
              </a:r>
            </a:p>
          </p:txBody>
        </p: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254FF2BE-5BB4-4607-A465-DF421BFD540C}"/>
                </a:ext>
              </a:extLst>
            </p:cNvPr>
            <p:cNvSpPr txBox="1"/>
            <p:nvPr/>
          </p:nvSpPr>
          <p:spPr>
            <a:xfrm>
              <a:off x="5935282" y="2441423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00B050"/>
                  </a:solidFill>
                </a:rPr>
                <a:t>10</a:t>
              </a:r>
              <a:endParaRPr lang="en-US" sz="1400" dirty="0">
                <a:solidFill>
                  <a:srgbClr val="00B050"/>
                </a:solidFill>
              </a:endParaRPr>
            </a:p>
          </p:txBody>
        </p:sp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1B1A99E4-6722-4894-8884-7951A7C77DEA}"/>
              </a:ext>
            </a:extLst>
          </p:cNvPr>
          <p:cNvGrpSpPr/>
          <p:nvPr/>
        </p:nvGrpSpPr>
        <p:grpSpPr>
          <a:xfrm>
            <a:off x="2378848" y="3195353"/>
            <a:ext cx="4643273" cy="309799"/>
            <a:chOff x="2912757" y="2439404"/>
            <a:chExt cx="3357425" cy="309799"/>
          </a:xfrm>
        </p:grpSpPr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C129A1CD-E265-440B-B6A4-02694F9AC6C9}"/>
                </a:ext>
              </a:extLst>
            </p:cNvPr>
            <p:cNvSpPr txBox="1"/>
            <p:nvPr/>
          </p:nvSpPr>
          <p:spPr>
            <a:xfrm>
              <a:off x="2912757" y="2440419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3</a:t>
              </a: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17D67C36-9796-4347-B40C-626545226361}"/>
                </a:ext>
              </a:extLst>
            </p:cNvPr>
            <p:cNvSpPr txBox="1"/>
            <p:nvPr/>
          </p:nvSpPr>
          <p:spPr>
            <a:xfrm>
              <a:off x="3248597" y="2439404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75C4D2E5-4DDE-46C9-B946-FF45E38EA95F}"/>
                </a:ext>
              </a:extLst>
            </p:cNvPr>
            <p:cNvSpPr txBox="1"/>
            <p:nvPr/>
          </p:nvSpPr>
          <p:spPr>
            <a:xfrm>
              <a:off x="3584272" y="2440415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</a:rPr>
                <a:t>9</a:t>
              </a: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41684116-5E55-4B15-B540-343FB0282EC7}"/>
                </a:ext>
              </a:extLst>
            </p:cNvPr>
            <p:cNvSpPr txBox="1"/>
            <p:nvPr/>
          </p:nvSpPr>
          <p:spPr>
            <a:xfrm>
              <a:off x="3920722" y="2441426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7</a:t>
              </a:r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E7E50CB7-D195-4C0F-84AC-1DD6F6A9CC9C}"/>
                </a:ext>
              </a:extLst>
            </p:cNvPr>
            <p:cNvSpPr txBox="1"/>
            <p:nvPr/>
          </p:nvSpPr>
          <p:spPr>
            <a:xfrm>
              <a:off x="4255796" y="2440416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8</a:t>
              </a:r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E56A9C78-6056-493F-B955-B9462CF07D64}"/>
                </a:ext>
              </a:extLst>
            </p:cNvPr>
            <p:cNvSpPr txBox="1"/>
            <p:nvPr/>
          </p:nvSpPr>
          <p:spPr>
            <a:xfrm>
              <a:off x="4592246" y="2441424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2</a:t>
              </a: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AD0FA5F8-86AC-4C48-8BA8-3B7CE65F1CB7}"/>
                </a:ext>
              </a:extLst>
            </p:cNvPr>
            <p:cNvSpPr txBox="1"/>
            <p:nvPr/>
          </p:nvSpPr>
          <p:spPr>
            <a:xfrm>
              <a:off x="4927308" y="2440417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6</a:t>
              </a: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F8FBCC88-8257-471B-835C-03BCAD49FED1}"/>
                </a:ext>
              </a:extLst>
            </p:cNvPr>
            <p:cNvSpPr txBox="1"/>
            <p:nvPr/>
          </p:nvSpPr>
          <p:spPr>
            <a:xfrm>
              <a:off x="5263758" y="2441425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4</a:t>
              </a:r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4A7A6BDD-EB0D-4765-B0FB-2B56839F1CC9}"/>
                </a:ext>
              </a:extLst>
            </p:cNvPr>
            <p:cNvSpPr txBox="1"/>
            <p:nvPr/>
          </p:nvSpPr>
          <p:spPr>
            <a:xfrm>
              <a:off x="5598832" y="2440415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5</a:t>
              </a: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F492EB0F-30B2-4A97-904A-376486215FD5}"/>
                </a:ext>
              </a:extLst>
            </p:cNvPr>
            <p:cNvSpPr txBox="1"/>
            <p:nvPr/>
          </p:nvSpPr>
          <p:spPr>
            <a:xfrm>
              <a:off x="5935282" y="2441423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00B050"/>
                  </a:solidFill>
                </a:rPr>
                <a:t>10</a:t>
              </a:r>
              <a:endParaRPr lang="en-US" sz="1400" dirty="0">
                <a:solidFill>
                  <a:srgbClr val="00B050"/>
                </a:solidFill>
              </a:endParaRPr>
            </a:p>
          </p:txBody>
        </p:sp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067F8EE6-B1F5-4CDA-B312-8EEEE930ED11}"/>
              </a:ext>
            </a:extLst>
          </p:cNvPr>
          <p:cNvGrpSpPr/>
          <p:nvPr/>
        </p:nvGrpSpPr>
        <p:grpSpPr>
          <a:xfrm>
            <a:off x="2379857" y="4825326"/>
            <a:ext cx="4643273" cy="309799"/>
            <a:chOff x="2912757" y="2439404"/>
            <a:chExt cx="3357425" cy="309799"/>
          </a:xfrm>
        </p:grpSpPr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0D4E5CBA-5034-4767-953F-7C22F681BFF2}"/>
                </a:ext>
              </a:extLst>
            </p:cNvPr>
            <p:cNvSpPr txBox="1"/>
            <p:nvPr/>
          </p:nvSpPr>
          <p:spPr>
            <a:xfrm>
              <a:off x="2912757" y="2440419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3</a:t>
              </a: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5EC8E9EF-554E-4418-89C9-D2E472DCC0A7}"/>
                </a:ext>
              </a:extLst>
            </p:cNvPr>
            <p:cNvSpPr txBox="1"/>
            <p:nvPr/>
          </p:nvSpPr>
          <p:spPr>
            <a:xfrm>
              <a:off x="3248597" y="2439404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1</a:t>
              </a:r>
            </a:p>
          </p:txBody>
        </p: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66259058-368A-4ACE-BF5F-A04AFE86728B}"/>
                </a:ext>
              </a:extLst>
            </p:cNvPr>
            <p:cNvSpPr txBox="1"/>
            <p:nvPr/>
          </p:nvSpPr>
          <p:spPr>
            <a:xfrm>
              <a:off x="3584272" y="2440415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7</a:t>
              </a:r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89754444-0D42-4093-9414-F0B5C29446AB}"/>
                </a:ext>
              </a:extLst>
            </p:cNvPr>
            <p:cNvSpPr txBox="1"/>
            <p:nvPr/>
          </p:nvSpPr>
          <p:spPr>
            <a:xfrm>
              <a:off x="3920722" y="2441426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8</a:t>
              </a: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40788A53-FD18-4AA4-80D4-C2C78719D383}"/>
                </a:ext>
              </a:extLst>
            </p:cNvPr>
            <p:cNvSpPr txBox="1"/>
            <p:nvPr/>
          </p:nvSpPr>
          <p:spPr>
            <a:xfrm>
              <a:off x="4255796" y="2440416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2</a:t>
              </a:r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4600D07E-D9DA-4ACA-BD38-2B0950C827AC}"/>
                </a:ext>
              </a:extLst>
            </p:cNvPr>
            <p:cNvSpPr txBox="1"/>
            <p:nvPr/>
          </p:nvSpPr>
          <p:spPr>
            <a:xfrm>
              <a:off x="4592246" y="2441424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6</a:t>
              </a: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EC564B1A-A1C0-417A-8F6B-D0ABA7BC4257}"/>
                </a:ext>
              </a:extLst>
            </p:cNvPr>
            <p:cNvSpPr txBox="1"/>
            <p:nvPr/>
          </p:nvSpPr>
          <p:spPr>
            <a:xfrm>
              <a:off x="4927308" y="2440417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4</a:t>
              </a:r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290C91BB-FCF0-4B01-BCD0-583B6A578A1A}"/>
                </a:ext>
              </a:extLst>
            </p:cNvPr>
            <p:cNvSpPr txBox="1"/>
            <p:nvPr/>
          </p:nvSpPr>
          <p:spPr>
            <a:xfrm>
              <a:off x="5263758" y="2441425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</a:rPr>
                <a:t>5</a:t>
              </a:r>
              <a:endParaRPr lang="en-US" sz="1400" dirty="0"/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F5EF4A4A-8A6B-4974-B992-D6B934E838C1}"/>
                </a:ext>
              </a:extLst>
            </p:cNvPr>
            <p:cNvSpPr txBox="1"/>
            <p:nvPr/>
          </p:nvSpPr>
          <p:spPr>
            <a:xfrm>
              <a:off x="5598832" y="2440415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</a:rPr>
                <a:t>9</a:t>
              </a:r>
              <a:endParaRPr lang="en-US" sz="1400" dirty="0"/>
            </a:p>
          </p:txBody>
        </p: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7ACE9A2F-3CF2-42B0-8A09-8754127A72B1}"/>
                </a:ext>
              </a:extLst>
            </p:cNvPr>
            <p:cNvSpPr txBox="1"/>
            <p:nvPr/>
          </p:nvSpPr>
          <p:spPr>
            <a:xfrm>
              <a:off x="5935282" y="2441423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00B050"/>
                  </a:solidFill>
                </a:rPr>
                <a:t>10</a:t>
              </a:r>
              <a:endParaRPr lang="en-US" sz="1400" dirty="0">
                <a:solidFill>
                  <a:srgbClr val="00B050"/>
                </a:solidFill>
              </a:endParaRPr>
            </a:p>
          </p:txBody>
        </p:sp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225DF2F9-3914-4192-813D-52EEF7C881FD}"/>
              </a:ext>
            </a:extLst>
          </p:cNvPr>
          <p:cNvGrpSpPr/>
          <p:nvPr/>
        </p:nvGrpSpPr>
        <p:grpSpPr>
          <a:xfrm>
            <a:off x="2380865" y="5655956"/>
            <a:ext cx="4643273" cy="309799"/>
            <a:chOff x="2912757" y="2439404"/>
            <a:chExt cx="3357425" cy="309799"/>
          </a:xfrm>
        </p:grpSpPr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511EACCB-3D18-4EE1-ABC3-E84E5DA46421}"/>
                </a:ext>
              </a:extLst>
            </p:cNvPr>
            <p:cNvSpPr txBox="1"/>
            <p:nvPr/>
          </p:nvSpPr>
          <p:spPr>
            <a:xfrm>
              <a:off x="2912757" y="2440419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3</a:t>
              </a:r>
            </a:p>
          </p:txBody>
        </p: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0BB63E89-7C63-4909-8E54-D7604609D931}"/>
                </a:ext>
              </a:extLst>
            </p:cNvPr>
            <p:cNvSpPr txBox="1"/>
            <p:nvPr/>
          </p:nvSpPr>
          <p:spPr>
            <a:xfrm>
              <a:off x="3248597" y="2439404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1</a:t>
              </a: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EFC960BD-A6A8-40C8-9A25-06339D33F488}"/>
                </a:ext>
              </a:extLst>
            </p:cNvPr>
            <p:cNvSpPr txBox="1"/>
            <p:nvPr/>
          </p:nvSpPr>
          <p:spPr>
            <a:xfrm>
              <a:off x="3584272" y="2440415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7</a:t>
              </a:r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AE4D5E89-3833-4843-BA93-791E60C5305D}"/>
                </a:ext>
              </a:extLst>
            </p:cNvPr>
            <p:cNvSpPr txBox="1"/>
            <p:nvPr/>
          </p:nvSpPr>
          <p:spPr>
            <a:xfrm>
              <a:off x="3920722" y="2441426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8</a:t>
              </a:r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990EC51D-C36C-49FE-83B7-7CB93A98EA41}"/>
                </a:ext>
              </a:extLst>
            </p:cNvPr>
            <p:cNvSpPr txBox="1"/>
            <p:nvPr/>
          </p:nvSpPr>
          <p:spPr>
            <a:xfrm>
              <a:off x="4255796" y="2440416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2</a:t>
              </a:r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B95A612F-AF59-43D3-9764-AAB078B5807D}"/>
                </a:ext>
              </a:extLst>
            </p:cNvPr>
            <p:cNvSpPr txBox="1"/>
            <p:nvPr/>
          </p:nvSpPr>
          <p:spPr>
            <a:xfrm>
              <a:off x="4592246" y="2441424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6</a:t>
              </a:r>
            </a:p>
          </p:txBody>
        </p: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61A26490-8D1B-49FA-8942-E33EAC5A00D7}"/>
                </a:ext>
              </a:extLst>
            </p:cNvPr>
            <p:cNvSpPr txBox="1"/>
            <p:nvPr/>
          </p:nvSpPr>
          <p:spPr>
            <a:xfrm>
              <a:off x="4927308" y="2440417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4</a:t>
              </a:r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43F82F39-E763-452E-9E59-983543F3E60D}"/>
                </a:ext>
              </a:extLst>
            </p:cNvPr>
            <p:cNvSpPr txBox="1"/>
            <p:nvPr/>
          </p:nvSpPr>
          <p:spPr>
            <a:xfrm>
              <a:off x="5263758" y="2441425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5</a:t>
              </a:r>
            </a:p>
          </p:txBody>
        </p:sp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666516E2-E00D-4143-B795-45EA9178E300}"/>
                </a:ext>
              </a:extLst>
            </p:cNvPr>
            <p:cNvSpPr txBox="1"/>
            <p:nvPr/>
          </p:nvSpPr>
          <p:spPr>
            <a:xfrm>
              <a:off x="5598832" y="2440415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00B050"/>
                  </a:solidFill>
                </a:rPr>
                <a:t>9</a:t>
              </a:r>
            </a:p>
          </p:txBody>
        </p: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D36624B4-DD64-4A8C-B3D3-38C5DAE2326C}"/>
                </a:ext>
              </a:extLst>
            </p:cNvPr>
            <p:cNvSpPr txBox="1"/>
            <p:nvPr/>
          </p:nvSpPr>
          <p:spPr>
            <a:xfrm>
              <a:off x="5935282" y="2441423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00B050"/>
                  </a:solidFill>
                </a:rPr>
                <a:t>10</a:t>
              </a:r>
              <a:endParaRPr lang="en-US" sz="1400" dirty="0">
                <a:solidFill>
                  <a:srgbClr val="00B05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9407021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Bubble Sort In-Place Example (</a:t>
            </a:r>
            <a:r>
              <a:rPr lang="en-US" altLang="en-US" dirty="0" err="1"/>
              <a:t>cont</a:t>
            </a:r>
            <a:r>
              <a:rPr lang="en-US" altLang="en-US" dirty="0"/>
              <a:t>)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981200"/>
            <a:ext cx="7772400" cy="4114800"/>
          </a:xfrm>
        </p:spPr>
        <p:txBody>
          <a:bodyPr/>
          <a:lstStyle/>
          <a:p>
            <a:pPr marL="533400" indent="-533400" eaLnBrk="1" hangingPunct="1">
              <a:lnSpc>
                <a:spcPct val="90000"/>
              </a:lnSpc>
              <a:defRPr/>
            </a:pPr>
            <a:r>
              <a:rPr lang="en-US" altLang="en-US" sz="2400" dirty="0"/>
              <a:t>Step 3.7: 8 is </a:t>
            </a:r>
            <a:r>
              <a:rPr lang="en-US" altLang="en-US" sz="2400" i="1" dirty="0"/>
              <a:t>not</a:t>
            </a:r>
            <a:r>
              <a:rPr lang="en-US" altLang="en-US" sz="2400" dirty="0"/>
              <a:t> &gt; 9, so </a:t>
            </a:r>
            <a:r>
              <a:rPr lang="en-US" altLang="en-US" sz="2400" i="1" dirty="0"/>
              <a:t>no</a:t>
            </a:r>
            <a:r>
              <a:rPr lang="en-US" altLang="en-US" sz="2400" dirty="0"/>
              <a:t> swap</a:t>
            </a:r>
          </a:p>
          <a:p>
            <a:pPr marL="533400" indent="-533400" eaLnBrk="1" hangingPunct="1">
              <a:lnSpc>
                <a:spcPct val="90000"/>
              </a:lnSpc>
              <a:defRPr/>
            </a:pPr>
            <a:endParaRPr lang="en-US" altLang="en-US" sz="2400" dirty="0"/>
          </a:p>
          <a:p>
            <a:pPr marL="533400" indent="-533400" eaLnBrk="1" hangingPunct="1">
              <a:lnSpc>
                <a:spcPct val="90000"/>
              </a:lnSpc>
              <a:defRPr/>
            </a:pPr>
            <a:r>
              <a:rPr lang="en-US" altLang="en-US" sz="2400" dirty="0"/>
              <a:t>Notice how the greatest remaining value is </a:t>
            </a:r>
            <a:r>
              <a:rPr lang="en-US" altLang="en-US" sz="2400" i="1" dirty="0">
                <a:solidFill>
                  <a:srgbClr val="FF0000"/>
                </a:solidFill>
              </a:rPr>
              <a:t>"bubbled up"</a:t>
            </a:r>
            <a:r>
              <a:rPr lang="en-US" altLang="en-US" sz="2400" dirty="0"/>
              <a:t> toward the right end in each iteration </a:t>
            </a:r>
          </a:p>
          <a:p>
            <a:pPr marL="533400" indent="-533400" eaLnBrk="1" hangingPunct="1">
              <a:lnSpc>
                <a:spcPct val="90000"/>
              </a:lnSpc>
              <a:defRPr/>
            </a:pPr>
            <a:r>
              <a:rPr lang="en-US" altLang="en-US" sz="2400" dirty="0"/>
              <a:t>…</a:t>
            </a:r>
          </a:p>
          <a:p>
            <a:pPr marL="533400" indent="-533400" eaLnBrk="1" hangingPunct="1">
              <a:lnSpc>
                <a:spcPct val="90000"/>
              </a:lnSpc>
              <a:defRPr/>
            </a:pPr>
            <a:r>
              <a:rPr lang="en-US" altLang="en-US" sz="2400" dirty="0"/>
              <a:t>Step 10.0: 1 is not &gt; 2, so no swap</a:t>
            </a:r>
          </a:p>
          <a:p>
            <a:pPr marL="533400" indent="-533400" eaLnBrk="1" hangingPunct="1">
              <a:lnSpc>
                <a:spcPct val="90000"/>
              </a:lnSpc>
              <a:defRPr/>
            </a:pPr>
            <a:endParaRPr lang="en-US" altLang="en-US" sz="2400" dirty="0"/>
          </a:p>
          <a:p>
            <a:pPr marL="533400" indent="-533400" eaLnBrk="1" hangingPunct="1">
              <a:lnSpc>
                <a:spcPct val="90000"/>
              </a:lnSpc>
              <a:defRPr/>
            </a:pPr>
            <a:r>
              <a:rPr lang="en-US" altLang="en-US" sz="2400" dirty="0"/>
              <a:t>…</a:t>
            </a:r>
          </a:p>
          <a:p>
            <a:pPr marL="533400" indent="-533400" eaLnBrk="1" hangingPunct="1">
              <a:lnSpc>
                <a:spcPct val="90000"/>
              </a:lnSpc>
              <a:defRPr/>
            </a:pPr>
            <a:r>
              <a:rPr lang="en-US" altLang="en-US" sz="2400" i="1" dirty="0"/>
              <a:t>No swaps</a:t>
            </a:r>
            <a:r>
              <a:rPr lang="en-US" altLang="en-US" sz="2400" dirty="0"/>
              <a:t> from 10.0 through 10.8, so </a:t>
            </a:r>
            <a:r>
              <a:rPr lang="en-US" altLang="en-US" sz="2400" b="1" i="1" dirty="0">
                <a:solidFill>
                  <a:srgbClr val="FF0000"/>
                </a:solidFill>
              </a:rPr>
              <a:t>sorted!</a:t>
            </a:r>
          </a:p>
          <a:p>
            <a:pPr marL="533400" indent="-533400" eaLnBrk="1" hangingPunct="1">
              <a:lnSpc>
                <a:spcPct val="90000"/>
              </a:lnSpc>
              <a:defRPr/>
            </a:pPr>
            <a:endParaRPr lang="en-US" altLang="en-US" sz="2400" dirty="0"/>
          </a:p>
          <a:p>
            <a:pPr marL="533400" indent="-533400" eaLnBrk="1" hangingPunct="1">
              <a:lnSpc>
                <a:spcPct val="90000"/>
              </a:lnSpc>
              <a:defRPr/>
            </a:pPr>
            <a:endParaRPr lang="en-US" altLang="en-US" sz="24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51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6A67CE0-F0E5-41A8-A405-D295D96172D8}" type="datetime1">
              <a:rPr lang="en-US" smtClean="0"/>
              <a:t>7/15/2021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Copyright (c) John K. </a:t>
            </a:r>
            <a:r>
              <a:rPr lang="en-US" dirty="0" err="1"/>
              <a:t>Ostlund</a:t>
            </a:r>
            <a:endParaRPr lang="en-US" dirty="0"/>
          </a:p>
        </p:txBody>
      </p: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225DF2F9-3914-4192-813D-52EEF7C881FD}"/>
              </a:ext>
            </a:extLst>
          </p:cNvPr>
          <p:cNvGrpSpPr/>
          <p:nvPr/>
        </p:nvGrpSpPr>
        <p:grpSpPr>
          <a:xfrm>
            <a:off x="2380865" y="2422244"/>
            <a:ext cx="4643273" cy="309799"/>
            <a:chOff x="2912757" y="2439404"/>
            <a:chExt cx="3357425" cy="309799"/>
          </a:xfrm>
        </p:grpSpPr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511EACCB-3D18-4EE1-ABC3-E84E5DA46421}"/>
                </a:ext>
              </a:extLst>
            </p:cNvPr>
            <p:cNvSpPr txBox="1"/>
            <p:nvPr/>
          </p:nvSpPr>
          <p:spPr>
            <a:xfrm>
              <a:off x="2912757" y="2440419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1</a:t>
              </a:r>
            </a:p>
          </p:txBody>
        </p: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0BB63E89-7C63-4909-8E54-D7604609D931}"/>
                </a:ext>
              </a:extLst>
            </p:cNvPr>
            <p:cNvSpPr txBox="1"/>
            <p:nvPr/>
          </p:nvSpPr>
          <p:spPr>
            <a:xfrm>
              <a:off x="3248597" y="2439404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3</a:t>
              </a: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EFC960BD-A6A8-40C8-9A25-06339D33F488}"/>
                </a:ext>
              </a:extLst>
            </p:cNvPr>
            <p:cNvSpPr txBox="1"/>
            <p:nvPr/>
          </p:nvSpPr>
          <p:spPr>
            <a:xfrm>
              <a:off x="3584272" y="2440415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7</a:t>
              </a:r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AE4D5E89-3833-4843-BA93-791E60C5305D}"/>
                </a:ext>
              </a:extLst>
            </p:cNvPr>
            <p:cNvSpPr txBox="1"/>
            <p:nvPr/>
          </p:nvSpPr>
          <p:spPr>
            <a:xfrm>
              <a:off x="3920722" y="2441426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2</a:t>
              </a:r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990EC51D-C36C-49FE-83B7-7CB93A98EA41}"/>
                </a:ext>
              </a:extLst>
            </p:cNvPr>
            <p:cNvSpPr txBox="1"/>
            <p:nvPr/>
          </p:nvSpPr>
          <p:spPr>
            <a:xfrm>
              <a:off x="4255796" y="2440416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6</a:t>
              </a:r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B95A612F-AF59-43D3-9764-AAB078B5807D}"/>
                </a:ext>
              </a:extLst>
            </p:cNvPr>
            <p:cNvSpPr txBox="1"/>
            <p:nvPr/>
          </p:nvSpPr>
          <p:spPr>
            <a:xfrm>
              <a:off x="4592246" y="2441424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4</a:t>
              </a:r>
            </a:p>
          </p:txBody>
        </p: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61A26490-8D1B-49FA-8942-E33EAC5A00D7}"/>
                </a:ext>
              </a:extLst>
            </p:cNvPr>
            <p:cNvSpPr txBox="1"/>
            <p:nvPr/>
          </p:nvSpPr>
          <p:spPr>
            <a:xfrm>
              <a:off x="4927308" y="2440417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5</a:t>
              </a:r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43F82F39-E763-452E-9E59-983543F3E60D}"/>
                </a:ext>
              </a:extLst>
            </p:cNvPr>
            <p:cNvSpPr txBox="1"/>
            <p:nvPr/>
          </p:nvSpPr>
          <p:spPr>
            <a:xfrm>
              <a:off x="5263758" y="2441425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</a:rPr>
                <a:t>8</a:t>
              </a:r>
            </a:p>
          </p:txBody>
        </p:sp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666516E2-E00D-4143-B795-45EA9178E300}"/>
                </a:ext>
              </a:extLst>
            </p:cNvPr>
            <p:cNvSpPr txBox="1"/>
            <p:nvPr/>
          </p:nvSpPr>
          <p:spPr>
            <a:xfrm>
              <a:off x="5598832" y="2440415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00B050"/>
                  </a:solidFill>
                </a:rPr>
                <a:t>9</a:t>
              </a:r>
            </a:p>
          </p:txBody>
        </p: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D36624B4-DD64-4A8C-B3D3-38C5DAE2326C}"/>
                </a:ext>
              </a:extLst>
            </p:cNvPr>
            <p:cNvSpPr txBox="1"/>
            <p:nvPr/>
          </p:nvSpPr>
          <p:spPr>
            <a:xfrm>
              <a:off x="5935282" y="2441423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00B050"/>
                  </a:solidFill>
                </a:rPr>
                <a:t>10</a:t>
              </a:r>
              <a:endParaRPr lang="en-US" sz="1400" dirty="0">
                <a:solidFill>
                  <a:srgbClr val="00B050"/>
                </a:solidFill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E5448D8D-513A-4B69-B8A2-27B6F4008DD6}"/>
              </a:ext>
            </a:extLst>
          </p:cNvPr>
          <p:cNvGrpSpPr/>
          <p:nvPr/>
        </p:nvGrpSpPr>
        <p:grpSpPr>
          <a:xfrm>
            <a:off x="2381872" y="4391338"/>
            <a:ext cx="4643273" cy="309799"/>
            <a:chOff x="2912757" y="2439404"/>
            <a:chExt cx="3357425" cy="309799"/>
          </a:xfrm>
        </p:grpSpPr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8AE1A15A-085C-469F-8770-653B7D80FB2D}"/>
                </a:ext>
              </a:extLst>
            </p:cNvPr>
            <p:cNvSpPr txBox="1"/>
            <p:nvPr/>
          </p:nvSpPr>
          <p:spPr>
            <a:xfrm>
              <a:off x="2912757" y="2440419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F4A23D95-F0DF-45D1-8F69-685FF7F45DE3}"/>
                </a:ext>
              </a:extLst>
            </p:cNvPr>
            <p:cNvSpPr txBox="1"/>
            <p:nvPr/>
          </p:nvSpPr>
          <p:spPr>
            <a:xfrm>
              <a:off x="3248597" y="2439404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00B050"/>
                  </a:solidFill>
                </a:rPr>
                <a:t>2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CA1D7BE5-9F5A-41BF-894E-03CE01B30292}"/>
                </a:ext>
              </a:extLst>
            </p:cNvPr>
            <p:cNvSpPr txBox="1"/>
            <p:nvPr/>
          </p:nvSpPr>
          <p:spPr>
            <a:xfrm>
              <a:off x="3584272" y="2440415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00B050"/>
                  </a:solidFill>
                </a:rPr>
                <a:t>3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5A78DB5F-C429-4D6C-A50C-6FEF4324917D}"/>
                </a:ext>
              </a:extLst>
            </p:cNvPr>
            <p:cNvSpPr txBox="1"/>
            <p:nvPr/>
          </p:nvSpPr>
          <p:spPr>
            <a:xfrm>
              <a:off x="3920722" y="2441426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00B050"/>
                  </a:solidFill>
                </a:rPr>
                <a:t>4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BDAE2E66-29E7-4ED3-BCEF-659BC2601565}"/>
                </a:ext>
              </a:extLst>
            </p:cNvPr>
            <p:cNvSpPr txBox="1"/>
            <p:nvPr/>
          </p:nvSpPr>
          <p:spPr>
            <a:xfrm>
              <a:off x="4255796" y="2440416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00B050"/>
                  </a:solidFill>
                </a:rPr>
                <a:t>5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BE6C2806-6224-40F4-8FFA-B4392D340F7C}"/>
                </a:ext>
              </a:extLst>
            </p:cNvPr>
            <p:cNvSpPr txBox="1"/>
            <p:nvPr/>
          </p:nvSpPr>
          <p:spPr>
            <a:xfrm>
              <a:off x="4592246" y="2441424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00B050"/>
                  </a:solidFill>
                </a:rPr>
                <a:t>6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91938730-08B8-4FAC-9F85-5A3CD235A382}"/>
                </a:ext>
              </a:extLst>
            </p:cNvPr>
            <p:cNvSpPr txBox="1"/>
            <p:nvPr/>
          </p:nvSpPr>
          <p:spPr>
            <a:xfrm>
              <a:off x="4927308" y="2440417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00B050"/>
                  </a:solidFill>
                </a:rPr>
                <a:t>7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25439EE8-3AF4-4423-A575-A8D3EAE3E80D}"/>
                </a:ext>
              </a:extLst>
            </p:cNvPr>
            <p:cNvSpPr txBox="1"/>
            <p:nvPr/>
          </p:nvSpPr>
          <p:spPr>
            <a:xfrm>
              <a:off x="5263758" y="2441425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00B050"/>
                  </a:solidFill>
                </a:rPr>
                <a:t>8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B7CF45CB-7703-4C51-8B94-88E717CDC8B8}"/>
                </a:ext>
              </a:extLst>
            </p:cNvPr>
            <p:cNvSpPr txBox="1"/>
            <p:nvPr/>
          </p:nvSpPr>
          <p:spPr>
            <a:xfrm>
              <a:off x="5598832" y="2440415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00B050"/>
                  </a:solidFill>
                </a:rPr>
                <a:t>9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70C152CD-E1B2-4FBA-B330-FDF1032571AA}"/>
                </a:ext>
              </a:extLst>
            </p:cNvPr>
            <p:cNvSpPr txBox="1"/>
            <p:nvPr/>
          </p:nvSpPr>
          <p:spPr>
            <a:xfrm>
              <a:off x="5935282" y="2441423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00B050"/>
                  </a:solidFill>
                </a:rPr>
                <a:t>10</a:t>
              </a:r>
              <a:endParaRPr lang="en-US" sz="1400" dirty="0">
                <a:solidFill>
                  <a:srgbClr val="00B05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6476167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Bubble Sort Performance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981200"/>
            <a:ext cx="7772400" cy="4114800"/>
          </a:xfrm>
        </p:spPr>
        <p:txBody>
          <a:bodyPr/>
          <a:lstStyle/>
          <a:p>
            <a:pPr marL="533400" indent="-533400" eaLnBrk="1" hangingPunct="1">
              <a:lnSpc>
                <a:spcPct val="90000"/>
              </a:lnSpc>
              <a:defRPr/>
            </a:pPr>
            <a:r>
              <a:rPr lang="en-US" altLang="en-US" sz="2400" dirty="0"/>
              <a:t>We perform </a:t>
            </a:r>
            <a:r>
              <a:rPr lang="en-US" altLang="en-US" sz="2400" b="1" dirty="0"/>
              <a:t>N</a:t>
            </a:r>
            <a:r>
              <a:rPr lang="en-US" altLang="en-US" sz="2400" dirty="0"/>
              <a:t> iterations, comparing/swapping </a:t>
            </a:r>
            <a:r>
              <a:rPr lang="en-US" altLang="en-US" sz="2400" b="1" dirty="0"/>
              <a:t>N-1</a:t>
            </a:r>
            <a:r>
              <a:rPr lang="en-US" altLang="en-US" sz="2400" dirty="0"/>
              <a:t> pairs of values: clearly </a:t>
            </a:r>
            <a:r>
              <a:rPr lang="en-US" altLang="en-US" sz="2400" b="1" dirty="0"/>
              <a:t>O(N</a:t>
            </a:r>
            <a:r>
              <a:rPr lang="en-US" altLang="en-US" sz="2400" b="1" baseline="30000" dirty="0"/>
              <a:t>2</a:t>
            </a:r>
            <a:r>
              <a:rPr lang="en-US" altLang="en-US" sz="2400" b="1" dirty="0"/>
              <a:t>)</a:t>
            </a:r>
            <a:endParaRPr lang="en-US" altLang="en-US" sz="2400" dirty="0"/>
          </a:p>
          <a:p>
            <a:pPr marL="533400" indent="-533400" eaLnBrk="1" hangingPunct="1">
              <a:lnSpc>
                <a:spcPct val="90000"/>
              </a:lnSpc>
              <a:defRPr/>
            </a:pPr>
            <a:r>
              <a:rPr lang="en-US" altLang="en-US" sz="2400" dirty="0"/>
              <a:t>One "optimization"</a:t>
            </a:r>
          </a:p>
          <a:p>
            <a:pPr marL="933450" lvl="1" indent="-533400" eaLnBrk="1" hangingPunct="1">
              <a:lnSpc>
                <a:spcPct val="90000"/>
              </a:lnSpc>
              <a:defRPr/>
            </a:pPr>
            <a:r>
              <a:rPr lang="en-US" altLang="en-US" sz="2000" dirty="0"/>
              <a:t>In iteration </a:t>
            </a:r>
            <a:r>
              <a:rPr lang="en-US" altLang="en-US" sz="2000" b="1" dirty="0"/>
              <a:t>k</a:t>
            </a:r>
            <a:r>
              <a:rPr lang="en-US" altLang="en-US" sz="2000" dirty="0"/>
              <a:t>, stop comparing/swapping after sub-</a:t>
            </a:r>
            <a:r>
              <a:rPr lang="en-US" altLang="en-US" sz="2000" b="1" dirty="0"/>
              <a:t>(k-2)</a:t>
            </a:r>
          </a:p>
          <a:p>
            <a:pPr marL="933450" lvl="1" indent="-533400" eaLnBrk="1" hangingPunct="1">
              <a:lnSpc>
                <a:spcPct val="90000"/>
              </a:lnSpc>
              <a:defRPr/>
            </a:pPr>
            <a:r>
              <a:rPr lang="en-US" altLang="en-US" sz="2000" dirty="0"/>
              <a:t>No need to compare the right-end sorted high values</a:t>
            </a:r>
          </a:p>
          <a:p>
            <a:pPr marL="533400" indent="-533400" eaLnBrk="1" hangingPunct="1">
              <a:lnSpc>
                <a:spcPct val="90000"/>
              </a:lnSpc>
              <a:defRPr/>
            </a:pPr>
            <a:r>
              <a:rPr lang="en-US" altLang="en-US" sz="2400" dirty="0"/>
              <a:t>Another "optimization"</a:t>
            </a:r>
          </a:p>
          <a:p>
            <a:pPr marL="933450" lvl="1" indent="-533400" eaLnBrk="1" hangingPunct="1">
              <a:lnSpc>
                <a:spcPct val="90000"/>
              </a:lnSpc>
              <a:defRPr/>
            </a:pPr>
            <a:r>
              <a:rPr lang="en-US" altLang="en-US" sz="2000" dirty="0"/>
              <a:t>Count the swaps in the current iteration</a:t>
            </a:r>
          </a:p>
          <a:p>
            <a:pPr marL="933450" lvl="1" indent="-533400" eaLnBrk="1" hangingPunct="1">
              <a:lnSpc>
                <a:spcPct val="90000"/>
              </a:lnSpc>
              <a:defRPr/>
            </a:pPr>
            <a:r>
              <a:rPr lang="en-US" altLang="en-US" sz="2000" dirty="0"/>
              <a:t>If there are 0 swaps, the volumes are sorted!</a:t>
            </a:r>
          </a:p>
          <a:p>
            <a:pPr marL="533400" indent="-533400" eaLnBrk="1" hangingPunct="1">
              <a:lnSpc>
                <a:spcPct val="90000"/>
              </a:lnSpc>
              <a:defRPr/>
            </a:pPr>
            <a:r>
              <a:rPr lang="en-US" altLang="en-US" sz="2400" dirty="0"/>
              <a:t>Performance is still </a:t>
            </a:r>
            <a:r>
              <a:rPr lang="en-US" altLang="en-US" sz="2400" b="1" dirty="0"/>
              <a:t>O(N</a:t>
            </a:r>
            <a:r>
              <a:rPr lang="en-US" altLang="en-US" sz="2400" b="1" baseline="30000" dirty="0"/>
              <a:t>2</a:t>
            </a:r>
            <a:r>
              <a:rPr lang="en-US" altLang="en-US" sz="2400" b="1" dirty="0"/>
              <a:t>)</a:t>
            </a:r>
            <a:r>
              <a:rPr lang="en-US" altLang="en-US" sz="2400" dirty="0"/>
              <a:t> with these "optimizations"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52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6A67CE0-F0E5-41A8-A405-D295D96172D8}" type="datetime1">
              <a:rPr lang="en-US" smtClean="0"/>
              <a:t>7/15/2021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Copyright (c) John K. </a:t>
            </a:r>
            <a:r>
              <a:rPr lang="en-US" dirty="0" err="1"/>
              <a:t>Ostlund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449282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Python Code For Bubble Sort (Unoptimized)</a:t>
            </a:r>
            <a:endParaRPr lang="en-US" altLang="en-US" b="1" dirty="0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987256"/>
            <a:ext cx="7772400" cy="4114800"/>
          </a:xfrm>
        </p:spPr>
        <p:txBody>
          <a:bodyPr/>
          <a:lstStyle/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def 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bubble_sort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(a):   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# a is a list or </a:t>
            </a:r>
            <a:r>
              <a:rPr lang="en-US" alt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ndarray</a:t>
            </a:r>
            <a:endParaRPr lang="en-US" alt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dim_a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(a)</a:t>
            </a: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endParaRPr lang="en-US" altLang="en-US" sz="1000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altLang="en-US" sz="20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# for each slot but the last ...</a:t>
            </a: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for slot in range(</a:t>
            </a:r>
            <a:r>
              <a:rPr lang="en-US" altLang="en-US" sz="20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dim_a</a:t>
            </a:r>
            <a:r>
              <a:rPr lang="en-US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- 1):</a:t>
            </a: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alt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# ... for each slot but the last ...</a:t>
            </a: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for k in range(</a:t>
            </a:r>
            <a:r>
              <a:rPr lang="en-US" altLang="en-US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dim_a</a:t>
            </a: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- 1):</a:t>
            </a: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altLang="en-US" sz="20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# ... if current &gt; next ...</a:t>
            </a: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altLang="en-US" sz="20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if a[k] &gt; a[k+1]:</a:t>
            </a: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# swap current and next</a:t>
            </a: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a[k], a[k+1] = a[k+1], a[k]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53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6A67CE0-F0E5-41A8-A405-D295D96172D8}" type="datetime1">
              <a:rPr lang="en-US" smtClean="0"/>
              <a:t>7/15/2021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Copyright (c) John K. </a:t>
            </a:r>
            <a:r>
              <a:rPr lang="en-US" dirty="0" err="1"/>
              <a:t>Ostlund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497252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Python Code For Bubble Sort (Optimized)</a:t>
            </a:r>
            <a:endParaRPr lang="en-US" altLang="en-US" b="1" dirty="0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987256"/>
            <a:ext cx="7772400" cy="4114800"/>
          </a:xfrm>
        </p:spPr>
        <p:txBody>
          <a:bodyPr/>
          <a:lstStyle/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def 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bubble_sort_opt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(a): 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# a is a list or </a:t>
            </a:r>
            <a:r>
              <a:rPr lang="en-US" alt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ndarray</a:t>
            </a:r>
            <a:endParaRPr lang="en-US" alt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dim_a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(a)</a:t>
            </a: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endParaRPr lang="en-US" alt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for slot in range(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dim_a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- 1):</a:t>
            </a: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en-US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nswaps</a:t>
            </a: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0</a:t>
            </a: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for k in range(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dim_a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- 1</a:t>
            </a: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- slot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if a[k] &gt; a[k+1]:</a:t>
            </a: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</a:t>
            </a:r>
            <a:r>
              <a:rPr lang="en-US" altLang="en-US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nswaps</a:t>
            </a: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+= 1</a:t>
            </a: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a[k], a[k+1] = a[k+1], a[k]</a:t>
            </a: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if </a:t>
            </a:r>
            <a:r>
              <a:rPr lang="en-US" altLang="en-US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nswaps</a:t>
            </a: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== 0:</a:t>
            </a: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return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54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6A67CE0-F0E5-41A8-A405-D295D96172D8}" type="datetime1">
              <a:rPr lang="en-US" smtClean="0"/>
              <a:t>7/15/2021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Copyright (c) John K. </a:t>
            </a:r>
            <a:r>
              <a:rPr lang="en-US" dirty="0" err="1"/>
              <a:t>Ostlund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190410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Quicksort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981200"/>
            <a:ext cx="7772400" cy="4114800"/>
          </a:xfrm>
        </p:spPr>
        <p:txBody>
          <a:bodyPr/>
          <a:lstStyle/>
          <a:p>
            <a:pPr marL="533400" indent="-533400" eaLnBrk="1" hangingPunct="1">
              <a:lnSpc>
                <a:spcPct val="90000"/>
              </a:lnSpc>
              <a:defRPr/>
            </a:pPr>
            <a:r>
              <a:rPr lang="en-US" altLang="en-US" sz="2400" dirty="0"/>
              <a:t>Suppose (and again!) you have </a:t>
            </a:r>
            <a:r>
              <a:rPr lang="en-US" altLang="en-US" sz="2400" b="1" i="1" dirty="0"/>
              <a:t>A History of </a:t>
            </a:r>
            <a:r>
              <a:rPr lang="en-US" altLang="en-US" sz="2400" b="1" i="1" dirty="0" err="1"/>
              <a:t>Floogleland</a:t>
            </a:r>
            <a:r>
              <a:rPr lang="en-US" altLang="en-US" sz="2400" dirty="0"/>
              <a:t>, Volumes </a:t>
            </a:r>
            <a:r>
              <a:rPr lang="en-US" altLang="en-US" sz="2400" b="1" dirty="0"/>
              <a:t>1</a:t>
            </a:r>
            <a:r>
              <a:rPr lang="en-US" altLang="en-US" sz="2400" dirty="0"/>
              <a:t> through </a:t>
            </a:r>
            <a:r>
              <a:rPr lang="en-US" altLang="en-US" sz="2400" b="1" dirty="0"/>
              <a:t>10</a:t>
            </a:r>
            <a:r>
              <a:rPr lang="en-US" altLang="en-US" sz="2400" dirty="0"/>
              <a:t>, in some shuffled order on a shelf</a:t>
            </a:r>
          </a:p>
          <a:p>
            <a:pPr marL="533400" indent="-533400" eaLnBrk="1" hangingPunct="1">
              <a:lnSpc>
                <a:spcPct val="90000"/>
              </a:lnSpc>
              <a:defRPr/>
            </a:pPr>
            <a:r>
              <a:rPr lang="en-US" altLang="en-US" sz="2400" dirty="0"/>
              <a:t>You would like to put these in sorted order by volume (on </a:t>
            </a:r>
            <a:r>
              <a:rPr lang="en-US" altLang="en-US" sz="2400" i="1" dirty="0"/>
              <a:t>the same</a:t>
            </a:r>
            <a:r>
              <a:rPr lang="en-US" altLang="en-US" sz="2400" dirty="0"/>
              <a:t> shelf)</a:t>
            </a:r>
          </a:p>
          <a:p>
            <a:pPr marL="533400" indent="-533400" eaLnBrk="1" hangingPunct="1">
              <a:lnSpc>
                <a:spcPct val="90000"/>
              </a:lnSpc>
              <a:defRPr/>
            </a:pPr>
            <a:r>
              <a:rPr lang="en-US" altLang="en-US" sz="2400" b="1" dirty="0"/>
              <a:t>Idea:</a:t>
            </a:r>
          </a:p>
          <a:p>
            <a:pPr marL="933450" lvl="1" indent="-533400" eaLnBrk="1" hangingPunct="1">
              <a:lnSpc>
                <a:spcPct val="90000"/>
              </a:lnSpc>
              <a:defRPr/>
            </a:pPr>
            <a:r>
              <a:rPr lang="en-US" altLang="en-US" sz="2000" dirty="0"/>
              <a:t>Pick a volume, </a:t>
            </a:r>
            <a:r>
              <a:rPr lang="en-US" altLang="en-US" sz="2000" b="1" dirty="0" err="1"/>
              <a:t>i</a:t>
            </a:r>
            <a:r>
              <a:rPr lang="en-US" altLang="en-US" sz="2000" dirty="0"/>
              <a:t>, "at random"</a:t>
            </a:r>
          </a:p>
          <a:p>
            <a:pPr marL="1333500" lvl="2" indent="-533400" eaLnBrk="1" hangingPunct="1">
              <a:lnSpc>
                <a:spcPct val="90000"/>
              </a:lnSpc>
              <a:defRPr/>
            </a:pPr>
            <a:r>
              <a:rPr lang="en-US" altLang="en-US" sz="1600" b="1" dirty="0" err="1"/>
              <a:t>i</a:t>
            </a:r>
            <a:r>
              <a:rPr lang="en-US" altLang="en-US" sz="1600" dirty="0"/>
              <a:t> is called the </a:t>
            </a:r>
            <a:r>
              <a:rPr lang="en-US" altLang="en-US" sz="1600" b="1" i="1" dirty="0"/>
              <a:t>pivot</a:t>
            </a:r>
          </a:p>
          <a:p>
            <a:pPr marL="933450" lvl="1" indent="-533400" eaLnBrk="1" hangingPunct="1">
              <a:lnSpc>
                <a:spcPct val="90000"/>
              </a:lnSpc>
              <a:defRPr/>
            </a:pPr>
            <a:r>
              <a:rPr lang="en-US" altLang="en-US" sz="2000" dirty="0"/>
              <a:t>Put all volumes &lt;=</a:t>
            </a:r>
            <a:r>
              <a:rPr lang="en-US" altLang="en-US" sz="2000" b="1" dirty="0" err="1"/>
              <a:t>i</a:t>
            </a:r>
            <a:r>
              <a:rPr lang="en-US" altLang="en-US" sz="2000" dirty="0"/>
              <a:t> to </a:t>
            </a:r>
            <a:r>
              <a:rPr lang="en-US" altLang="en-US" sz="2000" b="1" dirty="0"/>
              <a:t>i</a:t>
            </a:r>
            <a:r>
              <a:rPr lang="en-US" altLang="en-US" sz="2000" dirty="0"/>
              <a:t>'s left, all volumes &gt;</a:t>
            </a:r>
            <a:r>
              <a:rPr lang="en-US" altLang="en-US" sz="2000" b="1" dirty="0" err="1"/>
              <a:t>i</a:t>
            </a:r>
            <a:r>
              <a:rPr lang="en-US" altLang="en-US" sz="2000" dirty="0"/>
              <a:t> to </a:t>
            </a:r>
            <a:r>
              <a:rPr lang="en-US" altLang="en-US" sz="2000" b="1" dirty="0"/>
              <a:t>i</a:t>
            </a:r>
            <a:r>
              <a:rPr lang="en-US" altLang="en-US" sz="2000" dirty="0"/>
              <a:t>'s right</a:t>
            </a:r>
          </a:p>
          <a:p>
            <a:pPr marL="1333500" lvl="2" indent="-533400" eaLnBrk="1" hangingPunct="1">
              <a:lnSpc>
                <a:spcPct val="90000"/>
              </a:lnSpc>
              <a:defRPr/>
            </a:pPr>
            <a:r>
              <a:rPr lang="en-US" altLang="en-US" sz="1600" dirty="0"/>
              <a:t>Then volume </a:t>
            </a:r>
            <a:r>
              <a:rPr lang="en-US" altLang="en-US" sz="1600" b="1" dirty="0" err="1"/>
              <a:t>i</a:t>
            </a:r>
            <a:r>
              <a:rPr lang="en-US" altLang="en-US" sz="1600" dirty="0"/>
              <a:t> is in its correct final position!</a:t>
            </a:r>
          </a:p>
          <a:p>
            <a:pPr marL="933450" lvl="1" indent="-533400" eaLnBrk="1" hangingPunct="1">
              <a:lnSpc>
                <a:spcPct val="90000"/>
              </a:lnSpc>
              <a:defRPr/>
            </a:pPr>
            <a:r>
              <a:rPr lang="en-US" altLang="en-US" sz="2000" dirty="0"/>
              <a:t>Repeat recursively on the left and right volume subsets</a:t>
            </a:r>
          </a:p>
          <a:p>
            <a:pPr marL="1333500" lvl="2" indent="-533400" eaLnBrk="1" hangingPunct="1">
              <a:lnSpc>
                <a:spcPct val="90000"/>
              </a:lnSpc>
              <a:defRPr/>
            </a:pPr>
            <a:r>
              <a:rPr lang="en-US" altLang="en-US" sz="1600" dirty="0"/>
              <a:t>Each volume will end up in its correct final position!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55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6A67CE0-F0E5-41A8-A405-D295D96172D8}" type="datetime1">
              <a:rPr lang="en-US" smtClean="0"/>
              <a:t>7/15/2021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Copyright (c) John K. </a:t>
            </a:r>
            <a:r>
              <a:rPr lang="en-US" dirty="0" err="1"/>
              <a:t>Ostlund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989698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Quicksort (</a:t>
            </a:r>
            <a:r>
              <a:rPr lang="en-US" altLang="en-US" dirty="0" err="1"/>
              <a:t>cont</a:t>
            </a:r>
            <a:r>
              <a:rPr lang="en-US" altLang="en-US" dirty="0"/>
              <a:t>)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981200"/>
            <a:ext cx="7772400" cy="4114800"/>
          </a:xfrm>
        </p:spPr>
        <p:txBody>
          <a:bodyPr/>
          <a:lstStyle/>
          <a:p>
            <a:pPr marL="533400" indent="-533400" eaLnBrk="1" hangingPunct="1">
              <a:lnSpc>
                <a:spcPct val="90000"/>
              </a:lnSpc>
              <a:defRPr/>
            </a:pPr>
            <a:r>
              <a:rPr lang="en-US" altLang="en-US" sz="2400" b="1" dirty="0"/>
              <a:t>Sub-idea:</a:t>
            </a:r>
          </a:p>
          <a:p>
            <a:pPr marL="933450" lvl="1" indent="-533400" eaLnBrk="1" hangingPunct="1">
              <a:lnSpc>
                <a:spcPct val="90000"/>
              </a:lnSpc>
              <a:defRPr/>
            </a:pPr>
            <a:r>
              <a:rPr lang="en-US" altLang="en-US" sz="2000" dirty="0"/>
              <a:t>Assume the volumes are in random order</a:t>
            </a:r>
          </a:p>
          <a:p>
            <a:pPr marL="1333500" lvl="2" indent="-533400" eaLnBrk="1" hangingPunct="1">
              <a:lnSpc>
                <a:spcPct val="90000"/>
              </a:lnSpc>
              <a:defRPr/>
            </a:pPr>
            <a:r>
              <a:rPr lang="en-US" altLang="en-US" sz="1600" dirty="0"/>
              <a:t>Make the left-most volume the pivot</a:t>
            </a:r>
          </a:p>
          <a:p>
            <a:pPr marL="933450" lvl="1" indent="-533400" eaLnBrk="1" hangingPunct="1">
              <a:lnSpc>
                <a:spcPct val="90000"/>
              </a:lnSpc>
              <a:defRPr/>
            </a:pPr>
            <a:r>
              <a:rPr lang="en-US" altLang="en-US" sz="2000" i="1" dirty="0"/>
              <a:t>Partition</a:t>
            </a:r>
            <a:r>
              <a:rPr lang="en-US" altLang="en-US" sz="2000" dirty="0"/>
              <a:t> the remaining volumes into those </a:t>
            </a:r>
            <a:r>
              <a:rPr lang="en-US" altLang="en-US" sz="2000" b="1" dirty="0"/>
              <a:t>&lt;=</a:t>
            </a:r>
            <a:r>
              <a:rPr lang="en-US" altLang="en-US" sz="2000" b="1" dirty="0" err="1"/>
              <a:t>i</a:t>
            </a:r>
            <a:r>
              <a:rPr lang="en-US" altLang="en-US" sz="2000" dirty="0"/>
              <a:t> and </a:t>
            </a:r>
            <a:r>
              <a:rPr lang="en-US" altLang="en-US" sz="2000" b="1" dirty="0"/>
              <a:t>&gt;</a:t>
            </a:r>
            <a:r>
              <a:rPr lang="en-US" altLang="en-US" sz="2000" b="1" dirty="0" err="1"/>
              <a:t>i</a:t>
            </a:r>
            <a:endParaRPr lang="en-US" altLang="en-US" sz="2000" b="1" dirty="0"/>
          </a:p>
          <a:p>
            <a:pPr marL="1333500" lvl="2" indent="-533400" eaLnBrk="1" hangingPunct="1">
              <a:lnSpc>
                <a:spcPct val="90000"/>
              </a:lnSpc>
              <a:defRPr/>
            </a:pPr>
            <a:r>
              <a:rPr lang="en-US" altLang="en-US" sz="1600" dirty="0"/>
              <a:t>Use an index to step through each volume, </a:t>
            </a:r>
            <a:r>
              <a:rPr lang="en-US" altLang="en-US" sz="1600" b="1" dirty="0"/>
              <a:t>2</a:t>
            </a:r>
            <a:r>
              <a:rPr lang="en-US" altLang="en-US" sz="1600" dirty="0"/>
              <a:t> through </a:t>
            </a:r>
            <a:r>
              <a:rPr lang="en-US" altLang="en-US" sz="1600" b="1" dirty="0"/>
              <a:t>N</a:t>
            </a:r>
          </a:p>
          <a:p>
            <a:pPr marL="1333500" lvl="2" indent="-533400" eaLnBrk="1" hangingPunct="1">
              <a:lnSpc>
                <a:spcPct val="90000"/>
              </a:lnSpc>
              <a:defRPr/>
            </a:pPr>
            <a:r>
              <a:rPr lang="en-US" altLang="en-US" sz="1600" dirty="0"/>
              <a:t>Use another index for the end of the </a:t>
            </a:r>
            <a:r>
              <a:rPr lang="en-US" altLang="en-US" sz="1600" b="1" dirty="0"/>
              <a:t>&lt;=</a:t>
            </a:r>
            <a:r>
              <a:rPr lang="en-US" altLang="en-US" sz="1600" b="1" dirty="0" err="1"/>
              <a:t>i</a:t>
            </a:r>
            <a:r>
              <a:rPr lang="en-US" altLang="en-US" sz="1600" dirty="0"/>
              <a:t> partition</a:t>
            </a:r>
          </a:p>
          <a:p>
            <a:pPr marL="933450" lvl="1" indent="-533400" eaLnBrk="1" hangingPunct="1">
              <a:lnSpc>
                <a:spcPct val="90000"/>
              </a:lnSpc>
              <a:defRPr/>
            </a:pPr>
            <a:r>
              <a:rPr lang="en-US" altLang="en-US" sz="2000" dirty="0"/>
              <a:t>The values will then be partitioned like so:</a:t>
            </a:r>
          </a:p>
          <a:p>
            <a:pPr marL="933450" lvl="1" indent="-533400" eaLnBrk="1" hangingPunct="1">
              <a:lnSpc>
                <a:spcPct val="90000"/>
              </a:lnSpc>
              <a:defRPr/>
            </a:pPr>
            <a:endParaRPr lang="en-US" altLang="en-US" sz="2000" dirty="0"/>
          </a:p>
          <a:p>
            <a:pPr marL="933450" lvl="1" indent="-533400" eaLnBrk="1" hangingPunct="1">
              <a:lnSpc>
                <a:spcPct val="90000"/>
              </a:lnSpc>
              <a:defRPr/>
            </a:pPr>
            <a:r>
              <a:rPr lang="en-US" altLang="en-US" sz="2000" dirty="0"/>
              <a:t>Swap volume </a:t>
            </a:r>
            <a:r>
              <a:rPr lang="en-US" altLang="en-US" sz="2000" b="1" dirty="0" err="1"/>
              <a:t>i</a:t>
            </a:r>
            <a:r>
              <a:rPr lang="en-US" altLang="en-US" sz="2000" dirty="0"/>
              <a:t> with the last volume in the </a:t>
            </a:r>
            <a:r>
              <a:rPr lang="en-US" altLang="en-US" sz="2000" b="1" dirty="0"/>
              <a:t>&lt;=</a:t>
            </a:r>
            <a:r>
              <a:rPr lang="en-US" altLang="en-US" sz="2000" b="1" dirty="0" err="1"/>
              <a:t>i</a:t>
            </a:r>
            <a:r>
              <a:rPr lang="en-US" altLang="en-US" sz="2000" dirty="0"/>
              <a:t> partition</a:t>
            </a:r>
          </a:p>
          <a:p>
            <a:pPr marL="933450" lvl="1" indent="-533400" eaLnBrk="1" hangingPunct="1">
              <a:lnSpc>
                <a:spcPct val="90000"/>
              </a:lnSpc>
              <a:defRPr/>
            </a:pPr>
            <a:endParaRPr lang="en-US" altLang="en-US" sz="2000" dirty="0"/>
          </a:p>
          <a:p>
            <a:pPr marL="1333500" lvl="2" indent="-533400" eaLnBrk="1" hangingPunct="1">
              <a:lnSpc>
                <a:spcPct val="90000"/>
              </a:lnSpc>
              <a:defRPr/>
            </a:pPr>
            <a:r>
              <a:rPr lang="en-US" altLang="en-US" sz="1600" dirty="0"/>
              <a:t>The partition into </a:t>
            </a:r>
            <a:r>
              <a:rPr lang="en-US" altLang="en-US" sz="1600" b="1" dirty="0"/>
              <a:t>&lt;=</a:t>
            </a:r>
            <a:r>
              <a:rPr lang="en-US" altLang="en-US" sz="1600" b="1" dirty="0" err="1"/>
              <a:t>i</a:t>
            </a:r>
            <a:r>
              <a:rPr lang="en-US" altLang="en-US" sz="1600" dirty="0"/>
              <a:t>, </a:t>
            </a:r>
            <a:r>
              <a:rPr lang="en-US" altLang="en-US" sz="1600" b="1" dirty="0" err="1"/>
              <a:t>i</a:t>
            </a:r>
            <a:r>
              <a:rPr lang="en-US" altLang="en-US" sz="1600" dirty="0"/>
              <a:t>, </a:t>
            </a:r>
            <a:r>
              <a:rPr lang="en-US" altLang="en-US" sz="1600" b="1" dirty="0"/>
              <a:t>&gt;</a:t>
            </a:r>
            <a:r>
              <a:rPr lang="en-US" altLang="en-US" sz="1600" b="1" dirty="0" err="1"/>
              <a:t>i</a:t>
            </a:r>
            <a:r>
              <a:rPr lang="en-US" altLang="en-US" sz="1600" dirty="0"/>
              <a:t> is complete!</a:t>
            </a:r>
          </a:p>
          <a:p>
            <a:pPr marL="1333500" lvl="2" indent="-533400" eaLnBrk="1" hangingPunct="1">
              <a:lnSpc>
                <a:spcPct val="90000"/>
              </a:lnSpc>
              <a:defRPr/>
            </a:pPr>
            <a:r>
              <a:rPr lang="en-US" altLang="en-US" sz="1600" b="1" dirty="0" err="1"/>
              <a:t>i</a:t>
            </a:r>
            <a:r>
              <a:rPr lang="en-US" altLang="en-US" sz="1600" dirty="0"/>
              <a:t> is in its correct final position!</a:t>
            </a:r>
          </a:p>
          <a:p>
            <a:pPr marL="1333500" lvl="2" indent="-533400" eaLnBrk="1" hangingPunct="1">
              <a:lnSpc>
                <a:spcPct val="90000"/>
              </a:lnSpc>
              <a:defRPr/>
            </a:pPr>
            <a:endParaRPr lang="en-US" altLang="en-US" sz="16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56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6A67CE0-F0E5-41A8-A405-D295D96172D8}" type="datetime1">
              <a:rPr lang="en-US" smtClean="0"/>
              <a:t>7/15/2021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Copyright (c) John K. </a:t>
            </a:r>
            <a:r>
              <a:rPr lang="en-US" dirty="0" err="1"/>
              <a:t>Ostlund</a:t>
            </a:r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2DA1C9E-D24D-4B89-A617-ECF6C35EA319}"/>
              </a:ext>
            </a:extLst>
          </p:cNvPr>
          <p:cNvGrpSpPr/>
          <p:nvPr/>
        </p:nvGrpSpPr>
        <p:grpSpPr>
          <a:xfrm>
            <a:off x="2379863" y="4232884"/>
            <a:ext cx="5322897" cy="278010"/>
            <a:chOff x="2912757" y="2440415"/>
            <a:chExt cx="3357425" cy="27801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EE37C8E-B47E-4483-9AF7-EA4A0504D31C}"/>
                </a:ext>
              </a:extLst>
            </p:cNvPr>
            <p:cNvSpPr txBox="1"/>
            <p:nvPr/>
          </p:nvSpPr>
          <p:spPr>
            <a:xfrm>
              <a:off x="2912757" y="2440419"/>
              <a:ext cx="334900" cy="27699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 err="1">
                  <a:solidFill>
                    <a:srgbClr val="00B050"/>
                  </a:solidFill>
                </a:rPr>
                <a:t>i</a:t>
              </a:r>
              <a:endParaRPr lang="en-US" sz="1200" b="1" dirty="0">
                <a:solidFill>
                  <a:srgbClr val="00B050"/>
                </a:solidFill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9FF4F86-4C4A-4316-AD7A-C44D56552F80}"/>
                </a:ext>
              </a:extLst>
            </p:cNvPr>
            <p:cNvSpPr txBox="1"/>
            <p:nvPr/>
          </p:nvSpPr>
          <p:spPr>
            <a:xfrm>
              <a:off x="3242193" y="2440415"/>
              <a:ext cx="334900" cy="27699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0000"/>
                  </a:solidFill>
                </a:rPr>
                <a:t>&lt;=</a:t>
              </a:r>
              <a:r>
                <a:rPr lang="en-US" sz="1200" b="1" dirty="0" err="1">
                  <a:solidFill>
                    <a:srgbClr val="FF0000"/>
                  </a:solidFill>
                </a:rPr>
                <a:t>i</a:t>
              </a:r>
              <a:endParaRPr 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03DF8BA-A639-403C-B140-C1A4FB6DE5C9}"/>
                </a:ext>
              </a:extLst>
            </p:cNvPr>
            <p:cNvSpPr txBox="1"/>
            <p:nvPr/>
          </p:nvSpPr>
          <p:spPr>
            <a:xfrm>
              <a:off x="3584272" y="2440415"/>
              <a:ext cx="334900" cy="27699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0000"/>
                  </a:solidFill>
                </a:rPr>
                <a:t>&lt;=</a:t>
              </a:r>
              <a:r>
                <a:rPr lang="en-US" sz="1200" b="1" dirty="0" err="1">
                  <a:solidFill>
                    <a:srgbClr val="FF0000"/>
                  </a:solidFill>
                </a:rPr>
                <a:t>i</a:t>
              </a:r>
              <a:endParaRPr 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AF4A76E-87F5-4804-85DA-D4CD9C8074F4}"/>
                </a:ext>
              </a:extLst>
            </p:cNvPr>
            <p:cNvSpPr txBox="1"/>
            <p:nvPr/>
          </p:nvSpPr>
          <p:spPr>
            <a:xfrm>
              <a:off x="3920722" y="2441426"/>
              <a:ext cx="334900" cy="27699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0000"/>
                  </a:solidFill>
                </a:rPr>
                <a:t>&lt;=</a:t>
              </a:r>
              <a:r>
                <a:rPr lang="en-US" sz="1200" b="1" dirty="0" err="1">
                  <a:solidFill>
                    <a:srgbClr val="FF0000"/>
                  </a:solidFill>
                </a:rPr>
                <a:t>i</a:t>
              </a:r>
              <a:endParaRPr 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1155A15-BD68-4067-865C-BF293DD2B03E}"/>
                </a:ext>
              </a:extLst>
            </p:cNvPr>
            <p:cNvSpPr txBox="1"/>
            <p:nvPr/>
          </p:nvSpPr>
          <p:spPr>
            <a:xfrm>
              <a:off x="4255796" y="2440416"/>
              <a:ext cx="334900" cy="27699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0000"/>
                  </a:solidFill>
                </a:rPr>
                <a:t>&lt;=</a:t>
              </a:r>
              <a:r>
                <a:rPr lang="en-US" sz="1200" b="1" dirty="0" err="1">
                  <a:solidFill>
                    <a:srgbClr val="FF0000"/>
                  </a:solidFill>
                </a:rPr>
                <a:t>i</a:t>
              </a:r>
              <a:endParaRPr 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D3A4D43-ED82-4797-89FB-612A8BFD28DF}"/>
                </a:ext>
              </a:extLst>
            </p:cNvPr>
            <p:cNvSpPr txBox="1"/>
            <p:nvPr/>
          </p:nvSpPr>
          <p:spPr>
            <a:xfrm>
              <a:off x="4592246" y="2441424"/>
              <a:ext cx="334900" cy="27699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0000"/>
                  </a:solidFill>
                </a:rPr>
                <a:t>&lt;=</a:t>
              </a:r>
              <a:r>
                <a:rPr lang="en-US" sz="1200" b="1" dirty="0" err="1">
                  <a:solidFill>
                    <a:srgbClr val="FF0000"/>
                  </a:solidFill>
                </a:rPr>
                <a:t>i</a:t>
              </a:r>
              <a:endParaRPr 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9DDC773-3451-4EAD-B051-5621338618E0}"/>
                </a:ext>
              </a:extLst>
            </p:cNvPr>
            <p:cNvSpPr txBox="1"/>
            <p:nvPr/>
          </p:nvSpPr>
          <p:spPr>
            <a:xfrm>
              <a:off x="4927308" y="2440417"/>
              <a:ext cx="334900" cy="27699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0070C0"/>
                  </a:solidFill>
                </a:rPr>
                <a:t>&gt;</a:t>
              </a:r>
              <a:r>
                <a:rPr lang="en-US" sz="1200" b="1" dirty="0" err="1">
                  <a:solidFill>
                    <a:srgbClr val="0070C0"/>
                  </a:solidFill>
                </a:rPr>
                <a:t>i</a:t>
              </a:r>
              <a:endParaRPr lang="en-US" sz="1200" b="1" dirty="0">
                <a:solidFill>
                  <a:srgbClr val="0070C0"/>
                </a:solidFill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612EFD1-71F4-42FB-93C6-5D7DFA0AF3E9}"/>
                </a:ext>
              </a:extLst>
            </p:cNvPr>
            <p:cNvSpPr txBox="1"/>
            <p:nvPr/>
          </p:nvSpPr>
          <p:spPr>
            <a:xfrm>
              <a:off x="5263758" y="2441425"/>
              <a:ext cx="334900" cy="27699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0070C0"/>
                  </a:solidFill>
                </a:rPr>
                <a:t>&gt;</a:t>
              </a:r>
              <a:r>
                <a:rPr lang="en-US" sz="1200" b="1" dirty="0" err="1">
                  <a:solidFill>
                    <a:srgbClr val="0070C0"/>
                  </a:solidFill>
                </a:rPr>
                <a:t>i</a:t>
              </a:r>
              <a:endParaRPr lang="en-US" sz="1200" b="1" dirty="0">
                <a:solidFill>
                  <a:srgbClr val="0070C0"/>
                </a:solidFill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5CC4370-F59F-406F-90AE-9B002912DB47}"/>
                </a:ext>
              </a:extLst>
            </p:cNvPr>
            <p:cNvSpPr txBox="1"/>
            <p:nvPr/>
          </p:nvSpPr>
          <p:spPr>
            <a:xfrm>
              <a:off x="5598832" y="2440415"/>
              <a:ext cx="334900" cy="27699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0070C0"/>
                  </a:solidFill>
                </a:rPr>
                <a:t>&gt;</a:t>
              </a:r>
              <a:r>
                <a:rPr lang="en-US" sz="1200" b="1" dirty="0" err="1">
                  <a:solidFill>
                    <a:srgbClr val="0070C0"/>
                  </a:solidFill>
                </a:rPr>
                <a:t>i</a:t>
              </a:r>
              <a:endParaRPr lang="en-US" sz="1200" b="1" dirty="0">
                <a:solidFill>
                  <a:srgbClr val="0070C0"/>
                </a:solidFill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7E542AB-D80B-4FC4-8258-291A02B03E5D}"/>
                </a:ext>
              </a:extLst>
            </p:cNvPr>
            <p:cNvSpPr txBox="1"/>
            <p:nvPr/>
          </p:nvSpPr>
          <p:spPr>
            <a:xfrm>
              <a:off x="5935282" y="2441423"/>
              <a:ext cx="334900" cy="27699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0070C0"/>
                  </a:solidFill>
                </a:rPr>
                <a:t>&gt;</a:t>
              </a:r>
              <a:r>
                <a:rPr lang="en-US" sz="1200" b="1" dirty="0" err="1">
                  <a:solidFill>
                    <a:srgbClr val="0070C0"/>
                  </a:solidFill>
                </a:rPr>
                <a:t>i</a:t>
              </a:r>
              <a:endParaRPr lang="en-US" sz="1200" b="1" dirty="0">
                <a:solidFill>
                  <a:srgbClr val="0070C0"/>
                </a:solidFill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90DA993-4E07-4D60-BAD3-C2239C15BF91}"/>
              </a:ext>
            </a:extLst>
          </p:cNvPr>
          <p:cNvGrpSpPr/>
          <p:nvPr/>
        </p:nvGrpSpPr>
        <p:grpSpPr>
          <a:xfrm>
            <a:off x="2380872" y="4875788"/>
            <a:ext cx="5322897" cy="278010"/>
            <a:chOff x="2912757" y="2440415"/>
            <a:chExt cx="3357425" cy="278010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4FBADC8B-5DBE-42E9-83AA-2E028532E353}"/>
                </a:ext>
              </a:extLst>
            </p:cNvPr>
            <p:cNvSpPr txBox="1"/>
            <p:nvPr/>
          </p:nvSpPr>
          <p:spPr>
            <a:xfrm>
              <a:off x="2912757" y="2440419"/>
              <a:ext cx="334900" cy="27699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0000"/>
                  </a:solidFill>
                </a:rPr>
                <a:t>&lt;=</a:t>
              </a:r>
              <a:r>
                <a:rPr lang="en-US" sz="1200" b="1" dirty="0" err="1">
                  <a:solidFill>
                    <a:srgbClr val="FF0000"/>
                  </a:solidFill>
                </a:rPr>
                <a:t>i</a:t>
              </a:r>
              <a:endParaRPr 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DCEC4A83-402E-4DBE-BE66-C41143214724}"/>
                </a:ext>
              </a:extLst>
            </p:cNvPr>
            <p:cNvSpPr txBox="1"/>
            <p:nvPr/>
          </p:nvSpPr>
          <p:spPr>
            <a:xfrm>
              <a:off x="3242193" y="2440415"/>
              <a:ext cx="334900" cy="27699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0000"/>
                  </a:solidFill>
                </a:rPr>
                <a:t>&lt;=</a:t>
              </a:r>
              <a:r>
                <a:rPr lang="en-US" sz="1200" b="1" dirty="0" err="1">
                  <a:solidFill>
                    <a:srgbClr val="FF0000"/>
                  </a:solidFill>
                </a:rPr>
                <a:t>i</a:t>
              </a:r>
              <a:endParaRPr 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7B0AEC18-0364-40C1-B09E-46EF921FB601}"/>
                </a:ext>
              </a:extLst>
            </p:cNvPr>
            <p:cNvSpPr txBox="1"/>
            <p:nvPr/>
          </p:nvSpPr>
          <p:spPr>
            <a:xfrm>
              <a:off x="3584272" y="2440415"/>
              <a:ext cx="334900" cy="27699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0000"/>
                  </a:solidFill>
                </a:rPr>
                <a:t>&lt;=</a:t>
              </a:r>
              <a:r>
                <a:rPr lang="en-US" sz="1200" b="1" dirty="0" err="1">
                  <a:solidFill>
                    <a:srgbClr val="FF0000"/>
                  </a:solidFill>
                </a:rPr>
                <a:t>i</a:t>
              </a:r>
              <a:endParaRPr 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C0B62BB5-1D52-4470-94B0-3F2DD4B904CC}"/>
                </a:ext>
              </a:extLst>
            </p:cNvPr>
            <p:cNvSpPr txBox="1"/>
            <p:nvPr/>
          </p:nvSpPr>
          <p:spPr>
            <a:xfrm>
              <a:off x="3920722" y="2441426"/>
              <a:ext cx="334900" cy="27699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0000"/>
                  </a:solidFill>
                </a:rPr>
                <a:t>&lt;=</a:t>
              </a:r>
              <a:r>
                <a:rPr lang="en-US" sz="1200" b="1" dirty="0" err="1">
                  <a:solidFill>
                    <a:srgbClr val="FF0000"/>
                  </a:solidFill>
                </a:rPr>
                <a:t>i</a:t>
              </a:r>
              <a:endParaRPr 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D2224A4-FA00-4928-B80E-9BBB530FE30E}"/>
                </a:ext>
              </a:extLst>
            </p:cNvPr>
            <p:cNvSpPr txBox="1"/>
            <p:nvPr/>
          </p:nvSpPr>
          <p:spPr>
            <a:xfrm>
              <a:off x="4255796" y="2440416"/>
              <a:ext cx="334900" cy="27699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0000"/>
                  </a:solidFill>
                </a:rPr>
                <a:t>&lt;=</a:t>
              </a:r>
              <a:r>
                <a:rPr lang="en-US" sz="1200" b="1" dirty="0" err="1">
                  <a:solidFill>
                    <a:srgbClr val="FF0000"/>
                  </a:solidFill>
                </a:rPr>
                <a:t>i</a:t>
              </a:r>
              <a:endParaRPr 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0933D046-29DF-45C4-B0BC-D3F3411DFB34}"/>
                </a:ext>
              </a:extLst>
            </p:cNvPr>
            <p:cNvSpPr txBox="1"/>
            <p:nvPr/>
          </p:nvSpPr>
          <p:spPr>
            <a:xfrm>
              <a:off x="4592246" y="2441424"/>
              <a:ext cx="334900" cy="27699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 err="1">
                  <a:solidFill>
                    <a:srgbClr val="00B050"/>
                  </a:solidFill>
                </a:rPr>
                <a:t>i</a:t>
              </a:r>
              <a:endParaRPr lang="en-US" sz="1200" b="1" dirty="0">
                <a:solidFill>
                  <a:srgbClr val="00B050"/>
                </a:solidFill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1C955D2A-8745-4C4A-B5DF-09C7E43C0D7D}"/>
                </a:ext>
              </a:extLst>
            </p:cNvPr>
            <p:cNvSpPr txBox="1"/>
            <p:nvPr/>
          </p:nvSpPr>
          <p:spPr>
            <a:xfrm>
              <a:off x="4927308" y="2440417"/>
              <a:ext cx="334900" cy="27699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0070C0"/>
                  </a:solidFill>
                </a:rPr>
                <a:t>&gt;</a:t>
              </a:r>
              <a:r>
                <a:rPr lang="en-US" sz="1200" b="1" dirty="0" err="1">
                  <a:solidFill>
                    <a:srgbClr val="0070C0"/>
                  </a:solidFill>
                </a:rPr>
                <a:t>i</a:t>
              </a:r>
              <a:endParaRPr lang="en-US" sz="1200" b="1" dirty="0">
                <a:solidFill>
                  <a:srgbClr val="0070C0"/>
                </a:solidFill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3CE3436-1CC8-4446-8882-6D48019D1DA1}"/>
                </a:ext>
              </a:extLst>
            </p:cNvPr>
            <p:cNvSpPr txBox="1"/>
            <p:nvPr/>
          </p:nvSpPr>
          <p:spPr>
            <a:xfrm>
              <a:off x="5263758" y="2441425"/>
              <a:ext cx="334900" cy="27699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0070C0"/>
                  </a:solidFill>
                </a:rPr>
                <a:t>&gt;</a:t>
              </a:r>
              <a:r>
                <a:rPr lang="en-US" sz="1200" b="1" dirty="0" err="1">
                  <a:solidFill>
                    <a:srgbClr val="0070C0"/>
                  </a:solidFill>
                </a:rPr>
                <a:t>i</a:t>
              </a:r>
              <a:endParaRPr lang="en-US" sz="1200" b="1" dirty="0">
                <a:solidFill>
                  <a:srgbClr val="0070C0"/>
                </a:solidFill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7FC7BCEA-A564-4AF9-BE2E-FFD8446ACBCE}"/>
                </a:ext>
              </a:extLst>
            </p:cNvPr>
            <p:cNvSpPr txBox="1"/>
            <p:nvPr/>
          </p:nvSpPr>
          <p:spPr>
            <a:xfrm>
              <a:off x="5598832" y="2440415"/>
              <a:ext cx="334900" cy="27699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0070C0"/>
                  </a:solidFill>
                </a:rPr>
                <a:t>&gt;</a:t>
              </a:r>
              <a:r>
                <a:rPr lang="en-US" sz="1200" b="1" dirty="0" err="1">
                  <a:solidFill>
                    <a:srgbClr val="0070C0"/>
                  </a:solidFill>
                </a:rPr>
                <a:t>i</a:t>
              </a:r>
              <a:endParaRPr lang="en-US" sz="1200" b="1" dirty="0">
                <a:solidFill>
                  <a:srgbClr val="0070C0"/>
                </a:solidFill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67AC18B4-1EA7-407C-AEDF-697FB83C8AA7}"/>
                </a:ext>
              </a:extLst>
            </p:cNvPr>
            <p:cNvSpPr txBox="1"/>
            <p:nvPr/>
          </p:nvSpPr>
          <p:spPr>
            <a:xfrm>
              <a:off x="5935282" y="2441423"/>
              <a:ext cx="334900" cy="27699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0070C0"/>
                  </a:solidFill>
                </a:rPr>
                <a:t>&gt;</a:t>
              </a:r>
              <a:r>
                <a:rPr lang="en-US" sz="1200" b="1" dirty="0" err="1">
                  <a:solidFill>
                    <a:srgbClr val="0070C0"/>
                  </a:solidFill>
                </a:rPr>
                <a:t>i</a:t>
              </a:r>
              <a:endParaRPr lang="en-US" sz="1200" b="1" dirty="0">
                <a:solidFill>
                  <a:srgbClr val="0070C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7125796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Quicksort (</a:t>
            </a:r>
            <a:r>
              <a:rPr lang="en-US" altLang="en-US" dirty="0" err="1"/>
              <a:t>cont</a:t>
            </a:r>
            <a:r>
              <a:rPr lang="en-US" altLang="en-US" dirty="0"/>
              <a:t>)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981200"/>
            <a:ext cx="7772400" cy="4114800"/>
          </a:xfrm>
        </p:spPr>
        <p:txBody>
          <a:bodyPr/>
          <a:lstStyle/>
          <a:p>
            <a:pPr marL="533400" indent="-533400" eaLnBrk="1" hangingPunct="1">
              <a:lnSpc>
                <a:spcPct val="90000"/>
              </a:lnSpc>
              <a:defRPr/>
            </a:pPr>
            <a:r>
              <a:rPr lang="en-US" altLang="en-US" sz="2400" dirty="0"/>
              <a:t>The Quicksort algorithm, in summary:</a:t>
            </a:r>
          </a:p>
          <a:p>
            <a:pPr marL="933450" lvl="1" indent="-533400" eaLnBrk="1" hangingPunct="1">
              <a:lnSpc>
                <a:spcPct val="90000"/>
              </a:lnSpc>
              <a:defRPr/>
            </a:pPr>
            <a:r>
              <a:rPr lang="en-US" altLang="en-US" sz="2000" dirty="0"/>
              <a:t>Partition the values</a:t>
            </a:r>
          </a:p>
          <a:p>
            <a:pPr marL="1333500" lvl="2" indent="-533400" eaLnBrk="1" hangingPunct="1">
              <a:lnSpc>
                <a:spcPct val="90000"/>
              </a:lnSpc>
              <a:defRPr/>
            </a:pPr>
            <a:r>
              <a:rPr lang="en-US" altLang="en-US" sz="1600" dirty="0"/>
              <a:t>The pivot, </a:t>
            </a:r>
            <a:r>
              <a:rPr lang="en-US" altLang="en-US" sz="1600" b="1" dirty="0" err="1"/>
              <a:t>i</a:t>
            </a:r>
            <a:r>
              <a:rPr lang="en-US" altLang="en-US" sz="1600" dirty="0"/>
              <a:t>, is in its correct final position</a:t>
            </a:r>
          </a:p>
          <a:p>
            <a:pPr marL="933450" lvl="1" indent="-533400" eaLnBrk="1" hangingPunct="1">
              <a:lnSpc>
                <a:spcPct val="90000"/>
              </a:lnSpc>
              <a:defRPr/>
            </a:pPr>
            <a:r>
              <a:rPr lang="en-US" altLang="en-US" sz="2000" dirty="0"/>
              <a:t>Quicksort the left (</a:t>
            </a:r>
            <a:r>
              <a:rPr lang="en-US" altLang="en-US" sz="2000" b="1" dirty="0"/>
              <a:t>&lt;=</a:t>
            </a:r>
            <a:r>
              <a:rPr lang="en-US" altLang="en-US" sz="2000" b="1" dirty="0" err="1"/>
              <a:t>i</a:t>
            </a:r>
            <a:r>
              <a:rPr lang="en-US" altLang="en-US" sz="2000" dirty="0"/>
              <a:t>) partition</a:t>
            </a:r>
          </a:p>
          <a:p>
            <a:pPr marL="933450" lvl="1" indent="-533400" eaLnBrk="1" hangingPunct="1">
              <a:lnSpc>
                <a:spcPct val="90000"/>
              </a:lnSpc>
              <a:defRPr/>
            </a:pPr>
            <a:r>
              <a:rPr lang="en-US" altLang="en-US" sz="2000" dirty="0"/>
              <a:t>Quicksort the right (</a:t>
            </a:r>
            <a:r>
              <a:rPr lang="en-US" altLang="en-US" sz="2000" b="1" dirty="0"/>
              <a:t>&gt;</a:t>
            </a:r>
            <a:r>
              <a:rPr lang="en-US" altLang="en-US" sz="2000" b="1" dirty="0" err="1"/>
              <a:t>i</a:t>
            </a:r>
            <a:r>
              <a:rPr lang="en-US" altLang="en-US" sz="2000" dirty="0"/>
              <a:t>) partition</a:t>
            </a:r>
          </a:p>
          <a:p>
            <a:pPr marL="533400" indent="-533400" eaLnBrk="1" hangingPunct="1">
              <a:lnSpc>
                <a:spcPct val="90000"/>
              </a:lnSpc>
              <a:defRPr/>
            </a:pPr>
            <a:endParaRPr lang="en-US" altLang="en-US" sz="1800" i="1" dirty="0"/>
          </a:p>
          <a:p>
            <a:pPr marL="533400" indent="-533400" eaLnBrk="1" hangingPunct="1">
              <a:lnSpc>
                <a:spcPct val="90000"/>
              </a:lnSpc>
              <a:defRPr/>
            </a:pPr>
            <a:r>
              <a:rPr lang="en-US" altLang="en-US" sz="2400" i="1" dirty="0"/>
              <a:t>Each item is in its correct position, hence all items are in their correct positions -- </a:t>
            </a:r>
            <a:r>
              <a:rPr lang="en-US" altLang="en-US" sz="2400" b="1" i="1" dirty="0"/>
              <a:t>DONE!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57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6A67CE0-F0E5-41A8-A405-D295D96172D8}" type="datetime1">
              <a:rPr lang="en-US" smtClean="0"/>
              <a:t>7/15/2021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Copyright (c) John K. </a:t>
            </a:r>
            <a:r>
              <a:rPr lang="en-US" dirty="0" err="1"/>
              <a:t>Ostlund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685612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Python Code for Partition Algorithm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987256"/>
            <a:ext cx="7772400" cy="4114800"/>
          </a:xfrm>
        </p:spPr>
        <p:txBody>
          <a:bodyPr/>
          <a:lstStyle/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def partition(a):   </a:t>
            </a:r>
            <a:r>
              <a:rPr lang="en-US" alt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a is an </a:t>
            </a:r>
            <a:r>
              <a:rPr lang="en-US" altLang="en-US" sz="20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ndarray</a:t>
            </a:r>
            <a:endParaRPr lang="en-US" altLang="en-US" sz="20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if 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(a) == 0:</a:t>
            </a: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return -1   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# no values in the partition!</a:t>
            </a: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20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ele</a:t>
            </a:r>
            <a:r>
              <a:rPr lang="en-US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0         </a:t>
            </a:r>
            <a:r>
              <a:rPr lang="en-US" altLang="en-US" sz="20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end of &lt;= partition</a:t>
            </a: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for </a:t>
            </a:r>
            <a:r>
              <a:rPr lang="en-US" altLang="en-US" sz="20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unc</a:t>
            </a:r>
            <a:r>
              <a:rPr lang="en-US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in range(1, </a:t>
            </a:r>
            <a:r>
              <a:rPr lang="en-US" altLang="en-US" sz="20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US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(a)):</a:t>
            </a:r>
            <a:r>
              <a:rPr lang="en-US" altLang="en-US" sz="20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# uncategorized</a:t>
            </a: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alt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# if item should be in &lt;= partition ...</a:t>
            </a: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if a[</a:t>
            </a:r>
            <a:r>
              <a:rPr lang="en-US" altLang="en-US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unc</a:t>
            </a: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&lt;= a[0]:</a:t>
            </a: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altLang="en-US" sz="20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altLang="en-US" sz="20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ele</a:t>
            </a:r>
            <a:r>
              <a:rPr lang="en-US" altLang="en-US" sz="20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+= 1</a:t>
            </a: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altLang="en-US" sz="20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a[</a:t>
            </a:r>
            <a:r>
              <a:rPr lang="en-US" altLang="en-US" sz="20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ele</a:t>
            </a:r>
            <a:r>
              <a:rPr lang="en-US" altLang="en-US" sz="20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], a[</a:t>
            </a:r>
            <a:r>
              <a:rPr lang="en-US" altLang="en-US" sz="20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unc</a:t>
            </a:r>
            <a:r>
              <a:rPr lang="en-US" altLang="en-US" sz="20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= a[</a:t>
            </a:r>
            <a:r>
              <a:rPr lang="en-US" altLang="en-US" sz="20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unc</a:t>
            </a:r>
            <a:r>
              <a:rPr lang="en-US" altLang="en-US" sz="20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], a[</a:t>
            </a:r>
            <a:r>
              <a:rPr lang="en-US" altLang="en-US" sz="20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ele</a:t>
            </a:r>
            <a:r>
              <a:rPr lang="en-US" altLang="en-US" sz="20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# swap a[0] and a[</a:t>
            </a:r>
            <a:r>
              <a:rPr lang="en-US" alt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ele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a[0], a[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ele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] = a[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ele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], a[0]</a:t>
            </a: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return 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ele</a:t>
            </a:r>
            <a:endParaRPr lang="en-US" alt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endParaRPr lang="en-US" alt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58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6A67CE0-F0E5-41A8-A405-D295D96172D8}" type="datetime1">
              <a:rPr lang="en-US" smtClean="0"/>
              <a:t>7/15/2021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Copyright (c) John K. </a:t>
            </a:r>
            <a:r>
              <a:rPr lang="en-US" dirty="0" err="1"/>
              <a:t>Ostlund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49581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Python Code for Quicksort, Calling </a:t>
            </a:r>
            <a:r>
              <a:rPr lang="en-US" altLang="en-US" b="1" dirty="0"/>
              <a:t>partition(a)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987256"/>
            <a:ext cx="7772400" cy="4114800"/>
          </a:xfrm>
        </p:spPr>
        <p:txBody>
          <a:bodyPr/>
          <a:lstStyle/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def quicksort(a):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US" alt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a is an </a:t>
            </a:r>
            <a:r>
              <a:rPr lang="en-US" altLang="en-US" sz="20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ndarray</a:t>
            </a:r>
            <a:endParaRPr lang="en-US" altLang="en-US" sz="20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pi = partition(a)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# pivot index</a:t>
            </a: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if pi &gt;= 0:</a:t>
            </a: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quicksort(a[:pi])</a:t>
            </a:r>
            <a:r>
              <a:rPr lang="en-US" altLang="en-US" sz="20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# this is a view!</a:t>
            </a: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quicksort(a[pi+1:])</a:t>
            </a:r>
            <a:r>
              <a:rPr lang="en-US" altLang="en-US" sz="20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# this is a view!</a:t>
            </a: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endParaRPr lang="en-US" altLang="en-US" sz="2000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533400" indent="-533400" eaLnBrk="1" hangingPunct="1">
              <a:lnSpc>
                <a:spcPct val="90000"/>
              </a:lnSpc>
              <a:defRPr/>
            </a:pPr>
            <a:r>
              <a:rPr lang="en-US" altLang="en-US" sz="2400" b="1" i="1" dirty="0"/>
              <a:t>Notice</a:t>
            </a:r>
            <a:r>
              <a:rPr lang="en-US" altLang="en-US" sz="2400" dirty="0"/>
              <a:t> that this works for </a:t>
            </a:r>
            <a:r>
              <a:rPr lang="en-US" altLang="en-US" sz="2400" b="1" dirty="0" err="1"/>
              <a:t>ndarray</a:t>
            </a:r>
            <a:r>
              <a:rPr lang="en-US" altLang="en-US" sz="2400" dirty="0"/>
              <a:t> but </a:t>
            </a:r>
            <a:r>
              <a:rPr lang="en-US" altLang="en-US" sz="2400" i="1" dirty="0">
                <a:solidFill>
                  <a:srgbClr val="FF0000"/>
                </a:solidFill>
              </a:rPr>
              <a:t>not</a:t>
            </a:r>
            <a:r>
              <a:rPr lang="en-US" altLang="en-US" sz="2400" dirty="0"/>
              <a:t> for </a:t>
            </a:r>
            <a:r>
              <a:rPr lang="en-US" altLang="en-US" sz="2400" b="1" dirty="0"/>
              <a:t>list</a:t>
            </a:r>
          </a:p>
          <a:p>
            <a:pPr marL="933450" lvl="1" indent="-533400" eaLnBrk="1" hangingPunct="1">
              <a:lnSpc>
                <a:spcPct val="90000"/>
              </a:lnSpc>
              <a:defRPr/>
            </a:pPr>
            <a:r>
              <a:rPr lang="en-US" altLang="en-US" sz="2000" b="1" dirty="0">
                <a:solidFill>
                  <a:srgbClr val="0070C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a[</a:t>
            </a:r>
            <a:r>
              <a:rPr lang="en-US" altLang="en-US" sz="2000" i="1" dirty="0" err="1">
                <a:solidFill>
                  <a:srgbClr val="0070C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</a:t>
            </a:r>
            <a:r>
              <a:rPr lang="en-US" altLang="en-US" sz="2000" b="1" dirty="0" err="1">
                <a:solidFill>
                  <a:srgbClr val="0070C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:</a:t>
            </a:r>
            <a:r>
              <a:rPr lang="en-US" altLang="en-US" sz="2000" i="1" dirty="0" err="1">
                <a:solidFill>
                  <a:srgbClr val="0070C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j</a:t>
            </a:r>
            <a:r>
              <a:rPr lang="en-US" altLang="en-US" sz="2000" b="1" dirty="0">
                <a:solidFill>
                  <a:srgbClr val="0070C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] </a:t>
            </a:r>
            <a:r>
              <a:rPr lang="en-US" altLang="en-US" sz="2000" dirty="0"/>
              <a:t>must be a </a:t>
            </a:r>
            <a:r>
              <a:rPr lang="en-US" altLang="en-US" sz="2000" i="1" dirty="0"/>
              <a:t>view</a:t>
            </a:r>
            <a:r>
              <a:rPr lang="en-US" altLang="en-US" sz="2000" dirty="0"/>
              <a:t>, </a:t>
            </a:r>
            <a:r>
              <a:rPr lang="en-US" altLang="en-US" sz="2000" i="1" dirty="0">
                <a:solidFill>
                  <a:srgbClr val="FF0000"/>
                </a:solidFill>
              </a:rPr>
              <a:t>not</a:t>
            </a:r>
            <a:r>
              <a:rPr lang="en-US" altLang="en-US" sz="2000" dirty="0"/>
              <a:t> a </a:t>
            </a:r>
            <a:r>
              <a:rPr lang="en-US" altLang="en-US" sz="2000" i="1" dirty="0"/>
              <a:t>shallow copy</a:t>
            </a:r>
          </a:p>
          <a:p>
            <a:pPr marL="533400" indent="-533400" eaLnBrk="1" hangingPunct="1">
              <a:lnSpc>
                <a:spcPct val="90000"/>
              </a:lnSpc>
              <a:defRPr/>
            </a:pPr>
            <a:endParaRPr lang="en-US" altLang="en-US" sz="1800" b="1" i="1" dirty="0"/>
          </a:p>
          <a:p>
            <a:pPr marL="533400" indent="-533400" eaLnBrk="1" hangingPunct="1">
              <a:lnSpc>
                <a:spcPct val="90000"/>
              </a:lnSpc>
              <a:defRPr/>
            </a:pPr>
            <a:r>
              <a:rPr lang="en-US" altLang="en-US" sz="2400" b="1" i="1" dirty="0">
                <a:solidFill>
                  <a:srgbClr val="FF0000"/>
                </a:solidFill>
              </a:rPr>
              <a:t>Problem!</a:t>
            </a:r>
            <a:r>
              <a:rPr lang="en-US" altLang="en-US" sz="2400" b="1" i="1" dirty="0"/>
              <a:t>  </a:t>
            </a:r>
            <a:r>
              <a:rPr lang="en-US" altLang="en-US" sz="2400" i="1" dirty="0"/>
              <a:t>What if items are initially sorted?</a:t>
            </a:r>
          </a:p>
          <a:p>
            <a:pPr marL="933450" lvl="1" indent="-533400" eaLnBrk="1" hangingPunct="1">
              <a:lnSpc>
                <a:spcPct val="90000"/>
              </a:lnSpc>
              <a:defRPr/>
            </a:pPr>
            <a:r>
              <a:rPr lang="en-US" altLang="en-US" sz="2000" b="1" i="1" dirty="0">
                <a:solidFill>
                  <a:srgbClr val="FF0000"/>
                </a:solidFill>
              </a:rPr>
              <a:t>Solution:</a:t>
            </a:r>
            <a:r>
              <a:rPr lang="en-US" altLang="en-US" sz="2000" b="1" i="1" dirty="0"/>
              <a:t>  </a:t>
            </a:r>
            <a:r>
              <a:rPr lang="en-US" altLang="en-US" sz="2000" i="1" dirty="0"/>
              <a:t>Shuffle before sorting</a:t>
            </a:r>
          </a:p>
          <a:p>
            <a:pPr marL="933450" lvl="1" indent="-533400" eaLnBrk="1" hangingPunct="1">
              <a:lnSpc>
                <a:spcPct val="90000"/>
              </a:lnSpc>
              <a:defRPr/>
            </a:pPr>
            <a:r>
              <a:rPr lang="en-US" altLang="en-US" sz="2000" dirty="0"/>
              <a:t>Then has an </a:t>
            </a:r>
            <a:r>
              <a:rPr lang="en-US" altLang="en-US" sz="2000" i="1" dirty="0"/>
              <a:t>average</a:t>
            </a:r>
            <a:r>
              <a:rPr lang="en-US" altLang="en-US" sz="2000" dirty="0"/>
              <a:t> </a:t>
            </a:r>
            <a:r>
              <a:rPr lang="en-US" altLang="en-US" sz="2000" b="1" dirty="0"/>
              <a:t>O(n log n)</a:t>
            </a:r>
            <a:r>
              <a:rPr lang="en-US" altLang="en-US" sz="2000" dirty="0"/>
              <a:t> performance</a:t>
            </a:r>
          </a:p>
          <a:p>
            <a:pPr marL="933450" lvl="1" indent="-533400" eaLnBrk="1" hangingPunct="1">
              <a:lnSpc>
                <a:spcPct val="90000"/>
              </a:lnSpc>
              <a:defRPr/>
            </a:pPr>
            <a:endParaRPr lang="en-US" altLang="en-US" sz="2000" i="1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59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6A67CE0-F0E5-41A8-A405-D295D96172D8}" type="datetime1">
              <a:rPr lang="en-US" smtClean="0"/>
              <a:t>7/15/2021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Copyright (c) John K. </a:t>
            </a:r>
            <a:r>
              <a:rPr lang="en-US" dirty="0" err="1"/>
              <a:t>Ostlund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237408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Merge Sort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981200"/>
            <a:ext cx="7772400" cy="4114800"/>
          </a:xfrm>
        </p:spPr>
        <p:txBody>
          <a:bodyPr/>
          <a:lstStyle/>
          <a:p>
            <a:pPr marL="533400" indent="-533400" eaLnBrk="1" hangingPunct="1">
              <a:lnSpc>
                <a:spcPct val="90000"/>
              </a:lnSpc>
              <a:defRPr/>
            </a:pPr>
            <a:r>
              <a:rPr lang="en-US" altLang="en-US" sz="2400" dirty="0"/>
              <a:t>Suppose (and again!) you have </a:t>
            </a:r>
            <a:r>
              <a:rPr lang="en-US" altLang="en-US" sz="2400" b="1" i="1" dirty="0"/>
              <a:t>A History of </a:t>
            </a:r>
            <a:r>
              <a:rPr lang="en-US" altLang="en-US" sz="2400" b="1" i="1" dirty="0" err="1"/>
              <a:t>Floogleland</a:t>
            </a:r>
            <a:r>
              <a:rPr lang="en-US" altLang="en-US" sz="2400" dirty="0"/>
              <a:t>, Volumes </a:t>
            </a:r>
            <a:r>
              <a:rPr lang="en-US" altLang="en-US" sz="2400" b="1" dirty="0"/>
              <a:t>1</a:t>
            </a:r>
            <a:r>
              <a:rPr lang="en-US" altLang="en-US" sz="2400" dirty="0"/>
              <a:t> through </a:t>
            </a:r>
            <a:r>
              <a:rPr lang="en-US" altLang="en-US" sz="2400" b="1" dirty="0"/>
              <a:t>10</a:t>
            </a:r>
            <a:r>
              <a:rPr lang="en-US" altLang="en-US" sz="2400" dirty="0"/>
              <a:t>, in some shuffled order on a shelf</a:t>
            </a:r>
          </a:p>
          <a:p>
            <a:pPr marL="533400" indent="-533400" eaLnBrk="1" hangingPunct="1">
              <a:lnSpc>
                <a:spcPct val="90000"/>
              </a:lnSpc>
              <a:defRPr/>
            </a:pPr>
            <a:r>
              <a:rPr lang="en-US" altLang="en-US" sz="2400" dirty="0"/>
              <a:t>You these to be in sorted order by volume</a:t>
            </a:r>
          </a:p>
          <a:p>
            <a:pPr marL="933450" lvl="1" indent="-533400" eaLnBrk="1" hangingPunct="1">
              <a:lnSpc>
                <a:spcPct val="90000"/>
              </a:lnSpc>
              <a:defRPr/>
            </a:pPr>
            <a:r>
              <a:rPr lang="en-US" altLang="en-US" sz="2000" dirty="0"/>
              <a:t>Willing to use an extra shelf, temporarily</a:t>
            </a:r>
          </a:p>
          <a:p>
            <a:pPr marL="533400" indent="-533400" eaLnBrk="1" hangingPunct="1">
              <a:lnSpc>
                <a:spcPct val="90000"/>
              </a:lnSpc>
              <a:defRPr/>
            </a:pPr>
            <a:r>
              <a:rPr lang="en-US" altLang="en-US" sz="2400" b="1" dirty="0"/>
              <a:t>Idea:</a:t>
            </a:r>
          </a:p>
          <a:p>
            <a:pPr marL="933450" lvl="1" indent="-533400" eaLnBrk="1" hangingPunct="1">
              <a:lnSpc>
                <a:spcPct val="90000"/>
              </a:lnSpc>
              <a:defRPr/>
            </a:pPr>
            <a:r>
              <a:rPr lang="en-US" altLang="en-US" sz="2000" dirty="0"/>
              <a:t>It is trivial to </a:t>
            </a:r>
            <a:r>
              <a:rPr lang="en-US" altLang="en-US" sz="2000" i="1" dirty="0"/>
              <a:t>merge</a:t>
            </a:r>
            <a:r>
              <a:rPr lang="en-US" altLang="en-US" sz="2000" dirty="0"/>
              <a:t> two sorted arrays of </a:t>
            </a:r>
            <a:r>
              <a:rPr lang="en-US" altLang="en-US" sz="2000" b="1" dirty="0"/>
              <a:t>j</a:t>
            </a:r>
            <a:r>
              <a:rPr lang="en-US" altLang="en-US" sz="2000" dirty="0"/>
              <a:t> and </a:t>
            </a:r>
            <a:r>
              <a:rPr lang="en-US" altLang="en-US" sz="2000" b="1" dirty="0"/>
              <a:t>k</a:t>
            </a:r>
            <a:r>
              <a:rPr lang="en-US" altLang="en-US" sz="2000" dirty="0"/>
              <a:t> items</a:t>
            </a:r>
          </a:p>
          <a:p>
            <a:pPr marL="1333500" lvl="2" indent="-533400" eaLnBrk="1" hangingPunct="1">
              <a:lnSpc>
                <a:spcPct val="90000"/>
              </a:lnSpc>
              <a:defRPr/>
            </a:pPr>
            <a:r>
              <a:rPr lang="en-US" altLang="en-US" sz="1600" dirty="0"/>
              <a:t>Perform </a:t>
            </a:r>
            <a:r>
              <a:rPr lang="en-US" altLang="en-US" sz="1600" b="1" dirty="0"/>
              <a:t>O(j + k)</a:t>
            </a:r>
            <a:r>
              <a:rPr lang="en-US" altLang="en-US" sz="1600" dirty="0"/>
              <a:t> comparisons</a:t>
            </a:r>
            <a:endParaRPr lang="en-US" altLang="en-US" sz="1600" b="1" i="1" dirty="0"/>
          </a:p>
          <a:p>
            <a:pPr marL="933450" lvl="1" indent="-533400" eaLnBrk="1" hangingPunct="1">
              <a:lnSpc>
                <a:spcPct val="90000"/>
              </a:lnSpc>
              <a:defRPr/>
            </a:pPr>
            <a:r>
              <a:rPr lang="en-US" altLang="en-US" sz="2000" dirty="0"/>
              <a:t>A 1-item array is sorted!</a:t>
            </a:r>
          </a:p>
          <a:p>
            <a:pPr marL="933450" lvl="1" indent="-533400" eaLnBrk="1" hangingPunct="1">
              <a:lnSpc>
                <a:spcPct val="90000"/>
              </a:lnSpc>
              <a:defRPr/>
            </a:pPr>
            <a:r>
              <a:rPr lang="en-US" altLang="en-US" sz="2000" dirty="0"/>
              <a:t>Recursively split the </a:t>
            </a:r>
            <a:r>
              <a:rPr lang="en-US" altLang="en-US" sz="2000" b="1" dirty="0"/>
              <a:t>N</a:t>
            </a:r>
            <a:r>
              <a:rPr lang="en-US" altLang="en-US" sz="2000" dirty="0"/>
              <a:t> volumes "downward" in half, and half again, …, to 1-item arrays</a:t>
            </a:r>
          </a:p>
          <a:p>
            <a:pPr marL="933450" lvl="1" indent="-533400" eaLnBrk="1" hangingPunct="1">
              <a:lnSpc>
                <a:spcPct val="90000"/>
              </a:lnSpc>
              <a:defRPr/>
            </a:pPr>
            <a:r>
              <a:rPr lang="en-US" altLang="en-US" sz="2000" dirty="0"/>
              <a:t>Merge the sorted arrays "upward"; </a:t>
            </a:r>
            <a:r>
              <a:rPr lang="en-US" altLang="en-US" sz="2000" b="1" dirty="0"/>
              <a:t>N</a:t>
            </a:r>
            <a:r>
              <a:rPr lang="en-US" altLang="en-US" sz="2000" dirty="0"/>
              <a:t> is finite: works!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60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6A67CE0-F0E5-41A8-A405-D295D96172D8}" type="datetime1">
              <a:rPr lang="en-US" smtClean="0"/>
              <a:t>7/15/2021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Copyright (c) John K. </a:t>
            </a:r>
            <a:r>
              <a:rPr lang="en-US" dirty="0" err="1"/>
              <a:t>Ostlund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306837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Merge Sort Example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981200"/>
            <a:ext cx="7772400" cy="4114800"/>
          </a:xfrm>
        </p:spPr>
        <p:txBody>
          <a:bodyPr/>
          <a:lstStyle/>
          <a:p>
            <a:pPr marL="533400" indent="-533400" eaLnBrk="1" hangingPunct="1">
              <a:lnSpc>
                <a:spcPct val="90000"/>
              </a:lnSpc>
              <a:defRPr/>
            </a:pPr>
            <a:r>
              <a:rPr lang="en-US" altLang="en-US" sz="2400" dirty="0"/>
              <a:t>Starting array:</a:t>
            </a:r>
          </a:p>
          <a:p>
            <a:pPr marL="533400" indent="-533400" eaLnBrk="1" hangingPunct="1">
              <a:lnSpc>
                <a:spcPct val="90000"/>
              </a:lnSpc>
              <a:defRPr/>
            </a:pPr>
            <a:endParaRPr lang="en-US" altLang="en-US" sz="2400" dirty="0"/>
          </a:p>
          <a:p>
            <a:pPr marL="533400" indent="-533400" eaLnBrk="1" hangingPunct="1">
              <a:lnSpc>
                <a:spcPct val="90000"/>
              </a:lnSpc>
              <a:defRPr/>
            </a:pPr>
            <a:r>
              <a:rPr lang="en-US" altLang="en-US" sz="2400" dirty="0"/>
              <a:t>First (recursive) split:</a:t>
            </a:r>
          </a:p>
          <a:p>
            <a:pPr marL="533400" indent="-533400" eaLnBrk="1" hangingPunct="1">
              <a:lnSpc>
                <a:spcPct val="90000"/>
              </a:lnSpc>
              <a:defRPr/>
            </a:pPr>
            <a:endParaRPr lang="en-US" altLang="en-US" sz="2400" dirty="0"/>
          </a:p>
          <a:p>
            <a:pPr marL="533400" indent="-533400" eaLnBrk="1" hangingPunct="1">
              <a:lnSpc>
                <a:spcPct val="90000"/>
              </a:lnSpc>
              <a:defRPr/>
            </a:pPr>
            <a:r>
              <a:rPr lang="en-US" altLang="en-US" sz="2400" dirty="0"/>
              <a:t>Second split:</a:t>
            </a:r>
          </a:p>
          <a:p>
            <a:pPr marL="533400" indent="-533400" eaLnBrk="1" hangingPunct="1">
              <a:lnSpc>
                <a:spcPct val="90000"/>
              </a:lnSpc>
              <a:defRPr/>
            </a:pPr>
            <a:endParaRPr lang="en-US" altLang="en-US" sz="2400" dirty="0"/>
          </a:p>
          <a:p>
            <a:pPr marL="533400" indent="-533400" eaLnBrk="1" hangingPunct="1">
              <a:lnSpc>
                <a:spcPct val="90000"/>
              </a:lnSpc>
              <a:defRPr/>
            </a:pPr>
            <a:r>
              <a:rPr lang="en-US" altLang="en-US" sz="2400" dirty="0"/>
              <a:t>Third split:</a:t>
            </a:r>
          </a:p>
          <a:p>
            <a:pPr marL="533400" indent="-533400" eaLnBrk="1" hangingPunct="1">
              <a:lnSpc>
                <a:spcPct val="90000"/>
              </a:lnSpc>
              <a:defRPr/>
            </a:pPr>
            <a:endParaRPr lang="en-US" altLang="en-US" sz="2400" dirty="0"/>
          </a:p>
          <a:p>
            <a:pPr marL="533400" indent="-533400" eaLnBrk="1" hangingPunct="1">
              <a:lnSpc>
                <a:spcPct val="90000"/>
              </a:lnSpc>
              <a:defRPr/>
            </a:pPr>
            <a:r>
              <a:rPr lang="en-US" altLang="en-US" sz="2400" dirty="0"/>
              <a:t>Fourth split: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61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6A67CE0-F0E5-41A8-A405-D295D96172D8}" type="datetime1">
              <a:rPr lang="en-US" smtClean="0"/>
              <a:t>7/15/2021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Copyright (c) John K. </a:t>
            </a:r>
            <a:r>
              <a:rPr lang="en-US" dirty="0" err="1"/>
              <a:t>Ostlund</a:t>
            </a:r>
            <a:endParaRPr lang="en-US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4EF57BE-6EAC-44FE-A725-C0F94DFEFAFF}"/>
              </a:ext>
            </a:extLst>
          </p:cNvPr>
          <p:cNvGrpSpPr/>
          <p:nvPr/>
        </p:nvGrpSpPr>
        <p:grpSpPr>
          <a:xfrm>
            <a:off x="2379863" y="2440411"/>
            <a:ext cx="4643273" cy="308789"/>
            <a:chOff x="2912757" y="2440415"/>
            <a:chExt cx="3357425" cy="308789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CF32C41-CCBC-4991-AFA5-E9374C2D912D}"/>
                </a:ext>
              </a:extLst>
            </p:cNvPr>
            <p:cNvSpPr txBox="1"/>
            <p:nvPr/>
          </p:nvSpPr>
          <p:spPr>
            <a:xfrm>
              <a:off x="2912757" y="2440419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9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437A4F79-3BFE-43EE-8287-9F14CB77D3D3}"/>
                </a:ext>
              </a:extLst>
            </p:cNvPr>
            <p:cNvSpPr txBox="1"/>
            <p:nvPr/>
          </p:nvSpPr>
          <p:spPr>
            <a:xfrm>
              <a:off x="3249207" y="2441427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10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82BB257E-ECEC-4D97-BA48-96562C9EFA89}"/>
                </a:ext>
              </a:extLst>
            </p:cNvPr>
            <p:cNvSpPr txBox="1"/>
            <p:nvPr/>
          </p:nvSpPr>
          <p:spPr>
            <a:xfrm>
              <a:off x="3584272" y="2440415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3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234224EC-CC32-4220-B03E-0037BB2A7942}"/>
                </a:ext>
              </a:extLst>
            </p:cNvPr>
            <p:cNvSpPr txBox="1"/>
            <p:nvPr/>
          </p:nvSpPr>
          <p:spPr>
            <a:xfrm>
              <a:off x="3920722" y="2441426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1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BB31C1F4-7D7D-440C-B094-E32D18FCADCD}"/>
                </a:ext>
              </a:extLst>
            </p:cNvPr>
            <p:cNvSpPr txBox="1"/>
            <p:nvPr/>
          </p:nvSpPr>
          <p:spPr>
            <a:xfrm>
              <a:off x="4255796" y="2440416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7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10804FD3-4126-4306-9002-86ECDD15FD77}"/>
                </a:ext>
              </a:extLst>
            </p:cNvPr>
            <p:cNvSpPr txBox="1"/>
            <p:nvPr/>
          </p:nvSpPr>
          <p:spPr>
            <a:xfrm>
              <a:off x="4592246" y="2441424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8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FB5C3731-C2B2-4718-A069-D60F3DDC0C89}"/>
                </a:ext>
              </a:extLst>
            </p:cNvPr>
            <p:cNvSpPr txBox="1"/>
            <p:nvPr/>
          </p:nvSpPr>
          <p:spPr>
            <a:xfrm>
              <a:off x="4927308" y="2440417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2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9A8CCCDC-4772-4507-8166-DDE66826D5F7}"/>
                </a:ext>
              </a:extLst>
            </p:cNvPr>
            <p:cNvSpPr txBox="1"/>
            <p:nvPr/>
          </p:nvSpPr>
          <p:spPr>
            <a:xfrm>
              <a:off x="5263758" y="2441425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6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672676D8-960D-4AEB-97D6-4F33323D80A2}"/>
                </a:ext>
              </a:extLst>
            </p:cNvPr>
            <p:cNvSpPr txBox="1"/>
            <p:nvPr/>
          </p:nvSpPr>
          <p:spPr>
            <a:xfrm>
              <a:off x="5598832" y="2440415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4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37B76FA9-8BA3-4C0D-A32C-1C6E4E3E8B56}"/>
                </a:ext>
              </a:extLst>
            </p:cNvPr>
            <p:cNvSpPr txBox="1"/>
            <p:nvPr/>
          </p:nvSpPr>
          <p:spPr>
            <a:xfrm>
              <a:off x="5935282" y="2441423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5</a:t>
              </a:r>
            </a:p>
          </p:txBody>
        </p: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E9B9A249-5E55-4307-B355-E0ADB6F0CC33}"/>
              </a:ext>
            </a:extLst>
          </p:cNvPr>
          <p:cNvSpPr txBox="1"/>
          <p:nvPr/>
        </p:nvSpPr>
        <p:spPr>
          <a:xfrm>
            <a:off x="2102311" y="3216541"/>
            <a:ext cx="463162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632F5A5-B8C3-47B6-ACCC-C8E8445CC896}"/>
              </a:ext>
            </a:extLst>
          </p:cNvPr>
          <p:cNvSpPr txBox="1"/>
          <p:nvPr/>
        </p:nvSpPr>
        <p:spPr>
          <a:xfrm>
            <a:off x="2567617" y="3217549"/>
            <a:ext cx="463162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10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568D242-B272-4815-9A6C-079144C5F70B}"/>
              </a:ext>
            </a:extLst>
          </p:cNvPr>
          <p:cNvSpPr txBox="1"/>
          <p:nvPr/>
        </p:nvSpPr>
        <p:spPr>
          <a:xfrm>
            <a:off x="3031007" y="3216537"/>
            <a:ext cx="463162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29082D8-B858-4EF5-A538-3216222E4DA9}"/>
              </a:ext>
            </a:extLst>
          </p:cNvPr>
          <p:cNvSpPr txBox="1"/>
          <p:nvPr/>
        </p:nvSpPr>
        <p:spPr>
          <a:xfrm>
            <a:off x="3496313" y="3217548"/>
            <a:ext cx="463162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6301246-60BE-4DD0-BD3A-B722142C2476}"/>
              </a:ext>
            </a:extLst>
          </p:cNvPr>
          <p:cNvSpPr txBox="1"/>
          <p:nvPr/>
        </p:nvSpPr>
        <p:spPr>
          <a:xfrm>
            <a:off x="3959716" y="3216538"/>
            <a:ext cx="463162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5D6AD7B-A79B-4848-ABFB-4F3ABCDD247E}"/>
              </a:ext>
            </a:extLst>
          </p:cNvPr>
          <p:cNvSpPr txBox="1"/>
          <p:nvPr/>
        </p:nvSpPr>
        <p:spPr>
          <a:xfrm>
            <a:off x="5072977" y="3217546"/>
            <a:ext cx="463162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E075D81-3D3C-4E8E-B906-1159FAE895E9}"/>
              </a:ext>
            </a:extLst>
          </p:cNvPr>
          <p:cNvSpPr txBox="1"/>
          <p:nvPr/>
        </p:nvSpPr>
        <p:spPr>
          <a:xfrm>
            <a:off x="5536364" y="3216539"/>
            <a:ext cx="463162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2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8AD3CC2-9CBA-4049-9693-8EF23D23E4CB}"/>
              </a:ext>
            </a:extLst>
          </p:cNvPr>
          <p:cNvSpPr txBox="1"/>
          <p:nvPr/>
        </p:nvSpPr>
        <p:spPr>
          <a:xfrm>
            <a:off x="6001669" y="3217547"/>
            <a:ext cx="463162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8EBB400-4553-4D78-AC5E-55D9638417A4}"/>
              </a:ext>
            </a:extLst>
          </p:cNvPr>
          <p:cNvSpPr txBox="1"/>
          <p:nvPr/>
        </p:nvSpPr>
        <p:spPr>
          <a:xfrm>
            <a:off x="6465072" y="3216537"/>
            <a:ext cx="463162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3AB04B1-79A0-4CDD-8B59-9B5432C35F6D}"/>
              </a:ext>
            </a:extLst>
          </p:cNvPr>
          <p:cNvSpPr txBox="1"/>
          <p:nvPr/>
        </p:nvSpPr>
        <p:spPr>
          <a:xfrm>
            <a:off x="6930378" y="3217545"/>
            <a:ext cx="463162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F349805-D5FF-48FD-9730-B619D73E4D66}"/>
              </a:ext>
            </a:extLst>
          </p:cNvPr>
          <p:cNvSpPr txBox="1"/>
          <p:nvPr/>
        </p:nvSpPr>
        <p:spPr>
          <a:xfrm>
            <a:off x="1988259" y="3998729"/>
            <a:ext cx="463162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75E5498-1662-45D5-BA9D-2156E5B619E9}"/>
              </a:ext>
            </a:extLst>
          </p:cNvPr>
          <p:cNvSpPr txBox="1"/>
          <p:nvPr/>
        </p:nvSpPr>
        <p:spPr>
          <a:xfrm>
            <a:off x="2453565" y="3999737"/>
            <a:ext cx="463162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10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2ED1384-ACF9-4CAA-9107-777C14BD7CBE}"/>
              </a:ext>
            </a:extLst>
          </p:cNvPr>
          <p:cNvSpPr txBox="1"/>
          <p:nvPr/>
        </p:nvSpPr>
        <p:spPr>
          <a:xfrm>
            <a:off x="2916955" y="3998725"/>
            <a:ext cx="463162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EC1B04B-7EA5-4442-A93A-72C3FE7C22F7}"/>
              </a:ext>
            </a:extLst>
          </p:cNvPr>
          <p:cNvSpPr txBox="1"/>
          <p:nvPr/>
        </p:nvSpPr>
        <p:spPr>
          <a:xfrm>
            <a:off x="3594211" y="3999736"/>
            <a:ext cx="463162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1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DCA93FD-FADF-4D61-AA53-31C5BC3880B7}"/>
              </a:ext>
            </a:extLst>
          </p:cNvPr>
          <p:cNvSpPr txBox="1"/>
          <p:nvPr/>
        </p:nvSpPr>
        <p:spPr>
          <a:xfrm>
            <a:off x="4057614" y="3998726"/>
            <a:ext cx="463162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3513F66-1683-442E-9E15-DBBBC0E35421}"/>
              </a:ext>
            </a:extLst>
          </p:cNvPr>
          <p:cNvSpPr txBox="1"/>
          <p:nvPr/>
        </p:nvSpPr>
        <p:spPr>
          <a:xfrm>
            <a:off x="1940821" y="4817247"/>
            <a:ext cx="463162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0C7DB0D-CFA7-464A-9BA6-8324AAACB205}"/>
              </a:ext>
            </a:extLst>
          </p:cNvPr>
          <p:cNvSpPr txBox="1"/>
          <p:nvPr/>
        </p:nvSpPr>
        <p:spPr>
          <a:xfrm>
            <a:off x="2406127" y="4818255"/>
            <a:ext cx="463162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10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911B085-B330-4559-BB08-AAF714683E29}"/>
              </a:ext>
            </a:extLst>
          </p:cNvPr>
          <p:cNvSpPr txBox="1"/>
          <p:nvPr/>
        </p:nvSpPr>
        <p:spPr>
          <a:xfrm>
            <a:off x="2972468" y="4817243"/>
            <a:ext cx="463162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EB49C45-F953-449E-B97C-EC33E253FD36}"/>
              </a:ext>
            </a:extLst>
          </p:cNvPr>
          <p:cNvSpPr txBox="1"/>
          <p:nvPr/>
        </p:nvSpPr>
        <p:spPr>
          <a:xfrm>
            <a:off x="1893379" y="5623653"/>
            <a:ext cx="463162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B660EEF-81A5-47F3-8609-ED61F6DD41FA}"/>
              </a:ext>
            </a:extLst>
          </p:cNvPr>
          <p:cNvSpPr txBox="1"/>
          <p:nvPr/>
        </p:nvSpPr>
        <p:spPr>
          <a:xfrm>
            <a:off x="2431354" y="5624661"/>
            <a:ext cx="463162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25236306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Merge Sort Example (</a:t>
            </a:r>
            <a:r>
              <a:rPr lang="en-US" altLang="en-US" dirty="0" err="1"/>
              <a:t>cont</a:t>
            </a:r>
            <a:r>
              <a:rPr lang="en-US" altLang="en-US" dirty="0"/>
              <a:t>)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981200"/>
            <a:ext cx="7772400" cy="4114800"/>
          </a:xfrm>
        </p:spPr>
        <p:txBody>
          <a:bodyPr/>
          <a:lstStyle/>
          <a:p>
            <a:pPr marL="533400" indent="-533400" eaLnBrk="1" hangingPunct="1">
              <a:lnSpc>
                <a:spcPct val="90000"/>
              </a:lnSpc>
              <a:defRPr/>
            </a:pPr>
            <a:r>
              <a:rPr lang="en-US" altLang="en-US" sz="2400" dirty="0"/>
              <a:t>First merges:</a:t>
            </a:r>
          </a:p>
          <a:p>
            <a:pPr marL="533400" indent="-533400" eaLnBrk="1" hangingPunct="1">
              <a:lnSpc>
                <a:spcPct val="90000"/>
              </a:lnSpc>
              <a:defRPr/>
            </a:pPr>
            <a:endParaRPr lang="en-US" altLang="en-US" sz="2400" dirty="0"/>
          </a:p>
          <a:p>
            <a:pPr marL="533400" indent="-533400" eaLnBrk="1" hangingPunct="1">
              <a:lnSpc>
                <a:spcPct val="90000"/>
              </a:lnSpc>
              <a:defRPr/>
            </a:pPr>
            <a:r>
              <a:rPr lang="en-US" altLang="en-US" sz="2400" dirty="0"/>
              <a:t>Second merges:</a:t>
            </a:r>
          </a:p>
          <a:p>
            <a:pPr marL="533400" indent="-533400" eaLnBrk="1" hangingPunct="1">
              <a:lnSpc>
                <a:spcPct val="90000"/>
              </a:lnSpc>
              <a:defRPr/>
            </a:pPr>
            <a:endParaRPr lang="en-US" altLang="en-US" sz="2400" dirty="0"/>
          </a:p>
          <a:p>
            <a:pPr marL="533400" indent="-533400" eaLnBrk="1" hangingPunct="1">
              <a:lnSpc>
                <a:spcPct val="90000"/>
              </a:lnSpc>
              <a:defRPr/>
            </a:pPr>
            <a:r>
              <a:rPr lang="en-US" altLang="en-US" sz="2400" dirty="0"/>
              <a:t>Third merges:</a:t>
            </a:r>
          </a:p>
          <a:p>
            <a:pPr marL="533400" indent="-533400" eaLnBrk="1" hangingPunct="1">
              <a:lnSpc>
                <a:spcPct val="90000"/>
              </a:lnSpc>
              <a:defRPr/>
            </a:pPr>
            <a:endParaRPr lang="en-US" altLang="en-US" sz="2400" dirty="0"/>
          </a:p>
          <a:p>
            <a:pPr marL="533400" indent="-533400" eaLnBrk="1" hangingPunct="1">
              <a:lnSpc>
                <a:spcPct val="90000"/>
              </a:lnSpc>
              <a:defRPr/>
            </a:pPr>
            <a:r>
              <a:rPr lang="en-US" altLang="en-US" sz="2400" dirty="0"/>
              <a:t>Final merge (into original "shelf"):</a:t>
            </a:r>
          </a:p>
          <a:p>
            <a:pPr marL="533400" indent="-533400" eaLnBrk="1" hangingPunct="1">
              <a:lnSpc>
                <a:spcPct val="90000"/>
              </a:lnSpc>
              <a:defRPr/>
            </a:pPr>
            <a:endParaRPr lang="en-US" altLang="en-US" sz="24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62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6A67CE0-F0E5-41A8-A405-D295D96172D8}" type="datetime1">
              <a:rPr lang="en-US" smtClean="0"/>
              <a:t>7/15/2021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Copyright (c) John K. </a:t>
            </a:r>
            <a:r>
              <a:rPr lang="en-US" dirty="0" err="1"/>
              <a:t>Ostlund</a:t>
            </a:r>
            <a:endParaRPr lang="en-US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4EF57BE-6EAC-44FE-A725-C0F94DFEFAFF}"/>
              </a:ext>
            </a:extLst>
          </p:cNvPr>
          <p:cNvGrpSpPr/>
          <p:nvPr/>
        </p:nvGrpSpPr>
        <p:grpSpPr>
          <a:xfrm>
            <a:off x="2379863" y="4820266"/>
            <a:ext cx="4643273" cy="308789"/>
            <a:chOff x="2912757" y="2440415"/>
            <a:chExt cx="3357425" cy="308789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CF32C41-CCBC-4991-AFA5-E9374C2D912D}"/>
                </a:ext>
              </a:extLst>
            </p:cNvPr>
            <p:cNvSpPr txBox="1"/>
            <p:nvPr/>
          </p:nvSpPr>
          <p:spPr>
            <a:xfrm>
              <a:off x="2912757" y="2440419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00B050"/>
                  </a:solidFill>
                </a:rPr>
                <a:t>1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437A4F79-3BFE-43EE-8287-9F14CB77D3D3}"/>
                </a:ext>
              </a:extLst>
            </p:cNvPr>
            <p:cNvSpPr txBox="1"/>
            <p:nvPr/>
          </p:nvSpPr>
          <p:spPr>
            <a:xfrm>
              <a:off x="3249207" y="2441427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/>
                <a:t>2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82BB257E-ECEC-4D97-BA48-96562C9EFA89}"/>
                </a:ext>
              </a:extLst>
            </p:cNvPr>
            <p:cNvSpPr txBox="1"/>
            <p:nvPr/>
          </p:nvSpPr>
          <p:spPr>
            <a:xfrm>
              <a:off x="3584272" y="2440415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0070C0"/>
                  </a:solidFill>
                </a:rPr>
                <a:t>3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234224EC-CC32-4220-B03E-0037BB2A7942}"/>
                </a:ext>
              </a:extLst>
            </p:cNvPr>
            <p:cNvSpPr txBox="1"/>
            <p:nvPr/>
          </p:nvSpPr>
          <p:spPr>
            <a:xfrm>
              <a:off x="3920722" y="2441426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/>
                <a:t>4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BB31C1F4-7D7D-440C-B094-E32D18FCADCD}"/>
                </a:ext>
              </a:extLst>
            </p:cNvPr>
            <p:cNvSpPr txBox="1"/>
            <p:nvPr/>
          </p:nvSpPr>
          <p:spPr>
            <a:xfrm>
              <a:off x="4255796" y="2440416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/>
                <a:t>5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10804FD3-4126-4306-9002-86ECDD15FD77}"/>
                </a:ext>
              </a:extLst>
            </p:cNvPr>
            <p:cNvSpPr txBox="1"/>
            <p:nvPr/>
          </p:nvSpPr>
          <p:spPr>
            <a:xfrm>
              <a:off x="4592246" y="2441424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/>
                <a:t>6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FB5C3731-C2B2-4718-A069-D60F3DDC0C89}"/>
                </a:ext>
              </a:extLst>
            </p:cNvPr>
            <p:cNvSpPr txBox="1"/>
            <p:nvPr/>
          </p:nvSpPr>
          <p:spPr>
            <a:xfrm>
              <a:off x="4927308" y="2440417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00B050"/>
                  </a:solidFill>
                </a:rPr>
                <a:t>7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9A8CCCDC-4772-4507-8166-DDE66826D5F7}"/>
                </a:ext>
              </a:extLst>
            </p:cNvPr>
            <p:cNvSpPr txBox="1"/>
            <p:nvPr/>
          </p:nvSpPr>
          <p:spPr>
            <a:xfrm>
              <a:off x="5263758" y="2441425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/>
                <a:t>8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672676D8-960D-4AEB-97D6-4F33323D80A2}"/>
                </a:ext>
              </a:extLst>
            </p:cNvPr>
            <p:cNvSpPr txBox="1"/>
            <p:nvPr/>
          </p:nvSpPr>
          <p:spPr>
            <a:xfrm>
              <a:off x="5598832" y="2440415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</a:rPr>
                <a:t>9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37B76FA9-8BA3-4C0D-A32C-1C6E4E3E8B56}"/>
                </a:ext>
              </a:extLst>
            </p:cNvPr>
            <p:cNvSpPr txBox="1"/>
            <p:nvPr/>
          </p:nvSpPr>
          <p:spPr>
            <a:xfrm>
              <a:off x="5935282" y="2441423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</a:rPr>
                <a:t>10</a:t>
              </a:r>
            </a:p>
          </p:txBody>
        </p: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E9B9A249-5E55-4307-B355-E0ADB6F0CC33}"/>
              </a:ext>
            </a:extLst>
          </p:cNvPr>
          <p:cNvSpPr txBox="1"/>
          <p:nvPr/>
        </p:nvSpPr>
        <p:spPr>
          <a:xfrm>
            <a:off x="2102311" y="4009828"/>
            <a:ext cx="463162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00B050"/>
                </a:solidFill>
              </a:rPr>
              <a:t>1</a:t>
            </a:r>
            <a:endParaRPr lang="en-US" sz="14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632F5A5-B8C3-47B6-ACCC-C8E8445CC896}"/>
              </a:ext>
            </a:extLst>
          </p:cNvPr>
          <p:cNvSpPr txBox="1"/>
          <p:nvPr/>
        </p:nvSpPr>
        <p:spPr>
          <a:xfrm>
            <a:off x="2567617" y="4010836"/>
            <a:ext cx="463162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0070C0"/>
                </a:solidFill>
              </a:rPr>
              <a:t>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568D242-B272-4815-9A6C-079144C5F70B}"/>
              </a:ext>
            </a:extLst>
          </p:cNvPr>
          <p:cNvSpPr txBox="1"/>
          <p:nvPr/>
        </p:nvSpPr>
        <p:spPr>
          <a:xfrm>
            <a:off x="3031007" y="4009824"/>
            <a:ext cx="463162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00B050"/>
                </a:solidFill>
              </a:rPr>
              <a:t>7</a:t>
            </a:r>
            <a:endParaRPr lang="en-US" sz="14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29082D8-B858-4EF5-A538-3216222E4DA9}"/>
              </a:ext>
            </a:extLst>
          </p:cNvPr>
          <p:cNvSpPr txBox="1"/>
          <p:nvPr/>
        </p:nvSpPr>
        <p:spPr>
          <a:xfrm>
            <a:off x="3496313" y="4010835"/>
            <a:ext cx="463162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6301246-60BE-4DD0-BD3A-B722142C2476}"/>
              </a:ext>
            </a:extLst>
          </p:cNvPr>
          <p:cNvSpPr txBox="1"/>
          <p:nvPr/>
        </p:nvSpPr>
        <p:spPr>
          <a:xfrm>
            <a:off x="3959716" y="4009825"/>
            <a:ext cx="463162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5D6AD7B-A79B-4848-ABFB-4F3ABCDD247E}"/>
              </a:ext>
            </a:extLst>
          </p:cNvPr>
          <p:cNvSpPr txBox="1"/>
          <p:nvPr/>
        </p:nvSpPr>
        <p:spPr>
          <a:xfrm>
            <a:off x="5072977" y="4010833"/>
            <a:ext cx="463162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E075D81-3D3C-4E8E-B906-1159FAE895E9}"/>
              </a:ext>
            </a:extLst>
          </p:cNvPr>
          <p:cNvSpPr txBox="1"/>
          <p:nvPr/>
        </p:nvSpPr>
        <p:spPr>
          <a:xfrm>
            <a:off x="5536364" y="4009826"/>
            <a:ext cx="463162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8AD3CC2-9CBA-4049-9693-8EF23D23E4CB}"/>
              </a:ext>
            </a:extLst>
          </p:cNvPr>
          <p:cNvSpPr txBox="1"/>
          <p:nvPr/>
        </p:nvSpPr>
        <p:spPr>
          <a:xfrm>
            <a:off x="6001669" y="4010834"/>
            <a:ext cx="463162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8EBB400-4553-4D78-AC5E-55D9638417A4}"/>
              </a:ext>
            </a:extLst>
          </p:cNvPr>
          <p:cNvSpPr txBox="1"/>
          <p:nvPr/>
        </p:nvSpPr>
        <p:spPr>
          <a:xfrm>
            <a:off x="6465072" y="4009824"/>
            <a:ext cx="463162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3AB04B1-79A0-4CDD-8B59-9B5432C35F6D}"/>
              </a:ext>
            </a:extLst>
          </p:cNvPr>
          <p:cNvSpPr txBox="1"/>
          <p:nvPr/>
        </p:nvSpPr>
        <p:spPr>
          <a:xfrm>
            <a:off x="6930378" y="4010832"/>
            <a:ext cx="463162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F349805-D5FF-48FD-9730-B619D73E4D66}"/>
              </a:ext>
            </a:extLst>
          </p:cNvPr>
          <p:cNvSpPr txBox="1"/>
          <p:nvPr/>
        </p:nvSpPr>
        <p:spPr>
          <a:xfrm>
            <a:off x="1988259" y="3217553"/>
            <a:ext cx="463162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0070C0"/>
                </a:solidFill>
              </a:rPr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75E5498-1662-45D5-BA9D-2156E5B619E9}"/>
              </a:ext>
            </a:extLst>
          </p:cNvPr>
          <p:cNvSpPr txBox="1"/>
          <p:nvPr/>
        </p:nvSpPr>
        <p:spPr>
          <a:xfrm>
            <a:off x="2453565" y="3218561"/>
            <a:ext cx="463162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2ED1384-ACF9-4CAA-9107-777C14BD7CBE}"/>
              </a:ext>
            </a:extLst>
          </p:cNvPr>
          <p:cNvSpPr txBox="1"/>
          <p:nvPr/>
        </p:nvSpPr>
        <p:spPr>
          <a:xfrm>
            <a:off x="2916955" y="3217549"/>
            <a:ext cx="463162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EC1B04B-7EA5-4442-A93A-72C3FE7C22F7}"/>
              </a:ext>
            </a:extLst>
          </p:cNvPr>
          <p:cNvSpPr txBox="1"/>
          <p:nvPr/>
        </p:nvSpPr>
        <p:spPr>
          <a:xfrm>
            <a:off x="3594211" y="3218560"/>
            <a:ext cx="463162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00B050"/>
                </a:solidFill>
              </a:rPr>
              <a:t>1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DCA93FD-FADF-4D61-AA53-31C5BC3880B7}"/>
              </a:ext>
            </a:extLst>
          </p:cNvPr>
          <p:cNvSpPr txBox="1"/>
          <p:nvPr/>
        </p:nvSpPr>
        <p:spPr>
          <a:xfrm>
            <a:off x="4057614" y="3217550"/>
            <a:ext cx="463162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00B050"/>
                </a:solidFill>
              </a:rPr>
              <a:t>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3513F66-1683-442E-9E15-DBBBC0E35421}"/>
              </a:ext>
            </a:extLst>
          </p:cNvPr>
          <p:cNvSpPr txBox="1"/>
          <p:nvPr/>
        </p:nvSpPr>
        <p:spPr>
          <a:xfrm>
            <a:off x="1940821" y="2413163"/>
            <a:ext cx="463162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0C7DB0D-CFA7-464A-9BA6-8324AAACB205}"/>
              </a:ext>
            </a:extLst>
          </p:cNvPr>
          <p:cNvSpPr txBox="1"/>
          <p:nvPr/>
        </p:nvSpPr>
        <p:spPr>
          <a:xfrm>
            <a:off x="2406127" y="2414171"/>
            <a:ext cx="463162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911B085-B330-4559-BB08-AAF714683E29}"/>
              </a:ext>
            </a:extLst>
          </p:cNvPr>
          <p:cNvSpPr txBox="1"/>
          <p:nvPr/>
        </p:nvSpPr>
        <p:spPr>
          <a:xfrm>
            <a:off x="2972468" y="2413159"/>
            <a:ext cx="463162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0070C0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88185238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Merge Sort Time and Space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981200"/>
            <a:ext cx="7772400" cy="4114800"/>
          </a:xfrm>
        </p:spPr>
        <p:txBody>
          <a:bodyPr/>
          <a:lstStyle/>
          <a:p>
            <a:pPr marL="533400" indent="-533400" eaLnBrk="1" hangingPunct="1">
              <a:lnSpc>
                <a:spcPct val="90000"/>
              </a:lnSpc>
              <a:defRPr/>
            </a:pPr>
            <a:r>
              <a:rPr lang="en-US" altLang="en-US" sz="2400" dirty="0"/>
              <a:t>Time complexity for </a:t>
            </a:r>
            <a:r>
              <a:rPr lang="en-US" altLang="en-US" sz="2400" b="1" dirty="0"/>
              <a:t>N</a:t>
            </a:r>
            <a:r>
              <a:rPr lang="en-US" altLang="en-US" sz="2400" dirty="0"/>
              <a:t> items:</a:t>
            </a:r>
          </a:p>
          <a:p>
            <a:pPr marL="933450" lvl="1" indent="-533400" eaLnBrk="1" hangingPunct="1">
              <a:lnSpc>
                <a:spcPct val="90000"/>
              </a:lnSpc>
              <a:defRPr/>
            </a:pPr>
            <a:r>
              <a:rPr lang="en-US" altLang="en-US" sz="2000" dirty="0"/>
              <a:t>Splitting to 1-item arrays is about </a:t>
            </a:r>
            <a:r>
              <a:rPr lang="en-US" altLang="en-US" sz="2000" b="1" dirty="0"/>
              <a:t>N</a:t>
            </a:r>
            <a:r>
              <a:rPr lang="en-US" altLang="en-US" sz="2000" dirty="0"/>
              <a:t> operations</a:t>
            </a:r>
          </a:p>
          <a:p>
            <a:pPr marL="933450" lvl="1" indent="-533400" eaLnBrk="1" hangingPunct="1">
              <a:lnSpc>
                <a:spcPct val="90000"/>
              </a:lnSpc>
              <a:defRPr/>
            </a:pPr>
            <a:r>
              <a:rPr lang="en-US" altLang="en-US" sz="2000" dirty="0"/>
              <a:t>The </a:t>
            </a:r>
            <a:r>
              <a:rPr lang="en-US" altLang="en-US" sz="2000" i="1" dirty="0"/>
              <a:t>depth</a:t>
            </a:r>
            <a:r>
              <a:rPr lang="en-US" altLang="en-US" sz="2000" dirty="0"/>
              <a:t> of the split "tree" is about </a:t>
            </a:r>
            <a:r>
              <a:rPr lang="en-US" altLang="en-US" sz="2000" b="1" dirty="0"/>
              <a:t>log N</a:t>
            </a:r>
          </a:p>
          <a:p>
            <a:pPr marL="1333500" lvl="2" indent="-533400" eaLnBrk="1" hangingPunct="1">
              <a:lnSpc>
                <a:spcPct val="90000"/>
              </a:lnSpc>
              <a:defRPr/>
            </a:pPr>
            <a:r>
              <a:rPr lang="en-US" altLang="en-US" sz="1600" dirty="0"/>
              <a:t>At each level of merge, perform about </a:t>
            </a:r>
            <a:r>
              <a:rPr lang="en-US" altLang="en-US" sz="1600" b="1" dirty="0"/>
              <a:t>N</a:t>
            </a:r>
            <a:r>
              <a:rPr lang="en-US" altLang="en-US" sz="1600" dirty="0"/>
              <a:t> comparisons</a:t>
            </a:r>
          </a:p>
          <a:p>
            <a:pPr marL="933450" lvl="1" indent="-533400" eaLnBrk="1" hangingPunct="1">
              <a:lnSpc>
                <a:spcPct val="90000"/>
              </a:lnSpc>
              <a:defRPr/>
            </a:pPr>
            <a:r>
              <a:rPr lang="en-US" altLang="en-US" sz="2000" dirty="0"/>
              <a:t>So about </a:t>
            </a:r>
            <a:r>
              <a:rPr lang="en-US" altLang="en-US" sz="2000" b="1" dirty="0"/>
              <a:t>N + N log N</a:t>
            </a:r>
            <a:r>
              <a:rPr lang="en-US" altLang="en-US" sz="2000" dirty="0"/>
              <a:t> operations: </a:t>
            </a:r>
            <a:r>
              <a:rPr lang="en-US" altLang="en-US" sz="2000" b="1" dirty="0">
                <a:solidFill>
                  <a:srgbClr val="FF0000"/>
                </a:solidFill>
              </a:rPr>
              <a:t>O(N log N)</a:t>
            </a:r>
            <a:r>
              <a:rPr lang="en-US" altLang="en-US" sz="2000" dirty="0">
                <a:solidFill>
                  <a:srgbClr val="FF0000"/>
                </a:solidFill>
              </a:rPr>
              <a:t> time</a:t>
            </a:r>
          </a:p>
          <a:p>
            <a:pPr marL="533400" indent="-533400" eaLnBrk="1" hangingPunct="1">
              <a:lnSpc>
                <a:spcPct val="90000"/>
              </a:lnSpc>
              <a:defRPr/>
            </a:pPr>
            <a:r>
              <a:rPr lang="en-US" altLang="en-US" sz="2400" dirty="0"/>
              <a:t>Merge sort is </a:t>
            </a:r>
            <a:r>
              <a:rPr lang="en-US" altLang="en-US" sz="2400" i="1" dirty="0">
                <a:solidFill>
                  <a:srgbClr val="FF0000"/>
                </a:solidFill>
              </a:rPr>
              <a:t>not</a:t>
            </a:r>
            <a:r>
              <a:rPr lang="en-US" altLang="en-US" sz="2400" dirty="0"/>
              <a:t> an in-place sort, so we must also consider </a:t>
            </a:r>
            <a:r>
              <a:rPr lang="en-US" altLang="en-US" sz="2400" i="1" dirty="0"/>
              <a:t>space complexity</a:t>
            </a:r>
          </a:p>
          <a:p>
            <a:pPr marL="933450" lvl="1" indent="-533400" eaLnBrk="1" hangingPunct="1">
              <a:lnSpc>
                <a:spcPct val="90000"/>
              </a:lnSpc>
              <a:defRPr/>
            </a:pPr>
            <a:r>
              <a:rPr lang="en-US" altLang="en-US" sz="2000" dirty="0"/>
              <a:t>How much </a:t>
            </a:r>
            <a:r>
              <a:rPr lang="en-US" altLang="en-US" sz="2000" i="1" dirty="0"/>
              <a:t>extra</a:t>
            </a:r>
            <a:r>
              <a:rPr lang="en-US" altLang="en-US" sz="2000" dirty="0"/>
              <a:t> space the algorithm requires, beyond the </a:t>
            </a:r>
            <a:r>
              <a:rPr lang="en-US" altLang="en-US" sz="2000" b="1" dirty="0"/>
              <a:t>N</a:t>
            </a:r>
            <a:r>
              <a:rPr lang="en-US" altLang="en-US" sz="2000" dirty="0"/>
              <a:t> items in the original array</a:t>
            </a:r>
          </a:p>
          <a:p>
            <a:pPr marL="933450" lvl="1" indent="-533400" eaLnBrk="1" hangingPunct="1">
              <a:lnSpc>
                <a:spcPct val="90000"/>
              </a:lnSpc>
              <a:defRPr/>
            </a:pPr>
            <a:r>
              <a:rPr lang="en-US" altLang="en-US" sz="2000" dirty="0"/>
              <a:t>We need </a:t>
            </a:r>
            <a:r>
              <a:rPr lang="en-US" altLang="en-US" sz="2000" b="1" dirty="0"/>
              <a:t>N/2 + N/2</a:t>
            </a:r>
            <a:r>
              <a:rPr lang="en-US" altLang="en-US" sz="2000" dirty="0"/>
              <a:t> space at the first split</a:t>
            </a:r>
          </a:p>
          <a:p>
            <a:pPr marL="933450" lvl="1" indent="-533400" eaLnBrk="1" hangingPunct="1">
              <a:lnSpc>
                <a:spcPct val="90000"/>
              </a:lnSpc>
              <a:defRPr/>
            </a:pPr>
            <a:r>
              <a:rPr lang="en-US" altLang="en-US" sz="2000" b="1" dirty="0"/>
              <a:t>N/4 + N/4</a:t>
            </a:r>
            <a:r>
              <a:rPr lang="en-US" altLang="en-US" sz="2000" dirty="0"/>
              <a:t> space for the recursive split of </a:t>
            </a:r>
            <a:r>
              <a:rPr lang="en-US" altLang="en-US" sz="2000" b="1" dirty="0"/>
              <a:t>N/2</a:t>
            </a:r>
            <a:r>
              <a:rPr lang="en-US" altLang="en-US" sz="2000" dirty="0"/>
              <a:t>, etc.</a:t>
            </a:r>
          </a:p>
          <a:p>
            <a:pPr marL="933450" lvl="1" indent="-533400" eaLnBrk="1" hangingPunct="1">
              <a:lnSpc>
                <a:spcPct val="90000"/>
              </a:lnSpc>
              <a:defRPr/>
            </a:pPr>
            <a:r>
              <a:rPr lang="en-US" altLang="en-US" sz="2000" dirty="0"/>
              <a:t>So </a:t>
            </a:r>
            <a:r>
              <a:rPr lang="en-US" altLang="en-US" sz="2000" b="1" dirty="0"/>
              <a:t>N+N/2+N/4 …</a:t>
            </a:r>
            <a:r>
              <a:rPr lang="en-US" altLang="en-US" sz="2000" dirty="0"/>
              <a:t> is </a:t>
            </a:r>
            <a:r>
              <a:rPr lang="en-US" altLang="en-US" sz="2000" b="1" dirty="0"/>
              <a:t>2N</a:t>
            </a:r>
            <a:r>
              <a:rPr lang="en-US" altLang="en-US" sz="2000" dirty="0"/>
              <a:t> extra space: </a:t>
            </a:r>
            <a:r>
              <a:rPr lang="en-US" altLang="en-US" sz="2000" b="1" dirty="0">
                <a:solidFill>
                  <a:srgbClr val="FF0000"/>
                </a:solidFill>
              </a:rPr>
              <a:t>O(N)</a:t>
            </a:r>
            <a:r>
              <a:rPr lang="en-US" altLang="en-US" sz="2000" dirty="0">
                <a:solidFill>
                  <a:srgbClr val="FF0000"/>
                </a:solidFill>
              </a:rPr>
              <a:t> extra space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63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6A67CE0-F0E5-41A8-A405-D295D96172D8}" type="datetime1">
              <a:rPr lang="en-US" smtClean="0"/>
              <a:t>7/15/2021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Copyright (c) John K. </a:t>
            </a:r>
            <a:r>
              <a:rPr lang="en-US" dirty="0" err="1"/>
              <a:t>Ostlund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145684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Python Code for Splitting an </a:t>
            </a:r>
            <a:r>
              <a:rPr lang="en-US" altLang="en-US" b="1" dirty="0" err="1"/>
              <a:t>ndarray</a:t>
            </a:r>
            <a:endParaRPr lang="en-US" altLang="en-US" dirty="0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981200"/>
            <a:ext cx="7772400" cy="4114800"/>
          </a:xfrm>
        </p:spPr>
        <p:txBody>
          <a:bodyPr/>
          <a:lstStyle/>
          <a:p>
            <a:pPr marL="533400" indent="-533400" eaLnBrk="1" hangingPunct="1">
              <a:lnSpc>
                <a:spcPct val="90000"/>
              </a:lnSpc>
              <a:defRPr/>
            </a:pPr>
            <a:r>
              <a:rPr lang="en-US" altLang="en-US" sz="2400" dirty="0"/>
              <a:t>It is easy to split an </a:t>
            </a:r>
            <a:r>
              <a:rPr lang="en-US" altLang="en-US" sz="2400" b="1" dirty="0" err="1"/>
              <a:t>ndarray</a:t>
            </a:r>
            <a:r>
              <a:rPr lang="en-US" altLang="en-US" sz="2400" dirty="0"/>
              <a:t> approximately in half</a:t>
            </a:r>
          </a:p>
          <a:p>
            <a:pPr marL="933450" lvl="1" indent="-533400" eaLnBrk="1" hangingPunct="1">
              <a:lnSpc>
                <a:spcPct val="90000"/>
              </a:lnSpc>
              <a:defRPr/>
            </a:pPr>
            <a:r>
              <a:rPr lang="en-US" altLang="en-US" sz="2000" dirty="0"/>
              <a:t>Use </a:t>
            </a:r>
            <a:r>
              <a:rPr lang="en-US" altLang="en-US" sz="2000" b="1" dirty="0"/>
              <a:t>.copy()</a:t>
            </a:r>
            <a:r>
              <a:rPr lang="en-US" altLang="en-US" sz="2000" dirty="0"/>
              <a:t> to ensure a </a:t>
            </a:r>
            <a:r>
              <a:rPr lang="en-US" altLang="en-US" sz="2000" i="1" dirty="0"/>
              <a:t>shallow copy</a:t>
            </a:r>
            <a:r>
              <a:rPr lang="en-US" altLang="en-US" sz="2000" dirty="0"/>
              <a:t>, not a </a:t>
            </a:r>
            <a:r>
              <a:rPr lang="en-US" altLang="en-US" sz="2000" i="1" dirty="0"/>
              <a:t>view</a:t>
            </a: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endParaRPr lang="en-US" alt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a1 = </a:t>
            </a:r>
            <a:r>
              <a:rPr lang="en-US" altLang="en-US" sz="2000" i="1" dirty="0">
                <a:latin typeface="Courier New" panose="02070309020205020404" pitchFamily="49" charset="0"/>
                <a:cs typeface="Courier New" panose="02070309020205020404" pitchFamily="49" charset="0"/>
              </a:rPr>
              <a:t>... some </a:t>
            </a:r>
            <a:r>
              <a:rPr lang="en-US" altLang="en-US" sz="2000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ndarray</a:t>
            </a:r>
            <a:r>
              <a:rPr lang="en-US" altLang="en-US" sz="2000" i="1" dirty="0">
                <a:latin typeface="Courier New" panose="02070309020205020404" pitchFamily="49" charset="0"/>
                <a:cs typeface="Courier New" panose="02070309020205020404" pitchFamily="49" charset="0"/>
              </a:rPr>
              <a:t> ...</a:t>
            </a: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a1mid = 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(a1) // 2        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# floor division</a:t>
            </a: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aleft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a1[:a1mid].copy()   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# copy, not view!</a:t>
            </a: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aright = a1[a1mid:].copy()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# copy, not view!</a:t>
            </a:r>
            <a:endParaRPr lang="en-US" alt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endParaRPr lang="en-US" alt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533400" indent="-533400" eaLnBrk="1" hangingPunct="1">
              <a:lnSpc>
                <a:spcPct val="90000"/>
              </a:lnSpc>
              <a:defRPr/>
            </a:pPr>
            <a:endParaRPr lang="en-US" altLang="en-US" sz="800" b="1" dirty="0"/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endParaRPr lang="en-US" altLang="en-US" sz="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endParaRPr lang="en-US" altLang="en-US" sz="8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64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6A67CE0-F0E5-41A8-A405-D295D96172D8}" type="datetime1">
              <a:rPr lang="en-US" smtClean="0"/>
              <a:t>7/15/2021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Copyright (c) John K. </a:t>
            </a:r>
            <a:r>
              <a:rPr lang="en-US" dirty="0" err="1"/>
              <a:t>Ostlund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895584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Python Code for Merging Two Sorted </a:t>
            </a:r>
            <a:r>
              <a:rPr lang="en-US" altLang="en-US" b="1" dirty="0" err="1"/>
              <a:t>ndarray</a:t>
            </a:r>
            <a:r>
              <a:rPr lang="en-US" altLang="en-US" dirty="0" err="1"/>
              <a:t>s</a:t>
            </a:r>
            <a:endParaRPr lang="en-US" altLang="en-US" dirty="0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981200"/>
            <a:ext cx="7772400" cy="4114800"/>
          </a:xfrm>
        </p:spPr>
        <p:txBody>
          <a:bodyPr/>
          <a:lstStyle/>
          <a:p>
            <a:pPr marL="0" indent="0" eaLnBrk="1" hangingPunct="1">
              <a:lnSpc>
                <a:spcPct val="90000"/>
              </a:lnSpc>
              <a:buNone/>
              <a:defRPr/>
            </a:pPr>
            <a:endParaRPr lang="en-US" alt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# assume </a:t>
            </a:r>
            <a:r>
              <a:rPr lang="en-US" alt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aleft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 aright are sorted: merge them</a:t>
            </a: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# into a sorted </a:t>
            </a:r>
            <a:r>
              <a:rPr lang="en-US" alt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amerg</a:t>
            </a:r>
            <a:endParaRPr lang="en-US" alt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endParaRPr lang="en-US" alt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def merge(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amerg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aleft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aright):</a:t>
            </a: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endParaRPr lang="en-US" alt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# assume </a:t>
            </a:r>
            <a:r>
              <a:rPr lang="en-US" alt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amerg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 == </a:t>
            </a:r>
            <a:r>
              <a:rPr lang="en-US" alt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aleft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)+</a:t>
            </a:r>
            <a:r>
              <a:rPr lang="en-US" alt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(aright)</a:t>
            </a: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li, 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ri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0, 0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# left, right indices</a:t>
            </a: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le, re = 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aleft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), 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(aright)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# ends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65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6A67CE0-F0E5-41A8-A405-D295D96172D8}" type="datetime1">
              <a:rPr lang="en-US" smtClean="0"/>
              <a:t>7/15/2021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Copyright (c) John K. </a:t>
            </a:r>
            <a:r>
              <a:rPr lang="en-US" dirty="0" err="1"/>
              <a:t>Ostlund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616444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Python Code for Merging Two Sorted </a:t>
            </a:r>
            <a:r>
              <a:rPr lang="en-US" altLang="en-US" b="1" dirty="0" err="1"/>
              <a:t>ndarray</a:t>
            </a:r>
            <a:r>
              <a:rPr lang="en-US" altLang="en-US" dirty="0" err="1"/>
              <a:t>s</a:t>
            </a:r>
            <a:r>
              <a:rPr lang="en-US" altLang="en-US" dirty="0"/>
              <a:t> (</a:t>
            </a:r>
            <a:r>
              <a:rPr lang="en-US" altLang="en-US" dirty="0" err="1"/>
              <a:t>cont</a:t>
            </a:r>
            <a:r>
              <a:rPr lang="en-US" altLang="en-US" dirty="0"/>
              <a:t>)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981200"/>
            <a:ext cx="7772400" cy="4114800"/>
          </a:xfrm>
        </p:spPr>
        <p:txBody>
          <a:bodyPr/>
          <a:lstStyle/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# merge (</a:t>
            </a:r>
            <a:r>
              <a:rPr lang="en-US" alt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cont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endParaRPr lang="en-US" altLang="en-US" sz="1000" b="1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while li &lt; le or </a:t>
            </a:r>
            <a:r>
              <a:rPr lang="en-US" altLang="en-US" sz="20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ri</a:t>
            </a:r>
            <a:r>
              <a:rPr lang="en-US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 re:</a:t>
            </a: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if li &lt; le and </a:t>
            </a:r>
            <a:r>
              <a:rPr lang="en-US" altLang="en-US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ri</a:t>
            </a: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 re:</a:t>
            </a: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altLang="en-US" sz="20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if </a:t>
            </a:r>
            <a:r>
              <a:rPr lang="en-US" altLang="en-US" sz="20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aleft</a:t>
            </a:r>
            <a:r>
              <a:rPr lang="en-US" altLang="en-US" sz="20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[li] &lt; aright[</a:t>
            </a:r>
            <a:r>
              <a:rPr lang="en-US" altLang="en-US" sz="20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ri</a:t>
            </a:r>
            <a:r>
              <a:rPr lang="en-US" altLang="en-US" sz="20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]:</a:t>
            </a: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altLang="en-US" sz="20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altLang="en-US" sz="20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amerg</a:t>
            </a:r>
            <a:r>
              <a:rPr lang="en-US" altLang="en-US" sz="20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altLang="en-US" sz="20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li+ri</a:t>
            </a:r>
            <a:r>
              <a:rPr lang="en-US" altLang="en-US" sz="20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], li = </a:t>
            </a:r>
            <a:r>
              <a:rPr lang="en-US" altLang="en-US" sz="20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aleft</a:t>
            </a:r>
            <a:r>
              <a:rPr lang="en-US" altLang="en-US" sz="20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[li], li+1</a:t>
            </a: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altLang="en-US" sz="20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else:</a:t>
            </a: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altLang="en-US" sz="20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altLang="en-US" sz="20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amerg</a:t>
            </a:r>
            <a:r>
              <a:rPr lang="en-US" altLang="en-US" sz="20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altLang="en-US" sz="20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li+ri</a:t>
            </a:r>
            <a:r>
              <a:rPr lang="en-US" altLang="en-US" sz="20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], </a:t>
            </a:r>
            <a:r>
              <a:rPr lang="en-US" altLang="en-US" sz="20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ri</a:t>
            </a:r>
            <a:r>
              <a:rPr lang="en-US" altLang="en-US" sz="20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aright[</a:t>
            </a:r>
            <a:r>
              <a:rPr lang="en-US" altLang="en-US" sz="20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ri</a:t>
            </a:r>
            <a:r>
              <a:rPr lang="en-US" altLang="en-US" sz="20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], ri+1</a:t>
            </a: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altLang="en-US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elif</a:t>
            </a: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li &lt; le:</a:t>
            </a:r>
            <a:r>
              <a:rPr lang="en-US" alt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# so </a:t>
            </a:r>
            <a:r>
              <a:rPr lang="en-US" altLang="en-US" sz="20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ri</a:t>
            </a:r>
            <a:r>
              <a:rPr lang="en-US" alt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== re</a:t>
            </a: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altLang="en-US" sz="20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</a:t>
            </a:r>
            <a:r>
              <a:rPr lang="en-US" altLang="en-US" sz="20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amerg</a:t>
            </a:r>
            <a:r>
              <a:rPr lang="en-US" altLang="en-US" sz="20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altLang="en-US" sz="20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li+ri</a:t>
            </a:r>
            <a:r>
              <a:rPr lang="en-US" altLang="en-US" sz="20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], li = </a:t>
            </a:r>
            <a:r>
              <a:rPr lang="en-US" altLang="en-US" sz="20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aleft</a:t>
            </a:r>
            <a:r>
              <a:rPr lang="en-US" altLang="en-US" sz="20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[li], li+1</a:t>
            </a: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altLang="en-US" sz="20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else:</a:t>
            </a:r>
            <a:r>
              <a:rPr lang="en-US" alt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# so li == re and </a:t>
            </a:r>
            <a:r>
              <a:rPr lang="en-US" altLang="en-US" sz="20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ri</a:t>
            </a:r>
            <a:r>
              <a:rPr lang="en-US" alt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 re</a:t>
            </a: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altLang="en-US" sz="20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</a:t>
            </a:r>
            <a:r>
              <a:rPr lang="en-US" altLang="en-US" sz="20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amerg</a:t>
            </a:r>
            <a:r>
              <a:rPr lang="en-US" altLang="en-US" sz="20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altLang="en-US" sz="20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li+ri</a:t>
            </a:r>
            <a:r>
              <a:rPr lang="en-US" altLang="en-US" sz="20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], </a:t>
            </a:r>
            <a:r>
              <a:rPr lang="en-US" altLang="en-US" sz="20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ri</a:t>
            </a:r>
            <a:r>
              <a:rPr lang="en-US" altLang="en-US" sz="20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aright[</a:t>
            </a:r>
            <a:r>
              <a:rPr lang="en-US" altLang="en-US" sz="20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ri</a:t>
            </a:r>
            <a:r>
              <a:rPr lang="en-US" altLang="en-US" sz="20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], ri+1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66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6A67CE0-F0E5-41A8-A405-D295D96172D8}" type="datetime1">
              <a:rPr lang="en-US" smtClean="0"/>
              <a:t>7/15/2021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Copyright (c) John K. </a:t>
            </a:r>
            <a:r>
              <a:rPr lang="en-US" dirty="0" err="1"/>
              <a:t>Ostlund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070900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Python Code for Merge Sort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987256"/>
            <a:ext cx="7772400" cy="4114800"/>
          </a:xfrm>
        </p:spPr>
        <p:txBody>
          <a:bodyPr/>
          <a:lstStyle/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def 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merge_sort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(a):    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# a is an </a:t>
            </a:r>
            <a:r>
              <a:rPr lang="en-US" alt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ndarray</a:t>
            </a:r>
            <a:endParaRPr lang="en-US" alt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if 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(a) &lt;= 1: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# nothing to do!</a:t>
            </a: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return</a:t>
            </a: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endParaRPr lang="en-US" altLang="en-US" sz="2000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amid = 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(a) // 2</a:t>
            </a:r>
            <a:endParaRPr lang="en-US" alt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aleft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a[:amid].copy()</a:t>
            </a:r>
            <a:endParaRPr lang="en-US" alt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aright = a[amid:].copy()</a:t>
            </a: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endParaRPr lang="en-US" alt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merge_sort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aleft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merge_sort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(aright)</a:t>
            </a: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merge(a, 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aleft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aright)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67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6A67CE0-F0E5-41A8-A405-D295D96172D8}" type="datetime1">
              <a:rPr lang="en-US" smtClean="0"/>
              <a:t>7/15/2021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Copyright (c) John K. </a:t>
            </a:r>
            <a:r>
              <a:rPr lang="en-US" dirty="0" err="1"/>
              <a:t>Ostlund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013522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Counting Sort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981200"/>
            <a:ext cx="7772400" cy="4114800"/>
          </a:xfrm>
        </p:spPr>
        <p:txBody>
          <a:bodyPr/>
          <a:lstStyle/>
          <a:p>
            <a:pPr marL="533400" indent="-533400" eaLnBrk="1" hangingPunct="1">
              <a:lnSpc>
                <a:spcPct val="90000"/>
              </a:lnSpc>
              <a:defRPr/>
            </a:pPr>
            <a:r>
              <a:rPr lang="en-US" altLang="en-US" sz="2400" dirty="0"/>
              <a:t>Counting sort is limited to working with integer values, in a range that can be mapped to array subscripts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68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6A67CE0-F0E5-41A8-A405-D295D96172D8}" type="datetime1">
              <a:rPr lang="en-US" smtClean="0"/>
              <a:t>7/15/2021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Copyright (c) John K. </a:t>
            </a:r>
            <a:r>
              <a:rPr lang="en-US" dirty="0" err="1"/>
              <a:t>Ostlund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360205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Counting Sort (</a:t>
            </a:r>
            <a:r>
              <a:rPr lang="en-US" altLang="en-US" dirty="0" err="1"/>
              <a:t>cont</a:t>
            </a:r>
            <a:r>
              <a:rPr lang="en-US" altLang="en-US" dirty="0"/>
              <a:t>)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981200"/>
            <a:ext cx="7772400" cy="4114800"/>
          </a:xfrm>
        </p:spPr>
        <p:txBody>
          <a:bodyPr/>
          <a:lstStyle/>
          <a:p>
            <a:pPr marL="533400" indent="-533400" eaLnBrk="1" hangingPunct="1">
              <a:lnSpc>
                <a:spcPct val="90000"/>
              </a:lnSpc>
              <a:defRPr/>
            </a:pPr>
            <a:r>
              <a:rPr lang="en-US" altLang="en-US" sz="2400" b="1" dirty="0"/>
              <a:t>Idea:</a:t>
            </a:r>
          </a:p>
          <a:p>
            <a:pPr marL="933450" lvl="1" indent="-533400" eaLnBrk="1" hangingPunct="1">
              <a:lnSpc>
                <a:spcPct val="90000"/>
              </a:lnSpc>
              <a:defRPr/>
            </a:pPr>
            <a:r>
              <a:rPr lang="en-US" altLang="en-US" sz="2000" dirty="0"/>
              <a:t>Suppose you have an array </a:t>
            </a:r>
            <a:r>
              <a:rPr lang="en-US" altLang="en-US" sz="2000" b="1" dirty="0"/>
              <a:t>A</a:t>
            </a:r>
            <a:r>
              <a:rPr lang="en-US" altLang="en-US" sz="2000" dirty="0"/>
              <a:t> of </a:t>
            </a:r>
            <a:r>
              <a:rPr lang="en-US" altLang="en-US" sz="2000" b="1" dirty="0"/>
              <a:t>N</a:t>
            </a:r>
            <a:r>
              <a:rPr lang="en-US" altLang="en-US" sz="2000" dirty="0"/>
              <a:t> integer values</a:t>
            </a:r>
          </a:p>
          <a:p>
            <a:pPr marL="933450" lvl="1" indent="-533400" eaLnBrk="1" hangingPunct="1">
              <a:lnSpc>
                <a:spcPct val="90000"/>
              </a:lnSpc>
              <a:defRPr/>
            </a:pPr>
            <a:r>
              <a:rPr lang="en-US" altLang="en-US" sz="2000" dirty="0"/>
              <a:t>Scan the elements to identify </a:t>
            </a:r>
            <a:r>
              <a:rPr lang="en-US" altLang="en-US" sz="2000" b="1" dirty="0"/>
              <a:t>Max</a:t>
            </a:r>
            <a:r>
              <a:rPr lang="en-US" altLang="en-US" sz="2000" dirty="0"/>
              <a:t> and </a:t>
            </a:r>
            <a:r>
              <a:rPr lang="en-US" altLang="en-US" sz="2000" b="1" dirty="0"/>
              <a:t>Min</a:t>
            </a:r>
            <a:r>
              <a:rPr lang="en-US" altLang="en-US" sz="2000" dirty="0"/>
              <a:t> values</a:t>
            </a:r>
          </a:p>
          <a:p>
            <a:pPr marL="1333500" lvl="2" indent="-533400" eaLnBrk="1" hangingPunct="1">
              <a:lnSpc>
                <a:spcPct val="90000"/>
              </a:lnSpc>
              <a:defRPr/>
            </a:pPr>
            <a:r>
              <a:rPr lang="en-US" altLang="en-US" sz="1600" dirty="0"/>
              <a:t>An </a:t>
            </a:r>
            <a:r>
              <a:rPr lang="en-US" altLang="en-US" sz="1600" b="1" dirty="0"/>
              <a:t>O(N)</a:t>
            </a:r>
            <a:r>
              <a:rPr lang="en-US" altLang="en-US" sz="1600" dirty="0"/>
              <a:t> operation</a:t>
            </a:r>
          </a:p>
          <a:p>
            <a:pPr marL="933450" lvl="1" indent="-533400" eaLnBrk="1" hangingPunct="1">
              <a:lnSpc>
                <a:spcPct val="90000"/>
              </a:lnSpc>
              <a:defRPr/>
            </a:pPr>
            <a:r>
              <a:rPr lang="en-US" altLang="en-US" sz="2000" dirty="0"/>
              <a:t>Create an array of </a:t>
            </a:r>
            <a:r>
              <a:rPr lang="en-US" altLang="en-US" sz="2000" b="1" dirty="0"/>
              <a:t>M = (Max - Min + 1)</a:t>
            </a:r>
            <a:r>
              <a:rPr lang="en-US" altLang="en-US" sz="2000" dirty="0"/>
              <a:t> elements, initialized with 0s, named </a:t>
            </a:r>
            <a:r>
              <a:rPr lang="en-US" altLang="en-US" sz="2000" b="1" dirty="0"/>
              <a:t>counts</a:t>
            </a:r>
          </a:p>
          <a:p>
            <a:pPr marL="1333500" lvl="2" indent="-533400" eaLnBrk="1" hangingPunct="1">
              <a:lnSpc>
                <a:spcPct val="90000"/>
              </a:lnSpc>
              <a:defRPr/>
            </a:pPr>
            <a:r>
              <a:rPr lang="en-US" altLang="en-US" sz="1600" b="1" dirty="0"/>
              <a:t>O(N)</a:t>
            </a:r>
          </a:p>
          <a:p>
            <a:pPr marL="933450" lvl="1" indent="-533400" eaLnBrk="1" hangingPunct="1">
              <a:lnSpc>
                <a:spcPct val="90000"/>
              </a:lnSpc>
              <a:defRPr/>
            </a:pPr>
            <a:r>
              <a:rPr lang="en-US" altLang="en-US" sz="2000" dirty="0"/>
              <a:t>For </a:t>
            </a:r>
            <a:r>
              <a:rPr lang="en-US" altLang="en-US" sz="2000" b="1" dirty="0" err="1"/>
              <a:t>i</a:t>
            </a:r>
            <a:r>
              <a:rPr lang="en-US" altLang="en-US" sz="2000" dirty="0"/>
              <a:t> in </a:t>
            </a:r>
            <a:r>
              <a:rPr lang="en-US" altLang="en-US" sz="2000" b="1" dirty="0"/>
              <a:t>0..N</a:t>
            </a:r>
            <a:r>
              <a:rPr lang="en-US" altLang="en-US" sz="2000" dirty="0"/>
              <a:t>, increment </a:t>
            </a:r>
            <a:r>
              <a:rPr lang="en-US" altLang="en-US" sz="2000" b="1" dirty="0"/>
              <a:t>counts[A[</a:t>
            </a:r>
            <a:r>
              <a:rPr lang="en-US" altLang="en-US" sz="2000" b="1" dirty="0" err="1"/>
              <a:t>i</a:t>
            </a:r>
            <a:r>
              <a:rPr lang="en-US" altLang="en-US" sz="2000" b="1" dirty="0"/>
              <a:t>] - Min]</a:t>
            </a:r>
          </a:p>
          <a:p>
            <a:pPr marL="1333500" lvl="2" indent="-533400" eaLnBrk="1" hangingPunct="1">
              <a:lnSpc>
                <a:spcPct val="90000"/>
              </a:lnSpc>
              <a:defRPr/>
            </a:pPr>
            <a:r>
              <a:rPr lang="en-US" altLang="en-US" sz="1600" b="1" dirty="0"/>
              <a:t>O(N)</a:t>
            </a:r>
          </a:p>
          <a:p>
            <a:pPr marL="1333500" lvl="2" indent="-533400" eaLnBrk="1" hangingPunct="1">
              <a:lnSpc>
                <a:spcPct val="90000"/>
              </a:lnSpc>
              <a:defRPr/>
            </a:pPr>
            <a:r>
              <a:rPr lang="en-US" altLang="en-US" sz="1600" b="1" dirty="0"/>
              <a:t>counts[j]</a:t>
            </a:r>
            <a:r>
              <a:rPr lang="en-US" altLang="en-US" sz="1600" dirty="0"/>
              <a:t> is now the number of times the value </a:t>
            </a:r>
            <a:r>
              <a:rPr lang="en-US" altLang="en-US" sz="1600" b="1" dirty="0"/>
              <a:t>j</a:t>
            </a:r>
            <a:r>
              <a:rPr lang="en-US" altLang="en-US" sz="1600" dirty="0"/>
              <a:t> occurs in </a:t>
            </a:r>
            <a:r>
              <a:rPr lang="en-US" altLang="en-US" sz="1600" b="1" dirty="0"/>
              <a:t>A</a:t>
            </a:r>
          </a:p>
          <a:p>
            <a:pPr marL="933450" lvl="1" indent="-533400" eaLnBrk="1" hangingPunct="1">
              <a:lnSpc>
                <a:spcPct val="90000"/>
              </a:lnSpc>
              <a:defRPr/>
            </a:pPr>
            <a:r>
              <a:rPr lang="en-US" altLang="en-US" sz="2000" dirty="0"/>
              <a:t>For </a:t>
            </a:r>
            <a:r>
              <a:rPr lang="en-US" altLang="en-US" sz="2000" b="1" dirty="0"/>
              <a:t>k</a:t>
            </a:r>
            <a:r>
              <a:rPr lang="en-US" altLang="en-US" sz="2000" dirty="0"/>
              <a:t> in </a:t>
            </a:r>
            <a:r>
              <a:rPr lang="en-US" altLang="en-US" sz="2000" b="1" dirty="0"/>
              <a:t>0..M</a:t>
            </a:r>
            <a:r>
              <a:rPr lang="en-US" altLang="en-US" sz="2000" dirty="0"/>
              <a:t>, store </a:t>
            </a:r>
            <a:r>
              <a:rPr lang="en-US" altLang="en-US" sz="2000" b="1" dirty="0"/>
              <a:t>counts[k]</a:t>
            </a:r>
            <a:r>
              <a:rPr lang="en-US" altLang="en-US" sz="2000" dirty="0"/>
              <a:t> occurrences of </a:t>
            </a:r>
            <a:r>
              <a:rPr lang="en-US" altLang="en-US" sz="2000" b="1" dirty="0"/>
              <a:t>k + Min</a:t>
            </a:r>
            <a:r>
              <a:rPr lang="en-US" altLang="en-US" sz="2000" dirty="0"/>
              <a:t> into sequential elements of </a:t>
            </a:r>
            <a:r>
              <a:rPr lang="en-US" altLang="en-US" sz="2000" b="1" dirty="0"/>
              <a:t>A</a:t>
            </a:r>
          </a:p>
          <a:p>
            <a:pPr marL="1333500" lvl="2" indent="-533400" eaLnBrk="1" hangingPunct="1">
              <a:lnSpc>
                <a:spcPct val="90000"/>
              </a:lnSpc>
              <a:defRPr/>
            </a:pPr>
            <a:r>
              <a:rPr lang="en-US" altLang="en-US" sz="1600" b="1" dirty="0"/>
              <a:t>O(M)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69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6A67CE0-F0E5-41A8-A405-D295D96172D8}" type="datetime1">
              <a:rPr lang="en-US" smtClean="0"/>
              <a:t>7/15/2021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Copyright (c) John K. </a:t>
            </a:r>
            <a:r>
              <a:rPr lang="en-US" dirty="0" err="1"/>
              <a:t>Ostlund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404387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Counting Sort (</a:t>
            </a:r>
            <a:r>
              <a:rPr lang="en-US" altLang="en-US" dirty="0" err="1"/>
              <a:t>cont</a:t>
            </a:r>
            <a:r>
              <a:rPr lang="en-US" altLang="en-US" dirty="0"/>
              <a:t>)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981200"/>
            <a:ext cx="7772400" cy="4114800"/>
          </a:xfrm>
        </p:spPr>
        <p:txBody>
          <a:bodyPr/>
          <a:lstStyle/>
          <a:p>
            <a:pPr marL="533400" indent="-533400" eaLnBrk="1" hangingPunct="1">
              <a:lnSpc>
                <a:spcPct val="90000"/>
              </a:lnSpc>
              <a:defRPr/>
            </a:pPr>
            <a:r>
              <a:rPr lang="en-US" altLang="en-US" sz="2400" b="1" dirty="0"/>
              <a:t>A</a:t>
            </a:r>
            <a:r>
              <a:rPr lang="en-US" altLang="en-US" sz="2400" dirty="0"/>
              <a:t> is sorted!</a:t>
            </a:r>
          </a:p>
          <a:p>
            <a:pPr marL="933450" lvl="1" indent="-533400" eaLnBrk="1" hangingPunct="1">
              <a:lnSpc>
                <a:spcPct val="90000"/>
              </a:lnSpc>
              <a:defRPr/>
            </a:pPr>
            <a:r>
              <a:rPr lang="en-US" altLang="en-US" sz="2000" b="1" dirty="0"/>
              <a:t>O(N + M)</a:t>
            </a:r>
            <a:endParaRPr lang="en-US" altLang="en-US" sz="2000" dirty="0"/>
          </a:p>
          <a:p>
            <a:pPr marL="933450" lvl="1" indent="-533400" eaLnBrk="1" hangingPunct="1">
              <a:lnSpc>
                <a:spcPct val="90000"/>
              </a:lnSpc>
              <a:defRPr/>
            </a:pPr>
            <a:r>
              <a:rPr lang="en-US" altLang="en-US" sz="2000" dirty="0"/>
              <a:t>Often better than </a:t>
            </a:r>
            <a:r>
              <a:rPr lang="en-US" altLang="en-US" sz="2000" b="1" dirty="0"/>
              <a:t>O(N log N)</a:t>
            </a:r>
          </a:p>
          <a:p>
            <a:pPr marL="933450" lvl="1" indent="-533400" eaLnBrk="1" hangingPunct="1">
              <a:lnSpc>
                <a:spcPct val="90000"/>
              </a:lnSpc>
              <a:defRPr/>
            </a:pPr>
            <a:r>
              <a:rPr lang="en-US" altLang="en-US" sz="2000" dirty="0"/>
              <a:t>The smaller </a:t>
            </a:r>
            <a:r>
              <a:rPr lang="en-US" altLang="en-US" sz="2000" b="1" dirty="0"/>
              <a:t>M</a:t>
            </a:r>
            <a:r>
              <a:rPr lang="en-US" altLang="en-US" sz="2000" dirty="0"/>
              <a:t> is (the range of values), the better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70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6A67CE0-F0E5-41A8-A405-D295D96172D8}" type="datetime1">
              <a:rPr lang="en-US" smtClean="0"/>
              <a:t>7/15/2021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Copyright (c) John K. </a:t>
            </a:r>
            <a:r>
              <a:rPr lang="en-US" dirty="0" err="1"/>
              <a:t>Ostlund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391810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Counting Sort Example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981200"/>
            <a:ext cx="7772400" cy="4114800"/>
          </a:xfrm>
        </p:spPr>
        <p:txBody>
          <a:bodyPr/>
          <a:lstStyle/>
          <a:p>
            <a:pPr marL="533400" indent="-533400" eaLnBrk="1" hangingPunct="1">
              <a:lnSpc>
                <a:spcPct val="90000"/>
              </a:lnSpc>
              <a:defRPr/>
            </a:pPr>
            <a:r>
              <a:rPr lang="en-US" altLang="en-US" sz="2400" dirty="0"/>
              <a:t>Starting array </a:t>
            </a:r>
            <a:r>
              <a:rPr lang="en-US" altLang="en-US" sz="2400" b="1" dirty="0"/>
              <a:t>A</a:t>
            </a:r>
            <a:r>
              <a:rPr lang="en-US" altLang="en-US" sz="2400" dirty="0"/>
              <a:t>:</a:t>
            </a:r>
          </a:p>
          <a:p>
            <a:pPr marL="533400" indent="-533400" eaLnBrk="1" hangingPunct="1">
              <a:lnSpc>
                <a:spcPct val="90000"/>
              </a:lnSpc>
              <a:defRPr/>
            </a:pPr>
            <a:endParaRPr lang="en-US" altLang="en-US" sz="2800" dirty="0"/>
          </a:p>
          <a:p>
            <a:pPr marL="933450" lvl="1" indent="-533400" eaLnBrk="1" hangingPunct="1">
              <a:lnSpc>
                <a:spcPct val="90000"/>
              </a:lnSpc>
              <a:defRPr/>
            </a:pPr>
            <a:r>
              <a:rPr lang="en-US" altLang="en-US" sz="2000" b="1" dirty="0"/>
              <a:t>Min == 2</a:t>
            </a:r>
            <a:r>
              <a:rPr lang="en-US" altLang="en-US" sz="2000" dirty="0"/>
              <a:t>, </a:t>
            </a:r>
            <a:r>
              <a:rPr lang="en-US" altLang="en-US" sz="2000" b="1" dirty="0"/>
              <a:t>Max == 9</a:t>
            </a:r>
          </a:p>
          <a:p>
            <a:pPr marL="533400" indent="-533400" eaLnBrk="1" hangingPunct="1">
              <a:lnSpc>
                <a:spcPct val="90000"/>
              </a:lnSpc>
              <a:defRPr/>
            </a:pPr>
            <a:r>
              <a:rPr lang="en-US" altLang="en-US" sz="2400" dirty="0"/>
              <a:t>Initial </a:t>
            </a:r>
            <a:r>
              <a:rPr lang="en-US" altLang="en-US" sz="2400" b="1" dirty="0"/>
              <a:t>count</a:t>
            </a:r>
            <a:r>
              <a:rPr lang="en-US" altLang="en-US" sz="2400" dirty="0"/>
              <a:t> array </a:t>
            </a:r>
          </a:p>
          <a:p>
            <a:pPr marL="933450" lvl="1" indent="-533400" eaLnBrk="1" hangingPunct="1">
              <a:lnSpc>
                <a:spcPct val="90000"/>
              </a:lnSpc>
              <a:defRPr/>
            </a:pPr>
            <a:r>
              <a:rPr lang="en-US" altLang="en-US" sz="2000" dirty="0"/>
              <a:t>Subscript 0 maps to value 2, subscript 7 to value 9</a:t>
            </a:r>
          </a:p>
          <a:p>
            <a:pPr marL="533400" indent="-533400" eaLnBrk="1" hangingPunct="1">
              <a:lnSpc>
                <a:spcPct val="90000"/>
              </a:lnSpc>
              <a:defRPr/>
            </a:pPr>
            <a:endParaRPr lang="en-US" altLang="en-US" sz="2400" dirty="0"/>
          </a:p>
          <a:p>
            <a:pPr marL="533400" indent="-533400" eaLnBrk="1" hangingPunct="1">
              <a:lnSpc>
                <a:spcPct val="90000"/>
              </a:lnSpc>
              <a:defRPr/>
            </a:pPr>
            <a:r>
              <a:rPr lang="en-US" altLang="en-US" sz="2400" dirty="0"/>
              <a:t>Scanning </a:t>
            </a:r>
            <a:r>
              <a:rPr lang="en-US" altLang="en-US" sz="2400" b="1" dirty="0"/>
              <a:t>A</a:t>
            </a:r>
            <a:r>
              <a:rPr lang="en-US" altLang="en-US" sz="2400" dirty="0"/>
              <a:t>, index 0, value 3: increment </a:t>
            </a:r>
            <a:r>
              <a:rPr lang="en-US" altLang="en-US" sz="2400" b="1" dirty="0"/>
              <a:t>count[1]</a:t>
            </a:r>
          </a:p>
          <a:p>
            <a:pPr marL="533400" indent="-533400" eaLnBrk="1" hangingPunct="1">
              <a:lnSpc>
                <a:spcPct val="90000"/>
              </a:lnSpc>
              <a:defRPr/>
            </a:pPr>
            <a:endParaRPr lang="en-US" altLang="en-US" sz="2400" dirty="0"/>
          </a:p>
          <a:p>
            <a:pPr marL="533400" indent="-533400" eaLnBrk="1" hangingPunct="1">
              <a:lnSpc>
                <a:spcPct val="90000"/>
              </a:lnSpc>
              <a:defRPr/>
            </a:pPr>
            <a:r>
              <a:rPr lang="en-US" altLang="en-US" sz="2400" dirty="0"/>
              <a:t>After </a:t>
            </a:r>
            <a:r>
              <a:rPr lang="en-US" altLang="en-US" sz="2400" b="1" dirty="0"/>
              <a:t>A</a:t>
            </a:r>
            <a:r>
              <a:rPr lang="en-US" altLang="en-US" sz="2400" dirty="0"/>
              <a:t> is scanned, </a:t>
            </a:r>
            <a:r>
              <a:rPr lang="en-US" altLang="en-US" sz="2400" b="1" dirty="0"/>
              <a:t>count</a:t>
            </a:r>
            <a:r>
              <a:rPr lang="en-US" altLang="en-US" sz="2400" dirty="0"/>
              <a:t> contains: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71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6A67CE0-F0E5-41A8-A405-D295D96172D8}" type="datetime1">
              <a:rPr lang="en-US" smtClean="0"/>
              <a:t>7/15/2021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Copyright (c) John K. </a:t>
            </a:r>
            <a:r>
              <a:rPr lang="en-US" dirty="0" err="1"/>
              <a:t>Ostlund</a:t>
            </a:r>
            <a:endParaRPr lang="en-US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4EF57BE-6EAC-44FE-A725-C0F94DFEFAFF}"/>
              </a:ext>
            </a:extLst>
          </p:cNvPr>
          <p:cNvGrpSpPr/>
          <p:nvPr/>
        </p:nvGrpSpPr>
        <p:grpSpPr>
          <a:xfrm>
            <a:off x="2379863" y="2440411"/>
            <a:ext cx="4643273" cy="308789"/>
            <a:chOff x="2912757" y="2440415"/>
            <a:chExt cx="3357425" cy="308789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CF32C41-CCBC-4991-AFA5-E9374C2D912D}"/>
                </a:ext>
              </a:extLst>
            </p:cNvPr>
            <p:cNvSpPr txBox="1"/>
            <p:nvPr/>
          </p:nvSpPr>
          <p:spPr>
            <a:xfrm>
              <a:off x="2912757" y="2440419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3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437A4F79-3BFE-43EE-8287-9F14CB77D3D3}"/>
                </a:ext>
              </a:extLst>
            </p:cNvPr>
            <p:cNvSpPr txBox="1"/>
            <p:nvPr/>
          </p:nvSpPr>
          <p:spPr>
            <a:xfrm>
              <a:off x="3249207" y="2441427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9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82BB257E-ECEC-4D97-BA48-96562C9EFA89}"/>
                </a:ext>
              </a:extLst>
            </p:cNvPr>
            <p:cNvSpPr txBox="1"/>
            <p:nvPr/>
          </p:nvSpPr>
          <p:spPr>
            <a:xfrm>
              <a:off x="3584272" y="2440415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3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234224EC-CC32-4220-B03E-0037BB2A7942}"/>
                </a:ext>
              </a:extLst>
            </p:cNvPr>
            <p:cNvSpPr txBox="1"/>
            <p:nvPr/>
          </p:nvSpPr>
          <p:spPr>
            <a:xfrm>
              <a:off x="3920722" y="2441426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2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BB31C1F4-7D7D-440C-B094-E32D18FCADCD}"/>
                </a:ext>
              </a:extLst>
            </p:cNvPr>
            <p:cNvSpPr txBox="1"/>
            <p:nvPr/>
          </p:nvSpPr>
          <p:spPr>
            <a:xfrm>
              <a:off x="4255796" y="2440416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7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10804FD3-4126-4306-9002-86ECDD15FD77}"/>
                </a:ext>
              </a:extLst>
            </p:cNvPr>
            <p:cNvSpPr txBox="1"/>
            <p:nvPr/>
          </p:nvSpPr>
          <p:spPr>
            <a:xfrm>
              <a:off x="4592246" y="2441424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7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FB5C3731-C2B2-4718-A069-D60F3DDC0C89}"/>
                </a:ext>
              </a:extLst>
            </p:cNvPr>
            <p:cNvSpPr txBox="1"/>
            <p:nvPr/>
          </p:nvSpPr>
          <p:spPr>
            <a:xfrm>
              <a:off x="4927308" y="2440417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2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9A8CCCDC-4772-4507-8166-DDE66826D5F7}"/>
                </a:ext>
              </a:extLst>
            </p:cNvPr>
            <p:cNvSpPr txBox="1"/>
            <p:nvPr/>
          </p:nvSpPr>
          <p:spPr>
            <a:xfrm>
              <a:off x="5263758" y="2441425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6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672676D8-960D-4AEB-97D6-4F33323D80A2}"/>
                </a:ext>
              </a:extLst>
            </p:cNvPr>
            <p:cNvSpPr txBox="1"/>
            <p:nvPr/>
          </p:nvSpPr>
          <p:spPr>
            <a:xfrm>
              <a:off x="5598832" y="2440415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7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37B76FA9-8BA3-4C0D-A32C-1C6E4E3E8B56}"/>
                </a:ext>
              </a:extLst>
            </p:cNvPr>
            <p:cNvSpPr txBox="1"/>
            <p:nvPr/>
          </p:nvSpPr>
          <p:spPr>
            <a:xfrm>
              <a:off x="5935282" y="2441423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2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A09BB1E1-0313-4B12-98E9-A41533A3809A}"/>
              </a:ext>
            </a:extLst>
          </p:cNvPr>
          <p:cNvGrpSpPr/>
          <p:nvPr/>
        </p:nvGrpSpPr>
        <p:grpSpPr>
          <a:xfrm>
            <a:off x="2380868" y="3943210"/>
            <a:ext cx="3714564" cy="308789"/>
            <a:chOff x="2380868" y="3634375"/>
            <a:chExt cx="3714564" cy="308789"/>
          </a:xfrm>
        </p:grpSpPr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9D0BACBA-FB4E-4B60-873E-F9317AACFFB6}"/>
                </a:ext>
              </a:extLst>
            </p:cNvPr>
            <p:cNvSpPr txBox="1"/>
            <p:nvPr/>
          </p:nvSpPr>
          <p:spPr>
            <a:xfrm>
              <a:off x="2380868" y="3634379"/>
              <a:ext cx="463162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0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F617F1C0-3DBF-4642-9F74-5F4B799530A3}"/>
                </a:ext>
              </a:extLst>
            </p:cNvPr>
            <p:cNvSpPr txBox="1"/>
            <p:nvPr/>
          </p:nvSpPr>
          <p:spPr>
            <a:xfrm>
              <a:off x="2846174" y="3635387"/>
              <a:ext cx="463162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0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62ACA714-8E0A-417C-9120-F151EB02A47A}"/>
                </a:ext>
              </a:extLst>
            </p:cNvPr>
            <p:cNvSpPr txBox="1"/>
            <p:nvPr/>
          </p:nvSpPr>
          <p:spPr>
            <a:xfrm>
              <a:off x="3309564" y="3634375"/>
              <a:ext cx="463162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0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1A40836D-0F54-47A8-9F97-6EA3C0565644}"/>
                </a:ext>
              </a:extLst>
            </p:cNvPr>
            <p:cNvSpPr txBox="1"/>
            <p:nvPr/>
          </p:nvSpPr>
          <p:spPr>
            <a:xfrm>
              <a:off x="3774870" y="3635386"/>
              <a:ext cx="463162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0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D4A42A23-DFC5-40C1-B44A-13131AD288E6}"/>
                </a:ext>
              </a:extLst>
            </p:cNvPr>
            <p:cNvSpPr txBox="1"/>
            <p:nvPr/>
          </p:nvSpPr>
          <p:spPr>
            <a:xfrm>
              <a:off x="4238273" y="3634376"/>
              <a:ext cx="463162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0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8CAAEE99-6807-4D3F-A335-FFAB653126CA}"/>
                </a:ext>
              </a:extLst>
            </p:cNvPr>
            <p:cNvSpPr txBox="1"/>
            <p:nvPr/>
          </p:nvSpPr>
          <p:spPr>
            <a:xfrm>
              <a:off x="4703578" y="3635384"/>
              <a:ext cx="463162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0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A8FD503E-9F41-4E1B-9C42-2A0A0AABC7E9}"/>
                </a:ext>
              </a:extLst>
            </p:cNvPr>
            <p:cNvSpPr txBox="1"/>
            <p:nvPr/>
          </p:nvSpPr>
          <p:spPr>
            <a:xfrm>
              <a:off x="5166965" y="3634377"/>
              <a:ext cx="463162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0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FC1CCCC4-D47C-4AE5-9CDB-283CC12A2FFA}"/>
                </a:ext>
              </a:extLst>
            </p:cNvPr>
            <p:cNvSpPr txBox="1"/>
            <p:nvPr/>
          </p:nvSpPr>
          <p:spPr>
            <a:xfrm>
              <a:off x="5632270" y="3635385"/>
              <a:ext cx="463162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0</a:t>
              </a:r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9D947D8B-EB4D-4546-A9ED-3AB6627279A7}"/>
              </a:ext>
            </a:extLst>
          </p:cNvPr>
          <p:cNvGrpSpPr/>
          <p:nvPr/>
        </p:nvGrpSpPr>
        <p:grpSpPr>
          <a:xfrm>
            <a:off x="2381876" y="4755672"/>
            <a:ext cx="3714564" cy="308789"/>
            <a:chOff x="2380868" y="3634375"/>
            <a:chExt cx="3714564" cy="308789"/>
          </a:xfrm>
        </p:grpSpPr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0DA88300-34AE-4C32-9DAA-989602C1DAED}"/>
                </a:ext>
              </a:extLst>
            </p:cNvPr>
            <p:cNvSpPr txBox="1"/>
            <p:nvPr/>
          </p:nvSpPr>
          <p:spPr>
            <a:xfrm>
              <a:off x="2380868" y="3634379"/>
              <a:ext cx="463162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0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5FF48C04-B392-484D-ABFC-70BA655D406E}"/>
                </a:ext>
              </a:extLst>
            </p:cNvPr>
            <p:cNvSpPr txBox="1"/>
            <p:nvPr/>
          </p:nvSpPr>
          <p:spPr>
            <a:xfrm>
              <a:off x="2846174" y="3635387"/>
              <a:ext cx="463162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21663334-BE60-4DD0-9AB6-7D064295EDF0}"/>
                </a:ext>
              </a:extLst>
            </p:cNvPr>
            <p:cNvSpPr txBox="1"/>
            <p:nvPr/>
          </p:nvSpPr>
          <p:spPr>
            <a:xfrm>
              <a:off x="3309564" y="3634375"/>
              <a:ext cx="463162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0</a:t>
              </a: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2F718438-B774-4E9F-B6C3-9999CC3D0D27}"/>
                </a:ext>
              </a:extLst>
            </p:cNvPr>
            <p:cNvSpPr txBox="1"/>
            <p:nvPr/>
          </p:nvSpPr>
          <p:spPr>
            <a:xfrm>
              <a:off x="3774870" y="3635386"/>
              <a:ext cx="463162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0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3EE3A191-8D56-447C-A66C-5A01F69C820E}"/>
                </a:ext>
              </a:extLst>
            </p:cNvPr>
            <p:cNvSpPr txBox="1"/>
            <p:nvPr/>
          </p:nvSpPr>
          <p:spPr>
            <a:xfrm>
              <a:off x="4238273" y="3634376"/>
              <a:ext cx="463162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0</a:t>
              </a: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C5360AC9-24D6-4844-AFB6-AA1C4C27C2A1}"/>
                </a:ext>
              </a:extLst>
            </p:cNvPr>
            <p:cNvSpPr txBox="1"/>
            <p:nvPr/>
          </p:nvSpPr>
          <p:spPr>
            <a:xfrm>
              <a:off x="4703578" y="3635384"/>
              <a:ext cx="463162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0</a:t>
              </a: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25F29BAF-C2AF-41D0-8474-1D8CD558FB45}"/>
                </a:ext>
              </a:extLst>
            </p:cNvPr>
            <p:cNvSpPr txBox="1"/>
            <p:nvPr/>
          </p:nvSpPr>
          <p:spPr>
            <a:xfrm>
              <a:off x="5166965" y="3634377"/>
              <a:ext cx="463162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0</a:t>
              </a: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A57BBB97-F64B-47FF-A48A-BF2A24C9D2AE}"/>
                </a:ext>
              </a:extLst>
            </p:cNvPr>
            <p:cNvSpPr txBox="1"/>
            <p:nvPr/>
          </p:nvSpPr>
          <p:spPr>
            <a:xfrm>
              <a:off x="5632270" y="3635385"/>
              <a:ext cx="463162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0</a:t>
              </a:r>
            </a:p>
          </p:txBody>
        </p: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C6487996-940C-4571-A1BA-73CE133EF0EE}"/>
              </a:ext>
            </a:extLst>
          </p:cNvPr>
          <p:cNvGrpSpPr/>
          <p:nvPr/>
        </p:nvGrpSpPr>
        <p:grpSpPr>
          <a:xfrm>
            <a:off x="2382884" y="5556028"/>
            <a:ext cx="3714564" cy="308789"/>
            <a:chOff x="2380868" y="3634375"/>
            <a:chExt cx="3714564" cy="308789"/>
          </a:xfrm>
        </p:grpSpPr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F7BBA7D3-F032-4606-A247-C427397A4685}"/>
                </a:ext>
              </a:extLst>
            </p:cNvPr>
            <p:cNvSpPr txBox="1"/>
            <p:nvPr/>
          </p:nvSpPr>
          <p:spPr>
            <a:xfrm>
              <a:off x="2380868" y="3634379"/>
              <a:ext cx="463162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3</a:t>
              </a: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33873F5F-55FB-443F-95F6-DA76F38F81E1}"/>
                </a:ext>
              </a:extLst>
            </p:cNvPr>
            <p:cNvSpPr txBox="1"/>
            <p:nvPr/>
          </p:nvSpPr>
          <p:spPr>
            <a:xfrm>
              <a:off x="2846174" y="3635387"/>
              <a:ext cx="463162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2</a:t>
              </a: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27DE2AFF-FE51-494B-8792-408E5195CAD4}"/>
                </a:ext>
              </a:extLst>
            </p:cNvPr>
            <p:cNvSpPr txBox="1"/>
            <p:nvPr/>
          </p:nvSpPr>
          <p:spPr>
            <a:xfrm>
              <a:off x="3309564" y="3634375"/>
              <a:ext cx="463162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0</a:t>
              </a: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538BAE47-DCE8-44BA-ABF0-690B8E05CEE0}"/>
                </a:ext>
              </a:extLst>
            </p:cNvPr>
            <p:cNvSpPr txBox="1"/>
            <p:nvPr/>
          </p:nvSpPr>
          <p:spPr>
            <a:xfrm>
              <a:off x="3774870" y="3635386"/>
              <a:ext cx="463162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0</a:t>
              </a: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FF0A3C72-9E4B-469A-93FA-C12C91548F19}"/>
                </a:ext>
              </a:extLst>
            </p:cNvPr>
            <p:cNvSpPr txBox="1"/>
            <p:nvPr/>
          </p:nvSpPr>
          <p:spPr>
            <a:xfrm>
              <a:off x="4238273" y="3634376"/>
              <a:ext cx="463162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1</a:t>
              </a: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D9E89598-B6F7-44BF-844E-226DFFCB7FA1}"/>
                </a:ext>
              </a:extLst>
            </p:cNvPr>
            <p:cNvSpPr txBox="1"/>
            <p:nvPr/>
          </p:nvSpPr>
          <p:spPr>
            <a:xfrm>
              <a:off x="4703578" y="3635384"/>
              <a:ext cx="463162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3</a:t>
              </a: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27CA6A0A-6187-4109-A6EA-D87A18376CA9}"/>
                </a:ext>
              </a:extLst>
            </p:cNvPr>
            <p:cNvSpPr txBox="1"/>
            <p:nvPr/>
          </p:nvSpPr>
          <p:spPr>
            <a:xfrm>
              <a:off x="5166965" y="3634377"/>
              <a:ext cx="463162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0</a:t>
              </a: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70D55D8C-AAB9-45E5-A501-8AFC2EF4AB0F}"/>
                </a:ext>
              </a:extLst>
            </p:cNvPr>
            <p:cNvSpPr txBox="1"/>
            <p:nvPr/>
          </p:nvSpPr>
          <p:spPr>
            <a:xfrm>
              <a:off x="5632270" y="3635385"/>
              <a:ext cx="463162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9600432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Counting Sort Example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981200"/>
            <a:ext cx="7772400" cy="4114800"/>
          </a:xfrm>
        </p:spPr>
        <p:txBody>
          <a:bodyPr/>
          <a:lstStyle/>
          <a:p>
            <a:pPr marL="533400" indent="-533400" eaLnBrk="1" hangingPunct="1">
              <a:lnSpc>
                <a:spcPct val="90000"/>
              </a:lnSpc>
              <a:defRPr/>
            </a:pPr>
            <a:r>
              <a:rPr lang="en-US" altLang="en-US" sz="2400" dirty="0"/>
              <a:t>Starting with subscript 0 in </a:t>
            </a:r>
            <a:r>
              <a:rPr lang="en-US" altLang="en-US" sz="2400" b="1" dirty="0"/>
              <a:t>A</a:t>
            </a:r>
            <a:r>
              <a:rPr lang="en-US" altLang="en-US" sz="2400" dirty="0"/>
              <a:t>:</a:t>
            </a:r>
          </a:p>
          <a:p>
            <a:pPr marL="533400" indent="-533400" eaLnBrk="1" hangingPunct="1">
              <a:lnSpc>
                <a:spcPct val="90000"/>
              </a:lnSpc>
              <a:defRPr/>
            </a:pPr>
            <a:endParaRPr lang="en-US" altLang="en-US" sz="2800" dirty="0"/>
          </a:p>
          <a:p>
            <a:pPr marL="933450" lvl="1" indent="-533400" eaLnBrk="1" hangingPunct="1">
              <a:lnSpc>
                <a:spcPct val="90000"/>
              </a:lnSpc>
              <a:defRPr/>
            </a:pPr>
            <a:r>
              <a:rPr lang="en-US" altLang="en-US" sz="2000" dirty="0"/>
              <a:t>Store 3 values of 2 …</a:t>
            </a:r>
          </a:p>
          <a:p>
            <a:pPr marL="933450" lvl="1" indent="-533400" eaLnBrk="1" hangingPunct="1">
              <a:lnSpc>
                <a:spcPct val="90000"/>
              </a:lnSpc>
              <a:defRPr/>
            </a:pPr>
            <a:endParaRPr lang="en-US" altLang="en-US" sz="2000" dirty="0"/>
          </a:p>
          <a:p>
            <a:pPr marL="933450" lvl="1" indent="-533400" eaLnBrk="1" hangingPunct="1">
              <a:lnSpc>
                <a:spcPct val="90000"/>
              </a:lnSpc>
              <a:defRPr/>
            </a:pPr>
            <a:r>
              <a:rPr lang="en-US" altLang="en-US" sz="2000" dirty="0"/>
              <a:t>… 2 values of 3 …</a:t>
            </a:r>
          </a:p>
          <a:p>
            <a:pPr marL="533400" indent="-533400" eaLnBrk="1" hangingPunct="1">
              <a:lnSpc>
                <a:spcPct val="90000"/>
              </a:lnSpc>
              <a:defRPr/>
            </a:pPr>
            <a:endParaRPr lang="en-US" altLang="en-US" sz="2400" dirty="0"/>
          </a:p>
          <a:p>
            <a:pPr marL="933450" lvl="1" indent="-533400" eaLnBrk="1" hangingPunct="1">
              <a:lnSpc>
                <a:spcPct val="90000"/>
              </a:lnSpc>
              <a:defRPr/>
            </a:pPr>
            <a:r>
              <a:rPr lang="en-US" altLang="en-US" sz="2000" dirty="0"/>
              <a:t>… 0 values of 4, 0 values of 5, 1 value of 6 …</a:t>
            </a:r>
            <a:endParaRPr lang="en-US" altLang="en-US" sz="2000" b="1" dirty="0"/>
          </a:p>
          <a:p>
            <a:pPr marL="533400" indent="-533400" eaLnBrk="1" hangingPunct="1">
              <a:lnSpc>
                <a:spcPct val="90000"/>
              </a:lnSpc>
              <a:defRPr/>
            </a:pPr>
            <a:endParaRPr lang="en-US" altLang="en-US" sz="2400" dirty="0"/>
          </a:p>
          <a:p>
            <a:pPr marL="933450" lvl="1" indent="-533400" eaLnBrk="1" hangingPunct="1">
              <a:lnSpc>
                <a:spcPct val="90000"/>
              </a:lnSpc>
              <a:defRPr/>
            </a:pPr>
            <a:r>
              <a:rPr lang="en-US" altLang="en-US" sz="2000" dirty="0"/>
              <a:t>… 3 values of 7, one value of 9, and done!</a:t>
            </a:r>
          </a:p>
          <a:p>
            <a:pPr marL="533400" indent="-533400" eaLnBrk="1" hangingPunct="1">
              <a:lnSpc>
                <a:spcPct val="90000"/>
              </a:lnSpc>
              <a:defRPr/>
            </a:pPr>
            <a:endParaRPr lang="en-US" altLang="en-US" sz="2400" dirty="0"/>
          </a:p>
          <a:p>
            <a:pPr marL="533400" indent="-533400" eaLnBrk="1" hangingPunct="1">
              <a:lnSpc>
                <a:spcPct val="90000"/>
              </a:lnSpc>
              <a:defRPr/>
            </a:pPr>
            <a:r>
              <a:rPr lang="en-US" altLang="en-US" sz="2400" b="1" dirty="0"/>
              <a:t>A</a:t>
            </a:r>
            <a:r>
              <a:rPr lang="en-US" altLang="en-US" sz="2400" dirty="0"/>
              <a:t> is sorted!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72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6A67CE0-F0E5-41A8-A405-D295D96172D8}" type="datetime1">
              <a:rPr lang="en-US" smtClean="0"/>
              <a:t>7/15/2021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Copyright (c) John K. </a:t>
            </a:r>
            <a:r>
              <a:rPr lang="en-US" dirty="0" err="1"/>
              <a:t>Ostlund</a:t>
            </a:r>
            <a:endParaRPr lang="en-US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4EF57BE-6EAC-44FE-A725-C0F94DFEFAFF}"/>
              </a:ext>
            </a:extLst>
          </p:cNvPr>
          <p:cNvGrpSpPr/>
          <p:nvPr/>
        </p:nvGrpSpPr>
        <p:grpSpPr>
          <a:xfrm>
            <a:off x="2379863" y="2440411"/>
            <a:ext cx="4643273" cy="308789"/>
            <a:chOff x="2912757" y="2440415"/>
            <a:chExt cx="3357425" cy="308789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CF32C41-CCBC-4991-AFA5-E9374C2D912D}"/>
                </a:ext>
              </a:extLst>
            </p:cNvPr>
            <p:cNvSpPr txBox="1"/>
            <p:nvPr/>
          </p:nvSpPr>
          <p:spPr>
            <a:xfrm>
              <a:off x="2912757" y="2440419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3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437A4F79-3BFE-43EE-8287-9F14CB77D3D3}"/>
                </a:ext>
              </a:extLst>
            </p:cNvPr>
            <p:cNvSpPr txBox="1"/>
            <p:nvPr/>
          </p:nvSpPr>
          <p:spPr>
            <a:xfrm>
              <a:off x="3249207" y="2441427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9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82BB257E-ECEC-4D97-BA48-96562C9EFA89}"/>
                </a:ext>
              </a:extLst>
            </p:cNvPr>
            <p:cNvSpPr txBox="1"/>
            <p:nvPr/>
          </p:nvSpPr>
          <p:spPr>
            <a:xfrm>
              <a:off x="3584272" y="2440415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3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234224EC-CC32-4220-B03E-0037BB2A7942}"/>
                </a:ext>
              </a:extLst>
            </p:cNvPr>
            <p:cNvSpPr txBox="1"/>
            <p:nvPr/>
          </p:nvSpPr>
          <p:spPr>
            <a:xfrm>
              <a:off x="3920722" y="2441426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2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BB31C1F4-7D7D-440C-B094-E32D18FCADCD}"/>
                </a:ext>
              </a:extLst>
            </p:cNvPr>
            <p:cNvSpPr txBox="1"/>
            <p:nvPr/>
          </p:nvSpPr>
          <p:spPr>
            <a:xfrm>
              <a:off x="4255796" y="2440416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7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10804FD3-4126-4306-9002-86ECDD15FD77}"/>
                </a:ext>
              </a:extLst>
            </p:cNvPr>
            <p:cNvSpPr txBox="1"/>
            <p:nvPr/>
          </p:nvSpPr>
          <p:spPr>
            <a:xfrm>
              <a:off x="4592246" y="2441424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7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FB5C3731-C2B2-4718-A069-D60F3DDC0C89}"/>
                </a:ext>
              </a:extLst>
            </p:cNvPr>
            <p:cNvSpPr txBox="1"/>
            <p:nvPr/>
          </p:nvSpPr>
          <p:spPr>
            <a:xfrm>
              <a:off x="4927308" y="2440417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2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9A8CCCDC-4772-4507-8166-DDE66826D5F7}"/>
                </a:ext>
              </a:extLst>
            </p:cNvPr>
            <p:cNvSpPr txBox="1"/>
            <p:nvPr/>
          </p:nvSpPr>
          <p:spPr>
            <a:xfrm>
              <a:off x="5263758" y="2441425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6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672676D8-960D-4AEB-97D6-4F33323D80A2}"/>
                </a:ext>
              </a:extLst>
            </p:cNvPr>
            <p:cNvSpPr txBox="1"/>
            <p:nvPr/>
          </p:nvSpPr>
          <p:spPr>
            <a:xfrm>
              <a:off x="5598832" y="2440415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7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37B76FA9-8BA3-4C0D-A32C-1C6E4E3E8B56}"/>
                </a:ext>
              </a:extLst>
            </p:cNvPr>
            <p:cNvSpPr txBox="1"/>
            <p:nvPr/>
          </p:nvSpPr>
          <p:spPr>
            <a:xfrm>
              <a:off x="5935282" y="2441423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2</a:t>
              </a: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A75EAE10-8B93-4FAF-ACAF-667D3CA0FD5F}"/>
              </a:ext>
            </a:extLst>
          </p:cNvPr>
          <p:cNvGrpSpPr/>
          <p:nvPr/>
        </p:nvGrpSpPr>
        <p:grpSpPr>
          <a:xfrm>
            <a:off x="2380871" y="3168098"/>
            <a:ext cx="4643273" cy="308789"/>
            <a:chOff x="2912757" y="2440415"/>
            <a:chExt cx="3357425" cy="308789"/>
          </a:xfrm>
        </p:grpSpPr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0F381288-2ADC-414E-AF9B-331002BE2EF6}"/>
                </a:ext>
              </a:extLst>
            </p:cNvPr>
            <p:cNvSpPr txBox="1"/>
            <p:nvPr/>
          </p:nvSpPr>
          <p:spPr>
            <a:xfrm>
              <a:off x="2912757" y="2440419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</a:rPr>
                <a:t>2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4281767D-91D2-4D13-9770-3BC74B361D07}"/>
                </a:ext>
              </a:extLst>
            </p:cNvPr>
            <p:cNvSpPr txBox="1"/>
            <p:nvPr/>
          </p:nvSpPr>
          <p:spPr>
            <a:xfrm>
              <a:off x="3249207" y="2441427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</a:rPr>
                <a:t>2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AB59D421-B25D-4987-A08D-CAA4CFE2C977}"/>
                </a:ext>
              </a:extLst>
            </p:cNvPr>
            <p:cNvSpPr txBox="1"/>
            <p:nvPr/>
          </p:nvSpPr>
          <p:spPr>
            <a:xfrm>
              <a:off x="3584272" y="2440415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</a:rPr>
                <a:t>2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AB2821CD-E33A-4361-9CB1-23D291816751}"/>
                </a:ext>
              </a:extLst>
            </p:cNvPr>
            <p:cNvSpPr txBox="1"/>
            <p:nvPr/>
          </p:nvSpPr>
          <p:spPr>
            <a:xfrm>
              <a:off x="3920722" y="2441426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2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8250C139-A227-4B09-BFDA-8CA223711E6B}"/>
                </a:ext>
              </a:extLst>
            </p:cNvPr>
            <p:cNvSpPr txBox="1"/>
            <p:nvPr/>
          </p:nvSpPr>
          <p:spPr>
            <a:xfrm>
              <a:off x="4255796" y="2440416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7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1BFB4DE6-ED1B-4E67-B84B-B79996C22BE9}"/>
                </a:ext>
              </a:extLst>
            </p:cNvPr>
            <p:cNvSpPr txBox="1"/>
            <p:nvPr/>
          </p:nvSpPr>
          <p:spPr>
            <a:xfrm>
              <a:off x="4592246" y="2441424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7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261CC2CF-D601-47C5-AB5E-F16495B2E3FD}"/>
                </a:ext>
              </a:extLst>
            </p:cNvPr>
            <p:cNvSpPr txBox="1"/>
            <p:nvPr/>
          </p:nvSpPr>
          <p:spPr>
            <a:xfrm>
              <a:off x="4927308" y="2440417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2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FCB4714E-4984-4A4E-8188-3EE11CFB7882}"/>
                </a:ext>
              </a:extLst>
            </p:cNvPr>
            <p:cNvSpPr txBox="1"/>
            <p:nvPr/>
          </p:nvSpPr>
          <p:spPr>
            <a:xfrm>
              <a:off x="5263758" y="2441425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6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813B14D1-3870-409F-B8F0-9889CB6FB2D4}"/>
                </a:ext>
              </a:extLst>
            </p:cNvPr>
            <p:cNvSpPr txBox="1"/>
            <p:nvPr/>
          </p:nvSpPr>
          <p:spPr>
            <a:xfrm>
              <a:off x="5598832" y="2440415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7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E21E2F86-DBD1-47DC-B694-0A4E801C4E7E}"/>
                </a:ext>
              </a:extLst>
            </p:cNvPr>
            <p:cNvSpPr txBox="1"/>
            <p:nvPr/>
          </p:nvSpPr>
          <p:spPr>
            <a:xfrm>
              <a:off x="5935282" y="2441423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2</a:t>
              </a: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CC79E50B-97EC-48B3-8060-0762D829794F}"/>
              </a:ext>
            </a:extLst>
          </p:cNvPr>
          <p:cNvGrpSpPr/>
          <p:nvPr/>
        </p:nvGrpSpPr>
        <p:grpSpPr>
          <a:xfrm>
            <a:off x="2381879" y="3877617"/>
            <a:ext cx="4643273" cy="308789"/>
            <a:chOff x="2912757" y="2440415"/>
            <a:chExt cx="3357425" cy="308789"/>
          </a:xfrm>
        </p:grpSpPr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504BC805-8308-434D-9623-F81662AF2A54}"/>
                </a:ext>
              </a:extLst>
            </p:cNvPr>
            <p:cNvSpPr txBox="1"/>
            <p:nvPr/>
          </p:nvSpPr>
          <p:spPr>
            <a:xfrm>
              <a:off x="2912757" y="2440419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</a:rPr>
                <a:t>2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FB8E243D-36A8-4668-B6A9-141BA5F54713}"/>
                </a:ext>
              </a:extLst>
            </p:cNvPr>
            <p:cNvSpPr txBox="1"/>
            <p:nvPr/>
          </p:nvSpPr>
          <p:spPr>
            <a:xfrm>
              <a:off x="3249207" y="2441427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</a:rPr>
                <a:t>2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67AC3E23-7CC8-4817-BEB0-BBF77EF650EE}"/>
                </a:ext>
              </a:extLst>
            </p:cNvPr>
            <p:cNvSpPr txBox="1"/>
            <p:nvPr/>
          </p:nvSpPr>
          <p:spPr>
            <a:xfrm>
              <a:off x="3584272" y="2440415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</a:rPr>
                <a:t>2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8465B6EE-1C69-4E28-94CE-ECD109FB0E3B}"/>
                </a:ext>
              </a:extLst>
            </p:cNvPr>
            <p:cNvSpPr txBox="1"/>
            <p:nvPr/>
          </p:nvSpPr>
          <p:spPr>
            <a:xfrm>
              <a:off x="3920722" y="2441426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</a:rPr>
                <a:t>3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E05B6145-5B90-48DF-AC46-7F2A195C71FA}"/>
                </a:ext>
              </a:extLst>
            </p:cNvPr>
            <p:cNvSpPr txBox="1"/>
            <p:nvPr/>
          </p:nvSpPr>
          <p:spPr>
            <a:xfrm>
              <a:off x="4255796" y="2440416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</a:rPr>
                <a:t>3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05CC4F9B-AD07-4826-A472-A700659BAE6B}"/>
                </a:ext>
              </a:extLst>
            </p:cNvPr>
            <p:cNvSpPr txBox="1"/>
            <p:nvPr/>
          </p:nvSpPr>
          <p:spPr>
            <a:xfrm>
              <a:off x="4592246" y="2441424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7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D67A6401-C6E3-4BB9-B42F-7A424B51B4A1}"/>
                </a:ext>
              </a:extLst>
            </p:cNvPr>
            <p:cNvSpPr txBox="1"/>
            <p:nvPr/>
          </p:nvSpPr>
          <p:spPr>
            <a:xfrm>
              <a:off x="4927308" y="2440417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2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C9372707-9D97-4D08-96C8-E41D8FE2B0B6}"/>
                </a:ext>
              </a:extLst>
            </p:cNvPr>
            <p:cNvSpPr txBox="1"/>
            <p:nvPr/>
          </p:nvSpPr>
          <p:spPr>
            <a:xfrm>
              <a:off x="5263758" y="2441425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6</a:t>
              </a: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12947551-E799-422E-92F0-8FEE9BB37BD0}"/>
                </a:ext>
              </a:extLst>
            </p:cNvPr>
            <p:cNvSpPr txBox="1"/>
            <p:nvPr/>
          </p:nvSpPr>
          <p:spPr>
            <a:xfrm>
              <a:off x="5598832" y="2440415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7</a:t>
              </a: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43B426B9-91D8-4542-B9FC-3488B99306D5}"/>
                </a:ext>
              </a:extLst>
            </p:cNvPr>
            <p:cNvSpPr txBox="1"/>
            <p:nvPr/>
          </p:nvSpPr>
          <p:spPr>
            <a:xfrm>
              <a:off x="5935282" y="2441423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2</a:t>
              </a:r>
            </a:p>
          </p:txBody>
        </p: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DEA6BF0C-B58B-4D4A-98EF-CC7593011590}"/>
              </a:ext>
            </a:extLst>
          </p:cNvPr>
          <p:cNvGrpSpPr/>
          <p:nvPr/>
        </p:nvGrpSpPr>
        <p:grpSpPr>
          <a:xfrm>
            <a:off x="2382885" y="4635578"/>
            <a:ext cx="4643273" cy="308789"/>
            <a:chOff x="2912757" y="2440415"/>
            <a:chExt cx="3357425" cy="308789"/>
          </a:xfrm>
        </p:grpSpPr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8841CBD6-71BA-4965-8474-D38439AABF57}"/>
                </a:ext>
              </a:extLst>
            </p:cNvPr>
            <p:cNvSpPr txBox="1"/>
            <p:nvPr/>
          </p:nvSpPr>
          <p:spPr>
            <a:xfrm>
              <a:off x="2912757" y="2440419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</a:rPr>
                <a:t>2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7F93ED87-462B-41BD-BF76-05E8801851A8}"/>
                </a:ext>
              </a:extLst>
            </p:cNvPr>
            <p:cNvSpPr txBox="1"/>
            <p:nvPr/>
          </p:nvSpPr>
          <p:spPr>
            <a:xfrm>
              <a:off x="3249207" y="2441427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</a:rPr>
                <a:t>2</a:t>
              </a: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BBB7F4ED-6A20-4E8E-A854-7535D67DF524}"/>
                </a:ext>
              </a:extLst>
            </p:cNvPr>
            <p:cNvSpPr txBox="1"/>
            <p:nvPr/>
          </p:nvSpPr>
          <p:spPr>
            <a:xfrm>
              <a:off x="3584272" y="2440415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</a:rPr>
                <a:t>2</a:t>
              </a: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3C5EE8C0-C869-45BC-AC04-AB9BA7660EBF}"/>
                </a:ext>
              </a:extLst>
            </p:cNvPr>
            <p:cNvSpPr txBox="1"/>
            <p:nvPr/>
          </p:nvSpPr>
          <p:spPr>
            <a:xfrm>
              <a:off x="3920722" y="2441426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</a:rPr>
                <a:t>3</a:t>
              </a: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6F257506-B0C4-48B4-9FD4-CF790A56C880}"/>
                </a:ext>
              </a:extLst>
            </p:cNvPr>
            <p:cNvSpPr txBox="1"/>
            <p:nvPr/>
          </p:nvSpPr>
          <p:spPr>
            <a:xfrm>
              <a:off x="4255796" y="2440416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</a:rPr>
                <a:t>3</a:t>
              </a: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842CB4F2-FC24-489E-80F6-3E72BDF11EBF}"/>
                </a:ext>
              </a:extLst>
            </p:cNvPr>
            <p:cNvSpPr txBox="1"/>
            <p:nvPr/>
          </p:nvSpPr>
          <p:spPr>
            <a:xfrm>
              <a:off x="4592246" y="2441424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</a:rPr>
                <a:t>6</a:t>
              </a: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6298831C-27E3-4E22-A098-FE0A8635DB8D}"/>
                </a:ext>
              </a:extLst>
            </p:cNvPr>
            <p:cNvSpPr txBox="1"/>
            <p:nvPr/>
          </p:nvSpPr>
          <p:spPr>
            <a:xfrm>
              <a:off x="4927308" y="2440417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2</a:t>
              </a:r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697766BE-9293-4E8C-AA32-C96E2AAA6B43}"/>
                </a:ext>
              </a:extLst>
            </p:cNvPr>
            <p:cNvSpPr txBox="1"/>
            <p:nvPr/>
          </p:nvSpPr>
          <p:spPr>
            <a:xfrm>
              <a:off x="5263758" y="2441425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6</a:t>
              </a:r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F06424E8-5609-42E5-A824-B45A11DF31CC}"/>
                </a:ext>
              </a:extLst>
            </p:cNvPr>
            <p:cNvSpPr txBox="1"/>
            <p:nvPr/>
          </p:nvSpPr>
          <p:spPr>
            <a:xfrm>
              <a:off x="5598832" y="2440415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7</a:t>
              </a: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D424A10D-2EF2-4ADC-92BE-FEE30C3B35A1}"/>
                </a:ext>
              </a:extLst>
            </p:cNvPr>
            <p:cNvSpPr txBox="1"/>
            <p:nvPr/>
          </p:nvSpPr>
          <p:spPr>
            <a:xfrm>
              <a:off x="5935282" y="2441423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2</a:t>
              </a:r>
            </a:p>
          </p:txBody>
        </p: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1E42A0E5-8825-4C06-8CBA-17CF768704C8}"/>
              </a:ext>
            </a:extLst>
          </p:cNvPr>
          <p:cNvGrpSpPr/>
          <p:nvPr/>
        </p:nvGrpSpPr>
        <p:grpSpPr>
          <a:xfrm>
            <a:off x="2377838" y="5357209"/>
            <a:ext cx="4643273" cy="308789"/>
            <a:chOff x="2912757" y="2440415"/>
            <a:chExt cx="3357425" cy="308789"/>
          </a:xfrm>
        </p:grpSpPr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DA21877B-E3C9-4890-8286-264EE2284352}"/>
                </a:ext>
              </a:extLst>
            </p:cNvPr>
            <p:cNvSpPr txBox="1"/>
            <p:nvPr/>
          </p:nvSpPr>
          <p:spPr>
            <a:xfrm>
              <a:off x="2912757" y="2440419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</a:rPr>
                <a:t>2</a:t>
              </a:r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92DDCF72-F91E-44CA-A0F2-D5D2D2DF55DB}"/>
                </a:ext>
              </a:extLst>
            </p:cNvPr>
            <p:cNvSpPr txBox="1"/>
            <p:nvPr/>
          </p:nvSpPr>
          <p:spPr>
            <a:xfrm>
              <a:off x="3249207" y="2441427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</a:rPr>
                <a:t>2</a:t>
              </a:r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B0FD017C-366E-47AD-BFFB-E401108A744D}"/>
                </a:ext>
              </a:extLst>
            </p:cNvPr>
            <p:cNvSpPr txBox="1"/>
            <p:nvPr/>
          </p:nvSpPr>
          <p:spPr>
            <a:xfrm>
              <a:off x="3584272" y="2440415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</a:rPr>
                <a:t>2</a:t>
              </a: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DC0325D9-F182-49E9-AD19-59060423F324}"/>
                </a:ext>
              </a:extLst>
            </p:cNvPr>
            <p:cNvSpPr txBox="1"/>
            <p:nvPr/>
          </p:nvSpPr>
          <p:spPr>
            <a:xfrm>
              <a:off x="3920722" y="2441426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</a:rPr>
                <a:t>3</a:t>
              </a: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2C26E2FA-774F-4954-BD12-782186931D10}"/>
                </a:ext>
              </a:extLst>
            </p:cNvPr>
            <p:cNvSpPr txBox="1"/>
            <p:nvPr/>
          </p:nvSpPr>
          <p:spPr>
            <a:xfrm>
              <a:off x="4255796" y="2440416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</a:rPr>
                <a:t>3</a:t>
              </a:r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E7EEE5E4-5AB9-4F94-B9EA-03C982D1A2E9}"/>
                </a:ext>
              </a:extLst>
            </p:cNvPr>
            <p:cNvSpPr txBox="1"/>
            <p:nvPr/>
          </p:nvSpPr>
          <p:spPr>
            <a:xfrm>
              <a:off x="4592246" y="2441424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</a:rPr>
                <a:t>6</a:t>
              </a: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F36DF7F4-0F6E-438D-B465-E7A0A5439B5B}"/>
                </a:ext>
              </a:extLst>
            </p:cNvPr>
            <p:cNvSpPr txBox="1"/>
            <p:nvPr/>
          </p:nvSpPr>
          <p:spPr>
            <a:xfrm>
              <a:off x="4927308" y="2440417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</a:rPr>
                <a:t>7</a:t>
              </a: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5AC706B1-D125-4121-A0F0-639A0F889CFB}"/>
                </a:ext>
              </a:extLst>
            </p:cNvPr>
            <p:cNvSpPr txBox="1"/>
            <p:nvPr/>
          </p:nvSpPr>
          <p:spPr>
            <a:xfrm>
              <a:off x="5263758" y="2441425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</a:rPr>
                <a:t>7</a:t>
              </a:r>
              <a:endParaRPr lang="en-US" sz="1400" dirty="0"/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6F138FCC-F00B-414B-BA24-60F4B3E7BD75}"/>
                </a:ext>
              </a:extLst>
            </p:cNvPr>
            <p:cNvSpPr txBox="1"/>
            <p:nvPr/>
          </p:nvSpPr>
          <p:spPr>
            <a:xfrm>
              <a:off x="5598832" y="2440415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</a:rPr>
                <a:t>7</a:t>
              </a:r>
              <a:endParaRPr lang="en-US" sz="1400" b="1" dirty="0"/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E38B95B3-A391-4D71-9379-52520B760CC1}"/>
                </a:ext>
              </a:extLst>
            </p:cNvPr>
            <p:cNvSpPr txBox="1"/>
            <p:nvPr/>
          </p:nvSpPr>
          <p:spPr>
            <a:xfrm>
              <a:off x="5935282" y="2441423"/>
              <a:ext cx="3349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</a:rPr>
                <a:t>9</a:t>
              </a:r>
              <a:endParaRPr lang="en-US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179946086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Python Code for Counting Sort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987256"/>
            <a:ext cx="7772400" cy="4114800"/>
          </a:xfrm>
        </p:spPr>
        <p:txBody>
          <a:bodyPr/>
          <a:lstStyle/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def 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counting_sort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(a):    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# a is </a:t>
            </a:r>
            <a:r>
              <a:rPr lang="en-US" alt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ndarray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or list</a:t>
            </a: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# of integer values</a:t>
            </a: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mn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mx = min(a), max(a)</a:t>
            </a: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N = mx - 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mn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+ 1       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# size of counts vector</a:t>
            </a: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counts = [0] * N      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# initially all 0</a:t>
            </a: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for 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in range(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(a)):</a:t>
            </a: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counts[a[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] - 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mn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] += 1</a:t>
            </a: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endParaRPr lang="en-US" alt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k = 0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# subscript in a</a:t>
            </a: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for 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in range(N):    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# subscript in counts</a:t>
            </a: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for j in range(counts[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]):   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# occurrences</a:t>
            </a: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a[k], k = 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+ 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mn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k + 1   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#   of (</a:t>
            </a:r>
            <a:r>
              <a:rPr lang="en-US" alt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i+mn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73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6A67CE0-F0E5-41A8-A405-D295D96172D8}" type="datetime1">
              <a:rPr lang="en-US" smtClean="0"/>
              <a:t>7/15/2021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Copyright (c) John K. </a:t>
            </a:r>
            <a:r>
              <a:rPr lang="en-US" dirty="0" err="1"/>
              <a:t>Ostlund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1952394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A Final Word About Big-O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981200"/>
            <a:ext cx="7772400" cy="4114800"/>
          </a:xfrm>
        </p:spPr>
        <p:txBody>
          <a:bodyPr/>
          <a:lstStyle/>
          <a:p>
            <a:pPr marL="533400" indent="-533400" eaLnBrk="1" hangingPunct="1">
              <a:lnSpc>
                <a:spcPct val="90000"/>
              </a:lnSpc>
              <a:defRPr/>
            </a:pPr>
            <a:r>
              <a:rPr lang="en-US" altLang="en-US" sz="2400" dirty="0"/>
              <a:t>We have investigated six sorting algorithms</a:t>
            </a:r>
            <a:endParaRPr lang="en-US" alt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933450" lvl="1" indent="-533400" eaLnBrk="1" hangingPunct="1">
              <a:lnSpc>
                <a:spcPct val="90000"/>
              </a:lnSpc>
              <a:defRPr/>
            </a:pPr>
            <a:r>
              <a:rPr lang="en-US" altLang="en-US" sz="2000" dirty="0"/>
              <a:t>Selection sort:	</a:t>
            </a:r>
            <a:r>
              <a:rPr lang="en-US" altLang="en-US" sz="2000" b="1" dirty="0"/>
              <a:t>O(N</a:t>
            </a:r>
            <a:r>
              <a:rPr lang="en-US" altLang="en-US" sz="2000" b="1" baseline="30000" dirty="0"/>
              <a:t>2</a:t>
            </a:r>
            <a:r>
              <a:rPr lang="en-US" altLang="en-US" sz="2000" b="1" dirty="0"/>
              <a:t>)</a:t>
            </a:r>
          </a:p>
          <a:p>
            <a:pPr marL="933450" lvl="1" indent="-533400" eaLnBrk="1" hangingPunct="1">
              <a:lnSpc>
                <a:spcPct val="90000"/>
              </a:lnSpc>
              <a:defRPr/>
            </a:pPr>
            <a:r>
              <a:rPr lang="en-US" altLang="en-US" sz="2000" dirty="0"/>
              <a:t>Insertion sort:	</a:t>
            </a:r>
            <a:r>
              <a:rPr lang="en-US" altLang="en-US" sz="2000" b="1" dirty="0"/>
              <a:t>O(N</a:t>
            </a:r>
            <a:r>
              <a:rPr lang="en-US" altLang="en-US" sz="2000" b="1" baseline="30000" dirty="0"/>
              <a:t>2</a:t>
            </a:r>
            <a:r>
              <a:rPr lang="en-US" altLang="en-US" sz="2000" b="1" dirty="0"/>
              <a:t>)</a:t>
            </a:r>
          </a:p>
          <a:p>
            <a:pPr marL="933450" lvl="1" indent="-533400" eaLnBrk="1" hangingPunct="1">
              <a:lnSpc>
                <a:spcPct val="90000"/>
              </a:lnSpc>
              <a:defRPr/>
            </a:pPr>
            <a:r>
              <a:rPr lang="en-US" altLang="en-US" sz="2000" dirty="0"/>
              <a:t>Bubble sort:	</a:t>
            </a:r>
            <a:r>
              <a:rPr lang="en-US" altLang="en-US" sz="2000" b="1" dirty="0"/>
              <a:t>O(N</a:t>
            </a:r>
            <a:r>
              <a:rPr lang="en-US" altLang="en-US" sz="2000" b="1" baseline="30000" dirty="0"/>
              <a:t>2</a:t>
            </a:r>
            <a:r>
              <a:rPr lang="en-US" altLang="en-US" sz="2000" b="1" dirty="0"/>
              <a:t>)</a:t>
            </a:r>
          </a:p>
          <a:p>
            <a:pPr marL="933450" lvl="1" indent="-533400" eaLnBrk="1" hangingPunct="1">
              <a:lnSpc>
                <a:spcPct val="90000"/>
              </a:lnSpc>
              <a:defRPr/>
            </a:pPr>
            <a:r>
              <a:rPr lang="en-US" altLang="en-US" sz="2000" dirty="0"/>
              <a:t>Quicksort:	</a:t>
            </a:r>
            <a:r>
              <a:rPr lang="en-US" altLang="en-US" sz="2000" b="1" dirty="0"/>
              <a:t>O(N log N)   </a:t>
            </a:r>
            <a:r>
              <a:rPr lang="en-US" altLang="en-US" sz="2000" dirty="0"/>
              <a:t> (average)</a:t>
            </a:r>
          </a:p>
          <a:p>
            <a:pPr marL="933450" lvl="1" indent="-533400" eaLnBrk="1" hangingPunct="1">
              <a:lnSpc>
                <a:spcPct val="90000"/>
              </a:lnSpc>
              <a:defRPr/>
            </a:pPr>
            <a:r>
              <a:rPr lang="en-US" altLang="en-US" sz="2000" dirty="0"/>
              <a:t>Merge sort:	</a:t>
            </a:r>
            <a:r>
              <a:rPr lang="en-US" altLang="en-US" sz="2000" b="1" dirty="0"/>
              <a:t>O(N log N)</a:t>
            </a:r>
          </a:p>
          <a:p>
            <a:pPr marL="933450" lvl="1" indent="-533400" eaLnBrk="1" hangingPunct="1">
              <a:lnSpc>
                <a:spcPct val="90000"/>
              </a:lnSpc>
              <a:defRPr/>
            </a:pPr>
            <a:r>
              <a:rPr lang="en-US" altLang="en-US" sz="2000" dirty="0"/>
              <a:t>Counting sort:	</a:t>
            </a:r>
            <a:r>
              <a:rPr lang="en-US" altLang="en-US" sz="2000" b="1" dirty="0"/>
              <a:t>O(N + M)</a:t>
            </a:r>
          </a:p>
          <a:p>
            <a:pPr marL="533400" indent="-533400" eaLnBrk="1" hangingPunct="1">
              <a:lnSpc>
                <a:spcPct val="90000"/>
              </a:lnSpc>
              <a:defRPr/>
            </a:pPr>
            <a:endParaRPr lang="en-US" altLang="en-US" sz="2400" dirty="0"/>
          </a:p>
          <a:p>
            <a:pPr marL="533400" indent="-533400" eaLnBrk="1" hangingPunct="1">
              <a:lnSpc>
                <a:spcPct val="90000"/>
              </a:lnSpc>
              <a:defRPr/>
            </a:pPr>
            <a:r>
              <a:rPr lang="en-US" altLang="en-US" sz="2400" dirty="0"/>
              <a:t>So, isn't </a:t>
            </a:r>
            <a:r>
              <a:rPr lang="en-US" altLang="en-US" sz="2400" b="1" dirty="0"/>
              <a:t>O(N)</a:t>
            </a:r>
            <a:r>
              <a:rPr lang="en-US" altLang="en-US" sz="2400" dirty="0"/>
              <a:t> always better than </a:t>
            </a:r>
            <a:r>
              <a:rPr lang="en-US" altLang="en-US" sz="2400" b="1" dirty="0"/>
              <a:t>O(N log N)</a:t>
            </a:r>
            <a:r>
              <a:rPr lang="en-US" altLang="en-US" sz="2400" dirty="0"/>
              <a:t>, and </a:t>
            </a:r>
            <a:r>
              <a:rPr lang="en-US" altLang="en-US" sz="2400" b="1" dirty="0"/>
              <a:t>O(N log N)</a:t>
            </a:r>
            <a:r>
              <a:rPr lang="en-US" altLang="en-US" sz="2400" dirty="0"/>
              <a:t> always better than </a:t>
            </a:r>
            <a:r>
              <a:rPr lang="en-US" altLang="en-US" sz="2400" b="1" dirty="0"/>
              <a:t>O(N</a:t>
            </a:r>
            <a:r>
              <a:rPr lang="en-US" altLang="en-US" sz="2400" b="1" baseline="30000" dirty="0"/>
              <a:t>2</a:t>
            </a:r>
            <a:r>
              <a:rPr lang="en-US" altLang="en-US" sz="2400" b="1" dirty="0"/>
              <a:t>)</a:t>
            </a:r>
            <a:r>
              <a:rPr lang="en-US" altLang="en-US" sz="2400" dirty="0"/>
              <a:t>?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74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6A67CE0-F0E5-41A8-A405-D295D96172D8}" type="datetime1">
              <a:rPr lang="en-US" smtClean="0"/>
              <a:t>7/15/2021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Copyright (c) John K. </a:t>
            </a:r>
            <a:r>
              <a:rPr lang="en-US" dirty="0" err="1"/>
              <a:t>Ostlund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3697889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A Final Word About Big-O (</a:t>
            </a:r>
            <a:r>
              <a:rPr lang="en-US" altLang="en-US" dirty="0" err="1"/>
              <a:t>cont</a:t>
            </a:r>
            <a:r>
              <a:rPr lang="en-US" altLang="en-US" dirty="0"/>
              <a:t>)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981200"/>
            <a:ext cx="7772400" cy="4114800"/>
          </a:xfrm>
        </p:spPr>
        <p:txBody>
          <a:bodyPr/>
          <a:lstStyle/>
          <a:p>
            <a:pPr marL="533400" indent="-533400" eaLnBrk="1" hangingPunct="1">
              <a:lnSpc>
                <a:spcPct val="90000"/>
              </a:lnSpc>
              <a:defRPr/>
            </a:pPr>
            <a:r>
              <a:rPr lang="en-US" altLang="en-US" sz="2400" b="1" i="1" dirty="0">
                <a:solidFill>
                  <a:srgbClr val="FF0000"/>
                </a:solidFill>
              </a:rPr>
              <a:t>No!</a:t>
            </a:r>
            <a:endParaRPr lang="en-US" altLang="en-US" sz="2400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933450" lvl="1" indent="-533400" eaLnBrk="1" hangingPunct="1">
              <a:lnSpc>
                <a:spcPct val="90000"/>
              </a:lnSpc>
              <a:defRPr/>
            </a:pPr>
            <a:r>
              <a:rPr lang="en-US" altLang="en-US" sz="2000" dirty="0"/>
              <a:t>Saying an algorithm is </a:t>
            </a:r>
            <a:r>
              <a:rPr lang="en-US" altLang="en-US" sz="2000" b="1" dirty="0"/>
              <a:t>O(N log N)</a:t>
            </a:r>
            <a:r>
              <a:rPr lang="en-US" altLang="en-US" sz="2000" dirty="0"/>
              <a:t> tells us how </a:t>
            </a:r>
            <a:r>
              <a:rPr lang="en-US" altLang="en-US" sz="2000" i="1" dirty="0">
                <a:solidFill>
                  <a:srgbClr val="FF0000"/>
                </a:solidFill>
              </a:rPr>
              <a:t>that algorithm</a:t>
            </a:r>
            <a:r>
              <a:rPr lang="en-US" altLang="en-US" sz="2000" dirty="0"/>
              <a:t> slows down as </a:t>
            </a:r>
            <a:r>
              <a:rPr lang="en-US" altLang="en-US" sz="2000" b="1" dirty="0"/>
              <a:t>N</a:t>
            </a:r>
            <a:r>
              <a:rPr lang="en-US" altLang="en-US" sz="2000" dirty="0"/>
              <a:t> increases</a:t>
            </a:r>
          </a:p>
          <a:p>
            <a:pPr marL="933450" lvl="1" indent="-533400" eaLnBrk="1" hangingPunct="1">
              <a:lnSpc>
                <a:spcPct val="90000"/>
              </a:lnSpc>
              <a:defRPr/>
            </a:pPr>
            <a:r>
              <a:rPr lang="en-US" altLang="en-US" sz="2000" dirty="0"/>
              <a:t>But if each step in that </a:t>
            </a:r>
            <a:r>
              <a:rPr lang="en-US" altLang="en-US" sz="2000" b="1" dirty="0"/>
              <a:t>O(N log N)</a:t>
            </a:r>
            <a:r>
              <a:rPr lang="en-US" altLang="en-US" sz="2000" dirty="0"/>
              <a:t> algorithm takes, say, 10 seconds, an </a:t>
            </a:r>
            <a:r>
              <a:rPr lang="en-US" altLang="en-US" sz="2000" b="1" dirty="0"/>
              <a:t>O(N</a:t>
            </a:r>
            <a:r>
              <a:rPr lang="en-US" altLang="en-US" sz="2000" b="1" baseline="30000" dirty="0"/>
              <a:t>5</a:t>
            </a:r>
            <a:r>
              <a:rPr lang="en-US" altLang="en-US" sz="2000" b="1" dirty="0"/>
              <a:t>)</a:t>
            </a:r>
            <a:r>
              <a:rPr lang="en-US" altLang="en-US" sz="2000" dirty="0"/>
              <a:t> algorithm can be </a:t>
            </a:r>
            <a:r>
              <a:rPr lang="en-US" altLang="en-US" sz="2000" i="1" dirty="0"/>
              <a:t>faster</a:t>
            </a:r>
            <a:r>
              <a:rPr lang="en-US" altLang="en-US" sz="2000" dirty="0"/>
              <a:t> on a small data set if each step takes, say, a microsecond</a:t>
            </a:r>
          </a:p>
          <a:p>
            <a:pPr marL="533400" indent="-533400" eaLnBrk="1" hangingPunct="1">
              <a:lnSpc>
                <a:spcPct val="90000"/>
              </a:lnSpc>
              <a:defRPr/>
            </a:pPr>
            <a:r>
              <a:rPr lang="en-US" altLang="en-US" sz="2400" dirty="0"/>
              <a:t>Big-O performance is a </a:t>
            </a:r>
            <a:r>
              <a:rPr lang="en-US" altLang="en-US" sz="2400" i="1" dirty="0"/>
              <a:t>very useful guide</a:t>
            </a:r>
            <a:r>
              <a:rPr lang="en-US" altLang="en-US" sz="2400" dirty="0"/>
              <a:t>, but </a:t>
            </a:r>
            <a:r>
              <a:rPr lang="en-US" altLang="en-US" sz="2400" b="1" i="1" dirty="0"/>
              <a:t>does not</a:t>
            </a:r>
            <a:r>
              <a:rPr lang="en-US" altLang="en-US" sz="2400" dirty="0"/>
              <a:t> dictate the relative performance of different actual algorithm implementations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75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6A67CE0-F0E5-41A8-A405-D295D96172D8}" type="datetime1">
              <a:rPr lang="en-US" smtClean="0"/>
              <a:t>7/15/2021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Copyright (c) John K. </a:t>
            </a:r>
            <a:r>
              <a:rPr lang="en-US" dirty="0" err="1"/>
              <a:t>Ostlund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4969029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Week 5 Summary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800" dirty="0"/>
              <a:t>Big-O notation</a:t>
            </a:r>
          </a:p>
          <a:p>
            <a:pPr lvl="1" eaLnBrk="1" hangingPunct="1">
              <a:spcBef>
                <a:spcPts val="300"/>
              </a:spcBef>
            </a:pPr>
            <a:r>
              <a:rPr lang="en-US" altLang="en-US" sz="2400" dirty="0"/>
              <a:t>Mathematical definitions and intuition</a:t>
            </a:r>
          </a:p>
          <a:p>
            <a:pPr eaLnBrk="1" hangingPunct="1">
              <a:spcBef>
                <a:spcPts val="300"/>
              </a:spcBef>
            </a:pPr>
            <a:r>
              <a:rPr lang="en-US" altLang="en-US" sz="2800" dirty="0"/>
              <a:t>Sorting algorithms</a:t>
            </a:r>
            <a:endParaRPr lang="en-US" altLang="en-US" sz="2800" i="1" dirty="0"/>
          </a:p>
          <a:p>
            <a:pPr marL="933450" lvl="1" indent="-533400" eaLnBrk="1" hangingPunct="1">
              <a:lnSpc>
                <a:spcPct val="90000"/>
              </a:lnSpc>
              <a:defRPr/>
            </a:pPr>
            <a:r>
              <a:rPr lang="en-US" altLang="en-US" sz="2400" dirty="0"/>
              <a:t>Selection sort:	</a:t>
            </a:r>
            <a:r>
              <a:rPr lang="en-US" altLang="en-US" sz="2400" b="1" dirty="0"/>
              <a:t>O(N</a:t>
            </a:r>
            <a:r>
              <a:rPr lang="en-US" altLang="en-US" sz="2400" b="1" baseline="30000" dirty="0"/>
              <a:t>2</a:t>
            </a:r>
            <a:r>
              <a:rPr lang="en-US" altLang="en-US" sz="2400" b="1" dirty="0"/>
              <a:t>)</a:t>
            </a:r>
          </a:p>
          <a:p>
            <a:pPr marL="933450" lvl="1" indent="-533400" eaLnBrk="1" hangingPunct="1">
              <a:lnSpc>
                <a:spcPct val="90000"/>
              </a:lnSpc>
              <a:defRPr/>
            </a:pPr>
            <a:r>
              <a:rPr lang="en-US" altLang="en-US" sz="2400" dirty="0"/>
              <a:t>Insertion sort:	</a:t>
            </a:r>
            <a:r>
              <a:rPr lang="en-US" altLang="en-US" sz="2400" b="1" dirty="0"/>
              <a:t>O(N</a:t>
            </a:r>
            <a:r>
              <a:rPr lang="en-US" altLang="en-US" sz="2400" b="1" baseline="30000" dirty="0"/>
              <a:t>2</a:t>
            </a:r>
            <a:r>
              <a:rPr lang="en-US" altLang="en-US" sz="2400" b="1" dirty="0"/>
              <a:t>)</a:t>
            </a:r>
          </a:p>
          <a:p>
            <a:pPr marL="933450" lvl="1" indent="-533400" eaLnBrk="1" hangingPunct="1">
              <a:lnSpc>
                <a:spcPct val="90000"/>
              </a:lnSpc>
              <a:defRPr/>
            </a:pPr>
            <a:r>
              <a:rPr lang="en-US" altLang="en-US" sz="2400" dirty="0"/>
              <a:t>Bubble sort:		</a:t>
            </a:r>
            <a:r>
              <a:rPr lang="en-US" altLang="en-US" sz="2400" b="1" dirty="0"/>
              <a:t>O(N</a:t>
            </a:r>
            <a:r>
              <a:rPr lang="en-US" altLang="en-US" sz="2400" b="1" baseline="30000" dirty="0"/>
              <a:t>2</a:t>
            </a:r>
            <a:r>
              <a:rPr lang="en-US" altLang="en-US" sz="2400" b="1" dirty="0"/>
              <a:t>)</a:t>
            </a:r>
          </a:p>
          <a:p>
            <a:pPr marL="933450" lvl="1" indent="-533400" eaLnBrk="1" hangingPunct="1">
              <a:lnSpc>
                <a:spcPct val="90000"/>
              </a:lnSpc>
              <a:defRPr/>
            </a:pPr>
            <a:r>
              <a:rPr lang="en-US" altLang="en-US" sz="2400" dirty="0"/>
              <a:t>Quicksort:		</a:t>
            </a:r>
            <a:r>
              <a:rPr lang="en-US" altLang="en-US" sz="2400" b="1" dirty="0"/>
              <a:t>O(N log N)</a:t>
            </a:r>
            <a:r>
              <a:rPr lang="en-US" altLang="en-US" sz="2400" dirty="0"/>
              <a:t>  (average)</a:t>
            </a:r>
          </a:p>
          <a:p>
            <a:pPr marL="933450" lvl="1" indent="-533400" eaLnBrk="1" hangingPunct="1">
              <a:lnSpc>
                <a:spcPct val="90000"/>
              </a:lnSpc>
              <a:defRPr/>
            </a:pPr>
            <a:r>
              <a:rPr lang="en-US" altLang="en-US" sz="2400" dirty="0"/>
              <a:t>Merge sort:		</a:t>
            </a:r>
            <a:r>
              <a:rPr lang="en-US" altLang="en-US" sz="2400" b="1" dirty="0"/>
              <a:t>O(N log N)</a:t>
            </a:r>
          </a:p>
          <a:p>
            <a:pPr marL="933450" lvl="1" indent="-533400" eaLnBrk="1" hangingPunct="1">
              <a:lnSpc>
                <a:spcPct val="90000"/>
              </a:lnSpc>
              <a:defRPr/>
            </a:pPr>
            <a:r>
              <a:rPr lang="en-US" altLang="en-US" sz="2400" dirty="0"/>
              <a:t>Counting sort:	</a:t>
            </a:r>
            <a:r>
              <a:rPr lang="en-US" altLang="en-US" sz="2400" b="1" dirty="0"/>
              <a:t>O(N + M)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F6099A-CC38-427F-9DE6-FE33CBEDA8C3}" type="datetime1">
              <a:rPr lang="en-US" smtClean="0"/>
              <a:t>7/15/2021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John K. Ostlund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553848"/>
      </p:ext>
    </p:extLst>
  </p:cSld>
  <p:clrMapOvr>
    <a:masterClrMapping/>
  </p:clrMapOvr>
</p:sld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Blends</Template>
  <TotalTime>81185</TotalTime>
  <Words>8238</Words>
  <Application>Microsoft Office PowerPoint</Application>
  <PresentationFormat>On-screen Show (4:3)</PresentationFormat>
  <Paragraphs>1724</Paragraphs>
  <Slides>76</Slides>
  <Notes>76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76</vt:i4>
      </vt:variant>
    </vt:vector>
  </HeadingPairs>
  <TitlesOfParts>
    <vt:vector size="82" baseType="lpstr">
      <vt:lpstr>Cambria Math</vt:lpstr>
      <vt:lpstr>Courier New</vt:lpstr>
      <vt:lpstr>Tahoma</vt:lpstr>
      <vt:lpstr>Times New Roman</vt:lpstr>
      <vt:lpstr>Wingdings</vt:lpstr>
      <vt:lpstr>Blends</vt:lpstr>
      <vt:lpstr>MSCF Python Programming Basics -- 2021</vt:lpstr>
      <vt:lpstr>Linear Search</vt:lpstr>
      <vt:lpstr>Linear Search: Python Code</vt:lpstr>
      <vt:lpstr>Binary Search</vt:lpstr>
      <vt:lpstr>Binary Search: Python Code</vt:lpstr>
      <vt:lpstr>set (Hash Table) Search</vt:lpstr>
      <vt:lpstr>set Search: Python Code</vt:lpstr>
      <vt:lpstr>Testing Performance</vt:lpstr>
      <vt:lpstr>Testing Performance (cont)</vt:lpstr>
      <vt:lpstr>Testing Performance (cont)</vt:lpstr>
      <vt:lpstr>Performance Testing Results</vt:lpstr>
      <vt:lpstr>Performance Testing Results (cont)</vt:lpstr>
      <vt:lpstr>Performance Testing Results: Linear Search</vt:lpstr>
      <vt:lpstr>Performance Testing Results: Binary Search</vt:lpstr>
      <vt:lpstr>Performance Testing Results: Binary Search: Log Scale</vt:lpstr>
      <vt:lpstr>Performance Testing Results: set (Hash Table) Search</vt:lpstr>
      <vt:lpstr>Algorithm Performance</vt:lpstr>
      <vt:lpstr>Formal Definition of Big-O</vt:lpstr>
      <vt:lpstr>Big-O Example</vt:lpstr>
      <vt:lpstr>Big-O Example (cont)</vt:lpstr>
      <vt:lpstr>Big-O Example (cont)</vt:lpstr>
      <vt:lpstr>Formal Definition of Big-Ω</vt:lpstr>
      <vt:lpstr>Big-Ω Example</vt:lpstr>
      <vt:lpstr>Formal Definition of Big-Θ</vt:lpstr>
      <vt:lpstr>Big-Θ Example</vt:lpstr>
      <vt:lpstr>So What Does Big-O Mean?</vt:lpstr>
      <vt:lpstr>Some Big-O Examples</vt:lpstr>
      <vt:lpstr>Sorting Algorithms</vt:lpstr>
      <vt:lpstr>Selection Sort</vt:lpstr>
      <vt:lpstr>Selection Sort Example</vt:lpstr>
      <vt:lpstr>Selection Sort Example (cont)</vt:lpstr>
      <vt:lpstr>Selection Sort Example (cont)</vt:lpstr>
      <vt:lpstr>Selection Sort Example (cont)</vt:lpstr>
      <vt:lpstr>Selection Sort: In Place Algorithm</vt:lpstr>
      <vt:lpstr>Selection Sort In-Place Example</vt:lpstr>
      <vt:lpstr>Selection Sort In-Place Example (cont)</vt:lpstr>
      <vt:lpstr>Selection Sort In-Place Example (cont)</vt:lpstr>
      <vt:lpstr>Selection Sort Performance</vt:lpstr>
      <vt:lpstr>Python Code For Selection Sort</vt:lpstr>
      <vt:lpstr>Insertion Sort</vt:lpstr>
      <vt:lpstr>Insertion Sort In-Place Example</vt:lpstr>
      <vt:lpstr>Insertion Sort In-Place Example (cont)</vt:lpstr>
      <vt:lpstr>Insertion Sort In-Place Example (cont)</vt:lpstr>
      <vt:lpstr>Insertion Sort In-Place Example (cont)</vt:lpstr>
      <vt:lpstr>Insertion Sort Performance</vt:lpstr>
      <vt:lpstr>Python Code For Insertion Sort</vt:lpstr>
      <vt:lpstr>Bubble Sort</vt:lpstr>
      <vt:lpstr>Bubble Sort In-Place Example</vt:lpstr>
      <vt:lpstr>Bubble Sort In-Place Example (cont)</vt:lpstr>
      <vt:lpstr>Bubble Sort In-Place Example (cont)</vt:lpstr>
      <vt:lpstr>Bubble Sort In-Place Example (cont)</vt:lpstr>
      <vt:lpstr>Bubble Sort Performance</vt:lpstr>
      <vt:lpstr>Python Code For Bubble Sort (Unoptimized)</vt:lpstr>
      <vt:lpstr>Python Code For Bubble Sort (Optimized)</vt:lpstr>
      <vt:lpstr>Quicksort</vt:lpstr>
      <vt:lpstr>Quicksort (cont)</vt:lpstr>
      <vt:lpstr>Quicksort (cont)</vt:lpstr>
      <vt:lpstr>Python Code for Partition Algorithm</vt:lpstr>
      <vt:lpstr>Python Code for Quicksort, Calling partition(a)</vt:lpstr>
      <vt:lpstr>Merge Sort</vt:lpstr>
      <vt:lpstr>Merge Sort Example</vt:lpstr>
      <vt:lpstr>Merge Sort Example (cont)</vt:lpstr>
      <vt:lpstr>Merge Sort Time and Space</vt:lpstr>
      <vt:lpstr>Python Code for Splitting an ndarray</vt:lpstr>
      <vt:lpstr>Python Code for Merging Two Sorted ndarrays</vt:lpstr>
      <vt:lpstr>Python Code for Merging Two Sorted ndarrays (cont)</vt:lpstr>
      <vt:lpstr>Python Code for Merge Sort</vt:lpstr>
      <vt:lpstr>Counting Sort</vt:lpstr>
      <vt:lpstr>Counting Sort (cont)</vt:lpstr>
      <vt:lpstr>Counting Sort (cont)</vt:lpstr>
      <vt:lpstr>Counting Sort Example</vt:lpstr>
      <vt:lpstr>Counting Sort Example</vt:lpstr>
      <vt:lpstr>Python Code for Counting Sort</vt:lpstr>
      <vt:lpstr>A Final Word About Big-O</vt:lpstr>
      <vt:lpstr>A Final Word About Big-O (cont)</vt:lpstr>
      <vt:lpstr>Week 5 Summary</vt:lpstr>
    </vt:vector>
  </TitlesOfParts>
  <Company>CMU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Object-Oriented Programming 46-691</dc:title>
  <dc:creator>The Heinz School</dc:creator>
  <cp:lastModifiedBy>John</cp:lastModifiedBy>
  <cp:revision>753</cp:revision>
  <cp:lastPrinted>2019-07-28T17:22:55Z</cp:lastPrinted>
  <dcterms:created xsi:type="dcterms:W3CDTF">2003-08-31T19:53:38Z</dcterms:created>
  <dcterms:modified xsi:type="dcterms:W3CDTF">2021-07-15T23:21:32Z</dcterms:modified>
</cp:coreProperties>
</file>
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74"/>
  </p:notesMasterIdLst>
  <p:sldIdLst>
    <p:sldId id="257" r:id="rId2"/>
    <p:sldId id="660" r:id="rId3"/>
    <p:sldId id="661" r:id="rId4"/>
    <p:sldId id="662" r:id="rId5"/>
    <p:sldId id="663" r:id="rId6"/>
    <p:sldId id="671" r:id="rId7"/>
    <p:sldId id="677" r:id="rId8"/>
    <p:sldId id="672" r:id="rId9"/>
    <p:sldId id="673" r:id="rId10"/>
    <p:sldId id="674" r:id="rId11"/>
    <p:sldId id="678" r:id="rId12"/>
    <p:sldId id="679" r:id="rId13"/>
    <p:sldId id="680" r:id="rId14"/>
    <p:sldId id="681" r:id="rId15"/>
    <p:sldId id="682" r:id="rId16"/>
    <p:sldId id="664" r:id="rId17"/>
    <p:sldId id="665" r:id="rId18"/>
    <p:sldId id="666" r:id="rId19"/>
    <p:sldId id="683" r:id="rId20"/>
    <p:sldId id="667" r:id="rId21"/>
    <p:sldId id="696" r:id="rId22"/>
    <p:sldId id="684" r:id="rId23"/>
    <p:sldId id="685" r:id="rId24"/>
    <p:sldId id="686" r:id="rId25"/>
    <p:sldId id="688" r:id="rId26"/>
    <p:sldId id="691" r:id="rId27"/>
    <p:sldId id="690" r:id="rId28"/>
    <p:sldId id="687" r:id="rId29"/>
    <p:sldId id="692" r:id="rId30"/>
    <p:sldId id="693" r:id="rId31"/>
    <p:sldId id="694" r:id="rId32"/>
    <p:sldId id="695" r:id="rId33"/>
    <p:sldId id="697" r:id="rId34"/>
    <p:sldId id="698" r:id="rId35"/>
    <p:sldId id="699" r:id="rId36"/>
    <p:sldId id="700" r:id="rId37"/>
    <p:sldId id="701" r:id="rId38"/>
    <p:sldId id="702" r:id="rId39"/>
    <p:sldId id="704" r:id="rId40"/>
    <p:sldId id="705" r:id="rId41"/>
    <p:sldId id="706" r:id="rId42"/>
    <p:sldId id="707" r:id="rId43"/>
    <p:sldId id="708" r:id="rId44"/>
    <p:sldId id="709" r:id="rId45"/>
    <p:sldId id="710" r:id="rId46"/>
    <p:sldId id="711" r:id="rId47"/>
    <p:sldId id="557" r:id="rId48"/>
    <p:sldId id="260" r:id="rId49"/>
    <p:sldId id="261" r:id="rId50"/>
    <p:sldId id="558" r:id="rId51"/>
    <p:sldId id="717" r:id="rId52"/>
    <p:sldId id="718" r:id="rId53"/>
    <p:sldId id="560" r:id="rId54"/>
    <p:sldId id="715" r:id="rId55"/>
    <p:sldId id="561" r:id="rId56"/>
    <p:sldId id="713" r:id="rId57"/>
    <p:sldId id="714" r:id="rId58"/>
    <p:sldId id="719" r:id="rId59"/>
    <p:sldId id="716" r:id="rId60"/>
    <p:sldId id="720" r:id="rId61"/>
    <p:sldId id="721" r:id="rId62"/>
    <p:sldId id="722" r:id="rId63"/>
    <p:sldId id="723" r:id="rId64"/>
    <p:sldId id="724" r:id="rId65"/>
    <p:sldId id="731" r:id="rId66"/>
    <p:sldId id="732" r:id="rId67"/>
    <p:sldId id="733" r:id="rId68"/>
    <p:sldId id="734" r:id="rId69"/>
    <p:sldId id="725" r:id="rId70"/>
    <p:sldId id="727" r:id="rId71"/>
    <p:sldId id="728" r:id="rId72"/>
    <p:sldId id="730" r:id="rId73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9" autoAdjust="0"/>
    <p:restoredTop sz="95647" autoAdjust="0"/>
  </p:normalViewPr>
  <p:slideViewPr>
    <p:cSldViewPr>
      <p:cViewPr varScale="1">
        <p:scale>
          <a:sx n="104" d="100"/>
          <a:sy n="104" d="100"/>
        </p:scale>
        <p:origin x="126" y="14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1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2" tIns="48331" rIns="96662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3966094-34ED-42CC-B0A0-81B4FC9F4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004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C77F19E-6305-42C9-846D-8F6E264C89DD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81308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489316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592216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215215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34360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997027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2909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161777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06720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67036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0398276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6925235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483286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758073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11393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82017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1915047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957459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616114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8576869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080026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07818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978305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1804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1592853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865141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253903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9869563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9699124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5643377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0459811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4800954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530384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30984918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2576329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047454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47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4519558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51122" indent="-288893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55573" indent="-231115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17802" indent="-231115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80031" indent="-231115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42261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004490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66719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928948" indent="-23111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D64F5DF-0B52-4312-A1F1-1A9CC5685EAB}" type="slidenum">
              <a:rPr lang="en-US" altLang="en-US" smtClean="0">
                <a:latin typeface="Times New Roman" pitchFamily="18" charset="0"/>
              </a:rPr>
              <a:pPr/>
              <a:t>49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 “prototype” is a declaration of a function or method. </a:t>
            </a:r>
          </a:p>
        </p:txBody>
      </p:sp>
    </p:spTree>
    <p:extLst>
      <p:ext uri="{BB962C8B-B14F-4D97-AF65-F5344CB8AC3E}">
        <p14:creationId xmlns:p14="http://schemas.microsoft.com/office/powerpoint/2010/main" val="17321523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9862290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06206717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7280105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1691638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94672262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1740173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59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6043537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20561173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7053224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62361596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3426114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57076094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3996323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3377894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149605801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1749473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69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49180000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39770627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257903029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85373" indent="-302067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208267" indent="-241654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91574" indent="-241654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174880" indent="-241654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65818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3141495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624801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4108108" indent="-2416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3C66F47-2BAB-4AEF-BFF2-4D5B039ADC54}" type="slidenum">
              <a:rPr lang="en-US" altLang="en-US" smtClean="0">
                <a:latin typeface="Times New Roman" pitchFamily="18" charset="0"/>
              </a:rPr>
              <a:pPr/>
              <a:t>72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pow() takes two doubles and returns a double:</a:t>
            </a:r>
          </a:p>
          <a:p>
            <a:pPr eaLnBrk="1" hangingPunct="1"/>
            <a:r>
              <a:rPr lang="en-US" altLang="en-US"/>
              <a:t>double sqrt = pow( 4.0, 0.5); </a:t>
            </a:r>
          </a:p>
          <a:p>
            <a:pPr eaLnBrk="1" hangingPunct="1"/>
            <a:r>
              <a:rPr lang="en-US" altLang="en-US"/>
              <a:t>How is this implemented? It’s unnecessarily slow for integer powers, don’t use it for this!</a:t>
            </a:r>
          </a:p>
        </p:txBody>
      </p:sp>
    </p:spTree>
    <p:extLst>
      <p:ext uri="{BB962C8B-B14F-4D97-AF65-F5344CB8AC3E}">
        <p14:creationId xmlns:p14="http://schemas.microsoft.com/office/powerpoint/2010/main" val="76508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38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A458199-2235-498C-BB60-A71163C0547D}" type="datetime1">
              <a:rPr lang="en-US" smtClean="0"/>
              <a:t>7/15/2021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239B93A-74DE-4B25-B352-2D94A7B0E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F09BE-0733-4E9E-B08E-2F2245AE7270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76BE-5AF2-4172-BD19-31A2F83EF2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3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7212A-0320-4C87-822E-A5C5A85E786C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41145-DF2F-4F5F-87FB-6F34B812BF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57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0479F-66CD-4A5B-84F6-27888EFAE784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359A0-D876-470E-A03B-B54B4EF9A5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32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ADCF3-2AF2-418C-BF2A-44A85337EE69}" type="datetime1">
              <a:rPr lang="en-US" smtClean="0"/>
              <a:t>7/15/2021</a:t>
            </a:fld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55BDD2-431D-4473-B6F1-AD9C47ED04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26299-AA4C-442F-BCFC-E93CA0F6B11A}" type="datetime1">
              <a:rPr lang="en-US" smtClean="0"/>
              <a:t>7/15/2021</a:t>
            </a:fld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0419-96C4-40C9-AA2D-27D42EB4E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1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2A80A-F933-4C6D-AC1B-323BE6DDDE0E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62B98-9A01-4C44-BDC6-515C05E58F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48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46877-514D-4A61-909E-A65641948318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D8208-D527-49A2-9034-D654B1EF2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20BBE-B985-48CE-92FB-2D9EB3B58A3F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69637-7F5D-47B5-84F3-031C50CD82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4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624D1-E5CD-4BF0-93F9-C4F92CAD34D8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3A7A-80FC-4CCB-802A-CD06628E14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FFCFC-2EA4-4E97-B3DE-8EA613768012}" type="datetime1">
              <a:rPr lang="en-US" smtClean="0"/>
              <a:t>7/15/2021</a:t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F157A-85D2-470A-87E4-A935A04F8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4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E82E7615-9809-4B2F-96E1-10CD3B7FB0C5}" type="datetime1">
              <a:rPr lang="en-US" smtClean="0"/>
              <a:t>7/15/2021</a:t>
            </a:fld>
            <a:endParaRPr lang="en-US"/>
          </a:p>
        </p:txBody>
      </p:sp>
      <p:sp>
        <p:nvSpPr>
          <p:cNvPr id="1372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1372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B6BFBACB-D4B5-4FCB-958C-A311D48A19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MSCF Python Programming Basics -- 2021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209800"/>
          </a:xfrm>
        </p:spPr>
        <p:txBody>
          <a:bodyPr/>
          <a:lstStyle/>
          <a:p>
            <a:pPr eaLnBrk="1" hangingPunct="1"/>
            <a:r>
              <a:rPr lang="en-US" altLang="en-US" dirty="0"/>
              <a:t>MSCF, Carnegie Mellon University</a:t>
            </a:r>
          </a:p>
          <a:p>
            <a:pPr eaLnBrk="1" hangingPunct="1"/>
            <a:r>
              <a:rPr lang="en-US" altLang="en-US" dirty="0"/>
              <a:t>Week 4: Intro to Pandas,</a:t>
            </a:r>
          </a:p>
          <a:p>
            <a:pPr eaLnBrk="1" hangingPunct="1"/>
            <a:r>
              <a:rPr lang="en-US" altLang="en-US" dirty="0"/>
              <a:t>Intro to Object-Oriented Programming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46B670-63B9-4A4C-AEA8-1FEC93EE20C5}" type="datetime1">
              <a:rPr lang="en-US" smtClean="0"/>
              <a:t>7/15/2021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39B93A-74DE-4B25-B352-2D94A7B0ECE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Pandas: </a:t>
            </a:r>
            <a:r>
              <a:rPr lang="en-US" altLang="en-US" b="1" dirty="0"/>
              <a:t>Series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 is a one-dimensional sequence of </a:t>
            </a:r>
            <a:r>
              <a:rPr lang="en-US" altLang="en-US" sz="2800" i="1" dirty="0"/>
              <a:t>values</a:t>
            </a:r>
            <a:r>
              <a:rPr lang="en-US" altLang="en-US" sz="2800" dirty="0"/>
              <a:t>, together with a same-length sequence of </a:t>
            </a:r>
            <a:r>
              <a:rPr lang="en-US" altLang="en-US" sz="2800" i="1" dirty="0"/>
              <a:t>labels</a:t>
            </a:r>
            <a:r>
              <a:rPr lang="en-US" altLang="en-US" sz="2800" dirty="0"/>
              <a:t>: the </a:t>
            </a:r>
            <a:r>
              <a:rPr lang="en-US" altLang="en-US" sz="2800" i="1" dirty="0"/>
              <a:t>index</a:t>
            </a:r>
            <a:r>
              <a:rPr lang="en-US" altLang="en-US" sz="2800" dirty="0"/>
              <a:t> of the </a:t>
            </a:r>
            <a:r>
              <a:rPr lang="en-US" altLang="en-US" sz="2800" b="1" dirty="0"/>
              <a:t>Series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By default, the index values are 0 through </a:t>
            </a:r>
            <a:r>
              <a:rPr lang="en-US" altLang="en-US" sz="2400" i="1" dirty="0"/>
              <a:t>N</a:t>
            </a:r>
            <a:r>
              <a:rPr lang="en-US" altLang="en-US" sz="2400" dirty="0"/>
              <a:t>-1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3, 5, 2, 4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21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Pandas: </a:t>
            </a:r>
            <a:r>
              <a:rPr lang="en-US" altLang="en-US" b="1" dirty="0"/>
              <a:t>Series</a:t>
            </a:r>
            <a:r>
              <a:rPr lang="en-US" altLang="en-US" dirty="0"/>
              <a:t>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s1.values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array([3, 5, 2, 4],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=int64)    #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ndarray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s1.index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RangeIndex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(start=0, stop=4, step=1) # like range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Index does not have to be </a:t>
            </a:r>
            <a:r>
              <a:rPr lang="en-US" altLang="en-US" sz="2800" b="1" dirty="0" err="1"/>
              <a:t>int</a:t>
            </a:r>
            <a:r>
              <a:rPr lang="en-US" altLang="en-US" sz="2800" dirty="0"/>
              <a:t>!</a:t>
            </a: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1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s2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([4, 2, 1, 5],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index=['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a','x','C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','?'])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s2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   4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   2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1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    5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E5FAEB-6547-462C-9AE5-6F4E058BAAAC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Pandas: </a:t>
            </a:r>
            <a:r>
              <a:rPr lang="en-US" altLang="en-US" b="1" dirty="0"/>
              <a:t>Series</a:t>
            </a:r>
            <a:r>
              <a:rPr lang="en-US" altLang="en-US" dirty="0"/>
              <a:t>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s2.values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array([4, 2, 1, 5],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=int64)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s2.index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Index(['a', 'x', 'C', '?'],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='object')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s1[2]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s2['?']         # named index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s2[3]           # can use integer index!</a:t>
            </a:r>
          </a:p>
          <a:p>
            <a:pPr marL="0" indent="0" eaLnBrk="1" hangingPunct="1">
              <a:lnSpc>
                <a:spcPts val="2200"/>
              </a:lnSpc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F5478F-F318-4D66-A6D5-F782BB510AB3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07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and </a:t>
            </a:r>
            <a:r>
              <a:rPr lang="en-US" altLang="en-US" b="1" dirty="0" err="1"/>
              <a:t>dict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It's easy to construct a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 from a </a:t>
            </a:r>
            <a:r>
              <a:rPr lang="en-US" altLang="en-US" sz="2800" b="1" dirty="0" err="1"/>
              <a:t>dict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Index will be from keys, values from values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Prior to Python 3.6, indexes were </a:t>
            </a:r>
            <a:r>
              <a:rPr lang="en-US" altLang="en-US" sz="2000" i="1" dirty="0"/>
              <a:t>sorted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dirty="0"/>
              <a:t>Since 3.6 indexes are in same order as </a:t>
            </a:r>
            <a:r>
              <a:rPr lang="en-US" altLang="en-US" sz="2000" b="1" dirty="0" err="1"/>
              <a:t>dict</a:t>
            </a:r>
            <a:r>
              <a:rPr lang="en-US" altLang="en-US" sz="2000" dirty="0"/>
              <a:t> key insertion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d1 = {'X': 123.2, 'AAPL': 543, 'CSCO': 47.7}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s3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(d1)   #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ticker, price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      123.2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AAPL    543.0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CSCO     47.7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556666-ED58-45A0-AD8C-63BF3FEFC9FE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34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Index Check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You can use </a:t>
            </a:r>
            <a:r>
              <a:rPr lang="en-US" altLang="en-US" sz="2800" b="1" dirty="0" err="1"/>
              <a:t>dict</a:t>
            </a:r>
            <a:r>
              <a:rPr lang="en-US" altLang="en-US" sz="2800" dirty="0"/>
              <a:t>-style notation to check whether a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 does or does not have a specific index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'AAPL' in s3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'GS' in s3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8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Arithmetic, Slicing, and Indexing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Arithmetic, slicing, and indexing work in a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 as one would expect from </a:t>
            </a:r>
            <a:r>
              <a:rPr lang="en-US" altLang="en-US" sz="2800" b="1" dirty="0" err="1"/>
              <a:t>ndarray</a:t>
            </a:r>
            <a:endParaRPr lang="en-US" altLang="en-US" sz="2800" b="1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5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Arithmetic, Slicing,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Scalar arithmetic: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s1 *=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1    10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7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Arithmetic, Slicing,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s4 = s1 /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float64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s1 //=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8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Arithmetic, Slicing,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/>
              <a:t>Series</a:t>
            </a:r>
            <a:r>
              <a:rPr lang="en-US" altLang="en-US" sz="2800" dirty="0"/>
              <a:t> arithmetic: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 +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1    10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np.sqrt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(s1)        # not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0    1.732051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1    2.236068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2    1.414214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3    2.000000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6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Arithmetic, Slicing,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/>
              <a:t>Series</a:t>
            </a:r>
            <a:r>
              <a:rPr lang="en-US" altLang="en-US" sz="2800" dirty="0"/>
              <a:t> slicing: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s1[:2]             # to but not including s1[2]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  <a:b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s3[1:]             # from second to last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AAPL    543.0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CSCO     47.7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s3['AAPL':'CSCO']  # 'AAPL' to </a:t>
            </a:r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 including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'CSCO'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AAPL    543.0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CSCO     47.7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7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 with Differing Indexes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If indexes differ between two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, arithmetic will yield </a:t>
            </a:r>
            <a:r>
              <a:rPr lang="en-US" altLang="en-US" sz="2800" b="1" dirty="0" err="1"/>
              <a:t>NaN</a:t>
            </a:r>
            <a:r>
              <a:rPr lang="en-US" altLang="en-US" sz="2800" dirty="0"/>
              <a:t> (not a number)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 err="1"/>
              <a:t>NaN</a:t>
            </a:r>
            <a:r>
              <a:rPr lang="en-US" altLang="en-US" sz="2400" dirty="0"/>
              <a:t> can mean </a:t>
            </a:r>
            <a:r>
              <a:rPr lang="en-US" altLang="en-US" sz="2400" i="1" dirty="0"/>
              <a:t>missing value</a:t>
            </a:r>
            <a:r>
              <a:rPr lang="en-US" altLang="en-US" sz="2400" dirty="0"/>
              <a:t>, or </a:t>
            </a:r>
            <a:r>
              <a:rPr lang="en-US" altLang="en-US" sz="2400" i="1" dirty="0"/>
              <a:t>NA</a:t>
            </a:r>
            <a:r>
              <a:rPr lang="en-US" altLang="en-US" sz="2400" dirty="0"/>
              <a:t> (not applicable)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s6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([3,7,1],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index=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pd.RangeIndex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(2,5))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int64</a:t>
            </a:r>
            <a:b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25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 with Differing Indexes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s1p6 = s1 +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s1p6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# index exists in s1 but NOT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# index exists in s1 but NOT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 5.0         # index exists in s1 and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11.0         # index exists in s1 and s6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# index exists in s6 but NOT s1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2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 with Differing Indexes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 err="1"/>
              <a:t>pd.isnull</a:t>
            </a:r>
            <a:r>
              <a:rPr lang="en-US" altLang="en-US" sz="2800" b="1" dirty="0"/>
              <a:t>(</a:t>
            </a:r>
            <a:r>
              <a:rPr lang="en-US" altLang="en-US" sz="2800" i="1" dirty="0"/>
              <a:t>Series</a:t>
            </a:r>
            <a:r>
              <a:rPr lang="en-US" altLang="en-US" sz="2800" b="1" dirty="0"/>
              <a:t>)</a:t>
            </a:r>
            <a:r>
              <a:rPr lang="en-US" altLang="en-US" sz="2800" dirty="0"/>
              <a:t> and </a:t>
            </a:r>
            <a:r>
              <a:rPr lang="en-US" altLang="en-US" sz="2800" b="1" dirty="0" err="1"/>
              <a:t>pd.notnull</a:t>
            </a:r>
            <a:r>
              <a:rPr lang="en-US" altLang="en-US" sz="2800" b="1" dirty="0"/>
              <a:t>(</a:t>
            </a:r>
            <a:r>
              <a:rPr lang="en-US" altLang="en-US" sz="2800" i="1" dirty="0"/>
              <a:t>Series</a:t>
            </a:r>
            <a:r>
              <a:rPr lang="en-US" altLang="en-US" sz="2800" b="1" dirty="0"/>
              <a:t>)</a:t>
            </a:r>
            <a:r>
              <a:rPr lang="en-US" altLang="en-US" sz="2800" dirty="0"/>
              <a:t> yield Boolean indexes of </a:t>
            </a:r>
            <a:r>
              <a:rPr lang="en-US" altLang="en-US" sz="2800" dirty="0" err="1"/>
              <a:t>NaN</a:t>
            </a:r>
            <a:r>
              <a:rPr lang="en-US" altLang="en-US" sz="2800" dirty="0"/>
              <a:t> and non-</a:t>
            </a:r>
            <a:r>
              <a:rPr lang="en-US" altLang="en-US" sz="2800" dirty="0" err="1"/>
              <a:t>NaN</a:t>
            </a:r>
            <a:r>
              <a:rPr lang="en-US" altLang="en-US" sz="2800" dirty="0"/>
              <a:t> items, respectively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pd.isnull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(s1p6)       # or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pd.isna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(s1p6)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 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bool</a:t>
            </a:r>
            <a:br>
              <a:rPr lang="en-US" alt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71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Series</a:t>
            </a:r>
            <a:r>
              <a:rPr lang="en-US" altLang="en-US" dirty="0"/>
              <a:t> Arithmetic with Differing Indexes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s1p6[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pd.notnull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(s1p6)]  # or s1p6[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pd.notna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(s1p6)]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2     5.0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3    11.0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float64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09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Pandas: </a:t>
            </a:r>
            <a:r>
              <a:rPr lang="en-US" altLang="en-US" b="1" dirty="0" err="1"/>
              <a:t>DataFrame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 </a:t>
            </a:r>
            <a:r>
              <a:rPr lang="en-US" altLang="en-US" sz="2800" b="1" dirty="0" err="1"/>
              <a:t>DataFrame</a:t>
            </a:r>
            <a:r>
              <a:rPr lang="en-US" altLang="en-US" sz="2800" b="1" dirty="0"/>
              <a:t> </a:t>
            </a:r>
            <a:r>
              <a:rPr lang="en-US" altLang="en-US" sz="2800" dirty="0"/>
              <a:t>is "like" a spreadsheet, with named columns and </a:t>
            </a:r>
            <a:r>
              <a:rPr lang="en-US" altLang="en-US" sz="2800" i="1" dirty="0"/>
              <a:t>N</a:t>
            </a:r>
            <a:r>
              <a:rPr lang="en-US" altLang="en-US" sz="2800" dirty="0"/>
              <a:t> rows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Idea borrowed from R </a:t>
            </a:r>
            <a:r>
              <a:rPr lang="en-US" altLang="en-US" sz="2400" dirty="0" err="1"/>
              <a:t>data.frame</a:t>
            </a:r>
            <a:endParaRPr lang="en-US" altLang="en-US" sz="24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Easy to build from a </a:t>
            </a:r>
            <a:r>
              <a:rPr lang="en-US" altLang="en-US" sz="2400" b="1" dirty="0" err="1"/>
              <a:t>dict</a:t>
            </a:r>
            <a:r>
              <a:rPr lang="en-US" altLang="en-US" sz="2400" dirty="0"/>
              <a:t>, with column names as keys and equal-length </a:t>
            </a:r>
            <a:r>
              <a:rPr lang="en-US" altLang="en-US" sz="2400" b="1" dirty="0"/>
              <a:t>list</a:t>
            </a:r>
            <a:r>
              <a:rPr lang="en-US" altLang="en-US" sz="2400" dirty="0"/>
              <a:t>s as values in rows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d2 = {'Ticker': ['A','B','X','G'],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'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[True, False, False, False],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'Return_%': [11.1, -4.4, 12, 23.4]}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AD4457-9EB0-4A2E-AD77-9F46922EDA00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11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Pandas: </a:t>
            </a:r>
            <a:r>
              <a:rPr lang="en-US" altLang="en-US" b="1" dirty="0" err="1"/>
              <a:t>DataFrame</a:t>
            </a:r>
            <a:r>
              <a:rPr lang="en-US" altLang="en-US" dirty="0"/>
              <a:t>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Return_%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  X    False      12.0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  G    False      23.4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F6A27D-C852-445A-B25E-BE92CC774BB6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00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Column Access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One way to retrieve a </a:t>
            </a:r>
            <a:r>
              <a:rPr lang="en-US" altLang="en-US" sz="2800" i="1" dirty="0"/>
              <a:t>column</a:t>
            </a:r>
            <a:r>
              <a:rPr lang="en-US" altLang="en-US" sz="2800" dirty="0"/>
              <a:t>, as a </a:t>
            </a:r>
            <a:r>
              <a:rPr lang="en-US" altLang="en-US" sz="2800" b="1" dirty="0"/>
              <a:t>Series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Name: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bool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Notice the </a:t>
            </a:r>
            <a:r>
              <a:rPr lang="en-US" altLang="en-US" sz="2800" i="1" dirty="0"/>
              <a:t>name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To (re)name a </a:t>
            </a:r>
            <a:r>
              <a:rPr lang="en-US" altLang="en-US" sz="2400" b="1" dirty="0"/>
              <a:t>Series</a:t>
            </a:r>
            <a:r>
              <a:rPr lang="en-US" altLang="en-US" sz="2400" dirty="0"/>
              <a:t>: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s1.name = 'I am s1'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B6A72F-2023-4957-9B20-526EB6B3B769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19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Column Access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Another way to retrieve a </a:t>
            </a:r>
            <a:r>
              <a:rPr lang="en-US" altLang="en-US" sz="2800" i="1" dirty="0"/>
              <a:t>column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.CEO_buy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True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Name: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bool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Will not work if column name contains space character(s) or operator symbols (like </a:t>
            </a:r>
            <a:r>
              <a:rPr lang="en-US" altLang="en-US" sz="2400" b="1" dirty="0"/>
              <a:t>/</a:t>
            </a:r>
            <a:r>
              <a:rPr lang="en-US" altLang="en-US" sz="2400" dirty="0"/>
              <a:t> or </a:t>
            </a:r>
            <a:r>
              <a:rPr lang="en-US" altLang="en-US" sz="2400" b="1" dirty="0"/>
              <a:t>%</a:t>
            </a:r>
            <a:r>
              <a:rPr lang="en-US" altLang="en-US" sz="2400" dirty="0"/>
              <a:t>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B6A72F-2023-4957-9B20-526EB6B3B769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15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One way to retrieve a </a:t>
            </a:r>
            <a:r>
              <a:rPr lang="en-US" altLang="en-US" sz="2800" i="1" dirty="0"/>
              <a:t>row</a:t>
            </a:r>
            <a:r>
              <a:rPr lang="en-US" altLang="en-US" sz="2800" dirty="0"/>
              <a:t>, as a Series: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f1.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Ticker           X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Return_%        12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Name: 2,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object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61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Cell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Three ways to retrieve a </a:t>
            </a:r>
            <a:r>
              <a:rPr lang="en-US" altLang="en-US" sz="2800" i="1" dirty="0"/>
              <a:t>cell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f1['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'][2]       # column and row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f1.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[2]['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   # row and column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f1.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[2, '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   # row and column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Add a Column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Add a column to a </a:t>
            </a:r>
            <a:r>
              <a:rPr lang="en-US" altLang="en-US" sz="2800" b="1" dirty="0" err="1"/>
              <a:t>DataFrame</a:t>
            </a:r>
            <a:r>
              <a:rPr lang="en-US" altLang="en-US" sz="2800" dirty="0"/>
              <a:t> much as you would add a </a:t>
            </a:r>
            <a:r>
              <a:rPr lang="en-US" altLang="en-US" sz="2800" i="1" dirty="0"/>
              <a:t>key</a:t>
            </a:r>
            <a:r>
              <a:rPr lang="en-US" altLang="en-US" sz="2800" dirty="0"/>
              <a:t>/</a:t>
            </a:r>
            <a:r>
              <a:rPr lang="en-US" altLang="en-US" sz="2800" i="1" dirty="0"/>
              <a:t>value</a:t>
            </a:r>
            <a:r>
              <a:rPr lang="en-US" altLang="en-US" sz="2800" dirty="0"/>
              <a:t> pair to a </a:t>
            </a:r>
            <a:r>
              <a:rPr lang="en-US" altLang="en-US" sz="2800" b="1" dirty="0" err="1"/>
              <a:t>dict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Return_%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f1['P/E'] = 20.5    #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scalar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Return_%   P/E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  20.5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  20.5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51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Add a Column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f1['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'] = [1.7, 0.9, 2.2, 1.1]   #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Return_%   P/E  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  20.5        1.7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  20.5        0.9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 X    False      12.0  20.5        2.2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G    False      23.4  20.5        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83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Delete a Column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f1['P/E']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Return_%  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        1.7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        0.9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 X    False      12.0        2.2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G    False      23.4        1.1</a:t>
            </a: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08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Add a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Add a row to a </a:t>
            </a:r>
            <a:r>
              <a:rPr lang="en-US" altLang="en-US" sz="2800" b="1" dirty="0" err="1"/>
              <a:t>DataFrame</a:t>
            </a:r>
            <a:r>
              <a:rPr lang="en-US" altLang="en-US" sz="2800" dirty="0"/>
              <a:t> using </a:t>
            </a:r>
            <a:r>
              <a:rPr lang="en-US" altLang="en-US" sz="2800" b="1" dirty="0" err="1"/>
              <a:t>loc</a:t>
            </a:r>
            <a:r>
              <a:rPr lang="en-US" altLang="en-US" sz="2800" dirty="0"/>
              <a:t>:</a:t>
            </a:r>
            <a:endParaRPr lang="en-US" altLang="en-US" sz="2800" b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[4] = [ 'Z', True, 8.2, 1.3 ]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Ticker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Return_%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     A     True      11.1        1.7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  B    False      -4.4        0.9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  X    False      12.0        2.2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G    False      23.4        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  Z     True       8.2        1.3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78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Add a Row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If the data types of the new row don't match the existing column types, </a:t>
            </a:r>
            <a:r>
              <a:rPr lang="en-US" altLang="en-US" sz="2800" i="1" dirty="0">
                <a:solidFill>
                  <a:srgbClr val="FF0000"/>
                </a:solidFill>
              </a:rPr>
              <a:t>the column types will be </a:t>
            </a:r>
            <a:r>
              <a:rPr lang="en-US" altLang="en-US" sz="2800" i="1" dirty="0" err="1">
                <a:solidFill>
                  <a:srgbClr val="FF0000"/>
                </a:solidFill>
              </a:rPr>
              <a:t>upcast</a:t>
            </a:r>
            <a:r>
              <a:rPr lang="en-US" altLang="en-US" sz="2800" i="1" dirty="0">
                <a:solidFill>
                  <a:srgbClr val="FF0000"/>
                </a:solidFill>
              </a:rPr>
              <a:t>!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f1c = f1.copy()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f1c.loc[.5] = 12  #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upcast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index and columns!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f1c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Ticker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Return_%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      A        1      11.1        1.7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      B        0      -4.4        0.9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      X        0      12.0        2.2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      G        0      23.4        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4.0      Z        1       8.2        1.3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0.5     12       12      12.0       12.0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5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b="1" dirty="0"/>
              <a:t>:</a:t>
            </a:r>
            <a:r>
              <a:rPr lang="en-US" altLang="en-US" dirty="0"/>
              <a:t> Delete a Row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Deleting the problem row will not cause a "de-</a:t>
            </a:r>
            <a:r>
              <a:rPr lang="en-US" altLang="en-US" sz="2800" dirty="0" err="1"/>
              <a:t>upcast</a:t>
            </a:r>
            <a:r>
              <a:rPr lang="en-US" altLang="en-US" sz="2800" dirty="0"/>
              <a:t>"--</a:t>
            </a:r>
            <a:r>
              <a:rPr lang="en-US" altLang="en-US" sz="2800" i="1" dirty="0">
                <a:solidFill>
                  <a:srgbClr val="FF0000"/>
                </a:solidFill>
              </a:rPr>
              <a:t>beware!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f1c.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(0.5)    # specify index to drop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Ticker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CEO_buy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Return_%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PEG_ratio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0.0      A        1      11.1        1.7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1.0      B        0      -4.4        0.9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2.0      X        0      12.0        2.2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3.0      G        0      23.4        1.1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4.0      Z        1       8.2        1.3</a:t>
            </a: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785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Slicing and Indexing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Slicing and indexing works for </a:t>
            </a:r>
            <a:r>
              <a:rPr lang="en-US" altLang="en-US" sz="2800" b="1" dirty="0" err="1"/>
              <a:t>DataFrame</a:t>
            </a:r>
            <a:r>
              <a:rPr lang="en-US" altLang="en-US" sz="2800" dirty="0" err="1"/>
              <a:t>s</a:t>
            </a:r>
            <a:r>
              <a:rPr lang="en-US" altLang="en-US" sz="2800" dirty="0"/>
              <a:t> much as for </a:t>
            </a:r>
            <a:r>
              <a:rPr lang="en-US" altLang="en-US" sz="2800" b="1" dirty="0"/>
              <a:t>Series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a12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np.arange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(12)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a12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array([ 0,  1,  2,  3,  4,  5,  6,  7,  8,  9, 10, 11])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a12.reshape(4, 3)    # 4 rows, 3 columns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array([[ 0,  1,  2],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[ 3,  4,  5],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[ 6,  7,  8],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[ 9, 10, 11]])</a:t>
            </a:r>
          </a:p>
          <a:p>
            <a:pPr eaLnBrk="1" hangingPunct="1">
              <a:spcBef>
                <a:spcPts val="0"/>
              </a:spcBef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97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Slicing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(a12.reshape(4, 3),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index = ['r0', 'r1', 'r2', 'r3'],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columns = ['c0', 'c1', 'c2'])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3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 6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 9  10  11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f2['c0']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 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  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Name: c0, dtype: int32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 eaLnBrk="1" hangingPunct="1">
              <a:spcBef>
                <a:spcPts val="0"/>
              </a:spcBef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88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Slicing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f2.loc['r1']         # row as a Series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    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    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 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Name: r1, dtype: int32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f2 % 3 == 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c0     c1   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False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False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False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False 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45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Slicing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f2[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f2 % 3 == 0</a:t>
            </a: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*=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10  11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66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Slicing and Indexing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f2.loc['r0':'r2']  # up to and including 'r2'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12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f2[0:2]    # as a convenience, for a row range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pt-BR" altLang="en-US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0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</a:t>
            </a:r>
            <a:r>
              <a:rPr lang="en-US" altLang="en-US" b="1" dirty="0" err="1"/>
              <a:t>loc</a:t>
            </a:r>
            <a:r>
              <a:rPr lang="en-US" altLang="en-US" dirty="0"/>
              <a:t> and </a:t>
            </a:r>
            <a:r>
              <a:rPr lang="en-US" altLang="en-US" b="1" dirty="0" err="1"/>
              <a:t>iloc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 err="1">
                <a:solidFill>
                  <a:srgbClr val="FF0000"/>
                </a:solidFill>
              </a:rPr>
              <a:t>loc</a:t>
            </a:r>
            <a:r>
              <a:rPr lang="en-US" altLang="en-US" sz="2800" dirty="0"/>
              <a:t> uses row index and column </a:t>
            </a:r>
            <a:r>
              <a:rPr lang="en-US" altLang="en-US" sz="2800" i="1" dirty="0">
                <a:solidFill>
                  <a:srgbClr val="FF0000"/>
                </a:solidFill>
              </a:rPr>
              <a:t>labels</a:t>
            </a:r>
            <a:endParaRPr lang="en-US" altLang="en-US" sz="2800" b="1" i="1" dirty="0">
              <a:solidFill>
                <a:srgbClr val="FF0000"/>
              </a:solidFill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2800" b="1" dirty="0" err="1">
                <a:solidFill>
                  <a:srgbClr val="00B050"/>
                </a:solidFill>
              </a:rPr>
              <a:t>iloc</a:t>
            </a:r>
            <a:r>
              <a:rPr lang="en-US" altLang="en-US" sz="2800" dirty="0"/>
              <a:t> uses row index and column </a:t>
            </a:r>
            <a:r>
              <a:rPr lang="en-US" altLang="en-US" sz="2800" i="1" dirty="0">
                <a:solidFill>
                  <a:srgbClr val="00B050"/>
                </a:solidFill>
              </a:rPr>
              <a:t>integers</a:t>
            </a:r>
            <a:endParaRPr lang="en-US" altLang="en-US" sz="2800" b="1" i="1" dirty="0">
              <a:solidFill>
                <a:srgbClr val="00B050"/>
              </a:solidFill>
            </a:endParaRP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['r1']          # all columns of 'r1'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['r0':'r1']     # all columns of 'r0' through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  and including 'r1'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[['r3', 'r1']]  # all cols of 'r3' and 'r1'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18  10  11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674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</a:t>
            </a:r>
            <a:r>
              <a:rPr lang="en-US" altLang="en-US" b="1" dirty="0" err="1"/>
              <a:t>loc</a:t>
            </a:r>
            <a:r>
              <a:rPr lang="en-US" altLang="en-US" dirty="0"/>
              <a:t> and </a:t>
            </a:r>
            <a:r>
              <a:rPr lang="en-US" altLang="en-US" b="1" dirty="0" err="1"/>
              <a:t>iloc</a:t>
            </a:r>
            <a:r>
              <a:rPr lang="en-US" altLang="en-US" b="1" dirty="0"/>
              <a:t> </a:t>
            </a:r>
            <a:r>
              <a:rPr lang="en-US" altLang="en-US" dirty="0"/>
              <a:t>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[2]         # all columns of row sub-2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c0    12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c1     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c2  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Name: r2,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int32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[1:3]       # all columns of row sub-1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#   through but </a:t>
            </a:r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including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#   row sub-3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12   7   8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iloc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[[3, 2]]    # all cols of rows sub-3, sub-2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18  10  11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12   7   8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08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</a:t>
            </a:r>
            <a:r>
              <a:rPr lang="en-US" altLang="en-US" b="1" dirty="0" err="1"/>
              <a:t>loc</a:t>
            </a:r>
            <a:r>
              <a:rPr lang="en-US" altLang="en-US" dirty="0"/>
              <a:t> and </a:t>
            </a:r>
            <a:r>
              <a:rPr lang="en-US" altLang="en-US" b="1" dirty="0" err="1"/>
              <a:t>iloc</a:t>
            </a:r>
            <a:r>
              <a:rPr lang="en-US" altLang="en-US" b="1" dirty="0"/>
              <a:t> </a:t>
            </a:r>
            <a:r>
              <a:rPr lang="en-US" altLang="en-US" dirty="0"/>
              <a:t>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f2.loc['r1', 'c2']    # row 'r1' col 'c2'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f2.loc['r0':'r2', ['c2', 'c0']]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c2  c0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2   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5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 8  12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f2.iloc[[0, 3], [2, 0]]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c2  c0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2   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11  18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11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Arithmetic with Fill Values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We have seen that arithmetic combining </a:t>
            </a:r>
            <a:r>
              <a:rPr lang="en-US" altLang="en-US" sz="2800" b="1" dirty="0" err="1"/>
              <a:t>DataFrame</a:t>
            </a:r>
            <a:r>
              <a:rPr lang="en-US" altLang="en-US" sz="2800" dirty="0" err="1"/>
              <a:t>s</a:t>
            </a:r>
            <a:r>
              <a:rPr lang="en-US" altLang="en-US" sz="2800" dirty="0"/>
              <a:t> with unlike columns/rows introduces </a:t>
            </a:r>
            <a:r>
              <a:rPr lang="en-US" altLang="en-US" sz="2800" i="1" dirty="0"/>
              <a:t>missing values</a:t>
            </a:r>
            <a:endParaRPr lang="en-US" altLang="en-US" sz="2800" b="1" i="1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c0  c1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r0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   6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r2  12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r3  18  10  11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4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Arithmetic with Fill Values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f3 = f2.copy()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f3['c3'] = [1, 3, 5, 7] 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add a column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f3 = f3.drop('r1')      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delete a row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c0  c1  c2  c3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r0   0   1   2   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r2  12   7   8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r3  18  10  11   7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f2 + f3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c0    c1    c2  c3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 0.0   2.0   4.0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24.0  14.0  16.0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  36.0  20.0  22.0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  <a:endParaRPr lang="en-US" altLang="en-US" sz="1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80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Arithmetic with Fill Values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 err="1"/>
              <a:t>DataFrame</a:t>
            </a:r>
            <a:r>
              <a:rPr lang="en-US" altLang="en-US" sz="2800" dirty="0"/>
              <a:t> </a:t>
            </a:r>
            <a:r>
              <a:rPr lang="en-US" altLang="en-US" sz="2800" i="1" dirty="0"/>
              <a:t>named</a:t>
            </a:r>
            <a:r>
              <a:rPr lang="en-US" altLang="en-US" sz="2800" dirty="0"/>
              <a:t> arithmetic functions allow you to specify a </a:t>
            </a:r>
            <a:r>
              <a:rPr lang="en-US" altLang="en-US" sz="2800" b="1" dirty="0" err="1"/>
              <a:t>fill_value</a:t>
            </a:r>
            <a:r>
              <a:rPr lang="en-US" altLang="en-US" sz="2800" dirty="0"/>
              <a:t> argument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The fill value is used in place of a missing value in one </a:t>
            </a:r>
            <a:r>
              <a:rPr lang="en-US" altLang="en-US" sz="2400" b="1" dirty="0" err="1"/>
              <a:t>DateFrame</a:t>
            </a:r>
            <a:r>
              <a:rPr lang="en-US" altLang="en-US" sz="2400" dirty="0"/>
              <a:t> </a:t>
            </a:r>
            <a:r>
              <a:rPr lang="en-US" altLang="en-US" sz="2400" i="1" dirty="0">
                <a:solidFill>
                  <a:srgbClr val="FF0000"/>
                </a:solidFill>
              </a:rPr>
              <a:t>or</a:t>
            </a:r>
            <a:r>
              <a:rPr lang="en-US" altLang="en-US" sz="2400" dirty="0"/>
              <a:t> the other</a:t>
            </a:r>
          </a:p>
          <a:p>
            <a:pPr lvl="2" eaLnBrk="1" hangingPunct="1">
              <a:spcBef>
                <a:spcPts val="0"/>
              </a:spcBef>
            </a:pPr>
            <a:r>
              <a:rPr lang="en-US" altLang="en-US" sz="2000" i="1" dirty="0">
                <a:solidFill>
                  <a:srgbClr val="FF0000"/>
                </a:solidFill>
              </a:rPr>
              <a:t>But not if the value is missing in both </a:t>
            </a:r>
            <a:r>
              <a:rPr lang="en-US" altLang="en-US" sz="2000" i="1" dirty="0" err="1">
                <a:solidFill>
                  <a:srgbClr val="FF0000"/>
                </a:solidFill>
              </a:rPr>
              <a:t>DataFrames</a:t>
            </a:r>
            <a:r>
              <a:rPr lang="en-US" altLang="en-US" sz="2000" i="1" dirty="0">
                <a:solidFill>
                  <a:srgbClr val="FF0000"/>
                </a:solidFill>
              </a:rPr>
              <a:t>!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f2.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(f3, </a:t>
            </a:r>
            <a:r>
              <a:rPr lang="en-US" altLang="en-US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fill_value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c0    c1    c2   c3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r0   0.0   2.0   4.0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 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6.0</a:t>
            </a: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4.0</a:t>
            </a: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5.0</a:t>
            </a: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NaN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r2  24.0  14.0  16.0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r3  36.0  20.0  22.0  </a:t>
            </a:r>
            <a:r>
              <a:rPr lang="pt-BR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7.0</a:t>
            </a:r>
            <a:endParaRPr lang="en-US" altLang="en-US" sz="18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82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Sorting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To sort </a:t>
            </a:r>
            <a:r>
              <a:rPr lang="en-US" altLang="en-US" sz="2800" b="1" dirty="0" err="1"/>
              <a:t>DataFrame</a:t>
            </a:r>
            <a:r>
              <a:rPr lang="en-US" altLang="en-US" sz="2800" dirty="0"/>
              <a:t> rows, use </a:t>
            </a:r>
            <a:r>
              <a:rPr lang="en-US" altLang="en-US" sz="2800" b="1" dirty="0" err="1"/>
              <a:t>sort_index</a:t>
            </a:r>
            <a:r>
              <a:rPr lang="en-US" altLang="en-US" sz="2800" b="1" dirty="0"/>
              <a:t>()</a:t>
            </a:r>
          </a:p>
          <a:p>
            <a:pPr lvl="1" eaLnBrk="1" hangingPunct="1">
              <a:spcBef>
                <a:spcPts val="0"/>
              </a:spcBef>
            </a:pPr>
            <a:r>
              <a:rPr lang="en-US" altLang="en-US" sz="2400" dirty="0"/>
              <a:t>For columns, </a:t>
            </a:r>
            <a:r>
              <a:rPr lang="en-US" altLang="en-US" sz="2400" b="1" dirty="0" err="1"/>
              <a:t>sort_index</a:t>
            </a:r>
            <a:r>
              <a:rPr lang="en-US" altLang="en-US" sz="2400" b="1" dirty="0"/>
              <a:t>(axis=1)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f4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(f2),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index=['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a','d','b','c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columns=['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z','x','y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'])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f4         # same data as f2, renamed rows, cols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z   x   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 6   4   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12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18  10  11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458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Sorting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f4.sort_index()         # sort rows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z   x   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0   1   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12   7   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18  10  11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 6   4   5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f4.sort_index(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  # sort cols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x   y   z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  1   2   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  4   5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  7   8  12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10  11  18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96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Sorting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f4.sort_index(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ascending=False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sort_index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axis=1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 y   z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# rows descending, cols ascending</a:t>
            </a:r>
            <a:endParaRPr lang="pl-PL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d   4   5   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  10  11  18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  7   8  12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l-PL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  1   2   0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8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1C8C06-A548-4D01-99A9-2CDFAB449FB5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87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Summary Statistics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b="1" dirty="0" err="1"/>
              <a:t>DataFrame</a:t>
            </a:r>
            <a:r>
              <a:rPr lang="en-US" altLang="en-US" sz="2800" dirty="0"/>
              <a:t> provides "the usual suspects" for summary statistics</a:t>
            </a:r>
            <a:endParaRPr lang="en-US" altLang="en-US" sz="2400" dirty="0"/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np.random.seed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   # so all a5 arrays match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a5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np.random.randn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(3, 3).round(3)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array([[ 1.624, -0.612, -0.528],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[-1.073,  0.865, -2.302],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[ 1.745, -0.761,  0.319]])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f5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(a5,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index = ['r0', 'r1', 'r2'],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columns = ['c0', 'c1', 'c2'])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278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Summary Statistics (cont.)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c0     c1   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  1.624 -0.612 -0.528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r1 -1.073  0.865 -2.302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  1.745 -0.761  0.319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f5.sum()    # Series of column sums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c0    2.296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c1   -0.508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c2   -2.511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dtype: float64 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97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Summary Statistics (cont.)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f5.mean()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    0.765333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   -0.169333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   -0.837000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dtype: float64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f5.var()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    2.538262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c1    0.807934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c2    1.789021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pt-BR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dtype: float64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951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Summary Statistics (cont.)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f5.describe()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c0        c1        c2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 3.000000  3.000000  3.000000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mean   0.765333 -0.169333 -0.837000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1.593192  0.898852  1.337543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   -1.073000 -0.761000 -2.302000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25%    0.275500 -0.686500 -1.415000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50%    1.624000 -0.612000 -0.528000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75%    1.684500  0.126500 -0.104500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   1.745000  0.865000  0.319000</a:t>
            </a:r>
            <a:endParaRPr lang="pt-BR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298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/>
              <a:t>DataFrame</a:t>
            </a:r>
            <a:r>
              <a:rPr lang="en-US" altLang="en-US" dirty="0"/>
              <a:t> Summary Statistics (cont.)</a:t>
            </a:r>
            <a:endParaRPr lang="en-US" altLang="en-US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eaLnBrk="1" hangingPunct="1">
              <a:spcBef>
                <a:spcPts val="0"/>
              </a:spcBef>
            </a:pPr>
            <a:r>
              <a:rPr lang="en-US" altLang="en-US" sz="2800" dirty="0"/>
              <a:t>Others include:</a:t>
            </a:r>
          </a:p>
          <a:p>
            <a:pPr lvl="3" eaLnBrk="1" hangingPunct="1">
              <a:spcBef>
                <a:spcPts val="0"/>
              </a:spcBef>
            </a:pPr>
            <a:endParaRPr lang="en-US" altLang="en-US" sz="1600" dirty="0"/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 err="1"/>
              <a:t>idxmin</a:t>
            </a:r>
            <a:r>
              <a:rPr lang="en-US" altLang="en-US" sz="2000" b="1" dirty="0"/>
              <a:t>()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idxmax</a:t>
            </a:r>
            <a:r>
              <a:rPr lang="en-US" altLang="en-US" sz="2000" b="1" dirty="0"/>
              <a:t>()</a:t>
            </a:r>
            <a:r>
              <a:rPr lang="en-US" altLang="en-US" sz="2000" dirty="0"/>
              <a:t>	# row of min, max for each col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/>
              <a:t>median()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/>
              <a:t>prod()			</a:t>
            </a:r>
            <a:r>
              <a:rPr lang="en-US" altLang="en-US" sz="2000" dirty="0"/>
              <a:t># product of row </a:t>
            </a:r>
            <a:r>
              <a:rPr lang="en-US" altLang="en-US" sz="2000" dirty="0" err="1"/>
              <a:t>vals</a:t>
            </a:r>
            <a:r>
              <a:rPr lang="en-US" altLang="en-US" sz="2000" dirty="0"/>
              <a:t> by col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/>
              <a:t>skew()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kurt</a:t>
            </a:r>
            <a:r>
              <a:rPr lang="en-US" altLang="en-US" sz="2000" b="1" dirty="0"/>
              <a:t>()		</a:t>
            </a:r>
            <a:r>
              <a:rPr lang="en-US" altLang="en-US" sz="2000" dirty="0"/>
              <a:t># skew, kurtosis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 err="1"/>
              <a:t>cumsum</a:t>
            </a:r>
            <a:r>
              <a:rPr lang="en-US" altLang="en-US" sz="2000" b="1" dirty="0"/>
              <a:t>()</a:t>
            </a:r>
            <a:r>
              <a:rPr lang="en-US" altLang="en-US" sz="2000" dirty="0"/>
              <a:t>, </a:t>
            </a:r>
            <a:r>
              <a:rPr lang="en-US" altLang="en-US" sz="2000" b="1" dirty="0" err="1"/>
              <a:t>cumprod</a:t>
            </a:r>
            <a:r>
              <a:rPr lang="en-US" altLang="en-US" sz="2000" b="1" dirty="0"/>
              <a:t>()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/>
              <a:t>diff()</a:t>
            </a:r>
            <a:r>
              <a:rPr lang="en-US" altLang="en-US" sz="2000" dirty="0"/>
              <a:t>			# arithmetic difference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en-US" sz="2000" b="1" dirty="0" err="1"/>
              <a:t>pct_change</a:t>
            </a:r>
            <a:r>
              <a:rPr lang="en-US" altLang="en-US" sz="2000" b="1" dirty="0"/>
              <a:t>()</a:t>
            </a:r>
            <a:r>
              <a:rPr lang="en-US" altLang="en-US" sz="2000" dirty="0"/>
              <a:t>		# % change row over row</a:t>
            </a:r>
          </a:p>
          <a:p>
            <a:pPr lvl="1" eaLnBrk="1" hangingPunct="1">
              <a:spcBef>
                <a:spcPts val="0"/>
              </a:spcBef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73F1BA-26EC-4987-83F2-103B42BD89AD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2018,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95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About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 </a:t>
            </a:r>
            <a:r>
              <a:rPr lang="en-US" altLang="en-US" sz="2800" i="1" dirty="0"/>
              <a:t>class</a:t>
            </a:r>
            <a:r>
              <a:rPr lang="en-US" altLang="en-US" sz="2800" dirty="0"/>
              <a:t> is a programmer-defined </a:t>
            </a:r>
            <a:r>
              <a:rPr lang="en-US" altLang="en-US" sz="2800" i="1" dirty="0"/>
              <a:t>data type</a:t>
            </a:r>
          </a:p>
          <a:p>
            <a:pPr eaLnBrk="1" hangingPunct="1"/>
            <a:r>
              <a:rPr lang="en-US" altLang="en-US" sz="2800" dirty="0"/>
              <a:t>A Python 3 class packages together, or </a:t>
            </a:r>
            <a:r>
              <a:rPr lang="en-US" altLang="en-US" sz="2800" i="1" dirty="0">
                <a:solidFill>
                  <a:srgbClr val="FF0000"/>
                </a:solidFill>
              </a:rPr>
              <a:t>encapsulates</a:t>
            </a:r>
          </a:p>
          <a:p>
            <a:pPr lvl="1" eaLnBrk="1" hangingPunct="1"/>
            <a:r>
              <a:rPr lang="en-US" altLang="en-US" sz="2400" i="1" dirty="0"/>
              <a:t>data attributes</a:t>
            </a:r>
          </a:p>
          <a:p>
            <a:pPr lvl="2" eaLnBrk="1" hangingPunct="1"/>
            <a:r>
              <a:rPr lang="en-US" altLang="en-US" sz="2000" dirty="0"/>
              <a:t>Variables that keep track of object </a:t>
            </a:r>
            <a:r>
              <a:rPr lang="en-US" altLang="en-US" sz="2000" i="1" dirty="0">
                <a:solidFill>
                  <a:srgbClr val="FF0000"/>
                </a:solidFill>
              </a:rPr>
              <a:t>state</a:t>
            </a:r>
          </a:p>
          <a:p>
            <a:pPr lvl="1" eaLnBrk="1" hangingPunct="1"/>
            <a:r>
              <a:rPr lang="en-US" altLang="en-US" sz="2400" i="1" dirty="0"/>
              <a:t>methods</a:t>
            </a:r>
          </a:p>
          <a:p>
            <a:pPr lvl="2" eaLnBrk="1" hangingPunct="1"/>
            <a:r>
              <a:rPr lang="en-US" altLang="en-US" sz="2000" dirty="0"/>
              <a:t>Functions that provide object </a:t>
            </a:r>
            <a:r>
              <a:rPr lang="en-US" altLang="en-US" sz="2000" i="1" dirty="0">
                <a:solidFill>
                  <a:srgbClr val="FF0000"/>
                </a:solidFill>
              </a:rPr>
              <a:t>behavior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sz="2400" i="1" dirty="0"/>
              <a:t>nested classes, ...</a:t>
            </a:r>
            <a:endParaRPr lang="en-US" altLang="en-US" sz="2400" dirty="0"/>
          </a:p>
          <a:p>
            <a:pPr marL="0" indent="0" eaLnBrk="1" hangingPunct="1">
              <a:lnSpc>
                <a:spcPts val="1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DAE3E-BBB8-433B-923D-D168D9EAC82F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216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Why Our Own Classes?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i="1" dirty="0"/>
              <a:t>Bring the level of the language up to the problem being worked on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Code in terms of </a:t>
            </a:r>
            <a:r>
              <a:rPr lang="en-US" altLang="en-US" sz="2000" b="1" dirty="0"/>
              <a:t>Stock</a:t>
            </a:r>
            <a:r>
              <a:rPr lang="en-US" altLang="en-US" sz="2000" dirty="0"/>
              <a:t>s, </a:t>
            </a:r>
            <a:r>
              <a:rPr lang="en-US" altLang="en-US" sz="2000" b="1" dirty="0"/>
              <a:t>Bond</a:t>
            </a:r>
            <a:r>
              <a:rPr lang="en-US" altLang="en-US" sz="2000" dirty="0"/>
              <a:t>s, </a:t>
            </a:r>
            <a:r>
              <a:rPr lang="en-US" altLang="en-US" sz="2000" b="1" dirty="0" err="1"/>
              <a:t>YieldCurve</a:t>
            </a:r>
            <a:r>
              <a:rPr lang="en-US" altLang="en-US" sz="2000" dirty="0" err="1"/>
              <a:t>s</a:t>
            </a:r>
            <a:r>
              <a:rPr lang="en-US" altLang="en-US" sz="2000" dirty="0"/>
              <a:t>, </a:t>
            </a:r>
            <a:r>
              <a:rPr lang="en-US" altLang="en-US" sz="2000" b="1" dirty="0"/>
              <a:t>Call</a:t>
            </a:r>
            <a:r>
              <a:rPr lang="en-US" altLang="en-US" sz="2000" dirty="0"/>
              <a:t>s, </a:t>
            </a:r>
            <a:r>
              <a:rPr lang="en-US" altLang="en-US" sz="2000" b="1" dirty="0"/>
              <a:t>Put</a:t>
            </a:r>
            <a:r>
              <a:rPr lang="en-US" altLang="en-US" sz="2000" dirty="0"/>
              <a:t>s, </a:t>
            </a:r>
            <a:r>
              <a:rPr lang="en-US" altLang="en-US" sz="2000" b="1" dirty="0" err="1"/>
              <a:t>RiskModel</a:t>
            </a:r>
            <a:r>
              <a:rPr lang="en-US" altLang="en-US" sz="2000" dirty="0" err="1"/>
              <a:t>s</a:t>
            </a:r>
            <a:r>
              <a:rPr lang="en-US" altLang="en-US" sz="2000" dirty="0"/>
              <a:t> (covariance matrices), ...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Not</a:t>
            </a:r>
            <a:r>
              <a:rPr lang="en-US" altLang="en-US" sz="2000" dirty="0"/>
              <a:t> in terms of </a:t>
            </a:r>
            <a:r>
              <a:rPr lang="en-US" altLang="en-US" sz="2000" b="1" dirty="0" err="1"/>
              <a:t>int</a:t>
            </a:r>
            <a:r>
              <a:rPr lang="en-US" altLang="en-US" sz="2000" dirty="0" err="1"/>
              <a:t>s</a:t>
            </a:r>
            <a:r>
              <a:rPr lang="en-US" altLang="en-US" sz="2000" dirty="0"/>
              <a:t>, </a:t>
            </a:r>
            <a:r>
              <a:rPr lang="en-US" altLang="en-US" sz="2000" b="1" dirty="0"/>
              <a:t>float</a:t>
            </a:r>
            <a:r>
              <a:rPr lang="en-US" altLang="en-US" sz="2000" dirty="0"/>
              <a:t>s, </a:t>
            </a:r>
            <a:r>
              <a:rPr lang="en-US" altLang="en-US" sz="2000" b="1" dirty="0"/>
              <a:t>list</a:t>
            </a:r>
            <a:r>
              <a:rPr lang="en-US" altLang="en-US" sz="2000" dirty="0"/>
              <a:t>s, ...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Support </a:t>
            </a:r>
            <a:r>
              <a:rPr lang="en-US" altLang="en-US" sz="2400" i="1" dirty="0">
                <a:solidFill>
                  <a:srgbClr val="FF0000"/>
                </a:solidFill>
              </a:rPr>
              <a:t>inheritance</a:t>
            </a:r>
            <a:r>
              <a:rPr lang="en-US" altLang="en-US" sz="2400" i="1" dirty="0"/>
              <a:t> hierarchies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"Is a kind of" relationships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A </a:t>
            </a:r>
            <a:r>
              <a:rPr lang="en-US" altLang="en-US" sz="1600" b="1" dirty="0" err="1"/>
              <a:t>EuropeanCall</a:t>
            </a:r>
            <a:r>
              <a:rPr lang="en-US" altLang="en-US" sz="1600" dirty="0"/>
              <a:t> </a:t>
            </a:r>
            <a:r>
              <a:rPr lang="en-US" altLang="en-US" sz="1600" i="1" dirty="0"/>
              <a:t>is a kind of</a:t>
            </a:r>
            <a:r>
              <a:rPr lang="en-US" altLang="en-US" sz="1600" dirty="0"/>
              <a:t> </a:t>
            </a:r>
            <a:r>
              <a:rPr lang="en-US" altLang="en-US" sz="1600" b="1" dirty="0"/>
              <a:t>Call</a:t>
            </a:r>
            <a:r>
              <a:rPr lang="en-US" altLang="en-US" sz="1600" dirty="0"/>
              <a:t>, which </a:t>
            </a:r>
            <a:r>
              <a:rPr lang="en-US" altLang="en-US" sz="1600" i="1" dirty="0"/>
              <a:t>is a kind of</a:t>
            </a:r>
            <a:r>
              <a:rPr lang="en-US" altLang="en-US" sz="1600" dirty="0"/>
              <a:t> </a:t>
            </a:r>
            <a:r>
              <a:rPr lang="en-US" altLang="en-US" sz="1600" b="1" dirty="0"/>
              <a:t>Option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A </a:t>
            </a:r>
            <a:r>
              <a:rPr lang="en-US" altLang="en-US" sz="1600" b="1" dirty="0"/>
              <a:t>Director</a:t>
            </a:r>
            <a:r>
              <a:rPr lang="en-US" altLang="en-US" sz="1600" dirty="0"/>
              <a:t> </a:t>
            </a:r>
            <a:r>
              <a:rPr lang="en-US" altLang="en-US" sz="1600" i="1" dirty="0"/>
              <a:t>is a kind of</a:t>
            </a:r>
            <a:r>
              <a:rPr lang="en-US" altLang="en-US" sz="1600" dirty="0"/>
              <a:t> </a:t>
            </a:r>
            <a:r>
              <a:rPr lang="en-US" altLang="en-US" sz="1600" b="1" dirty="0"/>
              <a:t>Manager</a:t>
            </a:r>
            <a:r>
              <a:rPr lang="en-US" altLang="en-US" sz="1600" dirty="0"/>
              <a:t>, which </a:t>
            </a:r>
            <a:r>
              <a:rPr lang="en-US" altLang="en-US" sz="1600" i="1" dirty="0"/>
              <a:t>is a kind of</a:t>
            </a:r>
            <a:r>
              <a:rPr lang="en-US" altLang="en-US" sz="1600" dirty="0"/>
              <a:t> </a:t>
            </a:r>
            <a:r>
              <a:rPr lang="en-US" altLang="en-US" sz="1600" b="1" dirty="0"/>
              <a:t>Employee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>
                <a:solidFill>
                  <a:srgbClr val="FF0000"/>
                </a:solidFill>
              </a:rPr>
              <a:t>Polymorphic</a:t>
            </a:r>
            <a:r>
              <a:rPr lang="en-US" altLang="en-US" sz="2000" dirty="0"/>
              <a:t> methods</a:t>
            </a:r>
          </a:p>
          <a:p>
            <a:pPr marL="1333500" lvl="2" indent="-533400" eaLnBrk="1" hangingPunct="1">
              <a:lnSpc>
                <a:spcPct val="90000"/>
              </a:lnSpc>
              <a:defRPr/>
            </a:pPr>
            <a:r>
              <a:rPr lang="en-US" altLang="en-US" sz="1600" dirty="0"/>
              <a:t>You can compute a </a:t>
            </a:r>
            <a:r>
              <a:rPr lang="en-US" altLang="en-US" sz="1600" b="1" dirty="0"/>
              <a:t>price()</a:t>
            </a:r>
            <a:r>
              <a:rPr lang="en-US" altLang="en-US" sz="1600" dirty="0"/>
              <a:t> for any well-defined </a:t>
            </a:r>
            <a:r>
              <a:rPr lang="en-US" altLang="en-US" sz="1600" b="1" dirty="0"/>
              <a:t>Option</a:t>
            </a:r>
            <a:r>
              <a:rPr lang="en-US" altLang="en-US" sz="1600" dirty="0"/>
              <a:t>, but the implementation differs for </a:t>
            </a:r>
            <a:r>
              <a:rPr lang="en-US" altLang="en-US" sz="1600" b="1" dirty="0" err="1"/>
              <a:t>EuropeanCall</a:t>
            </a:r>
            <a:r>
              <a:rPr lang="en-US" altLang="en-US" sz="1600" dirty="0"/>
              <a:t> vs. </a:t>
            </a:r>
            <a:r>
              <a:rPr lang="en-US" altLang="en-US" sz="1600" b="1" dirty="0" err="1"/>
              <a:t>AmericanCall</a:t>
            </a:r>
            <a:r>
              <a:rPr lang="en-US" altLang="en-US" sz="1600" dirty="0"/>
              <a:t>, for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FB2F94-D06D-4988-AEDE-BE1134B0BD79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Why Our Own Classes?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altLang="en-US" sz="2400" dirty="0"/>
              <a:t>In pragmatic terms, a well-designed class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Has a clear, coherent interface, and is easy to use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Makes life easier for application developers, who are not as expert at Python as class/module developers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Reveals</a:t>
            </a:r>
            <a:r>
              <a:rPr lang="en-US" altLang="en-US" sz="2000" dirty="0"/>
              <a:t> behavioral details (e.g., function call interfaces) that the user </a:t>
            </a:r>
            <a:r>
              <a:rPr lang="en-US" altLang="en-US" sz="2000" i="1" dirty="0"/>
              <a:t>needs to know</a:t>
            </a:r>
            <a:endParaRPr lang="en-US" altLang="en-US" sz="2000" dirty="0"/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Hides</a:t>
            </a:r>
            <a:r>
              <a:rPr lang="en-US" altLang="en-US" sz="2000" dirty="0"/>
              <a:t> internal implementation details (e.g., Cartesian vs. polar coordinates?) that the user </a:t>
            </a:r>
            <a:r>
              <a:rPr lang="en-US" altLang="en-US" sz="2000" i="1" dirty="0"/>
              <a:t>should not know</a:t>
            </a:r>
          </a:p>
          <a:p>
            <a:pPr marL="933450" lvl="1" indent="-533400" eaLnBrk="1" hangingPunct="1">
              <a:lnSpc>
                <a:spcPct val="90000"/>
              </a:lnSpc>
              <a:defRPr/>
            </a:pPr>
            <a:r>
              <a:rPr lang="en-US" altLang="en-US" sz="2000" dirty="0"/>
              <a:t>Ensures proper initialization of objects, and proper cleanup of objects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56167D-F2A0-4CCE-BFB5-6E31128BFDFF}" type="datetime1">
              <a:rPr lang="en-US" smtClean="0"/>
              <a:t>7/15/2021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(c) John K. </a:t>
            </a:r>
            <a:r>
              <a:rPr lang="en-US" dirty="0" err="1"/>
              <a:t>Ostlund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6162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Defining and Using Classes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i="1" dirty="0"/>
              <a:t>All</a:t>
            </a:r>
            <a:r>
              <a:rPr lang="en-US" altLang="en-US" sz="2800" dirty="0"/>
              <a:t> methods receive a reference to the current object as the first argument</a:t>
            </a:r>
          </a:p>
          <a:p>
            <a:pPr lvl="1" eaLnBrk="1" hangingPunct="1"/>
            <a:r>
              <a:rPr lang="en-US" altLang="en-US" sz="2400" dirty="0"/>
              <a:t>By convention, named </a:t>
            </a:r>
            <a:r>
              <a:rPr lang="en-US" altLang="en-US" sz="2400" b="1" dirty="0"/>
              <a:t>self</a:t>
            </a:r>
          </a:p>
          <a:p>
            <a:pPr eaLnBrk="1" hangingPunct="1"/>
            <a:r>
              <a:rPr lang="en-US" altLang="en-US" sz="2800" dirty="0"/>
              <a:t>The "constructor" for any Python class is named </a:t>
            </a:r>
            <a:r>
              <a:rPr lang="en-US" altLang="en-US" sz="2800" b="1" dirty="0"/>
              <a:t>_</a:t>
            </a:r>
            <a:r>
              <a:rPr lang="en-US" altLang="en-US" sz="800" b="1" dirty="0"/>
              <a:t> </a:t>
            </a:r>
            <a:r>
              <a:rPr lang="en-US" altLang="en-US" sz="2800" b="1" dirty="0"/>
              <a:t>_</a:t>
            </a:r>
            <a:r>
              <a:rPr lang="en-US" altLang="en-US" sz="2800" b="1" dirty="0" err="1"/>
              <a:t>init</a:t>
            </a:r>
            <a:r>
              <a:rPr lang="en-US" altLang="en-US" sz="2800" b="1" dirty="0"/>
              <a:t>_</a:t>
            </a:r>
            <a:r>
              <a:rPr lang="en-US" altLang="en-US" sz="800" b="1" dirty="0"/>
              <a:t> </a:t>
            </a:r>
            <a:r>
              <a:rPr lang="en-US" altLang="en-US" sz="2800" b="1" dirty="0"/>
              <a:t>_</a:t>
            </a:r>
          </a:p>
          <a:p>
            <a:pPr eaLnBrk="1" hangingPunct="1"/>
            <a:r>
              <a:rPr lang="en-US" altLang="en-US" sz="2800" dirty="0"/>
              <a:t>Another "special" method is </a:t>
            </a:r>
            <a:r>
              <a:rPr lang="en-US" altLang="en-US" sz="2800" b="1" dirty="0"/>
              <a:t>_</a:t>
            </a:r>
            <a:r>
              <a:rPr lang="en-US" altLang="en-US" sz="1200" b="1" dirty="0"/>
              <a:t> </a:t>
            </a:r>
            <a:r>
              <a:rPr lang="en-US" altLang="en-US" sz="2800" b="1" dirty="0"/>
              <a:t>_str_</a:t>
            </a:r>
            <a:r>
              <a:rPr lang="en-US" altLang="en-US" sz="1200" b="1" dirty="0"/>
              <a:t> </a:t>
            </a:r>
            <a:r>
              <a:rPr lang="en-US" altLang="en-US" sz="2800" b="1" dirty="0"/>
              <a:t>_ </a:t>
            </a:r>
            <a:r>
              <a:rPr lang="en-US" altLang="en-US" sz="2800" dirty="0"/>
              <a:t>which returns a string representation of the current object</a:t>
            </a:r>
          </a:p>
          <a:p>
            <a:pPr lvl="1" eaLnBrk="1" hangingPunct="1"/>
            <a:r>
              <a:rPr lang="en-US" altLang="en-US" sz="2400" b="1" dirty="0"/>
              <a:t>str(</a:t>
            </a:r>
            <a:r>
              <a:rPr lang="en-US" altLang="en-US" sz="2400" i="1" dirty="0"/>
              <a:t>object</a:t>
            </a:r>
            <a:r>
              <a:rPr lang="en-US" altLang="en-US" sz="2400" b="1" dirty="0"/>
              <a:t>)</a:t>
            </a:r>
            <a:r>
              <a:rPr lang="en-US" altLang="en-US" sz="2400" dirty="0"/>
              <a:t> returns a </a:t>
            </a:r>
            <a:r>
              <a:rPr lang="en-US" altLang="en-US" sz="2400" b="1" dirty="0"/>
              <a:t>str</a:t>
            </a:r>
            <a:r>
              <a:rPr lang="en-US" altLang="en-US" sz="2400" dirty="0"/>
              <a:t> representation of </a:t>
            </a:r>
            <a:r>
              <a:rPr lang="en-US" altLang="en-US" sz="2400" i="1" dirty="0"/>
              <a:t>object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4816C5-6173-4E65-A9E2-11085D12A2E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07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Employees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Consider representing an Employee in your program</a:t>
            </a:r>
          </a:p>
          <a:p>
            <a:pPr eaLnBrk="1" hangingPunct="1"/>
            <a:r>
              <a:rPr lang="en-US" altLang="en-US" sz="2800" dirty="0"/>
              <a:t>Every Employee will need (at least!):</a:t>
            </a:r>
          </a:p>
          <a:p>
            <a:pPr lvl="1" eaLnBrk="1" hangingPunct="1"/>
            <a:r>
              <a:rPr lang="en-US" altLang="en-US" sz="2400" dirty="0"/>
              <a:t>A name</a:t>
            </a:r>
          </a:p>
          <a:p>
            <a:pPr lvl="1" eaLnBrk="1" hangingPunct="1"/>
            <a:r>
              <a:rPr lang="en-US" altLang="en-US" sz="2400" dirty="0"/>
              <a:t>A company id number</a:t>
            </a:r>
          </a:p>
          <a:p>
            <a:pPr lvl="1" eaLnBrk="1" hangingPunct="1"/>
            <a:r>
              <a:rPr lang="en-US" altLang="en-US" sz="2400" dirty="0"/>
              <a:t>An hourly pay rate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4816C5-6173-4E65-A9E2-11085D12A2E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338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Employees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We will need to be able (at least!) to:</a:t>
            </a:r>
          </a:p>
          <a:p>
            <a:pPr lvl="1" eaLnBrk="1" hangingPunct="1"/>
            <a:r>
              <a:rPr lang="en-US" altLang="en-US" sz="2400" dirty="0"/>
              <a:t>Create ("hire") a new Employee</a:t>
            </a:r>
          </a:p>
          <a:p>
            <a:pPr lvl="1" eaLnBrk="1" hangingPunct="1"/>
            <a:r>
              <a:rPr lang="en-US" altLang="en-US" sz="2400" dirty="0"/>
              <a:t>Convert the Employee to a </a:t>
            </a:r>
            <a:r>
              <a:rPr lang="en-US" altLang="en-US" sz="2400" b="1" dirty="0"/>
              <a:t>str</a:t>
            </a:r>
          </a:p>
          <a:p>
            <a:pPr lvl="2" eaLnBrk="1" hangingPunct="1"/>
            <a:r>
              <a:rPr lang="en-US" altLang="en-US" sz="2000" dirty="0"/>
              <a:t>A human-readable representation</a:t>
            </a:r>
          </a:p>
          <a:p>
            <a:pPr lvl="1" eaLnBrk="1" hangingPunct="1"/>
            <a:r>
              <a:rPr lang="en-US" altLang="en-US" sz="2400" dirty="0"/>
              <a:t>Give the Employee a raise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4816C5-6173-4E65-A9E2-11085D12A2E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874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Employee</a:t>
            </a:r>
            <a:r>
              <a:rPr lang="en-US" altLang="en-US" dirty="0"/>
              <a:t> Class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name, id, rate):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rate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__str__(self):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('id: ' +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', name: ' +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', salary: ' +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'{:.2f}'.format(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give_raise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percent):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*= 1.0 + percent / 100</a:t>
            </a:r>
          </a:p>
          <a:p>
            <a:pPr marL="0" indent="0" eaLnBrk="1" hangingPunct="1">
              <a:lnSpc>
                <a:spcPts val="1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19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Employee</a:t>
            </a:r>
            <a:r>
              <a:rPr lang="en-US" altLang="en-US" dirty="0"/>
              <a:t> Class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john = Employee('John', 1, 60.50)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print(str(john))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print(john) 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calls str(john) implicitly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ed = Employee('Ed', 2, 72.25)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print(ed)   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calls str(ed) implicitly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ed.give_raise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print(ed)   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calls str(ed) implicitly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1F2D64-D855-461F-B923-EB632F567B2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723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</a:t>
            </a:r>
            <a:r>
              <a:rPr lang="en-US" altLang="en-US" b="1" dirty="0"/>
              <a:t>Employee</a:t>
            </a:r>
            <a:r>
              <a:rPr lang="en-US" altLang="en-US" dirty="0"/>
              <a:t> Class (</a:t>
            </a:r>
            <a:r>
              <a:rPr lang="en-US" altLang="en-US" dirty="0" err="1"/>
              <a:t>cont</a:t>
            </a:r>
            <a:r>
              <a:rPr lang="en-US" altLang="en-US" dirty="0"/>
              <a:t>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Output: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id: 1, name: John, salary: 60.5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id: 1, name: John, salary: 60.5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2, name: Ed, salary: 72.25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2, name: Ed, salary: 79.48</a:t>
            </a: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1F2D64-D855-461F-B923-EB632F567B2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62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Attribute Access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In Python, </a:t>
            </a:r>
            <a:r>
              <a:rPr lang="en-US" altLang="en-US" sz="2800" i="1" dirty="0"/>
              <a:t>all</a:t>
            </a:r>
            <a:r>
              <a:rPr lang="en-US" altLang="en-US" sz="2800" dirty="0"/>
              <a:t> class attributes are accessible from any code ("public" in C++/Java terms)</a:t>
            </a:r>
          </a:p>
          <a:p>
            <a:pPr lvl="1" eaLnBrk="1" hangingPunct="1"/>
            <a:r>
              <a:rPr lang="en-US" altLang="en-US" sz="2400" i="1" dirty="0">
                <a:solidFill>
                  <a:srgbClr val="FF0000"/>
                </a:solidFill>
              </a:rPr>
              <a:t>By convention</a:t>
            </a:r>
            <a:r>
              <a:rPr lang="en-US" altLang="en-US" sz="2400" dirty="0"/>
              <a:t>, names starting with '</a:t>
            </a:r>
            <a:r>
              <a:rPr lang="en-US" altLang="en-US" sz="2400" b="1" dirty="0"/>
              <a:t>_</a:t>
            </a:r>
            <a:r>
              <a:rPr lang="en-US" altLang="en-US" sz="2400" dirty="0"/>
              <a:t>' are to be </a:t>
            </a:r>
            <a:r>
              <a:rPr lang="en-US" altLang="en-US" sz="2400" i="1" dirty="0">
                <a:solidFill>
                  <a:srgbClr val="FF0000"/>
                </a:solidFill>
              </a:rPr>
              <a:t>respected</a:t>
            </a:r>
            <a:r>
              <a:rPr lang="en-US" altLang="en-US" sz="2400" dirty="0"/>
              <a:t> by class users (application developers) as </a:t>
            </a:r>
            <a:r>
              <a:rPr lang="en-US" altLang="en-US" sz="2400" i="1" dirty="0"/>
              <a:t>private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DAE3E-BBB8-433B-923D-D168D9EAC82F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22595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Attribute Access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we are not respecting "privacy" here!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john._rate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ed._rate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john._name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'makes more than',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ed._name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john._name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'makes less than or',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'equal to',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ed._name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/>
            <a:r>
              <a:rPr lang="en-US" altLang="en-US" sz="2800" dirty="0"/>
              <a:t>Output: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John makes less than or equal to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1F2D64-D855-461F-B923-EB632F567B2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52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 Attribute Access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To make privacy violations less likely, it's common to add methods to </a:t>
            </a:r>
            <a:r>
              <a:rPr lang="en-US" altLang="en-US" sz="2800" b="1" dirty="0"/>
              <a:t>set</a:t>
            </a:r>
            <a:r>
              <a:rPr lang="en-US" altLang="en-US" sz="2800" dirty="0"/>
              <a:t> and </a:t>
            </a:r>
            <a:r>
              <a:rPr lang="en-US" altLang="en-US" sz="2800" b="1" dirty="0"/>
              <a:t>get</a:t>
            </a:r>
            <a:r>
              <a:rPr lang="en-US" altLang="en-US" sz="2800" dirty="0"/>
              <a:t> values of data attributes</a:t>
            </a:r>
          </a:p>
          <a:p>
            <a:pPr lvl="1" eaLnBrk="1" hangingPunct="1"/>
            <a:r>
              <a:rPr lang="en-US" altLang="en-US" sz="2400" dirty="0"/>
              <a:t>Notice that for an </a:t>
            </a:r>
            <a:r>
              <a:rPr lang="en-US" altLang="en-US" sz="2400" b="1" dirty="0"/>
              <a:t>Employee</a:t>
            </a:r>
            <a:r>
              <a:rPr lang="en-US" altLang="en-US" sz="2400" dirty="0"/>
              <a:t> the id number </a:t>
            </a:r>
            <a:r>
              <a:rPr lang="en-US" altLang="en-US" sz="2400" i="1" dirty="0"/>
              <a:t>should not change</a:t>
            </a:r>
          </a:p>
          <a:p>
            <a:pPr lvl="2" eaLnBrk="1" hangingPunct="1"/>
            <a:r>
              <a:rPr lang="en-US" altLang="en-US" sz="2000" dirty="0"/>
              <a:t>We will not define a </a:t>
            </a:r>
            <a:r>
              <a:rPr lang="en-US" altLang="en-US" sz="2000" b="1" dirty="0"/>
              <a:t>set</a:t>
            </a:r>
            <a:r>
              <a:rPr lang="en-US" altLang="en-US" sz="2000" dirty="0"/>
              <a:t> method for id</a:t>
            </a:r>
          </a:p>
          <a:p>
            <a:pPr lvl="2" eaLnBrk="1" hangingPunct="1"/>
            <a:r>
              <a:rPr lang="en-US" altLang="en-US" sz="2000" i="1" dirty="0"/>
              <a:t>We will hope that developers using our </a:t>
            </a:r>
            <a:r>
              <a:rPr lang="en-US" altLang="en-US" sz="2000" b="1" dirty="0"/>
              <a:t>Employee</a:t>
            </a:r>
            <a:r>
              <a:rPr lang="en-US" altLang="en-US" sz="2000" i="1" dirty="0"/>
              <a:t> class take the hint!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DAE3E-BBB8-433B-923D-D168D9EAC82F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415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Employee set</a:t>
            </a:r>
            <a:r>
              <a:rPr lang="en-US" altLang="en-US" dirty="0"/>
              <a:t> and </a:t>
            </a:r>
            <a:r>
              <a:rPr lang="en-US" altLang="en-US" b="1" dirty="0"/>
              <a:t>get</a:t>
            </a:r>
            <a:r>
              <a:rPr lang="en-US" altLang="en-US" dirty="0"/>
              <a:t> Methods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name, id, rate):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__str__(self):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give_raise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percent):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set_name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new_name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set_rate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new_rate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new_rate</a:t>
            </a:r>
            <a:endParaRPr lang="en-US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get_name</a:t>
            </a: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endParaRPr lang="en-US" altLang="en-US" sz="18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get_id</a:t>
            </a: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self._id</a:t>
            </a:r>
            <a:endParaRPr lang="en-US" altLang="en-US" sz="18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get_rate</a:t>
            </a: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endParaRPr lang="en-US" altLang="en-US" sz="18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119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Employee set</a:t>
            </a:r>
            <a:r>
              <a:rPr lang="en-US" altLang="en-US" dirty="0"/>
              <a:t> and </a:t>
            </a:r>
            <a:r>
              <a:rPr lang="en-US" altLang="en-US" b="1" dirty="0"/>
              <a:t>get</a:t>
            </a:r>
            <a:r>
              <a:rPr lang="en-US" altLang="en-US" dirty="0"/>
              <a:t> Methods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this is more respectful!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john.get_rate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ed.get_rate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john.get_name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 'makes more than',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ed.get_name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john.get_name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'makes less than or equal to',</a:t>
            </a:r>
            <a:b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ed.get_name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eaLnBrk="1" hangingPunct="1"/>
            <a:r>
              <a:rPr lang="en-US" altLang="en-US" sz="2800" dirty="0"/>
              <a:t>Output: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John makes less than or equal to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1F2D64-D855-461F-B923-EB632F567B22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2906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Instance Variables and Class Variables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Each </a:t>
            </a:r>
            <a:r>
              <a:rPr lang="en-US" altLang="en-US" sz="2800" b="1" dirty="0"/>
              <a:t>Employee</a:t>
            </a:r>
            <a:r>
              <a:rPr lang="en-US" altLang="en-US" sz="2800" dirty="0"/>
              <a:t> object has three </a:t>
            </a:r>
            <a:r>
              <a:rPr lang="en-US" altLang="en-US" sz="2800" i="1" dirty="0"/>
              <a:t>instance variables</a:t>
            </a:r>
            <a:r>
              <a:rPr lang="en-US" altLang="en-US" sz="2800" dirty="0"/>
              <a:t>, </a:t>
            </a:r>
            <a:r>
              <a:rPr lang="en-US" altLang="en-US" sz="2800" b="1" dirty="0"/>
              <a:t>_name</a:t>
            </a:r>
            <a:r>
              <a:rPr lang="en-US" altLang="en-US" sz="2800" dirty="0"/>
              <a:t>, </a:t>
            </a:r>
            <a:r>
              <a:rPr lang="en-US" altLang="en-US" sz="2800" b="1" dirty="0"/>
              <a:t>_id</a:t>
            </a:r>
            <a:r>
              <a:rPr lang="en-US" altLang="en-US" sz="2800" dirty="0"/>
              <a:t>, and </a:t>
            </a:r>
            <a:r>
              <a:rPr lang="en-US" altLang="en-US" sz="2800" b="1" dirty="0"/>
              <a:t>_rate</a:t>
            </a:r>
          </a:p>
          <a:p>
            <a:pPr lvl="1" eaLnBrk="1" hangingPunct="1"/>
            <a:r>
              <a:rPr lang="en-US" altLang="en-US" sz="2400" dirty="0"/>
              <a:t>Each instance of an </a:t>
            </a:r>
            <a:r>
              <a:rPr lang="en-US" altLang="en-US" sz="2400" b="1" dirty="0"/>
              <a:t>Employee</a:t>
            </a:r>
            <a:r>
              <a:rPr lang="en-US" altLang="en-US" sz="2400" dirty="0"/>
              <a:t>--that is, each individual </a:t>
            </a:r>
            <a:r>
              <a:rPr lang="en-US" altLang="en-US" sz="2400" b="1" dirty="0"/>
              <a:t>Employee</a:t>
            </a:r>
            <a:r>
              <a:rPr lang="en-US" altLang="en-US" sz="2400" dirty="0"/>
              <a:t> object, like </a:t>
            </a:r>
            <a:r>
              <a:rPr lang="en-US" altLang="en-US" sz="2400" b="1" dirty="0"/>
              <a:t>john</a:t>
            </a:r>
            <a:r>
              <a:rPr lang="en-US" altLang="en-US" sz="2400" dirty="0"/>
              <a:t> or </a:t>
            </a:r>
            <a:r>
              <a:rPr lang="en-US" altLang="en-US" sz="2400" b="1" dirty="0"/>
              <a:t>ed</a:t>
            </a:r>
            <a:r>
              <a:rPr lang="en-US" altLang="en-US" sz="2400" dirty="0"/>
              <a:t>--has its own copies of instance variables</a:t>
            </a:r>
          </a:p>
          <a:p>
            <a:pPr lvl="1" eaLnBrk="1" hangingPunct="1"/>
            <a:r>
              <a:rPr lang="en-US" altLang="en-US" sz="2400" b="1" dirty="0"/>
              <a:t>john</a:t>
            </a:r>
            <a:r>
              <a:rPr lang="en-US" altLang="en-US" sz="2400" dirty="0"/>
              <a:t>'s </a:t>
            </a:r>
            <a:r>
              <a:rPr lang="en-US" altLang="en-US" sz="2400" b="1" dirty="0"/>
              <a:t>_name</a:t>
            </a:r>
            <a:r>
              <a:rPr lang="en-US" altLang="en-US" sz="2400" dirty="0"/>
              <a:t> is not the same variable as </a:t>
            </a:r>
            <a:r>
              <a:rPr lang="en-US" altLang="en-US" sz="2400" b="1" dirty="0"/>
              <a:t>ed</a:t>
            </a:r>
            <a:r>
              <a:rPr lang="en-US" altLang="en-US" sz="2400" dirty="0"/>
              <a:t>'s </a:t>
            </a:r>
            <a:r>
              <a:rPr lang="en-US" altLang="en-US" sz="2400" b="1" dirty="0"/>
              <a:t>_name</a:t>
            </a:r>
          </a:p>
          <a:p>
            <a:pPr eaLnBrk="1" hangingPunct="1"/>
            <a:r>
              <a:rPr lang="en-US" altLang="en-US" sz="2800" dirty="0"/>
              <a:t>A variable belonging to the </a:t>
            </a:r>
            <a:r>
              <a:rPr lang="en-US" altLang="en-US" sz="2800" b="1" dirty="0"/>
              <a:t>Employee</a:t>
            </a:r>
            <a:r>
              <a:rPr lang="en-US" altLang="en-US" sz="2800" dirty="0"/>
              <a:t> class </a:t>
            </a:r>
            <a:r>
              <a:rPr lang="en-US" altLang="en-US" sz="2800" i="1" dirty="0"/>
              <a:t>as a whole</a:t>
            </a:r>
            <a:r>
              <a:rPr lang="en-US" altLang="en-US" sz="2800" dirty="0"/>
              <a:t> is called a </a:t>
            </a:r>
            <a:r>
              <a:rPr lang="en-US" altLang="en-US" sz="2800" i="1" dirty="0"/>
              <a:t>class variable</a:t>
            </a:r>
            <a:endParaRPr lang="en-US" altLang="en-US" sz="2800" b="1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DAE3E-BBB8-433B-923D-D168D9EAC82F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306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Instance Variables and Class Variables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existence and initial value of a class variable is established </a:t>
            </a:r>
            <a:r>
              <a:rPr lang="en-US" altLang="en-US" sz="2800" i="1" dirty="0"/>
              <a:t>outside</a:t>
            </a:r>
            <a:r>
              <a:rPr lang="en-US" altLang="en-US" sz="2800" dirty="0"/>
              <a:t> of the class method definitions</a:t>
            </a:r>
            <a:endParaRPr lang="en-US" altLang="en-US" sz="2800" b="1" dirty="0"/>
          </a:p>
          <a:p>
            <a:pPr lvl="1" eaLnBrk="1" hangingPunct="1"/>
            <a:r>
              <a:rPr lang="en-US" altLang="en-US" sz="2400" dirty="0"/>
              <a:t>Typically--but not necessarily--above the first method definition</a:t>
            </a:r>
          </a:p>
          <a:p>
            <a:pPr eaLnBrk="1" hangingPunct="1"/>
            <a:r>
              <a:rPr lang="en-US" altLang="en-US" sz="2800" dirty="0"/>
              <a:t>For example, let's keep track of how many </a:t>
            </a:r>
            <a:r>
              <a:rPr lang="en-US" altLang="en-US" sz="2800" b="1" dirty="0"/>
              <a:t>Employee</a:t>
            </a:r>
            <a:r>
              <a:rPr lang="en-US" altLang="en-US" sz="2800" dirty="0"/>
              <a:t> objects have been created</a:t>
            </a:r>
            <a:endParaRPr lang="en-US" altLang="en-US" sz="2800" b="1" i="1" dirty="0"/>
          </a:p>
          <a:p>
            <a:pPr lvl="1" eaLnBrk="1" hangingPunct="1"/>
            <a:endParaRPr lang="en-US" altLang="en-US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DAE3E-BBB8-433B-923D-D168D9EAC82F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979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Revised </a:t>
            </a:r>
            <a:r>
              <a:rPr lang="en-US" altLang="en-US" b="1" dirty="0"/>
              <a:t>Employee</a:t>
            </a:r>
            <a:r>
              <a:rPr lang="en-US" altLang="en-US" dirty="0"/>
              <a:t> Class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    # initially 0 exist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name, id, rate):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rate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Employee.num_created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  # add one more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__str__(self):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give_raise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percent):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lnSpc>
                <a:spcPts val="1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564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Accessing a Class Variable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 class variable can be accessed either via the class or via an instance of the class</a:t>
            </a:r>
            <a:endParaRPr lang="en-US" altLang="en-US" sz="2800" b="1" dirty="0"/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Employee.num_created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via class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# via instance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#print(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</a:t>
            </a:r>
            <a:r>
              <a:rPr lang="en-US" altLang="en-US" sz="2000" b="1" i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unless there is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# a global variable named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# </a:t>
            </a:r>
            <a:r>
              <a:rPr lang="en-US" alt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800" dirty="0"/>
              <a:t>Output: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john and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john and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18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Hiding a Class Variable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But shouldn't a class variable be "private"?</a:t>
            </a:r>
          </a:p>
          <a:p>
            <a:pPr lvl="1" eaLnBrk="1" hangingPunct="1"/>
            <a:r>
              <a:rPr lang="en-US" altLang="en-US" sz="2400" dirty="0"/>
              <a:t>We don't want to suggest that this is okay: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Employee.num_created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-123 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!!!</a:t>
            </a:r>
          </a:p>
          <a:p>
            <a:pPr lvl="1" eaLnBrk="1" hangingPunct="1"/>
            <a:r>
              <a:rPr lang="en-US" altLang="en-US" sz="2400" dirty="0"/>
              <a:t>So use </a:t>
            </a:r>
            <a:r>
              <a:rPr lang="en-US" altLang="en-US" sz="2400" b="1" dirty="0"/>
              <a:t>_</a:t>
            </a:r>
            <a:r>
              <a:rPr lang="en-US" altLang="en-US" sz="2400" dirty="0"/>
              <a:t> and provide a </a:t>
            </a:r>
            <a:r>
              <a:rPr lang="en-US" altLang="en-US" sz="2400" b="1" dirty="0"/>
              <a:t>get</a:t>
            </a:r>
            <a:r>
              <a:rPr lang="en-US" altLang="en-US" sz="2400" dirty="0"/>
              <a:t> method…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703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Another Revised </a:t>
            </a:r>
            <a:r>
              <a:rPr lang="en-US" altLang="en-US" b="1" dirty="0"/>
              <a:t>Employee</a:t>
            </a:r>
            <a:r>
              <a:rPr lang="en-US" altLang="en-US" dirty="0"/>
              <a:t> Class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Employee: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_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    # initially 0 exist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name, id, rate):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self._name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name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self._id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self._rate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rate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Employee._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1  # one more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__str__(self):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give_raise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percent): 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Employee._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1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590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Almost, But Not Quite!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Because of the </a:t>
            </a:r>
            <a:r>
              <a:rPr lang="en-US" altLang="en-US" sz="2800" b="1" dirty="0"/>
              <a:t>self</a:t>
            </a:r>
            <a:r>
              <a:rPr lang="en-US" altLang="en-US" sz="2800" dirty="0"/>
              <a:t> param, we can access </a:t>
            </a:r>
            <a:r>
              <a:rPr lang="en-US" altLang="en-US" sz="2800" b="1" dirty="0" err="1"/>
              <a:t>get_num_created</a:t>
            </a:r>
            <a:r>
              <a:rPr lang="en-US" altLang="en-US" sz="2800" b="1" dirty="0"/>
              <a:t>()</a:t>
            </a:r>
            <a:r>
              <a:rPr lang="en-US" altLang="en-US" sz="2800" dirty="0"/>
              <a:t> from an Employee </a:t>
            </a:r>
            <a:r>
              <a:rPr lang="en-US" altLang="en-US" sz="2800" i="1" dirty="0"/>
              <a:t>object</a:t>
            </a:r>
            <a:r>
              <a:rPr lang="en-US" altLang="en-US" sz="2800" dirty="0"/>
              <a:t> but not from the Employee </a:t>
            </a:r>
            <a:r>
              <a:rPr lang="en-US" altLang="en-US" sz="2800" i="1" dirty="0"/>
              <a:t>class</a:t>
            </a:r>
            <a:endParaRPr lang="en-US" altLang="en-US" sz="2800" b="1" i="1" dirty="0"/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john.get_num_created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# OK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Employee.get_num_created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error!</a:t>
            </a: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800" dirty="0"/>
              <a:t>Output: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john and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...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get_num_created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missing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1 required positional argument: 'self'</a:t>
            </a:r>
            <a:endParaRPr lang="en-US" alt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66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 Sneaky Fix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Treat </a:t>
            </a:r>
            <a:r>
              <a:rPr lang="en-US" altLang="en-US" sz="2800" b="1" dirty="0"/>
              <a:t>self</a:t>
            </a:r>
            <a:r>
              <a:rPr lang="en-US" altLang="en-US" sz="2800" dirty="0"/>
              <a:t> as a </a:t>
            </a:r>
            <a:r>
              <a:rPr lang="en-US" altLang="en-US" sz="2800" i="1" dirty="0"/>
              <a:t>keyword parameter</a:t>
            </a:r>
            <a:r>
              <a:rPr lang="en-US" altLang="en-US" sz="2800" dirty="0"/>
              <a:t>, with default value </a:t>
            </a:r>
            <a:r>
              <a:rPr lang="en-US" altLang="en-US" sz="2800" b="1" dirty="0"/>
              <a:t>None</a:t>
            </a:r>
            <a:endParaRPr lang="en-US" altLang="en-US" sz="2800" b="1" i="1" dirty="0"/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 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None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Employee._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num_created</a:t>
            </a: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john.get_num_created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# OK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Employee.get_num_created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 OK</a:t>
            </a: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en-US" sz="2800" dirty="0"/>
              <a:t>Output: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    </a:t>
            </a:r>
            <a:r>
              <a:rPr lang="en-US" alt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john and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    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john and ed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079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Inheritance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i="1" dirty="0"/>
              <a:t>Inheritance</a:t>
            </a:r>
            <a:r>
              <a:rPr lang="en-US" altLang="en-US" sz="2800" dirty="0"/>
              <a:t> allows you to specify that a class </a:t>
            </a:r>
            <a:r>
              <a:rPr lang="en-US" altLang="en-US" sz="2800" i="1" dirty="0"/>
              <a:t>"is a kind of"</a:t>
            </a:r>
            <a:r>
              <a:rPr lang="en-US" altLang="en-US" sz="2800" dirty="0"/>
              <a:t> some other class</a:t>
            </a:r>
          </a:p>
          <a:p>
            <a:pPr lvl="1" eaLnBrk="1" hangingPunct="1"/>
            <a:r>
              <a:rPr lang="en-US" altLang="en-US" sz="2400" dirty="0"/>
              <a:t>For example, a </a:t>
            </a:r>
            <a:r>
              <a:rPr lang="en-US" altLang="en-US" sz="2400" b="1" dirty="0"/>
              <a:t>Manager</a:t>
            </a:r>
            <a:r>
              <a:rPr lang="en-US" altLang="en-US" sz="2400" dirty="0"/>
              <a:t> is a kind of </a:t>
            </a:r>
            <a:r>
              <a:rPr lang="en-US" altLang="en-US" sz="2400" b="1" dirty="0"/>
              <a:t>Employee</a:t>
            </a:r>
            <a:r>
              <a:rPr lang="en-US" altLang="en-US" sz="2400" dirty="0"/>
              <a:t>, with additional knowledge (state) and/or responsibilities (behavior)</a:t>
            </a:r>
          </a:p>
          <a:p>
            <a:pPr lvl="1" eaLnBrk="1" hangingPunct="1"/>
            <a:r>
              <a:rPr lang="en-US" altLang="en-US" sz="2400" b="1" dirty="0"/>
              <a:t>Manager</a:t>
            </a:r>
            <a:r>
              <a:rPr lang="en-US" altLang="en-US" sz="2400" dirty="0"/>
              <a:t> </a:t>
            </a:r>
            <a:r>
              <a:rPr lang="en-US" altLang="en-US" sz="2400" i="1" dirty="0"/>
              <a:t>inherits</a:t>
            </a:r>
            <a:r>
              <a:rPr lang="en-US" altLang="en-US" sz="2400" dirty="0"/>
              <a:t> the attributes and methods of </a:t>
            </a:r>
            <a:r>
              <a:rPr lang="en-US" altLang="en-US" sz="2400" b="1" dirty="0"/>
              <a:t>Employee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770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/>
              <a:t>Manager</a:t>
            </a:r>
            <a:r>
              <a:rPr lang="en-US" altLang="en-US" dirty="0"/>
              <a:t> Class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Employee as emp 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Employee.py is a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# separate module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Manager(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emp.Employee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__(self, name, id, rate, budget):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__(name, id, rate)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self._budget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budget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__str__(self):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(super().__str__() + ", budget:"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+ str(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self._budget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set_budget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(self,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new_budget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self._budget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new_budget</a:t>
            </a:r>
            <a:endParaRPr lang="en-US" altLang="en-US" sz="2000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get_budget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self._budget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ts val="1000"/>
              </a:lnSpc>
              <a:spcBef>
                <a:spcPts val="0"/>
              </a:spcBef>
              <a:buNone/>
            </a:pP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423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/>
              <a:t>Manager</a:t>
            </a:r>
            <a:r>
              <a:rPr lang="en-US" altLang="en-US" dirty="0"/>
              <a:t> Class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'__main__':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john = </a:t>
            </a:r>
            <a:r>
              <a:rPr lang="en-US" altLang="en-US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emp.Employee</a:t>
            </a: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('John', 1, 60.50)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print(john)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ed =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emp.Employee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('Ed', 2, 72.25)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print(ed)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ed.give_raise</a:t>
            </a: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print(ed)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ann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Manager('Ann', 3, 88.75, 750000.0)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ann</a:t>
            </a: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915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dirty="0"/>
              <a:t>Manager</a:t>
            </a:r>
            <a:r>
              <a:rPr lang="en-US" altLang="en-US" dirty="0"/>
              <a:t> Class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Output:</a:t>
            </a:r>
          </a:p>
          <a:p>
            <a:pPr marL="457200" lvl="1" indent="0" eaLnBrk="1" hangingPunct="1">
              <a:buNone/>
            </a:pPr>
            <a:endParaRPr lang="en-US" altLang="en-US" sz="800" dirty="0"/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1, name: John, salary: 60.5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1, name: John, salary: 60.5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2, name: Ed, salary: 72.25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2, name: Ed, salary: 79.48</a:t>
            </a:r>
          </a:p>
          <a:p>
            <a:pPr marL="0" indent="0" eaLnBrk="1" hangingPunct="1">
              <a:spcBef>
                <a:spcPts val="0"/>
              </a:spcBef>
              <a:buNone/>
            </a:pPr>
            <a:endParaRPr lang="en-US" altLang="en-US" sz="2000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n-US" alt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 3, name: Ann, salary: 88.75, budget:750000.0</a:t>
            </a:r>
            <a:endParaRPr lang="en-US" altLang="en-US" sz="20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596B7D-8A11-44A3-AC3B-4D261DFA7724}" type="datetime1">
              <a:rPr lang="en-US" smtClean="0"/>
              <a:t>7/15/2021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John K. Ostlund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9676BE-5AF2-4172-BD19-31A2F83EF2EB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86955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43754</TotalTime>
  <Words>8303</Words>
  <Application>Microsoft Office PowerPoint</Application>
  <PresentationFormat>On-screen Show (4:3)</PresentationFormat>
  <Paragraphs>1235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Courier New</vt:lpstr>
      <vt:lpstr>Tahoma</vt:lpstr>
      <vt:lpstr>Times New Roman</vt:lpstr>
      <vt:lpstr>Wingdings</vt:lpstr>
      <vt:lpstr>Blends</vt:lpstr>
      <vt:lpstr>MSCF Python Programming Basics -- 2021</vt:lpstr>
      <vt:lpstr>Pandas: Series</vt:lpstr>
      <vt:lpstr>Pandas: Series (cont.)</vt:lpstr>
      <vt:lpstr>Pandas: Series (cont.)</vt:lpstr>
      <vt:lpstr>Series and dict</vt:lpstr>
      <vt:lpstr>Series Index Check</vt:lpstr>
      <vt:lpstr>Series Arithmetic, Slicing, and Indexing</vt:lpstr>
      <vt:lpstr>Series Arithmetic, Slicing, and Indexing (cont.)</vt:lpstr>
      <vt:lpstr>Series Arithmetic, Slicing, and Indexing (cont.)</vt:lpstr>
      <vt:lpstr>Series Arithmetic, Slicing, and Indexing (cont.)</vt:lpstr>
      <vt:lpstr>Series Arithmetic, Slicing, and Indexing (cont.)</vt:lpstr>
      <vt:lpstr>Series Arithmetic with Differing Indexes</vt:lpstr>
      <vt:lpstr>Series Arithmetic with Differing Indexes (cont.)</vt:lpstr>
      <vt:lpstr>Series Arithmetic with Differing Indexes (cont.)</vt:lpstr>
      <vt:lpstr>Series Arithmetic with Differing Indexes (cont.)</vt:lpstr>
      <vt:lpstr>Pandas: DataFrame</vt:lpstr>
      <vt:lpstr>Pandas: DataFrame (cont)</vt:lpstr>
      <vt:lpstr>DataFrame Column Access</vt:lpstr>
      <vt:lpstr>DataFrame Column Access (cont.)</vt:lpstr>
      <vt:lpstr>DataFrame Row</vt:lpstr>
      <vt:lpstr>DataFrame Cell</vt:lpstr>
      <vt:lpstr>DataFrame: Add a Column</vt:lpstr>
      <vt:lpstr>DataFrame: Add a Column (cont.)</vt:lpstr>
      <vt:lpstr>DataFrame: Delete a Column</vt:lpstr>
      <vt:lpstr>DataFrame: Add a Row</vt:lpstr>
      <vt:lpstr>DataFrame: Add a Row (cont.)</vt:lpstr>
      <vt:lpstr>DataFrame: Delete a Row</vt:lpstr>
      <vt:lpstr>DataFrame Slicing and Indexing</vt:lpstr>
      <vt:lpstr>DataFrame Slicing and Indexing (cont.)</vt:lpstr>
      <vt:lpstr>DataFrame Slicing and Indexing (cont.)</vt:lpstr>
      <vt:lpstr>DataFrame Slicing and Indexing (cont.)</vt:lpstr>
      <vt:lpstr>DataFrame Slicing and Indexing (cont.)</vt:lpstr>
      <vt:lpstr>DataFrame loc and iloc</vt:lpstr>
      <vt:lpstr>DataFrame loc and iloc (cont.)</vt:lpstr>
      <vt:lpstr>DataFrame loc and iloc (cont.)</vt:lpstr>
      <vt:lpstr>Arithmetic with Fill Values</vt:lpstr>
      <vt:lpstr>Arithmetic with Fill Values (cont.)</vt:lpstr>
      <vt:lpstr>Arithmetic with Fill Values (cont.)</vt:lpstr>
      <vt:lpstr>Sorting</vt:lpstr>
      <vt:lpstr>Sorting (cont.)</vt:lpstr>
      <vt:lpstr>Sorting (cont.)</vt:lpstr>
      <vt:lpstr>DataFrame Summary Statistics</vt:lpstr>
      <vt:lpstr>DataFrame Summary Statistics (cont.)</vt:lpstr>
      <vt:lpstr>DataFrame Summary Statistics (cont.)</vt:lpstr>
      <vt:lpstr>DataFrame Summary Statistics (cont.)</vt:lpstr>
      <vt:lpstr>DataFrame Summary Statistics (cont.)</vt:lpstr>
      <vt:lpstr>About Classes</vt:lpstr>
      <vt:lpstr>Why Our Own Classes?</vt:lpstr>
      <vt:lpstr>Why Our Own Classes? (cont.)</vt:lpstr>
      <vt:lpstr>Defining and Using Classes</vt:lpstr>
      <vt:lpstr>Employees</vt:lpstr>
      <vt:lpstr>Employees (cont.)</vt:lpstr>
      <vt:lpstr>An Employee Class</vt:lpstr>
      <vt:lpstr>An Employee Class (cont)</vt:lpstr>
      <vt:lpstr>An Employee Class (cont)</vt:lpstr>
      <vt:lpstr>Class Attribute Access</vt:lpstr>
      <vt:lpstr>Class Attribute Access (cont.)</vt:lpstr>
      <vt:lpstr>Class Attribute Access (cont.)</vt:lpstr>
      <vt:lpstr>Employee set and get Methods</vt:lpstr>
      <vt:lpstr>Employee set and get Methods (cont.)</vt:lpstr>
      <vt:lpstr>Instance Variables and Class Variables</vt:lpstr>
      <vt:lpstr>Instance Variables and Class Variables (cont.)</vt:lpstr>
      <vt:lpstr>A Revised Employee Class</vt:lpstr>
      <vt:lpstr>Accessing a Class Variable</vt:lpstr>
      <vt:lpstr>Hiding a Class Variable</vt:lpstr>
      <vt:lpstr>Another Revised Employee Class</vt:lpstr>
      <vt:lpstr>Almost, But Not Quite!</vt:lpstr>
      <vt:lpstr>A Sneaky Fix</vt:lpstr>
      <vt:lpstr>Inheritance</vt:lpstr>
      <vt:lpstr>The Manager Class</vt:lpstr>
      <vt:lpstr>The Manager Class (cont.)</vt:lpstr>
      <vt:lpstr>The Manager Class (cont.)</vt:lpstr>
    </vt:vector>
  </TitlesOfParts>
  <Company>CMU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46-691</dc:title>
  <dc:creator>The Heinz School</dc:creator>
  <cp:lastModifiedBy>John</cp:lastModifiedBy>
  <cp:revision>635</cp:revision>
  <cp:lastPrinted>2021-07-15T17:17:58Z</cp:lastPrinted>
  <dcterms:created xsi:type="dcterms:W3CDTF">2003-08-31T19:53:38Z</dcterms:created>
  <dcterms:modified xsi:type="dcterms:W3CDTF">2021-07-15T23:07:48Z</dcterms:modified>
</cp:coreProperties>
</file>